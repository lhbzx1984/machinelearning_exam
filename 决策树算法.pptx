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heme/theme2.xml" ContentType="application/vnd.openxmlformats-officedocument.them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notesSlides/notesSlide1.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7" r:id="rId2"/>
    <p:sldId id="259" r:id="rId3"/>
    <p:sldId id="263" r:id="rId4"/>
    <p:sldId id="293" r:id="rId5"/>
    <p:sldId id="308" r:id="rId6"/>
    <p:sldId id="291" r:id="rId7"/>
    <p:sldId id="290" r:id="rId8"/>
    <p:sldId id="292"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260"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6" d="100"/>
          <a:sy n="86" d="100"/>
        </p:scale>
        <p:origin x="51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2021/4/27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3" Type="http://schemas.openxmlformats.org/officeDocument/2006/relationships/tags" Target="../tags/tag48.xml"/><Relationship Id="rId7" Type="http://schemas.openxmlformats.org/officeDocument/2006/relationships/tags" Target="../tags/tag5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10" Type="http://schemas.openxmlformats.org/officeDocument/2006/relationships/slideMaster" Target="../slideMasters/slideMaster1.xml"/><Relationship Id="rId4" Type="http://schemas.openxmlformats.org/officeDocument/2006/relationships/tags" Target="../tags/tag49.xml"/><Relationship Id="rId9" Type="http://schemas.openxmlformats.org/officeDocument/2006/relationships/tags" Target="../tags/tag5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Master" Target="../slideMasters/slideMaster1.xml"/><Relationship Id="rId5" Type="http://schemas.openxmlformats.org/officeDocument/2006/relationships/tags" Target="../tags/tag68.xml"/><Relationship Id="rId4" Type="http://schemas.openxmlformats.org/officeDocument/2006/relationships/tags" Target="../tags/tag6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slideMaster" Target="../slideMasters/slideMaster1.xml"/><Relationship Id="rId4" Type="http://schemas.openxmlformats.org/officeDocument/2006/relationships/tags" Target="../tags/tag72.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18" Type="http://schemas.openxmlformats.org/officeDocument/2006/relationships/tags" Target="../tags/tag90.xml"/><Relationship Id="rId3" Type="http://schemas.openxmlformats.org/officeDocument/2006/relationships/tags" Target="../tags/tag75.xml"/><Relationship Id="rId21" Type="http://schemas.openxmlformats.org/officeDocument/2006/relationships/tags" Target="../tags/tag93.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tags" Target="../tags/tag89.xml"/><Relationship Id="rId25" Type="http://schemas.openxmlformats.org/officeDocument/2006/relationships/slideMaster" Target="../slideMasters/slideMaster1.xml"/><Relationship Id="rId2" Type="http://schemas.openxmlformats.org/officeDocument/2006/relationships/tags" Target="../tags/tag74.xml"/><Relationship Id="rId16" Type="http://schemas.openxmlformats.org/officeDocument/2006/relationships/tags" Target="../tags/tag88.xml"/><Relationship Id="rId20" Type="http://schemas.openxmlformats.org/officeDocument/2006/relationships/tags" Target="../tags/tag92.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24" Type="http://schemas.openxmlformats.org/officeDocument/2006/relationships/tags" Target="../tags/tag96.xml"/><Relationship Id="rId5" Type="http://schemas.openxmlformats.org/officeDocument/2006/relationships/tags" Target="../tags/tag77.xml"/><Relationship Id="rId15" Type="http://schemas.openxmlformats.org/officeDocument/2006/relationships/tags" Target="../tags/tag87.xml"/><Relationship Id="rId23" Type="http://schemas.openxmlformats.org/officeDocument/2006/relationships/tags" Target="../tags/tag95.xml"/><Relationship Id="rId10" Type="http://schemas.openxmlformats.org/officeDocument/2006/relationships/tags" Target="../tags/tag82.xml"/><Relationship Id="rId19" Type="http://schemas.openxmlformats.org/officeDocument/2006/relationships/tags" Target="../tags/tag91.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 Id="rId22" Type="http://schemas.openxmlformats.org/officeDocument/2006/relationships/tags" Target="../tags/tag94.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slideMaster" Target="../slideMasters/slideMaster1.xml"/><Relationship Id="rId5" Type="http://schemas.openxmlformats.org/officeDocument/2006/relationships/tags" Target="../tags/tag108.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21.xml"/><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slideMaster" Target="../slideMasters/slideMaster1.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tags" Target="../tags/tag124.xml"/><Relationship Id="rId5" Type="http://schemas.openxmlformats.org/officeDocument/2006/relationships/tags" Target="../tags/tag118.xml"/><Relationship Id="rId10" Type="http://schemas.openxmlformats.org/officeDocument/2006/relationships/tags" Target="../tags/tag123.xml"/><Relationship Id="rId4" Type="http://schemas.openxmlformats.org/officeDocument/2006/relationships/tags" Target="../tags/tag117.xml"/><Relationship Id="rId9" Type="http://schemas.openxmlformats.org/officeDocument/2006/relationships/tags" Target="../tags/tag12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32.xml"/><Relationship Id="rId3" Type="http://schemas.openxmlformats.org/officeDocument/2006/relationships/tags" Target="../tags/tag127.xml"/><Relationship Id="rId7" Type="http://schemas.openxmlformats.org/officeDocument/2006/relationships/tags" Target="../tags/tag131.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11" Type="http://schemas.openxmlformats.org/officeDocument/2006/relationships/slideMaster" Target="../slideMasters/slideMaster1.xml"/><Relationship Id="rId5" Type="http://schemas.openxmlformats.org/officeDocument/2006/relationships/tags" Target="../tags/tag129.xml"/><Relationship Id="rId10" Type="http://schemas.openxmlformats.org/officeDocument/2006/relationships/tags" Target="../tags/tag134.xml"/><Relationship Id="rId4" Type="http://schemas.openxmlformats.org/officeDocument/2006/relationships/tags" Target="../tags/tag128.xml"/><Relationship Id="rId9" Type="http://schemas.openxmlformats.org/officeDocument/2006/relationships/tags" Target="../tags/tag133.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42.xm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slideMaster" Target="../slideMasters/slideMaster1.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0" Type="http://schemas.openxmlformats.org/officeDocument/2006/relationships/tags" Target="../tags/tag144.xml"/><Relationship Id="rId4" Type="http://schemas.openxmlformats.org/officeDocument/2006/relationships/tags" Target="../tags/tag138.xml"/><Relationship Id="rId9" Type="http://schemas.openxmlformats.org/officeDocument/2006/relationships/tags" Target="../tags/tag143.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53.xml"/><Relationship Id="rId13" Type="http://schemas.openxmlformats.org/officeDocument/2006/relationships/slideMaster" Target="../slideMasters/slideMaster1.xml"/><Relationship Id="rId3" Type="http://schemas.openxmlformats.org/officeDocument/2006/relationships/tags" Target="../tags/tag148.xml"/><Relationship Id="rId7" Type="http://schemas.openxmlformats.org/officeDocument/2006/relationships/tags" Target="../tags/tag152.xml"/><Relationship Id="rId12" Type="http://schemas.openxmlformats.org/officeDocument/2006/relationships/tags" Target="../tags/tag157.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tags" Target="../tags/tag156.xml"/><Relationship Id="rId5" Type="http://schemas.openxmlformats.org/officeDocument/2006/relationships/tags" Target="../tags/tag150.xml"/><Relationship Id="rId10" Type="http://schemas.openxmlformats.org/officeDocument/2006/relationships/tags" Target="../tags/tag155.xml"/><Relationship Id="rId4" Type="http://schemas.openxmlformats.org/officeDocument/2006/relationships/tags" Target="../tags/tag149.xml"/><Relationship Id="rId9" Type="http://schemas.openxmlformats.org/officeDocument/2006/relationships/tags" Target="../tags/tag154.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slideMaster" Target="../slideMasters/slideMaster1.xml"/><Relationship Id="rId3" Type="http://schemas.openxmlformats.org/officeDocument/2006/relationships/tags" Target="../tags/tag160.xml"/><Relationship Id="rId7" Type="http://schemas.openxmlformats.org/officeDocument/2006/relationships/tags" Target="../tags/tag164.xml"/><Relationship Id="rId12" Type="http://schemas.openxmlformats.org/officeDocument/2006/relationships/tags" Target="../tags/tag169.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5" Type="http://schemas.openxmlformats.org/officeDocument/2006/relationships/tags" Target="../tags/tag162.xml"/><Relationship Id="rId10" Type="http://schemas.openxmlformats.org/officeDocument/2006/relationships/tags" Target="../tags/tag167.xml"/><Relationship Id="rId4" Type="http://schemas.openxmlformats.org/officeDocument/2006/relationships/tags" Target="../tags/tag161.xml"/><Relationship Id="rId9" Type="http://schemas.openxmlformats.org/officeDocument/2006/relationships/tags" Target="../tags/tag16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13" name="任意多边形: 形状 12"/>
          <p:cNvSpPr/>
          <p:nvPr>
            <p:custDataLst>
              <p:tags r:id="rId1"/>
            </p:custDataLst>
          </p:nvPr>
        </p:nvSpPr>
        <p:spPr>
          <a:xfrm>
            <a:off x="9070340" y="0"/>
            <a:ext cx="3121660" cy="2059940"/>
          </a:xfrm>
          <a:custGeom>
            <a:avLst/>
            <a:gdLst>
              <a:gd name="connsiteX0" fmla="*/ 3121594 w 3121594"/>
              <a:gd name="connsiteY0" fmla="*/ 2059935 h 2059935"/>
              <a:gd name="connsiteX1" fmla="*/ 3121594 w 3121594"/>
              <a:gd name="connsiteY1" fmla="*/ 0 h 2059935"/>
              <a:gd name="connsiteX2" fmla="*/ 0 w 3121594"/>
              <a:gd name="connsiteY2" fmla="*/ 0 h 2059935"/>
            </a:gdLst>
            <a:ahLst/>
            <a:cxnLst>
              <a:cxn ang="0">
                <a:pos x="connsiteX0" y="connsiteY0"/>
              </a:cxn>
              <a:cxn ang="0">
                <a:pos x="connsiteX1" y="connsiteY1"/>
              </a:cxn>
              <a:cxn ang="0">
                <a:pos x="connsiteX2" y="connsiteY2"/>
              </a:cxn>
            </a:cxnLst>
            <a:rect l="l" t="t" r="r" b="b"/>
            <a:pathLst>
              <a:path w="3121594" h="2059935">
                <a:moveTo>
                  <a:pt x="3121594" y="2059935"/>
                </a:moveTo>
                <a:lnTo>
                  <a:pt x="3121594" y="0"/>
                </a:lnTo>
                <a:lnTo>
                  <a:pt x="0" y="0"/>
                </a:lnTo>
                <a:close/>
              </a:path>
            </a:pathLst>
          </a:custGeom>
          <a:solidFill>
            <a:schemeClr val="accent6"/>
          </a:solidFill>
          <a:ln w="6335" cap="flat">
            <a:noFill/>
            <a:prstDash val="solid"/>
            <a:miter/>
          </a:ln>
        </p:spPr>
        <p:txBody>
          <a:bodyPr rtlCol="0" anchor="ctr"/>
          <a:lstStyle/>
          <a:p>
            <a:endParaRPr lang="zh-CN" altLang="en-US"/>
          </a:p>
        </p:txBody>
      </p:sp>
      <p:grpSp>
        <p:nvGrpSpPr>
          <p:cNvPr id="14" name="组合 13"/>
          <p:cNvGrpSpPr/>
          <p:nvPr>
            <p:custDataLst>
              <p:tags r:id="rId2"/>
            </p:custDataLst>
          </p:nvPr>
        </p:nvGrpSpPr>
        <p:grpSpPr>
          <a:xfrm>
            <a:off x="0" y="4744778"/>
            <a:ext cx="5066665" cy="2120842"/>
            <a:chOff x="0" y="5477"/>
            <a:chExt cx="12744" cy="5335"/>
          </a:xfrm>
        </p:grpSpPr>
        <p:sp>
          <p:nvSpPr>
            <p:cNvPr id="23" name="任意多边形: 形状 22"/>
            <p:cNvSpPr/>
            <p:nvPr>
              <p:custDataLst>
                <p:tags r:id="rId12"/>
              </p:custDataLst>
            </p:nvPr>
          </p:nvSpPr>
          <p:spPr>
            <a:xfrm>
              <a:off x="2" y="5477"/>
              <a:ext cx="12742" cy="5335"/>
            </a:xfrm>
            <a:custGeom>
              <a:avLst/>
              <a:gdLst>
                <a:gd name="connsiteX0" fmla="*/ 0 w 7228154"/>
                <a:gd name="connsiteY0" fmla="*/ 0 h 4082474"/>
                <a:gd name="connsiteX1" fmla="*/ 0 w 7228154"/>
                <a:gd name="connsiteY1" fmla="*/ 4082475 h 4082474"/>
                <a:gd name="connsiteX2" fmla="*/ 7228154 w 7228154"/>
                <a:gd name="connsiteY2" fmla="*/ 4082475 h 4082474"/>
              </a:gdLst>
              <a:ahLst/>
              <a:cxnLst>
                <a:cxn ang="0">
                  <a:pos x="connsiteX0" y="connsiteY0"/>
                </a:cxn>
                <a:cxn ang="0">
                  <a:pos x="connsiteX1" y="connsiteY1"/>
                </a:cxn>
                <a:cxn ang="0">
                  <a:pos x="connsiteX2" y="connsiteY2"/>
                </a:cxn>
              </a:cxnLst>
              <a:rect l="l" t="t" r="r" b="b"/>
              <a:pathLst>
                <a:path w="7228154" h="4082474">
                  <a:moveTo>
                    <a:pt x="0" y="0"/>
                  </a:moveTo>
                  <a:lnTo>
                    <a:pt x="0" y="4082475"/>
                  </a:lnTo>
                  <a:lnTo>
                    <a:pt x="7228154" y="4082475"/>
                  </a:lnTo>
                  <a:close/>
                </a:path>
              </a:pathLst>
            </a:custGeom>
            <a:solidFill>
              <a:schemeClr val="accent4"/>
            </a:solidFill>
            <a:ln w="6335" cap="flat">
              <a:noFill/>
              <a:prstDash val="solid"/>
              <a:miter/>
            </a:ln>
          </p:spPr>
          <p:txBody>
            <a:bodyPr rtlCol="0" anchor="ctr"/>
            <a:lstStyle/>
            <a:p>
              <a:endParaRPr lang="zh-CN" altLang="en-US" dirty="0"/>
            </a:p>
          </p:txBody>
        </p:sp>
        <p:sp>
          <p:nvSpPr>
            <p:cNvPr id="24" name="任意多边形: 形状 23"/>
            <p:cNvSpPr/>
            <p:nvPr>
              <p:custDataLst>
                <p:tags r:id="rId13"/>
              </p:custDataLst>
            </p:nvPr>
          </p:nvSpPr>
          <p:spPr>
            <a:xfrm>
              <a:off x="0" y="6151"/>
              <a:ext cx="11383" cy="4661"/>
            </a:xfrm>
            <a:custGeom>
              <a:avLst/>
              <a:gdLst>
                <a:gd name="connsiteX0" fmla="*/ 0 w 7228154"/>
                <a:gd name="connsiteY0" fmla="*/ 0 h 4082474"/>
                <a:gd name="connsiteX1" fmla="*/ 0 w 7228154"/>
                <a:gd name="connsiteY1" fmla="*/ 4082475 h 4082474"/>
                <a:gd name="connsiteX2" fmla="*/ 7228155 w 7228154"/>
                <a:gd name="connsiteY2" fmla="*/ 4082475 h 4082474"/>
              </a:gdLst>
              <a:ahLst/>
              <a:cxnLst>
                <a:cxn ang="0">
                  <a:pos x="connsiteX0" y="connsiteY0"/>
                </a:cxn>
                <a:cxn ang="0">
                  <a:pos x="connsiteX1" y="connsiteY1"/>
                </a:cxn>
                <a:cxn ang="0">
                  <a:pos x="connsiteX2" y="connsiteY2"/>
                </a:cxn>
              </a:cxnLst>
              <a:rect l="l" t="t" r="r" b="b"/>
              <a:pathLst>
                <a:path w="7228154" h="4082474">
                  <a:moveTo>
                    <a:pt x="0" y="0"/>
                  </a:moveTo>
                  <a:lnTo>
                    <a:pt x="0" y="4082475"/>
                  </a:lnTo>
                  <a:lnTo>
                    <a:pt x="7228155" y="4082475"/>
                  </a:lnTo>
                  <a:close/>
                </a:path>
              </a:pathLst>
            </a:custGeom>
            <a:solidFill>
              <a:schemeClr val="accent6"/>
            </a:solidFill>
            <a:ln w="6335" cap="flat">
              <a:noFill/>
              <a:prstDash val="solid"/>
              <a:miter/>
            </a:ln>
          </p:spPr>
          <p:txBody>
            <a:bodyPr rtlCol="0" anchor="ctr"/>
            <a:lstStyle/>
            <a:p>
              <a:endParaRPr lang="zh-CN" altLang="en-US" dirty="0"/>
            </a:p>
          </p:txBody>
        </p:sp>
      </p:grpSp>
      <p:sp>
        <p:nvSpPr>
          <p:cNvPr id="25" name="任意多边形: 形状 24"/>
          <p:cNvSpPr/>
          <p:nvPr>
            <p:custDataLst>
              <p:tags r:id="rId3"/>
            </p:custDataLst>
          </p:nvPr>
        </p:nvSpPr>
        <p:spPr>
          <a:xfrm>
            <a:off x="0" y="0"/>
            <a:ext cx="2552700" cy="4409440"/>
          </a:xfrm>
          <a:custGeom>
            <a:avLst/>
            <a:gdLst>
              <a:gd name="connsiteX0" fmla="*/ 0 w 7837895"/>
              <a:gd name="connsiteY0" fmla="*/ 4409530 h 4409529"/>
              <a:gd name="connsiteX1" fmla="*/ 0 w 7837895"/>
              <a:gd name="connsiteY1" fmla="*/ 0 h 4409529"/>
              <a:gd name="connsiteX2" fmla="*/ 7837896 w 7837895"/>
              <a:gd name="connsiteY2" fmla="*/ 0 h 4409529"/>
            </a:gdLst>
            <a:ahLst/>
            <a:cxnLst>
              <a:cxn ang="0">
                <a:pos x="connsiteX0" y="connsiteY0"/>
              </a:cxn>
              <a:cxn ang="0">
                <a:pos x="connsiteX1" y="connsiteY1"/>
              </a:cxn>
              <a:cxn ang="0">
                <a:pos x="connsiteX2" y="connsiteY2"/>
              </a:cxn>
            </a:cxnLst>
            <a:rect l="l" t="t" r="r" b="b"/>
            <a:pathLst>
              <a:path w="7837895" h="4409529">
                <a:moveTo>
                  <a:pt x="0" y="4409530"/>
                </a:moveTo>
                <a:lnTo>
                  <a:pt x="0" y="0"/>
                </a:lnTo>
                <a:lnTo>
                  <a:pt x="7837896" y="0"/>
                </a:lnTo>
                <a:close/>
              </a:path>
            </a:pathLst>
          </a:custGeom>
          <a:solidFill>
            <a:schemeClr val="accent1"/>
          </a:solidFill>
          <a:ln w="6335" cap="flat">
            <a:noFill/>
            <a:prstDash val="solid"/>
            <a:miter/>
          </a:ln>
        </p:spPr>
        <p:txBody>
          <a:bodyPr rtlCol="0" anchor="ctr"/>
          <a:lstStyle/>
          <a:p>
            <a:endParaRPr lang="zh-CN" altLang="en-US" dirty="0"/>
          </a:p>
        </p:txBody>
      </p:sp>
      <p:cxnSp>
        <p:nvCxnSpPr>
          <p:cNvPr id="26" name="直接连接符 25"/>
          <p:cNvCxnSpPr/>
          <p:nvPr>
            <p:custDataLst>
              <p:tags r:id="rId4"/>
            </p:custDataLst>
          </p:nvPr>
        </p:nvCxnSpPr>
        <p:spPr>
          <a:xfrm>
            <a:off x="2800732" y="3622040"/>
            <a:ext cx="659053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5"/>
            </p:custDataLst>
          </p:nvPr>
        </p:nvSpPr>
        <p:spPr>
          <a:xfrm>
            <a:off x="1755527" y="1331623"/>
            <a:ext cx="8680946" cy="2121978"/>
          </a:xfrm>
        </p:spPr>
        <p:txBody>
          <a:bodyPr lIns="90000" tIns="46800" rIns="90000" bIns="0" anchor="b" anchorCtr="0">
            <a:normAutofit/>
          </a:bodyPr>
          <a:lstStyle>
            <a:lvl1pPr algn="ctr">
              <a:defRPr sz="5400" spc="600" baseline="0">
                <a:solidFill>
                  <a:schemeClr val="tx1">
                    <a:lumMod val="75000"/>
                    <a:lumOff val="25000"/>
                  </a:schemeClr>
                </a:solidFill>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3" name="副标题 2"/>
          <p:cNvSpPr>
            <a:spLocks noGrp="1"/>
          </p:cNvSpPr>
          <p:nvPr>
            <p:ph type="subTitle" idx="1" hasCustomPrompt="1"/>
            <p:custDataLst>
              <p:tags r:id="rId6"/>
            </p:custDataLst>
          </p:nvPr>
        </p:nvSpPr>
        <p:spPr>
          <a:xfrm>
            <a:off x="2192655" y="3713619"/>
            <a:ext cx="7896859" cy="511698"/>
          </a:xfrm>
        </p:spPr>
        <p:txBody>
          <a:bodyPr lIns="90170" tIns="46990" rIns="90170" bIns="46990" anchor="ctr" anchorCtr="0">
            <a:normAutofit/>
          </a:bodyPr>
          <a:lstStyle>
            <a:lvl1pPr marL="0" indent="0" algn="ctr" eaLnBrk="1" fontAlgn="auto" latinLnBrk="0" hangingPunct="1">
              <a:lnSpc>
                <a:spcPct val="100000"/>
              </a:lnSpc>
              <a:buNone/>
              <a:defRPr sz="2400" u="none" strike="noStrike" kern="1200" cap="none" spc="200" normalizeH="0" baseline="0">
                <a:solidFill>
                  <a:schemeClr val="tx1">
                    <a:lumMod val="75000"/>
                    <a:lumOff val="2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7"/>
            </p:custDataLst>
          </p:nvPr>
        </p:nvSpPr>
        <p:spPr/>
        <p:txBody>
          <a:bodyPr/>
          <a:lstStyle/>
          <a:p>
            <a:fld id="{760FBDFE-C587-4B4C-A407-44438C67B59E}" type="datetimeFigureOut">
              <a:rPr lang="zh-CN" altLang="en-US" smtClean="0"/>
              <a:t>2021/4/27</a:t>
            </a:fld>
            <a:endParaRPr lang="zh-CN" altLang="en-US"/>
          </a:p>
        </p:txBody>
      </p:sp>
      <p:sp>
        <p:nvSpPr>
          <p:cNvPr id="17" name="页脚占位符 16"/>
          <p:cNvSpPr>
            <a:spLocks noGrp="1"/>
          </p:cNvSpPr>
          <p:nvPr>
            <p:ph type="ftr" sz="quarter" idx="11"/>
            <p:custDataLst>
              <p:tags r:id="rId8"/>
            </p:custDataLst>
          </p:nvPr>
        </p:nvSpPr>
        <p:spPr/>
        <p:txBody>
          <a:bodyPr/>
          <a:lstStyle/>
          <a:p>
            <a:endParaRPr lang="zh-CN" altLang="en-US" dirty="0"/>
          </a:p>
        </p:txBody>
      </p:sp>
      <p:sp>
        <p:nvSpPr>
          <p:cNvPr id="18" name="灯片编号占位符 17"/>
          <p:cNvSpPr>
            <a:spLocks noGrp="1"/>
          </p:cNvSpPr>
          <p:nvPr>
            <p:ph type="sldNum" sz="quarter" idx="12"/>
            <p:custDataLst>
              <p:tags r:id="rId9"/>
            </p:custDataLst>
          </p:nvPr>
        </p:nvSpPr>
        <p:spPr/>
        <p:txBody>
          <a:bodyPr/>
          <a:lstStyle/>
          <a:p>
            <a:fld id="{49AE70B2-8BF9-45C0-BB95-33D1B9D3A854}" type="slidenum">
              <a:rPr lang="zh-CN" altLang="en-US" smtClean="0"/>
              <a:t>‹#›</a:t>
            </a:fld>
            <a:endParaRPr lang="zh-CN" altLang="en-US" dirty="0"/>
          </a:p>
        </p:txBody>
      </p:sp>
      <p:sp>
        <p:nvSpPr>
          <p:cNvPr id="5" name="文本占位符 4"/>
          <p:cNvSpPr>
            <a:spLocks noGrp="1"/>
          </p:cNvSpPr>
          <p:nvPr>
            <p:ph type="body" sz="quarter" idx="13" hasCustomPrompt="1"/>
            <p:custDataLst>
              <p:tags r:id="rId10"/>
            </p:custDataLst>
          </p:nvPr>
        </p:nvSpPr>
        <p:spPr>
          <a:xfrm>
            <a:off x="2552700" y="4299889"/>
            <a:ext cx="7107238" cy="511698"/>
          </a:xfrm>
        </p:spPr>
        <p:txBody>
          <a:bodyPr lIns="90000" tIns="46800" rIns="90000" bIns="46800">
            <a:normAutofit/>
          </a:bodyPr>
          <a:lstStyle>
            <a:lvl1pPr marL="0" indent="0" algn="ctr">
              <a:buNone/>
              <a:defRPr sz="1800">
                <a:solidFill>
                  <a:schemeClr val="tx1">
                    <a:lumMod val="75000"/>
                    <a:lumOff val="25000"/>
                  </a:schemeClr>
                </a:solidFill>
              </a:defRPr>
            </a:lvl1pPr>
          </a:lstStyle>
          <a:p>
            <a:pPr lvl="0"/>
            <a:r>
              <a:rPr lang="zh-CN" altLang="en-US" dirty="0"/>
              <a:t>单击此处编辑文本</a:t>
            </a:r>
          </a:p>
        </p:txBody>
      </p:sp>
      <p:sp>
        <p:nvSpPr>
          <p:cNvPr id="7" name="文本占位符 6"/>
          <p:cNvSpPr>
            <a:spLocks noGrp="1"/>
          </p:cNvSpPr>
          <p:nvPr>
            <p:ph type="body" sz="quarter" idx="14" hasCustomPrompt="1"/>
            <p:custDataLst>
              <p:tags r:id="rId11"/>
            </p:custDataLst>
          </p:nvPr>
        </p:nvSpPr>
        <p:spPr>
          <a:xfrm>
            <a:off x="2552700" y="4790718"/>
            <a:ext cx="7107238" cy="511698"/>
          </a:xfrm>
        </p:spPr>
        <p:txBody>
          <a:bodyPr lIns="90000" tIns="46800" rIns="90000" bIns="46800">
            <a:normAutofit/>
          </a:bodyPr>
          <a:lstStyle>
            <a:lvl1pPr marL="0" indent="0" algn="ctr">
              <a:buNone/>
              <a:defRPr sz="1800">
                <a:solidFill>
                  <a:schemeClr val="tx1">
                    <a:lumMod val="75000"/>
                    <a:lumOff val="25000"/>
                  </a:schemeClr>
                </a:solidFill>
              </a:defRPr>
            </a:lvl1pPr>
          </a:lstStyle>
          <a:p>
            <a:pPr lvl="0"/>
            <a:r>
              <a:rPr lang="zh-CN" altLang="en-US" dirty="0"/>
              <a:t>单击此处编辑文本</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2021/4/27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1" y="0"/>
            <a:ext cx="4429387" cy="6858000"/>
          </a:xfrm>
          <a:prstGeom prst="rect">
            <a:avLst/>
          </a:prstGeom>
          <a:solidFill>
            <a:schemeClr val="accent1"/>
          </a:solidFill>
          <a:ln>
            <a:noFill/>
          </a:ln>
        </p:spPr>
        <p:style>
          <a:lnRef idx="2">
            <a:srgbClr val="282928">
              <a:shade val="50000"/>
            </a:srgbClr>
          </a:lnRef>
          <a:fillRef idx="1">
            <a:srgbClr val="282928"/>
          </a:fillRef>
          <a:effectRef idx="0">
            <a:srgbClr val="282928"/>
          </a:effectRef>
          <a:fontRef idx="minor">
            <a:sysClr val="window" lastClr="FFFFFF"/>
          </a:fontRef>
        </p:style>
        <p:txBody>
          <a:bodyPr rtlCol="0" anchor="ctr"/>
          <a:lstStyle/>
          <a:p>
            <a:pPr algn="ctr"/>
            <a:endParaRPr lang="zh-CN" altLang="en-US"/>
          </a:p>
        </p:txBody>
      </p:sp>
      <p:sp>
        <p:nvSpPr>
          <p:cNvPr id="54" name="矩形 53"/>
          <p:cNvSpPr/>
          <p:nvPr>
            <p:custDataLst>
              <p:tags r:id="rId2"/>
            </p:custDataLst>
          </p:nvPr>
        </p:nvSpPr>
        <p:spPr>
          <a:xfrm rot="18900000">
            <a:off x="3955998" y="2955611"/>
            <a:ext cx="946777" cy="946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custDataLst>
              <p:tags r:id="rId3"/>
            </p:custDataLst>
          </p:nvPr>
        </p:nvSpPr>
        <p:spPr>
          <a:xfrm rot="18900000">
            <a:off x="4227003" y="3226617"/>
            <a:ext cx="404767" cy="404767"/>
          </a:xfrm>
          <a:prstGeom prst="rect">
            <a:avLst/>
          </a:prstGeom>
          <a:solidFill>
            <a:schemeClr val="accent4"/>
          </a:solidFill>
          <a:ln>
            <a:noFill/>
          </a:ln>
        </p:spPr>
        <p:style>
          <a:lnRef idx="2">
            <a:srgbClr val="282928">
              <a:shade val="50000"/>
            </a:srgbClr>
          </a:lnRef>
          <a:fillRef idx="1">
            <a:srgbClr val="282928"/>
          </a:fillRef>
          <a:effectRef idx="0">
            <a:srgbClr val="282928"/>
          </a:effectRef>
          <a:fontRef idx="minor">
            <a:sysClr val="window" lastClr="FFFFFF"/>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5310135" y="2170322"/>
            <a:ext cx="6015208" cy="2357611"/>
          </a:xfrm>
        </p:spPr>
        <p:txBody>
          <a:bodyPr lIns="90000" tIns="46800" rIns="90000" bIns="46800" anchor="ctr" anchorCtr="0">
            <a:normAutofit/>
          </a:bodyPr>
          <a:lstStyle>
            <a:lvl1pPr>
              <a:defRPr sz="7200" u="none" strike="noStrike" kern="1200" cap="none" spc="300" normalizeH="0" baseline="0">
                <a:solidFill>
                  <a:schemeClr val="tx1">
                    <a:lumMod val="75000"/>
                    <a:lumOff val="2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t>2021/4/27</a:t>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a:no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2021/4/27</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2021/4/27</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6" name="图形 34"/>
          <p:cNvGrpSpPr/>
          <p:nvPr>
            <p:custDataLst>
              <p:tags r:id="rId1"/>
            </p:custDataLst>
          </p:nvPr>
        </p:nvGrpSpPr>
        <p:grpSpPr>
          <a:xfrm>
            <a:off x="9783683" y="0"/>
            <a:ext cx="2416749" cy="6869016"/>
            <a:chOff x="9761381" y="0"/>
            <a:chExt cx="2416749" cy="6869016"/>
          </a:xfrm>
          <a:solidFill>
            <a:srgbClr val="0894A5"/>
          </a:solidFill>
        </p:grpSpPr>
        <p:sp>
          <p:nvSpPr>
            <p:cNvPr id="7" name="任意多边形: 形状 3"/>
            <p:cNvSpPr/>
            <p:nvPr>
              <p:custDataLst>
                <p:tags r:id="rId7"/>
              </p:custDataLst>
            </p:nvPr>
          </p:nvSpPr>
          <p:spPr>
            <a:xfrm>
              <a:off x="9761381" y="0"/>
              <a:ext cx="2158624" cy="4069248"/>
            </a:xfrm>
            <a:custGeom>
              <a:avLst/>
              <a:gdLst>
                <a:gd name="connsiteX0" fmla="*/ 2158625 w 2158624"/>
                <a:gd name="connsiteY0" fmla="*/ 4069249 h 4069248"/>
                <a:gd name="connsiteX1" fmla="*/ 2158625 w 2158624"/>
                <a:gd name="connsiteY1" fmla="*/ 0 h 4069248"/>
                <a:gd name="connsiteX2" fmla="*/ 0 w 2158624"/>
                <a:gd name="connsiteY2" fmla="*/ 0 h 4069248"/>
              </a:gdLst>
              <a:ahLst/>
              <a:cxnLst>
                <a:cxn ang="0">
                  <a:pos x="connsiteX0" y="connsiteY0"/>
                </a:cxn>
                <a:cxn ang="0">
                  <a:pos x="connsiteX1" y="connsiteY1"/>
                </a:cxn>
                <a:cxn ang="0">
                  <a:pos x="connsiteX2" y="connsiteY2"/>
                </a:cxn>
              </a:cxnLst>
              <a:rect l="l" t="t" r="r" b="b"/>
              <a:pathLst>
                <a:path w="2158624" h="4069248">
                  <a:moveTo>
                    <a:pt x="2158625" y="4069249"/>
                  </a:moveTo>
                  <a:lnTo>
                    <a:pt x="2158625" y="0"/>
                  </a:lnTo>
                  <a:lnTo>
                    <a:pt x="0" y="0"/>
                  </a:lnTo>
                  <a:close/>
                </a:path>
              </a:pathLst>
            </a:custGeom>
            <a:solidFill>
              <a:schemeClr val="accent4"/>
            </a:solidFill>
            <a:ln w="6325" cap="flat">
              <a:noFill/>
              <a:prstDash val="solid"/>
              <a:miter/>
            </a:ln>
          </p:spPr>
          <p:txBody>
            <a:bodyPr rtlCol="0" anchor="ctr"/>
            <a:lstStyle/>
            <a:p>
              <a:endParaRPr lang="zh-CN" altLang="en-US"/>
            </a:p>
          </p:txBody>
        </p:sp>
        <p:sp>
          <p:nvSpPr>
            <p:cNvPr id="8" name="任意多边形: 形状 4"/>
            <p:cNvSpPr/>
            <p:nvPr>
              <p:custDataLst>
                <p:tags r:id="rId8"/>
              </p:custDataLst>
            </p:nvPr>
          </p:nvSpPr>
          <p:spPr>
            <a:xfrm>
              <a:off x="10019506" y="0"/>
              <a:ext cx="2158624" cy="4069248"/>
            </a:xfrm>
            <a:custGeom>
              <a:avLst/>
              <a:gdLst>
                <a:gd name="connsiteX0" fmla="*/ 2158625 w 2158624"/>
                <a:gd name="connsiteY0" fmla="*/ 4069249 h 4069248"/>
                <a:gd name="connsiteX1" fmla="*/ 2158625 w 2158624"/>
                <a:gd name="connsiteY1" fmla="*/ 0 h 4069248"/>
                <a:gd name="connsiteX2" fmla="*/ 0 w 2158624"/>
                <a:gd name="connsiteY2" fmla="*/ 0 h 4069248"/>
              </a:gdLst>
              <a:ahLst/>
              <a:cxnLst>
                <a:cxn ang="0">
                  <a:pos x="connsiteX0" y="connsiteY0"/>
                </a:cxn>
                <a:cxn ang="0">
                  <a:pos x="connsiteX1" y="connsiteY1"/>
                </a:cxn>
                <a:cxn ang="0">
                  <a:pos x="connsiteX2" y="connsiteY2"/>
                </a:cxn>
              </a:cxnLst>
              <a:rect l="l" t="t" r="r" b="b"/>
              <a:pathLst>
                <a:path w="2158624" h="4069248">
                  <a:moveTo>
                    <a:pt x="2158625" y="4069249"/>
                  </a:moveTo>
                  <a:lnTo>
                    <a:pt x="2158625" y="0"/>
                  </a:lnTo>
                  <a:lnTo>
                    <a:pt x="0" y="0"/>
                  </a:lnTo>
                  <a:close/>
                </a:path>
              </a:pathLst>
            </a:custGeom>
            <a:solidFill>
              <a:schemeClr val="accent6"/>
            </a:solidFill>
            <a:ln w="6325" cap="flat">
              <a:noFill/>
              <a:prstDash val="solid"/>
              <a:miter/>
            </a:ln>
          </p:spPr>
          <p:txBody>
            <a:bodyPr rtlCol="0" anchor="ctr"/>
            <a:lstStyle/>
            <a:p>
              <a:endParaRPr lang="zh-CN" altLang="en-US" dirty="0"/>
            </a:p>
          </p:txBody>
        </p:sp>
        <p:sp>
          <p:nvSpPr>
            <p:cNvPr id="9" name="任意多边形: 形状 5"/>
            <p:cNvSpPr/>
            <p:nvPr>
              <p:custDataLst>
                <p:tags r:id="rId9"/>
              </p:custDataLst>
            </p:nvPr>
          </p:nvSpPr>
          <p:spPr>
            <a:xfrm>
              <a:off x="9837300" y="2473317"/>
              <a:ext cx="2340830" cy="4395699"/>
            </a:xfrm>
            <a:custGeom>
              <a:avLst/>
              <a:gdLst>
                <a:gd name="connsiteX0" fmla="*/ 2340830 w 2340830"/>
                <a:gd name="connsiteY0" fmla="*/ 0 h 4395699"/>
                <a:gd name="connsiteX1" fmla="*/ 2340830 w 2340830"/>
                <a:gd name="connsiteY1" fmla="*/ 4395700 h 4395699"/>
                <a:gd name="connsiteX2" fmla="*/ 0 w 2340830"/>
                <a:gd name="connsiteY2" fmla="*/ 4395700 h 4395699"/>
              </a:gdLst>
              <a:ahLst/>
              <a:cxnLst>
                <a:cxn ang="0">
                  <a:pos x="connsiteX0" y="connsiteY0"/>
                </a:cxn>
                <a:cxn ang="0">
                  <a:pos x="connsiteX1" y="connsiteY1"/>
                </a:cxn>
                <a:cxn ang="0">
                  <a:pos x="connsiteX2" y="connsiteY2"/>
                </a:cxn>
              </a:cxnLst>
              <a:rect l="l" t="t" r="r" b="b"/>
              <a:pathLst>
                <a:path w="2340830" h="4395699">
                  <a:moveTo>
                    <a:pt x="2340830" y="0"/>
                  </a:moveTo>
                  <a:lnTo>
                    <a:pt x="2340830" y="4395700"/>
                  </a:lnTo>
                  <a:lnTo>
                    <a:pt x="0" y="4395700"/>
                  </a:lnTo>
                  <a:close/>
                </a:path>
              </a:pathLst>
            </a:custGeom>
            <a:solidFill>
              <a:schemeClr val="accent1"/>
            </a:solidFill>
            <a:ln w="6325" cap="flat">
              <a:noFill/>
              <a:prstDash val="solid"/>
              <a:miter/>
            </a:ln>
          </p:spPr>
          <p:txBody>
            <a:bodyPr rtlCol="0" anchor="ctr"/>
            <a:lstStyle/>
            <a:p>
              <a:endParaRPr lang="zh-CN" altLang="en-US"/>
            </a:p>
          </p:txBody>
        </p:sp>
      </p:grpSp>
      <p:sp>
        <p:nvSpPr>
          <p:cNvPr id="10" name="任意多边形: 形状 6"/>
          <p:cNvSpPr/>
          <p:nvPr>
            <p:custDataLst>
              <p:tags r:id="rId2"/>
            </p:custDataLst>
          </p:nvPr>
        </p:nvSpPr>
        <p:spPr>
          <a:xfrm>
            <a:off x="0" y="5755540"/>
            <a:ext cx="965434" cy="1113476"/>
          </a:xfrm>
          <a:custGeom>
            <a:avLst/>
            <a:gdLst>
              <a:gd name="connsiteX0" fmla="*/ 0 w 965434"/>
              <a:gd name="connsiteY0" fmla="*/ 0 h 1113476"/>
              <a:gd name="connsiteX1" fmla="*/ 0 w 965434"/>
              <a:gd name="connsiteY1" fmla="*/ 1113476 h 1113476"/>
              <a:gd name="connsiteX2" fmla="*/ 965434 w 965434"/>
              <a:gd name="connsiteY2" fmla="*/ 1113476 h 1113476"/>
            </a:gdLst>
            <a:ahLst/>
            <a:cxnLst>
              <a:cxn ang="0">
                <a:pos x="connsiteX0" y="connsiteY0"/>
              </a:cxn>
              <a:cxn ang="0">
                <a:pos x="connsiteX1" y="connsiteY1"/>
              </a:cxn>
              <a:cxn ang="0">
                <a:pos x="connsiteX2" y="connsiteY2"/>
              </a:cxn>
            </a:cxnLst>
            <a:rect l="l" t="t" r="r" b="b"/>
            <a:pathLst>
              <a:path w="965434" h="1113476">
                <a:moveTo>
                  <a:pt x="0" y="0"/>
                </a:moveTo>
                <a:lnTo>
                  <a:pt x="0" y="1113476"/>
                </a:lnTo>
                <a:lnTo>
                  <a:pt x="965434" y="1113476"/>
                </a:lnTo>
                <a:close/>
              </a:path>
            </a:pathLst>
          </a:custGeom>
          <a:solidFill>
            <a:schemeClr val="accent1">
              <a:lumMod val="50000"/>
            </a:schemeClr>
          </a:solidFill>
          <a:ln w="6325" cap="flat">
            <a:noFill/>
            <a:prstDash val="solid"/>
            <a:miter/>
          </a:ln>
        </p:spPr>
        <p:txBody>
          <a:bodyPr rtlCol="0" anchor="ctr"/>
          <a:lstStyle/>
          <a:p>
            <a:endParaRPr lang="zh-CN" altLang="en-US"/>
          </a:p>
        </p:txBody>
      </p:sp>
      <p:sp>
        <p:nvSpPr>
          <p:cNvPr id="2" name="标题 1"/>
          <p:cNvSpPr>
            <a:spLocks noGrp="1"/>
          </p:cNvSpPr>
          <p:nvPr>
            <p:ph type="title"/>
            <p:custDataLst>
              <p:tags r:id="rId3"/>
            </p:custDataLst>
          </p:nvPr>
        </p:nvSpPr>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2021/4/27</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2021/4/27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2021/4/27</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2021/4/27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2021/4/27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73660" y="4859655"/>
            <a:ext cx="5760085" cy="1998345"/>
            <a:chOff x="4151937" y="5109029"/>
            <a:chExt cx="2721846" cy="944356"/>
          </a:xfrm>
        </p:grpSpPr>
        <p:sp>
          <p:nvSpPr>
            <p:cNvPr id="13" name="等腰三角形 12"/>
            <p:cNvSpPr/>
            <p:nvPr>
              <p:custDataLst>
                <p:tags r:id="rId16"/>
              </p:custDataLst>
            </p:nvPr>
          </p:nvSpPr>
          <p:spPr>
            <a:xfrm>
              <a:off x="4565168" y="5109029"/>
              <a:ext cx="1912727" cy="944356"/>
            </a:xfrm>
            <a:prstGeom prst="triangle">
              <a:avLst/>
            </a:prstGeom>
            <a:solidFill>
              <a:schemeClr val="accent6"/>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14" name="等腰三角形 13"/>
            <p:cNvSpPr/>
            <p:nvPr>
              <p:custDataLst>
                <p:tags r:id="rId17"/>
              </p:custDataLst>
            </p:nvPr>
          </p:nvSpPr>
          <p:spPr>
            <a:xfrm>
              <a:off x="5562405" y="5405929"/>
              <a:ext cx="1311378" cy="647456"/>
            </a:xfrm>
            <a:prstGeom prst="triangle">
              <a:avLst/>
            </a:prstGeom>
            <a:solidFill>
              <a:schemeClr val="accent1">
                <a:alpha val="92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0" name="等腰三角形 19"/>
            <p:cNvSpPr/>
            <p:nvPr>
              <p:custDataLst>
                <p:tags r:id="rId18"/>
              </p:custDataLst>
            </p:nvPr>
          </p:nvSpPr>
          <p:spPr>
            <a:xfrm>
              <a:off x="4786508" y="5720585"/>
              <a:ext cx="674063" cy="33280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2" name="等腰三角形 21"/>
            <p:cNvSpPr/>
            <p:nvPr>
              <p:custDataLst>
                <p:tags r:id="rId19"/>
              </p:custDataLst>
            </p:nvPr>
          </p:nvSpPr>
          <p:spPr>
            <a:xfrm>
              <a:off x="4151937" y="5645342"/>
              <a:ext cx="826463" cy="408043"/>
            </a:xfrm>
            <a:prstGeom prst="triangle">
              <a:avLst/>
            </a:prstGeom>
            <a:solidFill>
              <a:schemeClr val="accent4">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dirty="0"/>
            </a:p>
          </p:txBody>
        </p:sp>
        <p:sp>
          <p:nvSpPr>
            <p:cNvPr id="23" name="等腰三角形 22"/>
            <p:cNvSpPr/>
            <p:nvPr>
              <p:custDataLst>
                <p:tags r:id="rId20"/>
              </p:custDataLst>
            </p:nvPr>
          </p:nvSpPr>
          <p:spPr>
            <a:xfrm>
              <a:off x="6313124" y="5516676"/>
              <a:ext cx="266605" cy="131629"/>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4" name="等腰三角形 23"/>
            <p:cNvSpPr/>
            <p:nvPr>
              <p:custDataLst>
                <p:tags r:id="rId21"/>
              </p:custDataLst>
            </p:nvPr>
          </p:nvSpPr>
          <p:spPr>
            <a:xfrm>
              <a:off x="5572277" y="5720585"/>
              <a:ext cx="431377" cy="212981"/>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5" name="等腰三角形 24"/>
            <p:cNvSpPr/>
            <p:nvPr>
              <p:custDataLst>
                <p:tags r:id="rId22"/>
              </p:custDataLst>
            </p:nvPr>
          </p:nvSpPr>
          <p:spPr>
            <a:xfrm>
              <a:off x="5618478" y="5234511"/>
              <a:ext cx="169487" cy="8368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6" name="等腰三角形 25"/>
            <p:cNvSpPr/>
            <p:nvPr>
              <p:custDataLst>
                <p:tags r:id="rId23"/>
              </p:custDataLst>
            </p:nvPr>
          </p:nvSpPr>
          <p:spPr>
            <a:xfrm>
              <a:off x="4565168" y="5348993"/>
              <a:ext cx="266605" cy="131629"/>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7" name="等腰三角形 26"/>
            <p:cNvSpPr/>
            <p:nvPr>
              <p:custDataLst>
                <p:tags r:id="rId24"/>
              </p:custDataLst>
            </p:nvPr>
          </p:nvSpPr>
          <p:spPr>
            <a:xfrm>
              <a:off x="4202503" y="5803305"/>
              <a:ext cx="169487" cy="83680"/>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grpSp>
      <p:grpSp>
        <p:nvGrpSpPr>
          <p:cNvPr id="28" name="组合 27"/>
          <p:cNvGrpSpPr/>
          <p:nvPr>
            <p:custDataLst>
              <p:tags r:id="rId2"/>
            </p:custDataLst>
          </p:nvPr>
        </p:nvGrpSpPr>
        <p:grpSpPr>
          <a:xfrm rot="10800000">
            <a:off x="6449060" y="0"/>
            <a:ext cx="5737860" cy="1990725"/>
            <a:chOff x="4151937" y="5109029"/>
            <a:chExt cx="2721846" cy="944356"/>
          </a:xfrm>
        </p:grpSpPr>
        <p:sp>
          <p:nvSpPr>
            <p:cNvPr id="29" name="等腰三角形 28"/>
            <p:cNvSpPr/>
            <p:nvPr>
              <p:custDataLst>
                <p:tags r:id="rId7"/>
              </p:custDataLst>
            </p:nvPr>
          </p:nvSpPr>
          <p:spPr>
            <a:xfrm>
              <a:off x="4565168" y="5109029"/>
              <a:ext cx="1912727" cy="944356"/>
            </a:xfrm>
            <a:prstGeom prst="triangle">
              <a:avLst/>
            </a:prstGeom>
            <a:solidFill>
              <a:schemeClr val="accent6"/>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dirty="0"/>
            </a:p>
          </p:txBody>
        </p:sp>
        <p:sp>
          <p:nvSpPr>
            <p:cNvPr id="30" name="等腰三角形 29"/>
            <p:cNvSpPr/>
            <p:nvPr>
              <p:custDataLst>
                <p:tags r:id="rId8"/>
              </p:custDataLst>
            </p:nvPr>
          </p:nvSpPr>
          <p:spPr>
            <a:xfrm>
              <a:off x="5562405" y="5405929"/>
              <a:ext cx="1311378" cy="647456"/>
            </a:xfrm>
            <a:prstGeom prst="triangle">
              <a:avLst/>
            </a:prstGeom>
            <a:solidFill>
              <a:schemeClr val="accent1">
                <a:alpha val="92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1" name="等腰三角形 30"/>
            <p:cNvSpPr/>
            <p:nvPr>
              <p:custDataLst>
                <p:tags r:id="rId9"/>
              </p:custDataLst>
            </p:nvPr>
          </p:nvSpPr>
          <p:spPr>
            <a:xfrm>
              <a:off x="4786508" y="5720585"/>
              <a:ext cx="674063" cy="33280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2" name="等腰三角形 31"/>
            <p:cNvSpPr/>
            <p:nvPr>
              <p:custDataLst>
                <p:tags r:id="rId10"/>
              </p:custDataLst>
            </p:nvPr>
          </p:nvSpPr>
          <p:spPr>
            <a:xfrm>
              <a:off x="4151937" y="5645342"/>
              <a:ext cx="826463" cy="408043"/>
            </a:xfrm>
            <a:prstGeom prst="triangle">
              <a:avLst/>
            </a:prstGeom>
            <a:solidFill>
              <a:schemeClr val="accent4">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3" name="等腰三角形 32"/>
            <p:cNvSpPr/>
            <p:nvPr>
              <p:custDataLst>
                <p:tags r:id="rId11"/>
              </p:custDataLst>
            </p:nvPr>
          </p:nvSpPr>
          <p:spPr>
            <a:xfrm>
              <a:off x="6313124" y="5516676"/>
              <a:ext cx="266605" cy="131629"/>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4" name="等腰三角形 33"/>
            <p:cNvSpPr/>
            <p:nvPr>
              <p:custDataLst>
                <p:tags r:id="rId12"/>
              </p:custDataLst>
            </p:nvPr>
          </p:nvSpPr>
          <p:spPr>
            <a:xfrm>
              <a:off x="5572277" y="5720585"/>
              <a:ext cx="431377" cy="212981"/>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5" name="等腰三角形 34"/>
            <p:cNvSpPr/>
            <p:nvPr>
              <p:custDataLst>
                <p:tags r:id="rId13"/>
              </p:custDataLst>
            </p:nvPr>
          </p:nvSpPr>
          <p:spPr>
            <a:xfrm>
              <a:off x="5618478" y="5234511"/>
              <a:ext cx="169487" cy="8368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6" name="等腰三角形 35"/>
            <p:cNvSpPr/>
            <p:nvPr>
              <p:custDataLst>
                <p:tags r:id="rId14"/>
              </p:custDataLst>
            </p:nvPr>
          </p:nvSpPr>
          <p:spPr>
            <a:xfrm>
              <a:off x="4565168" y="5348993"/>
              <a:ext cx="266605" cy="131629"/>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7" name="等腰三角形 36"/>
            <p:cNvSpPr/>
            <p:nvPr>
              <p:custDataLst>
                <p:tags r:id="rId15"/>
              </p:custDataLst>
            </p:nvPr>
          </p:nvSpPr>
          <p:spPr>
            <a:xfrm>
              <a:off x="4202503" y="5803305"/>
              <a:ext cx="169487" cy="83680"/>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grpSp>
      <p:sp>
        <p:nvSpPr>
          <p:cNvPr id="2" name="标题 1"/>
          <p:cNvSpPr>
            <a:spLocks noGrp="1"/>
          </p:cNvSpPr>
          <p:nvPr>
            <p:ph type="title" hasCustomPrompt="1"/>
            <p:custDataLst>
              <p:tags r:id="rId3"/>
            </p:custDataLst>
          </p:nvPr>
        </p:nvSpPr>
        <p:spPr>
          <a:xfrm>
            <a:off x="2793365" y="2295525"/>
            <a:ext cx="6605270" cy="1950085"/>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9600" b="1" i="0" u="none" strike="noStrike" kern="1200" cap="none" spc="600" normalizeH="0" baseline="0" noProof="1" dirty="0">
                <a:solidFill>
                  <a:schemeClr val="tx1">
                    <a:lumMod val="75000"/>
                    <a:lumOff val="2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2021/4/27</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9" name="任意多边形: 形状 3"/>
          <p:cNvSpPr/>
          <p:nvPr>
            <p:custDataLst>
              <p:tags r:id="rId1"/>
            </p:custDataLst>
          </p:nvPr>
        </p:nvSpPr>
        <p:spPr>
          <a:xfrm>
            <a:off x="4930775" y="6114415"/>
            <a:ext cx="7261225" cy="66421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0" name="任意多边形: 形状 4"/>
          <p:cNvSpPr/>
          <p:nvPr>
            <p:custDataLst>
              <p:tags r:id="rId2"/>
            </p:custDataLst>
          </p:nvPr>
        </p:nvSpPr>
        <p:spPr>
          <a:xfrm>
            <a:off x="4930775" y="6193790"/>
            <a:ext cx="7261225" cy="66421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1" name="任意多边形: 形状 7"/>
          <p:cNvSpPr/>
          <p:nvPr>
            <p:custDataLst>
              <p:tags r:id="rId3"/>
            </p:custDataLst>
          </p:nvPr>
        </p:nvSpPr>
        <p:spPr>
          <a:xfrm>
            <a:off x="0" y="6148705"/>
            <a:ext cx="7843520" cy="72009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sp>
        <p:nvSpPr>
          <p:cNvPr id="2" name="标题 1"/>
          <p:cNvSpPr>
            <a:spLocks noGrp="1"/>
          </p:cNvSpPr>
          <p:nvPr>
            <p:ph type="title"/>
            <p:custDataLst>
              <p:tags r:id="rId4"/>
            </p:custDataLst>
          </p:nvPr>
        </p:nvSpPr>
        <p:spPr/>
        <p:txBody>
          <a:bodyPr/>
          <a:lstStyle>
            <a:lvl1pPr>
              <a:defRPr baseline="0">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2021/4/27</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15"/>
          <p:cNvSpPr/>
          <p:nvPr>
            <p:custDataLst>
              <p:tags r:id="rId2"/>
            </p:custDataLst>
          </p:nvPr>
        </p:nvSpPr>
        <p:spPr>
          <a:xfrm rot="8220000">
            <a:off x="-495300" y="549275"/>
            <a:ext cx="1016635" cy="1052195"/>
          </a:xfrm>
          <a:custGeom>
            <a:avLst/>
            <a:gdLst/>
            <a:ahLst/>
            <a:cxnLst>
              <a:cxn ang="3">
                <a:pos x="hc" y="t"/>
              </a:cxn>
              <a:cxn ang="cd2">
                <a:pos x="l" y="vc"/>
              </a:cxn>
              <a:cxn ang="cd4">
                <a:pos x="hc" y="b"/>
              </a:cxn>
              <a:cxn ang="0">
                <a:pos x="r" y="vc"/>
              </a:cxn>
            </a:cxnLst>
            <a:rect l="l" t="t" r="r" b="b"/>
            <a:pathLst>
              <a:path w="1090" h="1128">
                <a:moveTo>
                  <a:pt x="0" y="0"/>
                </a:moveTo>
                <a:lnTo>
                  <a:pt x="1090" y="0"/>
                </a:lnTo>
                <a:lnTo>
                  <a:pt x="38" y="1128"/>
                </a:lnTo>
                <a:lnTo>
                  <a:pt x="0" y="1128"/>
                </a:lnTo>
                <a:lnTo>
                  <a:pt x="0" y="0"/>
                </a:lnTo>
                <a:close/>
              </a:path>
            </a:pathLst>
          </a:custGeom>
          <a:solidFill>
            <a:schemeClr val="accent1"/>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grpSp>
        <p:nvGrpSpPr>
          <p:cNvPr id="11" name="组合 10"/>
          <p:cNvGrpSpPr/>
          <p:nvPr>
            <p:custDataLst>
              <p:tags r:id="rId3"/>
            </p:custDataLst>
          </p:nvPr>
        </p:nvGrpSpPr>
        <p:grpSpPr>
          <a:xfrm>
            <a:off x="11292205" y="4382135"/>
            <a:ext cx="899160" cy="2477770"/>
            <a:chOff x="17783" y="6171"/>
            <a:chExt cx="1416" cy="4632"/>
          </a:xfrm>
        </p:grpSpPr>
        <p:sp>
          <p:nvSpPr>
            <p:cNvPr id="12" name="任意多边形 11"/>
            <p:cNvSpPr/>
            <p:nvPr>
              <p:custDataLst>
                <p:tags r:id="rId9"/>
              </p:custDataLst>
            </p:nvPr>
          </p:nvSpPr>
          <p:spPr>
            <a:xfrm>
              <a:off x="17783" y="6641"/>
              <a:ext cx="1417" cy="4162"/>
            </a:xfrm>
            <a:custGeom>
              <a:avLst/>
              <a:gdLst>
                <a:gd name="ir" fmla="*/ w 3 4"/>
                <a:gd name="ib" fmla="*/ h 3 4"/>
              </a:gdLst>
              <a:ahLst/>
              <a:cxnLst>
                <a:cxn ang="3">
                  <a:pos x="hc" y="t"/>
                </a:cxn>
                <a:cxn ang="cd2">
                  <a:pos x="l" y="vc"/>
                </a:cxn>
                <a:cxn ang="cd4">
                  <a:pos x="hc" y="b"/>
                </a:cxn>
                <a:cxn ang="0">
                  <a:pos x="r" y="vc"/>
                </a:cxn>
              </a:cxnLst>
              <a:rect l="l" t="t" r="r" b="b"/>
              <a:pathLst>
                <a:path w="3741" h="7481">
                  <a:moveTo>
                    <a:pt x="3741" y="0"/>
                  </a:moveTo>
                  <a:lnTo>
                    <a:pt x="3741" y="1"/>
                  </a:lnTo>
                  <a:lnTo>
                    <a:pt x="3741" y="7481"/>
                  </a:lnTo>
                  <a:lnTo>
                    <a:pt x="3741" y="7481"/>
                  </a:lnTo>
                  <a:lnTo>
                    <a:pt x="0" y="3741"/>
                  </a:lnTo>
                  <a:lnTo>
                    <a:pt x="3741" y="0"/>
                  </a:lnTo>
                  <a:close/>
                </a:path>
              </a:pathLst>
            </a:custGeom>
            <a:solidFill>
              <a:schemeClr val="accent6"/>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sp>
          <p:nvSpPr>
            <p:cNvPr id="13" name="任意多边形 11"/>
            <p:cNvSpPr/>
            <p:nvPr>
              <p:custDataLst>
                <p:tags r:id="rId10"/>
              </p:custDataLst>
            </p:nvPr>
          </p:nvSpPr>
          <p:spPr>
            <a:xfrm>
              <a:off x="17783" y="6171"/>
              <a:ext cx="1417" cy="4162"/>
            </a:xfrm>
            <a:custGeom>
              <a:avLst/>
              <a:gdLst>
                <a:gd name="ir" fmla="*/ w 3 4"/>
                <a:gd name="ib" fmla="*/ h 3 4"/>
              </a:gdLst>
              <a:ahLst/>
              <a:cxnLst>
                <a:cxn ang="3">
                  <a:pos x="hc" y="t"/>
                </a:cxn>
                <a:cxn ang="cd2">
                  <a:pos x="l" y="vc"/>
                </a:cxn>
                <a:cxn ang="cd4">
                  <a:pos x="hc" y="b"/>
                </a:cxn>
                <a:cxn ang="0">
                  <a:pos x="r" y="vc"/>
                </a:cxn>
              </a:cxnLst>
              <a:rect l="l" t="t" r="r" b="b"/>
              <a:pathLst>
                <a:path w="3741" h="7481">
                  <a:moveTo>
                    <a:pt x="3741" y="0"/>
                  </a:moveTo>
                  <a:lnTo>
                    <a:pt x="3741" y="1"/>
                  </a:lnTo>
                  <a:lnTo>
                    <a:pt x="3741" y="7481"/>
                  </a:lnTo>
                  <a:lnTo>
                    <a:pt x="3741" y="7481"/>
                  </a:lnTo>
                  <a:lnTo>
                    <a:pt x="0" y="3741"/>
                  </a:lnTo>
                  <a:lnTo>
                    <a:pt x="3741" y="0"/>
                  </a:lnTo>
                  <a:close/>
                </a:path>
              </a:pathLst>
            </a:custGeom>
            <a:solidFill>
              <a:schemeClr val="accent1"/>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gr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2021/4/27</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grpSp>
        <p:nvGrpSpPr>
          <p:cNvPr id="11" name="组合 10"/>
          <p:cNvGrpSpPr/>
          <p:nvPr>
            <p:custDataLst>
              <p:tags r:id="rId1"/>
            </p:custDataLst>
          </p:nvPr>
        </p:nvGrpSpPr>
        <p:grpSpPr>
          <a:xfrm>
            <a:off x="7926070" y="6221730"/>
            <a:ext cx="4265930" cy="640080"/>
            <a:chOff x="6681" y="8932"/>
            <a:chExt cx="12521" cy="1880"/>
          </a:xfrm>
        </p:grpSpPr>
        <p:sp>
          <p:nvSpPr>
            <p:cNvPr id="12" name="任意多边形: 形状 3"/>
            <p:cNvSpPr/>
            <p:nvPr>
              <p:custDataLst>
                <p:tags r:id="rId10"/>
              </p:custDataLst>
            </p:nvPr>
          </p:nvSpPr>
          <p:spPr>
            <a:xfrm>
              <a:off x="6681" y="8932"/>
              <a:ext cx="12521" cy="188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3" name="任意多边形: 形状 4"/>
            <p:cNvSpPr/>
            <p:nvPr>
              <p:custDataLst>
                <p:tags r:id="rId11"/>
              </p:custDataLst>
            </p:nvPr>
          </p:nvSpPr>
          <p:spPr>
            <a:xfrm>
              <a:off x="7765" y="9076"/>
              <a:ext cx="11435" cy="1724"/>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grpSp>
      <p:sp>
        <p:nvSpPr>
          <p:cNvPr id="14" name="任意多边形: 形状 9"/>
          <p:cNvSpPr/>
          <p:nvPr>
            <p:custDataLst>
              <p:tags r:id="rId2"/>
            </p:custDataLst>
          </p:nvPr>
        </p:nvSpPr>
        <p:spPr>
          <a:xfrm>
            <a:off x="11525250" y="0"/>
            <a:ext cx="666750" cy="769620"/>
          </a:xfrm>
          <a:custGeom>
            <a:avLst/>
            <a:gdLst>
              <a:gd name="connsiteX0" fmla="*/ 969010 w 969009"/>
              <a:gd name="connsiteY0" fmla="*/ 1117600 h 1117600"/>
              <a:gd name="connsiteX1" fmla="*/ 969010 w 969009"/>
              <a:gd name="connsiteY1" fmla="*/ 0 h 1117600"/>
              <a:gd name="connsiteX2" fmla="*/ 0 w 969009"/>
              <a:gd name="connsiteY2" fmla="*/ 0 h 1117600"/>
            </a:gdLst>
            <a:ahLst/>
            <a:cxnLst>
              <a:cxn ang="0">
                <a:pos x="connsiteX0" y="connsiteY0"/>
              </a:cxn>
              <a:cxn ang="0">
                <a:pos x="connsiteX1" y="connsiteY1"/>
              </a:cxn>
              <a:cxn ang="0">
                <a:pos x="connsiteX2" y="connsiteY2"/>
              </a:cxn>
            </a:cxnLst>
            <a:rect l="l" t="t" r="r" b="b"/>
            <a:pathLst>
              <a:path w="969009" h="1117600">
                <a:moveTo>
                  <a:pt x="969010" y="1117600"/>
                </a:moveTo>
                <a:lnTo>
                  <a:pt x="969010" y="0"/>
                </a:lnTo>
                <a:lnTo>
                  <a:pt x="0" y="0"/>
                </a:lnTo>
                <a:close/>
              </a:path>
            </a:pathLst>
          </a:custGeom>
          <a:solidFill>
            <a:schemeClr val="accent1">
              <a:lumMod val="50000"/>
            </a:schemeClr>
          </a:solidFill>
          <a:ln w="6350" cap="flat">
            <a:noFill/>
            <a:prstDash val="solid"/>
            <a:miter/>
          </a:ln>
        </p:spPr>
        <p:txBody>
          <a:bodyPr rtlCol="0" anchor="ctr"/>
          <a:lstStyle/>
          <a:p>
            <a:endParaRPr lang="zh-CN" altLang="en-US"/>
          </a:p>
        </p:txBody>
      </p:sp>
      <p:sp>
        <p:nvSpPr>
          <p:cNvPr id="8" name="矩形 7"/>
          <p:cNvSpPr/>
          <p:nvPr>
            <p:custDataLst>
              <p:tags r:id="rId3"/>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bg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2021/4/27</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bg1"/>
                </a:solidFill>
                <a:latin typeface="Arial" panose="020B0604020202020204" pitchFamily="34" charset="0"/>
                <a:ea typeface="微软雅黑" panose="020B0503020204020204" charset="-122"/>
              </a:defRPr>
            </a:lvl1pPr>
            <a:lvl2pPr>
              <a:defRPr baseline="0">
                <a:solidFill>
                  <a:schemeClr val="bg1"/>
                </a:solidFill>
                <a:latin typeface="Arial" panose="020B0604020202020204" pitchFamily="34" charset="0"/>
                <a:ea typeface="微软雅黑" panose="020B0503020204020204" charset="-122"/>
              </a:defRPr>
            </a:lvl2pPr>
            <a:lvl3pPr>
              <a:defRPr baseline="0">
                <a:solidFill>
                  <a:schemeClr val="bg1"/>
                </a:solidFill>
                <a:latin typeface="Arial" panose="020B0604020202020204" pitchFamily="34" charset="0"/>
                <a:ea typeface="微软雅黑" panose="020B0503020204020204" charset="-122"/>
              </a:defRPr>
            </a:lvl3pPr>
            <a:lvl4pPr>
              <a:defRPr baseline="0">
                <a:solidFill>
                  <a:schemeClr val="bg1"/>
                </a:solidFill>
                <a:latin typeface="Arial" panose="020B0604020202020204" pitchFamily="34" charset="0"/>
                <a:ea typeface="微软雅黑" panose="020B0503020204020204" charset="-122"/>
              </a:defRPr>
            </a:lvl4pPr>
            <a:lvl5pPr>
              <a:defRPr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3" name="任意多边形: 形状 3"/>
          <p:cNvSpPr/>
          <p:nvPr>
            <p:custDataLst>
              <p:tags r:id="rId1"/>
            </p:custDataLst>
          </p:nvPr>
        </p:nvSpPr>
        <p:spPr>
          <a:xfrm>
            <a:off x="4930775" y="6388735"/>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4" name="任意多边形: 形状 4"/>
          <p:cNvSpPr/>
          <p:nvPr>
            <p:custDataLst>
              <p:tags r:id="rId2"/>
            </p:custDataLst>
          </p:nvPr>
        </p:nvSpPr>
        <p:spPr>
          <a:xfrm>
            <a:off x="4930775" y="6438900"/>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5" name="任意多边形: 形状 7"/>
          <p:cNvSpPr/>
          <p:nvPr>
            <p:custDataLst>
              <p:tags r:id="rId3"/>
            </p:custDataLst>
          </p:nvPr>
        </p:nvSpPr>
        <p:spPr>
          <a:xfrm>
            <a:off x="0" y="6414135"/>
            <a:ext cx="784352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sp>
        <p:nvSpPr>
          <p:cNvPr id="10" name="矩形 9"/>
          <p:cNvSpPr/>
          <p:nvPr>
            <p:custDataLst>
              <p:tags r:id="rId4"/>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bg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2021/4/27</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2" name="任意多边形: 形状 7"/>
          <p:cNvSpPr/>
          <p:nvPr>
            <p:custDataLst>
              <p:tags r:id="rId1"/>
            </p:custDataLst>
          </p:nvPr>
        </p:nvSpPr>
        <p:spPr>
          <a:xfrm rot="10800000">
            <a:off x="568960" y="0"/>
            <a:ext cx="1162304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grpSp>
        <p:nvGrpSpPr>
          <p:cNvPr id="13" name="组合 12"/>
          <p:cNvGrpSpPr/>
          <p:nvPr>
            <p:custDataLst>
              <p:tags r:id="rId2"/>
            </p:custDataLst>
          </p:nvPr>
        </p:nvGrpSpPr>
        <p:grpSpPr>
          <a:xfrm rot="10800000">
            <a:off x="-635" y="0"/>
            <a:ext cx="4265930" cy="640080"/>
            <a:chOff x="6681" y="8932"/>
            <a:chExt cx="12521" cy="1880"/>
          </a:xfrm>
        </p:grpSpPr>
        <p:sp>
          <p:nvSpPr>
            <p:cNvPr id="14" name="任意多边形: 形状 3"/>
            <p:cNvSpPr/>
            <p:nvPr>
              <p:custDataLst>
                <p:tags r:id="rId10"/>
              </p:custDataLst>
            </p:nvPr>
          </p:nvSpPr>
          <p:spPr>
            <a:xfrm>
              <a:off x="6681" y="8932"/>
              <a:ext cx="12521" cy="188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5" name="任意多边形: 形状 4"/>
            <p:cNvSpPr/>
            <p:nvPr>
              <p:custDataLst>
                <p:tags r:id="rId11"/>
              </p:custDataLst>
            </p:nvPr>
          </p:nvSpPr>
          <p:spPr>
            <a:xfrm>
              <a:off x="7765" y="9076"/>
              <a:ext cx="11435" cy="1724"/>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grpSp>
      <p:sp>
        <p:nvSpPr>
          <p:cNvPr id="8" name="矩形 7"/>
          <p:cNvSpPr/>
          <p:nvPr>
            <p:custDataLst>
              <p:tags r:id="rId3"/>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2021/4/27</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5" name="任意多边形: 形状 3"/>
          <p:cNvSpPr/>
          <p:nvPr>
            <p:custDataLst>
              <p:tags r:id="rId1"/>
            </p:custDataLst>
          </p:nvPr>
        </p:nvSpPr>
        <p:spPr>
          <a:xfrm>
            <a:off x="4930775" y="6388735"/>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6" name="任意多边形: 形状 4"/>
          <p:cNvSpPr/>
          <p:nvPr>
            <p:custDataLst>
              <p:tags r:id="rId2"/>
            </p:custDataLst>
          </p:nvPr>
        </p:nvSpPr>
        <p:spPr>
          <a:xfrm>
            <a:off x="4930775" y="6438900"/>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7" name="任意多边形: 形状 7"/>
          <p:cNvSpPr/>
          <p:nvPr>
            <p:custDataLst>
              <p:tags r:id="rId3"/>
            </p:custDataLst>
          </p:nvPr>
        </p:nvSpPr>
        <p:spPr>
          <a:xfrm>
            <a:off x="0" y="6414135"/>
            <a:ext cx="784352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dirty="0"/>
          </a:p>
        </p:txBody>
      </p:sp>
      <p:sp>
        <p:nvSpPr>
          <p:cNvPr id="10" name="矩形 9"/>
          <p:cNvSpPr/>
          <p:nvPr>
            <p:custDataLst>
              <p:tags r:id="rId4"/>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5"/>
            </p:custDataLst>
          </p:nvPr>
        </p:nvSpPr>
        <p:spPr>
          <a:xfrm>
            <a:off x="579600" y="237600"/>
            <a:ext cx="11037600" cy="441964"/>
          </a:xfrm>
        </p:spPr>
        <p:txBody>
          <a:bodyPr>
            <a:normAutofit/>
          </a:bodyPr>
          <a:lstStyle>
            <a:lvl1pPr>
              <a:defRPr sz="2800" baseline="0">
                <a:solidFill>
                  <a:schemeClr val="bg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2021/4/27</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9"/>
            </p:custDataLst>
          </p:nvPr>
        </p:nvSpPr>
        <p:spPr>
          <a:xfrm>
            <a:off x="579600" y="1663200"/>
            <a:ext cx="53424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10"/>
            </p:custDataLst>
          </p:nvPr>
        </p:nvSpPr>
        <p:spPr>
          <a:xfrm>
            <a:off x="6242400" y="1663200"/>
            <a:ext cx="53676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1"/>
            </p:custDataLst>
          </p:nvPr>
        </p:nvSpPr>
        <p:spPr>
          <a:xfrm>
            <a:off x="572400" y="4816800"/>
            <a:ext cx="53424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2"/>
            </p:custDataLst>
          </p:nvPr>
        </p:nvSpPr>
        <p:spPr>
          <a:xfrm>
            <a:off x="6253200" y="4813200"/>
            <a:ext cx="53676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12" name="组合 11"/>
          <p:cNvGrpSpPr/>
          <p:nvPr>
            <p:custDataLst>
              <p:tags r:id="rId2"/>
            </p:custDataLst>
          </p:nvPr>
        </p:nvGrpSpPr>
        <p:grpSpPr>
          <a:xfrm rot="10800000">
            <a:off x="10848975" y="3707765"/>
            <a:ext cx="1343025" cy="3265170"/>
            <a:chOff x="0" y="606"/>
            <a:chExt cx="1437" cy="8628"/>
          </a:xfrm>
        </p:grpSpPr>
        <p:sp>
          <p:nvSpPr>
            <p:cNvPr id="14" name="等腰三角形 13"/>
            <p:cNvSpPr/>
            <p:nvPr>
              <p:custDataLst>
                <p:tags r:id="rId11"/>
              </p:custDataLst>
            </p:nvPr>
          </p:nvSpPr>
          <p:spPr>
            <a:xfrm rot="5400000">
              <a:off x="-3067" y="3673"/>
              <a:ext cx="7571" cy="1437"/>
            </a:xfrm>
            <a:prstGeom prst="triangle">
              <a:avLst/>
            </a:prstGeom>
            <a:solidFill>
              <a:schemeClr val="accent6"/>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sp>
          <p:nvSpPr>
            <p:cNvPr id="15" name="等腰三角形 14"/>
            <p:cNvSpPr/>
            <p:nvPr>
              <p:custDataLst>
                <p:tags r:id="rId12"/>
              </p:custDataLst>
            </p:nvPr>
          </p:nvSpPr>
          <p:spPr>
            <a:xfrm rot="5400000">
              <a:off x="-3067" y="4730"/>
              <a:ext cx="7571" cy="1437"/>
            </a:xfrm>
            <a:prstGeom prst="triangle">
              <a:avLst/>
            </a:prstGeom>
            <a:solidFill>
              <a:schemeClr val="accent1"/>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grpSp>
      <p:grpSp>
        <p:nvGrpSpPr>
          <p:cNvPr id="16" name="组合 15"/>
          <p:cNvGrpSpPr/>
          <p:nvPr>
            <p:custDataLst>
              <p:tags r:id="rId3"/>
            </p:custDataLst>
          </p:nvPr>
        </p:nvGrpSpPr>
        <p:grpSpPr>
          <a:xfrm>
            <a:off x="0" y="113665"/>
            <a:ext cx="1343025" cy="3265170"/>
            <a:chOff x="0" y="606"/>
            <a:chExt cx="1437" cy="8628"/>
          </a:xfrm>
        </p:grpSpPr>
        <p:sp>
          <p:nvSpPr>
            <p:cNvPr id="17" name="等腰三角形 16"/>
            <p:cNvSpPr/>
            <p:nvPr>
              <p:custDataLst>
                <p:tags r:id="rId9"/>
              </p:custDataLst>
            </p:nvPr>
          </p:nvSpPr>
          <p:spPr>
            <a:xfrm rot="5400000">
              <a:off x="-3067" y="3673"/>
              <a:ext cx="7571" cy="1437"/>
            </a:xfrm>
            <a:prstGeom prst="triangle">
              <a:avLst/>
            </a:prstGeom>
            <a:solidFill>
              <a:schemeClr val="accent6"/>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sp>
          <p:nvSpPr>
            <p:cNvPr id="18" name="等腰三角形 17"/>
            <p:cNvSpPr/>
            <p:nvPr>
              <p:custDataLst>
                <p:tags r:id="rId10"/>
              </p:custDataLst>
            </p:nvPr>
          </p:nvSpPr>
          <p:spPr>
            <a:xfrm rot="5400000">
              <a:off x="-3067" y="4730"/>
              <a:ext cx="7571" cy="1437"/>
            </a:xfrm>
            <a:prstGeom prst="triangle">
              <a:avLst/>
            </a:prstGeom>
            <a:solidFill>
              <a:schemeClr val="accent1"/>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grpSp>
      <p:sp>
        <p:nvSpPr>
          <p:cNvPr id="2" name="标题 1"/>
          <p:cNvSpPr>
            <a:spLocks noGrp="1"/>
          </p:cNvSpPr>
          <p:nvPr>
            <p:ph type="title" hasCustomPrompt="1"/>
            <p:custDataLst>
              <p:tags r:id="rId4"/>
            </p:custDataLst>
          </p:nvPr>
        </p:nvSpPr>
        <p:spPr>
          <a:xfrm>
            <a:off x="1522800" y="1339200"/>
            <a:ext cx="9144000" cy="2386800"/>
          </a:xfrm>
        </p:spPr>
        <p:txBody>
          <a:bodyPr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2021/4/27</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2021/4/27</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6.xml"/><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2021/4/27</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lumMod val="85000"/>
              <a:lumOff val="15000"/>
            </a:schemeClr>
          </a:solidFill>
          <a:uFillTx/>
          <a:latin typeface="微软雅黑" panose="020B0503020204020204" charset="-122"/>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80.xml"/><Relationship Id="rId3" Type="http://schemas.openxmlformats.org/officeDocument/2006/relationships/tags" Target="../tags/tag175.xml"/><Relationship Id="rId7" Type="http://schemas.openxmlformats.org/officeDocument/2006/relationships/tags" Target="../tags/tag179.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slideLayout" Target="../slideLayouts/slideLayout6.xml"/><Relationship Id="rId5" Type="http://schemas.openxmlformats.org/officeDocument/2006/relationships/tags" Target="../tags/tag177.xml"/><Relationship Id="rId10" Type="http://schemas.openxmlformats.org/officeDocument/2006/relationships/tags" Target="../tags/tag182.xml"/><Relationship Id="rId4" Type="http://schemas.openxmlformats.org/officeDocument/2006/relationships/tags" Target="../tags/tag176.xml"/><Relationship Id="rId9" Type="http://schemas.openxmlformats.org/officeDocument/2006/relationships/tags" Target="../tags/tag18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84.xml"/><Relationship Id="rId1" Type="http://schemas.openxmlformats.org/officeDocument/2006/relationships/tags" Target="../tags/tag1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p:txBody>
          <a:bodyPr/>
          <a:lstStyle/>
          <a:p>
            <a:r>
              <a:rPr lang="zh-CN" altLang="en-US" b="1" i="0" dirty="0">
                <a:solidFill>
                  <a:srgbClr val="333333"/>
                </a:solidFill>
                <a:effectLst/>
                <a:latin typeface="Open Sans" panose="020B0606030504020204" pitchFamily="34" charset="0"/>
              </a:rPr>
              <a:t>决策树</a:t>
            </a:r>
            <a:endParaRPr lang="zh-CN" altLang="en-US" dirty="0"/>
          </a:p>
        </p:txBody>
      </p:sp>
      <p:sp>
        <p:nvSpPr>
          <p:cNvPr id="5" name="文本占位符 4"/>
          <p:cNvSpPr>
            <a:spLocks noGrp="1"/>
          </p:cNvSpPr>
          <p:nvPr>
            <p:ph type="body" sz="quarter" idx="13"/>
            <p:custDataLst>
              <p:tags r:id="rId3"/>
            </p:custDataLst>
          </p:nvPr>
        </p:nvSpPr>
        <p:spPr>
          <a:xfrm>
            <a:off x="-473034" y="0"/>
            <a:ext cx="7107238" cy="511698"/>
          </a:xfrm>
        </p:spPr>
        <p:txBody>
          <a:bodyPr/>
          <a:lstStyle/>
          <a:p>
            <a:r>
              <a:rPr lang="zh-CN" altLang="en-US" dirty="0"/>
              <a:t>监督学习</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矩形 86"/>
          <p:cNvSpPr/>
          <p:nvPr>
            <p:custDataLst>
              <p:tags r:id="rId2"/>
            </p:custDataLst>
          </p:nvPr>
        </p:nvSpPr>
        <p:spPr>
          <a:xfrm>
            <a:off x="1605879" y="2674460"/>
            <a:ext cx="1116963" cy="829945"/>
          </a:xfrm>
          <a:prstGeom prst="rect">
            <a:avLst/>
          </a:prstGeom>
          <a:noFill/>
        </p:spPr>
        <p:txBody>
          <a:bodyPr wrap="square">
            <a:normAutofit/>
          </a:bodyPr>
          <a:lstStyle/>
          <a:p>
            <a:r>
              <a:rPr lang="en-US" altLang="zh-CN" sz="4800" b="1" spc="-200" dirty="0">
                <a:solidFill>
                  <a:schemeClr val="accent1"/>
                </a:solidFill>
                <a:uFillTx/>
                <a:latin typeface="Arial" panose="020B0604020202020204" pitchFamily="34" charset="0"/>
                <a:ea typeface="微软雅黑" panose="020B0503020204020204" charset="-122"/>
                <a:cs typeface="+mn-ea"/>
                <a:sym typeface="+mn-lt"/>
              </a:rPr>
              <a:t>01.</a:t>
            </a:r>
          </a:p>
        </p:txBody>
      </p:sp>
      <p:sp>
        <p:nvSpPr>
          <p:cNvPr id="88" name="矩形 87"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3"/>
            </p:custDataLst>
          </p:nvPr>
        </p:nvSpPr>
        <p:spPr>
          <a:xfrm>
            <a:off x="2713990" y="2613025"/>
            <a:ext cx="2863850" cy="690245"/>
          </a:xfrm>
          <a:prstGeom prst="rect">
            <a:avLst/>
          </a:prstGeom>
          <a:ln>
            <a:noFill/>
          </a:ln>
        </p:spPr>
        <p:txBody>
          <a:bodyPr wrap="square" lIns="90000" tIns="46800" rIns="90000" bIns="0" anchor="b" anchorCtr="0">
            <a:normAutofit fontScale="92500"/>
          </a:bodyPr>
          <a:lstStyle/>
          <a:p>
            <a:pPr>
              <a:lnSpc>
                <a:spcPct val="100000"/>
              </a:lnSpc>
            </a:pPr>
            <a:r>
              <a:rPr lang="zh-CN" altLang="en-US" sz="2400" b="1" spc="100" dirty="0">
                <a:solidFill>
                  <a:schemeClr val="accent1"/>
                </a:solidFill>
                <a:uFillTx/>
                <a:latin typeface="Arial" panose="020B0604020202020204" pitchFamily="34" charset="0"/>
                <a:ea typeface="微软雅黑" panose="020B0503020204020204" charset="-122"/>
                <a:cs typeface="+mn-ea"/>
                <a:sym typeface="+mn-lt"/>
              </a:rPr>
              <a:t>理解决策树算法原理</a:t>
            </a:r>
          </a:p>
        </p:txBody>
      </p:sp>
      <p:sp>
        <p:nvSpPr>
          <p:cNvPr id="90" name="矩形 89"/>
          <p:cNvSpPr/>
          <p:nvPr>
            <p:custDataLst>
              <p:tags r:id="rId4"/>
            </p:custDataLst>
          </p:nvPr>
        </p:nvSpPr>
        <p:spPr>
          <a:xfrm>
            <a:off x="1605879" y="4520286"/>
            <a:ext cx="1116963" cy="829945"/>
          </a:xfrm>
          <a:prstGeom prst="rect">
            <a:avLst/>
          </a:prstGeom>
          <a:noFill/>
        </p:spPr>
        <p:txBody>
          <a:bodyPr wrap="square">
            <a:normAutofit/>
          </a:bodyPr>
          <a:lstStyle/>
          <a:p>
            <a:r>
              <a:rPr lang="en-US" altLang="zh-CN" sz="4800" b="1" spc="-200" dirty="0">
                <a:solidFill>
                  <a:schemeClr val="accent3"/>
                </a:solidFill>
                <a:uFillTx/>
                <a:latin typeface="Arial" panose="020B0604020202020204" pitchFamily="34" charset="0"/>
                <a:ea typeface="微软雅黑" panose="020B0503020204020204" charset="-122"/>
                <a:cs typeface="+mn-ea"/>
                <a:sym typeface="+mn-lt"/>
              </a:rPr>
              <a:t>03.</a:t>
            </a:r>
          </a:p>
        </p:txBody>
      </p:sp>
      <p:sp>
        <p:nvSpPr>
          <p:cNvPr id="91" name="矩形 90"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5"/>
            </p:custDataLst>
          </p:nvPr>
        </p:nvSpPr>
        <p:spPr>
          <a:xfrm>
            <a:off x="2713990" y="4458970"/>
            <a:ext cx="2863850" cy="591185"/>
          </a:xfrm>
          <a:prstGeom prst="rect">
            <a:avLst/>
          </a:prstGeom>
          <a:ln>
            <a:noFill/>
          </a:ln>
        </p:spPr>
        <p:txBody>
          <a:bodyPr wrap="square" lIns="90000" tIns="46800" rIns="90000" bIns="0" anchor="b" anchorCtr="0">
            <a:normAutofit fontScale="70000" lnSpcReduction="20000"/>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了解决策树特征划分的三种算法（</a:t>
            </a:r>
            <a:r>
              <a:rPr lang="en-US" altLang="zh-CN" sz="2400" b="1" spc="100" dirty="0">
                <a:solidFill>
                  <a:schemeClr val="accent2"/>
                </a:solidFill>
                <a:uFillTx/>
                <a:latin typeface="Arial" panose="020B0604020202020204" pitchFamily="34" charset="0"/>
                <a:ea typeface="微软雅黑" panose="020B0503020204020204" charset="-122"/>
                <a:cs typeface="+mn-ea"/>
                <a:sym typeface="+mn-lt"/>
              </a:rPr>
              <a:t>ID3\C4.5\CART</a:t>
            </a: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a:t>
            </a:r>
            <a:endParaRPr lang="zh-CN" altLang="en-US" sz="2400" b="1" spc="100" dirty="0">
              <a:solidFill>
                <a:schemeClr val="accent3"/>
              </a:solidFill>
              <a:uFillTx/>
              <a:latin typeface="Arial" panose="020B0604020202020204" pitchFamily="34" charset="0"/>
              <a:ea typeface="微软雅黑" panose="020B0503020204020204" charset="-122"/>
              <a:cs typeface="+mn-ea"/>
              <a:sym typeface="+mn-lt"/>
            </a:endParaRPr>
          </a:p>
        </p:txBody>
      </p:sp>
      <p:sp>
        <p:nvSpPr>
          <p:cNvPr id="93" name="矩形 92"/>
          <p:cNvSpPr/>
          <p:nvPr>
            <p:custDataLst>
              <p:tags r:id="rId6"/>
            </p:custDataLst>
          </p:nvPr>
        </p:nvSpPr>
        <p:spPr>
          <a:xfrm>
            <a:off x="5777194" y="2674460"/>
            <a:ext cx="1116963" cy="829945"/>
          </a:xfrm>
          <a:prstGeom prst="rect">
            <a:avLst/>
          </a:prstGeom>
          <a:noFill/>
        </p:spPr>
        <p:txBody>
          <a:bodyPr wrap="square">
            <a:normAutofit/>
          </a:bodyPr>
          <a:lstStyle/>
          <a:p>
            <a:r>
              <a:rPr lang="en-US" altLang="zh-CN" sz="4800" b="1" spc="-200" dirty="0">
                <a:solidFill>
                  <a:schemeClr val="accent2"/>
                </a:solidFill>
                <a:uFillTx/>
                <a:latin typeface="Arial" panose="020B0604020202020204" pitchFamily="34" charset="0"/>
                <a:ea typeface="微软雅黑" panose="020B0503020204020204" charset="-122"/>
                <a:cs typeface="+mn-ea"/>
                <a:sym typeface="+mn-lt"/>
              </a:rPr>
              <a:t>02.</a:t>
            </a:r>
          </a:p>
        </p:txBody>
      </p:sp>
      <p:sp>
        <p:nvSpPr>
          <p:cNvPr id="94" name="矩形 93"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7"/>
            </p:custDataLst>
          </p:nvPr>
        </p:nvSpPr>
        <p:spPr>
          <a:xfrm>
            <a:off x="6885305" y="2613025"/>
            <a:ext cx="3202278" cy="601345"/>
          </a:xfrm>
          <a:prstGeom prst="rect">
            <a:avLst/>
          </a:prstGeom>
          <a:ln>
            <a:noFill/>
          </a:ln>
        </p:spPr>
        <p:txBody>
          <a:bodyPr wrap="square" lIns="90000" tIns="46800" rIns="90000" bIns="0" anchor="b" anchorCtr="0">
            <a:normAutofit fontScale="92500" lnSpcReduction="20000"/>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掌握</a:t>
            </a:r>
            <a:r>
              <a:rPr lang="zh-CN" altLang="en-US" sz="2400" b="1" spc="100" dirty="0">
                <a:solidFill>
                  <a:schemeClr val="accent2"/>
                </a:solidFill>
                <a:latin typeface="Arial" panose="020B0604020202020204" pitchFamily="34" charset="0"/>
                <a:ea typeface="微软雅黑" panose="020B0503020204020204" charset="-122"/>
                <a:cs typeface="+mn-ea"/>
                <a:sym typeface="+mn-lt"/>
              </a:rPr>
              <a:t>决策树学习的三要素</a:t>
            </a:r>
            <a:endParaRPr lang="zh-CN" altLang="en-US" sz="2400" b="1" spc="100" dirty="0">
              <a:solidFill>
                <a:schemeClr val="accent2"/>
              </a:solidFill>
              <a:uFillTx/>
              <a:latin typeface="Arial" panose="020B0604020202020204" pitchFamily="34" charset="0"/>
              <a:ea typeface="微软雅黑" panose="020B0503020204020204" charset="-122"/>
              <a:cs typeface="+mn-ea"/>
              <a:sym typeface="+mn-lt"/>
            </a:endParaRPr>
          </a:p>
        </p:txBody>
      </p:sp>
      <p:sp>
        <p:nvSpPr>
          <p:cNvPr id="97" name="矩形 96"/>
          <p:cNvSpPr/>
          <p:nvPr>
            <p:custDataLst>
              <p:tags r:id="rId8"/>
            </p:custDataLst>
          </p:nvPr>
        </p:nvSpPr>
        <p:spPr>
          <a:xfrm>
            <a:off x="5777194" y="4520286"/>
            <a:ext cx="1116963" cy="829945"/>
          </a:xfrm>
          <a:prstGeom prst="rect">
            <a:avLst/>
          </a:prstGeom>
          <a:noFill/>
        </p:spPr>
        <p:txBody>
          <a:bodyPr wrap="square">
            <a:normAutofit/>
          </a:bodyPr>
          <a:lstStyle/>
          <a:p>
            <a:r>
              <a:rPr lang="en-US" altLang="zh-CN" sz="4800" b="1" spc="-200" dirty="0">
                <a:solidFill>
                  <a:schemeClr val="accent4"/>
                </a:solidFill>
                <a:uFillTx/>
                <a:latin typeface="Arial" panose="020B0604020202020204" pitchFamily="34" charset="0"/>
                <a:ea typeface="微软雅黑" panose="020B0503020204020204" charset="-122"/>
                <a:cs typeface="+mn-ea"/>
                <a:sym typeface="+mn-lt"/>
              </a:rPr>
              <a:t>04.</a:t>
            </a:r>
          </a:p>
        </p:txBody>
      </p:sp>
      <p:sp>
        <p:nvSpPr>
          <p:cNvPr id="98" name="矩形 97"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9"/>
            </p:custDataLst>
          </p:nvPr>
        </p:nvSpPr>
        <p:spPr>
          <a:xfrm>
            <a:off x="6897370" y="4458970"/>
            <a:ext cx="2863850" cy="591185"/>
          </a:xfrm>
          <a:prstGeom prst="rect">
            <a:avLst/>
          </a:prstGeom>
          <a:ln>
            <a:noFill/>
          </a:ln>
        </p:spPr>
        <p:txBody>
          <a:bodyPr wrap="square" lIns="90000" tIns="46800" rIns="90000" bIns="0" anchor="b" anchorCtr="0">
            <a:normAutofit/>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实验分析</a:t>
            </a:r>
            <a:endParaRPr lang="zh-CN" altLang="en-US" sz="2400" b="1" spc="100" dirty="0">
              <a:solidFill>
                <a:schemeClr val="accent4"/>
              </a:solidFill>
              <a:uFillTx/>
              <a:latin typeface="Arial" panose="020B0604020202020204" pitchFamily="34" charset="0"/>
              <a:ea typeface="微软雅黑" panose="020B0503020204020204" charset="-122"/>
              <a:cs typeface="+mn-ea"/>
              <a:sym typeface="+mn-lt"/>
            </a:endParaRPr>
          </a:p>
        </p:txBody>
      </p:sp>
      <p:sp>
        <p:nvSpPr>
          <p:cNvPr id="101" name="文本框 100"/>
          <p:cNvSpPr txBox="1"/>
          <p:nvPr>
            <p:custDataLst>
              <p:tags r:id="rId10"/>
            </p:custDataLst>
          </p:nvPr>
        </p:nvSpPr>
        <p:spPr>
          <a:xfrm>
            <a:off x="715645" y="817880"/>
            <a:ext cx="4610100" cy="1213485"/>
          </a:xfrm>
          <a:prstGeom prst="rect">
            <a:avLst/>
          </a:prstGeom>
          <a:noFill/>
        </p:spPr>
        <p:txBody>
          <a:bodyPr wrap="square" rtlCol="0" anchor="ctr" anchorCtr="0">
            <a:normAutofit/>
          </a:bodyPr>
          <a:lstStyle/>
          <a:p>
            <a:pPr algn="l">
              <a:lnSpc>
                <a:spcPct val="100000"/>
              </a:lnSpc>
            </a:pPr>
            <a:r>
              <a:rPr lang="en-US" altLang="zh-CN" sz="5400" b="1" spc="100" dirty="0">
                <a:solidFill>
                  <a:schemeClr val="tx1">
                    <a:lumMod val="85000"/>
                    <a:lumOff val="15000"/>
                  </a:schemeClr>
                </a:solidFill>
                <a:uFillTx/>
                <a:latin typeface="Arial" panose="020B0604020202020204" pitchFamily="34" charset="0"/>
                <a:ea typeface="汉仪旗黑-85S" panose="00020600040101010101" pitchFamily="18" charset="-122"/>
                <a:cs typeface="+mn-ea"/>
                <a:sym typeface="+mn-lt"/>
              </a:rPr>
              <a:t>学习目标</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04132E-71BD-46B8-BC3A-F8F202A1D5E4}"/>
              </a:ext>
            </a:extLst>
          </p:cNvPr>
          <p:cNvSpPr>
            <a:spLocks noGrp="1"/>
          </p:cNvSpPr>
          <p:nvPr>
            <p:ph type="title"/>
          </p:nvPr>
        </p:nvSpPr>
        <p:spPr>
          <a:xfrm>
            <a:off x="101711" y="416597"/>
            <a:ext cx="10852237" cy="441964"/>
          </a:xfrm>
        </p:spPr>
        <p:txBody>
          <a:bodyPr>
            <a:normAutofit fontScale="90000"/>
          </a:bodyPr>
          <a:lstStyle/>
          <a:p>
            <a:r>
              <a:rPr lang="zh-CN" altLang="en-US" dirty="0"/>
              <a:t> 决策树（</a:t>
            </a:r>
            <a:r>
              <a:rPr lang="en-US" altLang="zh-CN" b="0" i="0" dirty="0">
                <a:solidFill>
                  <a:srgbClr val="333333"/>
                </a:solidFill>
                <a:effectLst/>
                <a:latin typeface="Arial" panose="020B0604020202020204" pitchFamily="34" charset="0"/>
              </a:rPr>
              <a:t>Decision Tree</a:t>
            </a:r>
            <a:r>
              <a:rPr lang="zh-CN" altLang="en-US" dirty="0"/>
              <a:t>）</a:t>
            </a:r>
          </a:p>
        </p:txBody>
      </p:sp>
      <p:sp>
        <p:nvSpPr>
          <p:cNvPr id="7" name="文本框 6">
            <a:extLst>
              <a:ext uri="{FF2B5EF4-FFF2-40B4-BE49-F238E27FC236}">
                <a16:creationId xmlns:a16="http://schemas.microsoft.com/office/drawing/2014/main" id="{8A3A130B-0D37-4F45-B0D9-CA783203BF3D}"/>
              </a:ext>
            </a:extLst>
          </p:cNvPr>
          <p:cNvSpPr txBox="1"/>
          <p:nvPr/>
        </p:nvSpPr>
        <p:spPr>
          <a:xfrm>
            <a:off x="101711" y="854244"/>
            <a:ext cx="9277816" cy="4801314"/>
          </a:xfrm>
          <a:prstGeom prst="rect">
            <a:avLst/>
          </a:prstGeom>
          <a:noFill/>
        </p:spPr>
        <p:txBody>
          <a:bodyPr wrap="square">
            <a:spAutoFit/>
          </a:bodyPr>
          <a:lstStyle/>
          <a:p>
            <a:r>
              <a:rPr lang="zh-CN" altLang="en-US" dirty="0"/>
              <a:t>基本概念</a:t>
            </a:r>
          </a:p>
          <a:p>
            <a:r>
              <a:rPr lang="zh-CN" altLang="en-US" dirty="0"/>
              <a:t>决策树模型可以认为是if-then规则的集合，也可以认为是定义在特征空间与类空间上的条件概率分布。</a:t>
            </a:r>
          </a:p>
          <a:p>
            <a:endParaRPr lang="zh-CN" altLang="en-US" dirty="0"/>
          </a:p>
          <a:p>
            <a:r>
              <a:rPr lang="zh-CN" altLang="en-US" dirty="0"/>
              <a:t>决策树将特征空间划分为互不相交的单元，在每个单元定义一个类的概率分布，这就构成了一个条件概率分布。</a:t>
            </a:r>
          </a:p>
          <a:p>
            <a:endParaRPr lang="zh-CN" altLang="en-US" dirty="0"/>
          </a:p>
          <a:p>
            <a:r>
              <a:rPr lang="zh-CN" altLang="en-US" dirty="0"/>
              <a:t>决策树的每一条路径对应于划分中的一个基本单元。</a:t>
            </a:r>
          </a:p>
          <a:p>
            <a:endParaRPr lang="zh-CN" altLang="en-US" dirty="0"/>
          </a:p>
          <a:p>
            <a:r>
              <a:rPr lang="zh-CN" altLang="en-US" dirty="0"/>
              <a:t>设某个单元   内部有      个样本点，则它定义了一个条件概率分布  。</a:t>
            </a:r>
          </a:p>
          <a:p>
            <a:endParaRPr lang="zh-CN" altLang="en-US" dirty="0"/>
          </a:p>
          <a:p>
            <a:r>
              <a:rPr lang="zh-CN" altLang="en-US" dirty="0"/>
              <a:t>单元上的条件概率偏向哪个类，则该单元划归到该类的概率较大。即单元的类别为：</a:t>
            </a:r>
            <a:endParaRPr lang="en-US" altLang="zh-CN" dirty="0"/>
          </a:p>
          <a:p>
            <a:endParaRPr lang="zh-CN" altLang="en-US" dirty="0"/>
          </a:p>
          <a:p>
            <a:endParaRPr lang="zh-CN" altLang="en-US" dirty="0"/>
          </a:p>
          <a:p>
            <a:endParaRPr lang="zh-CN" altLang="en-US" dirty="0"/>
          </a:p>
          <a:p>
            <a:endParaRPr lang="zh-CN" altLang="en-US" dirty="0"/>
          </a:p>
          <a:p>
            <a:r>
              <a:rPr lang="zh-CN" altLang="en-US" dirty="0"/>
              <a:t>这一过程对应着特征空间的划分，也对应着决策树的构建。</a:t>
            </a:r>
          </a:p>
        </p:txBody>
      </p:sp>
      <p:pic>
        <p:nvPicPr>
          <p:cNvPr id="9" name="图片 8">
            <a:extLst>
              <a:ext uri="{FF2B5EF4-FFF2-40B4-BE49-F238E27FC236}">
                <a16:creationId xmlns:a16="http://schemas.microsoft.com/office/drawing/2014/main" id="{D6D8C07E-0F23-45AF-B964-46A94337B507}"/>
              </a:ext>
            </a:extLst>
          </p:cNvPr>
          <p:cNvPicPr>
            <a:picLocks noChangeAspect="1"/>
          </p:cNvPicPr>
          <p:nvPr/>
        </p:nvPicPr>
        <p:blipFill>
          <a:blip r:embed="rId2"/>
          <a:stretch>
            <a:fillRect/>
          </a:stretch>
        </p:blipFill>
        <p:spPr>
          <a:xfrm>
            <a:off x="1310289" y="3401329"/>
            <a:ext cx="219075" cy="257175"/>
          </a:xfrm>
          <a:prstGeom prst="rect">
            <a:avLst/>
          </a:prstGeom>
        </p:spPr>
      </p:pic>
      <p:pic>
        <p:nvPicPr>
          <p:cNvPr id="11" name="图片 10">
            <a:extLst>
              <a:ext uri="{FF2B5EF4-FFF2-40B4-BE49-F238E27FC236}">
                <a16:creationId xmlns:a16="http://schemas.microsoft.com/office/drawing/2014/main" id="{40E6A6C7-8C5D-49B4-9335-842C2AAE528B}"/>
              </a:ext>
            </a:extLst>
          </p:cNvPr>
          <p:cNvPicPr>
            <a:picLocks noChangeAspect="1"/>
          </p:cNvPicPr>
          <p:nvPr/>
        </p:nvPicPr>
        <p:blipFill>
          <a:blip r:embed="rId3"/>
          <a:stretch>
            <a:fillRect/>
          </a:stretch>
        </p:blipFill>
        <p:spPr>
          <a:xfrm>
            <a:off x="2206263" y="3429904"/>
            <a:ext cx="352425" cy="228600"/>
          </a:xfrm>
          <a:prstGeom prst="rect">
            <a:avLst/>
          </a:prstGeom>
        </p:spPr>
      </p:pic>
      <p:pic>
        <p:nvPicPr>
          <p:cNvPr id="13" name="图片 12">
            <a:extLst>
              <a:ext uri="{FF2B5EF4-FFF2-40B4-BE49-F238E27FC236}">
                <a16:creationId xmlns:a16="http://schemas.microsoft.com/office/drawing/2014/main" id="{C38128DC-BE79-4818-AAD2-DF9D4364D12E}"/>
              </a:ext>
            </a:extLst>
          </p:cNvPr>
          <p:cNvPicPr>
            <a:picLocks noChangeAspect="1"/>
          </p:cNvPicPr>
          <p:nvPr/>
        </p:nvPicPr>
        <p:blipFill>
          <a:blip r:embed="rId4"/>
          <a:stretch>
            <a:fillRect/>
          </a:stretch>
        </p:blipFill>
        <p:spPr>
          <a:xfrm>
            <a:off x="6738576" y="3315604"/>
            <a:ext cx="1400175" cy="342900"/>
          </a:xfrm>
          <a:prstGeom prst="rect">
            <a:avLst/>
          </a:prstGeom>
        </p:spPr>
      </p:pic>
      <p:pic>
        <p:nvPicPr>
          <p:cNvPr id="15" name="图片 14">
            <a:extLst>
              <a:ext uri="{FF2B5EF4-FFF2-40B4-BE49-F238E27FC236}">
                <a16:creationId xmlns:a16="http://schemas.microsoft.com/office/drawing/2014/main" id="{0E22AA9E-F5C7-4777-B094-B7ABCF747F26}"/>
              </a:ext>
            </a:extLst>
          </p:cNvPr>
          <p:cNvPicPr>
            <a:picLocks noChangeAspect="1"/>
          </p:cNvPicPr>
          <p:nvPr/>
        </p:nvPicPr>
        <p:blipFill>
          <a:blip r:embed="rId5"/>
          <a:stretch>
            <a:fillRect/>
          </a:stretch>
        </p:blipFill>
        <p:spPr>
          <a:xfrm>
            <a:off x="3015265" y="4233253"/>
            <a:ext cx="2295525" cy="457200"/>
          </a:xfrm>
          <a:prstGeom prst="rect">
            <a:avLst/>
          </a:prstGeom>
        </p:spPr>
      </p:pic>
    </p:spTree>
    <p:extLst>
      <p:ext uri="{BB962C8B-B14F-4D97-AF65-F5344CB8AC3E}">
        <p14:creationId xmlns:p14="http://schemas.microsoft.com/office/powerpoint/2010/main" val="2869233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D1655-909B-4169-938B-E9120A27955B}"/>
              </a:ext>
            </a:extLst>
          </p:cNvPr>
          <p:cNvSpPr>
            <a:spLocks noGrp="1"/>
          </p:cNvSpPr>
          <p:nvPr>
            <p:ph type="title"/>
          </p:nvPr>
        </p:nvSpPr>
        <p:spPr/>
        <p:txBody>
          <a:bodyPr>
            <a:normAutofit fontScale="90000"/>
          </a:bodyPr>
          <a:lstStyle/>
          <a:p>
            <a:r>
              <a:rPr lang="zh-CN" altLang="en-US" dirty="0"/>
              <a:t> 决策树（</a:t>
            </a:r>
            <a:r>
              <a:rPr lang="en-US" altLang="zh-CN" b="0" i="0" dirty="0">
                <a:solidFill>
                  <a:srgbClr val="333333"/>
                </a:solidFill>
                <a:effectLst/>
                <a:latin typeface="Arial" panose="020B0604020202020204" pitchFamily="34" charset="0"/>
              </a:rPr>
              <a:t>Decision Tree</a:t>
            </a:r>
            <a:r>
              <a:rPr lang="zh-CN" altLang="en-US" dirty="0"/>
              <a:t>）</a:t>
            </a:r>
          </a:p>
        </p:txBody>
      </p:sp>
      <p:sp>
        <p:nvSpPr>
          <p:cNvPr id="4" name="文本框 3">
            <a:extLst>
              <a:ext uri="{FF2B5EF4-FFF2-40B4-BE49-F238E27FC236}">
                <a16:creationId xmlns:a16="http://schemas.microsoft.com/office/drawing/2014/main" id="{66C41542-D9CA-4554-93E4-79F59314A649}"/>
              </a:ext>
            </a:extLst>
          </p:cNvPr>
          <p:cNvSpPr txBox="1"/>
          <p:nvPr/>
        </p:nvSpPr>
        <p:spPr>
          <a:xfrm>
            <a:off x="403664" y="942808"/>
            <a:ext cx="9253960" cy="369332"/>
          </a:xfrm>
          <a:prstGeom prst="rect">
            <a:avLst/>
          </a:prstGeom>
          <a:noFill/>
        </p:spPr>
        <p:txBody>
          <a:bodyPr wrap="square">
            <a:spAutoFit/>
          </a:bodyPr>
          <a:lstStyle/>
          <a:p>
            <a:r>
              <a:rPr lang="zh-CN" altLang="en-US" b="1" i="0" dirty="0">
                <a:solidFill>
                  <a:srgbClr val="4D4D4D"/>
                </a:solidFill>
                <a:effectLst/>
                <a:latin typeface="-apple-system"/>
              </a:rPr>
              <a:t>决策树通常有三</a:t>
            </a:r>
            <a:r>
              <a:rPr lang="zh-CN" altLang="en-US" b="1" dirty="0">
                <a:solidFill>
                  <a:srgbClr val="4D4D4D"/>
                </a:solidFill>
                <a:latin typeface="-apple-system"/>
              </a:rPr>
              <a:t>要素</a:t>
            </a:r>
            <a:r>
              <a:rPr lang="zh-CN" altLang="en-US" b="0" i="0" dirty="0">
                <a:solidFill>
                  <a:srgbClr val="4D4D4D"/>
                </a:solidFill>
                <a:effectLst/>
                <a:latin typeface="-apple-system"/>
              </a:rPr>
              <a:t>：特征选择、决策树的生成、决策树的修剪。</a:t>
            </a:r>
            <a:endParaRPr lang="zh-CN" altLang="en-US" dirty="0"/>
          </a:p>
        </p:txBody>
      </p:sp>
      <p:pic>
        <p:nvPicPr>
          <p:cNvPr id="2050" name="Picture 2" descr="这里写图片描述">
            <a:extLst>
              <a:ext uri="{FF2B5EF4-FFF2-40B4-BE49-F238E27FC236}">
                <a16:creationId xmlns:a16="http://schemas.microsoft.com/office/drawing/2014/main" id="{BB1CB9A8-5369-4B1F-BB3B-202B6323C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8592" y="3743131"/>
            <a:ext cx="3281302" cy="2877588"/>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C7A4724A-A5F1-4EF6-9365-3B5CD2E05B58}"/>
              </a:ext>
            </a:extLst>
          </p:cNvPr>
          <p:cNvSpPr txBox="1"/>
          <p:nvPr/>
        </p:nvSpPr>
        <p:spPr>
          <a:xfrm>
            <a:off x="7183535" y="1025746"/>
            <a:ext cx="3515816" cy="2862322"/>
          </a:xfrm>
          <a:prstGeom prst="rect">
            <a:avLst/>
          </a:prstGeom>
          <a:noFill/>
        </p:spPr>
        <p:txBody>
          <a:bodyPr wrap="square">
            <a:spAutoFit/>
          </a:bodyPr>
          <a:lstStyle/>
          <a:p>
            <a:r>
              <a:rPr lang="zh-CN" altLang="en-US" dirty="0"/>
              <a:t>用决策树分类：从根节点开始，对实例的某一特征进行测试，根据测试结果将实例分配到其子节点，此时每个子节点对应着该特征的一个取值，如此递归的对实例进行测试并分配，直到到达叶节点，最后将实例分到叶节点的类中。</a:t>
            </a:r>
          </a:p>
          <a:p>
            <a:r>
              <a:rPr lang="zh-CN" altLang="en-US" dirty="0"/>
              <a:t>下图为决策树示意图，圆点——内部节点，方框——叶节点</a:t>
            </a:r>
          </a:p>
        </p:txBody>
      </p:sp>
      <p:sp>
        <p:nvSpPr>
          <p:cNvPr id="10" name="文本框 9">
            <a:extLst>
              <a:ext uri="{FF2B5EF4-FFF2-40B4-BE49-F238E27FC236}">
                <a16:creationId xmlns:a16="http://schemas.microsoft.com/office/drawing/2014/main" id="{5F41F529-1825-462C-83E1-D1491CAA07F2}"/>
              </a:ext>
            </a:extLst>
          </p:cNvPr>
          <p:cNvSpPr txBox="1"/>
          <p:nvPr/>
        </p:nvSpPr>
        <p:spPr>
          <a:xfrm>
            <a:off x="121534" y="1312140"/>
            <a:ext cx="7062001" cy="4524315"/>
          </a:xfrm>
          <a:prstGeom prst="rect">
            <a:avLst/>
          </a:prstGeom>
          <a:noFill/>
        </p:spPr>
        <p:txBody>
          <a:bodyPr wrap="square">
            <a:spAutoFit/>
          </a:bodyPr>
          <a:lstStyle/>
          <a:p>
            <a:pPr algn="l">
              <a:buFont typeface="+mj-lt"/>
              <a:buAutoNum type="arabicPeriod"/>
            </a:pPr>
            <a:r>
              <a:rPr lang="zh-CN" altLang="en-US" b="0" i="0" dirty="0">
                <a:solidFill>
                  <a:srgbClr val="333333"/>
                </a:solidFill>
                <a:effectLst/>
                <a:latin typeface="Open Sans" panose="020B0606030504020204" pitchFamily="34" charset="0"/>
              </a:rPr>
              <a:t>决策树模型是描述对样本进行分类的树形结构。树由结点和有向边组成：</a:t>
            </a:r>
          </a:p>
          <a:p>
            <a:pPr marL="742950" lvl="1" indent="-285750" algn="l">
              <a:buFont typeface="+mj-lt"/>
              <a:buAutoNum type="arabicPeriod"/>
            </a:pPr>
            <a:r>
              <a:rPr lang="zh-CN" altLang="en-US" b="0" i="0" dirty="0">
                <a:solidFill>
                  <a:srgbClr val="333333"/>
                </a:solidFill>
                <a:effectLst/>
                <a:latin typeface="Open Sans" panose="020B0606030504020204" pitchFamily="34" charset="0"/>
              </a:rPr>
              <a:t>内部结点表示一个特征或者属性。</a:t>
            </a:r>
          </a:p>
          <a:p>
            <a:pPr marL="742950" lvl="1" indent="-285750" algn="l">
              <a:buFont typeface="+mj-lt"/>
              <a:buAutoNum type="arabicPeriod"/>
            </a:pPr>
            <a:r>
              <a:rPr lang="zh-CN" altLang="en-US" b="0" i="0" dirty="0">
                <a:solidFill>
                  <a:srgbClr val="333333"/>
                </a:solidFill>
                <a:effectLst/>
                <a:latin typeface="Open Sans" panose="020B0606030504020204" pitchFamily="34" charset="0"/>
              </a:rPr>
              <a:t>叶子结点表示一个分类。</a:t>
            </a:r>
          </a:p>
          <a:p>
            <a:pPr marL="742950" lvl="1" indent="-285750" algn="l">
              <a:buFont typeface="+mj-lt"/>
              <a:buAutoNum type="arabicPeriod"/>
            </a:pPr>
            <a:r>
              <a:rPr lang="zh-CN" altLang="en-US" b="0" i="0" dirty="0">
                <a:solidFill>
                  <a:srgbClr val="333333"/>
                </a:solidFill>
                <a:effectLst/>
                <a:latin typeface="Open Sans" panose="020B0606030504020204" pitchFamily="34" charset="0"/>
              </a:rPr>
              <a:t>有向边代表了一个划分规则。</a:t>
            </a:r>
          </a:p>
          <a:p>
            <a:pPr algn="l">
              <a:buFont typeface="+mj-lt"/>
              <a:buAutoNum type="arabicPeriod"/>
            </a:pPr>
            <a:r>
              <a:rPr lang="zh-CN" altLang="en-US" b="0" i="0" dirty="0">
                <a:solidFill>
                  <a:srgbClr val="333333"/>
                </a:solidFill>
                <a:effectLst/>
                <a:latin typeface="Open Sans" panose="020B0606030504020204" pitchFamily="34" charset="0"/>
              </a:rPr>
              <a:t>决策树从根结点到子结点的的有向边代表了一条路径。决策树的路径是互斥并且是完备的。</a:t>
            </a:r>
          </a:p>
          <a:p>
            <a:pPr algn="l">
              <a:buFont typeface="+mj-lt"/>
              <a:buAutoNum type="arabicPeriod"/>
            </a:pPr>
            <a:r>
              <a:rPr lang="zh-CN" altLang="en-US" b="0" i="0" dirty="0">
                <a:solidFill>
                  <a:srgbClr val="333333"/>
                </a:solidFill>
                <a:effectLst/>
                <a:latin typeface="Open Sans" panose="020B0606030504020204" pitchFamily="34" charset="0"/>
              </a:rPr>
              <a:t>用决策树分类时，对样本的某个特征进行测试，根据测试结果将样本分配到树的子结点上。此时每个子结点对应该特征的一个取值。</a:t>
            </a:r>
          </a:p>
          <a:p>
            <a:pPr algn="l"/>
            <a:r>
              <a:rPr lang="zh-CN" altLang="en-US" b="0" i="0" dirty="0">
                <a:solidFill>
                  <a:srgbClr val="333333"/>
                </a:solidFill>
                <a:effectLst/>
                <a:latin typeface="Open Sans" panose="020B0606030504020204" pitchFamily="34" charset="0"/>
              </a:rPr>
              <a:t>递归地对样本测试，直到该样本被划分叶结点。最后将样本分配为叶结点所属的类。</a:t>
            </a:r>
            <a:endParaRPr lang="en-US" altLang="zh-CN" b="0" i="0" dirty="0">
              <a:solidFill>
                <a:srgbClr val="333333"/>
              </a:solidFill>
              <a:effectLst/>
              <a:latin typeface="Open Sans" panose="020B0606030504020204" pitchFamily="34" charset="0"/>
            </a:endParaRPr>
          </a:p>
          <a:p>
            <a:pPr algn="l"/>
            <a:r>
              <a:rPr lang="zh-CN" altLang="en-US" b="1" i="0" dirty="0">
                <a:solidFill>
                  <a:srgbClr val="4D4D4D"/>
                </a:solidFill>
                <a:effectLst/>
                <a:latin typeface="-apple-system"/>
              </a:rPr>
              <a:t>决策树的特点：</a:t>
            </a:r>
            <a:endParaRPr lang="zh-CN" altLang="en-US" b="0" i="0" dirty="0">
              <a:solidFill>
                <a:srgbClr val="4D4D4D"/>
              </a:solidFill>
              <a:effectLst/>
              <a:latin typeface="-apple-system"/>
            </a:endParaRPr>
          </a:p>
          <a:p>
            <a:pPr algn="l">
              <a:buFont typeface="Arial" panose="020B0604020202020204" pitchFamily="34" charset="0"/>
              <a:buChar char="•"/>
            </a:pPr>
            <a:r>
              <a:rPr lang="zh-CN" altLang="en-US" b="0" i="0" dirty="0">
                <a:effectLst/>
                <a:latin typeface="-apple-system"/>
              </a:rPr>
              <a:t>优点：计算复杂度不高，输出结果易于理解，对中间值的缺失不敏感，可以处理不相关特征数据。</a:t>
            </a:r>
          </a:p>
          <a:p>
            <a:pPr algn="l">
              <a:buFont typeface="Arial" panose="020B0604020202020204" pitchFamily="34" charset="0"/>
              <a:buChar char="•"/>
            </a:pPr>
            <a:r>
              <a:rPr lang="zh-CN" altLang="en-US" b="0" i="0" dirty="0">
                <a:effectLst/>
                <a:latin typeface="-apple-system"/>
              </a:rPr>
              <a:t>缺点：可能会产生过度匹配的问题</a:t>
            </a:r>
          </a:p>
          <a:p>
            <a:pPr algn="l">
              <a:buFont typeface="Arial" panose="020B0604020202020204" pitchFamily="34" charset="0"/>
              <a:buChar char="•"/>
            </a:pPr>
            <a:r>
              <a:rPr lang="zh-CN" altLang="en-US" b="0" i="0" dirty="0">
                <a:effectLst/>
                <a:latin typeface="-apple-system"/>
              </a:rPr>
              <a:t>适用数据类型：数值型和标称型</a:t>
            </a:r>
          </a:p>
        </p:txBody>
      </p:sp>
    </p:spTree>
    <p:extLst>
      <p:ext uri="{BB962C8B-B14F-4D97-AF65-F5344CB8AC3E}">
        <p14:creationId xmlns:p14="http://schemas.microsoft.com/office/powerpoint/2010/main" val="1998745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0A4907-65DE-44DA-8852-3E8347636C68}"/>
              </a:ext>
            </a:extLst>
          </p:cNvPr>
          <p:cNvSpPr>
            <a:spLocks noGrp="1"/>
          </p:cNvSpPr>
          <p:nvPr>
            <p:ph type="title"/>
          </p:nvPr>
        </p:nvSpPr>
        <p:spPr/>
        <p:txBody>
          <a:bodyPr>
            <a:normAutofit fontScale="90000"/>
          </a:bodyPr>
          <a:lstStyle/>
          <a:p>
            <a:r>
              <a:rPr lang="zh-CN" altLang="en-US" dirty="0"/>
              <a:t> 决策树（</a:t>
            </a:r>
            <a:r>
              <a:rPr lang="en-US" altLang="zh-CN" b="0" i="0" dirty="0">
                <a:solidFill>
                  <a:srgbClr val="333333"/>
                </a:solidFill>
                <a:effectLst/>
                <a:latin typeface="Arial" panose="020B0604020202020204" pitchFamily="34" charset="0"/>
              </a:rPr>
              <a:t>Decision Tree</a:t>
            </a:r>
            <a:r>
              <a:rPr lang="zh-CN" altLang="en-US" dirty="0"/>
              <a:t>）</a:t>
            </a:r>
          </a:p>
        </p:txBody>
      </p:sp>
      <p:pic>
        <p:nvPicPr>
          <p:cNvPr id="5122" name="Picture 2">
            <a:extLst>
              <a:ext uri="{FF2B5EF4-FFF2-40B4-BE49-F238E27FC236}">
                <a16:creationId xmlns:a16="http://schemas.microsoft.com/office/drawing/2014/main" id="{5E90644B-6503-405D-9420-1CECB235F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069763"/>
            <a:ext cx="9650027" cy="5788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175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59522D-C490-4C69-889B-A8B19A1B2C88}"/>
              </a:ext>
            </a:extLst>
          </p:cNvPr>
          <p:cNvSpPr>
            <a:spLocks noGrp="1"/>
          </p:cNvSpPr>
          <p:nvPr>
            <p:ph type="title"/>
          </p:nvPr>
        </p:nvSpPr>
        <p:spPr/>
        <p:txBody>
          <a:bodyPr>
            <a:normAutofit fontScale="90000"/>
          </a:bodyPr>
          <a:lstStyle/>
          <a:p>
            <a:r>
              <a:rPr lang="zh-CN" altLang="en-US" dirty="0"/>
              <a:t> 决策树（</a:t>
            </a:r>
            <a:r>
              <a:rPr lang="en-US" altLang="zh-CN" b="0" i="0" dirty="0">
                <a:solidFill>
                  <a:srgbClr val="333333"/>
                </a:solidFill>
                <a:effectLst/>
                <a:latin typeface="Arial" panose="020B0604020202020204" pitchFamily="34" charset="0"/>
              </a:rPr>
              <a:t>Decision Tree</a:t>
            </a:r>
            <a:r>
              <a:rPr lang="zh-CN" altLang="en-US" dirty="0"/>
              <a:t>）</a:t>
            </a:r>
          </a:p>
        </p:txBody>
      </p:sp>
      <p:sp>
        <p:nvSpPr>
          <p:cNvPr id="4" name="文本框 3">
            <a:extLst>
              <a:ext uri="{FF2B5EF4-FFF2-40B4-BE49-F238E27FC236}">
                <a16:creationId xmlns:a16="http://schemas.microsoft.com/office/drawing/2014/main" id="{87C49A21-87D4-4782-8CE0-4BB4027EE0EE}"/>
              </a:ext>
            </a:extLst>
          </p:cNvPr>
          <p:cNvSpPr txBox="1"/>
          <p:nvPr/>
        </p:nvSpPr>
        <p:spPr>
          <a:xfrm>
            <a:off x="133108" y="1775354"/>
            <a:ext cx="11175357" cy="1477328"/>
          </a:xfrm>
          <a:prstGeom prst="rect">
            <a:avLst/>
          </a:prstGeom>
          <a:noFill/>
        </p:spPr>
        <p:txBody>
          <a:bodyPr wrap="square">
            <a:spAutoFit/>
          </a:bodyPr>
          <a:lstStyle/>
          <a:p>
            <a:r>
              <a:rPr lang="zh-CN" altLang="en-US" dirty="0"/>
              <a:t>决策树所代表的条件概率分布由各个单元给定条件下类的条件概率分布组成。</a:t>
            </a:r>
          </a:p>
          <a:p>
            <a:endParaRPr lang="zh-CN" altLang="en-US" dirty="0"/>
          </a:p>
          <a:p>
            <a:r>
              <a:rPr lang="zh-CN" altLang="en-US" dirty="0"/>
              <a:t>决策树的学习目标是：根据给定的训练数据集构造一个决策树模型，使得它能够对样本进行正确的分类。</a:t>
            </a:r>
          </a:p>
          <a:p>
            <a:endParaRPr lang="zh-CN" altLang="en-US" dirty="0"/>
          </a:p>
          <a:p>
            <a:r>
              <a:rPr lang="zh-CN" altLang="en-US" dirty="0"/>
              <a:t>决策树最优化的策略是：损失函数最小化。决策树的损失函数通常是正则化的极大似然函数。</a:t>
            </a:r>
          </a:p>
        </p:txBody>
      </p:sp>
      <p:sp>
        <p:nvSpPr>
          <p:cNvPr id="6" name="文本框 5">
            <a:extLst>
              <a:ext uri="{FF2B5EF4-FFF2-40B4-BE49-F238E27FC236}">
                <a16:creationId xmlns:a16="http://schemas.microsoft.com/office/drawing/2014/main" id="{EEB4283C-BA28-4A68-A77E-CF29FC697EAA}"/>
              </a:ext>
            </a:extLst>
          </p:cNvPr>
          <p:cNvSpPr txBox="1"/>
          <p:nvPr/>
        </p:nvSpPr>
        <p:spPr>
          <a:xfrm>
            <a:off x="133107" y="3605319"/>
            <a:ext cx="10862841" cy="1477328"/>
          </a:xfrm>
          <a:prstGeom prst="rect">
            <a:avLst/>
          </a:prstGeom>
          <a:noFill/>
        </p:spPr>
        <p:txBody>
          <a:bodyPr wrap="square">
            <a:spAutoFit/>
          </a:bodyPr>
          <a:lstStyle/>
          <a:p>
            <a:r>
              <a:rPr lang="zh-CN" altLang="en-US" dirty="0"/>
              <a:t>选择最优决策树的问题是个 NP 完全问题。一般采用启发式方法近似求解这个最优化问题，这时的解为次最优的。</a:t>
            </a:r>
          </a:p>
          <a:p>
            <a:endParaRPr lang="zh-CN" altLang="en-US" dirty="0"/>
          </a:p>
          <a:p>
            <a:r>
              <a:rPr lang="zh-CN" altLang="en-US" dirty="0"/>
              <a:t>决策树学习的算法通常递归地选择最优特征，并根据该特征对训练数据进行分割，使得对各个子数据集有一个最好的分类。</a:t>
            </a:r>
          </a:p>
        </p:txBody>
      </p:sp>
    </p:spTree>
    <p:extLst>
      <p:ext uri="{BB962C8B-B14F-4D97-AF65-F5344CB8AC3E}">
        <p14:creationId xmlns:p14="http://schemas.microsoft.com/office/powerpoint/2010/main" val="459285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79AAFC-5D9A-4195-9C9E-4141F262938E}"/>
              </a:ext>
            </a:extLst>
          </p:cNvPr>
          <p:cNvSpPr>
            <a:spLocks noGrp="1"/>
          </p:cNvSpPr>
          <p:nvPr>
            <p:ph type="title"/>
          </p:nvPr>
        </p:nvSpPr>
        <p:spPr/>
        <p:txBody>
          <a:bodyPr>
            <a:normAutofit fontScale="90000"/>
          </a:bodyPr>
          <a:lstStyle/>
          <a:p>
            <a:r>
              <a:rPr lang="zh-CN" altLang="en-US" dirty="0"/>
              <a:t> 决策树（</a:t>
            </a:r>
            <a:r>
              <a:rPr lang="en-US" altLang="zh-CN" b="0" i="0" dirty="0">
                <a:solidFill>
                  <a:srgbClr val="333333"/>
                </a:solidFill>
                <a:effectLst/>
                <a:latin typeface="Arial" panose="020B0604020202020204" pitchFamily="34" charset="0"/>
              </a:rPr>
              <a:t>Decision Tree</a:t>
            </a:r>
            <a:r>
              <a:rPr lang="zh-CN" altLang="en-US" dirty="0"/>
              <a:t>）</a:t>
            </a:r>
          </a:p>
        </p:txBody>
      </p:sp>
      <p:sp>
        <p:nvSpPr>
          <p:cNvPr id="8" name="文本框 7">
            <a:extLst>
              <a:ext uri="{FF2B5EF4-FFF2-40B4-BE49-F238E27FC236}">
                <a16:creationId xmlns:a16="http://schemas.microsoft.com/office/drawing/2014/main" id="{9FC6987F-0B63-491A-A3AD-B8EC4B3CF3E2}"/>
              </a:ext>
            </a:extLst>
          </p:cNvPr>
          <p:cNvSpPr txBox="1"/>
          <p:nvPr/>
        </p:nvSpPr>
        <p:spPr>
          <a:xfrm>
            <a:off x="0" y="885194"/>
            <a:ext cx="10116273" cy="5078313"/>
          </a:xfrm>
          <a:prstGeom prst="rect">
            <a:avLst/>
          </a:prstGeom>
          <a:noFill/>
        </p:spPr>
        <p:txBody>
          <a:bodyPr wrap="square">
            <a:spAutoFit/>
          </a:bodyPr>
          <a:lstStyle/>
          <a:p>
            <a:r>
              <a:rPr lang="zh-CN" altLang="en-US" dirty="0"/>
              <a:t>决策树生成算法：</a:t>
            </a:r>
          </a:p>
          <a:p>
            <a:r>
              <a:rPr lang="zh-CN" altLang="en-US" dirty="0"/>
              <a:t>构建根结点：将所有训练数据放在根结点。</a:t>
            </a:r>
          </a:p>
          <a:p>
            <a:r>
              <a:rPr lang="zh-CN" altLang="en-US" dirty="0"/>
              <a:t>选择一个最优特征，根据这个特征将训练数据分割成子集，使得各个子集有一个在当前条件下最好的分类。</a:t>
            </a:r>
          </a:p>
          <a:p>
            <a:r>
              <a:rPr lang="zh-CN" altLang="en-US" dirty="0"/>
              <a:t>若这些子集已能够被基本正确分类，则将该子集构成叶结点。</a:t>
            </a:r>
          </a:p>
          <a:p>
            <a:r>
              <a:rPr lang="zh-CN" altLang="en-US" dirty="0"/>
              <a:t>若某个子集不能够被基本正确分类，则对该子集选择新的最优的特征，继续对该子集进行分割，构建相应的结点。</a:t>
            </a:r>
          </a:p>
          <a:p>
            <a:r>
              <a:rPr lang="zh-CN" altLang="en-US" dirty="0"/>
              <a:t>如此递归下去，直至所有训练数据子集都被基本正确分类，或者没有合适的特征为止。</a:t>
            </a:r>
          </a:p>
          <a:p>
            <a:endParaRPr lang="zh-CN" altLang="en-US" dirty="0"/>
          </a:p>
          <a:p>
            <a:r>
              <a:rPr lang="zh-CN" altLang="en-US" dirty="0"/>
              <a:t>上述生成的决策树可能对训练数据有很好的分类能力，但是对于未知的测试数据却未必有很好要的分类能力，即可能发生过拟合的现象。</a:t>
            </a:r>
          </a:p>
          <a:p>
            <a:r>
              <a:rPr lang="zh-CN" altLang="en-US" dirty="0"/>
              <a:t>解决的方法是：对生成的决策树进行剪枝，从而使得决策树具有更好的泛化能力。</a:t>
            </a:r>
          </a:p>
          <a:p>
            <a:r>
              <a:rPr lang="zh-CN" altLang="en-US" dirty="0"/>
              <a:t>剪枝是去掉过于细分的叶结点，使得该叶结点中的子集回退到父结点或更高层次的结点并让其成为叶结点。</a:t>
            </a:r>
          </a:p>
          <a:p>
            <a:r>
              <a:rPr lang="zh-CN" altLang="en-US" dirty="0"/>
              <a:t>决策树的生成对应着模型的局部最优，决策树的剪枝则考虑全局最优。</a:t>
            </a:r>
          </a:p>
          <a:p>
            <a:endParaRPr lang="zh-CN" altLang="en-US" dirty="0"/>
          </a:p>
          <a:p>
            <a:r>
              <a:rPr lang="zh-CN" altLang="en-US" dirty="0"/>
              <a:t>如果学习任意大小的决策树，则可以将决策树算法视作非参数算法。但是实践中经常有大小限制（如限制树的高度、限制树的叶结点数量），从而使得决策树成为有参数模型。</a:t>
            </a:r>
          </a:p>
        </p:txBody>
      </p:sp>
    </p:spTree>
    <p:extLst>
      <p:ext uri="{BB962C8B-B14F-4D97-AF65-F5344CB8AC3E}">
        <p14:creationId xmlns:p14="http://schemas.microsoft.com/office/powerpoint/2010/main" val="1182626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05B85F-079B-4D09-91C8-9FF9FA1D0AA9}"/>
              </a:ext>
            </a:extLst>
          </p:cNvPr>
          <p:cNvSpPr>
            <a:spLocks noGrp="1"/>
          </p:cNvSpPr>
          <p:nvPr>
            <p:ph type="title"/>
          </p:nvPr>
        </p:nvSpPr>
        <p:spPr/>
        <p:txBody>
          <a:bodyPr>
            <a:normAutofit fontScale="90000"/>
          </a:bodyPr>
          <a:lstStyle/>
          <a:p>
            <a:r>
              <a:rPr lang="zh-CN" altLang="en-US" dirty="0"/>
              <a:t>特征选择</a:t>
            </a:r>
          </a:p>
        </p:txBody>
      </p:sp>
      <p:sp>
        <p:nvSpPr>
          <p:cNvPr id="6" name="文本框 5">
            <a:extLst>
              <a:ext uri="{FF2B5EF4-FFF2-40B4-BE49-F238E27FC236}">
                <a16:creationId xmlns:a16="http://schemas.microsoft.com/office/drawing/2014/main" id="{8D4335D6-DFC0-4BA6-BCEB-6F0F6D5B3C70}"/>
              </a:ext>
            </a:extLst>
          </p:cNvPr>
          <p:cNvSpPr txBox="1"/>
          <p:nvPr/>
        </p:nvSpPr>
        <p:spPr>
          <a:xfrm>
            <a:off x="1" y="1088019"/>
            <a:ext cx="10255170" cy="5909310"/>
          </a:xfrm>
          <a:prstGeom prst="rect">
            <a:avLst/>
          </a:prstGeom>
          <a:noFill/>
        </p:spPr>
        <p:txBody>
          <a:bodyPr wrap="square">
            <a:spAutoFit/>
          </a:bodyPr>
          <a:lstStyle/>
          <a:p>
            <a:r>
              <a:rPr lang="zh-CN" altLang="en-US" dirty="0"/>
              <a:t>       特征选择的关键是：选取对训练数据有较强分类能力的特征。若一个特征的分类结果与随机分类的结果没有什么差别，则称这个特征是没有分类能力的。</a:t>
            </a:r>
          </a:p>
          <a:p>
            <a:r>
              <a:rPr lang="zh-CN" altLang="en-US" dirty="0"/>
              <a:t>     通常特征选择的指标是：信息增益或者信息增益比。这两个指标刻画了特征的分类能力。</a:t>
            </a:r>
          </a:p>
          <a:p>
            <a:r>
              <a:rPr lang="zh-CN" altLang="en-US" dirty="0"/>
              <a:t>      对于分布       ，熵为                             。</a:t>
            </a:r>
          </a:p>
          <a:p>
            <a:r>
              <a:rPr lang="zh-CN" altLang="en-US" dirty="0"/>
              <a:t>定义数据集      的经验熵为：                     。</a:t>
            </a:r>
          </a:p>
          <a:p>
            <a:r>
              <a:rPr lang="zh-CN" altLang="en-US" dirty="0"/>
              <a:t>其中：</a:t>
            </a:r>
            <a:endParaRPr lang="en-US" altLang="zh-CN" dirty="0"/>
          </a:p>
          <a:p>
            <a:r>
              <a:rPr lang="en-US" altLang="zh-CN" dirty="0"/>
              <a:t>        </a:t>
            </a:r>
            <a:r>
              <a:rPr lang="zh-CN" altLang="en-US" dirty="0"/>
              <a:t>样本的类别分别为              。</a:t>
            </a:r>
          </a:p>
          <a:p>
            <a:r>
              <a:rPr lang="zh-CN" altLang="en-US" dirty="0"/>
              <a:t>        类别   的样本的数量为     ，所有样本的总数为    。</a:t>
            </a:r>
          </a:p>
          <a:p>
            <a:r>
              <a:rPr lang="zh-CN" altLang="en-US" dirty="0"/>
              <a:t>         因此有：       。</a:t>
            </a:r>
          </a:p>
          <a:p>
            <a:r>
              <a:rPr lang="zh-CN" altLang="en-US" dirty="0"/>
              <a:t>        是概率                 的估计。</a:t>
            </a:r>
          </a:p>
          <a:p>
            <a:endParaRPr lang="zh-CN" altLang="en-US" dirty="0"/>
          </a:p>
          <a:p>
            <a:r>
              <a:rPr lang="zh-CN" altLang="en-US" dirty="0"/>
              <a:t>         就是熵        的估计。它刻画了数据集     中样本的类别分布情况。</a:t>
            </a:r>
          </a:p>
          <a:p>
            <a:r>
              <a:rPr lang="zh-CN" altLang="en-US" dirty="0"/>
              <a:t>对于特征  ，定义数据集      在  上的经验熵为：                  。</a:t>
            </a:r>
          </a:p>
          <a:p>
            <a:r>
              <a:rPr lang="zh-CN" altLang="en-US" dirty="0"/>
              <a:t>其中：</a:t>
            </a:r>
          </a:p>
          <a:p>
            <a:r>
              <a:rPr lang="zh-CN" altLang="en-US" dirty="0"/>
              <a:t>       特征   的取值范围为  。</a:t>
            </a:r>
          </a:p>
          <a:p>
            <a:r>
              <a:rPr lang="zh-CN" altLang="en-US" dirty="0"/>
              <a:t>属性            的样本的数量为      。</a:t>
            </a:r>
          </a:p>
          <a:p>
            <a:r>
              <a:rPr lang="zh-CN" altLang="en-US" dirty="0"/>
              <a:t>因此有：</a:t>
            </a:r>
          </a:p>
          <a:p>
            <a:endParaRPr lang="zh-CN" altLang="en-US" dirty="0"/>
          </a:p>
          <a:p>
            <a:r>
              <a:rPr lang="zh-CN" altLang="en-US" dirty="0"/>
              <a:t>                 是概率               的估计。</a:t>
            </a:r>
          </a:p>
          <a:p>
            <a:endParaRPr lang="zh-CN" altLang="en-US" dirty="0"/>
          </a:p>
          <a:p>
            <a:r>
              <a:rPr lang="zh-CN" altLang="en-US" dirty="0"/>
              <a:t> </a:t>
            </a:r>
          </a:p>
        </p:txBody>
      </p:sp>
      <p:pic>
        <p:nvPicPr>
          <p:cNvPr id="8" name="图片 7">
            <a:extLst>
              <a:ext uri="{FF2B5EF4-FFF2-40B4-BE49-F238E27FC236}">
                <a16:creationId xmlns:a16="http://schemas.microsoft.com/office/drawing/2014/main" id="{D564E018-5F94-4E68-AD6F-64E98D9F6572}"/>
              </a:ext>
            </a:extLst>
          </p:cNvPr>
          <p:cNvPicPr>
            <a:picLocks noChangeAspect="1"/>
          </p:cNvPicPr>
          <p:nvPr/>
        </p:nvPicPr>
        <p:blipFill>
          <a:blip r:embed="rId2"/>
          <a:stretch>
            <a:fillRect/>
          </a:stretch>
        </p:blipFill>
        <p:spPr>
          <a:xfrm>
            <a:off x="1423385" y="1888542"/>
            <a:ext cx="409575" cy="333375"/>
          </a:xfrm>
          <a:prstGeom prst="rect">
            <a:avLst/>
          </a:prstGeom>
        </p:spPr>
      </p:pic>
      <p:pic>
        <p:nvPicPr>
          <p:cNvPr id="10" name="图片 9">
            <a:extLst>
              <a:ext uri="{FF2B5EF4-FFF2-40B4-BE49-F238E27FC236}">
                <a16:creationId xmlns:a16="http://schemas.microsoft.com/office/drawing/2014/main" id="{62FF16F3-8BF6-4736-AD3E-49C549ACAAE4}"/>
              </a:ext>
            </a:extLst>
          </p:cNvPr>
          <p:cNvPicPr>
            <a:picLocks noChangeAspect="1"/>
          </p:cNvPicPr>
          <p:nvPr/>
        </p:nvPicPr>
        <p:blipFill>
          <a:blip r:embed="rId3"/>
          <a:stretch>
            <a:fillRect/>
          </a:stretch>
        </p:blipFill>
        <p:spPr>
          <a:xfrm>
            <a:off x="2567289" y="1956242"/>
            <a:ext cx="2381250" cy="304800"/>
          </a:xfrm>
          <a:prstGeom prst="rect">
            <a:avLst/>
          </a:prstGeom>
        </p:spPr>
      </p:pic>
      <p:pic>
        <p:nvPicPr>
          <p:cNvPr id="12" name="图片 11">
            <a:extLst>
              <a:ext uri="{FF2B5EF4-FFF2-40B4-BE49-F238E27FC236}">
                <a16:creationId xmlns:a16="http://schemas.microsoft.com/office/drawing/2014/main" id="{A88FFE94-800C-4E3B-B182-D748D05D8AF0}"/>
              </a:ext>
            </a:extLst>
          </p:cNvPr>
          <p:cNvPicPr>
            <a:picLocks noChangeAspect="1"/>
          </p:cNvPicPr>
          <p:nvPr/>
        </p:nvPicPr>
        <p:blipFill>
          <a:blip r:embed="rId4"/>
          <a:stretch>
            <a:fillRect/>
          </a:stretch>
        </p:blipFill>
        <p:spPr>
          <a:xfrm>
            <a:off x="2995552" y="2206363"/>
            <a:ext cx="2381250" cy="409575"/>
          </a:xfrm>
          <a:prstGeom prst="rect">
            <a:avLst/>
          </a:prstGeom>
        </p:spPr>
      </p:pic>
      <p:pic>
        <p:nvPicPr>
          <p:cNvPr id="14" name="图片 13">
            <a:extLst>
              <a:ext uri="{FF2B5EF4-FFF2-40B4-BE49-F238E27FC236}">
                <a16:creationId xmlns:a16="http://schemas.microsoft.com/office/drawing/2014/main" id="{51A334C2-E5FA-499C-B01C-3657D1F0F0E9}"/>
              </a:ext>
            </a:extLst>
          </p:cNvPr>
          <p:cNvPicPr>
            <a:picLocks noChangeAspect="1"/>
          </p:cNvPicPr>
          <p:nvPr/>
        </p:nvPicPr>
        <p:blipFill>
          <a:blip r:embed="rId5"/>
          <a:stretch>
            <a:fillRect/>
          </a:stretch>
        </p:blipFill>
        <p:spPr>
          <a:xfrm>
            <a:off x="1337660" y="2261042"/>
            <a:ext cx="171450" cy="257175"/>
          </a:xfrm>
          <a:prstGeom prst="rect">
            <a:avLst/>
          </a:prstGeom>
        </p:spPr>
      </p:pic>
      <p:pic>
        <p:nvPicPr>
          <p:cNvPr id="16" name="图片 15">
            <a:extLst>
              <a:ext uri="{FF2B5EF4-FFF2-40B4-BE49-F238E27FC236}">
                <a16:creationId xmlns:a16="http://schemas.microsoft.com/office/drawing/2014/main" id="{29C35914-D804-4E61-AEA0-11670C88CE87}"/>
              </a:ext>
            </a:extLst>
          </p:cNvPr>
          <p:cNvPicPr>
            <a:picLocks noChangeAspect="1"/>
          </p:cNvPicPr>
          <p:nvPr/>
        </p:nvPicPr>
        <p:blipFill>
          <a:blip r:embed="rId6"/>
          <a:stretch>
            <a:fillRect/>
          </a:stretch>
        </p:blipFill>
        <p:spPr>
          <a:xfrm>
            <a:off x="2504231" y="2713659"/>
            <a:ext cx="1238250" cy="304800"/>
          </a:xfrm>
          <a:prstGeom prst="rect">
            <a:avLst/>
          </a:prstGeom>
        </p:spPr>
      </p:pic>
      <p:pic>
        <p:nvPicPr>
          <p:cNvPr id="18" name="图片 17">
            <a:extLst>
              <a:ext uri="{FF2B5EF4-FFF2-40B4-BE49-F238E27FC236}">
                <a16:creationId xmlns:a16="http://schemas.microsoft.com/office/drawing/2014/main" id="{0D58CBF6-C7E3-4219-B1D2-9EA0F251BE04}"/>
              </a:ext>
            </a:extLst>
          </p:cNvPr>
          <p:cNvPicPr>
            <a:picLocks noChangeAspect="1"/>
          </p:cNvPicPr>
          <p:nvPr/>
        </p:nvPicPr>
        <p:blipFill>
          <a:blip r:embed="rId7"/>
          <a:stretch>
            <a:fillRect/>
          </a:stretch>
        </p:blipFill>
        <p:spPr>
          <a:xfrm>
            <a:off x="1071141" y="3018459"/>
            <a:ext cx="180975" cy="209550"/>
          </a:xfrm>
          <a:prstGeom prst="rect">
            <a:avLst/>
          </a:prstGeom>
        </p:spPr>
      </p:pic>
      <p:pic>
        <p:nvPicPr>
          <p:cNvPr id="20" name="图片 19">
            <a:extLst>
              <a:ext uri="{FF2B5EF4-FFF2-40B4-BE49-F238E27FC236}">
                <a16:creationId xmlns:a16="http://schemas.microsoft.com/office/drawing/2014/main" id="{56554350-2920-4CD2-BC50-79FE3953C73A}"/>
              </a:ext>
            </a:extLst>
          </p:cNvPr>
          <p:cNvPicPr>
            <a:picLocks noChangeAspect="1"/>
          </p:cNvPicPr>
          <p:nvPr/>
        </p:nvPicPr>
        <p:blipFill>
          <a:blip r:embed="rId8"/>
          <a:stretch>
            <a:fillRect/>
          </a:stretch>
        </p:blipFill>
        <p:spPr>
          <a:xfrm>
            <a:off x="2852677" y="3068555"/>
            <a:ext cx="285750" cy="276225"/>
          </a:xfrm>
          <a:prstGeom prst="rect">
            <a:avLst/>
          </a:prstGeom>
        </p:spPr>
      </p:pic>
      <p:pic>
        <p:nvPicPr>
          <p:cNvPr id="22" name="图片 21">
            <a:extLst>
              <a:ext uri="{FF2B5EF4-FFF2-40B4-BE49-F238E27FC236}">
                <a16:creationId xmlns:a16="http://schemas.microsoft.com/office/drawing/2014/main" id="{AA81D9AF-2376-455D-BEAD-7363CA078F73}"/>
              </a:ext>
            </a:extLst>
          </p:cNvPr>
          <p:cNvPicPr>
            <a:picLocks noChangeAspect="1"/>
          </p:cNvPicPr>
          <p:nvPr/>
        </p:nvPicPr>
        <p:blipFill>
          <a:blip r:embed="rId9"/>
          <a:stretch>
            <a:fillRect/>
          </a:stretch>
        </p:blipFill>
        <p:spPr>
          <a:xfrm>
            <a:off x="5195827" y="3049505"/>
            <a:ext cx="180975" cy="295275"/>
          </a:xfrm>
          <a:prstGeom prst="rect">
            <a:avLst/>
          </a:prstGeom>
        </p:spPr>
      </p:pic>
      <p:pic>
        <p:nvPicPr>
          <p:cNvPr id="24" name="图片 23">
            <a:extLst>
              <a:ext uri="{FF2B5EF4-FFF2-40B4-BE49-F238E27FC236}">
                <a16:creationId xmlns:a16="http://schemas.microsoft.com/office/drawing/2014/main" id="{B4185AD6-B4CA-44E4-BCD8-E0F9598390AF}"/>
              </a:ext>
            </a:extLst>
          </p:cNvPr>
          <p:cNvPicPr>
            <a:picLocks noChangeAspect="1"/>
          </p:cNvPicPr>
          <p:nvPr/>
        </p:nvPicPr>
        <p:blipFill>
          <a:blip r:embed="rId10"/>
          <a:stretch>
            <a:fillRect/>
          </a:stretch>
        </p:blipFill>
        <p:spPr>
          <a:xfrm>
            <a:off x="1506395" y="3294863"/>
            <a:ext cx="1295400" cy="352425"/>
          </a:xfrm>
          <a:prstGeom prst="rect">
            <a:avLst/>
          </a:prstGeom>
        </p:spPr>
      </p:pic>
      <p:pic>
        <p:nvPicPr>
          <p:cNvPr id="26" name="图片 25">
            <a:extLst>
              <a:ext uri="{FF2B5EF4-FFF2-40B4-BE49-F238E27FC236}">
                <a16:creationId xmlns:a16="http://schemas.microsoft.com/office/drawing/2014/main" id="{0839C9BB-C8E2-4655-83AC-78E7A5F867F3}"/>
              </a:ext>
            </a:extLst>
          </p:cNvPr>
          <p:cNvPicPr>
            <a:picLocks noChangeAspect="1"/>
          </p:cNvPicPr>
          <p:nvPr/>
        </p:nvPicPr>
        <p:blipFill>
          <a:blip r:embed="rId11"/>
          <a:stretch>
            <a:fillRect/>
          </a:stretch>
        </p:blipFill>
        <p:spPr>
          <a:xfrm>
            <a:off x="310286" y="3627032"/>
            <a:ext cx="295275" cy="342900"/>
          </a:xfrm>
          <a:prstGeom prst="rect">
            <a:avLst/>
          </a:prstGeom>
        </p:spPr>
      </p:pic>
      <p:pic>
        <p:nvPicPr>
          <p:cNvPr id="28" name="图片 27">
            <a:extLst>
              <a:ext uri="{FF2B5EF4-FFF2-40B4-BE49-F238E27FC236}">
                <a16:creationId xmlns:a16="http://schemas.microsoft.com/office/drawing/2014/main" id="{6A6FD748-0631-4EEF-91DB-10818DFC428A}"/>
              </a:ext>
            </a:extLst>
          </p:cNvPr>
          <p:cNvPicPr>
            <a:picLocks noChangeAspect="1"/>
          </p:cNvPicPr>
          <p:nvPr/>
        </p:nvPicPr>
        <p:blipFill>
          <a:blip r:embed="rId12"/>
          <a:stretch>
            <a:fillRect/>
          </a:stretch>
        </p:blipFill>
        <p:spPr>
          <a:xfrm>
            <a:off x="1369189" y="3647288"/>
            <a:ext cx="866775" cy="371475"/>
          </a:xfrm>
          <a:prstGeom prst="rect">
            <a:avLst/>
          </a:prstGeom>
        </p:spPr>
      </p:pic>
      <p:pic>
        <p:nvPicPr>
          <p:cNvPr id="30" name="图片 29">
            <a:extLst>
              <a:ext uri="{FF2B5EF4-FFF2-40B4-BE49-F238E27FC236}">
                <a16:creationId xmlns:a16="http://schemas.microsoft.com/office/drawing/2014/main" id="{FD0E4AD8-62B6-456D-B407-AC039093B717}"/>
              </a:ext>
            </a:extLst>
          </p:cNvPr>
          <p:cNvPicPr>
            <a:picLocks noChangeAspect="1"/>
          </p:cNvPicPr>
          <p:nvPr/>
        </p:nvPicPr>
        <p:blipFill>
          <a:blip r:embed="rId13"/>
          <a:stretch>
            <a:fillRect/>
          </a:stretch>
        </p:blipFill>
        <p:spPr>
          <a:xfrm>
            <a:off x="72161" y="4139020"/>
            <a:ext cx="533400" cy="314325"/>
          </a:xfrm>
          <a:prstGeom prst="rect">
            <a:avLst/>
          </a:prstGeom>
        </p:spPr>
      </p:pic>
      <p:pic>
        <p:nvPicPr>
          <p:cNvPr id="32" name="图片 31">
            <a:extLst>
              <a:ext uri="{FF2B5EF4-FFF2-40B4-BE49-F238E27FC236}">
                <a16:creationId xmlns:a16="http://schemas.microsoft.com/office/drawing/2014/main" id="{276AF7E5-82B4-4F8D-A10C-828CE7D112F6}"/>
              </a:ext>
            </a:extLst>
          </p:cNvPr>
          <p:cNvPicPr>
            <a:picLocks noChangeAspect="1"/>
          </p:cNvPicPr>
          <p:nvPr/>
        </p:nvPicPr>
        <p:blipFill>
          <a:blip r:embed="rId14"/>
          <a:stretch>
            <a:fillRect/>
          </a:stretch>
        </p:blipFill>
        <p:spPr>
          <a:xfrm>
            <a:off x="1366235" y="4195334"/>
            <a:ext cx="466725" cy="228600"/>
          </a:xfrm>
          <a:prstGeom prst="rect">
            <a:avLst/>
          </a:prstGeom>
        </p:spPr>
      </p:pic>
      <p:pic>
        <p:nvPicPr>
          <p:cNvPr id="34" name="图片 33">
            <a:extLst>
              <a:ext uri="{FF2B5EF4-FFF2-40B4-BE49-F238E27FC236}">
                <a16:creationId xmlns:a16="http://schemas.microsoft.com/office/drawing/2014/main" id="{55E886BC-D9C9-4385-8CF1-5EC6496F1F63}"/>
              </a:ext>
            </a:extLst>
          </p:cNvPr>
          <p:cNvPicPr>
            <a:picLocks noChangeAspect="1"/>
          </p:cNvPicPr>
          <p:nvPr/>
        </p:nvPicPr>
        <p:blipFill>
          <a:blip r:embed="rId15"/>
          <a:stretch>
            <a:fillRect/>
          </a:stretch>
        </p:blipFill>
        <p:spPr>
          <a:xfrm>
            <a:off x="4461980" y="4084900"/>
            <a:ext cx="142875" cy="314325"/>
          </a:xfrm>
          <a:prstGeom prst="rect">
            <a:avLst/>
          </a:prstGeom>
        </p:spPr>
      </p:pic>
      <p:pic>
        <p:nvPicPr>
          <p:cNvPr id="36" name="图片 35">
            <a:extLst>
              <a:ext uri="{FF2B5EF4-FFF2-40B4-BE49-F238E27FC236}">
                <a16:creationId xmlns:a16="http://schemas.microsoft.com/office/drawing/2014/main" id="{E1D36F4A-418F-47C0-AEAC-435CA579AA3B}"/>
              </a:ext>
            </a:extLst>
          </p:cNvPr>
          <p:cNvPicPr>
            <a:picLocks noChangeAspect="1"/>
          </p:cNvPicPr>
          <p:nvPr/>
        </p:nvPicPr>
        <p:blipFill>
          <a:blip r:embed="rId16"/>
          <a:stretch>
            <a:fillRect/>
          </a:stretch>
        </p:blipFill>
        <p:spPr>
          <a:xfrm>
            <a:off x="994941" y="4423934"/>
            <a:ext cx="152400" cy="295275"/>
          </a:xfrm>
          <a:prstGeom prst="rect">
            <a:avLst/>
          </a:prstGeom>
        </p:spPr>
      </p:pic>
      <p:pic>
        <p:nvPicPr>
          <p:cNvPr id="38" name="图片 37">
            <a:extLst>
              <a:ext uri="{FF2B5EF4-FFF2-40B4-BE49-F238E27FC236}">
                <a16:creationId xmlns:a16="http://schemas.microsoft.com/office/drawing/2014/main" id="{FC47E4EB-F1C9-4156-B8D8-46E81AF2C6E8}"/>
              </a:ext>
            </a:extLst>
          </p:cNvPr>
          <p:cNvPicPr>
            <a:picLocks noChangeAspect="1"/>
          </p:cNvPicPr>
          <p:nvPr/>
        </p:nvPicPr>
        <p:blipFill>
          <a:blip r:embed="rId17"/>
          <a:stretch>
            <a:fillRect/>
          </a:stretch>
        </p:blipFill>
        <p:spPr>
          <a:xfrm>
            <a:off x="2567289" y="4444664"/>
            <a:ext cx="142875" cy="295275"/>
          </a:xfrm>
          <a:prstGeom prst="rect">
            <a:avLst/>
          </a:prstGeom>
        </p:spPr>
      </p:pic>
      <p:pic>
        <p:nvPicPr>
          <p:cNvPr id="40" name="图片 39">
            <a:extLst>
              <a:ext uri="{FF2B5EF4-FFF2-40B4-BE49-F238E27FC236}">
                <a16:creationId xmlns:a16="http://schemas.microsoft.com/office/drawing/2014/main" id="{0C9F65F5-8FE4-47C4-8CC9-54CFB9882EDD}"/>
              </a:ext>
            </a:extLst>
          </p:cNvPr>
          <p:cNvPicPr>
            <a:picLocks noChangeAspect="1"/>
          </p:cNvPicPr>
          <p:nvPr/>
        </p:nvPicPr>
        <p:blipFill>
          <a:blip r:embed="rId18"/>
          <a:stretch>
            <a:fillRect/>
          </a:stretch>
        </p:blipFill>
        <p:spPr>
          <a:xfrm>
            <a:off x="3082361" y="4436843"/>
            <a:ext cx="180975" cy="247650"/>
          </a:xfrm>
          <a:prstGeom prst="rect">
            <a:avLst/>
          </a:prstGeom>
        </p:spPr>
      </p:pic>
      <p:pic>
        <p:nvPicPr>
          <p:cNvPr id="42" name="图片 41">
            <a:extLst>
              <a:ext uri="{FF2B5EF4-FFF2-40B4-BE49-F238E27FC236}">
                <a16:creationId xmlns:a16="http://schemas.microsoft.com/office/drawing/2014/main" id="{36FEF82B-57F0-4613-88CC-907340F33254}"/>
              </a:ext>
            </a:extLst>
          </p:cNvPr>
          <p:cNvPicPr>
            <a:picLocks noChangeAspect="1"/>
          </p:cNvPicPr>
          <p:nvPr/>
        </p:nvPicPr>
        <p:blipFill>
          <a:blip r:embed="rId19"/>
          <a:stretch>
            <a:fillRect/>
          </a:stretch>
        </p:blipFill>
        <p:spPr>
          <a:xfrm>
            <a:off x="4739140" y="4413693"/>
            <a:ext cx="2609850" cy="400050"/>
          </a:xfrm>
          <a:prstGeom prst="rect">
            <a:avLst/>
          </a:prstGeom>
        </p:spPr>
      </p:pic>
      <p:pic>
        <p:nvPicPr>
          <p:cNvPr id="44" name="图片 43">
            <a:extLst>
              <a:ext uri="{FF2B5EF4-FFF2-40B4-BE49-F238E27FC236}">
                <a16:creationId xmlns:a16="http://schemas.microsoft.com/office/drawing/2014/main" id="{2AC06DF2-1C0F-450C-A6F3-40FD99CBC5E0}"/>
              </a:ext>
            </a:extLst>
          </p:cNvPr>
          <p:cNvPicPr>
            <a:picLocks noChangeAspect="1"/>
          </p:cNvPicPr>
          <p:nvPr/>
        </p:nvPicPr>
        <p:blipFill>
          <a:blip r:embed="rId20"/>
          <a:stretch>
            <a:fillRect/>
          </a:stretch>
        </p:blipFill>
        <p:spPr>
          <a:xfrm>
            <a:off x="967933" y="5001286"/>
            <a:ext cx="180975" cy="314325"/>
          </a:xfrm>
          <a:prstGeom prst="rect">
            <a:avLst/>
          </a:prstGeom>
        </p:spPr>
      </p:pic>
      <p:pic>
        <p:nvPicPr>
          <p:cNvPr id="46" name="图片 45">
            <a:extLst>
              <a:ext uri="{FF2B5EF4-FFF2-40B4-BE49-F238E27FC236}">
                <a16:creationId xmlns:a16="http://schemas.microsoft.com/office/drawing/2014/main" id="{1773CA59-68B0-4437-B3B2-BEAF6FC09721}"/>
              </a:ext>
            </a:extLst>
          </p:cNvPr>
          <p:cNvPicPr>
            <a:picLocks noChangeAspect="1"/>
          </p:cNvPicPr>
          <p:nvPr/>
        </p:nvPicPr>
        <p:blipFill>
          <a:blip r:embed="rId21"/>
          <a:stretch>
            <a:fillRect/>
          </a:stretch>
        </p:blipFill>
        <p:spPr>
          <a:xfrm>
            <a:off x="2567289" y="4923880"/>
            <a:ext cx="1533525" cy="371475"/>
          </a:xfrm>
          <a:prstGeom prst="rect">
            <a:avLst/>
          </a:prstGeom>
        </p:spPr>
      </p:pic>
      <p:pic>
        <p:nvPicPr>
          <p:cNvPr id="48" name="图片 47">
            <a:extLst>
              <a:ext uri="{FF2B5EF4-FFF2-40B4-BE49-F238E27FC236}">
                <a16:creationId xmlns:a16="http://schemas.microsoft.com/office/drawing/2014/main" id="{C870EE55-B1B9-415C-A21E-20452AEFD3E8}"/>
              </a:ext>
            </a:extLst>
          </p:cNvPr>
          <p:cNvPicPr>
            <a:picLocks noChangeAspect="1"/>
          </p:cNvPicPr>
          <p:nvPr/>
        </p:nvPicPr>
        <p:blipFill>
          <a:blip r:embed="rId22"/>
          <a:stretch>
            <a:fillRect/>
          </a:stretch>
        </p:blipFill>
        <p:spPr>
          <a:xfrm>
            <a:off x="636488" y="5283072"/>
            <a:ext cx="628650" cy="276225"/>
          </a:xfrm>
          <a:prstGeom prst="rect">
            <a:avLst/>
          </a:prstGeom>
        </p:spPr>
      </p:pic>
      <p:pic>
        <p:nvPicPr>
          <p:cNvPr id="50" name="图片 49">
            <a:extLst>
              <a:ext uri="{FF2B5EF4-FFF2-40B4-BE49-F238E27FC236}">
                <a16:creationId xmlns:a16="http://schemas.microsoft.com/office/drawing/2014/main" id="{F244D6ED-7862-4BAB-A6B0-15F6C7E6AC47}"/>
              </a:ext>
            </a:extLst>
          </p:cNvPr>
          <p:cNvPicPr>
            <a:picLocks noChangeAspect="1"/>
          </p:cNvPicPr>
          <p:nvPr/>
        </p:nvPicPr>
        <p:blipFill>
          <a:blip r:embed="rId23"/>
          <a:stretch>
            <a:fillRect/>
          </a:stretch>
        </p:blipFill>
        <p:spPr>
          <a:xfrm>
            <a:off x="2949011" y="5254497"/>
            <a:ext cx="314325" cy="304800"/>
          </a:xfrm>
          <a:prstGeom prst="rect">
            <a:avLst/>
          </a:prstGeom>
        </p:spPr>
      </p:pic>
      <p:pic>
        <p:nvPicPr>
          <p:cNvPr id="52" name="图片 51">
            <a:extLst>
              <a:ext uri="{FF2B5EF4-FFF2-40B4-BE49-F238E27FC236}">
                <a16:creationId xmlns:a16="http://schemas.microsoft.com/office/drawing/2014/main" id="{65D6EBCC-DDF9-4B2B-B83D-816BB39A0CCB}"/>
              </a:ext>
            </a:extLst>
          </p:cNvPr>
          <p:cNvPicPr>
            <a:picLocks noChangeAspect="1"/>
          </p:cNvPicPr>
          <p:nvPr/>
        </p:nvPicPr>
        <p:blipFill>
          <a:blip r:embed="rId24"/>
          <a:stretch>
            <a:fillRect/>
          </a:stretch>
        </p:blipFill>
        <p:spPr>
          <a:xfrm>
            <a:off x="967933" y="5524528"/>
            <a:ext cx="1590675" cy="361950"/>
          </a:xfrm>
          <a:prstGeom prst="rect">
            <a:avLst/>
          </a:prstGeom>
        </p:spPr>
      </p:pic>
      <p:pic>
        <p:nvPicPr>
          <p:cNvPr id="54" name="图片 53">
            <a:extLst>
              <a:ext uri="{FF2B5EF4-FFF2-40B4-BE49-F238E27FC236}">
                <a16:creationId xmlns:a16="http://schemas.microsoft.com/office/drawing/2014/main" id="{9B17654C-9107-4C26-8741-A0983F1C3E33}"/>
              </a:ext>
            </a:extLst>
          </p:cNvPr>
          <p:cNvPicPr>
            <a:picLocks noChangeAspect="1"/>
          </p:cNvPicPr>
          <p:nvPr/>
        </p:nvPicPr>
        <p:blipFill>
          <a:blip r:embed="rId25"/>
          <a:stretch>
            <a:fillRect/>
          </a:stretch>
        </p:blipFill>
        <p:spPr>
          <a:xfrm>
            <a:off x="837959" y="5961666"/>
            <a:ext cx="342900" cy="428625"/>
          </a:xfrm>
          <a:prstGeom prst="rect">
            <a:avLst/>
          </a:prstGeom>
        </p:spPr>
      </p:pic>
      <p:pic>
        <p:nvPicPr>
          <p:cNvPr id="56" name="图片 55">
            <a:extLst>
              <a:ext uri="{FF2B5EF4-FFF2-40B4-BE49-F238E27FC236}">
                <a16:creationId xmlns:a16="http://schemas.microsoft.com/office/drawing/2014/main" id="{59A6D098-5F8F-4E49-A2BA-9C1582E0828F}"/>
              </a:ext>
            </a:extLst>
          </p:cNvPr>
          <p:cNvPicPr>
            <a:picLocks noChangeAspect="1"/>
          </p:cNvPicPr>
          <p:nvPr/>
        </p:nvPicPr>
        <p:blipFill>
          <a:blip r:embed="rId26"/>
          <a:stretch>
            <a:fillRect/>
          </a:stretch>
        </p:blipFill>
        <p:spPr>
          <a:xfrm>
            <a:off x="1888177" y="6084267"/>
            <a:ext cx="895350" cy="276225"/>
          </a:xfrm>
          <a:prstGeom prst="rect">
            <a:avLst/>
          </a:prstGeom>
        </p:spPr>
      </p:pic>
    </p:spTree>
    <p:extLst>
      <p:ext uri="{BB962C8B-B14F-4D97-AF65-F5344CB8AC3E}">
        <p14:creationId xmlns:p14="http://schemas.microsoft.com/office/powerpoint/2010/main" val="1903156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F814B3-1E25-4407-9FD8-C579D65BB36A}"/>
              </a:ext>
            </a:extLst>
          </p:cNvPr>
          <p:cNvSpPr>
            <a:spLocks noGrp="1"/>
          </p:cNvSpPr>
          <p:nvPr>
            <p:ph type="title"/>
          </p:nvPr>
        </p:nvSpPr>
        <p:spPr/>
        <p:txBody>
          <a:bodyPr>
            <a:normAutofit fontScale="90000"/>
          </a:bodyPr>
          <a:lstStyle/>
          <a:p>
            <a:r>
              <a:rPr lang="zh-CN" altLang="en-US" dirty="0"/>
              <a:t>特征选择</a:t>
            </a:r>
          </a:p>
        </p:txBody>
      </p:sp>
      <p:sp>
        <p:nvSpPr>
          <p:cNvPr id="4" name="文本框 3">
            <a:extLst>
              <a:ext uri="{FF2B5EF4-FFF2-40B4-BE49-F238E27FC236}">
                <a16:creationId xmlns:a16="http://schemas.microsoft.com/office/drawing/2014/main" id="{A28C973D-61B5-4FEC-B7D1-8CC69FA68C3F}"/>
              </a:ext>
            </a:extLst>
          </p:cNvPr>
          <p:cNvSpPr txBox="1"/>
          <p:nvPr/>
        </p:nvSpPr>
        <p:spPr>
          <a:xfrm>
            <a:off x="127322" y="984541"/>
            <a:ext cx="8032830" cy="646331"/>
          </a:xfrm>
          <a:prstGeom prst="rect">
            <a:avLst/>
          </a:prstGeom>
          <a:noFill/>
        </p:spPr>
        <p:txBody>
          <a:bodyPr wrap="square">
            <a:spAutoFit/>
          </a:bodyPr>
          <a:lstStyle/>
          <a:p>
            <a:r>
              <a:rPr lang="zh-CN" altLang="en-US" dirty="0"/>
              <a:t>       刻画了数据集     中的样本在属性    上的取值分布情况。</a:t>
            </a:r>
          </a:p>
          <a:p>
            <a:endParaRPr lang="zh-CN" altLang="en-US" dirty="0"/>
          </a:p>
        </p:txBody>
      </p:sp>
      <p:pic>
        <p:nvPicPr>
          <p:cNvPr id="6" name="图片 5">
            <a:extLst>
              <a:ext uri="{FF2B5EF4-FFF2-40B4-BE49-F238E27FC236}">
                <a16:creationId xmlns:a16="http://schemas.microsoft.com/office/drawing/2014/main" id="{73B5272F-E831-41E9-A639-ED7EBF4AC2A6}"/>
              </a:ext>
            </a:extLst>
          </p:cNvPr>
          <p:cNvPicPr>
            <a:picLocks noChangeAspect="1"/>
          </p:cNvPicPr>
          <p:nvPr/>
        </p:nvPicPr>
        <p:blipFill>
          <a:blip r:embed="rId2"/>
          <a:stretch>
            <a:fillRect/>
          </a:stretch>
        </p:blipFill>
        <p:spPr>
          <a:xfrm>
            <a:off x="0" y="999009"/>
            <a:ext cx="676275" cy="304800"/>
          </a:xfrm>
          <a:prstGeom prst="rect">
            <a:avLst/>
          </a:prstGeom>
        </p:spPr>
      </p:pic>
      <p:pic>
        <p:nvPicPr>
          <p:cNvPr id="8" name="图片 7">
            <a:extLst>
              <a:ext uri="{FF2B5EF4-FFF2-40B4-BE49-F238E27FC236}">
                <a16:creationId xmlns:a16="http://schemas.microsoft.com/office/drawing/2014/main" id="{6B0D2362-3247-45B7-BC2D-D68DD0375F6D}"/>
              </a:ext>
            </a:extLst>
          </p:cNvPr>
          <p:cNvPicPr>
            <a:picLocks noChangeAspect="1"/>
          </p:cNvPicPr>
          <p:nvPr/>
        </p:nvPicPr>
        <p:blipFill>
          <a:blip r:embed="rId3"/>
          <a:stretch>
            <a:fillRect/>
          </a:stretch>
        </p:blipFill>
        <p:spPr>
          <a:xfrm>
            <a:off x="2125943" y="1049528"/>
            <a:ext cx="161925" cy="257175"/>
          </a:xfrm>
          <a:prstGeom prst="rect">
            <a:avLst/>
          </a:prstGeom>
        </p:spPr>
      </p:pic>
      <p:pic>
        <p:nvPicPr>
          <p:cNvPr id="10" name="图片 9">
            <a:extLst>
              <a:ext uri="{FF2B5EF4-FFF2-40B4-BE49-F238E27FC236}">
                <a16:creationId xmlns:a16="http://schemas.microsoft.com/office/drawing/2014/main" id="{0C3712A3-3684-4072-9573-57D9A4FE8B56}"/>
              </a:ext>
            </a:extLst>
          </p:cNvPr>
          <p:cNvPicPr>
            <a:picLocks noChangeAspect="1"/>
          </p:cNvPicPr>
          <p:nvPr/>
        </p:nvPicPr>
        <p:blipFill>
          <a:blip r:embed="rId4"/>
          <a:stretch>
            <a:fillRect/>
          </a:stretch>
        </p:blipFill>
        <p:spPr>
          <a:xfrm>
            <a:off x="4009543" y="1027584"/>
            <a:ext cx="142875" cy="276225"/>
          </a:xfrm>
          <a:prstGeom prst="rect">
            <a:avLst/>
          </a:prstGeom>
        </p:spPr>
      </p:pic>
      <p:pic>
        <p:nvPicPr>
          <p:cNvPr id="16" name="图片 15">
            <a:extLst>
              <a:ext uri="{FF2B5EF4-FFF2-40B4-BE49-F238E27FC236}">
                <a16:creationId xmlns:a16="http://schemas.microsoft.com/office/drawing/2014/main" id="{55727C6A-B557-4429-B84A-15A516FC040F}"/>
              </a:ext>
            </a:extLst>
          </p:cNvPr>
          <p:cNvPicPr>
            <a:picLocks noChangeAspect="1"/>
          </p:cNvPicPr>
          <p:nvPr/>
        </p:nvPicPr>
        <p:blipFill>
          <a:blip r:embed="rId5"/>
          <a:stretch>
            <a:fillRect/>
          </a:stretch>
        </p:blipFill>
        <p:spPr>
          <a:xfrm>
            <a:off x="127322" y="1512697"/>
            <a:ext cx="9153525" cy="4295775"/>
          </a:xfrm>
          <a:prstGeom prst="rect">
            <a:avLst/>
          </a:prstGeom>
        </p:spPr>
      </p:pic>
    </p:spTree>
    <p:extLst>
      <p:ext uri="{BB962C8B-B14F-4D97-AF65-F5344CB8AC3E}">
        <p14:creationId xmlns:p14="http://schemas.microsoft.com/office/powerpoint/2010/main" val="3632216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330A0A-A38F-44C2-929D-23CBC517C835}"/>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信息增益</a:t>
            </a:r>
            <a:br>
              <a:rPr lang="zh-CN" altLang="en-US" b="1" i="0" dirty="0">
                <a:solidFill>
                  <a:srgbClr val="333333"/>
                </a:solidFill>
                <a:effectLst/>
                <a:latin typeface="Open Sans" panose="020B0606030504020204" pitchFamily="34" charset="0"/>
              </a:rPr>
            </a:br>
            <a:endParaRPr lang="zh-CN" altLang="en-US" dirty="0"/>
          </a:p>
        </p:txBody>
      </p:sp>
      <p:pic>
        <p:nvPicPr>
          <p:cNvPr id="4" name="图片 3">
            <a:extLst>
              <a:ext uri="{FF2B5EF4-FFF2-40B4-BE49-F238E27FC236}">
                <a16:creationId xmlns:a16="http://schemas.microsoft.com/office/drawing/2014/main" id="{54F02072-D048-4BE5-AF78-5B3CE356D6D6}"/>
              </a:ext>
            </a:extLst>
          </p:cNvPr>
          <p:cNvPicPr>
            <a:picLocks noChangeAspect="1"/>
          </p:cNvPicPr>
          <p:nvPr/>
        </p:nvPicPr>
        <p:blipFill>
          <a:blip r:embed="rId2"/>
          <a:stretch>
            <a:fillRect/>
          </a:stretch>
        </p:blipFill>
        <p:spPr>
          <a:xfrm>
            <a:off x="205329" y="1123709"/>
            <a:ext cx="10410209" cy="4304818"/>
          </a:xfrm>
          <a:prstGeom prst="rect">
            <a:avLst/>
          </a:prstGeom>
        </p:spPr>
      </p:pic>
    </p:spTree>
    <p:extLst>
      <p:ext uri="{BB962C8B-B14F-4D97-AF65-F5344CB8AC3E}">
        <p14:creationId xmlns:p14="http://schemas.microsoft.com/office/powerpoint/2010/main" val="1702520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FEA1CB-7090-484D-82D3-058D9477130A}"/>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信息增益比</a:t>
            </a:r>
            <a:br>
              <a:rPr lang="zh-CN" altLang="en-US" b="1" i="0" dirty="0">
                <a:solidFill>
                  <a:srgbClr val="333333"/>
                </a:solidFill>
                <a:effectLst/>
                <a:latin typeface="Open Sans" panose="020B0606030504020204" pitchFamily="34" charset="0"/>
              </a:rPr>
            </a:br>
            <a:endParaRPr lang="zh-CN" altLang="en-US" dirty="0"/>
          </a:p>
        </p:txBody>
      </p:sp>
      <p:pic>
        <p:nvPicPr>
          <p:cNvPr id="4" name="图片 3">
            <a:extLst>
              <a:ext uri="{FF2B5EF4-FFF2-40B4-BE49-F238E27FC236}">
                <a16:creationId xmlns:a16="http://schemas.microsoft.com/office/drawing/2014/main" id="{A0584809-6393-404B-B28B-29E9DDA2FAFF}"/>
              </a:ext>
            </a:extLst>
          </p:cNvPr>
          <p:cNvPicPr>
            <a:picLocks noChangeAspect="1"/>
          </p:cNvPicPr>
          <p:nvPr/>
        </p:nvPicPr>
        <p:blipFill>
          <a:blip r:embed="rId2"/>
          <a:stretch>
            <a:fillRect/>
          </a:stretch>
        </p:blipFill>
        <p:spPr>
          <a:xfrm>
            <a:off x="1311424" y="991727"/>
            <a:ext cx="7637268" cy="5726073"/>
          </a:xfrm>
          <a:prstGeom prst="rect">
            <a:avLst/>
          </a:prstGeom>
        </p:spPr>
      </p:pic>
    </p:spTree>
    <p:extLst>
      <p:ext uri="{BB962C8B-B14F-4D97-AF65-F5344CB8AC3E}">
        <p14:creationId xmlns:p14="http://schemas.microsoft.com/office/powerpoint/2010/main" val="536159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E2AE56-AA5D-4D4A-AE77-D90B96A361A0}"/>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生成算法</a:t>
            </a:r>
            <a:br>
              <a:rPr lang="zh-CN" altLang="en-US" b="1" i="0" dirty="0">
                <a:solidFill>
                  <a:srgbClr val="333333"/>
                </a:solidFill>
                <a:effectLst/>
                <a:latin typeface="Open Sans" panose="020B0606030504020204" pitchFamily="34" charset="0"/>
              </a:rPr>
            </a:br>
            <a:endParaRPr lang="zh-CN" altLang="en-US" dirty="0"/>
          </a:p>
        </p:txBody>
      </p:sp>
      <p:sp>
        <p:nvSpPr>
          <p:cNvPr id="5" name="文本框 4">
            <a:extLst>
              <a:ext uri="{FF2B5EF4-FFF2-40B4-BE49-F238E27FC236}">
                <a16:creationId xmlns:a16="http://schemas.microsoft.com/office/drawing/2014/main" id="{D6C9424C-6117-44A2-9CC7-ACC20FD0AB97}"/>
              </a:ext>
            </a:extLst>
          </p:cNvPr>
          <p:cNvSpPr txBox="1"/>
          <p:nvPr/>
        </p:nvSpPr>
        <p:spPr>
          <a:xfrm>
            <a:off x="669881" y="1860646"/>
            <a:ext cx="10256619" cy="1754326"/>
          </a:xfrm>
          <a:prstGeom prst="rect">
            <a:avLst/>
          </a:prstGeom>
          <a:noFill/>
        </p:spPr>
        <p:txBody>
          <a:bodyPr wrap="square">
            <a:spAutoFit/>
          </a:bodyPr>
          <a:lstStyle/>
          <a:p>
            <a:r>
              <a:rPr lang="zh-CN" altLang="en-US" dirty="0"/>
              <a:t>决策树有两种常用的生成算法：</a:t>
            </a:r>
          </a:p>
          <a:p>
            <a:endParaRPr lang="zh-CN" altLang="en-US" dirty="0"/>
          </a:p>
          <a:p>
            <a:r>
              <a:rPr lang="zh-CN" altLang="en-US" dirty="0"/>
              <a:t>ID3 生成算法。</a:t>
            </a:r>
          </a:p>
          <a:p>
            <a:r>
              <a:rPr lang="zh-CN" altLang="en-US" dirty="0"/>
              <a:t>C4.5 生成算法。</a:t>
            </a:r>
          </a:p>
          <a:p>
            <a:r>
              <a:rPr lang="zh-CN" altLang="en-US" dirty="0"/>
              <a:t>ID3 生成算法和 C4.5 生成算法只有树的生成算法，生成的树容易产生过拟合：对训练集拟合得很好，但是预测测试集效果较差。</a:t>
            </a:r>
          </a:p>
        </p:txBody>
      </p:sp>
    </p:spTree>
    <p:extLst>
      <p:ext uri="{BB962C8B-B14F-4D97-AF65-F5344CB8AC3E}">
        <p14:creationId xmlns:p14="http://schemas.microsoft.com/office/powerpoint/2010/main" val="1119166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7FE3D2-9755-4994-BA67-96E7B98C26AB}"/>
              </a:ext>
            </a:extLst>
          </p:cNvPr>
          <p:cNvSpPr>
            <a:spLocks noGrp="1"/>
          </p:cNvSpPr>
          <p:nvPr>
            <p:ph type="title"/>
          </p:nvPr>
        </p:nvSpPr>
        <p:spPr/>
        <p:txBody>
          <a:bodyPr>
            <a:normAutofit fontScale="90000"/>
          </a:bodyPr>
          <a:lstStyle/>
          <a:p>
            <a:endParaRPr lang="zh-CN" altLang="en-US"/>
          </a:p>
        </p:txBody>
      </p:sp>
      <p:pic>
        <p:nvPicPr>
          <p:cNvPr id="3" name="图片 2">
            <a:extLst>
              <a:ext uri="{FF2B5EF4-FFF2-40B4-BE49-F238E27FC236}">
                <a16:creationId xmlns:a16="http://schemas.microsoft.com/office/drawing/2014/main" id="{5030BEDE-07C4-4C3F-B077-E26A09E8498D}"/>
              </a:ext>
            </a:extLst>
          </p:cNvPr>
          <p:cNvPicPr>
            <a:picLocks noChangeAspect="1"/>
          </p:cNvPicPr>
          <p:nvPr/>
        </p:nvPicPr>
        <p:blipFill>
          <a:blip r:embed="rId2"/>
          <a:stretch>
            <a:fillRect/>
          </a:stretch>
        </p:blipFill>
        <p:spPr>
          <a:xfrm>
            <a:off x="373464" y="138112"/>
            <a:ext cx="7648575" cy="6581775"/>
          </a:xfrm>
          <a:prstGeom prst="rect">
            <a:avLst/>
          </a:prstGeom>
        </p:spPr>
      </p:pic>
    </p:spTree>
    <p:extLst>
      <p:ext uri="{BB962C8B-B14F-4D97-AF65-F5344CB8AC3E}">
        <p14:creationId xmlns:p14="http://schemas.microsoft.com/office/powerpoint/2010/main" val="2867129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B59323-FB43-411C-AD60-32BCD5CF2026}"/>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剪枝算法</a:t>
            </a:r>
            <a:br>
              <a:rPr lang="zh-CN" altLang="en-US" b="1" i="0" dirty="0">
                <a:solidFill>
                  <a:srgbClr val="333333"/>
                </a:solidFill>
                <a:effectLst/>
                <a:latin typeface="Open Sans" panose="020B0606030504020204" pitchFamily="34" charset="0"/>
              </a:rPr>
            </a:br>
            <a:endParaRPr lang="zh-CN" altLang="en-US" dirty="0"/>
          </a:p>
        </p:txBody>
      </p:sp>
      <p:sp>
        <p:nvSpPr>
          <p:cNvPr id="4" name="文本框 3">
            <a:extLst>
              <a:ext uri="{FF2B5EF4-FFF2-40B4-BE49-F238E27FC236}">
                <a16:creationId xmlns:a16="http://schemas.microsoft.com/office/drawing/2014/main" id="{EEFD9A7B-3193-42AF-B800-A664AE2FD699}"/>
              </a:ext>
            </a:extLst>
          </p:cNvPr>
          <p:cNvSpPr txBox="1"/>
          <p:nvPr/>
        </p:nvSpPr>
        <p:spPr>
          <a:xfrm>
            <a:off x="167832" y="1249171"/>
            <a:ext cx="10399853" cy="2308324"/>
          </a:xfrm>
          <a:prstGeom prst="rect">
            <a:avLst/>
          </a:prstGeom>
          <a:noFill/>
        </p:spPr>
        <p:txBody>
          <a:bodyPr wrap="square">
            <a:spAutoFit/>
          </a:bodyPr>
          <a:lstStyle/>
          <a:p>
            <a:pPr algn="l">
              <a:buFont typeface="+mj-lt"/>
              <a:buAutoNum type="arabicPeriod"/>
            </a:pPr>
            <a:r>
              <a:rPr lang="zh-CN" altLang="en-US" b="0" i="0" dirty="0">
                <a:solidFill>
                  <a:srgbClr val="333333"/>
                </a:solidFill>
                <a:effectLst/>
                <a:latin typeface="Open Sans" panose="020B0606030504020204" pitchFamily="34" charset="0"/>
              </a:rPr>
              <a:t>决策树生成算法生成的树往往对于训练数据拟合很准确，但是对于未知的测试数据分类却没有那么准确。即出现过拟合现象。</a:t>
            </a:r>
          </a:p>
          <a:p>
            <a:pPr algn="l">
              <a:buFont typeface="+mj-lt"/>
              <a:buAutoNum type="arabicPeriod"/>
            </a:pPr>
            <a:r>
              <a:rPr lang="zh-CN" altLang="en-US" b="0" i="0" dirty="0">
                <a:solidFill>
                  <a:srgbClr val="333333"/>
                </a:solidFill>
                <a:effectLst/>
                <a:latin typeface="Open Sans" panose="020B0606030504020204" pitchFamily="34" charset="0"/>
              </a:rPr>
              <a:t>过拟合产生得原因是决策树太复杂。解决的办法是：对决策树剪枝，即对生成的决策树进行简化。</a:t>
            </a:r>
          </a:p>
          <a:p>
            <a:pPr algn="l">
              <a:buFont typeface="+mj-lt"/>
              <a:buAutoNum type="arabicPeriod"/>
            </a:pPr>
            <a:r>
              <a:rPr lang="zh-CN" altLang="en-US" b="0" i="0" dirty="0">
                <a:solidFill>
                  <a:srgbClr val="333333"/>
                </a:solidFill>
                <a:effectLst/>
                <a:latin typeface="Open Sans" panose="020B0606030504020204" pitchFamily="34" charset="0"/>
              </a:rPr>
              <a:t>决策树的剪枝是从已生成的树上裁掉一些子树或者叶结点，并将根结点或者其父结点作为新的叶结点。</a:t>
            </a:r>
          </a:p>
          <a:p>
            <a:pPr algn="l">
              <a:buFont typeface="+mj-lt"/>
              <a:buAutoNum type="arabicPeriod"/>
            </a:pPr>
            <a:r>
              <a:rPr lang="zh-CN" altLang="en-US" b="0" i="0" dirty="0">
                <a:solidFill>
                  <a:srgbClr val="333333"/>
                </a:solidFill>
                <a:effectLst/>
                <a:latin typeface="Open Sans" panose="020B0606030504020204" pitchFamily="34" charset="0"/>
              </a:rPr>
              <a:t>剪枝的依据是：极小化决策树的整体损失函数或者代价函数。</a:t>
            </a:r>
          </a:p>
          <a:p>
            <a:pPr algn="l">
              <a:buFont typeface="+mj-lt"/>
              <a:buAutoNum type="arabicPeriod"/>
            </a:pPr>
            <a:r>
              <a:rPr lang="zh-CN" altLang="en-US" b="0" i="0" dirty="0">
                <a:solidFill>
                  <a:srgbClr val="333333"/>
                </a:solidFill>
                <a:effectLst/>
                <a:latin typeface="Open Sans" panose="020B0606030504020204" pitchFamily="34" charset="0"/>
              </a:rPr>
              <a:t>决策树生成算法是学习局部的模型，决策树剪枝是学习整体的模型。即：生成算法仅考虑局部最优，而剪枝算法考虑全局最优。</a:t>
            </a:r>
          </a:p>
        </p:txBody>
      </p:sp>
    </p:spTree>
    <p:extLst>
      <p:ext uri="{BB962C8B-B14F-4D97-AF65-F5344CB8AC3E}">
        <p14:creationId xmlns:p14="http://schemas.microsoft.com/office/powerpoint/2010/main" val="2318724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C4E743-DEDC-43D7-BED0-E16D9BF2B92E}"/>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原理</a:t>
            </a:r>
            <a:br>
              <a:rPr lang="zh-CN" altLang="en-US" b="1" i="0" dirty="0">
                <a:solidFill>
                  <a:srgbClr val="333333"/>
                </a:solidFill>
                <a:effectLst/>
                <a:latin typeface="Open Sans" panose="020B0606030504020204" pitchFamily="34" charset="0"/>
              </a:rPr>
            </a:br>
            <a:endParaRPr lang="zh-CN" altLang="en-US" dirty="0"/>
          </a:p>
        </p:txBody>
      </p:sp>
      <p:pic>
        <p:nvPicPr>
          <p:cNvPr id="4" name="图片 3">
            <a:extLst>
              <a:ext uri="{FF2B5EF4-FFF2-40B4-BE49-F238E27FC236}">
                <a16:creationId xmlns:a16="http://schemas.microsoft.com/office/drawing/2014/main" id="{E699ED80-95FE-4667-942F-8FED487E9EB8}"/>
              </a:ext>
            </a:extLst>
          </p:cNvPr>
          <p:cNvPicPr>
            <a:picLocks noChangeAspect="1"/>
          </p:cNvPicPr>
          <p:nvPr/>
        </p:nvPicPr>
        <p:blipFill>
          <a:blip r:embed="rId2"/>
          <a:stretch>
            <a:fillRect/>
          </a:stretch>
        </p:blipFill>
        <p:spPr>
          <a:xfrm>
            <a:off x="329335" y="885195"/>
            <a:ext cx="9057733" cy="5719286"/>
          </a:xfrm>
          <a:prstGeom prst="rect">
            <a:avLst/>
          </a:prstGeom>
        </p:spPr>
      </p:pic>
    </p:spTree>
    <p:extLst>
      <p:ext uri="{BB962C8B-B14F-4D97-AF65-F5344CB8AC3E}">
        <p14:creationId xmlns:p14="http://schemas.microsoft.com/office/powerpoint/2010/main" val="2040923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48BDDE-45E9-4B46-8D24-0786E7E74DDA}"/>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原理</a:t>
            </a:r>
            <a:endParaRPr lang="zh-CN" altLang="en-US" dirty="0"/>
          </a:p>
        </p:txBody>
      </p:sp>
      <p:pic>
        <p:nvPicPr>
          <p:cNvPr id="4" name="图片 3">
            <a:extLst>
              <a:ext uri="{FF2B5EF4-FFF2-40B4-BE49-F238E27FC236}">
                <a16:creationId xmlns:a16="http://schemas.microsoft.com/office/drawing/2014/main" id="{EE866741-AAA2-4D57-A90D-3928C3E6C8D3}"/>
              </a:ext>
            </a:extLst>
          </p:cNvPr>
          <p:cNvPicPr>
            <a:picLocks noChangeAspect="1"/>
          </p:cNvPicPr>
          <p:nvPr/>
        </p:nvPicPr>
        <p:blipFill>
          <a:blip r:embed="rId2"/>
          <a:stretch>
            <a:fillRect/>
          </a:stretch>
        </p:blipFill>
        <p:spPr>
          <a:xfrm>
            <a:off x="236799" y="1381608"/>
            <a:ext cx="8153400" cy="1733550"/>
          </a:xfrm>
          <a:prstGeom prst="rect">
            <a:avLst/>
          </a:prstGeom>
        </p:spPr>
      </p:pic>
    </p:spTree>
    <p:extLst>
      <p:ext uri="{BB962C8B-B14F-4D97-AF65-F5344CB8AC3E}">
        <p14:creationId xmlns:p14="http://schemas.microsoft.com/office/powerpoint/2010/main" val="3853373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5C670C-069D-4BE0-BEFB-1196AC664124}"/>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算法</a:t>
            </a:r>
            <a:br>
              <a:rPr lang="zh-CN" altLang="en-US" b="1" i="0" dirty="0">
                <a:solidFill>
                  <a:srgbClr val="333333"/>
                </a:solidFill>
                <a:effectLst/>
                <a:latin typeface="Open Sans" panose="020B0606030504020204" pitchFamily="34" charset="0"/>
              </a:rPr>
            </a:br>
            <a:endParaRPr lang="zh-CN" altLang="en-US" dirty="0"/>
          </a:p>
        </p:txBody>
      </p:sp>
      <p:pic>
        <p:nvPicPr>
          <p:cNvPr id="4" name="图片 3">
            <a:extLst>
              <a:ext uri="{FF2B5EF4-FFF2-40B4-BE49-F238E27FC236}">
                <a16:creationId xmlns:a16="http://schemas.microsoft.com/office/drawing/2014/main" id="{F45D3CDA-4761-491F-9260-A82A7E684708}"/>
              </a:ext>
            </a:extLst>
          </p:cNvPr>
          <p:cNvPicPr>
            <a:picLocks noChangeAspect="1"/>
          </p:cNvPicPr>
          <p:nvPr/>
        </p:nvPicPr>
        <p:blipFill>
          <a:blip r:embed="rId2"/>
          <a:stretch>
            <a:fillRect/>
          </a:stretch>
        </p:blipFill>
        <p:spPr>
          <a:xfrm>
            <a:off x="82047" y="991022"/>
            <a:ext cx="9458325" cy="5131986"/>
          </a:xfrm>
          <a:prstGeom prst="rect">
            <a:avLst/>
          </a:prstGeom>
        </p:spPr>
      </p:pic>
    </p:spTree>
    <p:extLst>
      <p:ext uri="{BB962C8B-B14F-4D97-AF65-F5344CB8AC3E}">
        <p14:creationId xmlns:p14="http://schemas.microsoft.com/office/powerpoint/2010/main" val="776820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37ABDD-9B91-44B0-AF65-DDCDA6FD6AE1}"/>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连续值、缺失值处理</a:t>
            </a:r>
            <a:br>
              <a:rPr lang="zh-CN" altLang="en-US" b="1" i="0" dirty="0">
                <a:solidFill>
                  <a:srgbClr val="333333"/>
                </a:solidFill>
                <a:effectLst/>
                <a:latin typeface="Open Sans" panose="020B0606030504020204" pitchFamily="34" charset="0"/>
              </a:rPr>
            </a:br>
            <a:endParaRPr lang="zh-CN" altLang="en-US" dirty="0"/>
          </a:p>
        </p:txBody>
      </p:sp>
      <p:sp>
        <p:nvSpPr>
          <p:cNvPr id="4" name="文本框 3">
            <a:extLst>
              <a:ext uri="{FF2B5EF4-FFF2-40B4-BE49-F238E27FC236}">
                <a16:creationId xmlns:a16="http://schemas.microsoft.com/office/drawing/2014/main" id="{D4808E80-6C68-4689-9A5C-5E8144A6BB78}"/>
              </a:ext>
            </a:extLst>
          </p:cNvPr>
          <p:cNvSpPr txBox="1"/>
          <p:nvPr/>
        </p:nvSpPr>
        <p:spPr>
          <a:xfrm>
            <a:off x="468774" y="1117485"/>
            <a:ext cx="6099858" cy="369332"/>
          </a:xfrm>
          <a:prstGeom prst="rect">
            <a:avLst/>
          </a:prstGeom>
          <a:noFill/>
        </p:spPr>
        <p:txBody>
          <a:bodyPr wrap="square">
            <a:spAutoFit/>
          </a:bodyPr>
          <a:lstStyle/>
          <a:p>
            <a:pPr algn="l"/>
            <a:r>
              <a:rPr lang="zh-CN" altLang="en-US" b="1" i="0" dirty="0">
                <a:solidFill>
                  <a:srgbClr val="333333"/>
                </a:solidFill>
                <a:effectLst/>
                <a:latin typeface="Open Sans" panose="020B0606030504020204" pitchFamily="34" charset="0"/>
              </a:rPr>
              <a:t>连续值</a:t>
            </a:r>
          </a:p>
        </p:txBody>
      </p:sp>
      <p:pic>
        <p:nvPicPr>
          <p:cNvPr id="6" name="图片 5">
            <a:extLst>
              <a:ext uri="{FF2B5EF4-FFF2-40B4-BE49-F238E27FC236}">
                <a16:creationId xmlns:a16="http://schemas.microsoft.com/office/drawing/2014/main" id="{5E27035B-A8EB-4E76-83C5-444C44154063}"/>
              </a:ext>
            </a:extLst>
          </p:cNvPr>
          <p:cNvPicPr>
            <a:picLocks noChangeAspect="1"/>
          </p:cNvPicPr>
          <p:nvPr/>
        </p:nvPicPr>
        <p:blipFill>
          <a:blip r:embed="rId2"/>
          <a:stretch>
            <a:fillRect/>
          </a:stretch>
        </p:blipFill>
        <p:spPr>
          <a:xfrm>
            <a:off x="468774" y="1486817"/>
            <a:ext cx="8696325" cy="3619500"/>
          </a:xfrm>
          <a:prstGeom prst="rect">
            <a:avLst/>
          </a:prstGeom>
        </p:spPr>
      </p:pic>
    </p:spTree>
    <p:extLst>
      <p:ext uri="{BB962C8B-B14F-4D97-AF65-F5344CB8AC3E}">
        <p14:creationId xmlns:p14="http://schemas.microsoft.com/office/powerpoint/2010/main" val="134190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35050A-E706-4747-8B43-1858D126AA3E}"/>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连续值、缺失值处理</a:t>
            </a:r>
            <a:endParaRPr lang="zh-CN" altLang="en-US" dirty="0"/>
          </a:p>
        </p:txBody>
      </p:sp>
      <p:sp>
        <p:nvSpPr>
          <p:cNvPr id="4" name="文本框 3">
            <a:extLst>
              <a:ext uri="{FF2B5EF4-FFF2-40B4-BE49-F238E27FC236}">
                <a16:creationId xmlns:a16="http://schemas.microsoft.com/office/drawing/2014/main" id="{53C73824-E721-4DA2-8615-35D3E129B0CE}"/>
              </a:ext>
            </a:extLst>
          </p:cNvPr>
          <p:cNvSpPr txBox="1"/>
          <p:nvPr/>
        </p:nvSpPr>
        <p:spPr>
          <a:xfrm>
            <a:off x="584521" y="1105910"/>
            <a:ext cx="6099858" cy="369332"/>
          </a:xfrm>
          <a:prstGeom prst="rect">
            <a:avLst/>
          </a:prstGeom>
          <a:noFill/>
        </p:spPr>
        <p:txBody>
          <a:bodyPr wrap="square">
            <a:spAutoFit/>
          </a:bodyPr>
          <a:lstStyle/>
          <a:p>
            <a:pPr algn="l"/>
            <a:r>
              <a:rPr lang="zh-CN" altLang="en-US" b="1" i="0" dirty="0">
                <a:solidFill>
                  <a:srgbClr val="333333"/>
                </a:solidFill>
                <a:effectLst/>
                <a:latin typeface="Open Sans" panose="020B0606030504020204" pitchFamily="34" charset="0"/>
              </a:rPr>
              <a:t>缺失值</a:t>
            </a:r>
          </a:p>
        </p:txBody>
      </p:sp>
      <p:sp>
        <p:nvSpPr>
          <p:cNvPr id="6" name="文本框 5">
            <a:extLst>
              <a:ext uri="{FF2B5EF4-FFF2-40B4-BE49-F238E27FC236}">
                <a16:creationId xmlns:a16="http://schemas.microsoft.com/office/drawing/2014/main" id="{6214CBCE-16F2-44F4-8DEB-5B2ABEA32E65}"/>
              </a:ext>
            </a:extLst>
          </p:cNvPr>
          <p:cNvSpPr txBox="1"/>
          <p:nvPr/>
        </p:nvSpPr>
        <p:spPr>
          <a:xfrm>
            <a:off x="584521" y="1695958"/>
            <a:ext cx="10341980" cy="2308324"/>
          </a:xfrm>
          <a:prstGeom prst="rect">
            <a:avLst/>
          </a:prstGeom>
          <a:noFill/>
        </p:spPr>
        <p:txBody>
          <a:bodyPr wrap="square">
            <a:spAutoFit/>
          </a:bodyPr>
          <a:lstStyle/>
          <a:p>
            <a:r>
              <a:rPr lang="zh-CN" altLang="en-US" dirty="0"/>
              <a:t>现实任务中经常会遇到不完整样本，即样本的某些属性值缺失。</a:t>
            </a:r>
          </a:p>
          <a:p>
            <a:endParaRPr lang="zh-CN" altLang="en-US" dirty="0"/>
          </a:p>
          <a:p>
            <a:r>
              <a:rPr lang="zh-CN" altLang="en-US" dirty="0"/>
              <a:t>如果简单地放弃不完整样本，仅使用无缺失值的样本来进行学习，则是对数据信息的极大浪费。</a:t>
            </a:r>
          </a:p>
          <a:p>
            <a:endParaRPr lang="zh-CN" altLang="en-US" dirty="0"/>
          </a:p>
          <a:p>
            <a:r>
              <a:rPr lang="zh-CN" altLang="en-US" dirty="0"/>
              <a:t>这里有两个问题：</a:t>
            </a:r>
          </a:p>
          <a:p>
            <a:endParaRPr lang="zh-CN" altLang="en-US" dirty="0"/>
          </a:p>
          <a:p>
            <a:r>
              <a:rPr lang="zh-CN" altLang="en-US" dirty="0"/>
              <a:t>如何在属性值缺失的情况下选择划分属性？</a:t>
            </a:r>
          </a:p>
          <a:p>
            <a:r>
              <a:rPr lang="zh-CN" altLang="en-US" dirty="0"/>
              <a:t>给定划分属性，如果样本在该属性上的值缺失，则如何划分样本？</a:t>
            </a:r>
          </a:p>
        </p:txBody>
      </p:sp>
    </p:spTree>
    <p:extLst>
      <p:ext uri="{BB962C8B-B14F-4D97-AF65-F5344CB8AC3E}">
        <p14:creationId xmlns:p14="http://schemas.microsoft.com/office/powerpoint/2010/main" val="901951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325C75-9014-431C-BDB0-5ED49AE4854F}"/>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划分属性选择</a:t>
            </a:r>
            <a:br>
              <a:rPr lang="zh-CN" altLang="en-US" b="1" i="0" dirty="0">
                <a:solidFill>
                  <a:srgbClr val="333333"/>
                </a:solidFill>
                <a:effectLst/>
                <a:latin typeface="Open Sans" panose="020B0606030504020204" pitchFamily="34" charset="0"/>
              </a:rPr>
            </a:br>
            <a:endParaRPr lang="zh-CN" altLang="en-US" dirty="0"/>
          </a:p>
        </p:txBody>
      </p:sp>
      <p:pic>
        <p:nvPicPr>
          <p:cNvPr id="4" name="图片 3">
            <a:extLst>
              <a:ext uri="{FF2B5EF4-FFF2-40B4-BE49-F238E27FC236}">
                <a16:creationId xmlns:a16="http://schemas.microsoft.com/office/drawing/2014/main" id="{2A3882E9-6903-449C-9361-64D9B9602099}"/>
              </a:ext>
            </a:extLst>
          </p:cNvPr>
          <p:cNvPicPr>
            <a:picLocks noChangeAspect="1"/>
          </p:cNvPicPr>
          <p:nvPr/>
        </p:nvPicPr>
        <p:blipFill>
          <a:blip r:embed="rId2"/>
          <a:stretch>
            <a:fillRect/>
          </a:stretch>
        </p:blipFill>
        <p:spPr>
          <a:xfrm>
            <a:off x="798990" y="885195"/>
            <a:ext cx="7705818" cy="5606860"/>
          </a:xfrm>
          <a:prstGeom prst="rect">
            <a:avLst/>
          </a:prstGeom>
        </p:spPr>
      </p:pic>
    </p:spTree>
    <p:extLst>
      <p:ext uri="{BB962C8B-B14F-4D97-AF65-F5344CB8AC3E}">
        <p14:creationId xmlns:p14="http://schemas.microsoft.com/office/powerpoint/2010/main" val="2154310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F9B009-FDAF-4B13-960C-9C9143C06153}"/>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样本划分</a:t>
            </a:r>
            <a:br>
              <a:rPr lang="zh-CN" altLang="en-US" b="1" i="0" dirty="0">
                <a:solidFill>
                  <a:srgbClr val="333333"/>
                </a:solidFill>
                <a:effectLst/>
                <a:latin typeface="Open Sans" panose="020B0606030504020204" pitchFamily="34" charset="0"/>
              </a:rPr>
            </a:br>
            <a:endParaRPr lang="zh-CN" altLang="en-US" dirty="0"/>
          </a:p>
        </p:txBody>
      </p:sp>
      <p:pic>
        <p:nvPicPr>
          <p:cNvPr id="5" name="图片 4">
            <a:extLst>
              <a:ext uri="{FF2B5EF4-FFF2-40B4-BE49-F238E27FC236}">
                <a16:creationId xmlns:a16="http://schemas.microsoft.com/office/drawing/2014/main" id="{4296A7E7-CF1D-4C8D-A0B1-4BAA579CE9A9}"/>
              </a:ext>
            </a:extLst>
          </p:cNvPr>
          <p:cNvPicPr>
            <a:picLocks noChangeAspect="1"/>
          </p:cNvPicPr>
          <p:nvPr/>
        </p:nvPicPr>
        <p:blipFill>
          <a:blip r:embed="rId2"/>
          <a:stretch>
            <a:fillRect/>
          </a:stretch>
        </p:blipFill>
        <p:spPr>
          <a:xfrm>
            <a:off x="338680" y="1180135"/>
            <a:ext cx="8897917" cy="5035470"/>
          </a:xfrm>
          <a:prstGeom prst="rect">
            <a:avLst/>
          </a:prstGeom>
        </p:spPr>
      </p:pic>
    </p:spTree>
    <p:extLst>
      <p:ext uri="{BB962C8B-B14F-4D97-AF65-F5344CB8AC3E}">
        <p14:creationId xmlns:p14="http://schemas.microsoft.com/office/powerpoint/2010/main" val="3839232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4DB4E7-8222-4ED1-8034-B72BA3880D3E}"/>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多变量决策树</a:t>
            </a:r>
            <a:br>
              <a:rPr lang="zh-CN" altLang="en-US" b="1" i="0" dirty="0">
                <a:solidFill>
                  <a:srgbClr val="333333"/>
                </a:solidFill>
                <a:effectLst/>
                <a:latin typeface="Open Sans" panose="020B0606030504020204" pitchFamily="34" charset="0"/>
              </a:rPr>
            </a:br>
            <a:endParaRPr lang="zh-CN" altLang="en-US" dirty="0"/>
          </a:p>
        </p:txBody>
      </p:sp>
      <p:pic>
        <p:nvPicPr>
          <p:cNvPr id="4" name="图片 3">
            <a:extLst>
              <a:ext uri="{FF2B5EF4-FFF2-40B4-BE49-F238E27FC236}">
                <a16:creationId xmlns:a16="http://schemas.microsoft.com/office/drawing/2014/main" id="{4149077D-1EF7-48D2-BC2F-264C7FEE4B29}"/>
              </a:ext>
            </a:extLst>
          </p:cNvPr>
          <p:cNvPicPr>
            <a:picLocks noChangeAspect="1"/>
          </p:cNvPicPr>
          <p:nvPr/>
        </p:nvPicPr>
        <p:blipFill>
          <a:blip r:embed="rId2"/>
          <a:stretch>
            <a:fillRect/>
          </a:stretch>
        </p:blipFill>
        <p:spPr>
          <a:xfrm>
            <a:off x="787078" y="1045580"/>
            <a:ext cx="9410218" cy="5633012"/>
          </a:xfrm>
          <a:prstGeom prst="rect">
            <a:avLst/>
          </a:prstGeom>
        </p:spPr>
      </p:pic>
    </p:spTree>
    <p:extLst>
      <p:ext uri="{BB962C8B-B14F-4D97-AF65-F5344CB8AC3E}">
        <p14:creationId xmlns:p14="http://schemas.microsoft.com/office/powerpoint/2010/main" val="2544782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2"/>
            </p:custDataLst>
          </p:nvPr>
        </p:nvSpPr>
        <p:spPr/>
        <p:txBody>
          <a:bodyPr/>
          <a:lstStyle/>
          <a:p>
            <a:r>
              <a:rPr lang="en-US" altLang="zh-CN" dirty="0"/>
              <a:t>THANKS</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884"/>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88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3884"/>
  <p:tag name="KSO_WM_TEMPLATE_MASTER_THUMB_INDEX" val="12"/>
  <p:tag name="KSO_WM_TEMPLATE_THUMBS_INDEX" val="1、4、7、8、11、14、15、16、17、18、19、20、21、22、23、24、25、26"/>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_1*y*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4"/>
  <p:tag name="KSO_WM_UNIT_ID" val="_1*y*4"/>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2"/>
  <p:tag name="KSO_WM_UNIT_ID" val="_1*y*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3"/>
  <p:tag name="KSO_WM_UNIT_ID" val="_1*y*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1"/>
  <p:tag name="KSO_WM_UNIT_LAYERLEVEL" val="1"/>
  <p:tag name="KSO_WM_TAG_VERSION" val="1.0"/>
  <p:tag name="KSO_WM_BEAUTIFY_FLAG" val="#wm#"/>
  <p:tag name="KSO_WM_UNIT_TYPE" val="i"/>
  <p:tag name="KSO_WM_UNIT_INDEX"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5"/>
  <p:tag name="KSO_WM_UNIT_LAYERLEVEL" val="1"/>
  <p:tag name="KSO_WM_TAG_VERSION" val="1.0"/>
  <p:tag name="KSO_WM_BEAUTIFY_FLAG" val="#wm#"/>
  <p:tag name="KSO_WM_UNIT_TYPE" val="i"/>
  <p:tag name="KSO_WM_UNIT_INDEX" val="5"/>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2"/>
  <p:tag name="KSO_WM_UNIT_LAYERLEVEL" val="1"/>
  <p:tag name="KSO_WM_TAG_VERSION" val="1.0"/>
  <p:tag name="KSO_WM_BEAUTIFY_FLAG" val="#wm#"/>
  <p:tag name="KSO_WM_UNIT_TYPE" val="i"/>
  <p:tag name="KSO_WM_UNIT_INDEX" val="2"/>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3"/>
  <p:tag name="KSO_WM_UNIT_LAYERLEVEL" val="1"/>
  <p:tag name="KSO_WM_TAG_VERSION" val="1.0"/>
  <p:tag name="KSO_WM_BEAUTIFY_FLAG" val="#wm#"/>
  <p:tag name="KSO_WM_UNIT_TYPE" val="i"/>
  <p:tag name="KSO_WM_UNIT_INDEX" val="3"/>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4"/>
  <p:tag name="KSO_WM_UNIT_LAYERLEVEL" val="1"/>
  <p:tag name="KSO_WM_TAG_VERSION" val="1.0"/>
  <p:tag name="KSO_WM_BEAUTIFY_FLAG" val="#wm#"/>
  <p:tag name="KSO_WM_UNIT_TYPE" val="i"/>
  <p:tag name="KSO_WM_UNIT_INDEX" val="4"/>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2*i*3"/>
  <p:tag name="KSO_WM_UNIT_LAYERLEVEL" val="1"/>
  <p:tag name="KSO_WM_TAG_VERSION" val="1.0"/>
  <p:tag name="KSO_WM_BEAUTIFY_FLAG" val="#wm#"/>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2*i*4"/>
  <p:tag name="KSO_WM_UNIT_LAYERLEVEL" val="1"/>
  <p:tag name="KSO_WM_TAG_VERSION" val="1.0"/>
  <p:tag name="KSO_WM_BEAUTIFY_FLAG" val="#wm#"/>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3*i*2"/>
  <p:tag name="KSO_WM_UNIT_LAYERLEVEL" val="1"/>
  <p:tag name="KSO_WM_TAG_VERSION" val="1.0"/>
  <p:tag name="KSO_WM_BEAUTIFY_FLAG" val="#wm#"/>
  <p:tag name="KSO_WM_SLIDE_BACKGROUND_TYPE" val="frame"/>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3*i*4"/>
  <p:tag name="KSO_WM_UNIT_LAYERLEVEL" val="1"/>
  <p:tag name="KSO_WM_TAG_VERSION" val="1.0"/>
  <p:tag name="KSO_WM_BEAUTIFY_FLAG" val="#wm#"/>
  <p:tag name="KSO_WM_SLIDE_BACKGROUND_TYPE" val="frame"/>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3*i*4"/>
  <p:tag name="KSO_WM_UNIT_LAYERLEVEL" val="1"/>
  <p:tag name="KSO_WM_TAG_VERSION" val="1.0"/>
  <p:tag name="KSO_WM_BEAUTIFY_FLAG" val="#wm#"/>
  <p:tag name="KSO_WM_SLIDE_BACKGROUND_TYPE" val="frame"/>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4*i*5"/>
  <p:tag name="KSO_WM_UNIT_LAYERLEVEL" val="1"/>
  <p:tag name="KSO_WM_TAG_VERSION" val="1.0"/>
  <p:tag name="KSO_WM_BEAUTIFY_FLAG" val="#wm#"/>
  <p:tag name="KSO_WM_SLIDE_BACKGROUND_TYPE" val="leftRight"/>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UNIT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4*i*2"/>
  <p:tag name="KSO_WM_UNIT_LAYERLEVEL" val="1"/>
  <p:tag name="KSO_WM_TAG_VERSION" val="1.0"/>
  <p:tag name="KSO_WM_BEAUTIFY_FLAG" val="#wm#"/>
  <p:tag name="KSO_WM_SLIDE_BACKGROUND_TYPE" val="leftRight"/>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4*i*3"/>
  <p:tag name="KSO_WM_UNIT_LAYERLEVEL" val="1"/>
  <p:tag name="KSO_WM_TAG_VERSION" val="1.0"/>
  <p:tag name="KSO_WM_BEAUTIFY_FLAG" val="#wm#"/>
  <p:tag name="KSO_WM_SLIDE_BACKGROUND_TYPE" val="leftRight"/>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5*i*2"/>
  <p:tag name="KSO_WM_UNIT_LAYERLEVEL" val="1"/>
  <p:tag name="KSO_WM_TAG_VERSION" val="1.0"/>
  <p:tag name="KSO_WM_BEAUTIFY_FLAG" val="#wm#"/>
  <p:tag name="KSO_WM_SLIDE_BACKGROUND_TYPE" val="topBotto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5*i*3"/>
  <p:tag name="KSO_WM_UNIT_LAYERLEVEL" val="1"/>
  <p:tag name="KSO_WM_TAG_VERSION" val="1.0"/>
  <p:tag name="KSO_WM_BEAUTIFY_FLAG" val="#wm#"/>
  <p:tag name="KSO_WM_SLIDE_BACKGROUND_TYPE" val="topBotto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5*i*4"/>
  <p:tag name="KSO_WM_UNIT_LAYERLEVEL" val="1"/>
  <p:tag name="KSO_WM_TAG_VERSION" val="1.0"/>
  <p:tag name="KSO_WM_BEAUTIFY_FLAG" val="#wm#"/>
  <p:tag name="KSO_WM_SLIDE_BACKGROUND_TYPE" val="topBotto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UNIT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6*i*4"/>
  <p:tag name="KSO_WM_UNIT_LAYERLEVEL" val="1"/>
  <p:tag name="KSO_WM_TAG_VERSION" val="1.0"/>
  <p:tag name="KSO_WM_BEAUTIFY_FLAG" val="#wm#"/>
  <p:tag name="KSO_WM_SLIDE_BACKGROUND_TYPE" val="bottomTop"/>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UNIT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 name="KSO_WM_SLIDE_BACKGROUND_TYPE" val="bottomTop"/>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 name="KSO_WM_SLIDE_BACKGROUND_TYPE" val="bottomTop"/>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 name="KSO_WM_SLIDE_BACKGROUND_TYPE" val="navigation"/>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 name="KSO_WM_SLIDE_BACKGROUND_TYPE" val="navigation"/>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7*i*4"/>
  <p:tag name="KSO_WM_UNIT_LAYERLEVEL" val="1"/>
  <p:tag name="KSO_WM_TAG_VERSION" val="1.0"/>
  <p:tag name="KSO_WM_BEAUTIFY_FLAG" val="#wm#"/>
  <p:tag name="KSO_WM_SLIDE_BACKGROUND_TYPE" val="navigation"/>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UNIT_BK_DARK_LIGHT" val="2"/>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59.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60.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8*i*1"/>
  <p:tag name="KSO_WM_UNIT_LAYERLEVEL" val="1"/>
  <p:tag name="KSO_WM_TAG_VERSION" val="1.0"/>
  <p:tag name="KSO_WM_BEAUTIFY_FLAG" val="#wm#"/>
  <p:tag name="KSO_WM_SLIDE_BACKGROUND_TYPE" val="belt"/>
  <p:tag name="KSO_WM_SLIDE_BK_DARK_LIGHT" val="2"/>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8*i*2"/>
  <p:tag name="KSO_WM_UNIT_LAYERLEVEL" val="1"/>
  <p:tag name="KSO_WM_TAG_VERSION" val="1.0"/>
  <p:tag name="KSO_WM_BEAUTIFY_FLAG" val="#wm#"/>
  <p:tag name="KSO_WM_SLIDE_BACKGROUND_TYPE" val="belt"/>
  <p:tag name="KSO_WM_SLIDE_BK_DARK_LIGHT" val="2"/>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8*i*1"/>
  <p:tag name="KSO_WM_UNIT_LAYERLEVEL" val="1"/>
  <p:tag name="KSO_WM_TAG_VERSION" val="1.0"/>
  <p:tag name="KSO_WM_BEAUTIFY_FLAG" val="#wm#"/>
  <p:tag name="KSO_WM_SLIDE_BACKGROUND_TYPE" val="belt"/>
  <p:tag name="KSO_WM_SLIDE_BK_DARK_LIGHT" val="2"/>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8*i*2"/>
  <p:tag name="KSO_WM_UNIT_LAYERLEVEL" val="1"/>
  <p:tag name="KSO_WM_TAG_VERSION" val="1.0"/>
  <p:tag name="KSO_WM_BEAUTIFY_FLAG" val="#wm#"/>
  <p:tag name="KSO_WM_SLIDE_BACKGROUND_TYPE" val="belt"/>
  <p:tag name="KSO_WM_SLIDE_BK_DARK_LIGHT" val="2"/>
</p:tagLst>
</file>

<file path=ppt/tags/tag170.xml><?xml version="1.0" encoding="utf-8"?>
<p:tagLst xmlns:a="http://schemas.openxmlformats.org/drawingml/2006/main" xmlns:r="http://schemas.openxmlformats.org/officeDocument/2006/relationships" xmlns:p="http://schemas.openxmlformats.org/presentationml/2006/main">
  <p:tag name="KSO_WM_SLIDE_ID" val="custom20203884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3884"/>
  <p:tag name="KSO_WM_SLIDE_LAYOUT" val="a_b"/>
  <p:tag name="KSO_WM_SLIDE_LAYOUT_CNT" val="1_3"/>
  <p:tag name="KSO_WM_TEMPLATE_THUMBS_INDEX" val="1、4、7、8、11、14、15、16、17、18、19、20、21、22、23、24、25、26"/>
  <p:tag name="KSO_WM_TEMPLATE_MASTER_THUMB_INDEX" val="12"/>
  <p:tag name="KSO_WM_SLIDE_MODEL_TYPE" val="cover"/>
</p:tagLst>
</file>

<file path=ppt/tags/tag17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3884_1*a*1"/>
  <p:tag name="KSO_WM_TEMPLATE_CATEGORY" val="custom"/>
  <p:tag name="KSO_WM_TEMPLATE_INDEX" val="20203884"/>
  <p:tag name="KSO_WM_UNIT_LAYERLEVEL" val="1"/>
  <p:tag name="KSO_WM_TAG_VERSION" val="1.0"/>
  <p:tag name="KSO_WM_BEAUTIFY_FLAG" val="#wm#"/>
  <p:tag name="KSO_WM_UNIT_PRESET_TEXT" val="简约工作汇报模板"/>
  <p:tag name="KSO_WM_UNIT_ISNUMDGMTITLE" val="0"/>
</p:tagLst>
</file>

<file path=ppt/tags/tag17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汇报人姓名"/>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2"/>
  <p:tag name="KSO_WM_UNIT_ID" val="custom20203884_1*b*2"/>
  <p:tag name="KSO_WM_TEMPLATE_CATEGORY" val="custom"/>
  <p:tag name="KSO_WM_TEMPLATE_INDEX" val="20203884"/>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03884_4"/>
  <p:tag name="KSO_WM_TEMPLATE_SUBCATEGORY" val="0"/>
  <p:tag name="KSO_WM_TEMPLATE_MASTER_TYPE" val="1"/>
  <p:tag name="KSO_WM_TEMPLATE_COLOR_TYPE" val="1"/>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3884"/>
  <p:tag name="KSO_WM_SLIDE_LAYOUT" val="a_l"/>
  <p:tag name="KSO_WM_SLIDE_LAYOUT_CNT" val="1_1"/>
  <p:tag name="KSO_WM_SLIDE_TYPE" val="contents"/>
  <p:tag name="KSO_WM_SLIDE_SUBTYPE" val="diag"/>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1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1_1"/>
  <p:tag name="KSO_WM_UNIT_TEXT_FILL_FORE_SCHEMECOLOR_INDEX" val="5"/>
  <p:tag name="KSO_WM_UNIT_TEXT_FILL_TYPE" val="1"/>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1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1_1"/>
  <p:tag name="KSO_WM_UNIT_PRESET_TEXT" val="单击此处添加标题"/>
  <p:tag name="KSO_WM_UNIT_TEXT_FILL_FORE_SCHEMECOLOR_INDEX" val="13"/>
  <p:tag name="KSO_WM_UNIT_TEXT_FILL_TYPE" val="1"/>
  <p:tag name="KSO_WM_UNIT_USESOURCEFORMAT_APPLY" val="1"/>
  <p:tag name="KSO_WM_UNIT_ISNUMDGMTITLE" val="0"/>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3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3_1"/>
  <p:tag name="KSO_WM_UNIT_TEXT_FILL_FORE_SCHEMECOLOR_INDEX" val="5"/>
  <p:tag name="KSO_WM_UNIT_TEXT_FILL_TYPE" val="1"/>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3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3_1"/>
  <p:tag name="KSO_WM_UNIT_PRESET_TEXT" val="单击此处添加标题"/>
  <p:tag name="KSO_WM_UNIT_TEXT_FILL_FORE_SCHEMECOLOR_INDEX" val="13"/>
  <p:tag name="KSO_WM_UNIT_TEXT_FILL_TYPE" val="1"/>
  <p:tag name="KSO_WM_UNIT_USESOURCEFORMAT_APPLY" val="1"/>
  <p:tag name="KSO_WM_UNIT_VALUE" val="10"/>
  <p:tag name="KSO_WM_UNIT_ISNUMDGMTITLE" val="0"/>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2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2_1"/>
  <p:tag name="KSO_WM_UNIT_TEXT_FILL_FORE_SCHEMECOLOR_INDEX" val="5"/>
  <p:tag name="KSO_WM_UNIT_TEXT_FILL_TYPE" val="1"/>
  <p:tag name="KSO_WM_UNIT_USESOURCEFORMAT_APPLY" val="1"/>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2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2_1"/>
  <p:tag name="KSO_WM_UNIT_PRESET_TEXT" val="单击此处添加标题"/>
  <p:tag name="KSO_WM_UNIT_TEXT_FILL_FORE_SCHEMECOLOR_INDEX" val="13"/>
  <p:tag name="KSO_WM_UNIT_TEXT_FILL_TYPE" val="1"/>
  <p:tag name="KSO_WM_UNIT_USESOURCEFORMAT_APPLY" val="1"/>
  <p:tag name="KSO_WM_UNIT_VALUE" val="10"/>
  <p:tag name="KSO_WM_UNIT_ISNUMDGMTITLE" val="0"/>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4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4_1"/>
  <p:tag name="KSO_WM_UNIT_TEXT_FILL_FORE_SCHEMECOLOR_INDEX" val="5"/>
  <p:tag name="KSO_WM_UNIT_TEXT_FILL_TYPE" val="1"/>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4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4_1"/>
  <p:tag name="KSO_WM_UNIT_PRESET_TEXT" val="单击此处添加标题"/>
  <p:tag name="KSO_WM_UNIT_TEXT_FILL_FORE_SCHEMECOLOR_INDEX" val="13"/>
  <p:tag name="KSO_WM_UNIT_TEXT_FILL_TYPE" val="1"/>
  <p:tag name="KSO_WM_UNIT_USESOURCEFORMAT_APPLY" val="1"/>
  <p:tag name="KSO_WM_UNIT_ISNUMDGMTITLE" val="0"/>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a*1"/>
  <p:tag name="KSO_WM_TEMPLATE_CATEGORY" val="custom"/>
  <p:tag name="KSO_WM_TEMPLATE_INDEX" val="20203884"/>
  <p:tag name="KSO_WM_UNIT_LAYERLEVEL" val="1"/>
  <p:tag name="KSO_WM_TAG_VERSION" val="1.0"/>
  <p:tag name="KSO_WM_BEAUTIFY_FLAG" val="#wm#"/>
  <p:tag name="KSO_WM_UNIT_ISCONTENTSTITLE" val="1"/>
  <p:tag name="KSO_WM_UNIT_PRESET_TEXT" val="CONTENTS"/>
  <p:tag name="KSO_WM_UNIT_NOCLEAR" val="0"/>
  <p:tag name="KSO_WM_UNIT_VALUE" val="7"/>
  <p:tag name="KSO_WM_DIAGRAM_GROUP_CODE" val="l1-1"/>
  <p:tag name="KSO_WM_UNIT_TYPE" val="a"/>
  <p:tag name="KSO_WM_UNIT_INDEX" val="1"/>
  <p:tag name="KSO_WM_UNIT_TEXT_FILL_FORE_SCHEMECOLOR_INDEX" val="13"/>
  <p:tag name="KSO_WM_UNIT_TEXT_FILL_TYPE" val="1"/>
  <p:tag name="KSO_WM_UNIT_USESOURCEFORMAT_APPLY" val="1"/>
  <p:tag name="KSO_WM_UNIT_ISNUMDGMTITLE" val="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03884_26"/>
  <p:tag name="KSO_WM_TEMPLATE_SUBCATEGORY" val="0"/>
  <p:tag name="KSO_WM_TEMPLATE_MASTER_TYPE" val="1"/>
  <p:tag name="KSO_WM_TEMPLATE_COLOR_TYPE" val="1"/>
  <p:tag name="KSO_WM_SLIDE_ITEM_CNT" val="0"/>
  <p:tag name="KSO_WM_SLIDE_INDEX" val="26"/>
  <p:tag name="KSO_WM_TAG_VERSION" val="1.0"/>
  <p:tag name="KSO_WM_BEAUTIFY_FLAG" val="#wm#"/>
  <p:tag name="KSO_WM_TEMPLATE_CATEGORY" val="custom"/>
  <p:tag name="KSO_WM_TEMPLATE_INDEX" val="20203884"/>
  <p:tag name="KSO_WM_SLIDE_TYPE" val="endPage"/>
  <p:tag name="KSO_WM_SLIDE_SUBTYPE" val="pureTxt"/>
  <p:tag name="KSO_WM_SLIDE_LAYOUT" val="a"/>
  <p:tag name="KSO_WM_SLIDE_LAYOUT_CNT" val="1"/>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26*a*1"/>
  <p:tag name="KSO_WM_TEMPLATE_CATEGORY" val="custom"/>
  <p:tag name="KSO_WM_TEMPLATE_INDEX" val="20203884"/>
  <p:tag name="KSO_WM_UNIT_LAYERLEVEL" val="1"/>
  <p:tag name="KSO_WM_TAG_VERSION" val="1.0"/>
  <p:tag name="KSO_WM_BEAUTIFY_FLAG" val="#wm#"/>
  <p:tag name="KSO_WM_UNIT_ISCONTENTSTITLE" val="0"/>
  <p:tag name="KSO_WM_UNIT_NOCLEAR" val="1"/>
  <p:tag name="KSO_WM_UNIT_VALUE" val="5"/>
  <p:tag name="KSO_WM_UNIT_TYPE" val="a"/>
  <p:tag name="KSO_WM_UNIT_INDEX" val="1"/>
  <p:tag name="KSO_WM_UNIT_PRESET_TEXT" val="THANKS"/>
  <p:tag name="KSO_WM_UNIT_ISNUMDGMTITLE" val="0"/>
</p:tagLst>
</file>

<file path=ppt/theme/theme1.xml><?xml version="1.0" encoding="utf-8"?>
<a:theme xmlns:a="http://schemas.openxmlformats.org/drawingml/2006/main" name="Office 主题​​">
  <a:themeElements>
    <a:clrScheme name="自定义 5">
      <a:dk1>
        <a:sysClr val="windowText" lastClr="000000"/>
      </a:dk1>
      <a:lt1>
        <a:sysClr val="window" lastClr="FFFFFF"/>
      </a:lt1>
      <a:dk2>
        <a:srgbClr val="002842"/>
      </a:dk2>
      <a:lt2>
        <a:srgbClr val="FFFFFF"/>
      </a:lt2>
      <a:accent1>
        <a:srgbClr val="5195A5"/>
      </a:accent1>
      <a:accent2>
        <a:srgbClr val="8CA26C"/>
      </a:accent2>
      <a:accent3>
        <a:srgbClr val="C5B331"/>
      </a:accent3>
      <a:accent4>
        <a:srgbClr val="E1A215"/>
      </a:accent4>
      <a:accent5>
        <a:srgbClr val="E87A20"/>
      </a:accent5>
      <a:accent6>
        <a:srgbClr val="DD431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452</TotalTime>
  <Words>1403</Words>
  <Application>Microsoft Office PowerPoint</Application>
  <PresentationFormat>宽屏</PresentationFormat>
  <Paragraphs>122</Paragraphs>
  <Slides>23</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23</vt:i4>
      </vt:variant>
    </vt:vector>
  </HeadingPairs>
  <TitlesOfParts>
    <vt:vector size="29" baseType="lpstr">
      <vt:lpstr>-apple-system</vt:lpstr>
      <vt:lpstr>微软雅黑</vt:lpstr>
      <vt:lpstr>Arial</vt:lpstr>
      <vt:lpstr>Calibri</vt:lpstr>
      <vt:lpstr>Open Sans</vt:lpstr>
      <vt:lpstr>Office 主题​​</vt:lpstr>
      <vt:lpstr>决策树</vt:lpstr>
      <vt:lpstr>PowerPoint 演示文稿</vt:lpstr>
      <vt:lpstr> 决策树（Decision Tree）</vt:lpstr>
      <vt:lpstr> 决策树（Decision Tree）</vt:lpstr>
      <vt:lpstr> 决策树（Decision Tree）</vt:lpstr>
      <vt:lpstr> 决策树（Decision Tree）</vt:lpstr>
      <vt:lpstr> 决策树（Decision Tree）</vt:lpstr>
      <vt:lpstr>特征选择</vt:lpstr>
      <vt:lpstr>特征选择</vt:lpstr>
      <vt:lpstr>信息增益 </vt:lpstr>
      <vt:lpstr>信息增益比 </vt:lpstr>
      <vt:lpstr>生成算法 </vt:lpstr>
      <vt:lpstr>PowerPoint 演示文稿</vt:lpstr>
      <vt:lpstr>剪枝算法 </vt:lpstr>
      <vt:lpstr>原理 </vt:lpstr>
      <vt:lpstr>原理</vt:lpstr>
      <vt:lpstr>算法 </vt:lpstr>
      <vt:lpstr>连续值、缺失值处理 </vt:lpstr>
      <vt:lpstr>连续值、缺失值处理</vt:lpstr>
      <vt:lpstr>划分属性选择 </vt:lpstr>
      <vt:lpstr>样本划分 </vt:lpstr>
      <vt:lpstr>多变量决策树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课程介绍</dc:title>
  <dc:creator>邵欣怡</dc:creator>
  <cp:lastModifiedBy>LIU HAIBIN</cp:lastModifiedBy>
  <cp:revision>33</cp:revision>
  <dcterms:created xsi:type="dcterms:W3CDTF">2021-03-01T12:12:00Z</dcterms:created>
  <dcterms:modified xsi:type="dcterms:W3CDTF">2021-04-27T13:25:33Z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2052-11.1.0.9192</vt:lpwstr>
  </property>
</Properties>
</file>