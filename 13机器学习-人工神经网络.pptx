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165" r:id="rId2"/>
    <p:sldId id="1018" r:id="rId3"/>
    <p:sldId id="1025" r:id="rId4"/>
    <p:sldId id="1026" r:id="rId5"/>
    <p:sldId id="1029" r:id="rId6"/>
    <p:sldId id="1027" r:id="rId7"/>
    <p:sldId id="1028" r:id="rId8"/>
    <p:sldId id="1072" r:id="rId9"/>
    <p:sldId id="1060" r:id="rId10"/>
    <p:sldId id="1030" r:id="rId11"/>
    <p:sldId id="1031" r:id="rId12"/>
    <p:sldId id="1033" r:id="rId13"/>
    <p:sldId id="1074" r:id="rId14"/>
    <p:sldId id="1088" r:id="rId15"/>
    <p:sldId id="1075" r:id="rId16"/>
    <p:sldId id="1076" r:id="rId17"/>
    <p:sldId id="1077" r:id="rId18"/>
    <p:sldId id="1078" r:id="rId19"/>
    <p:sldId id="1079" r:id="rId20"/>
    <p:sldId id="1080" r:id="rId21"/>
    <p:sldId id="1081" r:id="rId22"/>
    <p:sldId id="1082" r:id="rId23"/>
    <p:sldId id="1083" r:id="rId24"/>
    <p:sldId id="1084" r:id="rId25"/>
    <p:sldId id="1085" r:id="rId26"/>
    <p:sldId id="1086" r:id="rId27"/>
    <p:sldId id="1087" r:id="rId28"/>
    <p:sldId id="1003" r:id="rId29"/>
    <p:sldId id="916" r:id="rId30"/>
  </p:sldIdLst>
  <p:sldSz cx="12192000" cy="6858000"/>
  <p:notesSz cx="6811963" cy="994568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>
          <p15:clr>
            <a:srgbClr val="A4A3A4"/>
          </p15:clr>
        </p15:guide>
        <p15:guide id="2" pos="38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CC"/>
    <a:srgbClr val="00B0F0"/>
    <a:srgbClr val="0070C0"/>
    <a:srgbClr val="DFF1F2"/>
    <a:srgbClr val="A3D6D9"/>
    <a:srgbClr val="004586"/>
    <a:srgbClr val="1C2948"/>
    <a:srgbClr val="FBBCA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01" autoAdjust="0"/>
    <p:restoredTop sz="95446" autoAdjust="0"/>
  </p:normalViewPr>
  <p:slideViewPr>
    <p:cSldViewPr snapToGrid="0">
      <p:cViewPr varScale="1">
        <p:scale>
          <a:sx n="82" d="100"/>
          <a:sy n="82" d="100"/>
        </p:scale>
        <p:origin x="278" y="77"/>
      </p:cViewPr>
      <p:guideLst>
        <p:guide orient="horz" pos="2266"/>
        <p:guide pos="38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8387" y="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/>
          <a:lstStyle>
            <a:lvl1pPr algn="r">
              <a:defRPr sz="1200"/>
            </a:lvl1pPr>
          </a:lstStyle>
          <a:p>
            <a:fld id="{33F7A549-B379-4C34-825B-70BFB0F88B3A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8387" y="9447401"/>
            <a:ext cx="2952054" cy="496744"/>
          </a:xfrm>
          <a:prstGeom prst="rect">
            <a:avLst/>
          </a:prstGeom>
        </p:spPr>
        <p:txBody>
          <a:bodyPr vert="horz" lIns="88395" tIns="44198" rIns="88395" bIns="44198" rtlCol="0" anchor="b"/>
          <a:lstStyle>
            <a:lvl1pPr algn="r">
              <a:defRPr sz="1200"/>
            </a:lvl1pPr>
          </a:lstStyle>
          <a:p>
            <a:fld id="{2EC52559-07F0-4EB5-B465-6612A22996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537" y="0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>
            <a:lvl1pPr algn="r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7813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197" y="4724202"/>
            <a:ext cx="5449570" cy="4475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537" y="9446678"/>
            <a:ext cx="2951850" cy="497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750" tIns="47875" rIns="95750" bIns="47875" numCol="1" anchor="b" anchorCtr="0" compatLnSpc="1"/>
          <a:lstStyle>
            <a:lvl1pPr algn="r" eaLnBrk="1" hangingPunct="1">
              <a:defRPr sz="13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020F7E6-B6AB-4685-9920-66673A4976C0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84723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522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85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1415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2043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0242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7235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6762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561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5958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7505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https://www.edureka.co/blog/apriori-algorithm/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8505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561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4184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125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125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294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5970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5230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9290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677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6777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677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677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677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67625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67625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A54C05-12C6-4ED5-8C42-25DA65BDDB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60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26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6.png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0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9" Type="http://schemas.openxmlformats.org/officeDocument/2006/relationships/oleObject" Target="../embeddings/oleObject39.bin"/><Relationship Id="rId21" Type="http://schemas.openxmlformats.org/officeDocument/2006/relationships/oleObject" Target="../embeddings/oleObject30.bin"/><Relationship Id="rId34" Type="http://schemas.openxmlformats.org/officeDocument/2006/relationships/image" Target="../media/image39.wmf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8.bin"/><Relationship Id="rId25" Type="http://schemas.openxmlformats.org/officeDocument/2006/relationships/oleObject" Target="../embeddings/oleObject32.bin"/><Relationship Id="rId33" Type="http://schemas.openxmlformats.org/officeDocument/2006/relationships/oleObject" Target="../embeddings/oleObject36.bin"/><Relationship Id="rId38" Type="http://schemas.openxmlformats.org/officeDocument/2006/relationships/image" Target="../media/image41.wmf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29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4.wmf"/><Relationship Id="rId32" Type="http://schemas.openxmlformats.org/officeDocument/2006/relationships/image" Target="../media/image38.wmf"/><Relationship Id="rId37" Type="http://schemas.openxmlformats.org/officeDocument/2006/relationships/oleObject" Target="../embeddings/oleObject38.bin"/><Relationship Id="rId40" Type="http://schemas.openxmlformats.org/officeDocument/2006/relationships/image" Target="../media/image42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28" Type="http://schemas.openxmlformats.org/officeDocument/2006/relationships/image" Target="../media/image36.wmf"/><Relationship Id="rId36" Type="http://schemas.openxmlformats.org/officeDocument/2006/relationships/image" Target="../media/image40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29.bin"/><Relationship Id="rId31" Type="http://schemas.openxmlformats.org/officeDocument/2006/relationships/oleObject" Target="../embeddings/oleObject35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3.bin"/><Relationship Id="rId30" Type="http://schemas.openxmlformats.org/officeDocument/2006/relationships/image" Target="../media/image37.wmf"/><Relationship Id="rId35" Type="http://schemas.openxmlformats.org/officeDocument/2006/relationships/oleObject" Target="../embeddings/oleObject37.bin"/><Relationship Id="rId8" Type="http://schemas.openxmlformats.org/officeDocument/2006/relationships/image" Target="../media/image26.wmf"/><Relationship Id="rId3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8.wmf"/><Relationship Id="rId26" Type="http://schemas.openxmlformats.org/officeDocument/2006/relationships/image" Target="../media/image53.png"/><Relationship Id="rId21" Type="http://schemas.openxmlformats.org/officeDocument/2006/relationships/oleObject" Target="../embeddings/oleObject47.bin"/><Relationship Id="rId7" Type="http://schemas.openxmlformats.org/officeDocument/2006/relationships/image" Target="../media/image54.png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5.bin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wmf"/><Relationship Id="rId20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2.bin"/><Relationship Id="rId24" Type="http://schemas.openxmlformats.org/officeDocument/2006/relationships/image" Target="../media/image51.wmf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48.bin"/><Relationship Id="rId10" Type="http://schemas.openxmlformats.org/officeDocument/2006/relationships/image" Target="../media/image44.wmf"/><Relationship Id="rId19" Type="http://schemas.openxmlformats.org/officeDocument/2006/relationships/oleObject" Target="../embeddings/oleObject46.bin"/><Relationship Id="rId4" Type="http://schemas.openxmlformats.org/officeDocument/2006/relationships/image" Target="../media/image44.png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6.wmf"/><Relationship Id="rId22" Type="http://schemas.openxmlformats.org/officeDocument/2006/relationships/image" Target="../media/image50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59.bin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58.bin"/><Relationship Id="rId5" Type="http://schemas.openxmlformats.org/officeDocument/2006/relationships/image" Target="../media/image57.png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60.bin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10.wmf"/><Relationship Id="rId4" Type="http://schemas.openxmlformats.org/officeDocument/2006/relationships/image" Target="../media/image56.png"/><Relationship Id="rId9" Type="http://schemas.openxmlformats.org/officeDocument/2006/relationships/image" Target="../media/image5.w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14.wmf"/><Relationship Id="rId30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4.wmf"/><Relationship Id="rId26" Type="http://schemas.openxmlformats.org/officeDocument/2006/relationships/image" Target="../media/image36.wmf"/><Relationship Id="rId39" Type="http://schemas.openxmlformats.org/officeDocument/2006/relationships/oleObject" Target="../embeddings/oleObject77.bin"/><Relationship Id="rId21" Type="http://schemas.openxmlformats.org/officeDocument/2006/relationships/oleObject" Target="../embeddings/oleObject70.bin"/><Relationship Id="rId34" Type="http://schemas.openxmlformats.org/officeDocument/2006/relationships/image" Target="../media/image40.wmf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68.bin"/><Relationship Id="rId25" Type="http://schemas.openxmlformats.org/officeDocument/2006/relationships/oleObject" Target="../embeddings/oleObject72.bin"/><Relationship Id="rId33" Type="http://schemas.openxmlformats.org/officeDocument/2006/relationships/oleObject" Target="../embeddings/oleObject76.bin"/><Relationship Id="rId38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1.wmf"/><Relationship Id="rId20" Type="http://schemas.openxmlformats.org/officeDocument/2006/relationships/image" Target="../media/image65.wmf"/><Relationship Id="rId29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24" Type="http://schemas.openxmlformats.org/officeDocument/2006/relationships/image" Target="../media/image35.wmf"/><Relationship Id="rId32" Type="http://schemas.openxmlformats.org/officeDocument/2006/relationships/image" Target="../media/image39.wmf"/><Relationship Id="rId37" Type="http://schemas.openxmlformats.org/officeDocument/2006/relationships/image" Target="../media/image69.png"/><Relationship Id="rId40" Type="http://schemas.openxmlformats.org/officeDocument/2006/relationships/image" Target="../media/image24.wmf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23" Type="http://schemas.openxmlformats.org/officeDocument/2006/relationships/oleObject" Target="../embeddings/oleObject71.bin"/><Relationship Id="rId28" Type="http://schemas.openxmlformats.org/officeDocument/2006/relationships/image" Target="../media/image37.wmf"/><Relationship Id="rId36" Type="http://schemas.openxmlformats.org/officeDocument/2006/relationships/image" Target="../media/image68.png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69.bin"/><Relationship Id="rId31" Type="http://schemas.openxmlformats.org/officeDocument/2006/relationships/oleObject" Target="../embeddings/oleObject75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30.wmf"/><Relationship Id="rId22" Type="http://schemas.openxmlformats.org/officeDocument/2006/relationships/image" Target="../media/image66.wmf"/><Relationship Id="rId27" Type="http://schemas.openxmlformats.org/officeDocument/2006/relationships/oleObject" Target="../embeddings/oleObject73.bin"/><Relationship Id="rId30" Type="http://schemas.openxmlformats.org/officeDocument/2006/relationships/image" Target="../media/image38.wmf"/><Relationship Id="rId35" Type="http://schemas.openxmlformats.org/officeDocument/2006/relationships/image" Target="../media/image67.png"/><Relationship Id="rId8" Type="http://schemas.openxmlformats.org/officeDocument/2006/relationships/image" Target="../media/image63.wmf"/><Relationship Id="rId3" Type="http://schemas.openxmlformats.org/officeDocument/2006/relationships/oleObject" Target="../embeddings/oleObject6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jpeg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2.bin"/><Relationship Id="rId18" Type="http://schemas.openxmlformats.org/officeDocument/2006/relationships/image" Target="../media/image30.wmf"/><Relationship Id="rId26" Type="http://schemas.openxmlformats.org/officeDocument/2006/relationships/image" Target="../media/image76.wmf"/><Relationship Id="rId39" Type="http://schemas.openxmlformats.org/officeDocument/2006/relationships/oleObject" Target="../embeddings/oleObject95.bin"/><Relationship Id="rId21" Type="http://schemas.openxmlformats.org/officeDocument/2006/relationships/oleObject" Target="../embeddings/oleObject86.bin"/><Relationship Id="rId34" Type="http://schemas.openxmlformats.org/officeDocument/2006/relationships/image" Target="../media/image38.wmf"/><Relationship Id="rId42" Type="http://schemas.openxmlformats.org/officeDocument/2006/relationships/image" Target="../media/image84.png"/><Relationship Id="rId7" Type="http://schemas.openxmlformats.org/officeDocument/2006/relationships/oleObject" Target="../embeddings/oleObject79.bin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29" Type="http://schemas.openxmlformats.org/officeDocument/2006/relationships/oleObject" Target="../embeddings/oleObject90.bin"/><Relationship Id="rId41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75.wmf"/><Relationship Id="rId32" Type="http://schemas.openxmlformats.org/officeDocument/2006/relationships/image" Target="../media/image37.wmf"/><Relationship Id="rId37" Type="http://schemas.openxmlformats.org/officeDocument/2006/relationships/oleObject" Target="../embeddings/oleObject94.bin"/><Relationship Id="rId40" Type="http://schemas.openxmlformats.org/officeDocument/2006/relationships/image" Target="../media/image77.wmf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23" Type="http://schemas.openxmlformats.org/officeDocument/2006/relationships/oleObject" Target="../embeddings/oleObject87.bin"/><Relationship Id="rId28" Type="http://schemas.openxmlformats.org/officeDocument/2006/relationships/image" Target="../media/image35.wmf"/><Relationship Id="rId36" Type="http://schemas.openxmlformats.org/officeDocument/2006/relationships/image" Target="../media/image39.wmf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85.bin"/><Relationship Id="rId31" Type="http://schemas.openxmlformats.org/officeDocument/2006/relationships/oleObject" Target="../embeddings/oleObject91.bin"/><Relationship Id="rId4" Type="http://schemas.openxmlformats.org/officeDocument/2006/relationships/image" Target="../media/image82.png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28.wmf"/><Relationship Id="rId22" Type="http://schemas.openxmlformats.org/officeDocument/2006/relationships/image" Target="../media/image74.wmf"/><Relationship Id="rId27" Type="http://schemas.openxmlformats.org/officeDocument/2006/relationships/oleObject" Target="../embeddings/oleObject89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93.bin"/><Relationship Id="rId43" Type="http://schemas.openxmlformats.org/officeDocument/2006/relationships/image" Target="../media/image85.png"/><Relationship Id="rId8" Type="http://schemas.openxmlformats.org/officeDocument/2006/relationships/image" Target="../media/image71.wmf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84.bin"/><Relationship Id="rId25" Type="http://schemas.openxmlformats.org/officeDocument/2006/relationships/oleObject" Target="../embeddings/oleObject88.bin"/><Relationship Id="rId33" Type="http://schemas.openxmlformats.org/officeDocument/2006/relationships/oleObject" Target="../embeddings/oleObject92.bin"/><Relationship Id="rId38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30.wmf"/><Relationship Id="rId26" Type="http://schemas.openxmlformats.org/officeDocument/2006/relationships/image" Target="../media/image83.wmf"/><Relationship Id="rId39" Type="http://schemas.openxmlformats.org/officeDocument/2006/relationships/oleObject" Target="../embeddings/oleObject113.bin"/><Relationship Id="rId21" Type="http://schemas.openxmlformats.org/officeDocument/2006/relationships/oleObject" Target="../embeddings/oleObject104.bin"/><Relationship Id="rId34" Type="http://schemas.openxmlformats.org/officeDocument/2006/relationships/image" Target="../media/image38.wmf"/><Relationship Id="rId42" Type="http://schemas.openxmlformats.org/officeDocument/2006/relationships/image" Target="../media/image85.wmf"/><Relationship Id="rId7" Type="http://schemas.openxmlformats.org/officeDocument/2006/relationships/oleObject" Target="../embeddings/oleObject97.bin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29" Type="http://schemas.openxmlformats.org/officeDocument/2006/relationships/oleObject" Target="../embeddings/oleObject108.bin"/><Relationship Id="rId41" Type="http://schemas.openxmlformats.org/officeDocument/2006/relationships/oleObject" Target="../embeddings/oleObject11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99.bin"/><Relationship Id="rId24" Type="http://schemas.openxmlformats.org/officeDocument/2006/relationships/image" Target="../media/image82.wmf"/><Relationship Id="rId32" Type="http://schemas.openxmlformats.org/officeDocument/2006/relationships/image" Target="../media/image37.wmf"/><Relationship Id="rId37" Type="http://schemas.openxmlformats.org/officeDocument/2006/relationships/oleObject" Target="../embeddings/oleObject112.bin"/><Relationship Id="rId40" Type="http://schemas.openxmlformats.org/officeDocument/2006/relationships/image" Target="../media/image84.wmf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23" Type="http://schemas.openxmlformats.org/officeDocument/2006/relationships/oleObject" Target="../embeddings/oleObject105.bin"/><Relationship Id="rId28" Type="http://schemas.openxmlformats.org/officeDocument/2006/relationships/image" Target="../media/image35.wmf"/><Relationship Id="rId36" Type="http://schemas.openxmlformats.org/officeDocument/2006/relationships/image" Target="../media/image39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103.bin"/><Relationship Id="rId31" Type="http://schemas.openxmlformats.org/officeDocument/2006/relationships/oleObject" Target="../embeddings/oleObject109.bin"/><Relationship Id="rId4" Type="http://schemas.openxmlformats.org/officeDocument/2006/relationships/image" Target="../media/image850.png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28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107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111.bin"/><Relationship Id="rId8" Type="http://schemas.openxmlformats.org/officeDocument/2006/relationships/image" Target="../media/image78.wmf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33" Type="http://schemas.openxmlformats.org/officeDocument/2006/relationships/oleObject" Target="../embeddings/oleObject110.bin"/><Relationship Id="rId38" Type="http://schemas.openxmlformats.org/officeDocument/2006/relationships/image" Target="../media/image40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30.wmf"/><Relationship Id="rId26" Type="http://schemas.openxmlformats.org/officeDocument/2006/relationships/image" Target="../media/image91.wmf"/><Relationship Id="rId39" Type="http://schemas.openxmlformats.org/officeDocument/2006/relationships/image" Target="../media/image100.png"/><Relationship Id="rId21" Type="http://schemas.openxmlformats.org/officeDocument/2006/relationships/oleObject" Target="../embeddings/oleObject123.bin"/><Relationship Id="rId34" Type="http://schemas.openxmlformats.org/officeDocument/2006/relationships/image" Target="../media/image38.wmf"/><Relationship Id="rId42" Type="http://schemas.openxmlformats.org/officeDocument/2006/relationships/image" Target="../media/image103.png"/><Relationship Id="rId7" Type="http://schemas.openxmlformats.org/officeDocument/2006/relationships/oleObject" Target="../embeddings/oleObject116.bin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9.wmf"/><Relationship Id="rId29" Type="http://schemas.openxmlformats.org/officeDocument/2006/relationships/oleObject" Target="../embeddings/oleObject127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18.bin"/><Relationship Id="rId24" Type="http://schemas.openxmlformats.org/officeDocument/2006/relationships/image" Target="../media/image90.wmf"/><Relationship Id="rId32" Type="http://schemas.openxmlformats.org/officeDocument/2006/relationships/image" Target="../media/image37.wmf"/><Relationship Id="rId37" Type="http://schemas.openxmlformats.org/officeDocument/2006/relationships/oleObject" Target="../embeddings/oleObject131.bin"/><Relationship Id="rId40" Type="http://schemas.openxmlformats.org/officeDocument/2006/relationships/image" Target="../media/image101.png"/><Relationship Id="rId45" Type="http://schemas.openxmlformats.org/officeDocument/2006/relationships/image" Target="../media/image107.png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oleObject" Target="../embeddings/oleObject124.bin"/><Relationship Id="rId28" Type="http://schemas.openxmlformats.org/officeDocument/2006/relationships/image" Target="../media/image35.wmf"/><Relationship Id="rId36" Type="http://schemas.openxmlformats.org/officeDocument/2006/relationships/image" Target="../media/image39.wmf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122.bin"/><Relationship Id="rId31" Type="http://schemas.openxmlformats.org/officeDocument/2006/relationships/oleObject" Target="../embeddings/oleObject128.bin"/><Relationship Id="rId44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28.wmf"/><Relationship Id="rId22" Type="http://schemas.openxmlformats.org/officeDocument/2006/relationships/image" Target="../media/image89.wmf"/><Relationship Id="rId27" Type="http://schemas.openxmlformats.org/officeDocument/2006/relationships/oleObject" Target="../embeddings/oleObject126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130.bin"/><Relationship Id="rId43" Type="http://schemas.openxmlformats.org/officeDocument/2006/relationships/image" Target="../media/image104.png"/><Relationship Id="rId8" Type="http://schemas.openxmlformats.org/officeDocument/2006/relationships/image" Target="../media/image86.wmf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5.bin"/><Relationship Id="rId33" Type="http://schemas.openxmlformats.org/officeDocument/2006/relationships/oleObject" Target="../embeddings/oleObject129.bin"/><Relationship Id="rId38" Type="http://schemas.openxmlformats.org/officeDocument/2006/relationships/image" Target="../media/image40.wmf"/><Relationship Id="rId46" Type="http://schemas.openxmlformats.org/officeDocument/2006/relationships/image" Target="../media/image108.png"/><Relationship Id="rId20" Type="http://schemas.openxmlformats.org/officeDocument/2006/relationships/image" Target="../media/image31.wmf"/><Relationship Id="rId41" Type="http://schemas.openxmlformats.org/officeDocument/2006/relationships/image" Target="../media/image102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30.wmf"/><Relationship Id="rId26" Type="http://schemas.openxmlformats.org/officeDocument/2006/relationships/image" Target="../media/image97.wmf"/><Relationship Id="rId39" Type="http://schemas.openxmlformats.org/officeDocument/2006/relationships/image" Target="../media/image98.wmf"/><Relationship Id="rId21" Type="http://schemas.openxmlformats.org/officeDocument/2006/relationships/oleObject" Target="../embeddings/oleObject140.bin"/><Relationship Id="rId34" Type="http://schemas.openxmlformats.org/officeDocument/2006/relationships/image" Target="../media/image38.wmf"/><Relationship Id="rId42" Type="http://schemas.openxmlformats.org/officeDocument/2006/relationships/image" Target="../media/image119.png"/><Relationship Id="rId47" Type="http://schemas.openxmlformats.org/officeDocument/2006/relationships/image" Target="../media/image123.png"/><Relationship Id="rId7" Type="http://schemas.openxmlformats.org/officeDocument/2006/relationships/oleObject" Target="../embeddings/oleObject133.bin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9.wmf"/><Relationship Id="rId29" Type="http://schemas.openxmlformats.org/officeDocument/2006/relationships/oleObject" Target="../embeddings/oleObject14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35.bin"/><Relationship Id="rId24" Type="http://schemas.openxmlformats.org/officeDocument/2006/relationships/image" Target="../media/image96.wmf"/><Relationship Id="rId32" Type="http://schemas.openxmlformats.org/officeDocument/2006/relationships/image" Target="../media/image37.wmf"/><Relationship Id="rId37" Type="http://schemas.openxmlformats.org/officeDocument/2006/relationships/image" Target="../media/image118.png"/><Relationship Id="rId40" Type="http://schemas.openxmlformats.org/officeDocument/2006/relationships/oleObject" Target="../embeddings/oleObject149.bin"/><Relationship Id="rId45" Type="http://schemas.openxmlformats.org/officeDocument/2006/relationships/image" Target="../media/image121.png"/><Relationship Id="rId5" Type="http://schemas.openxmlformats.org/officeDocument/2006/relationships/oleObject" Target="../embeddings/oleObject132.bin"/><Relationship Id="rId15" Type="http://schemas.openxmlformats.org/officeDocument/2006/relationships/oleObject" Target="../embeddings/oleObject137.bin"/><Relationship Id="rId23" Type="http://schemas.openxmlformats.org/officeDocument/2006/relationships/oleObject" Target="../embeddings/oleObject141.bin"/><Relationship Id="rId28" Type="http://schemas.openxmlformats.org/officeDocument/2006/relationships/image" Target="../media/image35.wmf"/><Relationship Id="rId36" Type="http://schemas.openxmlformats.org/officeDocument/2006/relationships/image" Target="../media/image39.wmf"/><Relationship Id="rId49" Type="http://schemas.openxmlformats.org/officeDocument/2006/relationships/image" Target="../media/image125.png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139.bin"/><Relationship Id="rId31" Type="http://schemas.openxmlformats.org/officeDocument/2006/relationships/oleObject" Target="../embeddings/oleObject145.bin"/><Relationship Id="rId44" Type="http://schemas.openxmlformats.org/officeDocument/2006/relationships/image" Target="../media/image100.wmf"/><Relationship Id="rId4" Type="http://schemas.openxmlformats.org/officeDocument/2006/relationships/image" Target="../media/image120.png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28.wmf"/><Relationship Id="rId22" Type="http://schemas.openxmlformats.org/officeDocument/2006/relationships/image" Target="../media/image95.wmf"/><Relationship Id="rId27" Type="http://schemas.openxmlformats.org/officeDocument/2006/relationships/oleObject" Target="../embeddings/oleObject143.bin"/><Relationship Id="rId30" Type="http://schemas.openxmlformats.org/officeDocument/2006/relationships/image" Target="../media/image36.wmf"/><Relationship Id="rId35" Type="http://schemas.openxmlformats.org/officeDocument/2006/relationships/oleObject" Target="../embeddings/oleObject147.bin"/><Relationship Id="rId43" Type="http://schemas.openxmlformats.org/officeDocument/2006/relationships/oleObject" Target="../embeddings/oleObject150.bin"/><Relationship Id="rId48" Type="http://schemas.openxmlformats.org/officeDocument/2006/relationships/image" Target="../media/image124.png"/><Relationship Id="rId8" Type="http://schemas.openxmlformats.org/officeDocument/2006/relationships/image" Target="../media/image92.wmf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2.bin"/><Relationship Id="rId33" Type="http://schemas.openxmlformats.org/officeDocument/2006/relationships/oleObject" Target="../embeddings/oleObject146.bin"/><Relationship Id="rId38" Type="http://schemas.openxmlformats.org/officeDocument/2006/relationships/oleObject" Target="../embeddings/oleObject148.bin"/><Relationship Id="rId46" Type="http://schemas.openxmlformats.org/officeDocument/2006/relationships/image" Target="../media/image122.png"/><Relationship Id="rId20" Type="http://schemas.openxmlformats.org/officeDocument/2006/relationships/image" Target="../media/image31.wmf"/><Relationship Id="rId41" Type="http://schemas.openxmlformats.org/officeDocument/2006/relationships/image" Target="../media/image99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30.wmf"/><Relationship Id="rId26" Type="http://schemas.openxmlformats.org/officeDocument/2006/relationships/image" Target="../media/image107.wmf"/><Relationship Id="rId39" Type="http://schemas.openxmlformats.org/officeDocument/2006/relationships/oleObject" Target="../embeddings/oleObject168.bin"/><Relationship Id="rId21" Type="http://schemas.openxmlformats.org/officeDocument/2006/relationships/oleObject" Target="../embeddings/oleObject159.bin"/><Relationship Id="rId34" Type="http://schemas.openxmlformats.org/officeDocument/2006/relationships/image" Target="../media/image38.wmf"/><Relationship Id="rId42" Type="http://schemas.openxmlformats.org/officeDocument/2006/relationships/image" Target="../media/image137.png"/><Relationship Id="rId47" Type="http://schemas.openxmlformats.org/officeDocument/2006/relationships/image" Target="../media/image143.png"/><Relationship Id="rId7" Type="http://schemas.openxmlformats.org/officeDocument/2006/relationships/oleObject" Target="../embeddings/oleObject152.bin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9.wmf"/><Relationship Id="rId29" Type="http://schemas.openxmlformats.org/officeDocument/2006/relationships/oleObject" Target="../embeddings/oleObject16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54.bin"/><Relationship Id="rId24" Type="http://schemas.openxmlformats.org/officeDocument/2006/relationships/image" Target="../media/image106.wmf"/><Relationship Id="rId32" Type="http://schemas.openxmlformats.org/officeDocument/2006/relationships/image" Target="../media/image37.wmf"/><Relationship Id="rId37" Type="http://schemas.openxmlformats.org/officeDocument/2006/relationships/oleObject" Target="../embeddings/oleObject167.bin"/><Relationship Id="rId40" Type="http://schemas.openxmlformats.org/officeDocument/2006/relationships/image" Target="../media/image110.wmf"/><Relationship Id="rId45" Type="http://schemas.openxmlformats.org/officeDocument/2006/relationships/image" Target="../media/image141.png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image" Target="../media/image108.wmf"/><Relationship Id="rId36" Type="http://schemas.openxmlformats.org/officeDocument/2006/relationships/image" Target="../media/image39.wmf"/><Relationship Id="rId49" Type="http://schemas.openxmlformats.org/officeDocument/2006/relationships/image" Target="../media/image145.png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58.bin"/><Relationship Id="rId31" Type="http://schemas.openxmlformats.org/officeDocument/2006/relationships/oleObject" Target="../embeddings/oleObject164.bin"/><Relationship Id="rId44" Type="http://schemas.openxmlformats.org/officeDocument/2006/relationships/image" Target="../media/image139.png"/><Relationship Id="rId4" Type="http://schemas.openxmlformats.org/officeDocument/2006/relationships/image" Target="../media/image140.png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28.wmf"/><Relationship Id="rId22" Type="http://schemas.openxmlformats.org/officeDocument/2006/relationships/image" Target="../media/image105.wmf"/><Relationship Id="rId27" Type="http://schemas.openxmlformats.org/officeDocument/2006/relationships/oleObject" Target="../embeddings/oleObject162.bin"/><Relationship Id="rId30" Type="http://schemas.openxmlformats.org/officeDocument/2006/relationships/image" Target="../media/image109.wmf"/><Relationship Id="rId35" Type="http://schemas.openxmlformats.org/officeDocument/2006/relationships/oleObject" Target="../embeddings/oleObject166.bin"/><Relationship Id="rId43" Type="http://schemas.openxmlformats.org/officeDocument/2006/relationships/image" Target="../media/image138.png"/><Relationship Id="rId48" Type="http://schemas.openxmlformats.org/officeDocument/2006/relationships/image" Target="../media/image144.png"/><Relationship Id="rId8" Type="http://schemas.openxmlformats.org/officeDocument/2006/relationships/image" Target="../media/image102.wmf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57.bin"/><Relationship Id="rId25" Type="http://schemas.openxmlformats.org/officeDocument/2006/relationships/oleObject" Target="../embeddings/oleObject161.bin"/><Relationship Id="rId33" Type="http://schemas.openxmlformats.org/officeDocument/2006/relationships/oleObject" Target="../embeddings/oleObject165.bin"/><Relationship Id="rId38" Type="http://schemas.openxmlformats.org/officeDocument/2006/relationships/image" Target="../media/image40.wmf"/><Relationship Id="rId46" Type="http://schemas.openxmlformats.org/officeDocument/2006/relationships/image" Target="../media/image142.png"/><Relationship Id="rId20" Type="http://schemas.openxmlformats.org/officeDocument/2006/relationships/image" Target="../media/image31.wmf"/><Relationship Id="rId41" Type="http://schemas.openxmlformats.org/officeDocument/2006/relationships/image" Target="../media/image136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75.bin"/><Relationship Id="rId26" Type="http://schemas.openxmlformats.org/officeDocument/2006/relationships/oleObject" Target="../embeddings/oleObject179.bin"/><Relationship Id="rId39" Type="http://schemas.openxmlformats.org/officeDocument/2006/relationships/image" Target="../media/image40.wmf"/><Relationship Id="rId21" Type="http://schemas.openxmlformats.org/officeDocument/2006/relationships/image" Target="../media/image31.wmf"/><Relationship Id="rId34" Type="http://schemas.openxmlformats.org/officeDocument/2006/relationships/oleObject" Target="../embeddings/oleObject183.bin"/><Relationship Id="rId42" Type="http://schemas.openxmlformats.org/officeDocument/2006/relationships/oleObject" Target="../embeddings/oleObject187.bin"/><Relationship Id="rId47" Type="http://schemas.openxmlformats.org/officeDocument/2006/relationships/image" Target="../media/image158.png"/><Relationship Id="rId50" Type="http://schemas.openxmlformats.org/officeDocument/2006/relationships/image" Target="../media/image161.png"/><Relationship Id="rId7" Type="http://schemas.openxmlformats.org/officeDocument/2006/relationships/image" Target="../media/image101.wmf"/><Relationship Id="rId2" Type="http://schemas.openxmlformats.org/officeDocument/2006/relationships/notesSlide" Target="../notesSlides/notesSlide23.xml"/><Relationship Id="rId16" Type="http://schemas.openxmlformats.org/officeDocument/2006/relationships/oleObject" Target="../embeddings/oleObject174.bin"/><Relationship Id="rId29" Type="http://schemas.openxmlformats.org/officeDocument/2006/relationships/image" Target="../media/image108.wmf"/><Relationship Id="rId11" Type="http://schemas.openxmlformats.org/officeDocument/2006/relationships/image" Target="../media/image112.wmf"/><Relationship Id="rId24" Type="http://schemas.openxmlformats.org/officeDocument/2006/relationships/oleObject" Target="../embeddings/oleObject178.bin"/><Relationship Id="rId32" Type="http://schemas.openxmlformats.org/officeDocument/2006/relationships/oleObject" Target="../embeddings/oleObject182.bin"/><Relationship Id="rId37" Type="http://schemas.openxmlformats.org/officeDocument/2006/relationships/image" Target="../media/image39.wmf"/><Relationship Id="rId40" Type="http://schemas.openxmlformats.org/officeDocument/2006/relationships/oleObject" Target="../embeddings/oleObject186.bin"/><Relationship Id="rId45" Type="http://schemas.openxmlformats.org/officeDocument/2006/relationships/image" Target="../media/image138.png"/><Relationship Id="rId5" Type="http://schemas.openxmlformats.org/officeDocument/2006/relationships/image" Target="../media/image154.png"/><Relationship Id="rId15" Type="http://schemas.openxmlformats.org/officeDocument/2006/relationships/image" Target="../media/image28.wmf"/><Relationship Id="rId23" Type="http://schemas.openxmlformats.org/officeDocument/2006/relationships/image" Target="../media/image114.wmf"/><Relationship Id="rId28" Type="http://schemas.openxmlformats.org/officeDocument/2006/relationships/oleObject" Target="../embeddings/oleObject180.bin"/><Relationship Id="rId36" Type="http://schemas.openxmlformats.org/officeDocument/2006/relationships/oleObject" Target="../embeddings/oleObject184.bin"/><Relationship Id="rId49" Type="http://schemas.openxmlformats.org/officeDocument/2006/relationships/image" Target="../media/image160.png"/><Relationship Id="rId10" Type="http://schemas.openxmlformats.org/officeDocument/2006/relationships/oleObject" Target="../embeddings/oleObject171.bin"/><Relationship Id="rId19" Type="http://schemas.openxmlformats.org/officeDocument/2006/relationships/image" Target="../media/image30.wmf"/><Relationship Id="rId31" Type="http://schemas.openxmlformats.org/officeDocument/2006/relationships/image" Target="../media/image109.wmf"/><Relationship Id="rId44" Type="http://schemas.openxmlformats.org/officeDocument/2006/relationships/image" Target="../media/image155.png"/><Relationship Id="rId4" Type="http://schemas.openxmlformats.org/officeDocument/2006/relationships/image" Target="../media/image157.png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73.bin"/><Relationship Id="rId22" Type="http://schemas.openxmlformats.org/officeDocument/2006/relationships/oleObject" Target="../embeddings/oleObject177.bin"/><Relationship Id="rId27" Type="http://schemas.openxmlformats.org/officeDocument/2006/relationships/image" Target="../media/image116.wmf"/><Relationship Id="rId30" Type="http://schemas.openxmlformats.org/officeDocument/2006/relationships/oleObject" Target="../embeddings/oleObject181.bin"/><Relationship Id="rId35" Type="http://schemas.openxmlformats.org/officeDocument/2006/relationships/image" Target="../media/image38.wmf"/><Relationship Id="rId43" Type="http://schemas.openxmlformats.org/officeDocument/2006/relationships/image" Target="../media/image118.wmf"/><Relationship Id="rId48" Type="http://schemas.openxmlformats.org/officeDocument/2006/relationships/image" Target="../media/image159.png"/><Relationship Id="rId8" Type="http://schemas.openxmlformats.org/officeDocument/2006/relationships/oleObject" Target="../embeddings/oleObject170.bin"/><Relationship Id="rId51" Type="http://schemas.openxmlformats.org/officeDocument/2006/relationships/image" Target="../media/image162.png"/><Relationship Id="rId12" Type="http://schemas.openxmlformats.org/officeDocument/2006/relationships/oleObject" Target="../embeddings/oleObject172.bin"/><Relationship Id="rId17" Type="http://schemas.openxmlformats.org/officeDocument/2006/relationships/image" Target="../media/image29.wmf"/><Relationship Id="rId25" Type="http://schemas.openxmlformats.org/officeDocument/2006/relationships/image" Target="../media/image115.wmf"/><Relationship Id="rId33" Type="http://schemas.openxmlformats.org/officeDocument/2006/relationships/image" Target="../media/image37.wmf"/><Relationship Id="rId38" Type="http://schemas.openxmlformats.org/officeDocument/2006/relationships/oleObject" Target="../embeddings/oleObject185.bin"/><Relationship Id="rId46" Type="http://schemas.openxmlformats.org/officeDocument/2006/relationships/image" Target="../media/image156.png"/><Relationship Id="rId20" Type="http://schemas.openxmlformats.org/officeDocument/2006/relationships/oleObject" Target="../embeddings/oleObject176.bin"/><Relationship Id="rId41" Type="http://schemas.openxmlformats.org/officeDocument/2006/relationships/image" Target="../media/image11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34" Type="http://schemas.openxmlformats.org/officeDocument/2006/relationships/image" Target="../media/image39.wmf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33" Type="http://schemas.openxmlformats.org/officeDocument/2006/relationships/oleObject" Target="../embeddings/oleObject203.bin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30.wmf"/><Relationship Id="rId20" Type="http://schemas.openxmlformats.org/officeDocument/2006/relationships/image" Target="../media/image64.wmf"/><Relationship Id="rId29" Type="http://schemas.openxmlformats.org/officeDocument/2006/relationships/oleObject" Target="../embeddings/oleObject20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66.wmf"/><Relationship Id="rId32" Type="http://schemas.openxmlformats.org/officeDocument/2006/relationships/image" Target="../media/image38.w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28" Type="http://schemas.openxmlformats.org/officeDocument/2006/relationships/image" Target="../media/image36.wmf"/><Relationship Id="rId36" Type="http://schemas.openxmlformats.org/officeDocument/2006/relationships/image" Target="../media/image40.wmf"/><Relationship Id="rId10" Type="http://schemas.openxmlformats.org/officeDocument/2006/relationships/image" Target="../media/image63.wmf"/><Relationship Id="rId19" Type="http://schemas.openxmlformats.org/officeDocument/2006/relationships/oleObject" Target="../embeddings/oleObject196.bin"/><Relationship Id="rId31" Type="http://schemas.openxmlformats.org/officeDocument/2006/relationships/oleObject" Target="../embeddings/oleObject202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29.wmf"/><Relationship Id="rId22" Type="http://schemas.openxmlformats.org/officeDocument/2006/relationships/image" Target="../media/image65.wmf"/><Relationship Id="rId27" Type="http://schemas.openxmlformats.org/officeDocument/2006/relationships/oleObject" Target="../embeddings/oleObject200.bin"/><Relationship Id="rId30" Type="http://schemas.openxmlformats.org/officeDocument/2006/relationships/image" Target="../media/image37.wmf"/><Relationship Id="rId35" Type="http://schemas.openxmlformats.org/officeDocument/2006/relationships/oleObject" Target="../embeddings/oleObject204.bin"/><Relationship Id="rId8" Type="http://schemas.openxmlformats.org/officeDocument/2006/relationships/image" Target="../media/image62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0" name="矩形 13"/>
          <p:cNvSpPr>
            <a:spLocks noChangeArrowheads="1"/>
          </p:cNvSpPr>
          <p:nvPr/>
        </p:nvSpPr>
        <p:spPr bwMode="auto">
          <a:xfrm>
            <a:off x="5200631" y="4962165"/>
            <a:ext cx="245999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2024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年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04</a:t>
            </a:r>
            <a:r>
              <a:rPr lang="zh-CN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月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1904" y="2668905"/>
            <a:ext cx="12199426" cy="2234691"/>
          </a:xfr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机器学习</a:t>
            </a:r>
            <a: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人工神经网络</a:t>
            </a: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br>
              <a:rPr lang="en-US" altLang="zh-CN" sz="4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刘海斌</a:t>
            </a:r>
            <a:endParaRPr lang="zh-CN" altLang="en-US" sz="2400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AD3453-C414-50F6-D2DD-F81A9ED72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70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9E224C-85F1-EFF5-451B-B3146D79DC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1180" y="-211104"/>
            <a:ext cx="4169497" cy="1445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75"/>
    </mc:Choice>
    <mc:Fallback xmlns="">
      <p:transition spd="slow" advTm="71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zh-CN" altLang="en-US" dirty="0">
                <a:solidFill>
                  <a:schemeClr val="tx1"/>
                </a:solidFill>
              </a:rPr>
              <a:t>本章目录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发展历史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47" name="TextBox 10"/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感知机算法</a:t>
            </a:r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004446" y="3608126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BP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920164863"/>
      </p:ext>
    </p:extLst>
  </p:cSld>
  <p:clrMapOvr>
    <a:masterClrMapping/>
  </p:clrMapOvr>
  <p:transition advTm="80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691358" y="1892442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人工神经网络发展历史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10547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发展历史</a:t>
            </a:r>
            <a:endParaRPr lang="en-US" altLang="zh-CN" sz="36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EEB7294-C34C-4833-9BA5-1938EF869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感知机算法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004446" y="3608126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BP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761052216"/>
      </p:ext>
    </p:extLst>
  </p:cSld>
  <p:clrMapOvr>
    <a:masterClrMapping/>
  </p:clrMapOvr>
  <p:transition advTm="8005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人工神经网络发展历史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2EC659-D5E7-4DAE-BADA-C1EFCDF659AE}"/>
              </a:ext>
            </a:extLst>
          </p:cNvPr>
          <p:cNvSpPr txBox="1"/>
          <p:nvPr/>
        </p:nvSpPr>
        <p:spPr>
          <a:xfrm>
            <a:off x="984737" y="1237347"/>
            <a:ext cx="102787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effectLst/>
                <a:latin typeface="微软雅黑" panose="020B0503020204020204" pitchFamily="34" charset="-122"/>
              </a:rPr>
              <a:t>发展历史</a:t>
            </a:r>
            <a:endParaRPr lang="en-US" altLang="zh-CN" b="1" dirty="0">
              <a:effectLst/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effectLst/>
                <a:latin typeface="微软雅黑" panose="020B0503020204020204" pitchFamily="34" charset="-122"/>
              </a:rPr>
              <a:t>1943</a:t>
            </a:r>
            <a:r>
              <a:rPr lang="zh-CN" altLang="en-US" dirty="0">
                <a:effectLst/>
                <a:latin typeface="微软雅黑" panose="020B0503020204020204" pitchFamily="34" charset="-122"/>
              </a:rPr>
              <a:t>年，心理学家</a:t>
            </a:r>
            <a:r>
              <a:rPr lang="en-US" altLang="zh-CN" dirty="0">
                <a:effectLst/>
                <a:latin typeface="微软雅黑" panose="020B0503020204020204" pitchFamily="34" charset="-122"/>
              </a:rPr>
              <a:t>McCulloch</a:t>
            </a:r>
            <a:r>
              <a:rPr lang="zh-CN" altLang="en-US" dirty="0">
                <a:effectLst/>
                <a:latin typeface="微软雅黑" panose="020B0503020204020204" pitchFamily="34" charset="-122"/>
              </a:rPr>
              <a:t>和逻辑学家</a:t>
            </a:r>
            <a:r>
              <a:rPr lang="en-US" altLang="zh-CN" dirty="0">
                <a:effectLst/>
                <a:latin typeface="微软雅黑" panose="020B0503020204020204" pitchFamily="34" charset="-122"/>
              </a:rPr>
              <a:t>Pitts</a:t>
            </a:r>
            <a:r>
              <a:rPr lang="zh-CN" altLang="en-US" dirty="0">
                <a:effectLst/>
                <a:latin typeface="微软雅黑" panose="020B0503020204020204" pitchFamily="34" charset="-122"/>
              </a:rPr>
              <a:t>建立神经网络的数学模型，</a:t>
            </a:r>
            <a:r>
              <a:rPr lang="en-US" altLang="zh-CN" dirty="0">
                <a:effectLst/>
                <a:latin typeface="微软雅黑" panose="020B0503020204020204" pitchFamily="34" charset="-122"/>
              </a:rPr>
              <a:t>MP</a:t>
            </a:r>
            <a:r>
              <a:rPr lang="zh-CN" altLang="en-US" dirty="0">
                <a:effectLst/>
                <a:latin typeface="微软雅黑" panose="020B0503020204020204" pitchFamily="34" charset="-122"/>
              </a:rPr>
              <a:t>模型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22591" y="594079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神经元数学模型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01" y="2848210"/>
            <a:ext cx="5623240" cy="302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40996" y="587347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神经元生理结构</a:t>
            </a:r>
          </a:p>
        </p:txBody>
      </p:sp>
      <p:sp>
        <p:nvSpPr>
          <p:cNvPr id="8" name="Google Shape;3214;p51"/>
          <p:cNvSpPr/>
          <p:nvPr/>
        </p:nvSpPr>
        <p:spPr>
          <a:xfrm>
            <a:off x="6907143" y="372472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15;p51"/>
          <p:cNvSpPr/>
          <p:nvPr/>
        </p:nvSpPr>
        <p:spPr>
          <a:xfrm>
            <a:off x="6907143" y="477831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16;p51"/>
          <p:cNvSpPr/>
          <p:nvPr/>
        </p:nvSpPr>
        <p:spPr>
          <a:xfrm>
            <a:off x="6907143" y="267113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1;p51"/>
          <p:cNvSpPr/>
          <p:nvPr/>
        </p:nvSpPr>
        <p:spPr>
          <a:xfrm>
            <a:off x="8318143" y="372473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3" name="Google Shape;3222;p51"/>
          <p:cNvSpPr/>
          <p:nvPr/>
        </p:nvSpPr>
        <p:spPr>
          <a:xfrm>
            <a:off x="8318143" y="477832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4" name="Google Shape;3223;p51"/>
          <p:cNvSpPr/>
          <p:nvPr/>
        </p:nvSpPr>
        <p:spPr>
          <a:xfrm>
            <a:off x="8318143" y="267115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5" name="Google Shape;3224;p51"/>
          <p:cNvCxnSpPr>
            <a:stCxn id="11" idx="6"/>
            <a:endCxn id="12" idx="2"/>
          </p:cNvCxnSpPr>
          <p:nvPr/>
        </p:nvCxnSpPr>
        <p:spPr>
          <a:xfrm>
            <a:off x="7639143" y="3021687"/>
            <a:ext cx="678900" cy="10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5;p51"/>
          <p:cNvCxnSpPr>
            <a:stCxn id="11" idx="6"/>
            <a:endCxn id="14" idx="2"/>
          </p:cNvCxnSpPr>
          <p:nvPr/>
        </p:nvCxnSpPr>
        <p:spPr>
          <a:xfrm>
            <a:off x="7639143" y="3021687"/>
            <a:ext cx="678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6;p51"/>
          <p:cNvCxnSpPr>
            <a:stCxn id="11" idx="6"/>
            <a:endCxn id="13" idx="2"/>
          </p:cNvCxnSpPr>
          <p:nvPr/>
        </p:nvCxnSpPr>
        <p:spPr>
          <a:xfrm>
            <a:off x="7639143" y="3021687"/>
            <a:ext cx="678900" cy="210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27;p51"/>
          <p:cNvCxnSpPr>
            <a:stCxn id="8" idx="6"/>
            <a:endCxn id="14" idx="2"/>
          </p:cNvCxnSpPr>
          <p:nvPr/>
        </p:nvCxnSpPr>
        <p:spPr>
          <a:xfrm rot="10800000" flipH="1">
            <a:off x="7639143" y="3021675"/>
            <a:ext cx="678900" cy="10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28;p51"/>
          <p:cNvCxnSpPr>
            <a:stCxn id="8" idx="6"/>
            <a:endCxn id="12" idx="2"/>
          </p:cNvCxnSpPr>
          <p:nvPr/>
        </p:nvCxnSpPr>
        <p:spPr>
          <a:xfrm>
            <a:off x="7639143" y="4075275"/>
            <a:ext cx="678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29;p51"/>
          <p:cNvCxnSpPr>
            <a:stCxn id="8" idx="6"/>
            <a:endCxn id="13" idx="2"/>
          </p:cNvCxnSpPr>
          <p:nvPr/>
        </p:nvCxnSpPr>
        <p:spPr>
          <a:xfrm>
            <a:off x="7639143" y="4075275"/>
            <a:ext cx="678900" cy="10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230;p51"/>
          <p:cNvCxnSpPr>
            <a:stCxn id="10" idx="6"/>
            <a:endCxn id="14" idx="2"/>
          </p:cNvCxnSpPr>
          <p:nvPr/>
        </p:nvCxnSpPr>
        <p:spPr>
          <a:xfrm rot="10800000" flipH="1">
            <a:off x="7639143" y="3021662"/>
            <a:ext cx="678900" cy="210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3231;p51"/>
          <p:cNvCxnSpPr>
            <a:stCxn id="10" idx="6"/>
            <a:endCxn id="12" idx="2"/>
          </p:cNvCxnSpPr>
          <p:nvPr/>
        </p:nvCxnSpPr>
        <p:spPr>
          <a:xfrm rot="10800000" flipH="1">
            <a:off x="7639143" y="4075262"/>
            <a:ext cx="678900" cy="105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3232;p51"/>
          <p:cNvCxnSpPr>
            <a:stCxn id="10" idx="6"/>
            <a:endCxn id="13" idx="2"/>
          </p:cNvCxnSpPr>
          <p:nvPr/>
        </p:nvCxnSpPr>
        <p:spPr>
          <a:xfrm>
            <a:off x="7639143" y="5128862"/>
            <a:ext cx="678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Google Shape;3233;p51"/>
          <p:cNvSpPr/>
          <p:nvPr/>
        </p:nvSpPr>
        <p:spPr>
          <a:xfrm>
            <a:off x="9695693" y="328507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5" name="Google Shape;3234;p51"/>
          <p:cNvSpPr/>
          <p:nvPr/>
        </p:nvSpPr>
        <p:spPr>
          <a:xfrm>
            <a:off x="9695693" y="416437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6" name="Google Shape;3235;p51"/>
          <p:cNvCxnSpPr>
            <a:stCxn id="14" idx="6"/>
            <a:endCxn id="24" idx="2"/>
          </p:cNvCxnSpPr>
          <p:nvPr/>
        </p:nvCxnSpPr>
        <p:spPr>
          <a:xfrm>
            <a:off x="9050143" y="3021700"/>
            <a:ext cx="645600" cy="6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6;p51"/>
          <p:cNvCxnSpPr>
            <a:stCxn id="14" idx="6"/>
            <a:endCxn id="25" idx="2"/>
          </p:cNvCxnSpPr>
          <p:nvPr/>
        </p:nvCxnSpPr>
        <p:spPr>
          <a:xfrm>
            <a:off x="9050143" y="3021700"/>
            <a:ext cx="645600" cy="14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37;p51"/>
          <p:cNvCxnSpPr>
            <a:stCxn id="12" idx="6"/>
            <a:endCxn id="24" idx="2"/>
          </p:cNvCxnSpPr>
          <p:nvPr/>
        </p:nvCxnSpPr>
        <p:spPr>
          <a:xfrm rot="10800000" flipH="1">
            <a:off x="9050143" y="3635487"/>
            <a:ext cx="645600" cy="43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238;p51"/>
          <p:cNvCxnSpPr>
            <a:stCxn id="12" idx="6"/>
            <a:endCxn id="25" idx="2"/>
          </p:cNvCxnSpPr>
          <p:nvPr/>
        </p:nvCxnSpPr>
        <p:spPr>
          <a:xfrm>
            <a:off x="9050143" y="4075287"/>
            <a:ext cx="645600" cy="4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3239;p51"/>
          <p:cNvCxnSpPr>
            <a:stCxn id="13" idx="6"/>
            <a:endCxn id="24" idx="2"/>
          </p:cNvCxnSpPr>
          <p:nvPr/>
        </p:nvCxnSpPr>
        <p:spPr>
          <a:xfrm rot="10800000" flipH="1">
            <a:off x="9050143" y="3635775"/>
            <a:ext cx="645600" cy="149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3240;p51"/>
          <p:cNvCxnSpPr>
            <a:stCxn id="13" idx="6"/>
            <a:endCxn id="25" idx="2"/>
          </p:cNvCxnSpPr>
          <p:nvPr/>
        </p:nvCxnSpPr>
        <p:spPr>
          <a:xfrm rot="10800000" flipH="1">
            <a:off x="9050143" y="4515075"/>
            <a:ext cx="645600" cy="613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41;p51"/>
          <p:cNvCxnSpPr/>
          <p:nvPr/>
        </p:nvCxnSpPr>
        <p:spPr>
          <a:xfrm>
            <a:off x="10427693" y="3635625"/>
            <a:ext cx="741900" cy="1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42;p51"/>
          <p:cNvCxnSpPr>
            <a:stCxn id="25" idx="6"/>
          </p:cNvCxnSpPr>
          <p:nvPr/>
        </p:nvCxnSpPr>
        <p:spPr>
          <a:xfrm>
            <a:off x="10427693" y="4514925"/>
            <a:ext cx="722100" cy="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TextBox 4"/>
          <p:cNvSpPr txBox="1"/>
          <p:nvPr/>
        </p:nvSpPr>
        <p:spPr>
          <a:xfrm>
            <a:off x="6781800" y="56007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输入层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5693" y="55689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输出层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8143" y="55714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隐藏层</a:t>
            </a:r>
          </a:p>
        </p:txBody>
      </p:sp>
    </p:spTree>
    <p:extLst>
      <p:ext uri="{BB962C8B-B14F-4D97-AF65-F5344CB8AC3E}">
        <p14:creationId xmlns:p14="http://schemas.microsoft.com/office/powerpoint/2010/main" val="3829043047"/>
      </p:ext>
    </p:extLst>
  </p:cSld>
  <p:clrMapOvr>
    <a:masterClrMapping/>
  </p:clrMapOvr>
  <p:transition advTm="800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人工神经网络发展历史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2EC659-D5E7-4DAE-BADA-C1EFCDF659AE}"/>
              </a:ext>
            </a:extLst>
          </p:cNvPr>
          <p:cNvSpPr txBox="1"/>
          <p:nvPr/>
        </p:nvSpPr>
        <p:spPr>
          <a:xfrm>
            <a:off x="668338" y="1703923"/>
            <a:ext cx="578182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1960</a:t>
            </a:r>
            <a:r>
              <a:rPr lang="zh-CN" altLang="en-US" dirty="0"/>
              <a:t>年代，人工网络得到了进一步地发展感知机和自适应线性元件等被提出。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M.Minsky</a:t>
            </a:r>
            <a:r>
              <a:rPr lang="zh-CN" altLang="en-US" dirty="0"/>
              <a:t>仔细分析了以感知机为代表的神经网络的局限性，指出了感知机不能解决非线性问题，这极大影响了神经网络的研究。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734" y="571640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单层感知机的数学模型</a:t>
            </a:r>
          </a:p>
        </p:txBody>
      </p:sp>
      <p:sp>
        <p:nvSpPr>
          <p:cNvPr id="4" name="椭圆 3"/>
          <p:cNvSpPr/>
          <p:nvPr/>
        </p:nvSpPr>
        <p:spPr>
          <a:xfrm>
            <a:off x="8891554" y="3022600"/>
            <a:ext cx="508000" cy="5270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7916098" y="2443185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916098" y="2941731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916097" y="3425853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915985" y="3881130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506230"/>
              </p:ext>
            </p:extLst>
          </p:nvPr>
        </p:nvGraphicFramePr>
        <p:xfrm>
          <a:off x="9008057" y="3100325"/>
          <a:ext cx="413027" cy="359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1960" imgH="253800" progId="Equation.DSMT4">
                  <p:embed/>
                </p:oleObj>
              </mc:Choice>
              <mc:Fallback>
                <p:oleObj name="Equation" r:id="rId3" imgW="291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8057" y="3100325"/>
                        <a:ext cx="413027" cy="359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/>
          <p:cNvCxnSpPr>
            <a:endCxn id="4" idx="4"/>
          </p:cNvCxnSpPr>
          <p:nvPr/>
        </p:nvCxnSpPr>
        <p:spPr>
          <a:xfrm flipV="1">
            <a:off x="9145554" y="3549650"/>
            <a:ext cx="0" cy="892602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4" idx="6"/>
            <a:endCxn id="4" idx="3"/>
          </p:cNvCxnSpPr>
          <p:nvPr/>
        </p:nvCxnSpPr>
        <p:spPr>
          <a:xfrm flipV="1">
            <a:off x="8140238" y="3472465"/>
            <a:ext cx="825711" cy="52608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3" idx="6"/>
            <a:endCxn id="4" idx="2"/>
          </p:cNvCxnSpPr>
          <p:nvPr/>
        </p:nvCxnSpPr>
        <p:spPr>
          <a:xfrm flipV="1">
            <a:off x="8140350" y="3286125"/>
            <a:ext cx="751204" cy="257143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2" idx="6"/>
          </p:cNvCxnSpPr>
          <p:nvPr/>
        </p:nvCxnSpPr>
        <p:spPr>
          <a:xfrm>
            <a:off x="8140351" y="3059146"/>
            <a:ext cx="721136" cy="160004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10" idx="6"/>
            <a:endCxn id="4" idx="1"/>
          </p:cNvCxnSpPr>
          <p:nvPr/>
        </p:nvCxnSpPr>
        <p:spPr>
          <a:xfrm>
            <a:off x="8140351" y="2560600"/>
            <a:ext cx="825598" cy="539185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54" name="对象 20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09240"/>
              </p:ext>
            </p:extLst>
          </p:nvPr>
        </p:nvGraphicFramePr>
        <p:xfrm>
          <a:off x="8179653" y="2271889"/>
          <a:ext cx="266460" cy="342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228600" progId="Equation.DSMT4">
                  <p:embed/>
                </p:oleObj>
              </mc:Choice>
              <mc:Fallback>
                <p:oleObj name="Equation" r:id="rId5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79653" y="2271889"/>
                        <a:ext cx="266460" cy="342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对象 20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194855"/>
              </p:ext>
            </p:extLst>
          </p:nvPr>
        </p:nvGraphicFramePr>
        <p:xfrm>
          <a:off x="9201763" y="4256125"/>
          <a:ext cx="197791" cy="276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177480" progId="Equation.DSMT4">
                  <p:embed/>
                </p:oleObj>
              </mc:Choice>
              <mc:Fallback>
                <p:oleObj name="Equation" r:id="rId7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01763" y="4256125"/>
                        <a:ext cx="197791" cy="276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对象 20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9906938"/>
              </p:ext>
            </p:extLst>
          </p:nvPr>
        </p:nvGraphicFramePr>
        <p:xfrm>
          <a:off x="8151779" y="2770188"/>
          <a:ext cx="2857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40" imgH="228600" progId="Equation.DSMT4">
                  <p:embed/>
                </p:oleObj>
              </mc:Choice>
              <mc:Fallback>
                <p:oleObj name="Equation" r:id="rId9" imgW="190440" imgH="228600" progId="Equation.DSMT4">
                  <p:embed/>
                  <p:pic>
                    <p:nvPicPr>
                      <p:cNvPr id="0" name="对象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1779" y="2770188"/>
                        <a:ext cx="2857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对象 20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557185"/>
              </p:ext>
            </p:extLst>
          </p:nvPr>
        </p:nvGraphicFramePr>
        <p:xfrm>
          <a:off x="8150192" y="3176588"/>
          <a:ext cx="26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480" imgH="228600" progId="Equation.DSMT4">
                  <p:embed/>
                </p:oleObj>
              </mc:Choice>
              <mc:Fallback>
                <p:oleObj name="Equation" r:id="rId11" imgW="177480" imgH="228600" progId="Equation.DSMT4">
                  <p:embed/>
                  <p:pic>
                    <p:nvPicPr>
                      <p:cNvPr id="0" name="对象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0192" y="3176588"/>
                        <a:ext cx="266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对象 20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403831"/>
              </p:ext>
            </p:extLst>
          </p:nvPr>
        </p:nvGraphicFramePr>
        <p:xfrm>
          <a:off x="8196229" y="3824288"/>
          <a:ext cx="3238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228600" progId="Equation.DSMT4">
                  <p:embed/>
                </p:oleObj>
              </mc:Choice>
              <mc:Fallback>
                <p:oleObj name="Equation" r:id="rId13" imgW="215640" imgH="228600" progId="Equation.DSMT4">
                  <p:embed/>
                  <p:pic>
                    <p:nvPicPr>
                      <p:cNvPr id="0" name="对象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6229" y="3824288"/>
                        <a:ext cx="3238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箭头连接符 46"/>
          <p:cNvCxnSpPr>
            <a:endCxn id="10" idx="2"/>
          </p:cNvCxnSpPr>
          <p:nvPr/>
        </p:nvCxnSpPr>
        <p:spPr>
          <a:xfrm>
            <a:off x="7075955" y="2560600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61" name="对象 20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947401"/>
              </p:ext>
            </p:extLst>
          </p:nvPr>
        </p:nvGraphicFramePr>
        <p:xfrm>
          <a:off x="6962742" y="2217738"/>
          <a:ext cx="2270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对象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742" y="2217738"/>
                        <a:ext cx="2270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箭头连接符 50"/>
          <p:cNvCxnSpPr/>
          <p:nvPr/>
        </p:nvCxnSpPr>
        <p:spPr>
          <a:xfrm>
            <a:off x="7075842" y="3054907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7075841" y="3541913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7075840" y="3998545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62" name="对象 20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626767"/>
              </p:ext>
            </p:extLst>
          </p:nvPr>
        </p:nvGraphicFramePr>
        <p:xfrm>
          <a:off x="6953217" y="2716213"/>
          <a:ext cx="2460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对象 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17" y="2716213"/>
                        <a:ext cx="24606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3" name="对象 20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055058"/>
              </p:ext>
            </p:extLst>
          </p:nvPr>
        </p:nvGraphicFramePr>
        <p:xfrm>
          <a:off x="6939185" y="3219150"/>
          <a:ext cx="2270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80" imgH="228600" progId="Equation.DSMT4">
                  <p:embed/>
                </p:oleObj>
              </mc:Choice>
              <mc:Fallback>
                <p:oleObj name="Equation" r:id="rId19" imgW="152280" imgH="228600" progId="Equation.DSMT4">
                  <p:embed/>
                  <p:pic>
                    <p:nvPicPr>
                      <p:cNvPr id="0" name="对象 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185" y="3219150"/>
                        <a:ext cx="2270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4" name="对象 20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467849"/>
              </p:ext>
            </p:extLst>
          </p:nvPr>
        </p:nvGraphicFramePr>
        <p:xfrm>
          <a:off x="6933758" y="3683291"/>
          <a:ext cx="2841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0440" imgH="228600" progId="Equation.DSMT4">
                  <p:embed/>
                </p:oleObj>
              </mc:Choice>
              <mc:Fallback>
                <p:oleObj name="Equation" r:id="rId21" imgW="190440" imgH="228600" progId="Equation.DSMT4">
                  <p:embed/>
                  <p:pic>
                    <p:nvPicPr>
                      <p:cNvPr id="0" name="对象 2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3758" y="3683291"/>
                        <a:ext cx="28416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5" name="TextBox 2064"/>
          <p:cNvSpPr txBox="1"/>
          <p:nvPr/>
        </p:nvSpPr>
        <p:spPr>
          <a:xfrm>
            <a:off x="7355609" y="307575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355609" y="354326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9399554" y="3286125"/>
            <a:ext cx="68786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8" name="圆角矩形 2067"/>
          <p:cNvSpPr/>
          <p:nvPr/>
        </p:nvSpPr>
        <p:spPr>
          <a:xfrm>
            <a:off x="10087417" y="3054907"/>
            <a:ext cx="680752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69" name="对象 20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432704"/>
              </p:ext>
            </p:extLst>
          </p:nvPr>
        </p:nvGraphicFramePr>
        <p:xfrm>
          <a:off x="10293060" y="3099785"/>
          <a:ext cx="269465" cy="35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2280" imgH="203040" progId="Equation.DSMT4">
                  <p:embed/>
                </p:oleObj>
              </mc:Choice>
              <mc:Fallback>
                <p:oleObj name="Equation" r:id="rId23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293060" y="3099785"/>
                        <a:ext cx="269465" cy="359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箭头连接符 64"/>
          <p:cNvCxnSpPr/>
          <p:nvPr/>
        </p:nvCxnSpPr>
        <p:spPr>
          <a:xfrm>
            <a:off x="10768169" y="3283507"/>
            <a:ext cx="585099" cy="2618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71" name="对象 20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781676"/>
              </p:ext>
            </p:extLst>
          </p:nvPr>
        </p:nvGraphicFramePr>
        <p:xfrm>
          <a:off x="11105858" y="2889914"/>
          <a:ext cx="247410" cy="292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9680" imgH="164880" progId="Equation.DSMT4">
                  <p:embed/>
                </p:oleObj>
              </mc:Choice>
              <mc:Fallback>
                <p:oleObj name="Equation" r:id="rId25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105858" y="2889914"/>
                        <a:ext cx="247410" cy="292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8073F16-DB9A-45B8-A7E3-EF8A66B8D165}"/>
                  </a:ext>
                </a:extLst>
              </p:cNvPr>
              <p:cNvSpPr txBox="1"/>
              <p:nvPr/>
            </p:nvSpPr>
            <p:spPr>
              <a:xfrm>
                <a:off x="5919263" y="4662187"/>
                <a:ext cx="6093372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78073F16-DB9A-45B8-A7E3-EF8A66B8D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263" y="4662187"/>
                <a:ext cx="6093372" cy="106048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187368"/>
      </p:ext>
    </p:extLst>
  </p:cSld>
  <p:clrMapOvr>
    <a:masterClrMapping/>
  </p:clrMapOvr>
  <p:transition advTm="800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人工神经网络发展历史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F37568-89EB-48CA-85D2-D793085BB784}"/>
              </a:ext>
            </a:extLst>
          </p:cNvPr>
          <p:cNvSpPr txBox="1"/>
          <p:nvPr/>
        </p:nvSpPr>
        <p:spPr>
          <a:xfrm>
            <a:off x="550394" y="2109934"/>
            <a:ext cx="49029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1982</a:t>
            </a:r>
            <a:r>
              <a:rPr lang="zh-CN" altLang="en-US" dirty="0"/>
              <a:t>年，加州理工学院</a:t>
            </a:r>
            <a:r>
              <a:rPr lang="en-US" altLang="zh-CN" dirty="0" err="1"/>
              <a:t>J.J.Hopfield</a:t>
            </a:r>
            <a:r>
              <a:rPr lang="zh-CN" altLang="en-US" dirty="0"/>
              <a:t>教授提出了</a:t>
            </a:r>
            <a:r>
              <a:rPr lang="en-US" altLang="zh-CN" dirty="0"/>
              <a:t>Hopfield</a:t>
            </a:r>
            <a:r>
              <a:rPr lang="zh-CN" altLang="en-US" dirty="0"/>
              <a:t>神经网络模型，引入了计算能量概念，给出了网络稳定性判断。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93878" y="5829998"/>
            <a:ext cx="3778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离散</a:t>
            </a:r>
            <a:r>
              <a:rPr lang="en-US" altLang="zh-CN" dirty="0"/>
              <a:t>Hopfield</a:t>
            </a:r>
            <a:r>
              <a:rPr lang="zh-CN" altLang="en-US" dirty="0"/>
              <a:t>神经网络模型</a:t>
            </a:r>
          </a:p>
        </p:txBody>
      </p:sp>
      <p:sp>
        <p:nvSpPr>
          <p:cNvPr id="3" name="椭圆 2"/>
          <p:cNvSpPr/>
          <p:nvPr/>
        </p:nvSpPr>
        <p:spPr>
          <a:xfrm>
            <a:off x="7308850" y="4197280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8229600" y="419786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074150" y="419786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10015277" y="419786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161744"/>
              </p:ext>
            </p:extLst>
          </p:nvPr>
        </p:nvGraphicFramePr>
        <p:xfrm>
          <a:off x="7411306" y="4219462"/>
          <a:ext cx="252288" cy="41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" imgH="228600" progId="Equation.DSMT4">
                  <p:embed/>
                </p:oleObj>
              </mc:Choice>
              <mc:Fallback>
                <p:oleObj name="Equation" r:id="rId3" imgW="13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11306" y="4219462"/>
                        <a:ext cx="252288" cy="412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417342"/>
              </p:ext>
            </p:extLst>
          </p:nvPr>
        </p:nvGraphicFramePr>
        <p:xfrm>
          <a:off x="8310563" y="4242953"/>
          <a:ext cx="2968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563" y="4242953"/>
                        <a:ext cx="2968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89549"/>
              </p:ext>
            </p:extLst>
          </p:nvPr>
        </p:nvGraphicFramePr>
        <p:xfrm>
          <a:off x="9155113" y="4241365"/>
          <a:ext cx="2968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5113" y="4241365"/>
                        <a:ext cx="2968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228568"/>
              </p:ext>
            </p:extLst>
          </p:nvPr>
        </p:nvGraphicFramePr>
        <p:xfrm>
          <a:off x="10074275" y="4242953"/>
          <a:ext cx="3413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40" imgH="228600" progId="Equation.DSMT4">
                  <p:embed/>
                </p:oleObj>
              </mc:Choice>
              <mc:Fallback>
                <p:oleObj name="Equation" r:id="rId9" imgW="19044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74275" y="4242953"/>
                        <a:ext cx="34131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647043" y="417929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531350" y="417969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4" name="椭圆 13"/>
          <p:cNvSpPr/>
          <p:nvPr/>
        </p:nvSpPr>
        <p:spPr>
          <a:xfrm>
            <a:off x="7461912" y="3731085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8382662" y="3544229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227212" y="3404996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0168339" y="3265763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7461911" y="4980773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7656720" y="4597114"/>
            <a:ext cx="153060" cy="19675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8577157" y="4615005"/>
            <a:ext cx="153060" cy="17886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7308850" y="5202789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7157775" y="5439297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8372722" y="4793865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9227211" y="4802477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 flipH="1" flipV="1">
            <a:off x="9454820" y="4615005"/>
            <a:ext cx="153060" cy="19675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10395947" y="4594418"/>
            <a:ext cx="153060" cy="19675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10168339" y="4815644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6885830" y="4877309"/>
            <a:ext cx="350956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620750" y="5045613"/>
            <a:ext cx="350956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9051343" y="4980773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9948255" y="4987405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9659358" y="5205446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8154062" y="5202788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7927559" y="5439297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箭头连接符 45"/>
          <p:cNvCxnSpPr>
            <a:stCxn id="21" idx="0"/>
            <a:endCxn id="3" idx="4"/>
          </p:cNvCxnSpPr>
          <p:nvPr/>
        </p:nvCxnSpPr>
        <p:spPr>
          <a:xfrm flipV="1">
            <a:off x="7537449" y="4654480"/>
            <a:ext cx="1" cy="32629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29" idx="0"/>
            <a:endCxn id="5" idx="2"/>
          </p:cNvCxnSpPr>
          <p:nvPr/>
        </p:nvCxnSpPr>
        <p:spPr>
          <a:xfrm flipV="1">
            <a:off x="8448260" y="4655703"/>
            <a:ext cx="10734" cy="13816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0" idx="0"/>
            <a:endCxn id="8" idx="4"/>
          </p:cNvCxnSpPr>
          <p:nvPr/>
        </p:nvCxnSpPr>
        <p:spPr>
          <a:xfrm flipV="1">
            <a:off x="9302749" y="4655065"/>
            <a:ext cx="1" cy="14741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5" idx="0"/>
            <a:endCxn id="9" idx="4"/>
          </p:cNvCxnSpPr>
          <p:nvPr/>
        </p:nvCxnSpPr>
        <p:spPr>
          <a:xfrm flipV="1">
            <a:off x="10243877" y="4655065"/>
            <a:ext cx="0" cy="16057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4" idx="0"/>
          </p:cNvCxnSpPr>
          <p:nvPr/>
        </p:nvCxnSpPr>
        <p:spPr>
          <a:xfrm flipV="1">
            <a:off x="8229600" y="4692793"/>
            <a:ext cx="143122" cy="50999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45" idx="0"/>
          </p:cNvCxnSpPr>
          <p:nvPr/>
        </p:nvCxnSpPr>
        <p:spPr>
          <a:xfrm flipV="1">
            <a:off x="8003097" y="4692793"/>
            <a:ext cx="258308" cy="74650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28" idx="0"/>
          </p:cNvCxnSpPr>
          <p:nvPr/>
        </p:nvCxnSpPr>
        <p:spPr>
          <a:xfrm flipV="1">
            <a:off x="7233313" y="4695489"/>
            <a:ext cx="151074" cy="74380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27" idx="0"/>
          </p:cNvCxnSpPr>
          <p:nvPr/>
        </p:nvCxnSpPr>
        <p:spPr>
          <a:xfrm flipV="1">
            <a:off x="7384388" y="4704435"/>
            <a:ext cx="77524" cy="49835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/>
          <p:cNvSpPr/>
          <p:nvPr/>
        </p:nvSpPr>
        <p:spPr>
          <a:xfrm>
            <a:off x="8777446" y="5439296"/>
            <a:ext cx="151075" cy="1392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箭头连接符 73"/>
          <p:cNvCxnSpPr>
            <a:stCxn id="41" idx="0"/>
          </p:cNvCxnSpPr>
          <p:nvPr/>
        </p:nvCxnSpPr>
        <p:spPr>
          <a:xfrm flipV="1">
            <a:off x="9126881" y="4692793"/>
            <a:ext cx="71560" cy="2879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73" idx="0"/>
          </p:cNvCxnSpPr>
          <p:nvPr/>
        </p:nvCxnSpPr>
        <p:spPr>
          <a:xfrm flipV="1">
            <a:off x="8852984" y="4641363"/>
            <a:ext cx="273896" cy="79793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379526" y="5269581"/>
            <a:ext cx="3476116" cy="27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6062758" y="5505477"/>
            <a:ext cx="292717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43" idx="0"/>
          </p:cNvCxnSpPr>
          <p:nvPr/>
        </p:nvCxnSpPr>
        <p:spPr>
          <a:xfrm flipV="1">
            <a:off x="9734896" y="4640960"/>
            <a:ext cx="331455" cy="56448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42" idx="0"/>
          </p:cNvCxnSpPr>
          <p:nvPr/>
        </p:nvCxnSpPr>
        <p:spPr>
          <a:xfrm flipV="1">
            <a:off x="10023793" y="4692793"/>
            <a:ext cx="144546" cy="29461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4" name="直接连接符 4113"/>
          <p:cNvCxnSpPr/>
          <p:nvPr/>
        </p:nvCxnSpPr>
        <p:spPr>
          <a:xfrm>
            <a:off x="6885830" y="3800702"/>
            <a:ext cx="0" cy="10845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endCxn id="14" idx="2"/>
          </p:cNvCxnSpPr>
          <p:nvPr/>
        </p:nvCxnSpPr>
        <p:spPr>
          <a:xfrm>
            <a:off x="6885830" y="3800701"/>
            <a:ext cx="57608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>
            <a:endCxn id="18" idx="2"/>
          </p:cNvCxnSpPr>
          <p:nvPr/>
        </p:nvCxnSpPr>
        <p:spPr>
          <a:xfrm flipV="1">
            <a:off x="6620750" y="3613846"/>
            <a:ext cx="1761912" cy="924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6620750" y="3619117"/>
            <a:ext cx="0" cy="144295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6379526" y="3474612"/>
            <a:ext cx="2614" cy="17949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flipV="1">
            <a:off x="6382140" y="3460035"/>
            <a:ext cx="2845072" cy="92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6062758" y="3345271"/>
            <a:ext cx="2614" cy="21636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 flipV="1">
            <a:off x="6062758" y="3336025"/>
            <a:ext cx="4105581" cy="924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V="1">
            <a:off x="7537447" y="2723301"/>
            <a:ext cx="3" cy="147456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V="1">
            <a:off x="8462971" y="2713561"/>
            <a:ext cx="3" cy="147456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 flipV="1">
            <a:off x="9302745" y="2713561"/>
            <a:ext cx="3" cy="147456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V="1">
            <a:off x="10243873" y="2713560"/>
            <a:ext cx="3" cy="147456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511479"/>
              </p:ext>
            </p:extLst>
          </p:nvPr>
        </p:nvGraphicFramePr>
        <p:xfrm>
          <a:off x="7596188" y="2677678"/>
          <a:ext cx="2730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228600" progId="Equation.DSMT4">
                  <p:embed/>
                </p:oleObj>
              </mc:Choice>
              <mc:Fallback>
                <p:oleObj name="Equation" r:id="rId11" imgW="15228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677678"/>
                        <a:ext cx="2730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827793"/>
              </p:ext>
            </p:extLst>
          </p:nvPr>
        </p:nvGraphicFramePr>
        <p:xfrm>
          <a:off x="8539163" y="2663390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80" imgH="228600" progId="Equation.DSMT4">
                  <p:embed/>
                </p:oleObj>
              </mc:Choice>
              <mc:Fallback>
                <p:oleObj name="Equation" r:id="rId13" imgW="164880" imgH="228600" progId="Equation.DSMT4">
                  <p:embed/>
                  <p:pic>
                    <p:nvPicPr>
                      <p:cNvPr id="0" name="对象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9163" y="2663390"/>
                        <a:ext cx="2952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818711"/>
              </p:ext>
            </p:extLst>
          </p:nvPr>
        </p:nvGraphicFramePr>
        <p:xfrm>
          <a:off x="9398000" y="2671328"/>
          <a:ext cx="27463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对象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0" y="2671328"/>
                        <a:ext cx="27463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503001"/>
              </p:ext>
            </p:extLst>
          </p:nvPr>
        </p:nvGraphicFramePr>
        <p:xfrm>
          <a:off x="10385425" y="2714190"/>
          <a:ext cx="2968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对象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5425" y="2714190"/>
                        <a:ext cx="2968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4002655"/>
      </p:ext>
    </p:extLst>
  </p:cSld>
  <p:clrMapOvr>
    <a:masterClrMapping/>
  </p:clrMapOvr>
  <p:transition advTm="8005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人工神经网络发展历史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B957DF-624C-4EC6-AB75-078B8DD7A6C0}"/>
              </a:ext>
            </a:extLst>
          </p:cNvPr>
          <p:cNvSpPr txBox="1"/>
          <p:nvPr/>
        </p:nvSpPr>
        <p:spPr>
          <a:xfrm>
            <a:off x="378972" y="1559641"/>
            <a:ext cx="448239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i="0" dirty="0">
                <a:effectLst/>
                <a:latin typeface="+mn-lt"/>
              </a:rPr>
              <a:t>1986</a:t>
            </a:r>
            <a:r>
              <a:rPr lang="zh-CN" altLang="en-US" i="0" dirty="0">
                <a:effectLst/>
                <a:latin typeface="Helvetica Neue"/>
              </a:rPr>
              <a:t>年，</a:t>
            </a:r>
            <a:r>
              <a:rPr lang="en-US" altLang="zh-CN" i="0" dirty="0" err="1">
                <a:effectLst/>
                <a:latin typeface="+mn-lt"/>
              </a:rPr>
              <a:t>Rumelhart</a:t>
            </a:r>
            <a:r>
              <a:rPr lang="zh-CN" altLang="en-US" i="0" dirty="0">
                <a:effectLst/>
                <a:latin typeface="Helvetica Neue"/>
              </a:rPr>
              <a:t>和</a:t>
            </a:r>
            <a:r>
              <a:rPr lang="en-US" altLang="zh-CN" i="0" dirty="0">
                <a:effectLst/>
                <a:latin typeface="+mn-lt"/>
              </a:rPr>
              <a:t>McClelland</a:t>
            </a:r>
            <a:r>
              <a:rPr lang="zh-CN" altLang="en-US" i="0" dirty="0">
                <a:effectLst/>
                <a:latin typeface="+mn-lt"/>
              </a:rPr>
              <a:t>为首的科学家提出了</a:t>
            </a:r>
            <a:r>
              <a:rPr lang="en-US" altLang="zh-CN" i="0" dirty="0">
                <a:effectLst/>
                <a:latin typeface="+mn-lt"/>
              </a:rPr>
              <a:t>BP</a:t>
            </a:r>
            <a:r>
              <a:rPr lang="zh-CN" altLang="en-US" dirty="0">
                <a:latin typeface="+mn-lt"/>
              </a:rPr>
              <a:t>（</a:t>
            </a:r>
            <a:r>
              <a:rPr lang="en-US" altLang="zh-CN" dirty="0">
                <a:latin typeface="+mn-lt"/>
              </a:rPr>
              <a:t>Back Propagation</a:t>
            </a:r>
            <a:r>
              <a:rPr lang="zh-CN" altLang="en-US" dirty="0">
                <a:latin typeface="+mn-lt"/>
              </a:rPr>
              <a:t>）</a:t>
            </a:r>
            <a:r>
              <a:rPr lang="zh-CN" altLang="en-US" i="0" dirty="0">
                <a:effectLst/>
                <a:latin typeface="+mn-lt"/>
              </a:rPr>
              <a:t>神经网络的概念</a:t>
            </a:r>
            <a:r>
              <a:rPr lang="zh-CN" altLang="en-US" dirty="0">
                <a:latin typeface="+mn-lt"/>
              </a:rPr>
              <a:t>，是一种按照误差逆向传播算法训练的多层前馈神经网络，目前是应用最广泛的神经网络。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8031" y="5861106"/>
            <a:ext cx="2441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BP</a:t>
            </a:r>
            <a:r>
              <a:rPr lang="zh-CN" altLang="en-US" dirty="0"/>
              <a:t>神经网络模型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07280"/>
              </p:ext>
            </p:extLst>
          </p:nvPr>
        </p:nvGraphicFramePr>
        <p:xfrm>
          <a:off x="7791427" y="3438892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91427" y="3438892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3214;p51"/>
          <p:cNvSpPr/>
          <p:nvPr/>
        </p:nvSpPr>
        <p:spPr>
          <a:xfrm>
            <a:off x="5885561" y="334423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15;p51"/>
          <p:cNvSpPr/>
          <p:nvPr/>
        </p:nvSpPr>
        <p:spPr>
          <a:xfrm>
            <a:off x="5885561" y="439782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16;p51"/>
          <p:cNvSpPr/>
          <p:nvPr/>
        </p:nvSpPr>
        <p:spPr>
          <a:xfrm>
            <a:off x="5885561" y="229064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1;p51"/>
          <p:cNvSpPr/>
          <p:nvPr/>
        </p:nvSpPr>
        <p:spPr>
          <a:xfrm>
            <a:off x="8258955" y="284369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2;p51"/>
          <p:cNvSpPr/>
          <p:nvPr/>
        </p:nvSpPr>
        <p:spPr>
          <a:xfrm>
            <a:off x="8258955" y="389728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3" name="Google Shape;3223;p51"/>
          <p:cNvSpPr/>
          <p:nvPr/>
        </p:nvSpPr>
        <p:spPr>
          <a:xfrm>
            <a:off x="8258955" y="179011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4" name="Google Shape;3224;p51"/>
          <p:cNvCxnSpPr>
            <a:stCxn id="10" idx="6"/>
            <a:endCxn id="11" idx="2"/>
          </p:cNvCxnSpPr>
          <p:nvPr/>
        </p:nvCxnSpPr>
        <p:spPr>
          <a:xfrm>
            <a:off x="6617561" y="2641199"/>
            <a:ext cx="1641394" cy="5530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5;p51"/>
          <p:cNvCxnSpPr>
            <a:stCxn id="10" idx="6"/>
            <a:endCxn id="13" idx="2"/>
          </p:cNvCxnSpPr>
          <p:nvPr/>
        </p:nvCxnSpPr>
        <p:spPr>
          <a:xfrm flipV="1">
            <a:off x="6617561" y="2140662"/>
            <a:ext cx="1641394" cy="5005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7;p51"/>
          <p:cNvCxnSpPr>
            <a:stCxn id="7" idx="6"/>
            <a:endCxn id="13" idx="2"/>
          </p:cNvCxnSpPr>
          <p:nvPr/>
        </p:nvCxnSpPr>
        <p:spPr>
          <a:xfrm flipV="1">
            <a:off x="6617561" y="2140662"/>
            <a:ext cx="1641394" cy="1554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8;p51"/>
          <p:cNvCxnSpPr>
            <a:stCxn id="7" idx="6"/>
            <a:endCxn id="11" idx="2"/>
          </p:cNvCxnSpPr>
          <p:nvPr/>
        </p:nvCxnSpPr>
        <p:spPr>
          <a:xfrm flipV="1">
            <a:off x="6617561" y="3194249"/>
            <a:ext cx="1641394" cy="5005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29;p51"/>
          <p:cNvCxnSpPr>
            <a:stCxn id="7" idx="6"/>
            <a:endCxn id="12" idx="2"/>
          </p:cNvCxnSpPr>
          <p:nvPr/>
        </p:nvCxnSpPr>
        <p:spPr>
          <a:xfrm>
            <a:off x="6617561" y="3694787"/>
            <a:ext cx="1641394" cy="55305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0;p51"/>
          <p:cNvCxnSpPr>
            <a:stCxn id="9" idx="6"/>
            <a:endCxn id="13" idx="2"/>
          </p:cNvCxnSpPr>
          <p:nvPr/>
        </p:nvCxnSpPr>
        <p:spPr>
          <a:xfrm flipV="1">
            <a:off x="6617561" y="2140662"/>
            <a:ext cx="1641394" cy="26077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1;p51"/>
          <p:cNvCxnSpPr>
            <a:stCxn id="9" idx="6"/>
            <a:endCxn id="11" idx="2"/>
          </p:cNvCxnSpPr>
          <p:nvPr/>
        </p:nvCxnSpPr>
        <p:spPr>
          <a:xfrm flipV="1">
            <a:off x="6617561" y="3194249"/>
            <a:ext cx="1641394" cy="1554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232;p51"/>
          <p:cNvCxnSpPr>
            <a:stCxn id="9" idx="6"/>
            <a:endCxn id="12" idx="2"/>
          </p:cNvCxnSpPr>
          <p:nvPr/>
        </p:nvCxnSpPr>
        <p:spPr>
          <a:xfrm flipV="1">
            <a:off x="6617561" y="4247837"/>
            <a:ext cx="1641394" cy="50053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3233;p51"/>
          <p:cNvSpPr/>
          <p:nvPr/>
        </p:nvSpPr>
        <p:spPr>
          <a:xfrm>
            <a:off x="10631860" y="232200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3" name="Google Shape;3234;p51"/>
          <p:cNvSpPr/>
          <p:nvPr/>
        </p:nvSpPr>
        <p:spPr>
          <a:xfrm>
            <a:off x="10631860" y="337917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4" name="Google Shape;3235;p51"/>
          <p:cNvCxnSpPr>
            <a:stCxn id="13" idx="6"/>
            <a:endCxn id="22" idx="2"/>
          </p:cNvCxnSpPr>
          <p:nvPr/>
        </p:nvCxnSpPr>
        <p:spPr>
          <a:xfrm>
            <a:off x="8990955" y="2140662"/>
            <a:ext cx="1640905" cy="5318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6;p51"/>
          <p:cNvCxnSpPr>
            <a:stCxn id="13" idx="6"/>
            <a:endCxn id="23" idx="2"/>
          </p:cNvCxnSpPr>
          <p:nvPr/>
        </p:nvCxnSpPr>
        <p:spPr>
          <a:xfrm>
            <a:off x="8990955" y="2140662"/>
            <a:ext cx="1640905" cy="158906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7;p51"/>
          <p:cNvCxnSpPr>
            <a:stCxn id="11" idx="6"/>
            <a:endCxn id="22" idx="2"/>
          </p:cNvCxnSpPr>
          <p:nvPr/>
        </p:nvCxnSpPr>
        <p:spPr>
          <a:xfrm flipV="1">
            <a:off x="8990955" y="2672559"/>
            <a:ext cx="1640905" cy="5216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8;p51"/>
          <p:cNvCxnSpPr>
            <a:stCxn id="11" idx="6"/>
            <a:endCxn id="23" idx="2"/>
          </p:cNvCxnSpPr>
          <p:nvPr/>
        </p:nvCxnSpPr>
        <p:spPr>
          <a:xfrm>
            <a:off x="8990955" y="3194249"/>
            <a:ext cx="1640905" cy="535476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39;p51"/>
          <p:cNvCxnSpPr>
            <a:stCxn id="12" idx="6"/>
            <a:endCxn id="22" idx="2"/>
          </p:cNvCxnSpPr>
          <p:nvPr/>
        </p:nvCxnSpPr>
        <p:spPr>
          <a:xfrm flipV="1">
            <a:off x="8990955" y="2672559"/>
            <a:ext cx="1640905" cy="157527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240;p51"/>
          <p:cNvCxnSpPr>
            <a:stCxn id="12" idx="6"/>
            <a:endCxn id="23" idx="2"/>
          </p:cNvCxnSpPr>
          <p:nvPr/>
        </p:nvCxnSpPr>
        <p:spPr>
          <a:xfrm flipV="1">
            <a:off x="8990955" y="3729725"/>
            <a:ext cx="1640905" cy="51811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3222;p51"/>
          <p:cNvSpPr/>
          <p:nvPr/>
        </p:nvSpPr>
        <p:spPr>
          <a:xfrm>
            <a:off x="8258955" y="499739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1" name="Google Shape;3226;p51"/>
          <p:cNvCxnSpPr>
            <a:stCxn id="10" idx="6"/>
            <a:endCxn id="30" idx="2"/>
          </p:cNvCxnSpPr>
          <p:nvPr/>
        </p:nvCxnSpPr>
        <p:spPr>
          <a:xfrm>
            <a:off x="6617561" y="2641199"/>
            <a:ext cx="1641394" cy="27067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9" idx="6"/>
            <a:endCxn id="30" idx="2"/>
          </p:cNvCxnSpPr>
          <p:nvPr/>
        </p:nvCxnSpPr>
        <p:spPr>
          <a:xfrm>
            <a:off x="6617561" y="4748374"/>
            <a:ext cx="1641394" cy="5995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32;p51"/>
          <p:cNvCxnSpPr>
            <a:stCxn id="7" idx="6"/>
            <a:endCxn id="30" idx="2"/>
          </p:cNvCxnSpPr>
          <p:nvPr/>
        </p:nvCxnSpPr>
        <p:spPr>
          <a:xfrm>
            <a:off x="6617561" y="3694787"/>
            <a:ext cx="1641394" cy="16531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240;p51"/>
          <p:cNvCxnSpPr>
            <a:stCxn id="30" idx="6"/>
            <a:endCxn id="23" idx="2"/>
          </p:cNvCxnSpPr>
          <p:nvPr/>
        </p:nvCxnSpPr>
        <p:spPr>
          <a:xfrm flipV="1">
            <a:off x="8990955" y="3729725"/>
            <a:ext cx="1640905" cy="161822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Google Shape;3234;p51"/>
          <p:cNvSpPr/>
          <p:nvPr/>
        </p:nvSpPr>
        <p:spPr>
          <a:xfrm>
            <a:off x="10631860" y="440114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6" name="Google Shape;3240;p51"/>
          <p:cNvCxnSpPr>
            <a:stCxn id="30" idx="6"/>
            <a:endCxn id="35" idx="2"/>
          </p:cNvCxnSpPr>
          <p:nvPr/>
        </p:nvCxnSpPr>
        <p:spPr>
          <a:xfrm flipV="1">
            <a:off x="8990955" y="4751692"/>
            <a:ext cx="1640905" cy="5962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12" idx="6"/>
            <a:endCxn id="35" idx="2"/>
          </p:cNvCxnSpPr>
          <p:nvPr/>
        </p:nvCxnSpPr>
        <p:spPr>
          <a:xfrm>
            <a:off x="8990955" y="4247837"/>
            <a:ext cx="1640905" cy="5038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40;p51"/>
          <p:cNvCxnSpPr>
            <a:stCxn id="30" idx="6"/>
            <a:endCxn id="22" idx="2"/>
          </p:cNvCxnSpPr>
          <p:nvPr/>
        </p:nvCxnSpPr>
        <p:spPr>
          <a:xfrm flipV="1">
            <a:off x="8990955" y="2672559"/>
            <a:ext cx="1640905" cy="26753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13" idx="6"/>
            <a:endCxn id="35" idx="2"/>
          </p:cNvCxnSpPr>
          <p:nvPr/>
        </p:nvCxnSpPr>
        <p:spPr>
          <a:xfrm>
            <a:off x="8990955" y="2140662"/>
            <a:ext cx="1640905" cy="2611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3238;p51"/>
          <p:cNvCxnSpPr>
            <a:stCxn id="11" idx="6"/>
            <a:endCxn id="35" idx="2"/>
          </p:cNvCxnSpPr>
          <p:nvPr/>
        </p:nvCxnSpPr>
        <p:spPr>
          <a:xfrm>
            <a:off x="8990955" y="3194249"/>
            <a:ext cx="1640905" cy="15574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5679366" y="179011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92729" y="181759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0736" y="12109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044434"/>
              </p:ext>
            </p:extLst>
          </p:nvPr>
        </p:nvGraphicFramePr>
        <p:xfrm>
          <a:off x="5894523" y="2194086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" imgH="241200" progId="Equation.DSMT4">
                  <p:embed/>
                </p:oleObj>
              </mc:Choice>
              <mc:Fallback>
                <p:oleObj name="Equation" r:id="rId5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94523" y="2194086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26497"/>
              </p:ext>
            </p:extLst>
          </p:nvPr>
        </p:nvGraphicFramePr>
        <p:xfrm>
          <a:off x="5873885" y="3233898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85" y="3233898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98084"/>
              </p:ext>
            </p:extLst>
          </p:nvPr>
        </p:nvGraphicFramePr>
        <p:xfrm>
          <a:off x="5818323" y="4297523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241200" progId="Equation.DSMT4">
                  <p:embed/>
                </p:oleObj>
              </mc:Choice>
              <mc:Fallback>
                <p:oleObj name="Equation" r:id="rId9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323" y="4297523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160450"/>
              </p:ext>
            </p:extLst>
          </p:nvPr>
        </p:nvGraphicFramePr>
        <p:xfrm>
          <a:off x="8386036" y="1750137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" imgH="228600" progId="Equation.DSMT4">
                  <p:embed/>
                </p:oleObj>
              </mc:Choice>
              <mc:Fallback>
                <p:oleObj name="Equation" r:id="rId11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036" y="1750137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395102"/>
              </p:ext>
            </p:extLst>
          </p:nvPr>
        </p:nvGraphicFramePr>
        <p:xfrm>
          <a:off x="8363805" y="2803198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80" imgH="228600" progId="Equation.DSMT4">
                  <p:embed/>
                </p:oleObj>
              </mc:Choice>
              <mc:Fallback>
                <p:oleObj name="Equation" r:id="rId13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3805" y="2803198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254906"/>
              </p:ext>
            </p:extLst>
          </p:nvPr>
        </p:nvGraphicFramePr>
        <p:xfrm>
          <a:off x="8343168" y="3857298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28600" progId="Equation.DSMT4">
                  <p:embed/>
                </p:oleObj>
              </mc:Choice>
              <mc:Fallback>
                <p:oleObj name="Equation" r:id="rId15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168" y="3857298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161413"/>
              </p:ext>
            </p:extLst>
          </p:nvPr>
        </p:nvGraphicFramePr>
        <p:xfrm>
          <a:off x="8343168" y="4935210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41200" progId="Equation.DSMT4">
                  <p:embed/>
                </p:oleObj>
              </mc:Choice>
              <mc:Fallback>
                <p:oleObj name="Equation" r:id="rId17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168" y="4935210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143911" y="294292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143911" y="4008164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501392" y="3488094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01392" y="460525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792326"/>
              </p:ext>
            </p:extLst>
          </p:nvPr>
        </p:nvGraphicFramePr>
        <p:xfrm>
          <a:off x="10646583" y="2269859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41200" imgH="241200" progId="Equation.DSMT4">
                  <p:embed/>
                </p:oleObj>
              </mc:Choice>
              <mc:Fallback>
                <p:oleObj name="Equation" r:id="rId19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6583" y="2269859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013105"/>
              </p:ext>
            </p:extLst>
          </p:nvPr>
        </p:nvGraphicFramePr>
        <p:xfrm>
          <a:off x="10654893" y="3376507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53800" imgH="241200" progId="Equation.DSMT4">
                  <p:embed/>
                </p:oleObj>
              </mc:Choice>
              <mc:Fallback>
                <p:oleObj name="Equation" r:id="rId2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4893" y="3376507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686242"/>
              </p:ext>
            </p:extLst>
          </p:nvPr>
        </p:nvGraphicFramePr>
        <p:xfrm>
          <a:off x="10625761" y="4361375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41200" imgH="241200" progId="Equation.DSMT4">
                  <p:embed/>
                </p:oleObj>
              </mc:Choice>
              <mc:Fallback>
                <p:oleObj name="Equation" r:id="rId23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5761" y="4361375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Google Shape;3226;p51"/>
          <p:cNvCxnSpPr>
            <a:stCxn id="10" idx="6"/>
            <a:endCxn id="12" idx="2"/>
          </p:cNvCxnSpPr>
          <p:nvPr/>
        </p:nvCxnSpPr>
        <p:spPr>
          <a:xfrm>
            <a:off x="6617561" y="2641199"/>
            <a:ext cx="1641394" cy="1606638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549145"/>
              </p:ext>
            </p:extLst>
          </p:nvPr>
        </p:nvGraphicFramePr>
        <p:xfrm>
          <a:off x="7538031" y="3897287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7480" imgH="228600" progId="Equation.DSMT4">
                  <p:embed/>
                </p:oleObj>
              </mc:Choice>
              <mc:Fallback>
                <p:oleObj name="Equation" r:id="rId25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8031" y="3897287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83071"/>
              </p:ext>
            </p:extLst>
          </p:nvPr>
        </p:nvGraphicFramePr>
        <p:xfrm>
          <a:off x="7765286" y="4290081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040" imgH="228600" progId="Equation.DSMT4">
                  <p:embed/>
                </p:oleObj>
              </mc:Choice>
              <mc:Fallback>
                <p:oleObj name="Equation" r:id="rId27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5286" y="4290081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8946"/>
              </p:ext>
            </p:extLst>
          </p:nvPr>
        </p:nvGraphicFramePr>
        <p:xfrm>
          <a:off x="9441860" y="2355730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28600" imgH="241200" progId="Equation.DSMT4">
                  <p:embed/>
                </p:oleObj>
              </mc:Choice>
              <mc:Fallback>
                <p:oleObj name="Equation" r:id="rId2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1860" y="2355730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40062"/>
              </p:ext>
            </p:extLst>
          </p:nvPr>
        </p:nvGraphicFramePr>
        <p:xfrm>
          <a:off x="9239040" y="3166873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41200" imgH="241200" progId="Equation.DSMT4">
                  <p:embed/>
                </p:oleObj>
              </mc:Choice>
              <mc:Fallback>
                <p:oleObj name="Equation" r:id="rId3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040" y="3166873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374549"/>
              </p:ext>
            </p:extLst>
          </p:nvPr>
        </p:nvGraphicFramePr>
        <p:xfrm>
          <a:off x="8990955" y="4144617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15640" imgH="241200" progId="Equation.DSMT4">
                  <p:embed/>
                </p:oleObj>
              </mc:Choice>
              <mc:Fallback>
                <p:oleObj name="Equation" r:id="rId33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0955" y="4144617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033252"/>
              </p:ext>
            </p:extLst>
          </p:nvPr>
        </p:nvGraphicFramePr>
        <p:xfrm>
          <a:off x="9584394" y="4541747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4394" y="4541747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10867821" y="3004582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873393" y="4004580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7" name="左大括号 66"/>
          <p:cNvSpPr/>
          <p:nvPr/>
        </p:nvSpPr>
        <p:spPr>
          <a:xfrm>
            <a:off x="5571862" y="2673276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025612"/>
              </p:ext>
            </p:extLst>
          </p:nvPr>
        </p:nvGraphicFramePr>
        <p:xfrm>
          <a:off x="5128729" y="3420080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4880" imgH="228600" progId="Equation.DSMT4">
                  <p:embed/>
                </p:oleObj>
              </mc:Choice>
              <mc:Fallback>
                <p:oleObj name="Equation" r:id="rId37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128729" y="3420080"/>
                        <a:ext cx="371475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309518"/>
              </p:ext>
            </p:extLst>
          </p:nvPr>
        </p:nvGraphicFramePr>
        <p:xfrm>
          <a:off x="11715499" y="3419575"/>
          <a:ext cx="4000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77480" imgH="228600" progId="Equation.DSMT4">
                  <p:embed/>
                </p:oleObj>
              </mc:Choice>
              <mc:Fallback>
                <p:oleObj name="Equation" r:id="rId39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499" y="3419575"/>
                        <a:ext cx="4000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左大括号 69"/>
          <p:cNvSpPr/>
          <p:nvPr/>
        </p:nvSpPr>
        <p:spPr>
          <a:xfrm rot="10800000">
            <a:off x="11365361" y="2652411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589238"/>
      </p:ext>
    </p:extLst>
  </p:cSld>
  <p:clrMapOvr>
    <a:masterClrMapping/>
  </p:clrMapOvr>
  <p:transition advTm="800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1.</a:t>
            </a:r>
            <a:r>
              <a:rPr lang="zh-CN" altLang="en-US" dirty="0">
                <a:solidFill>
                  <a:schemeClr val="tx1"/>
                </a:solidFill>
              </a:rPr>
              <a:t>人工神经网络发展历史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1403350"/>
            <a:ext cx="5922664" cy="1688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极限学习机</a:t>
            </a:r>
            <a:r>
              <a:rPr lang="en-US" altLang="zh-CN" dirty="0"/>
              <a:t>(Extreme Learning Machine, ELM)</a:t>
            </a:r>
            <a:r>
              <a:rPr lang="zh-CN" altLang="en-US" dirty="0"/>
              <a:t>，是由黄广斌提出的用于处理单隐层神经网络的算法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93" y="4503623"/>
            <a:ext cx="2595582" cy="16884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优点：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学习精度有保证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学习速度快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9441" y="3218051"/>
                <a:ext cx="4307088" cy="1134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随机初始化输入权重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和偏置，只求解输出权重值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/>
                          </a:rPr>
                          <m:t>𝛽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41" y="3218051"/>
                <a:ext cx="4307088" cy="1134413"/>
              </a:xfrm>
              <a:prstGeom prst="rect">
                <a:avLst/>
              </a:prstGeom>
              <a:blipFill>
                <a:blip r:embed="rId4"/>
                <a:stretch>
                  <a:fillRect l="-2266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99;p18"/>
          <p:cNvSpPr/>
          <p:nvPr/>
        </p:nvSpPr>
        <p:spPr>
          <a:xfrm>
            <a:off x="7844375" y="5043698"/>
            <a:ext cx="602508" cy="593013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66666"/>
                </a:solidFill>
              </a:rPr>
              <a:t>1</a:t>
            </a:r>
            <a:endParaRPr dirty="0">
              <a:solidFill>
                <a:srgbClr val="666666"/>
              </a:solidFill>
            </a:endParaRPr>
          </a:p>
        </p:txBody>
      </p:sp>
      <p:sp>
        <p:nvSpPr>
          <p:cNvPr id="8" name="Google Shape;99;p18"/>
          <p:cNvSpPr/>
          <p:nvPr/>
        </p:nvSpPr>
        <p:spPr>
          <a:xfrm>
            <a:off x="9436276" y="5052667"/>
            <a:ext cx="602508" cy="593013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 dirty="0">
              <a:solidFill>
                <a:srgbClr val="666666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7935363" y="5920966"/>
            <a:ext cx="2050610" cy="457200"/>
          </a:xfrm>
          <a:prstGeom prst="ellipse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282612"/>
              </p:ext>
            </p:extLst>
          </p:nvPr>
        </p:nvGraphicFramePr>
        <p:xfrm>
          <a:off x="8713305" y="5774273"/>
          <a:ext cx="4857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13305" y="5774273"/>
                        <a:ext cx="485775" cy="66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直接箭头连接符 10"/>
          <p:cNvCxnSpPr/>
          <p:nvPr/>
        </p:nvCxnSpPr>
        <p:spPr>
          <a:xfrm flipV="1">
            <a:off x="8145629" y="5636711"/>
            <a:ext cx="0" cy="5830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9737530" y="5636711"/>
            <a:ext cx="0" cy="5830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8637010" y="5303905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8902579" y="5300970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9160603" y="5302562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Google Shape;105;p18"/>
          <p:cNvSpPr/>
          <p:nvPr/>
        </p:nvSpPr>
        <p:spPr>
          <a:xfrm>
            <a:off x="6741343" y="3322094"/>
            <a:ext cx="811500" cy="780600"/>
          </a:xfrm>
          <a:prstGeom prst="ellipse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rgbClr val="3F2B96"/>
              </a:gs>
            </a:gsLst>
            <a:lin ang="0" scaled="0"/>
          </a:gradFill>
          <a:ln w="19050"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1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105;p18"/>
              <p:cNvSpPr/>
              <p:nvPr/>
            </p:nvSpPr>
            <p:spPr>
              <a:xfrm>
                <a:off x="8449906" y="3292796"/>
                <a:ext cx="811500" cy="7806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100000">
                    <a:srgbClr val="3F2B96"/>
                  </a:gs>
                </a:gsLst>
                <a:lin ang="0" scaled="0"/>
              </a:gradFill>
              <a:ln w="19050"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Google Shape;105;p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906" y="3292796"/>
                <a:ext cx="811500" cy="780600"/>
              </a:xfrm>
              <a:prstGeom prst="ellipse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105;p18"/>
              <p:cNvSpPr/>
              <p:nvPr/>
            </p:nvSpPr>
            <p:spPr>
              <a:xfrm>
                <a:off x="10244984" y="3322094"/>
                <a:ext cx="811500" cy="7806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60000"/>
                      <a:lumOff val="40000"/>
                    </a:schemeClr>
                  </a:gs>
                  <a:gs pos="100000">
                    <a:srgbClr val="3F2B96"/>
                  </a:gs>
                </a:gsLst>
                <a:lin ang="0" scaled="0"/>
              </a:gradFill>
              <a:ln w="19050"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𝐿</m:t>
                      </m:r>
                    </m:oMath>
                  </m:oMathPara>
                </a14:m>
                <a:endParaRPr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Google Shape;105;p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984" y="3322094"/>
                <a:ext cx="811500" cy="780600"/>
              </a:xfrm>
              <a:prstGeom prst="ellipse">
                <a:avLst/>
              </a:prstGeom>
              <a:blipFill rotWithShape="1"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椭圆 21"/>
          <p:cNvSpPr/>
          <p:nvPr/>
        </p:nvSpPr>
        <p:spPr>
          <a:xfrm>
            <a:off x="7680361" y="3637828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7680360" y="3637828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945929" y="3634893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8203953" y="3636485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9441123" y="3636485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9706692" y="3633550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9964716" y="3635142"/>
            <a:ext cx="81481" cy="9053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>
            <a:stCxn id="7" idx="0"/>
            <a:endCxn id="20" idx="4"/>
          </p:cNvCxnSpPr>
          <p:nvPr/>
        </p:nvCxnSpPr>
        <p:spPr>
          <a:xfrm flipV="1">
            <a:off x="8145629" y="4073396"/>
            <a:ext cx="710027" cy="9703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7" idx="0"/>
            <a:endCxn id="21" idx="4"/>
          </p:cNvCxnSpPr>
          <p:nvPr/>
        </p:nvCxnSpPr>
        <p:spPr>
          <a:xfrm flipV="1">
            <a:off x="8145629" y="4102694"/>
            <a:ext cx="2505105" cy="9410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7" idx="0"/>
            <a:endCxn id="19" idx="4"/>
          </p:cNvCxnSpPr>
          <p:nvPr/>
        </p:nvCxnSpPr>
        <p:spPr>
          <a:xfrm flipH="1" flipV="1">
            <a:off x="7147093" y="4102694"/>
            <a:ext cx="998536" cy="94100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8" idx="0"/>
            <a:endCxn id="19" idx="4"/>
          </p:cNvCxnSpPr>
          <p:nvPr/>
        </p:nvCxnSpPr>
        <p:spPr>
          <a:xfrm flipH="1" flipV="1">
            <a:off x="7147093" y="4102694"/>
            <a:ext cx="2590437" cy="9499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8" idx="0"/>
            <a:endCxn id="20" idx="4"/>
          </p:cNvCxnSpPr>
          <p:nvPr/>
        </p:nvCxnSpPr>
        <p:spPr>
          <a:xfrm flipH="1" flipV="1">
            <a:off x="8855656" y="4073396"/>
            <a:ext cx="881874" cy="97927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8" idx="0"/>
            <a:endCxn id="21" idx="4"/>
          </p:cNvCxnSpPr>
          <p:nvPr/>
        </p:nvCxnSpPr>
        <p:spPr>
          <a:xfrm flipV="1">
            <a:off x="9737530" y="4102694"/>
            <a:ext cx="913204" cy="94997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oogle Shape;110;p18"/>
          <p:cNvSpPr/>
          <p:nvPr/>
        </p:nvSpPr>
        <p:spPr>
          <a:xfrm>
            <a:off x="8451274" y="1906149"/>
            <a:ext cx="811500" cy="780600"/>
          </a:xfrm>
          <a:prstGeom prst="ellipse">
            <a:avLst/>
          </a:prstGeom>
          <a:gradFill>
            <a:gsLst>
              <a:gs pos="0">
                <a:srgbClr val="F7E9D4"/>
              </a:gs>
              <a:gs pos="100000">
                <a:srgbClr val="E6B94E"/>
              </a:gs>
            </a:gsLst>
            <a:lin ang="2698631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4107" name="椭圆 4106"/>
          <p:cNvSpPr/>
          <p:nvPr/>
        </p:nvSpPr>
        <p:spPr>
          <a:xfrm>
            <a:off x="8398456" y="4073396"/>
            <a:ext cx="914400" cy="41549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110" name="对象 41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893269"/>
              </p:ext>
            </p:extLst>
          </p:nvPr>
        </p:nvGraphicFramePr>
        <p:xfrm>
          <a:off x="8718491" y="4102694"/>
          <a:ext cx="281087" cy="387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8491" y="4102694"/>
                        <a:ext cx="281087" cy="3876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1" name="对象 4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6845"/>
              </p:ext>
            </p:extLst>
          </p:nvPr>
        </p:nvGraphicFramePr>
        <p:xfrm>
          <a:off x="9540723" y="5132685"/>
          <a:ext cx="393613" cy="43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40723" y="5132685"/>
                        <a:ext cx="393613" cy="43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直接箭头连接符 52"/>
          <p:cNvCxnSpPr>
            <a:stCxn id="19" idx="0"/>
            <a:endCxn id="47" idx="4"/>
          </p:cNvCxnSpPr>
          <p:nvPr/>
        </p:nvCxnSpPr>
        <p:spPr>
          <a:xfrm flipV="1">
            <a:off x="7147093" y="2686749"/>
            <a:ext cx="1709931" cy="6353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20" idx="0"/>
            <a:endCxn id="47" idx="4"/>
          </p:cNvCxnSpPr>
          <p:nvPr/>
        </p:nvCxnSpPr>
        <p:spPr>
          <a:xfrm flipV="1">
            <a:off x="8855656" y="2686749"/>
            <a:ext cx="1368" cy="60604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21" idx="0"/>
            <a:endCxn id="47" idx="4"/>
          </p:cNvCxnSpPr>
          <p:nvPr/>
        </p:nvCxnSpPr>
        <p:spPr>
          <a:xfrm flipH="1" flipV="1">
            <a:off x="8857024" y="2686749"/>
            <a:ext cx="1793710" cy="63534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19" name="对象 4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700648"/>
              </p:ext>
            </p:extLst>
          </p:nvPr>
        </p:nvGraphicFramePr>
        <p:xfrm>
          <a:off x="7721100" y="3031698"/>
          <a:ext cx="294803" cy="408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80" imgH="228600" progId="Equation.DSMT4">
                  <p:embed/>
                </p:oleObj>
              </mc:Choice>
              <mc:Fallback>
                <p:oleObj name="Equation" r:id="rId13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721100" y="3031698"/>
                        <a:ext cx="294803" cy="408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0" name="对象 4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780332"/>
              </p:ext>
            </p:extLst>
          </p:nvPr>
        </p:nvGraphicFramePr>
        <p:xfrm>
          <a:off x="8500642" y="2884809"/>
          <a:ext cx="2952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28600" progId="Equation.DSMT4">
                  <p:embed/>
                </p:oleObj>
              </mc:Choice>
              <mc:Fallback>
                <p:oleObj name="Equation" r:id="rId15" imgW="164880" imgH="228600" progId="Equation.DSMT4">
                  <p:embed/>
                  <p:pic>
                    <p:nvPicPr>
                      <p:cNvPr id="0" name="对象 4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0642" y="2884809"/>
                        <a:ext cx="2952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1" name="对象 4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709807"/>
              </p:ext>
            </p:extLst>
          </p:nvPr>
        </p:nvGraphicFramePr>
        <p:xfrm>
          <a:off x="9664144" y="2991977"/>
          <a:ext cx="3413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0440" imgH="228600" progId="Equation.DSMT4">
                  <p:embed/>
                </p:oleObj>
              </mc:Choice>
              <mc:Fallback>
                <p:oleObj name="Equation" r:id="rId17" imgW="190440" imgH="228600" progId="Equation.DSMT4">
                  <p:embed/>
                  <p:pic>
                    <p:nvPicPr>
                      <p:cNvPr id="0" name="对象 4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4144" y="2991977"/>
                        <a:ext cx="34131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椭圆 65"/>
          <p:cNvSpPr/>
          <p:nvPr/>
        </p:nvSpPr>
        <p:spPr>
          <a:xfrm>
            <a:off x="6820285" y="4073396"/>
            <a:ext cx="914400" cy="41549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122" name="对象 4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6956"/>
              </p:ext>
            </p:extLst>
          </p:nvPr>
        </p:nvGraphicFramePr>
        <p:xfrm>
          <a:off x="6997700" y="4102100"/>
          <a:ext cx="3016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28600" progId="Equation.DSMT4">
                  <p:embed/>
                </p:oleObj>
              </mc:Choice>
              <mc:Fallback>
                <p:oleObj name="Equation" r:id="rId19" imgW="177480" imgH="228600" progId="Equation.DSMT4">
                  <p:embed/>
                  <p:pic>
                    <p:nvPicPr>
                      <p:cNvPr id="0" name="对象 4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7700" y="4102100"/>
                        <a:ext cx="3016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椭圆 67"/>
          <p:cNvSpPr/>
          <p:nvPr/>
        </p:nvSpPr>
        <p:spPr>
          <a:xfrm>
            <a:off x="10096130" y="4105048"/>
            <a:ext cx="914400" cy="41549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123" name="对象 4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758499"/>
              </p:ext>
            </p:extLst>
          </p:nvPr>
        </p:nvGraphicFramePr>
        <p:xfrm>
          <a:off x="10479088" y="4132263"/>
          <a:ext cx="34448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3040" imgH="228600" progId="Equation.DSMT4">
                  <p:embed/>
                </p:oleObj>
              </mc:Choice>
              <mc:Fallback>
                <p:oleObj name="Equation" r:id="rId21" imgW="203040" imgH="228600" progId="Equation.DSMT4">
                  <p:embed/>
                  <p:pic>
                    <p:nvPicPr>
                      <p:cNvPr id="0" name="对象 4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9088" y="4132263"/>
                        <a:ext cx="344487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0" name="直接箭头连接符 69"/>
          <p:cNvCxnSpPr/>
          <p:nvPr/>
        </p:nvCxnSpPr>
        <p:spPr>
          <a:xfrm flipV="1">
            <a:off x="8850987" y="1318828"/>
            <a:ext cx="1368" cy="60604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24" name="对象 4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150890"/>
              </p:ext>
            </p:extLst>
          </p:nvPr>
        </p:nvGraphicFramePr>
        <p:xfrm>
          <a:off x="9005888" y="1319213"/>
          <a:ext cx="3175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7480" imgH="228600" progId="Equation.DSMT4">
                  <p:embed/>
                </p:oleObj>
              </mc:Choice>
              <mc:Fallback>
                <p:oleObj name="Equation" r:id="rId23" imgW="177480" imgH="228600" progId="Equation.DSMT4">
                  <p:embed/>
                  <p:pic>
                    <p:nvPicPr>
                      <p:cNvPr id="0" name="对象 4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5888" y="1319213"/>
                        <a:ext cx="3175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5" name="TextBox 4124"/>
          <p:cNvSpPr txBox="1"/>
          <p:nvPr/>
        </p:nvSpPr>
        <p:spPr>
          <a:xfrm>
            <a:off x="9522604" y="1875475"/>
            <a:ext cx="1407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个输出层神经元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5229615" y="3322094"/>
                <a:ext cx="14079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个隐藏层神经元</a:t>
                </a: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615" y="3322094"/>
                <a:ext cx="1407953" cy="830997"/>
              </a:xfrm>
              <a:prstGeom prst="rect">
                <a:avLst/>
              </a:prstGeom>
              <a:blipFill>
                <a:blip r:embed="rId25"/>
                <a:stretch>
                  <a:fillRect l="-6926" t="-5882" r="-6061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238408" y="4814683"/>
                <a:ext cx="14079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个输入层神经元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408" y="4814683"/>
                <a:ext cx="1407953" cy="830997"/>
              </a:xfrm>
              <a:prstGeom prst="rect">
                <a:avLst/>
              </a:prstGeom>
              <a:blipFill>
                <a:blip r:embed="rId26"/>
                <a:stretch>
                  <a:fillRect l="-6494" t="-5882" r="-6494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255892"/>
      </p:ext>
    </p:extLst>
  </p:cSld>
  <p:clrMapOvr>
    <a:masterClrMapping/>
  </p:clrMapOvr>
  <p:transition advTm="8005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302152" y="2702861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感知器算法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79163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发展历史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EEB7294-C34C-4833-9BA5-1938EF869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2508" y="2749712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感知机算法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004446" y="3608126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03    BP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2875158547"/>
      </p:ext>
    </p:extLst>
  </p:cSld>
  <p:clrMapOvr>
    <a:masterClrMapping/>
  </p:clrMapOvr>
  <p:transition advTm="800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感知机算法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50844" y="1618330"/>
                <a:ext cx="5604574" cy="2252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+mj-ea"/>
                    <a:ea typeface="+mj-ea"/>
                  </a:rPr>
                  <a:t>感知机（</a:t>
                </a:r>
                <a:r>
                  <a:rPr lang="en-US" altLang="zh-CN" dirty="0">
                    <a:latin typeface="+mj-ea"/>
                    <a:ea typeface="+mj-ea"/>
                  </a:rPr>
                  <a:t>Perceptron</a:t>
                </a:r>
                <a:r>
                  <a:rPr lang="zh-CN" altLang="en-US" dirty="0">
                    <a:latin typeface="+mj-ea"/>
                    <a:ea typeface="+mj-ea"/>
                  </a:rPr>
                  <a:t>）是二分类问题的线性分类模型。</a:t>
                </a:r>
                <a:endParaRPr lang="en-US" altLang="zh-CN" dirty="0"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+mj-ea"/>
                    <a:ea typeface="+mj-ea"/>
                  </a:rPr>
                  <a:t>用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effectLst/>
                        <a:latin typeface="Cambria Math"/>
                        <a:ea typeface="+mj-ea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>
                        <a:effectLst/>
                        <a:latin typeface="Cambria Math"/>
                        <a:ea typeface="+mj-ea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effectLst/>
                            <a:latin typeface="Cambria Math"/>
                            <a:ea typeface="+mj-ea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effectLst/>
                            <a:latin typeface="Cambria Math"/>
                            <a:ea typeface="+mj-ea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>
                            <a:effectLst/>
                            <a:latin typeface="Cambria Math"/>
                            <a:ea typeface="+mj-ea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i="1">
                            <a:effectLst/>
                            <a:latin typeface="Cambria Math"/>
                            <a:ea typeface="+mj-ea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  表示数据集，用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effectLst/>
                        <a:latin typeface="Cambria Math"/>
                        <a:ea typeface="+mj-ea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 表示标签。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44" y="1618330"/>
                <a:ext cx="5604574" cy="2252861"/>
              </a:xfrm>
              <a:prstGeom prst="rect">
                <a:avLst/>
              </a:prstGeom>
              <a:blipFill>
                <a:blip r:embed="rId4"/>
                <a:stretch>
                  <a:fillRect l="-1630" b="-5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50844" y="3908987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需要学习的目标函数是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50844" y="5508761"/>
                <a:ext cx="55192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从一堆输入输出中学习模型参数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44" y="5508761"/>
                <a:ext cx="5519203" cy="461665"/>
              </a:xfrm>
              <a:prstGeom prst="rect">
                <a:avLst/>
              </a:prstGeom>
              <a:blipFill>
                <a:blip r:embed="rId5"/>
                <a:stretch>
                  <a:fillRect l="-1656" t="-10667" r="-662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椭圆 9"/>
          <p:cNvSpPr/>
          <p:nvPr/>
        </p:nvSpPr>
        <p:spPr>
          <a:xfrm>
            <a:off x="8891554" y="3703348"/>
            <a:ext cx="508000" cy="5270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7916098" y="3123933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916098" y="3622479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916097" y="4106601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915985" y="4561878"/>
            <a:ext cx="224253" cy="2348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294093"/>
              </p:ext>
            </p:extLst>
          </p:nvPr>
        </p:nvGraphicFramePr>
        <p:xfrm>
          <a:off x="9008057" y="3781073"/>
          <a:ext cx="413027" cy="359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960" imgH="253800" progId="Equation.DSMT4">
                  <p:embed/>
                </p:oleObj>
              </mc:Choice>
              <mc:Fallback>
                <p:oleObj name="Equation" r:id="rId6" imgW="291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08057" y="3781073"/>
                        <a:ext cx="413027" cy="359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>
            <a:endCxn id="10" idx="4"/>
          </p:cNvCxnSpPr>
          <p:nvPr/>
        </p:nvCxnSpPr>
        <p:spPr>
          <a:xfrm flipV="1">
            <a:off x="9145554" y="4230398"/>
            <a:ext cx="0" cy="892602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5" idx="6"/>
            <a:endCxn id="10" idx="3"/>
          </p:cNvCxnSpPr>
          <p:nvPr/>
        </p:nvCxnSpPr>
        <p:spPr>
          <a:xfrm flipV="1">
            <a:off x="8140238" y="4153213"/>
            <a:ext cx="825711" cy="52608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4" idx="6"/>
            <a:endCxn id="10" idx="2"/>
          </p:cNvCxnSpPr>
          <p:nvPr/>
        </p:nvCxnSpPr>
        <p:spPr>
          <a:xfrm flipV="1">
            <a:off x="8140350" y="3966873"/>
            <a:ext cx="751204" cy="257143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3" idx="6"/>
          </p:cNvCxnSpPr>
          <p:nvPr/>
        </p:nvCxnSpPr>
        <p:spPr>
          <a:xfrm>
            <a:off x="8140351" y="3739894"/>
            <a:ext cx="721136" cy="160004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1" idx="6"/>
            <a:endCxn id="10" idx="1"/>
          </p:cNvCxnSpPr>
          <p:nvPr/>
        </p:nvCxnSpPr>
        <p:spPr>
          <a:xfrm>
            <a:off x="8140351" y="3241348"/>
            <a:ext cx="825598" cy="539185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578251"/>
              </p:ext>
            </p:extLst>
          </p:nvPr>
        </p:nvGraphicFramePr>
        <p:xfrm>
          <a:off x="8179653" y="2952637"/>
          <a:ext cx="266460" cy="342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28600" progId="Equation.DSMT4">
                  <p:embed/>
                </p:oleObj>
              </mc:Choice>
              <mc:Fallback>
                <p:oleObj name="Equation" r:id="rId8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179653" y="2952637"/>
                        <a:ext cx="266460" cy="3425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942994"/>
              </p:ext>
            </p:extLst>
          </p:nvPr>
        </p:nvGraphicFramePr>
        <p:xfrm>
          <a:off x="9201763" y="4936873"/>
          <a:ext cx="197791" cy="276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DSMT4">
                  <p:embed/>
                </p:oleObj>
              </mc:Choice>
              <mc:Fallback>
                <p:oleObj name="Equation" r:id="rId10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201763" y="4936873"/>
                        <a:ext cx="197791" cy="276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531402"/>
              </p:ext>
            </p:extLst>
          </p:nvPr>
        </p:nvGraphicFramePr>
        <p:xfrm>
          <a:off x="8151779" y="3450936"/>
          <a:ext cx="2857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1779" y="3450936"/>
                        <a:ext cx="2857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489316"/>
              </p:ext>
            </p:extLst>
          </p:nvPr>
        </p:nvGraphicFramePr>
        <p:xfrm>
          <a:off x="8150192" y="3857336"/>
          <a:ext cx="266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228600" progId="Equation.DSMT4">
                  <p:embed/>
                </p:oleObj>
              </mc:Choice>
              <mc:Fallback>
                <p:oleObj name="Equation" r:id="rId14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0192" y="3857336"/>
                        <a:ext cx="266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231192"/>
              </p:ext>
            </p:extLst>
          </p:nvPr>
        </p:nvGraphicFramePr>
        <p:xfrm>
          <a:off x="8196229" y="4505036"/>
          <a:ext cx="3238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5640" imgH="228600" progId="Equation.DSMT4">
                  <p:embed/>
                </p:oleObj>
              </mc:Choice>
              <mc:Fallback>
                <p:oleObj name="Equation" r:id="rId16" imgW="215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6229" y="4505036"/>
                        <a:ext cx="3238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/>
          <p:cNvCxnSpPr>
            <a:endCxn id="11" idx="2"/>
          </p:cNvCxnSpPr>
          <p:nvPr/>
        </p:nvCxnSpPr>
        <p:spPr>
          <a:xfrm>
            <a:off x="7075955" y="3241348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252444"/>
              </p:ext>
            </p:extLst>
          </p:nvPr>
        </p:nvGraphicFramePr>
        <p:xfrm>
          <a:off x="6962742" y="2898486"/>
          <a:ext cx="2270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80" imgH="228600" progId="Equation.DSMT4">
                  <p:embed/>
                </p:oleObj>
              </mc:Choice>
              <mc:Fallback>
                <p:oleObj name="Equation" r:id="rId18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742" y="2898486"/>
                        <a:ext cx="2270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箭头连接符 28"/>
          <p:cNvCxnSpPr/>
          <p:nvPr/>
        </p:nvCxnSpPr>
        <p:spPr>
          <a:xfrm>
            <a:off x="7075842" y="3735655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7075841" y="4222661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7075840" y="4679293"/>
            <a:ext cx="84014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39804"/>
              </p:ext>
            </p:extLst>
          </p:nvPr>
        </p:nvGraphicFramePr>
        <p:xfrm>
          <a:off x="6953217" y="3396961"/>
          <a:ext cx="24606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228600" progId="Equation.DSMT4">
                  <p:embed/>
                </p:oleObj>
              </mc:Choice>
              <mc:Fallback>
                <p:oleObj name="Equation" r:id="rId20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17" y="3396961"/>
                        <a:ext cx="24606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491113"/>
              </p:ext>
            </p:extLst>
          </p:nvPr>
        </p:nvGraphicFramePr>
        <p:xfrm>
          <a:off x="6939185" y="3899898"/>
          <a:ext cx="2270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2280" imgH="228600" progId="Equation.DSMT4">
                  <p:embed/>
                </p:oleObj>
              </mc:Choice>
              <mc:Fallback>
                <p:oleObj name="Equation" r:id="rId22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9185" y="3899898"/>
                        <a:ext cx="22701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5583796"/>
              </p:ext>
            </p:extLst>
          </p:nvPr>
        </p:nvGraphicFramePr>
        <p:xfrm>
          <a:off x="6933758" y="4364039"/>
          <a:ext cx="2841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0440" imgH="228600" progId="Equation.DSMT4">
                  <p:embed/>
                </p:oleObj>
              </mc:Choice>
              <mc:Fallback>
                <p:oleObj name="Equation" r:id="rId24" imgW="19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3758" y="4364039"/>
                        <a:ext cx="28416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355609" y="3756506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55609" y="4224016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9399554" y="3966873"/>
            <a:ext cx="687863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>
          <a:xfrm>
            <a:off x="10087417" y="3735655"/>
            <a:ext cx="680752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339964"/>
              </p:ext>
            </p:extLst>
          </p:nvPr>
        </p:nvGraphicFramePr>
        <p:xfrm>
          <a:off x="10293060" y="3780533"/>
          <a:ext cx="269465" cy="35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2280" imgH="203040" progId="Equation.DSMT4">
                  <p:embed/>
                </p:oleObj>
              </mc:Choice>
              <mc:Fallback>
                <p:oleObj name="Equation" r:id="rId26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293060" y="3780533"/>
                        <a:ext cx="269465" cy="359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箭头连接符 39"/>
          <p:cNvCxnSpPr/>
          <p:nvPr/>
        </p:nvCxnSpPr>
        <p:spPr>
          <a:xfrm>
            <a:off x="10768169" y="3964255"/>
            <a:ext cx="585099" cy="2618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88704"/>
              </p:ext>
            </p:extLst>
          </p:nvPr>
        </p:nvGraphicFramePr>
        <p:xfrm>
          <a:off x="11105858" y="3570662"/>
          <a:ext cx="247410" cy="292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9680" imgH="164880" progId="Equation.DSMT4">
                  <p:embed/>
                </p:oleObj>
              </mc:Choice>
              <mc:Fallback>
                <p:oleObj name="Equation" r:id="rId28" imgW="1396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105858" y="3570662"/>
                        <a:ext cx="247410" cy="292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94475" y="47900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输入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89437" y="484565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权重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2770" y="519107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偏置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3131" y="331919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求和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28227" y="331919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求和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8588" y="4061121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输出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9263225-4D27-46D0-A90E-F19870CEB415}"/>
                  </a:ext>
                </a:extLst>
              </p:cNvPr>
              <p:cNvSpPr txBox="1"/>
              <p:nvPr/>
            </p:nvSpPr>
            <p:spPr>
              <a:xfrm>
                <a:off x="-11444" y="4708874"/>
                <a:ext cx="6093372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 altLang="zh-CN" sz="2400">
                          <a:effectLst/>
                          <a:latin typeface="Cambria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sign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zh-CN" sz="24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i="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dirty="0">
                  <a:effectLst/>
                  <a:latin typeface="Cambria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19263225-4D27-46D0-A90E-F19870CEB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44" y="4708874"/>
                <a:ext cx="6093372" cy="46820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768574"/>
      </p:ext>
    </p:extLst>
  </p:cSld>
  <p:clrMapOvr>
    <a:masterClrMapping/>
  </p:clrMapOvr>
  <p:transition advTm="8005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感知机算法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90309" y="1574158"/>
                <a:ext cx="11437747" cy="4713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dirty="0"/>
                  <a:t>感知机算法（</a:t>
                </a:r>
                <a:r>
                  <a:rPr lang="en-US" altLang="zh-CN" sz="3200" dirty="0"/>
                  <a:t>Perceptron Algorithm</a:t>
                </a:r>
                <a:r>
                  <a:rPr lang="zh-CN" altLang="en-US" sz="3200" dirty="0"/>
                  <a:t>）</a:t>
                </a:r>
                <a:r>
                  <a:rPr lang="en-US" altLang="zh-CN" sz="3200" dirty="0"/>
                  <a:t>:</a:t>
                </a:r>
              </a:p>
              <a:p>
                <a:pPr lvl="0">
                  <a:lnSpc>
                    <a:spcPct val="150000"/>
                  </a:lnSpc>
                </a:pPr>
                <a:br>
                  <a:rPr lang="en-US" altLang="zh-CN" sz="1800" dirty="0">
                    <a:effectLst/>
                    <a:latin typeface="Cambria" panose="020405030504060302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zh-CN" altLang="zh-CN" dirty="0"/>
                  <a:t>随机选择模型参数的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初始值。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zh-CN" altLang="zh-CN" dirty="0"/>
                  <a:t>选择一个训练样本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dirty="0"/>
                  <a:t>若判别函数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dirty="0"/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zh-CN" altLang="zh-CN" dirty="0"/>
                  <a:t>若判别函数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CN" altLang="zh-CN" dirty="0"/>
                  <a:t>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/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nor/>
                      </m:rPr>
                      <a:rPr lang="en-US" altLang="zh-CN"/>
                      <m:t>+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dirty="0"/>
                  <a:t>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nor/>
                      </m:rPr>
                      <a:rPr lang="en-US" altLang="zh-CN"/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zh-CN" altLang="zh-CN" dirty="0"/>
                  <a:t>再选取另一个训练样本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，回到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。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zh-CN" altLang="zh-CN" dirty="0"/>
                  <a:t>终止条件：直到所有数据的输入输出对都不满足</a:t>
                </a:r>
                <a:r>
                  <a:rPr lang="en-US" altLang="zh-CN" dirty="0"/>
                  <a:t>2</a:t>
                </a:r>
                <a:r>
                  <a:rPr lang="zh-CN" altLang="zh-CN" dirty="0"/>
                  <a:t>中的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和</a:t>
                </a:r>
                <a:r>
                  <a:rPr lang="en-US" altLang="zh-CN" dirty="0"/>
                  <a:t>(ii)</a:t>
                </a:r>
                <a:r>
                  <a:rPr lang="zh-CN" altLang="zh-CN" dirty="0"/>
                  <a:t>中之一，则退出循环。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09" y="1574158"/>
                <a:ext cx="11437747" cy="4713213"/>
              </a:xfrm>
              <a:prstGeom prst="rect">
                <a:avLst/>
              </a:prstGeom>
              <a:blipFill>
                <a:blip r:embed="rId3"/>
                <a:stretch>
                  <a:fillRect l="-1386" t="-18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9194"/>
      </p:ext>
    </p:extLst>
  </p:cSld>
  <p:clrMapOvr>
    <a:masterClrMapping/>
  </p:clrMapOvr>
  <p:transition advTm="800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感知机算法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5" y="1432730"/>
            <a:ext cx="3537922" cy="433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算法</a:t>
            </a:r>
            <a:r>
              <a:rPr kumimoji="0" lang="zh-CN" altLang="en-US" sz="2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演示   分类问题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　　　　</a:t>
            </a:r>
            <a:endParaRPr kumimoji="0" lang="zh-CN" altLang="zh-CN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291" y="1455812"/>
            <a:ext cx="6837961" cy="4642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68338" y="2584794"/>
            <a:ext cx="2969811" cy="1688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单层感知机只能处理线性问题，</a:t>
            </a:r>
            <a:r>
              <a:rPr lang="zh-CN" altLang="en-US" b="1" dirty="0">
                <a:solidFill>
                  <a:srgbClr val="FF0000"/>
                </a:solidFill>
              </a:rPr>
              <a:t>无法处理非线性问题</a:t>
            </a:r>
            <a:r>
              <a:rPr lang="zh-CN" altLang="en-US" b="1" dirty="0"/>
              <a:t>！！</a:t>
            </a:r>
          </a:p>
        </p:txBody>
      </p:sp>
    </p:spTree>
    <p:extLst>
      <p:ext uri="{BB962C8B-B14F-4D97-AF65-F5344CB8AC3E}">
        <p14:creationId xmlns:p14="http://schemas.microsoft.com/office/powerpoint/2010/main" val="983955142"/>
      </p:ext>
    </p:extLst>
  </p:cSld>
  <p:clrMapOvr>
    <a:masterClrMapping/>
  </p:clrMapOvr>
  <p:transition advTm="8005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感知器算法</a:t>
            </a:r>
          </a:p>
        </p:txBody>
      </p:sp>
      <p:sp>
        <p:nvSpPr>
          <p:cNvPr id="44" name="TextBox 6"/>
          <p:cNvSpPr txBox="1">
            <a:spLocks noChangeArrowheads="1"/>
          </p:cNvSpPr>
          <p:nvPr/>
        </p:nvSpPr>
        <p:spPr bwMode="auto">
          <a:xfrm>
            <a:off x="3002507" y="1872975"/>
            <a:ext cx="5791636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01 </a:t>
            </a:r>
            <a:r>
              <a:rPr lang="en-US" altLang="zh-CN" sz="4000" dirty="0">
                <a:latin typeface="Impact" pitchFamily="34" charset="0"/>
                <a:ea typeface="微软雅黑" pitchFamily="34" charset="-122"/>
              </a:rPr>
              <a:t> </a:t>
            </a:r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发展历史</a:t>
            </a:r>
            <a:endParaRPr lang="en-US" altLang="zh-CN" sz="3600" dirty="0"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3002507" y="2821047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latin typeface="Impact" pitchFamily="34" charset="0"/>
                <a:ea typeface="微软雅黑" pitchFamily="34" charset="-122"/>
              </a:rPr>
              <a:t>02    </a:t>
            </a:r>
            <a:r>
              <a:rPr lang="zh-CN" altLang="en-US" sz="3600" dirty="0">
                <a:latin typeface="Impact" pitchFamily="34" charset="0"/>
                <a:ea typeface="微软雅黑" pitchFamily="34" charset="-122"/>
              </a:rPr>
              <a:t>感知机算法</a:t>
            </a:r>
          </a:p>
        </p:txBody>
      </p:sp>
      <p:sp>
        <p:nvSpPr>
          <p:cNvPr id="9" name="对角圆角矩形 8">
            <a:extLst>
              <a:ext uri="{FF2B5EF4-FFF2-40B4-BE49-F238E27FC236}">
                <a16:creationId xmlns:a16="http://schemas.microsoft.com/office/drawing/2014/main" id="{CAE08E35-DEC9-4689-915B-1B27E7F9279D}"/>
              </a:ext>
            </a:extLst>
          </p:cNvPr>
          <p:cNvSpPr/>
          <p:nvPr/>
        </p:nvSpPr>
        <p:spPr>
          <a:xfrm>
            <a:off x="2341426" y="3752299"/>
            <a:ext cx="6278833" cy="647700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1353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EB7294-C34C-4833-9BA5-1938EF869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782" y="3799150"/>
            <a:ext cx="50724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等线" charset="-122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03    BP</a:t>
            </a:r>
            <a:r>
              <a:rPr lang="zh-CN" altLang="en-US" sz="3600" dirty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3054485957"/>
      </p:ext>
    </p:extLst>
  </p:cSld>
  <p:clrMapOvr>
    <a:masterClrMapping/>
  </p:clrMapOvr>
  <p:transition advTm="8005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04" name="Google Shape;3214;p51"/>
          <p:cNvSpPr/>
          <p:nvPr/>
        </p:nvSpPr>
        <p:spPr>
          <a:xfrm>
            <a:off x="874533" y="416557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05" name="Google Shape;3215;p51"/>
          <p:cNvSpPr/>
          <p:nvPr/>
        </p:nvSpPr>
        <p:spPr>
          <a:xfrm>
            <a:off x="874533" y="5219163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06" name="Google Shape;3216;p51"/>
          <p:cNvSpPr/>
          <p:nvPr/>
        </p:nvSpPr>
        <p:spPr>
          <a:xfrm>
            <a:off x="874533" y="311198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07" name="Google Shape;3221;p51"/>
          <p:cNvSpPr/>
          <p:nvPr/>
        </p:nvSpPr>
        <p:spPr>
          <a:xfrm>
            <a:off x="3721254" y="370291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08" name="Google Shape;3222;p51"/>
          <p:cNvSpPr/>
          <p:nvPr/>
        </p:nvSpPr>
        <p:spPr>
          <a:xfrm>
            <a:off x="3721254" y="475650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09" name="Google Shape;3223;p51"/>
          <p:cNvSpPr/>
          <p:nvPr/>
        </p:nvSpPr>
        <p:spPr>
          <a:xfrm>
            <a:off x="3721254" y="264932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10" name="Google Shape;3224;p51"/>
          <p:cNvCxnSpPr>
            <a:stCxn id="206" idx="6"/>
            <a:endCxn id="207" idx="2"/>
          </p:cNvCxnSpPr>
          <p:nvPr/>
        </p:nvCxnSpPr>
        <p:spPr>
          <a:xfrm>
            <a:off x="1606533" y="3462538"/>
            <a:ext cx="2114721" cy="5909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3225;p51"/>
          <p:cNvCxnSpPr>
            <a:stCxn id="206" idx="6"/>
            <a:endCxn id="209" idx="2"/>
          </p:cNvCxnSpPr>
          <p:nvPr/>
        </p:nvCxnSpPr>
        <p:spPr>
          <a:xfrm flipV="1">
            <a:off x="1606533" y="2999875"/>
            <a:ext cx="2114721" cy="4626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" name="Google Shape;3227;p51"/>
          <p:cNvCxnSpPr>
            <a:stCxn id="204" idx="6"/>
            <a:endCxn id="209" idx="2"/>
          </p:cNvCxnSpPr>
          <p:nvPr/>
        </p:nvCxnSpPr>
        <p:spPr>
          <a:xfrm flipV="1">
            <a:off x="1606533" y="2999875"/>
            <a:ext cx="2114721" cy="15162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3228;p51"/>
          <p:cNvCxnSpPr>
            <a:stCxn id="204" idx="6"/>
            <a:endCxn id="207" idx="2"/>
          </p:cNvCxnSpPr>
          <p:nvPr/>
        </p:nvCxnSpPr>
        <p:spPr>
          <a:xfrm flipV="1">
            <a:off x="1606533" y="4053462"/>
            <a:ext cx="2114721" cy="4626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3229;p51"/>
          <p:cNvCxnSpPr>
            <a:stCxn id="204" idx="6"/>
            <a:endCxn id="208" idx="2"/>
          </p:cNvCxnSpPr>
          <p:nvPr/>
        </p:nvCxnSpPr>
        <p:spPr>
          <a:xfrm>
            <a:off x="1606533" y="4516126"/>
            <a:ext cx="2114721" cy="59092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3230;p51"/>
          <p:cNvCxnSpPr>
            <a:stCxn id="205" idx="6"/>
            <a:endCxn id="209" idx="2"/>
          </p:cNvCxnSpPr>
          <p:nvPr/>
        </p:nvCxnSpPr>
        <p:spPr>
          <a:xfrm flipV="1">
            <a:off x="1606533" y="2999875"/>
            <a:ext cx="2114721" cy="25698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3231;p51"/>
          <p:cNvCxnSpPr>
            <a:stCxn id="205" idx="6"/>
            <a:endCxn id="207" idx="2"/>
          </p:cNvCxnSpPr>
          <p:nvPr/>
        </p:nvCxnSpPr>
        <p:spPr>
          <a:xfrm flipV="1">
            <a:off x="1606533" y="4053462"/>
            <a:ext cx="2114721" cy="15162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8" name="Google Shape;3232;p51"/>
          <p:cNvCxnSpPr>
            <a:stCxn id="205" idx="6"/>
            <a:endCxn id="208" idx="2"/>
          </p:cNvCxnSpPr>
          <p:nvPr/>
        </p:nvCxnSpPr>
        <p:spPr>
          <a:xfrm flipV="1">
            <a:off x="1606533" y="5107050"/>
            <a:ext cx="2114721" cy="46266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3233;p51"/>
          <p:cNvSpPr/>
          <p:nvPr/>
        </p:nvSpPr>
        <p:spPr>
          <a:xfrm>
            <a:off x="6761831" y="3153741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20" name="Google Shape;3234;p51"/>
          <p:cNvSpPr/>
          <p:nvPr/>
        </p:nvSpPr>
        <p:spPr>
          <a:xfrm>
            <a:off x="6761831" y="421090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21" name="Google Shape;3235;p51"/>
          <p:cNvCxnSpPr>
            <a:stCxn id="209" idx="6"/>
            <a:endCxn id="219" idx="2"/>
          </p:cNvCxnSpPr>
          <p:nvPr/>
        </p:nvCxnSpPr>
        <p:spPr>
          <a:xfrm>
            <a:off x="4453254" y="2999875"/>
            <a:ext cx="2308577" cy="5044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3236;p51"/>
          <p:cNvCxnSpPr>
            <a:stCxn id="209" idx="6"/>
            <a:endCxn id="220" idx="2"/>
          </p:cNvCxnSpPr>
          <p:nvPr/>
        </p:nvCxnSpPr>
        <p:spPr>
          <a:xfrm>
            <a:off x="4453254" y="2999875"/>
            <a:ext cx="2308577" cy="156158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3237;p51"/>
          <p:cNvCxnSpPr>
            <a:stCxn id="207" idx="6"/>
            <a:endCxn id="219" idx="2"/>
          </p:cNvCxnSpPr>
          <p:nvPr/>
        </p:nvCxnSpPr>
        <p:spPr>
          <a:xfrm flipV="1">
            <a:off x="4453254" y="3504291"/>
            <a:ext cx="2308577" cy="5491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" name="Google Shape;3238;p51"/>
          <p:cNvCxnSpPr>
            <a:stCxn id="207" idx="6"/>
            <a:endCxn id="220" idx="2"/>
          </p:cNvCxnSpPr>
          <p:nvPr/>
        </p:nvCxnSpPr>
        <p:spPr>
          <a:xfrm>
            <a:off x="4453254" y="4053462"/>
            <a:ext cx="2308577" cy="507995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5" name="Google Shape;3239;p51"/>
          <p:cNvCxnSpPr>
            <a:stCxn id="208" idx="6"/>
            <a:endCxn id="219" idx="2"/>
          </p:cNvCxnSpPr>
          <p:nvPr/>
        </p:nvCxnSpPr>
        <p:spPr>
          <a:xfrm flipV="1">
            <a:off x="4453254" y="3504291"/>
            <a:ext cx="2308577" cy="16027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3240;p51"/>
          <p:cNvCxnSpPr>
            <a:stCxn id="208" idx="6"/>
            <a:endCxn id="220" idx="2"/>
          </p:cNvCxnSpPr>
          <p:nvPr/>
        </p:nvCxnSpPr>
        <p:spPr>
          <a:xfrm flipV="1">
            <a:off x="4453254" y="4561457"/>
            <a:ext cx="2308577" cy="54559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9" name="Google Shape;3222;p51"/>
          <p:cNvSpPr/>
          <p:nvPr/>
        </p:nvSpPr>
        <p:spPr>
          <a:xfrm>
            <a:off x="3721254" y="585660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30" name="Google Shape;3226;p51"/>
          <p:cNvCxnSpPr>
            <a:stCxn id="206" idx="6"/>
            <a:endCxn id="229" idx="2"/>
          </p:cNvCxnSpPr>
          <p:nvPr/>
        </p:nvCxnSpPr>
        <p:spPr>
          <a:xfrm>
            <a:off x="1606533" y="3462538"/>
            <a:ext cx="2114721" cy="27446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3232;p51"/>
          <p:cNvCxnSpPr>
            <a:stCxn id="205" idx="6"/>
            <a:endCxn id="229" idx="2"/>
          </p:cNvCxnSpPr>
          <p:nvPr/>
        </p:nvCxnSpPr>
        <p:spPr>
          <a:xfrm>
            <a:off x="1606533" y="5569713"/>
            <a:ext cx="2114721" cy="6374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3232;p51"/>
          <p:cNvCxnSpPr>
            <a:stCxn id="204" idx="6"/>
            <a:endCxn id="229" idx="2"/>
          </p:cNvCxnSpPr>
          <p:nvPr/>
        </p:nvCxnSpPr>
        <p:spPr>
          <a:xfrm>
            <a:off x="1606533" y="4516126"/>
            <a:ext cx="2114721" cy="16910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0" name="Google Shape;3240;p51"/>
          <p:cNvCxnSpPr>
            <a:stCxn id="229" idx="6"/>
            <a:endCxn id="220" idx="2"/>
          </p:cNvCxnSpPr>
          <p:nvPr/>
        </p:nvCxnSpPr>
        <p:spPr>
          <a:xfrm flipV="1">
            <a:off x="4453254" y="4561457"/>
            <a:ext cx="2308577" cy="164570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3234;p51"/>
          <p:cNvSpPr/>
          <p:nvPr/>
        </p:nvSpPr>
        <p:spPr>
          <a:xfrm>
            <a:off x="6761831" y="523287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48" name="Google Shape;3240;p51"/>
          <p:cNvCxnSpPr>
            <a:stCxn id="229" idx="6"/>
            <a:endCxn id="243" idx="2"/>
          </p:cNvCxnSpPr>
          <p:nvPr/>
        </p:nvCxnSpPr>
        <p:spPr>
          <a:xfrm flipV="1">
            <a:off x="4453254" y="5583424"/>
            <a:ext cx="2308577" cy="6237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" name="Google Shape;3240;p51"/>
          <p:cNvCxnSpPr>
            <a:stCxn id="208" idx="6"/>
            <a:endCxn id="243" idx="2"/>
          </p:cNvCxnSpPr>
          <p:nvPr/>
        </p:nvCxnSpPr>
        <p:spPr>
          <a:xfrm>
            <a:off x="4453254" y="5107050"/>
            <a:ext cx="2308577" cy="4763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4" name="Google Shape;3240;p51"/>
          <p:cNvCxnSpPr>
            <a:stCxn id="229" idx="6"/>
            <a:endCxn id="219" idx="2"/>
          </p:cNvCxnSpPr>
          <p:nvPr/>
        </p:nvCxnSpPr>
        <p:spPr>
          <a:xfrm flipV="1">
            <a:off x="4453254" y="3504291"/>
            <a:ext cx="2308577" cy="27028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" name="Google Shape;3238;p51"/>
          <p:cNvCxnSpPr>
            <a:stCxn id="209" idx="6"/>
            <a:endCxn id="243" idx="2"/>
          </p:cNvCxnSpPr>
          <p:nvPr/>
        </p:nvCxnSpPr>
        <p:spPr>
          <a:xfrm>
            <a:off x="4453254" y="2999875"/>
            <a:ext cx="2308577" cy="25835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0" name="Google Shape;3238;p51"/>
          <p:cNvCxnSpPr>
            <a:stCxn id="207" idx="6"/>
            <a:endCxn id="243" idx="2"/>
          </p:cNvCxnSpPr>
          <p:nvPr/>
        </p:nvCxnSpPr>
        <p:spPr>
          <a:xfrm>
            <a:off x="4453254" y="4053462"/>
            <a:ext cx="2308577" cy="1529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4" name="TextBox 263"/>
          <p:cNvSpPr txBox="1"/>
          <p:nvPr/>
        </p:nvSpPr>
        <p:spPr>
          <a:xfrm>
            <a:off x="668338" y="261145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622700" y="264932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53035" y="207021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265" name="对象 264"/>
          <p:cNvGraphicFramePr>
            <a:graphicFrameLocks noChangeAspect="1"/>
          </p:cNvGraphicFramePr>
          <p:nvPr/>
        </p:nvGraphicFramePr>
        <p:xfrm>
          <a:off x="1013691" y="3037566"/>
          <a:ext cx="520423" cy="78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265" name="对象 2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3691" y="3037566"/>
                        <a:ext cx="520423" cy="780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" name="对象 269"/>
          <p:cNvGraphicFramePr>
            <a:graphicFrameLocks noChangeAspect="1"/>
          </p:cNvGraphicFramePr>
          <p:nvPr/>
        </p:nvGraphicFramePr>
        <p:xfrm>
          <a:off x="993531" y="4076599"/>
          <a:ext cx="5207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28600" progId="Equation.DSMT4">
                  <p:embed/>
                </p:oleObj>
              </mc:Choice>
              <mc:Fallback>
                <p:oleObj name="Equation" r:id="rId5" imgW="152280" imgH="228600" progId="Equation.DSMT4">
                  <p:embed/>
                  <p:pic>
                    <p:nvPicPr>
                      <p:cNvPr id="270" name="对象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531" y="4076599"/>
                        <a:ext cx="5207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" name="对象 270"/>
          <p:cNvGraphicFramePr>
            <a:graphicFrameLocks noChangeAspect="1"/>
          </p:cNvGraphicFramePr>
          <p:nvPr/>
        </p:nvGraphicFramePr>
        <p:xfrm>
          <a:off x="936753" y="5139012"/>
          <a:ext cx="6080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28600" progId="Equation.DSMT4">
                  <p:embed/>
                </p:oleObj>
              </mc:Choice>
              <mc:Fallback>
                <p:oleObj name="Equation" r:id="rId7" imgW="177480" imgH="228600" progId="Equation.DSMT4">
                  <p:embed/>
                  <p:pic>
                    <p:nvPicPr>
                      <p:cNvPr id="271" name="对象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753" y="5139012"/>
                        <a:ext cx="6080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" name="对象 271"/>
          <p:cNvGraphicFramePr>
            <a:graphicFrameLocks noChangeAspect="1"/>
          </p:cNvGraphicFramePr>
          <p:nvPr/>
        </p:nvGraphicFramePr>
        <p:xfrm>
          <a:off x="3848335" y="2609350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" imgH="228600" progId="Equation.DSMT4">
                  <p:embed/>
                </p:oleObj>
              </mc:Choice>
              <mc:Fallback>
                <p:oleObj name="Equation" r:id="rId9" imgW="139680" imgH="228600" progId="Equation.DSMT4">
                  <p:embed/>
                  <p:pic>
                    <p:nvPicPr>
                      <p:cNvPr id="272" name="对象 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335" y="2609350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" name="对象 272"/>
          <p:cNvGraphicFramePr>
            <a:graphicFrameLocks noChangeAspect="1"/>
          </p:cNvGraphicFramePr>
          <p:nvPr/>
        </p:nvGraphicFramePr>
        <p:xfrm>
          <a:off x="3826104" y="3662411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228600" progId="Equation.DSMT4">
                  <p:embed/>
                </p:oleObj>
              </mc:Choice>
              <mc:Fallback>
                <p:oleObj name="Equation" r:id="rId11" imgW="152280" imgH="228600" progId="Equation.DSMT4">
                  <p:embed/>
                  <p:pic>
                    <p:nvPicPr>
                      <p:cNvPr id="273" name="对象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104" y="3662411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" name="对象 273"/>
          <p:cNvGraphicFramePr>
            <a:graphicFrameLocks noChangeAspect="1"/>
          </p:cNvGraphicFramePr>
          <p:nvPr/>
        </p:nvGraphicFramePr>
        <p:xfrm>
          <a:off x="3805467" y="4716511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80" imgH="228600" progId="Equation.DSMT4">
                  <p:embed/>
                </p:oleObj>
              </mc:Choice>
              <mc:Fallback>
                <p:oleObj name="Equation" r:id="rId13" imgW="164880" imgH="228600" progId="Equation.DSMT4">
                  <p:embed/>
                  <p:pic>
                    <p:nvPicPr>
                      <p:cNvPr id="274" name="对象 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467" y="4716511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" name="对象 274"/>
          <p:cNvGraphicFramePr>
            <a:graphicFrameLocks noChangeAspect="1"/>
          </p:cNvGraphicFramePr>
          <p:nvPr/>
        </p:nvGraphicFramePr>
        <p:xfrm>
          <a:off x="3805467" y="5794423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41200" progId="Equation.DSMT4">
                  <p:embed/>
                </p:oleObj>
              </mc:Choice>
              <mc:Fallback>
                <p:oleObj name="Equation" r:id="rId15" imgW="164880" imgH="241200" progId="Equation.DSMT4">
                  <p:embed/>
                  <p:pic>
                    <p:nvPicPr>
                      <p:cNvPr id="275" name="对象 2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467" y="5794423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" name="TextBox 276"/>
          <p:cNvSpPr txBox="1"/>
          <p:nvPr/>
        </p:nvSpPr>
        <p:spPr>
          <a:xfrm>
            <a:off x="1132883" y="3764266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1132883" y="4829503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3963691" y="434730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3963691" y="5464470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276" name="对象 275"/>
          <p:cNvGraphicFramePr>
            <a:graphicFrameLocks noChangeAspect="1"/>
          </p:cNvGraphicFramePr>
          <p:nvPr/>
        </p:nvGraphicFramePr>
        <p:xfrm>
          <a:off x="6846049" y="3062068"/>
          <a:ext cx="5635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276" name="对象 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049" y="3062068"/>
                        <a:ext cx="5635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" name="对象 280"/>
          <p:cNvGraphicFramePr>
            <a:graphicFrameLocks noChangeAspect="1"/>
          </p:cNvGraphicFramePr>
          <p:nvPr/>
        </p:nvGraphicFramePr>
        <p:xfrm>
          <a:off x="6826097" y="4119089"/>
          <a:ext cx="6064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41200" progId="Equation.DSMT4">
                  <p:embed/>
                </p:oleObj>
              </mc:Choice>
              <mc:Fallback>
                <p:oleObj name="Equation" r:id="rId19" imgW="177480" imgH="241200" progId="Equation.DSMT4">
                  <p:embed/>
                  <p:pic>
                    <p:nvPicPr>
                      <p:cNvPr id="281" name="对象 2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097" y="4119089"/>
                        <a:ext cx="6064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" name="对象 281"/>
          <p:cNvGraphicFramePr>
            <a:graphicFrameLocks noChangeAspect="1"/>
          </p:cNvGraphicFramePr>
          <p:nvPr/>
        </p:nvGraphicFramePr>
        <p:xfrm>
          <a:off x="6845147" y="5134506"/>
          <a:ext cx="5635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4880" imgH="228600" progId="Equation.DSMT4">
                  <p:embed/>
                </p:oleObj>
              </mc:Choice>
              <mc:Fallback>
                <p:oleObj name="Equation" r:id="rId21" imgW="164880" imgH="228600" progId="Equation.DSMT4">
                  <p:embed/>
                  <p:pic>
                    <p:nvPicPr>
                      <p:cNvPr id="282" name="对象 2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147" y="5134506"/>
                        <a:ext cx="5635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2" name="Google Shape;3226;p51"/>
          <p:cNvCxnSpPr>
            <a:stCxn id="206" idx="6"/>
            <a:endCxn id="208" idx="2"/>
          </p:cNvCxnSpPr>
          <p:nvPr/>
        </p:nvCxnSpPr>
        <p:spPr>
          <a:xfrm>
            <a:off x="1606533" y="3462538"/>
            <a:ext cx="2114721" cy="164451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84" name="对象 283"/>
          <p:cNvGraphicFramePr>
            <a:graphicFrameLocks noChangeAspect="1"/>
          </p:cNvGraphicFramePr>
          <p:nvPr/>
        </p:nvGraphicFramePr>
        <p:xfrm>
          <a:off x="2017439" y="4279681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7480" imgH="228600" progId="Equation.DSMT4">
                  <p:embed/>
                </p:oleObj>
              </mc:Choice>
              <mc:Fallback>
                <p:oleObj name="Equation" r:id="rId23" imgW="177480" imgH="228600" progId="Equation.DSMT4">
                  <p:embed/>
                  <p:pic>
                    <p:nvPicPr>
                      <p:cNvPr id="284" name="对象 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439" y="4279681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" name="对象 284"/>
          <p:cNvGraphicFramePr>
            <a:graphicFrameLocks noChangeAspect="1"/>
          </p:cNvGraphicFramePr>
          <p:nvPr/>
        </p:nvGraphicFramePr>
        <p:xfrm>
          <a:off x="2238443" y="5330000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3040" imgH="228600" progId="Equation.DSMT4">
                  <p:embed/>
                </p:oleObj>
              </mc:Choice>
              <mc:Fallback>
                <p:oleObj name="Equation" r:id="rId25" imgW="203040" imgH="228600" progId="Equation.DSMT4">
                  <p:embed/>
                  <p:pic>
                    <p:nvPicPr>
                      <p:cNvPr id="285" name="对象 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443" y="5330000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" name="对象 285"/>
          <p:cNvGraphicFramePr>
            <a:graphicFrameLocks noChangeAspect="1"/>
          </p:cNvGraphicFramePr>
          <p:nvPr/>
        </p:nvGraphicFramePr>
        <p:xfrm>
          <a:off x="4453254" y="3203877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28600" imgH="241200" progId="Equation.DSMT4">
                  <p:embed/>
                </p:oleObj>
              </mc:Choice>
              <mc:Fallback>
                <p:oleObj name="Equation" r:id="rId27" imgW="228600" imgH="241200" progId="Equation.DSMT4">
                  <p:embed/>
                  <p:pic>
                    <p:nvPicPr>
                      <p:cNvPr id="286" name="对象 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254" y="3203877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" name="对象 286"/>
          <p:cNvGraphicFramePr>
            <a:graphicFrameLocks noChangeAspect="1"/>
          </p:cNvGraphicFramePr>
          <p:nvPr/>
        </p:nvGraphicFramePr>
        <p:xfrm>
          <a:off x="4846023" y="4052463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41200" imgH="241200" progId="Equation.DSMT4">
                  <p:embed/>
                </p:oleObj>
              </mc:Choice>
              <mc:Fallback>
                <p:oleObj name="Equation" r:id="rId29" imgW="241200" imgH="241200" progId="Equation.DSMT4">
                  <p:embed/>
                  <p:pic>
                    <p:nvPicPr>
                      <p:cNvPr id="287" name="对象 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023" y="4052463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" name="对象 4095"/>
          <p:cNvGraphicFramePr>
            <a:graphicFrameLocks noChangeAspect="1"/>
          </p:cNvGraphicFramePr>
          <p:nvPr/>
        </p:nvGraphicFramePr>
        <p:xfrm>
          <a:off x="4453254" y="4418006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15640" imgH="241200" progId="Equation.DSMT4">
                  <p:embed/>
                </p:oleObj>
              </mc:Choice>
              <mc:Fallback>
                <p:oleObj name="Equation" r:id="rId31" imgW="215640" imgH="241200" progId="Equation.DSMT4">
                  <p:embed/>
                  <p:pic>
                    <p:nvPicPr>
                      <p:cNvPr id="4096" name="对象 40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254" y="4418006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" name="对象 4096"/>
          <p:cNvGraphicFramePr>
            <a:graphicFrameLocks noChangeAspect="1"/>
          </p:cNvGraphicFramePr>
          <p:nvPr/>
        </p:nvGraphicFramePr>
        <p:xfrm>
          <a:off x="5438832" y="5336263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15640" imgH="241200" progId="Equation.DSMT4">
                  <p:embed/>
                </p:oleObj>
              </mc:Choice>
              <mc:Fallback>
                <p:oleObj name="Equation" r:id="rId33" imgW="215640" imgH="241200" progId="Equation.DSMT4">
                  <p:embed/>
                  <p:pic>
                    <p:nvPicPr>
                      <p:cNvPr id="4097" name="对象 40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8832" y="5336263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1" name="TextBox 290"/>
          <p:cNvSpPr txBox="1"/>
          <p:nvPr/>
        </p:nvSpPr>
        <p:spPr>
          <a:xfrm>
            <a:off x="6997792" y="3836314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7003364" y="4836312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cxnSp>
        <p:nvCxnSpPr>
          <p:cNvPr id="4109" name="直接箭头连接符 4108"/>
          <p:cNvCxnSpPr>
            <a:cxnSpLocks/>
            <a:endCxn id="4111" idx="1"/>
          </p:cNvCxnSpPr>
          <p:nvPr/>
        </p:nvCxnSpPr>
        <p:spPr>
          <a:xfrm>
            <a:off x="3390949" y="5317302"/>
            <a:ext cx="3772306" cy="959618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11" name="TextBox 4110"/>
              <p:cNvSpPr txBox="1"/>
              <p:nvPr/>
            </p:nvSpPr>
            <p:spPr>
              <a:xfrm>
                <a:off x="7163255" y="6046087"/>
                <a:ext cx="34392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h</m:t>
                    </m:r>
                  </m:oMath>
                </a14:m>
                <a:r>
                  <a:rPr lang="zh-CN" altLang="en-US" dirty="0"/>
                  <a:t>个隐层神经元的输入</a:t>
                </a:r>
              </a:p>
            </p:txBody>
          </p:sp>
        </mc:Choice>
        <mc:Fallback xmlns="">
          <p:sp>
            <p:nvSpPr>
              <p:cNvPr id="4111" name="TextBox 4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255" y="6046087"/>
                <a:ext cx="3439211" cy="461665"/>
              </a:xfrm>
              <a:prstGeom prst="rect">
                <a:avLst/>
              </a:prstGeom>
              <a:blipFill>
                <a:blip r:embed="rId35"/>
                <a:stretch>
                  <a:fillRect l="-2660" t="-10526" r="-195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12" name="对象 4111"/>
              <p:cNvSpPr txBox="1"/>
              <p:nvPr/>
            </p:nvSpPr>
            <p:spPr>
              <a:xfrm>
                <a:off x="10541552" y="5879969"/>
                <a:ext cx="1599185" cy="74202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12" name="对象 4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552" y="5879969"/>
                <a:ext cx="1599185" cy="742022"/>
              </a:xfrm>
              <a:prstGeom prst="rect">
                <a:avLst/>
              </a:prstGeom>
              <a:blipFill>
                <a:blip r:embed="rId36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9" name="直接箭头连接符 308"/>
          <p:cNvCxnSpPr/>
          <p:nvPr/>
        </p:nvCxnSpPr>
        <p:spPr>
          <a:xfrm>
            <a:off x="6709172" y="4811587"/>
            <a:ext cx="1863524" cy="225665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1" name="TextBox 310"/>
              <p:cNvSpPr txBox="1"/>
              <p:nvPr/>
            </p:nvSpPr>
            <p:spPr>
              <a:xfrm>
                <a:off x="8144889" y="4285293"/>
                <a:ext cx="36860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𝑗</m:t>
                    </m:r>
                  </m:oMath>
                </a14:m>
                <a:r>
                  <a:rPr lang="zh-CN" altLang="en-US" dirty="0"/>
                  <a:t>个输出层神经元的输入</a:t>
                </a:r>
              </a:p>
            </p:txBody>
          </p:sp>
        </mc:Choice>
        <mc:Fallback xmlns="">
          <p:sp>
            <p:nvSpPr>
              <p:cNvPr id="311" name="TextBox 3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889" y="4285293"/>
                <a:ext cx="3686074" cy="461665"/>
              </a:xfrm>
              <a:prstGeom prst="rect">
                <a:avLst/>
              </a:prstGeom>
              <a:blipFill>
                <a:blip r:embed="rId37"/>
                <a:stretch>
                  <a:fillRect l="-2479" t="-10526" r="-1653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16" name="对象 4115"/>
              <p:cNvSpPr txBox="1"/>
              <p:nvPr/>
            </p:nvSpPr>
            <p:spPr>
              <a:xfrm>
                <a:off x="8903227" y="4924419"/>
                <a:ext cx="1544116" cy="795454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16" name="对象 4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227" y="4924419"/>
                <a:ext cx="1544116" cy="7954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3" name="Google Shape;3223;p51"/>
          <p:cNvSpPr/>
          <p:nvPr/>
        </p:nvSpPr>
        <p:spPr>
          <a:xfrm>
            <a:off x="8622896" y="2386546"/>
            <a:ext cx="1187224" cy="1169896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314" name="TextBox 313"/>
          <p:cNvSpPr txBox="1"/>
          <p:nvPr/>
        </p:nvSpPr>
        <p:spPr>
          <a:xfrm>
            <a:off x="8326763" y="18821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隐层神经元</a:t>
            </a:r>
          </a:p>
        </p:txBody>
      </p:sp>
      <p:cxnSp>
        <p:nvCxnSpPr>
          <p:cNvPr id="4118" name="曲线连接符 4117"/>
          <p:cNvCxnSpPr/>
          <p:nvPr/>
        </p:nvCxnSpPr>
        <p:spPr>
          <a:xfrm flipV="1">
            <a:off x="8929506" y="2692077"/>
            <a:ext cx="574003" cy="517982"/>
          </a:xfrm>
          <a:prstGeom prst="curvedConnector3">
            <a:avLst>
              <a:gd name="adj1" fmla="val 50000"/>
            </a:avLst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3" name="直接箭头连接符 4122"/>
          <p:cNvCxnSpPr/>
          <p:nvPr/>
        </p:nvCxnSpPr>
        <p:spPr>
          <a:xfrm>
            <a:off x="9503509" y="2951068"/>
            <a:ext cx="773823" cy="442109"/>
          </a:xfrm>
          <a:prstGeom prst="straightConnector1">
            <a:avLst/>
          </a:prstGeom>
          <a:ln w="190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6" name="TextBox 4125"/>
          <p:cNvSpPr txBox="1"/>
          <p:nvPr/>
        </p:nvSpPr>
        <p:spPr>
          <a:xfrm>
            <a:off x="10277332" y="322475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激活函数</a:t>
            </a:r>
          </a:p>
        </p:txBody>
      </p:sp>
      <p:graphicFrame>
        <p:nvGraphicFramePr>
          <p:cNvPr id="283" name="对象 282"/>
          <p:cNvGraphicFramePr>
            <a:graphicFrameLocks noChangeAspect="1"/>
          </p:cNvGraphicFramePr>
          <p:nvPr/>
        </p:nvGraphicFramePr>
        <p:xfrm>
          <a:off x="2062629" y="3492844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90440" imgH="228600" progId="Equation.DSMT4">
                  <p:embed/>
                </p:oleObj>
              </mc:Choice>
              <mc:Fallback>
                <p:oleObj name="Equation" r:id="rId39" imgW="190440" imgH="228600" progId="Equation.DSMT4">
                  <p:embed/>
                  <p:pic>
                    <p:nvPicPr>
                      <p:cNvPr id="283" name="对象 282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062629" y="3492844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>
            <a:extLst>
              <a:ext uri="{FF2B5EF4-FFF2-40B4-BE49-F238E27FC236}">
                <a16:creationId xmlns:a16="http://schemas.microsoft.com/office/drawing/2014/main" id="{CEE8855A-1AC4-44B8-A466-63B07758F605}"/>
              </a:ext>
            </a:extLst>
          </p:cNvPr>
          <p:cNvSpPr txBox="1"/>
          <p:nvPr/>
        </p:nvSpPr>
        <p:spPr>
          <a:xfrm>
            <a:off x="615800" y="1511534"/>
            <a:ext cx="6093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神经网络模型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7978912"/>
      </p:ext>
    </p:extLst>
  </p:cSld>
  <p:clrMapOvr>
    <a:masterClrMapping/>
  </p:clrMapOvr>
  <p:transition advTm="8005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338" y="280440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常见激活函数选择：</a:t>
            </a:r>
            <a:endParaRPr lang="en-US" altLang="zh-CN" b="1" dirty="0"/>
          </a:p>
        </p:txBody>
      </p:sp>
      <p:pic>
        <p:nvPicPr>
          <p:cNvPr id="16386" name="Picture 2" descr="C:\Users\Administrator\Desktop\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496" y="1465592"/>
            <a:ext cx="3246700" cy="243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Administrator\Desktop\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819" y="4304673"/>
            <a:ext cx="3289685" cy="2467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89671" y="3481239"/>
            <a:ext cx="24961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Sigmoid 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/>
              <a:t>Tanh 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 err="1"/>
              <a:t>ReLU</a:t>
            </a:r>
            <a:r>
              <a:rPr lang="en-US" altLang="zh-CN" dirty="0"/>
              <a:t> 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/>
              <a:t>Leaky </a:t>
            </a:r>
            <a:r>
              <a:rPr lang="en-US" altLang="zh-CN" dirty="0" err="1"/>
              <a:t>ReLU</a:t>
            </a:r>
            <a:r>
              <a:rPr lang="zh-CN" altLang="en-US" dirty="0"/>
              <a:t>函数</a:t>
            </a:r>
          </a:p>
        </p:txBody>
      </p:sp>
      <p:pic>
        <p:nvPicPr>
          <p:cNvPr id="16389" name="Picture 5" descr="C:\Users\Administrator\Desktop\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819" y="1429940"/>
            <a:ext cx="3341771" cy="250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C:\Users\Administrator\Desktop\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783" y="4230547"/>
            <a:ext cx="3295922" cy="247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6027F19-01A8-470D-AEFB-ADA057798533}"/>
              </a:ext>
            </a:extLst>
          </p:cNvPr>
          <p:cNvSpPr txBox="1"/>
          <p:nvPr/>
        </p:nvSpPr>
        <p:spPr>
          <a:xfrm>
            <a:off x="722313" y="1628248"/>
            <a:ext cx="1634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激活函数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24986475"/>
      </p:ext>
    </p:extLst>
  </p:cSld>
  <p:clrMapOvr>
    <a:masterClrMapping/>
  </p:clrMapOvr>
  <p:transition advTm="8005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9958" y="1669284"/>
            <a:ext cx="105977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最常用</a:t>
            </a:r>
            <a:r>
              <a:rPr lang="en-US" altLang="zh-CN" b="1" dirty="0"/>
              <a:t>Sigmoid</a:t>
            </a:r>
            <a:r>
              <a:rPr lang="zh-CN" altLang="en-US" b="1" dirty="0"/>
              <a:t>函数的优缺点：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优点：</a:t>
            </a:r>
            <a:endParaRPr lang="en-US" altLang="zh-CN" b="1" dirty="0"/>
          </a:p>
          <a:p>
            <a:r>
              <a:rPr lang="en-US" altLang="zh-CN" dirty="0"/>
              <a:t>1.</a:t>
            </a:r>
            <a:r>
              <a:rPr lang="zh-CN" altLang="en-US" dirty="0"/>
              <a:t>函数处处连续，便于求导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可将函数值的范围压缩至</a:t>
            </a:r>
            <a:r>
              <a:rPr lang="en-US" altLang="zh-CN" dirty="0"/>
              <a:t>[0,1]</a:t>
            </a:r>
            <a:r>
              <a:rPr lang="zh-CN" altLang="en-US" dirty="0"/>
              <a:t>，可用于压缩数据，且幅度不变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便于前向传输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缺点：</a:t>
            </a:r>
            <a:endParaRPr lang="en-US" altLang="zh-CN" b="1" dirty="0"/>
          </a:p>
          <a:p>
            <a:r>
              <a:rPr lang="en-US" altLang="zh-CN" dirty="0"/>
              <a:t>1.</a:t>
            </a:r>
            <a:r>
              <a:rPr lang="zh-CN" altLang="en-US" dirty="0"/>
              <a:t>在趋向无穷的地方，函数值变化很小，容易出现梯度消失，不利于深层神经</a:t>
            </a:r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的反馈传输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幂函数的梯度计算复杂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收敛速度比较慢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5749915"/>
      </p:ext>
    </p:extLst>
  </p:cSld>
  <p:clrMapOvr>
    <a:masterClrMapping/>
  </p:clrMapOvr>
  <p:transition advTm="8005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5" y="1432730"/>
            <a:ext cx="5247248" cy="433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主要步骤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　　　　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13EE41-636C-4218-8E52-0287DFB656F4}"/>
              </a:ext>
            </a:extLst>
          </p:cNvPr>
          <p:cNvSpPr txBox="1"/>
          <p:nvPr/>
        </p:nvSpPr>
        <p:spPr>
          <a:xfrm>
            <a:off x="633046" y="1934578"/>
            <a:ext cx="102037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第一步，对样本明确预测输出值与损失函数</a:t>
            </a:r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-apple-system"/>
              </a:rPr>
              <a:t>第二步，明确参数调整策略</a:t>
            </a:r>
            <a:endParaRPr lang="en-US" altLang="zh-CN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第三步，计算输出层阈值的梯度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第四步，计算隐层到输出层连接权值的梯度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第五步，计算隐层阈值的梯度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第六步，计算输入层到隐层连接权值的梯度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apple-system"/>
              </a:rPr>
              <a:t>第七步，引出归纳结论</a:t>
            </a:r>
            <a:endParaRPr lang="en-US" altLang="zh-CN" dirty="0">
              <a:solidFill>
                <a:srgbClr val="000000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6078483"/>
      </p:ext>
    </p:extLst>
  </p:cSld>
  <p:clrMapOvr>
    <a:masterClrMapping/>
  </p:clrMapOvr>
  <p:transition advTm="8005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76" y="1432730"/>
            <a:ext cx="6963507" cy="433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</a:rPr>
              <a:t>第一步，明确损失函数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/>
              <p:nvPr/>
            </p:nvSpPr>
            <p:spPr>
              <a:xfrm>
                <a:off x="379476" y="2172687"/>
                <a:ext cx="429090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对样本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，神经网络的预测输出值为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effectLst/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b="0" i="0" dirty="0">
                    <a:solidFill>
                      <a:srgbClr val="000000"/>
                    </a:solidFill>
                    <a:effectLst/>
                    <a:latin typeface="-apple-system"/>
                  </a:rPr>
                  <a:t>。</a:t>
                </a:r>
                <a:endParaRPr lang="en-US" altLang="zh-CN" b="0" i="0" dirty="0">
                  <a:solidFill>
                    <a:srgbClr val="000000"/>
                  </a:solidFill>
                  <a:effectLst/>
                  <a:latin typeface="-apple-system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000000"/>
                    </a:solidFill>
                    <a:latin typeface="-apple-system"/>
                  </a:rPr>
                  <a:t>全网络在样本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上的均方误差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413EE41-636C-4218-8E52-0287DFB6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476" y="2172687"/>
                <a:ext cx="4290909" cy="2308324"/>
              </a:xfrm>
              <a:prstGeom prst="rect">
                <a:avLst/>
              </a:prstGeom>
              <a:blipFill rotWithShape="1">
                <a:blip r:embed="rId4"/>
                <a:stretch>
                  <a:fillRect l="-2131" r="-710" b="-2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431297"/>
              </p:ext>
            </p:extLst>
          </p:nvPr>
        </p:nvGraphicFramePr>
        <p:xfrm>
          <a:off x="6582174" y="2829256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2174" y="2829256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3214;p51"/>
          <p:cNvSpPr/>
          <p:nvPr/>
        </p:nvSpPr>
        <p:spPr>
          <a:xfrm>
            <a:off x="5467873" y="349597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8" name="Google Shape;3215;p51"/>
          <p:cNvSpPr/>
          <p:nvPr/>
        </p:nvSpPr>
        <p:spPr>
          <a:xfrm>
            <a:off x="5467873" y="454956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16;p51"/>
          <p:cNvSpPr/>
          <p:nvPr/>
        </p:nvSpPr>
        <p:spPr>
          <a:xfrm>
            <a:off x="5467873" y="2442391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21;p51"/>
          <p:cNvSpPr/>
          <p:nvPr/>
        </p:nvSpPr>
        <p:spPr>
          <a:xfrm>
            <a:off x="8049817" y="302081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2;p51"/>
          <p:cNvSpPr/>
          <p:nvPr/>
        </p:nvSpPr>
        <p:spPr>
          <a:xfrm>
            <a:off x="8049817" y="407440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3;p51"/>
          <p:cNvSpPr/>
          <p:nvPr/>
        </p:nvSpPr>
        <p:spPr>
          <a:xfrm>
            <a:off x="8049817" y="196722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3" name="Google Shape;3224;p51"/>
          <p:cNvCxnSpPr>
            <a:stCxn id="9" idx="6"/>
            <a:endCxn id="10" idx="2"/>
          </p:cNvCxnSpPr>
          <p:nvPr/>
        </p:nvCxnSpPr>
        <p:spPr>
          <a:xfrm>
            <a:off x="6199873" y="2792941"/>
            <a:ext cx="1849944" cy="5784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3225;p51"/>
          <p:cNvCxnSpPr>
            <a:stCxn id="9" idx="6"/>
            <a:endCxn id="12" idx="2"/>
          </p:cNvCxnSpPr>
          <p:nvPr/>
        </p:nvCxnSpPr>
        <p:spPr>
          <a:xfrm flipV="1">
            <a:off x="6199873" y="2317775"/>
            <a:ext cx="1849944" cy="4751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7;p51"/>
          <p:cNvCxnSpPr>
            <a:stCxn id="6" idx="6"/>
            <a:endCxn id="12" idx="2"/>
          </p:cNvCxnSpPr>
          <p:nvPr/>
        </p:nvCxnSpPr>
        <p:spPr>
          <a:xfrm flipV="1">
            <a:off x="6199873" y="2317775"/>
            <a:ext cx="1849944" cy="152875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8;p51"/>
          <p:cNvCxnSpPr>
            <a:stCxn id="6" idx="6"/>
            <a:endCxn id="10" idx="2"/>
          </p:cNvCxnSpPr>
          <p:nvPr/>
        </p:nvCxnSpPr>
        <p:spPr>
          <a:xfrm flipV="1">
            <a:off x="6199873" y="3371362"/>
            <a:ext cx="1849944" cy="4751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9;p51"/>
          <p:cNvCxnSpPr>
            <a:stCxn id="6" idx="6"/>
            <a:endCxn id="11" idx="2"/>
          </p:cNvCxnSpPr>
          <p:nvPr/>
        </p:nvCxnSpPr>
        <p:spPr>
          <a:xfrm>
            <a:off x="6199873" y="3846529"/>
            <a:ext cx="1849944" cy="57842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30;p51"/>
          <p:cNvCxnSpPr>
            <a:stCxn id="8" idx="6"/>
            <a:endCxn id="12" idx="2"/>
          </p:cNvCxnSpPr>
          <p:nvPr/>
        </p:nvCxnSpPr>
        <p:spPr>
          <a:xfrm flipV="1">
            <a:off x="6199873" y="2317775"/>
            <a:ext cx="1849944" cy="25823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1;p51"/>
          <p:cNvCxnSpPr>
            <a:stCxn id="8" idx="6"/>
            <a:endCxn id="10" idx="2"/>
          </p:cNvCxnSpPr>
          <p:nvPr/>
        </p:nvCxnSpPr>
        <p:spPr>
          <a:xfrm flipV="1">
            <a:off x="6199873" y="3371362"/>
            <a:ext cx="1849944" cy="152875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2;p51"/>
          <p:cNvCxnSpPr>
            <a:stCxn id="8" idx="6"/>
            <a:endCxn id="11" idx="2"/>
          </p:cNvCxnSpPr>
          <p:nvPr/>
        </p:nvCxnSpPr>
        <p:spPr>
          <a:xfrm flipV="1">
            <a:off x="6199873" y="4424950"/>
            <a:ext cx="1849944" cy="475166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233;p51"/>
          <p:cNvSpPr/>
          <p:nvPr/>
        </p:nvSpPr>
        <p:spPr>
          <a:xfrm>
            <a:off x="10652220" y="2471641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2" name="Google Shape;3234;p51"/>
          <p:cNvSpPr/>
          <p:nvPr/>
        </p:nvSpPr>
        <p:spPr>
          <a:xfrm>
            <a:off x="10652220" y="352880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3" name="Google Shape;3235;p51"/>
          <p:cNvCxnSpPr>
            <a:stCxn id="12" idx="6"/>
            <a:endCxn id="21" idx="2"/>
          </p:cNvCxnSpPr>
          <p:nvPr/>
        </p:nvCxnSpPr>
        <p:spPr>
          <a:xfrm>
            <a:off x="8781817" y="2317775"/>
            <a:ext cx="1870403" cy="5044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3236;p51"/>
          <p:cNvCxnSpPr>
            <a:stCxn id="12" idx="6"/>
            <a:endCxn id="22" idx="2"/>
          </p:cNvCxnSpPr>
          <p:nvPr/>
        </p:nvCxnSpPr>
        <p:spPr>
          <a:xfrm>
            <a:off x="8781817" y="2317775"/>
            <a:ext cx="1870403" cy="156158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7;p51"/>
          <p:cNvCxnSpPr>
            <a:stCxn id="10" idx="6"/>
            <a:endCxn id="21" idx="2"/>
          </p:cNvCxnSpPr>
          <p:nvPr/>
        </p:nvCxnSpPr>
        <p:spPr>
          <a:xfrm flipV="1">
            <a:off x="8781817" y="2822191"/>
            <a:ext cx="1870403" cy="5491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8;p51"/>
          <p:cNvCxnSpPr>
            <a:stCxn id="10" idx="6"/>
            <a:endCxn id="22" idx="2"/>
          </p:cNvCxnSpPr>
          <p:nvPr/>
        </p:nvCxnSpPr>
        <p:spPr>
          <a:xfrm>
            <a:off x="8781817" y="3371362"/>
            <a:ext cx="1870403" cy="507995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9;p51"/>
          <p:cNvCxnSpPr>
            <a:stCxn id="11" idx="6"/>
            <a:endCxn id="21" idx="2"/>
          </p:cNvCxnSpPr>
          <p:nvPr/>
        </p:nvCxnSpPr>
        <p:spPr>
          <a:xfrm flipV="1">
            <a:off x="8781817" y="2822191"/>
            <a:ext cx="1870403" cy="16027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40;p51"/>
          <p:cNvCxnSpPr>
            <a:stCxn id="11" idx="6"/>
            <a:endCxn id="22" idx="2"/>
          </p:cNvCxnSpPr>
          <p:nvPr/>
        </p:nvCxnSpPr>
        <p:spPr>
          <a:xfrm flipV="1">
            <a:off x="8781817" y="3879357"/>
            <a:ext cx="1870403" cy="54559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3222;p51"/>
          <p:cNvSpPr/>
          <p:nvPr/>
        </p:nvSpPr>
        <p:spPr>
          <a:xfrm>
            <a:off x="8049817" y="517450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0" name="Google Shape;3226;p51"/>
          <p:cNvCxnSpPr>
            <a:stCxn id="9" idx="6"/>
            <a:endCxn id="29" idx="2"/>
          </p:cNvCxnSpPr>
          <p:nvPr/>
        </p:nvCxnSpPr>
        <p:spPr>
          <a:xfrm>
            <a:off x="6199873" y="2792941"/>
            <a:ext cx="1849944" cy="27321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3232;p51"/>
          <p:cNvCxnSpPr>
            <a:stCxn id="8" idx="6"/>
            <a:endCxn id="29" idx="2"/>
          </p:cNvCxnSpPr>
          <p:nvPr/>
        </p:nvCxnSpPr>
        <p:spPr>
          <a:xfrm>
            <a:off x="6199873" y="4900116"/>
            <a:ext cx="1849944" cy="6249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6" idx="6"/>
            <a:endCxn id="29" idx="2"/>
          </p:cNvCxnSpPr>
          <p:nvPr/>
        </p:nvCxnSpPr>
        <p:spPr>
          <a:xfrm>
            <a:off x="6199873" y="3846529"/>
            <a:ext cx="1849944" cy="167852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40;p51"/>
          <p:cNvCxnSpPr>
            <a:stCxn id="29" idx="6"/>
            <a:endCxn id="22" idx="2"/>
          </p:cNvCxnSpPr>
          <p:nvPr/>
        </p:nvCxnSpPr>
        <p:spPr>
          <a:xfrm flipV="1">
            <a:off x="8781817" y="3879357"/>
            <a:ext cx="1870403" cy="164570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" name="Google Shape;3234;p51"/>
          <p:cNvSpPr/>
          <p:nvPr/>
        </p:nvSpPr>
        <p:spPr>
          <a:xfrm>
            <a:off x="10652220" y="455077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5" name="Google Shape;3240;p51"/>
          <p:cNvCxnSpPr>
            <a:stCxn id="29" idx="6"/>
            <a:endCxn id="34" idx="2"/>
          </p:cNvCxnSpPr>
          <p:nvPr/>
        </p:nvCxnSpPr>
        <p:spPr>
          <a:xfrm flipV="1">
            <a:off x="8781817" y="4901324"/>
            <a:ext cx="1870403" cy="6237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3240;p51"/>
          <p:cNvCxnSpPr>
            <a:stCxn id="11" idx="6"/>
            <a:endCxn id="34" idx="2"/>
          </p:cNvCxnSpPr>
          <p:nvPr/>
        </p:nvCxnSpPr>
        <p:spPr>
          <a:xfrm>
            <a:off x="8781817" y="4424950"/>
            <a:ext cx="1870403" cy="4763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29" idx="6"/>
            <a:endCxn id="21" idx="2"/>
          </p:cNvCxnSpPr>
          <p:nvPr/>
        </p:nvCxnSpPr>
        <p:spPr>
          <a:xfrm flipV="1">
            <a:off x="8781817" y="2822191"/>
            <a:ext cx="1870403" cy="27028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38;p51"/>
          <p:cNvCxnSpPr>
            <a:stCxn id="12" idx="6"/>
            <a:endCxn id="34" idx="2"/>
          </p:cNvCxnSpPr>
          <p:nvPr/>
        </p:nvCxnSpPr>
        <p:spPr>
          <a:xfrm>
            <a:off x="8781817" y="2317775"/>
            <a:ext cx="1870403" cy="25835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10" idx="6"/>
            <a:endCxn id="34" idx="2"/>
          </p:cNvCxnSpPr>
          <p:nvPr/>
        </p:nvCxnSpPr>
        <p:spPr>
          <a:xfrm>
            <a:off x="8781817" y="3371362"/>
            <a:ext cx="1870403" cy="15299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5261678" y="194185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3089" y="196722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1598" y="138811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168039"/>
              </p:ext>
            </p:extLst>
          </p:nvPr>
        </p:nvGraphicFramePr>
        <p:xfrm>
          <a:off x="5476835" y="2345828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76835" y="2345828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631122"/>
              </p:ext>
            </p:extLst>
          </p:nvPr>
        </p:nvGraphicFramePr>
        <p:xfrm>
          <a:off x="5456197" y="3385640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41200" progId="Equation.DSMT4">
                  <p:embed/>
                </p:oleObj>
              </mc:Choice>
              <mc:Fallback>
                <p:oleObj name="Equation" r:id="rId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197" y="3385640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653563"/>
              </p:ext>
            </p:extLst>
          </p:nvPr>
        </p:nvGraphicFramePr>
        <p:xfrm>
          <a:off x="5400635" y="4449265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41200" progId="Equation.DSMT4">
                  <p:embed/>
                </p:oleObj>
              </mc:Choice>
              <mc:Fallback>
                <p:oleObj name="Equation" r:id="rId1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35" y="4449265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923078"/>
              </p:ext>
            </p:extLst>
          </p:nvPr>
        </p:nvGraphicFramePr>
        <p:xfrm>
          <a:off x="8176898" y="1927250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228600" progId="Equation.DSMT4">
                  <p:embed/>
                </p:oleObj>
              </mc:Choice>
              <mc:Fallback>
                <p:oleObj name="Equation" r:id="rId13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6898" y="1927250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573984"/>
              </p:ext>
            </p:extLst>
          </p:nvPr>
        </p:nvGraphicFramePr>
        <p:xfrm>
          <a:off x="8154667" y="2980311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4667" y="2980311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49004"/>
              </p:ext>
            </p:extLst>
          </p:nvPr>
        </p:nvGraphicFramePr>
        <p:xfrm>
          <a:off x="8134030" y="4034411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0" y="4034411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905331"/>
              </p:ext>
            </p:extLst>
          </p:nvPr>
        </p:nvGraphicFramePr>
        <p:xfrm>
          <a:off x="8134030" y="5112323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41200" progId="Equation.DSMT4">
                  <p:embed/>
                </p:oleObj>
              </mc:Choice>
              <mc:Fallback>
                <p:oleObj name="Equation" r:id="rId19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0" y="5112323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5726223" y="3094669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26223" y="4159906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92254" y="366520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292254" y="4782370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737908"/>
              </p:ext>
            </p:extLst>
          </p:nvPr>
        </p:nvGraphicFramePr>
        <p:xfrm>
          <a:off x="10666943" y="2419491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200" imgH="241200" progId="Equation.DSMT4">
                  <p:embed/>
                </p:oleObj>
              </mc:Choice>
              <mc:Fallback>
                <p:oleObj name="Equation" r:id="rId2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6943" y="2419491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695380"/>
              </p:ext>
            </p:extLst>
          </p:nvPr>
        </p:nvGraphicFramePr>
        <p:xfrm>
          <a:off x="10675253" y="3526139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00" imgH="241200" progId="Equation.DSMT4">
                  <p:embed/>
                </p:oleObj>
              </mc:Choice>
              <mc:Fallback>
                <p:oleObj name="Equation" r:id="rId23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5253" y="3526139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8191663"/>
              </p:ext>
            </p:extLst>
          </p:nvPr>
        </p:nvGraphicFramePr>
        <p:xfrm>
          <a:off x="10646121" y="4511007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200" imgH="241200" progId="Equation.DSMT4">
                  <p:embed/>
                </p:oleObj>
              </mc:Choice>
              <mc:Fallback>
                <p:oleObj name="Equation" r:id="rId25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6121" y="4511007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Google Shape;3226;p51"/>
          <p:cNvCxnSpPr>
            <a:stCxn id="9" idx="6"/>
            <a:endCxn id="11" idx="2"/>
          </p:cNvCxnSpPr>
          <p:nvPr/>
        </p:nvCxnSpPr>
        <p:spPr>
          <a:xfrm>
            <a:off x="6199873" y="2792941"/>
            <a:ext cx="1849944" cy="163200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911186"/>
              </p:ext>
            </p:extLst>
          </p:nvPr>
        </p:nvGraphicFramePr>
        <p:xfrm>
          <a:off x="6895800" y="4095979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228600" progId="Equation.DSMT4">
                  <p:embed/>
                </p:oleObj>
              </mc:Choice>
              <mc:Fallback>
                <p:oleObj name="Equation" r:id="rId27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5800" y="4095979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916727"/>
              </p:ext>
            </p:extLst>
          </p:nvPr>
        </p:nvGraphicFramePr>
        <p:xfrm>
          <a:off x="6832963" y="4650862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040" imgH="228600" progId="Equation.DSMT4">
                  <p:embed/>
                </p:oleObj>
              </mc:Choice>
              <mc:Fallback>
                <p:oleObj name="Equation" r:id="rId2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963" y="4650862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89078"/>
              </p:ext>
            </p:extLst>
          </p:nvPr>
        </p:nvGraphicFramePr>
        <p:xfrm>
          <a:off x="9380067" y="2539734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28600" imgH="241200" progId="Equation.DSMT4">
                  <p:embed/>
                </p:oleObj>
              </mc:Choice>
              <mc:Fallback>
                <p:oleObj name="Equation" r:id="rId31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0067" y="2539734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821982"/>
              </p:ext>
            </p:extLst>
          </p:nvPr>
        </p:nvGraphicFramePr>
        <p:xfrm>
          <a:off x="8781817" y="3459834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41200" imgH="241200" progId="Equation.DSMT4">
                  <p:embed/>
                </p:oleObj>
              </mc:Choice>
              <mc:Fallback>
                <p:oleObj name="Equation" r:id="rId33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1817" y="3459834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356528"/>
              </p:ext>
            </p:extLst>
          </p:nvPr>
        </p:nvGraphicFramePr>
        <p:xfrm>
          <a:off x="8781817" y="4361961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1817" y="4361961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143474"/>
              </p:ext>
            </p:extLst>
          </p:nvPr>
        </p:nvGraphicFramePr>
        <p:xfrm>
          <a:off x="8986790" y="5271852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15640" imgH="241200" progId="Equation.DSMT4">
                  <p:embed/>
                </p:oleObj>
              </mc:Choice>
              <mc:Fallback>
                <p:oleObj name="Equation" r:id="rId37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6790" y="5271852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10888181" y="3154214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893753" y="4154212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9619781" y="4074400"/>
            <a:ext cx="1816006" cy="1787181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0" name="左大括号 4099"/>
          <p:cNvSpPr/>
          <p:nvPr/>
        </p:nvSpPr>
        <p:spPr>
          <a:xfrm>
            <a:off x="5154174" y="2825018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101" name="对象 4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587655"/>
              </p:ext>
            </p:extLst>
          </p:nvPr>
        </p:nvGraphicFramePr>
        <p:xfrm>
          <a:off x="4670385" y="3512640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64880" imgH="228600" progId="Equation.DSMT4">
                  <p:embed/>
                </p:oleObj>
              </mc:Choice>
              <mc:Fallback>
                <p:oleObj name="Equation" r:id="rId39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670385" y="3512640"/>
                        <a:ext cx="371475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对象 4101"/>
              <p:cNvSpPr txBox="1"/>
              <p:nvPr/>
            </p:nvSpPr>
            <p:spPr bwMode="auto">
              <a:xfrm>
                <a:off x="11735859" y="3569207"/>
                <a:ext cx="400050" cy="5159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2" name="对象 4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35859" y="3569207"/>
                <a:ext cx="400050" cy="515937"/>
              </a:xfrm>
              <a:prstGeom prst="rect">
                <a:avLst/>
              </a:prstGeom>
              <a:blipFill>
                <a:blip r:embed="rId41"/>
                <a:stretch>
                  <a:fillRect l="-4545" r="-15152" b="-1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左大括号 74"/>
          <p:cNvSpPr/>
          <p:nvPr/>
        </p:nvSpPr>
        <p:spPr>
          <a:xfrm rot="10800000">
            <a:off x="11385721" y="2802043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4" name="TextBox 4103"/>
          <p:cNvSpPr txBox="1"/>
          <p:nvPr/>
        </p:nvSpPr>
        <p:spPr>
          <a:xfrm>
            <a:off x="6350382" y="594902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预测均方</a:t>
            </a:r>
            <a:r>
              <a:rPr lang="zh-CN" altLang="en-US" dirty="0">
                <a:solidFill>
                  <a:srgbClr val="FF0000"/>
                </a:solidFill>
              </a:rPr>
              <a:t>误差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 bwMode="auto">
              <a:xfrm>
                <a:off x="1155700" y="3765550"/>
                <a:ext cx="2690813" cy="931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5700" y="3765550"/>
                <a:ext cx="2690813" cy="931863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6" name="对象 4095"/>
              <p:cNvSpPr txBox="1"/>
              <p:nvPr/>
            </p:nvSpPr>
            <p:spPr bwMode="auto">
              <a:xfrm>
                <a:off x="8327407" y="5752129"/>
                <a:ext cx="2690813" cy="931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6" name="对象 40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27407" y="5752129"/>
                <a:ext cx="2690813" cy="931863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68224"/>
      </p:ext>
    </p:extLst>
  </p:cSld>
  <p:clrMapOvr>
    <a:masterClrMapping/>
  </p:clrMapOvr>
  <p:transition advTm="8005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5" y="1401952"/>
            <a:ext cx="2836983" cy="4949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算法步骤</a:t>
            </a:r>
            <a:endParaRPr kumimoji="0" lang="zh-CN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/>
              <p:nvPr/>
            </p:nvSpPr>
            <p:spPr>
              <a:xfrm>
                <a:off x="668339" y="2286538"/>
                <a:ext cx="3203393" cy="3740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基于梯度下降（</a:t>
                </a:r>
                <a:r>
                  <a:rPr lang="en-US" altLang="zh-CN" sz="2000" dirty="0"/>
                  <a:t>Gradient Descent</a:t>
                </a:r>
                <a:r>
                  <a:rPr lang="zh-CN" altLang="en-US" sz="2000" dirty="0"/>
                  <a:t>）策略，以目标的负梯度方向对参数进行调整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/>
                        </a:rPr>
                        <m:t>+∆</m:t>
                      </m:r>
                      <m:r>
                        <a:rPr lang="en-US" altLang="zh-CN" sz="2000" b="0" i="1" smtClean="0">
                          <a:latin typeface="Cambria Math"/>
                          <a:ea typeface="Cambria Math"/>
                        </a:rPr>
                        <m:t>𝑣</m:t>
                      </m:r>
                    </m:oMath>
                  </m:oMathPara>
                </a14:m>
                <a:endParaRPr lang="en-US" altLang="zh-CN" sz="2000" b="0" dirty="0"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n-US" altLang="zh-CN" sz="2000" b="0" i="1" smtClean="0">
                          <a:latin typeface="Cambria Math"/>
                          <a:ea typeface="Cambria Math"/>
                        </a:rPr>
                        <m:t>𝑣</m:t>
                      </m:r>
                      <m:r>
                        <a:rPr lang="en-US" altLang="zh-CN" sz="2000" b="0" i="1" smtClean="0">
                          <a:latin typeface="Cambria Math"/>
                          <a:ea typeface="Cambria Math"/>
                        </a:rPr>
                        <m:t>=−</m:t>
                      </m:r>
                      <m:r>
                        <a:rPr lang="zh-CN" altLang="en-US" sz="2000" b="0" i="1" smtClean="0">
                          <a:latin typeface="Cambria Math"/>
                          <a:ea typeface="Cambria Math"/>
                        </a:rPr>
                        <m:t>𝜌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zh-CN" altLang="en-US" sz="2000" b="0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/>
                                  <a:ea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000" b="0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altLang="zh-CN" sz="2000" b="0" i="1" smtClean="0">
                              <a:latin typeface="Cambria Math"/>
                              <a:ea typeface="Cambria Math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9" y="2286538"/>
                <a:ext cx="3203393" cy="3740383"/>
              </a:xfrm>
              <a:prstGeom prst="rect">
                <a:avLst/>
              </a:prstGeom>
              <a:blipFill>
                <a:blip r:embed="rId4"/>
                <a:stretch>
                  <a:fillRect l="-2095" r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5" y="1432730"/>
            <a:ext cx="6963507" cy="433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</a:rPr>
              <a:t>第</a:t>
            </a:r>
            <a:r>
              <a:rPr lang="zh-CN" altLang="en-US" b="1" dirty="0">
                <a:latin typeface="微软雅黑" panose="020B0503020204020204" pitchFamily="34" charset="-122"/>
              </a:rPr>
              <a:t>二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</a:rPr>
              <a:t>步，明确参数调整策略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64202"/>
              </p:ext>
            </p:extLst>
          </p:nvPr>
        </p:nvGraphicFramePr>
        <p:xfrm>
          <a:off x="6569976" y="3078303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69976" y="3078303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Google Shape;3214;p51"/>
          <p:cNvSpPr/>
          <p:nvPr/>
        </p:nvSpPr>
        <p:spPr>
          <a:xfrm>
            <a:off x="5076769" y="354328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15;p51"/>
          <p:cNvSpPr/>
          <p:nvPr/>
        </p:nvSpPr>
        <p:spPr>
          <a:xfrm>
            <a:off x="5076769" y="4596873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16;p51"/>
          <p:cNvSpPr/>
          <p:nvPr/>
        </p:nvSpPr>
        <p:spPr>
          <a:xfrm>
            <a:off x="5076769" y="248969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1;p51"/>
          <p:cNvSpPr/>
          <p:nvPr/>
        </p:nvSpPr>
        <p:spPr>
          <a:xfrm>
            <a:off x="7875573" y="300387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2;p51"/>
          <p:cNvSpPr/>
          <p:nvPr/>
        </p:nvSpPr>
        <p:spPr>
          <a:xfrm>
            <a:off x="7875573" y="405746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3" name="Google Shape;3223;p51"/>
          <p:cNvSpPr/>
          <p:nvPr/>
        </p:nvSpPr>
        <p:spPr>
          <a:xfrm>
            <a:off x="7875573" y="195028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4" name="Google Shape;3224;p51"/>
          <p:cNvCxnSpPr>
            <a:stCxn id="10" idx="6"/>
            <a:endCxn id="11" idx="2"/>
          </p:cNvCxnSpPr>
          <p:nvPr/>
        </p:nvCxnSpPr>
        <p:spPr>
          <a:xfrm>
            <a:off x="5808769" y="2840248"/>
            <a:ext cx="2066804" cy="51417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5;p51"/>
          <p:cNvCxnSpPr>
            <a:stCxn id="10" idx="6"/>
            <a:endCxn id="13" idx="2"/>
          </p:cNvCxnSpPr>
          <p:nvPr/>
        </p:nvCxnSpPr>
        <p:spPr>
          <a:xfrm flipV="1">
            <a:off x="5808769" y="2300839"/>
            <a:ext cx="2066804" cy="5394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7;p51"/>
          <p:cNvCxnSpPr>
            <a:stCxn id="8" idx="6"/>
            <a:endCxn id="13" idx="2"/>
          </p:cNvCxnSpPr>
          <p:nvPr/>
        </p:nvCxnSpPr>
        <p:spPr>
          <a:xfrm flipV="1">
            <a:off x="5808769" y="2300839"/>
            <a:ext cx="2066804" cy="15929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8;p51"/>
          <p:cNvCxnSpPr>
            <a:stCxn id="8" idx="6"/>
            <a:endCxn id="11" idx="2"/>
          </p:cNvCxnSpPr>
          <p:nvPr/>
        </p:nvCxnSpPr>
        <p:spPr>
          <a:xfrm flipV="1">
            <a:off x="5808769" y="3354426"/>
            <a:ext cx="2066804" cy="53941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29;p51"/>
          <p:cNvCxnSpPr>
            <a:stCxn id="8" idx="6"/>
            <a:endCxn id="12" idx="2"/>
          </p:cNvCxnSpPr>
          <p:nvPr/>
        </p:nvCxnSpPr>
        <p:spPr>
          <a:xfrm>
            <a:off x="5808769" y="3893836"/>
            <a:ext cx="2066804" cy="514178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0;p51"/>
          <p:cNvCxnSpPr>
            <a:stCxn id="9" idx="6"/>
            <a:endCxn id="13" idx="2"/>
          </p:cNvCxnSpPr>
          <p:nvPr/>
        </p:nvCxnSpPr>
        <p:spPr>
          <a:xfrm flipV="1">
            <a:off x="5808769" y="2300839"/>
            <a:ext cx="2066804" cy="26465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1;p51"/>
          <p:cNvCxnSpPr>
            <a:stCxn id="9" idx="6"/>
            <a:endCxn id="11" idx="2"/>
          </p:cNvCxnSpPr>
          <p:nvPr/>
        </p:nvCxnSpPr>
        <p:spPr>
          <a:xfrm flipV="1">
            <a:off x="5808769" y="3354426"/>
            <a:ext cx="2066804" cy="15929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232;p51"/>
          <p:cNvCxnSpPr>
            <a:stCxn id="9" idx="6"/>
            <a:endCxn id="12" idx="2"/>
          </p:cNvCxnSpPr>
          <p:nvPr/>
        </p:nvCxnSpPr>
        <p:spPr>
          <a:xfrm flipV="1">
            <a:off x="5808769" y="4408014"/>
            <a:ext cx="2066804" cy="53940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3233;p51"/>
          <p:cNvSpPr/>
          <p:nvPr/>
        </p:nvSpPr>
        <p:spPr>
          <a:xfrm>
            <a:off x="10579118" y="249357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3" name="Google Shape;3234;p51"/>
          <p:cNvSpPr/>
          <p:nvPr/>
        </p:nvSpPr>
        <p:spPr>
          <a:xfrm>
            <a:off x="10579118" y="355074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4" name="Google Shape;3235;p51"/>
          <p:cNvCxnSpPr>
            <a:stCxn id="13" idx="6"/>
            <a:endCxn id="22" idx="2"/>
          </p:cNvCxnSpPr>
          <p:nvPr/>
        </p:nvCxnSpPr>
        <p:spPr>
          <a:xfrm>
            <a:off x="8607573" y="2300839"/>
            <a:ext cx="1971545" cy="5432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6;p51"/>
          <p:cNvCxnSpPr>
            <a:stCxn id="13" idx="6"/>
            <a:endCxn id="23" idx="2"/>
          </p:cNvCxnSpPr>
          <p:nvPr/>
        </p:nvCxnSpPr>
        <p:spPr>
          <a:xfrm>
            <a:off x="8607573" y="2300839"/>
            <a:ext cx="1971545" cy="160045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7;p51"/>
          <p:cNvCxnSpPr>
            <a:stCxn id="11" idx="6"/>
            <a:endCxn id="22" idx="2"/>
          </p:cNvCxnSpPr>
          <p:nvPr/>
        </p:nvCxnSpPr>
        <p:spPr>
          <a:xfrm flipV="1">
            <a:off x="8607573" y="2844126"/>
            <a:ext cx="1971545" cy="51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8;p51"/>
          <p:cNvCxnSpPr>
            <a:stCxn id="11" idx="6"/>
            <a:endCxn id="23" idx="2"/>
          </p:cNvCxnSpPr>
          <p:nvPr/>
        </p:nvCxnSpPr>
        <p:spPr>
          <a:xfrm>
            <a:off x="8607573" y="3354426"/>
            <a:ext cx="1971545" cy="546866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39;p51"/>
          <p:cNvCxnSpPr>
            <a:stCxn id="12" idx="6"/>
            <a:endCxn id="22" idx="2"/>
          </p:cNvCxnSpPr>
          <p:nvPr/>
        </p:nvCxnSpPr>
        <p:spPr>
          <a:xfrm flipV="1">
            <a:off x="8607573" y="2844126"/>
            <a:ext cx="1971545" cy="15638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240;p51"/>
          <p:cNvCxnSpPr>
            <a:stCxn id="12" idx="6"/>
            <a:endCxn id="23" idx="2"/>
          </p:cNvCxnSpPr>
          <p:nvPr/>
        </p:nvCxnSpPr>
        <p:spPr>
          <a:xfrm flipV="1">
            <a:off x="8607573" y="3901292"/>
            <a:ext cx="1971545" cy="50672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3222;p51"/>
          <p:cNvSpPr/>
          <p:nvPr/>
        </p:nvSpPr>
        <p:spPr>
          <a:xfrm>
            <a:off x="7875573" y="515757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1" name="Google Shape;3226;p51"/>
          <p:cNvCxnSpPr>
            <a:stCxn id="10" idx="6"/>
            <a:endCxn id="30" idx="2"/>
          </p:cNvCxnSpPr>
          <p:nvPr/>
        </p:nvCxnSpPr>
        <p:spPr>
          <a:xfrm>
            <a:off x="5808769" y="2840248"/>
            <a:ext cx="2066804" cy="26678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9" idx="6"/>
            <a:endCxn id="30" idx="2"/>
          </p:cNvCxnSpPr>
          <p:nvPr/>
        </p:nvCxnSpPr>
        <p:spPr>
          <a:xfrm>
            <a:off x="5808769" y="4947423"/>
            <a:ext cx="2066804" cy="5606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32;p51"/>
          <p:cNvCxnSpPr>
            <a:stCxn id="8" idx="6"/>
            <a:endCxn id="30" idx="2"/>
          </p:cNvCxnSpPr>
          <p:nvPr/>
        </p:nvCxnSpPr>
        <p:spPr>
          <a:xfrm>
            <a:off x="5808769" y="3893836"/>
            <a:ext cx="2066804" cy="16142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240;p51"/>
          <p:cNvCxnSpPr>
            <a:stCxn id="30" idx="6"/>
            <a:endCxn id="23" idx="2"/>
          </p:cNvCxnSpPr>
          <p:nvPr/>
        </p:nvCxnSpPr>
        <p:spPr>
          <a:xfrm flipV="1">
            <a:off x="8607573" y="3901292"/>
            <a:ext cx="1971545" cy="160683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Google Shape;3234;p51"/>
          <p:cNvSpPr/>
          <p:nvPr/>
        </p:nvSpPr>
        <p:spPr>
          <a:xfrm>
            <a:off x="10579118" y="457270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6" name="Google Shape;3240;p51"/>
          <p:cNvCxnSpPr>
            <a:stCxn id="30" idx="6"/>
            <a:endCxn id="35" idx="2"/>
          </p:cNvCxnSpPr>
          <p:nvPr/>
        </p:nvCxnSpPr>
        <p:spPr>
          <a:xfrm flipV="1">
            <a:off x="8607573" y="4923259"/>
            <a:ext cx="1971545" cy="5848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12" idx="6"/>
            <a:endCxn id="35" idx="2"/>
          </p:cNvCxnSpPr>
          <p:nvPr/>
        </p:nvCxnSpPr>
        <p:spPr>
          <a:xfrm>
            <a:off x="8607573" y="4408014"/>
            <a:ext cx="1971545" cy="5152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40;p51"/>
          <p:cNvCxnSpPr>
            <a:stCxn id="30" idx="6"/>
            <a:endCxn id="22" idx="2"/>
          </p:cNvCxnSpPr>
          <p:nvPr/>
        </p:nvCxnSpPr>
        <p:spPr>
          <a:xfrm flipV="1">
            <a:off x="8607573" y="2844126"/>
            <a:ext cx="1971545" cy="26639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13" idx="6"/>
            <a:endCxn id="35" idx="2"/>
          </p:cNvCxnSpPr>
          <p:nvPr/>
        </p:nvCxnSpPr>
        <p:spPr>
          <a:xfrm>
            <a:off x="8607573" y="2300839"/>
            <a:ext cx="1971545" cy="26224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3238;p51"/>
          <p:cNvCxnSpPr>
            <a:stCxn id="11" idx="6"/>
            <a:endCxn id="35" idx="2"/>
          </p:cNvCxnSpPr>
          <p:nvPr/>
        </p:nvCxnSpPr>
        <p:spPr>
          <a:xfrm>
            <a:off x="8607573" y="3354426"/>
            <a:ext cx="1971545" cy="156883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4870574" y="198916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9987" y="198916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7354" y="137117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102178"/>
              </p:ext>
            </p:extLst>
          </p:nvPr>
        </p:nvGraphicFramePr>
        <p:xfrm>
          <a:off x="5085731" y="2393135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85731" y="2393135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906947"/>
              </p:ext>
            </p:extLst>
          </p:nvPr>
        </p:nvGraphicFramePr>
        <p:xfrm>
          <a:off x="5065093" y="3432947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41200" progId="Equation.DSMT4">
                  <p:embed/>
                </p:oleObj>
              </mc:Choice>
              <mc:Fallback>
                <p:oleObj name="Equation" r:id="rId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093" y="3432947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118764"/>
              </p:ext>
            </p:extLst>
          </p:nvPr>
        </p:nvGraphicFramePr>
        <p:xfrm>
          <a:off x="5009531" y="4496572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41200" progId="Equation.DSMT4">
                  <p:embed/>
                </p:oleObj>
              </mc:Choice>
              <mc:Fallback>
                <p:oleObj name="Equation" r:id="rId1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9531" y="4496572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31187"/>
              </p:ext>
            </p:extLst>
          </p:nvPr>
        </p:nvGraphicFramePr>
        <p:xfrm>
          <a:off x="8002654" y="1910314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228600" progId="Equation.DSMT4">
                  <p:embed/>
                </p:oleObj>
              </mc:Choice>
              <mc:Fallback>
                <p:oleObj name="Equation" r:id="rId13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2654" y="1910314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451022"/>
              </p:ext>
            </p:extLst>
          </p:nvPr>
        </p:nvGraphicFramePr>
        <p:xfrm>
          <a:off x="7980423" y="2963375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0423" y="2963375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410466"/>
              </p:ext>
            </p:extLst>
          </p:nvPr>
        </p:nvGraphicFramePr>
        <p:xfrm>
          <a:off x="7959786" y="4017475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786" y="4017475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936755"/>
              </p:ext>
            </p:extLst>
          </p:nvPr>
        </p:nvGraphicFramePr>
        <p:xfrm>
          <a:off x="7959786" y="5095387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41200" progId="Equation.DSMT4">
                  <p:embed/>
                </p:oleObj>
              </mc:Choice>
              <mc:Fallback>
                <p:oleObj name="Equation" r:id="rId19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786" y="5095387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5335119" y="3141976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35119" y="4207213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18010" y="3648271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18010" y="4765434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314214"/>
              </p:ext>
            </p:extLst>
          </p:nvPr>
        </p:nvGraphicFramePr>
        <p:xfrm>
          <a:off x="10593841" y="2441426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200" imgH="241200" progId="Equation.DSMT4">
                  <p:embed/>
                </p:oleObj>
              </mc:Choice>
              <mc:Fallback>
                <p:oleObj name="Equation" r:id="rId2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93841" y="2441426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626292"/>
              </p:ext>
            </p:extLst>
          </p:nvPr>
        </p:nvGraphicFramePr>
        <p:xfrm>
          <a:off x="10602151" y="3548074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00" imgH="241200" progId="Equation.DSMT4">
                  <p:embed/>
                </p:oleObj>
              </mc:Choice>
              <mc:Fallback>
                <p:oleObj name="Equation" r:id="rId23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2151" y="3548074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277588"/>
              </p:ext>
            </p:extLst>
          </p:nvPr>
        </p:nvGraphicFramePr>
        <p:xfrm>
          <a:off x="10573019" y="4532942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200" imgH="241200" progId="Equation.DSMT4">
                  <p:embed/>
                </p:oleObj>
              </mc:Choice>
              <mc:Fallback>
                <p:oleObj name="Equation" r:id="rId25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3019" y="4532942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Google Shape;3226;p51"/>
          <p:cNvCxnSpPr>
            <a:stCxn id="10" idx="6"/>
            <a:endCxn id="12" idx="2"/>
          </p:cNvCxnSpPr>
          <p:nvPr/>
        </p:nvCxnSpPr>
        <p:spPr>
          <a:xfrm>
            <a:off x="5808769" y="2840248"/>
            <a:ext cx="2066804" cy="1567766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322070"/>
              </p:ext>
            </p:extLst>
          </p:nvPr>
        </p:nvGraphicFramePr>
        <p:xfrm>
          <a:off x="6610912" y="4111539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228600" progId="Equation.DSMT4">
                  <p:embed/>
                </p:oleObj>
              </mc:Choice>
              <mc:Fallback>
                <p:oleObj name="Equation" r:id="rId27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912" y="4111539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460615"/>
              </p:ext>
            </p:extLst>
          </p:nvPr>
        </p:nvGraphicFramePr>
        <p:xfrm>
          <a:off x="6270967" y="4665636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040" imgH="228600" progId="Equation.DSMT4">
                  <p:embed/>
                </p:oleObj>
              </mc:Choice>
              <mc:Fallback>
                <p:oleObj name="Equation" r:id="rId2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967" y="4665636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18283"/>
              </p:ext>
            </p:extLst>
          </p:nvPr>
        </p:nvGraphicFramePr>
        <p:xfrm>
          <a:off x="9226311" y="2450826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28600" imgH="241200" progId="Equation.DSMT4">
                  <p:embed/>
                </p:oleObj>
              </mc:Choice>
              <mc:Fallback>
                <p:oleObj name="Equation" r:id="rId31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6311" y="2450826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568066"/>
              </p:ext>
            </p:extLst>
          </p:nvPr>
        </p:nvGraphicFramePr>
        <p:xfrm>
          <a:off x="8607573" y="3451769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41200" imgH="241200" progId="Equation.DSMT4">
                  <p:embed/>
                </p:oleObj>
              </mc:Choice>
              <mc:Fallback>
                <p:oleObj name="Equation" r:id="rId33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7573" y="3451769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109862"/>
              </p:ext>
            </p:extLst>
          </p:nvPr>
        </p:nvGraphicFramePr>
        <p:xfrm>
          <a:off x="8607573" y="4396698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7573" y="4396698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024887"/>
              </p:ext>
            </p:extLst>
          </p:nvPr>
        </p:nvGraphicFramePr>
        <p:xfrm>
          <a:off x="9366332" y="4711799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15640" imgH="241200" progId="Equation.DSMT4">
                  <p:embed/>
                </p:oleObj>
              </mc:Choice>
              <mc:Fallback>
                <p:oleObj name="Equation" r:id="rId37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332" y="4711799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10815079" y="3176149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820651" y="417614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8" name="左大括号 67"/>
          <p:cNvSpPr/>
          <p:nvPr/>
        </p:nvSpPr>
        <p:spPr>
          <a:xfrm>
            <a:off x="4763070" y="2872325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914867"/>
              </p:ext>
            </p:extLst>
          </p:nvPr>
        </p:nvGraphicFramePr>
        <p:xfrm>
          <a:off x="4279281" y="3559947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64880" imgH="228600" progId="Equation.DSMT4">
                  <p:embed/>
                </p:oleObj>
              </mc:Choice>
              <mc:Fallback>
                <p:oleObj name="Equation" r:id="rId39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279281" y="3559947"/>
                        <a:ext cx="371475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930876"/>
              </p:ext>
            </p:extLst>
          </p:nvPr>
        </p:nvGraphicFramePr>
        <p:xfrm>
          <a:off x="11662757" y="3591142"/>
          <a:ext cx="4000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77480" imgH="228600" progId="Equation.DSMT4">
                  <p:embed/>
                </p:oleObj>
              </mc:Choice>
              <mc:Fallback>
                <p:oleObj name="Equation" r:id="rId41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2757" y="3591142"/>
                        <a:ext cx="4000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左大括号 70"/>
          <p:cNvSpPr/>
          <p:nvPr/>
        </p:nvSpPr>
        <p:spPr>
          <a:xfrm rot="10800000">
            <a:off x="11312619" y="2823978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511206"/>
      </p:ext>
    </p:extLst>
  </p:cSld>
  <p:clrMapOvr>
    <a:masterClrMapping/>
  </p:clrMapOvr>
  <p:transition advTm="8005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8EACF8B-9263-4CC3-B845-3377A2702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453" y="1415820"/>
                <a:ext cx="6963507" cy="6923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31740" rIns="0" bIns="31740" numCol="1" anchor="ctr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/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</a:rPr>
                  <a:t>第</a:t>
                </a:r>
                <a:r>
                  <a:rPr lang="zh-CN" altLang="en-US" b="1" dirty="0">
                    <a:latin typeface="微软雅黑" panose="020B0503020204020204" pitchFamily="34" charset="-122"/>
                  </a:rPr>
                  <a:t>三</a:t>
                </a:r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</a:rPr>
                  <a:t>步，计算输出层阈值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zh-CN" altLang="en-US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𝜽</m:t>
                        </m:r>
                      </m:e>
                      <m:sub>
                        <m:r>
                          <a:rPr kumimoji="0" lang="en-US" altLang="zh-CN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</a:rPr>
                  <a:t>的梯度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8EACF8B-9263-4CC3-B845-3377A2702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453" y="1415820"/>
                <a:ext cx="6963507" cy="692349"/>
              </a:xfrm>
              <a:prstGeom prst="rect">
                <a:avLst/>
              </a:prstGeom>
              <a:blipFill rotWithShape="1">
                <a:blip r:embed="rId4"/>
                <a:stretch>
                  <a:fillRect l="-26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6">
            <a:extLst>
              <a:ext uri="{FF2B5EF4-FFF2-40B4-BE49-F238E27FC236}">
                <a16:creationId xmlns:a16="http://schemas.microsoft.com/office/drawing/2014/main" id="{D413EE41-636C-4218-8E52-0287DFB656F4}"/>
              </a:ext>
            </a:extLst>
          </p:cNvPr>
          <p:cNvSpPr txBox="1"/>
          <p:nvPr/>
        </p:nvSpPr>
        <p:spPr>
          <a:xfrm>
            <a:off x="668338" y="2286538"/>
            <a:ext cx="10203766" cy="4284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利用链式法则，可得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		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其中，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所以，</a:t>
            </a:r>
            <a:endParaRPr lang="en-US" altLang="zh-CN" sz="2000" b="0" i="1" dirty="0">
              <a:latin typeface="Cambria Math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FF0000"/>
              </a:solidFill>
              <a:latin typeface="Cambria Math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Cambria Math"/>
              </a:rPr>
              <a:t>更新公式</a:t>
            </a:r>
            <a:r>
              <a:rPr lang="en-US" altLang="zh-CN" sz="2000" dirty="0">
                <a:solidFill>
                  <a:srgbClr val="FF0000"/>
                </a:solidFill>
                <a:latin typeface="Cambria Math"/>
              </a:rPr>
              <a:t> 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658911"/>
              </p:ext>
            </p:extLst>
          </p:nvPr>
        </p:nvGraphicFramePr>
        <p:xfrm>
          <a:off x="7342889" y="2842929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42889" y="2842929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3214;p51"/>
          <p:cNvSpPr/>
          <p:nvPr/>
        </p:nvSpPr>
        <p:spPr>
          <a:xfrm>
            <a:off x="6720451" y="334423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8" name="Google Shape;3215;p51"/>
          <p:cNvSpPr/>
          <p:nvPr/>
        </p:nvSpPr>
        <p:spPr>
          <a:xfrm>
            <a:off x="6720451" y="439782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16;p51"/>
          <p:cNvSpPr/>
          <p:nvPr/>
        </p:nvSpPr>
        <p:spPr>
          <a:xfrm>
            <a:off x="6720451" y="229065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21;p51"/>
          <p:cNvSpPr/>
          <p:nvPr/>
        </p:nvSpPr>
        <p:spPr>
          <a:xfrm>
            <a:off x="8665371" y="284370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2;p51"/>
          <p:cNvSpPr/>
          <p:nvPr/>
        </p:nvSpPr>
        <p:spPr>
          <a:xfrm>
            <a:off x="8665371" y="389728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3;p51"/>
          <p:cNvSpPr/>
          <p:nvPr/>
        </p:nvSpPr>
        <p:spPr>
          <a:xfrm>
            <a:off x="8665371" y="1790113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3" name="Google Shape;3224;p51"/>
          <p:cNvCxnSpPr>
            <a:stCxn id="9" idx="6"/>
            <a:endCxn id="10" idx="2"/>
          </p:cNvCxnSpPr>
          <p:nvPr/>
        </p:nvCxnSpPr>
        <p:spPr>
          <a:xfrm>
            <a:off x="7452451" y="2641200"/>
            <a:ext cx="1212920" cy="5530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3225;p51"/>
          <p:cNvCxnSpPr>
            <a:stCxn id="9" idx="6"/>
            <a:endCxn id="12" idx="2"/>
          </p:cNvCxnSpPr>
          <p:nvPr/>
        </p:nvCxnSpPr>
        <p:spPr>
          <a:xfrm flipV="1">
            <a:off x="7452451" y="2140663"/>
            <a:ext cx="1212920" cy="5005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7;p51"/>
          <p:cNvCxnSpPr>
            <a:stCxn id="7" idx="6"/>
            <a:endCxn id="12" idx="2"/>
          </p:cNvCxnSpPr>
          <p:nvPr/>
        </p:nvCxnSpPr>
        <p:spPr>
          <a:xfrm flipV="1">
            <a:off x="7452451" y="2140663"/>
            <a:ext cx="1212920" cy="1554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8;p51"/>
          <p:cNvCxnSpPr>
            <a:stCxn id="7" idx="6"/>
            <a:endCxn id="10" idx="2"/>
          </p:cNvCxnSpPr>
          <p:nvPr/>
        </p:nvCxnSpPr>
        <p:spPr>
          <a:xfrm flipV="1">
            <a:off x="7452451" y="3194250"/>
            <a:ext cx="1212920" cy="5005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9;p51"/>
          <p:cNvCxnSpPr>
            <a:stCxn id="7" idx="6"/>
            <a:endCxn id="11" idx="2"/>
          </p:cNvCxnSpPr>
          <p:nvPr/>
        </p:nvCxnSpPr>
        <p:spPr>
          <a:xfrm>
            <a:off x="7452451" y="3694788"/>
            <a:ext cx="1212920" cy="55305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30;p51"/>
          <p:cNvCxnSpPr>
            <a:stCxn id="8" idx="6"/>
            <a:endCxn id="12" idx="2"/>
          </p:cNvCxnSpPr>
          <p:nvPr/>
        </p:nvCxnSpPr>
        <p:spPr>
          <a:xfrm flipV="1">
            <a:off x="7452451" y="2140663"/>
            <a:ext cx="1212920" cy="26077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1;p51"/>
          <p:cNvCxnSpPr>
            <a:stCxn id="8" idx="6"/>
            <a:endCxn id="10" idx="2"/>
          </p:cNvCxnSpPr>
          <p:nvPr/>
        </p:nvCxnSpPr>
        <p:spPr>
          <a:xfrm flipV="1">
            <a:off x="7452451" y="3194250"/>
            <a:ext cx="1212920" cy="1554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2;p51"/>
          <p:cNvCxnSpPr>
            <a:stCxn id="8" idx="6"/>
            <a:endCxn id="11" idx="2"/>
          </p:cNvCxnSpPr>
          <p:nvPr/>
        </p:nvCxnSpPr>
        <p:spPr>
          <a:xfrm flipV="1">
            <a:off x="7452451" y="4247838"/>
            <a:ext cx="1212920" cy="50053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233;p51"/>
          <p:cNvSpPr/>
          <p:nvPr/>
        </p:nvSpPr>
        <p:spPr>
          <a:xfrm>
            <a:off x="10396643" y="230392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2" name="Google Shape;3234;p51"/>
          <p:cNvSpPr/>
          <p:nvPr/>
        </p:nvSpPr>
        <p:spPr>
          <a:xfrm>
            <a:off x="10396643" y="336109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3" name="Google Shape;3235;p51"/>
          <p:cNvCxnSpPr>
            <a:stCxn id="12" idx="6"/>
            <a:endCxn id="21" idx="2"/>
          </p:cNvCxnSpPr>
          <p:nvPr/>
        </p:nvCxnSpPr>
        <p:spPr>
          <a:xfrm>
            <a:off x="9397371" y="2140663"/>
            <a:ext cx="999272" cy="5138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3236;p51"/>
          <p:cNvCxnSpPr>
            <a:stCxn id="12" idx="6"/>
            <a:endCxn id="22" idx="2"/>
          </p:cNvCxnSpPr>
          <p:nvPr/>
        </p:nvCxnSpPr>
        <p:spPr>
          <a:xfrm>
            <a:off x="9397371" y="2140663"/>
            <a:ext cx="999272" cy="157098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7;p51"/>
          <p:cNvCxnSpPr>
            <a:stCxn id="10" idx="6"/>
            <a:endCxn id="21" idx="2"/>
          </p:cNvCxnSpPr>
          <p:nvPr/>
        </p:nvCxnSpPr>
        <p:spPr>
          <a:xfrm flipV="1">
            <a:off x="9397371" y="2654478"/>
            <a:ext cx="999272" cy="539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8;p51"/>
          <p:cNvCxnSpPr>
            <a:stCxn id="10" idx="6"/>
            <a:endCxn id="22" idx="2"/>
          </p:cNvCxnSpPr>
          <p:nvPr/>
        </p:nvCxnSpPr>
        <p:spPr>
          <a:xfrm>
            <a:off x="9397371" y="3194250"/>
            <a:ext cx="999272" cy="51739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9;p51"/>
          <p:cNvCxnSpPr>
            <a:stCxn id="11" idx="6"/>
            <a:endCxn id="21" idx="2"/>
          </p:cNvCxnSpPr>
          <p:nvPr/>
        </p:nvCxnSpPr>
        <p:spPr>
          <a:xfrm flipV="1">
            <a:off x="9397371" y="2654478"/>
            <a:ext cx="999272" cy="15933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40;p51"/>
          <p:cNvCxnSpPr>
            <a:stCxn id="11" idx="6"/>
            <a:endCxn id="22" idx="2"/>
          </p:cNvCxnSpPr>
          <p:nvPr/>
        </p:nvCxnSpPr>
        <p:spPr>
          <a:xfrm flipV="1">
            <a:off x="9397371" y="3711644"/>
            <a:ext cx="999272" cy="53619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3222;p51"/>
          <p:cNvSpPr/>
          <p:nvPr/>
        </p:nvSpPr>
        <p:spPr>
          <a:xfrm>
            <a:off x="8665371" y="499739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0" name="Google Shape;3226;p51"/>
          <p:cNvCxnSpPr>
            <a:stCxn id="9" idx="6"/>
            <a:endCxn id="29" idx="2"/>
          </p:cNvCxnSpPr>
          <p:nvPr/>
        </p:nvCxnSpPr>
        <p:spPr>
          <a:xfrm>
            <a:off x="7452451" y="2641200"/>
            <a:ext cx="1212920" cy="27067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3232;p51"/>
          <p:cNvCxnSpPr>
            <a:stCxn id="8" idx="6"/>
            <a:endCxn id="29" idx="2"/>
          </p:cNvCxnSpPr>
          <p:nvPr/>
        </p:nvCxnSpPr>
        <p:spPr>
          <a:xfrm>
            <a:off x="7452451" y="4748375"/>
            <a:ext cx="1212920" cy="5995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7" idx="6"/>
            <a:endCxn id="29" idx="2"/>
          </p:cNvCxnSpPr>
          <p:nvPr/>
        </p:nvCxnSpPr>
        <p:spPr>
          <a:xfrm>
            <a:off x="7452451" y="3694788"/>
            <a:ext cx="1212920" cy="16531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40;p51"/>
          <p:cNvCxnSpPr>
            <a:stCxn id="29" idx="6"/>
            <a:endCxn id="22" idx="2"/>
          </p:cNvCxnSpPr>
          <p:nvPr/>
        </p:nvCxnSpPr>
        <p:spPr>
          <a:xfrm flipV="1">
            <a:off x="9397371" y="3711644"/>
            <a:ext cx="999272" cy="163630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" name="Google Shape;3234;p51"/>
          <p:cNvSpPr/>
          <p:nvPr/>
        </p:nvSpPr>
        <p:spPr>
          <a:xfrm>
            <a:off x="10396643" y="4383061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5" name="Google Shape;3240;p51"/>
          <p:cNvCxnSpPr>
            <a:stCxn id="29" idx="6"/>
            <a:endCxn id="34" idx="2"/>
          </p:cNvCxnSpPr>
          <p:nvPr/>
        </p:nvCxnSpPr>
        <p:spPr>
          <a:xfrm flipV="1">
            <a:off x="9397371" y="4733611"/>
            <a:ext cx="999272" cy="6143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3240;p51"/>
          <p:cNvCxnSpPr>
            <a:stCxn id="11" idx="6"/>
            <a:endCxn id="34" idx="2"/>
          </p:cNvCxnSpPr>
          <p:nvPr/>
        </p:nvCxnSpPr>
        <p:spPr>
          <a:xfrm>
            <a:off x="9397371" y="4247838"/>
            <a:ext cx="999272" cy="4857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29" idx="6"/>
            <a:endCxn id="21" idx="2"/>
          </p:cNvCxnSpPr>
          <p:nvPr/>
        </p:nvCxnSpPr>
        <p:spPr>
          <a:xfrm flipV="1">
            <a:off x="9397371" y="2654478"/>
            <a:ext cx="999272" cy="26934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38;p51"/>
          <p:cNvCxnSpPr>
            <a:stCxn id="12" idx="6"/>
            <a:endCxn id="34" idx="2"/>
          </p:cNvCxnSpPr>
          <p:nvPr/>
        </p:nvCxnSpPr>
        <p:spPr>
          <a:xfrm>
            <a:off x="9397371" y="2140663"/>
            <a:ext cx="999272" cy="25929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10" idx="6"/>
            <a:endCxn id="34" idx="2"/>
          </p:cNvCxnSpPr>
          <p:nvPr/>
        </p:nvCxnSpPr>
        <p:spPr>
          <a:xfrm>
            <a:off x="9397371" y="3194250"/>
            <a:ext cx="999272" cy="15393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6514256" y="179011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7512" y="179951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7152" y="121099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464339"/>
              </p:ext>
            </p:extLst>
          </p:nvPr>
        </p:nvGraphicFramePr>
        <p:xfrm>
          <a:off x="6729413" y="2194087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29413" y="2194087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894736"/>
              </p:ext>
            </p:extLst>
          </p:nvPr>
        </p:nvGraphicFramePr>
        <p:xfrm>
          <a:off x="6708775" y="3233899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41200" progId="Equation.DSMT4">
                  <p:embed/>
                </p:oleObj>
              </mc:Choice>
              <mc:Fallback>
                <p:oleObj name="Equation" r:id="rId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775" y="3233899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475404"/>
              </p:ext>
            </p:extLst>
          </p:nvPr>
        </p:nvGraphicFramePr>
        <p:xfrm>
          <a:off x="6653213" y="4297524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41200" progId="Equation.DSMT4">
                  <p:embed/>
                </p:oleObj>
              </mc:Choice>
              <mc:Fallback>
                <p:oleObj name="Equation" r:id="rId1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13" y="4297524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282890"/>
              </p:ext>
            </p:extLst>
          </p:nvPr>
        </p:nvGraphicFramePr>
        <p:xfrm>
          <a:off x="8792452" y="1750138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228600" progId="Equation.DSMT4">
                  <p:embed/>
                </p:oleObj>
              </mc:Choice>
              <mc:Fallback>
                <p:oleObj name="Equation" r:id="rId13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2452" y="1750138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1390560"/>
              </p:ext>
            </p:extLst>
          </p:nvPr>
        </p:nvGraphicFramePr>
        <p:xfrm>
          <a:off x="8770221" y="2803199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0221" y="2803199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887364"/>
              </p:ext>
            </p:extLst>
          </p:nvPr>
        </p:nvGraphicFramePr>
        <p:xfrm>
          <a:off x="8749584" y="3857299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584" y="3857299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488689"/>
              </p:ext>
            </p:extLst>
          </p:nvPr>
        </p:nvGraphicFramePr>
        <p:xfrm>
          <a:off x="8749584" y="4935211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41200" progId="Equation.DSMT4">
                  <p:embed/>
                </p:oleObj>
              </mc:Choice>
              <mc:Fallback>
                <p:oleObj name="Equation" r:id="rId19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584" y="4935211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6978801" y="294292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978801" y="400816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907808" y="348809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907808" y="460525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063129"/>
              </p:ext>
            </p:extLst>
          </p:nvPr>
        </p:nvGraphicFramePr>
        <p:xfrm>
          <a:off x="10411366" y="2251778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200" imgH="241200" progId="Equation.DSMT4">
                  <p:embed/>
                </p:oleObj>
              </mc:Choice>
              <mc:Fallback>
                <p:oleObj name="Equation" r:id="rId2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1366" y="2251778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227764"/>
              </p:ext>
            </p:extLst>
          </p:nvPr>
        </p:nvGraphicFramePr>
        <p:xfrm>
          <a:off x="10419676" y="3358426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00" imgH="241200" progId="Equation.DSMT4">
                  <p:embed/>
                </p:oleObj>
              </mc:Choice>
              <mc:Fallback>
                <p:oleObj name="Equation" r:id="rId23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9676" y="3358426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604481"/>
              </p:ext>
            </p:extLst>
          </p:nvPr>
        </p:nvGraphicFramePr>
        <p:xfrm>
          <a:off x="10390544" y="4343294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200" imgH="241200" progId="Equation.DSMT4">
                  <p:embed/>
                </p:oleObj>
              </mc:Choice>
              <mc:Fallback>
                <p:oleObj name="Equation" r:id="rId25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0544" y="4343294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Google Shape;3226;p51"/>
          <p:cNvCxnSpPr>
            <a:stCxn id="9" idx="6"/>
            <a:endCxn id="11" idx="2"/>
          </p:cNvCxnSpPr>
          <p:nvPr/>
        </p:nvCxnSpPr>
        <p:spPr>
          <a:xfrm>
            <a:off x="7452451" y="2641200"/>
            <a:ext cx="1212920" cy="1606638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177228"/>
              </p:ext>
            </p:extLst>
          </p:nvPr>
        </p:nvGraphicFramePr>
        <p:xfrm>
          <a:off x="7364219" y="3754860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228600" progId="Equation.DSMT4">
                  <p:embed/>
                </p:oleObj>
              </mc:Choice>
              <mc:Fallback>
                <p:oleObj name="Equation" r:id="rId27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4219" y="3754860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564631"/>
              </p:ext>
            </p:extLst>
          </p:nvPr>
        </p:nvGraphicFramePr>
        <p:xfrm>
          <a:off x="7776354" y="4429807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040" imgH="228600" progId="Equation.DSMT4">
                  <p:embed/>
                </p:oleObj>
              </mc:Choice>
              <mc:Fallback>
                <p:oleObj name="Equation" r:id="rId2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6354" y="4429807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13890"/>
              </p:ext>
            </p:extLst>
          </p:nvPr>
        </p:nvGraphicFramePr>
        <p:xfrm>
          <a:off x="9275398" y="2436515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28600" imgH="241200" progId="Equation.DSMT4">
                  <p:embed/>
                </p:oleObj>
              </mc:Choice>
              <mc:Fallback>
                <p:oleObj name="Equation" r:id="rId31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5398" y="2436515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439557"/>
              </p:ext>
            </p:extLst>
          </p:nvPr>
        </p:nvGraphicFramePr>
        <p:xfrm>
          <a:off x="9224750" y="3234888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41200" imgH="241200" progId="Equation.DSMT4">
                  <p:embed/>
                </p:oleObj>
              </mc:Choice>
              <mc:Fallback>
                <p:oleObj name="Equation" r:id="rId33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750" y="3234888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221266"/>
              </p:ext>
            </p:extLst>
          </p:nvPr>
        </p:nvGraphicFramePr>
        <p:xfrm>
          <a:off x="9332826" y="3643893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2826" y="3643893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429210"/>
              </p:ext>
            </p:extLst>
          </p:nvPr>
        </p:nvGraphicFramePr>
        <p:xfrm>
          <a:off x="9735134" y="4524062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15640" imgH="241200" progId="Equation.DSMT4">
                  <p:embed/>
                </p:oleObj>
              </mc:Choice>
              <mc:Fallback>
                <p:oleObj name="Equation" r:id="rId37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5134" y="4524062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10632604" y="2986501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638176" y="3986499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6" name="左大括号 65"/>
          <p:cNvSpPr/>
          <p:nvPr/>
        </p:nvSpPr>
        <p:spPr>
          <a:xfrm>
            <a:off x="6406752" y="2673277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对象 66"/>
              <p:cNvSpPr txBox="1"/>
              <p:nvPr/>
            </p:nvSpPr>
            <p:spPr>
              <a:xfrm>
                <a:off x="5922963" y="3360899"/>
                <a:ext cx="371475" cy="51593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对象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963" y="3360899"/>
                <a:ext cx="371475" cy="515938"/>
              </a:xfrm>
              <a:prstGeom prst="rect">
                <a:avLst/>
              </a:prstGeom>
              <a:blipFill>
                <a:blip r:embed="rId39"/>
                <a:stretch>
                  <a:fillRect r="-180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对象 67"/>
              <p:cNvSpPr txBox="1"/>
              <p:nvPr/>
            </p:nvSpPr>
            <p:spPr bwMode="auto">
              <a:xfrm>
                <a:off x="11480282" y="3401494"/>
                <a:ext cx="400050" cy="5159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" name="对象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80282" y="3401494"/>
                <a:ext cx="400050" cy="515937"/>
              </a:xfrm>
              <a:prstGeom prst="rect">
                <a:avLst/>
              </a:prstGeom>
              <a:blipFill>
                <a:blip r:embed="rId40"/>
                <a:stretch>
                  <a:fillRect l="-4545" t="-1176" r="-151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左大括号 68"/>
          <p:cNvSpPr/>
          <p:nvPr/>
        </p:nvSpPr>
        <p:spPr>
          <a:xfrm rot="10800000">
            <a:off x="11130144" y="2634330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11226429" y="4111463"/>
            <a:ext cx="407143" cy="1587033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对象 4098"/>
              <p:cNvSpPr txBox="1"/>
              <p:nvPr/>
            </p:nvSpPr>
            <p:spPr>
              <a:xfrm>
                <a:off x="10795000" y="5800725"/>
                <a:ext cx="582613" cy="85248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对象 40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5800725"/>
                <a:ext cx="582613" cy="85248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2" name="TextBox 4101"/>
          <p:cNvSpPr txBox="1"/>
          <p:nvPr/>
        </p:nvSpPr>
        <p:spPr>
          <a:xfrm>
            <a:off x="9086714" y="5990885"/>
            <a:ext cx="192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对阈值求导</a:t>
            </a:r>
          </a:p>
        </p:txBody>
      </p:sp>
      <p:sp>
        <p:nvSpPr>
          <p:cNvPr id="2" name="Rectangle 10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" name="对象 4095"/>
              <p:cNvSpPr txBox="1"/>
              <p:nvPr/>
            </p:nvSpPr>
            <p:spPr bwMode="auto">
              <a:xfrm>
                <a:off x="2746652" y="2848578"/>
                <a:ext cx="1678194" cy="797142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6" name="对象 40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6652" y="2848578"/>
                <a:ext cx="1678194" cy="79714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7" name="Rectangle 10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对象 4099"/>
              <p:cNvSpPr txBox="1"/>
              <p:nvPr/>
            </p:nvSpPr>
            <p:spPr bwMode="auto">
              <a:xfrm>
                <a:off x="1448698" y="3674679"/>
                <a:ext cx="1495314" cy="75849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00" name="对象 40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8698" y="3674679"/>
                <a:ext cx="1495314" cy="758493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1" name="Rectangle 10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3" name="对象 4102"/>
              <p:cNvSpPr txBox="1"/>
              <p:nvPr/>
            </p:nvSpPr>
            <p:spPr bwMode="auto">
              <a:xfrm>
                <a:off x="3325283" y="3620214"/>
                <a:ext cx="2152384" cy="71650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zh-CN" altLang="en-US" sz="1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1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103" name="对象 4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25283" y="3620214"/>
                <a:ext cx="2152384" cy="716507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4" name="Rectangle 10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5" name="对象 4104"/>
              <p:cNvSpPr txBox="1"/>
              <p:nvPr/>
            </p:nvSpPr>
            <p:spPr bwMode="auto">
              <a:xfrm>
                <a:off x="1441522" y="4575006"/>
                <a:ext cx="3804195" cy="65994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>
                  <a:defRPr i="1">
                    <a:solidFill>
                      <a:srgbClr val="00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zh-CN" altLang="en-US" sz="160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zh-CN" alt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zh-CN" altLang="en-US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16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16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05" name="对象 4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1522" y="4575006"/>
                <a:ext cx="3804195" cy="659946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6" name="Rectangle 11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7" name="对象 4106"/>
              <p:cNvSpPr txBox="1"/>
              <p:nvPr/>
            </p:nvSpPr>
            <p:spPr bwMode="auto">
              <a:xfrm>
                <a:off x="1947133" y="5615115"/>
                <a:ext cx="1384416" cy="375770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7" name="对象 4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7133" y="5615115"/>
                <a:ext cx="1384416" cy="37577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405252"/>
      </p:ext>
    </p:extLst>
  </p:cSld>
  <p:clrMapOvr>
    <a:masterClrMapping/>
  </p:clrMapOvr>
  <p:transition advTm="8005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8EACF8B-9263-4CC3-B845-3377A2702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59" y="1532423"/>
                <a:ext cx="7068301" cy="10616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31740" rIns="0" bIns="31740" numCol="1" anchor="ctr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/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第四步，计算隐层到输出层连接</a:t>
                </a:r>
                <a:endParaRPr kumimoji="0" lang="en-US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lvl="0"/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权值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𝒘</m:t>
                        </m:r>
                      </m:e>
                      <m:sub>
                        <m:r>
                          <a:rPr kumimoji="0" lang="en-US" altLang="zh-CN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/>
                          </a:rPr>
                          <m:t>𝒉𝒋</m:t>
                        </m:r>
                      </m:sub>
                    </m:sSub>
                  </m:oMath>
                </a14:m>
                <a:r>
                  <a:rPr kumimoji="0" lang="zh-CN" altLang="en-US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的梯度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h𝑗</m:t>
                            </m:r>
                          </m:sub>
                        </m:sSub>
                      </m:den>
                    </m:f>
                  </m:oMath>
                </a14:m>
                <a:endPara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8EACF8B-9263-4CC3-B845-3377A2702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259" y="1532423"/>
                <a:ext cx="7068301" cy="1061681"/>
              </a:xfrm>
              <a:prstGeom prst="rect">
                <a:avLst/>
              </a:prstGeom>
              <a:blipFill rotWithShape="1">
                <a:blip r:embed="rId4"/>
                <a:stretch>
                  <a:fillRect l="-2586" t="-51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6">
            <a:extLst>
              <a:ext uri="{FF2B5EF4-FFF2-40B4-BE49-F238E27FC236}">
                <a16:creationId xmlns:a16="http://schemas.microsoft.com/office/drawing/2014/main" id="{D413EE41-636C-4218-8E52-0287DFB656F4}"/>
              </a:ext>
            </a:extLst>
          </p:cNvPr>
          <p:cNvSpPr txBox="1"/>
          <p:nvPr/>
        </p:nvSpPr>
        <p:spPr>
          <a:xfrm>
            <a:off x="448081" y="2768444"/>
            <a:ext cx="10203766" cy="3822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利用链式法则，可得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其中，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可得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综上可得</a:t>
            </a:r>
            <a:r>
              <a:rPr lang="en-US" altLang="zh-CN" sz="2000" dirty="0"/>
              <a:t>             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377247"/>
              </p:ext>
            </p:extLst>
          </p:nvPr>
        </p:nvGraphicFramePr>
        <p:xfrm>
          <a:off x="7991515" y="3394703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91515" y="3394703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3214;p51"/>
          <p:cNvSpPr/>
          <p:nvPr/>
        </p:nvSpPr>
        <p:spPr>
          <a:xfrm>
            <a:off x="5904303" y="334736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7" name="Google Shape;3215;p51"/>
          <p:cNvSpPr/>
          <p:nvPr/>
        </p:nvSpPr>
        <p:spPr>
          <a:xfrm>
            <a:off x="5904303" y="440094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8" name="Google Shape;3216;p51"/>
          <p:cNvSpPr/>
          <p:nvPr/>
        </p:nvSpPr>
        <p:spPr>
          <a:xfrm>
            <a:off x="5904303" y="229377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21;p51"/>
          <p:cNvSpPr/>
          <p:nvPr/>
        </p:nvSpPr>
        <p:spPr>
          <a:xfrm>
            <a:off x="8459043" y="283601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22;p51"/>
          <p:cNvSpPr/>
          <p:nvPr/>
        </p:nvSpPr>
        <p:spPr>
          <a:xfrm>
            <a:off x="8459043" y="388960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3;p51"/>
          <p:cNvSpPr/>
          <p:nvPr/>
        </p:nvSpPr>
        <p:spPr>
          <a:xfrm>
            <a:off x="8459043" y="178243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2" name="Google Shape;3224;p51"/>
          <p:cNvCxnSpPr>
            <a:stCxn id="8" idx="6"/>
            <a:endCxn id="9" idx="2"/>
          </p:cNvCxnSpPr>
          <p:nvPr/>
        </p:nvCxnSpPr>
        <p:spPr>
          <a:xfrm>
            <a:off x="6636303" y="2644322"/>
            <a:ext cx="1822740" cy="5422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3225;p51"/>
          <p:cNvCxnSpPr>
            <a:stCxn id="8" idx="6"/>
            <a:endCxn id="11" idx="2"/>
          </p:cNvCxnSpPr>
          <p:nvPr/>
        </p:nvCxnSpPr>
        <p:spPr>
          <a:xfrm flipV="1">
            <a:off x="6636303" y="2132982"/>
            <a:ext cx="1822740" cy="5113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7;p51"/>
          <p:cNvCxnSpPr>
            <a:stCxn id="6" idx="6"/>
            <a:endCxn id="11" idx="2"/>
          </p:cNvCxnSpPr>
          <p:nvPr/>
        </p:nvCxnSpPr>
        <p:spPr>
          <a:xfrm flipV="1">
            <a:off x="6636303" y="2132982"/>
            <a:ext cx="1822740" cy="156492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8;p51"/>
          <p:cNvCxnSpPr>
            <a:stCxn id="6" idx="6"/>
            <a:endCxn id="9" idx="2"/>
          </p:cNvCxnSpPr>
          <p:nvPr/>
        </p:nvCxnSpPr>
        <p:spPr>
          <a:xfrm flipV="1">
            <a:off x="6636303" y="3186569"/>
            <a:ext cx="1822740" cy="5113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9;p51"/>
          <p:cNvCxnSpPr>
            <a:stCxn id="6" idx="6"/>
            <a:endCxn id="10" idx="2"/>
          </p:cNvCxnSpPr>
          <p:nvPr/>
        </p:nvCxnSpPr>
        <p:spPr>
          <a:xfrm>
            <a:off x="6636303" y="3697910"/>
            <a:ext cx="1822740" cy="54224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30;p51"/>
          <p:cNvCxnSpPr>
            <a:stCxn id="7" idx="6"/>
            <a:endCxn id="11" idx="2"/>
          </p:cNvCxnSpPr>
          <p:nvPr/>
        </p:nvCxnSpPr>
        <p:spPr>
          <a:xfrm flipV="1">
            <a:off x="6636303" y="2132982"/>
            <a:ext cx="1822740" cy="26185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1;p51"/>
          <p:cNvCxnSpPr>
            <a:stCxn id="7" idx="6"/>
            <a:endCxn id="9" idx="2"/>
          </p:cNvCxnSpPr>
          <p:nvPr/>
        </p:nvCxnSpPr>
        <p:spPr>
          <a:xfrm flipV="1">
            <a:off x="6636303" y="3186569"/>
            <a:ext cx="1822740" cy="156492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2;p51"/>
          <p:cNvCxnSpPr>
            <a:stCxn id="7" idx="6"/>
            <a:endCxn id="10" idx="2"/>
          </p:cNvCxnSpPr>
          <p:nvPr/>
        </p:nvCxnSpPr>
        <p:spPr>
          <a:xfrm flipV="1">
            <a:off x="6636303" y="4240157"/>
            <a:ext cx="1822740" cy="51134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233;p51"/>
          <p:cNvSpPr/>
          <p:nvPr/>
        </p:nvSpPr>
        <p:spPr>
          <a:xfrm>
            <a:off x="10681283" y="222674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2" name="Google Shape;3234;p51"/>
          <p:cNvSpPr/>
          <p:nvPr/>
        </p:nvSpPr>
        <p:spPr>
          <a:xfrm>
            <a:off x="10681283" y="328390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3" name="Google Shape;3235;p51"/>
          <p:cNvCxnSpPr>
            <a:stCxn id="11" idx="6"/>
            <a:endCxn id="21" idx="2"/>
          </p:cNvCxnSpPr>
          <p:nvPr/>
        </p:nvCxnSpPr>
        <p:spPr>
          <a:xfrm>
            <a:off x="9191043" y="2132982"/>
            <a:ext cx="1490240" cy="44431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3236;p51"/>
          <p:cNvCxnSpPr>
            <a:stCxn id="11" idx="6"/>
            <a:endCxn id="22" idx="2"/>
          </p:cNvCxnSpPr>
          <p:nvPr/>
        </p:nvCxnSpPr>
        <p:spPr>
          <a:xfrm>
            <a:off x="9191043" y="2132982"/>
            <a:ext cx="1490240" cy="1501476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7;p51"/>
          <p:cNvCxnSpPr>
            <a:stCxn id="9" idx="6"/>
            <a:endCxn id="21" idx="2"/>
          </p:cNvCxnSpPr>
          <p:nvPr/>
        </p:nvCxnSpPr>
        <p:spPr>
          <a:xfrm flipV="1">
            <a:off x="9191043" y="2577292"/>
            <a:ext cx="1490240" cy="6092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8;p51"/>
          <p:cNvCxnSpPr>
            <a:stCxn id="9" idx="6"/>
            <a:endCxn id="22" idx="2"/>
          </p:cNvCxnSpPr>
          <p:nvPr/>
        </p:nvCxnSpPr>
        <p:spPr>
          <a:xfrm>
            <a:off x="9191043" y="3186569"/>
            <a:ext cx="1490240" cy="44788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9;p51"/>
          <p:cNvCxnSpPr>
            <a:stCxn id="10" idx="6"/>
            <a:endCxn id="21" idx="2"/>
          </p:cNvCxnSpPr>
          <p:nvPr/>
        </p:nvCxnSpPr>
        <p:spPr>
          <a:xfrm flipV="1">
            <a:off x="9191043" y="2577292"/>
            <a:ext cx="1490240" cy="16628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40;p51"/>
          <p:cNvCxnSpPr>
            <a:stCxn id="10" idx="6"/>
            <a:endCxn id="22" idx="2"/>
          </p:cNvCxnSpPr>
          <p:nvPr/>
        </p:nvCxnSpPr>
        <p:spPr>
          <a:xfrm flipV="1">
            <a:off x="9191043" y="3634458"/>
            <a:ext cx="1490240" cy="60569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3222;p51"/>
          <p:cNvSpPr/>
          <p:nvPr/>
        </p:nvSpPr>
        <p:spPr>
          <a:xfrm>
            <a:off x="8459043" y="498971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0" name="Google Shape;3226;p51"/>
          <p:cNvCxnSpPr>
            <a:stCxn id="8" idx="6"/>
            <a:endCxn id="29" idx="2"/>
          </p:cNvCxnSpPr>
          <p:nvPr/>
        </p:nvCxnSpPr>
        <p:spPr>
          <a:xfrm>
            <a:off x="6636303" y="2644322"/>
            <a:ext cx="1822740" cy="26959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3232;p51"/>
          <p:cNvCxnSpPr>
            <a:stCxn id="7" idx="6"/>
            <a:endCxn id="29" idx="2"/>
          </p:cNvCxnSpPr>
          <p:nvPr/>
        </p:nvCxnSpPr>
        <p:spPr>
          <a:xfrm>
            <a:off x="6636303" y="4751497"/>
            <a:ext cx="1822740" cy="5887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6" idx="6"/>
            <a:endCxn id="29" idx="2"/>
          </p:cNvCxnSpPr>
          <p:nvPr/>
        </p:nvCxnSpPr>
        <p:spPr>
          <a:xfrm>
            <a:off x="6636303" y="3697910"/>
            <a:ext cx="1822740" cy="16423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40;p51"/>
          <p:cNvCxnSpPr>
            <a:stCxn id="29" idx="6"/>
            <a:endCxn id="22" idx="2"/>
          </p:cNvCxnSpPr>
          <p:nvPr/>
        </p:nvCxnSpPr>
        <p:spPr>
          <a:xfrm flipV="1">
            <a:off x="9191043" y="3634458"/>
            <a:ext cx="1490240" cy="170580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" name="Google Shape;3234;p51"/>
          <p:cNvSpPr/>
          <p:nvPr/>
        </p:nvSpPr>
        <p:spPr>
          <a:xfrm>
            <a:off x="10681283" y="430587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5" name="Google Shape;3240;p51"/>
          <p:cNvCxnSpPr>
            <a:stCxn id="29" idx="6"/>
            <a:endCxn id="34" idx="2"/>
          </p:cNvCxnSpPr>
          <p:nvPr/>
        </p:nvCxnSpPr>
        <p:spPr>
          <a:xfrm flipV="1">
            <a:off x="9191043" y="4656425"/>
            <a:ext cx="1490240" cy="6838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3240;p51"/>
          <p:cNvCxnSpPr>
            <a:stCxn id="10" idx="6"/>
            <a:endCxn id="34" idx="2"/>
          </p:cNvCxnSpPr>
          <p:nvPr/>
        </p:nvCxnSpPr>
        <p:spPr>
          <a:xfrm>
            <a:off x="9191043" y="4240157"/>
            <a:ext cx="1490240" cy="4162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29" idx="6"/>
            <a:endCxn id="21" idx="2"/>
          </p:cNvCxnSpPr>
          <p:nvPr/>
        </p:nvCxnSpPr>
        <p:spPr>
          <a:xfrm flipV="1">
            <a:off x="9191043" y="2577292"/>
            <a:ext cx="1490240" cy="27629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38;p51"/>
          <p:cNvCxnSpPr>
            <a:stCxn id="11" idx="6"/>
            <a:endCxn id="34" idx="2"/>
          </p:cNvCxnSpPr>
          <p:nvPr/>
        </p:nvCxnSpPr>
        <p:spPr>
          <a:xfrm>
            <a:off x="9191043" y="2132982"/>
            <a:ext cx="1490240" cy="25234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9" idx="6"/>
            <a:endCxn id="34" idx="2"/>
          </p:cNvCxnSpPr>
          <p:nvPr/>
        </p:nvCxnSpPr>
        <p:spPr>
          <a:xfrm>
            <a:off x="9191043" y="3186569"/>
            <a:ext cx="1490240" cy="14698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5698108" y="179323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42152" y="172232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0824" y="120331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902931"/>
              </p:ext>
            </p:extLst>
          </p:nvPr>
        </p:nvGraphicFramePr>
        <p:xfrm>
          <a:off x="5913265" y="2197209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13265" y="2197209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50179"/>
              </p:ext>
            </p:extLst>
          </p:nvPr>
        </p:nvGraphicFramePr>
        <p:xfrm>
          <a:off x="5892627" y="3237021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41200" progId="Equation.DSMT4">
                  <p:embed/>
                </p:oleObj>
              </mc:Choice>
              <mc:Fallback>
                <p:oleObj name="Equation" r:id="rId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627" y="3237021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211731"/>
              </p:ext>
            </p:extLst>
          </p:nvPr>
        </p:nvGraphicFramePr>
        <p:xfrm>
          <a:off x="5837065" y="4300646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41200" progId="Equation.DSMT4">
                  <p:embed/>
                </p:oleObj>
              </mc:Choice>
              <mc:Fallback>
                <p:oleObj name="Equation" r:id="rId1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065" y="4300646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312899"/>
              </p:ext>
            </p:extLst>
          </p:nvPr>
        </p:nvGraphicFramePr>
        <p:xfrm>
          <a:off x="8586124" y="1742457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228600" progId="Equation.DSMT4">
                  <p:embed/>
                </p:oleObj>
              </mc:Choice>
              <mc:Fallback>
                <p:oleObj name="Equation" r:id="rId13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6124" y="1742457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509232"/>
              </p:ext>
            </p:extLst>
          </p:nvPr>
        </p:nvGraphicFramePr>
        <p:xfrm>
          <a:off x="8563893" y="2795518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3893" y="2795518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448597"/>
              </p:ext>
            </p:extLst>
          </p:nvPr>
        </p:nvGraphicFramePr>
        <p:xfrm>
          <a:off x="8543256" y="3849618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256" y="3849618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135574"/>
              </p:ext>
            </p:extLst>
          </p:nvPr>
        </p:nvGraphicFramePr>
        <p:xfrm>
          <a:off x="8543256" y="4927530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41200" progId="Equation.DSMT4">
                  <p:embed/>
                </p:oleObj>
              </mc:Choice>
              <mc:Fallback>
                <p:oleObj name="Equation" r:id="rId19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256" y="4927530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6162653" y="2946050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162653" y="401128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01480" y="3480414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01480" y="459757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915105"/>
              </p:ext>
            </p:extLst>
          </p:nvPr>
        </p:nvGraphicFramePr>
        <p:xfrm>
          <a:off x="10696006" y="2174592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200" imgH="241200" progId="Equation.DSMT4">
                  <p:embed/>
                </p:oleObj>
              </mc:Choice>
              <mc:Fallback>
                <p:oleObj name="Equation" r:id="rId2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006" y="2174592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381600"/>
              </p:ext>
            </p:extLst>
          </p:nvPr>
        </p:nvGraphicFramePr>
        <p:xfrm>
          <a:off x="10704316" y="3281240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00" imgH="241200" progId="Equation.DSMT4">
                  <p:embed/>
                </p:oleObj>
              </mc:Choice>
              <mc:Fallback>
                <p:oleObj name="Equation" r:id="rId23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4316" y="3281240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498655"/>
              </p:ext>
            </p:extLst>
          </p:nvPr>
        </p:nvGraphicFramePr>
        <p:xfrm>
          <a:off x="10675184" y="4266108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200" imgH="241200" progId="Equation.DSMT4">
                  <p:embed/>
                </p:oleObj>
              </mc:Choice>
              <mc:Fallback>
                <p:oleObj name="Equation" r:id="rId25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5184" y="4266108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Google Shape;3226;p51"/>
          <p:cNvCxnSpPr>
            <a:stCxn id="8" idx="6"/>
            <a:endCxn id="10" idx="2"/>
          </p:cNvCxnSpPr>
          <p:nvPr/>
        </p:nvCxnSpPr>
        <p:spPr>
          <a:xfrm>
            <a:off x="6636303" y="2644322"/>
            <a:ext cx="1822740" cy="1595835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137873"/>
              </p:ext>
            </p:extLst>
          </p:nvPr>
        </p:nvGraphicFramePr>
        <p:xfrm>
          <a:off x="7737021" y="3921497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228600" progId="Equation.DSMT4">
                  <p:embed/>
                </p:oleObj>
              </mc:Choice>
              <mc:Fallback>
                <p:oleObj name="Equation" r:id="rId27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021" y="3921497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047187"/>
              </p:ext>
            </p:extLst>
          </p:nvPr>
        </p:nvGraphicFramePr>
        <p:xfrm>
          <a:off x="7965374" y="4348078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040" imgH="228600" progId="Equation.DSMT4">
                  <p:embed/>
                </p:oleObj>
              </mc:Choice>
              <mc:Fallback>
                <p:oleObj name="Equation" r:id="rId2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5374" y="4348078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072958"/>
              </p:ext>
            </p:extLst>
          </p:nvPr>
        </p:nvGraphicFramePr>
        <p:xfrm>
          <a:off x="9648807" y="2261330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28600" imgH="241200" progId="Equation.DSMT4">
                  <p:embed/>
                </p:oleObj>
              </mc:Choice>
              <mc:Fallback>
                <p:oleObj name="Equation" r:id="rId31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48807" y="2261330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795047"/>
              </p:ext>
            </p:extLst>
          </p:nvPr>
        </p:nvGraphicFramePr>
        <p:xfrm>
          <a:off x="9346531" y="3155880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41200" imgH="241200" progId="Equation.DSMT4">
                  <p:embed/>
                </p:oleObj>
              </mc:Choice>
              <mc:Fallback>
                <p:oleObj name="Equation" r:id="rId33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46531" y="3155880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003826"/>
              </p:ext>
            </p:extLst>
          </p:nvPr>
        </p:nvGraphicFramePr>
        <p:xfrm>
          <a:off x="8964030" y="3596710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030" y="3596710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对象 62"/>
              <p:cNvSpPr txBox="1"/>
              <p:nvPr/>
            </p:nvSpPr>
            <p:spPr bwMode="auto">
              <a:xfrm>
                <a:off x="8964030" y="4506663"/>
                <a:ext cx="454025" cy="506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𝑞𝑗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" name="对象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64030" y="4506663"/>
                <a:ext cx="454025" cy="506412"/>
              </a:xfrm>
              <a:prstGeom prst="rect">
                <a:avLst/>
              </a:prstGeom>
              <a:blipFill>
                <a:blip r:embed="rId37"/>
                <a:stretch>
                  <a:fillRect r="-18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/>
          <p:cNvSpPr txBox="1"/>
          <p:nvPr/>
        </p:nvSpPr>
        <p:spPr>
          <a:xfrm>
            <a:off x="10917244" y="290931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922816" y="3909313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6" name="左大括号 65"/>
          <p:cNvSpPr/>
          <p:nvPr/>
        </p:nvSpPr>
        <p:spPr>
          <a:xfrm>
            <a:off x="5590604" y="2676399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7" name="对象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9746014"/>
              </p:ext>
            </p:extLst>
          </p:nvPr>
        </p:nvGraphicFramePr>
        <p:xfrm>
          <a:off x="5106815" y="3364021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64880" imgH="228600" progId="Equation.DSMT4">
                  <p:embed/>
                </p:oleObj>
              </mc:Choice>
              <mc:Fallback>
                <p:oleObj name="Equation" r:id="rId38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106815" y="3364021"/>
                        <a:ext cx="371475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932036"/>
              </p:ext>
            </p:extLst>
          </p:nvPr>
        </p:nvGraphicFramePr>
        <p:xfrm>
          <a:off x="11764922" y="3324308"/>
          <a:ext cx="4000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77480" imgH="228600" progId="Equation.DSMT4">
                  <p:embed/>
                </p:oleObj>
              </mc:Choice>
              <mc:Fallback>
                <p:oleObj name="Equation" r:id="rId40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4922" y="3324308"/>
                        <a:ext cx="4000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左大括号 68"/>
          <p:cNvSpPr/>
          <p:nvPr/>
        </p:nvSpPr>
        <p:spPr>
          <a:xfrm rot="10800000">
            <a:off x="11414784" y="2557144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/>
          <p:cNvCxnSpPr/>
          <p:nvPr/>
        </p:nvCxnSpPr>
        <p:spPr>
          <a:xfrm flipH="1">
            <a:off x="9751671" y="3958778"/>
            <a:ext cx="376562" cy="1562346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96" name="对象 4095"/>
              <p:cNvSpPr txBox="1"/>
              <p:nvPr/>
            </p:nvSpPr>
            <p:spPr bwMode="auto">
              <a:xfrm>
                <a:off x="9549574" y="5611399"/>
                <a:ext cx="631825" cy="852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6" name="对象 40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49574" y="5611399"/>
                <a:ext cx="631825" cy="852488"/>
              </a:xfrm>
              <a:prstGeom prst="rect">
                <a:avLst/>
              </a:prstGeom>
              <a:blipFill>
                <a:blip r:embed="rId42"/>
                <a:stretch>
                  <a:fillRect r="-19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/>
          <p:cNvSpPr txBox="1"/>
          <p:nvPr/>
        </p:nvSpPr>
        <p:spPr>
          <a:xfrm>
            <a:off x="7737021" y="5833641"/>
            <a:ext cx="192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对权重求导</a:t>
            </a:r>
          </a:p>
        </p:txBody>
      </p:sp>
      <p:sp>
        <p:nvSpPr>
          <p:cNvPr id="4097" name="下箭头 4096"/>
          <p:cNvSpPr/>
          <p:nvPr/>
        </p:nvSpPr>
        <p:spPr>
          <a:xfrm rot="5400000">
            <a:off x="10409531" y="556378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99" name="对象 40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300532"/>
              </p:ext>
            </p:extLst>
          </p:nvPr>
        </p:nvGraphicFramePr>
        <p:xfrm>
          <a:off x="11237490" y="5916381"/>
          <a:ext cx="412657" cy="49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90440" imgH="228600" progId="Equation.DSMT4">
                  <p:embed/>
                </p:oleObj>
              </mc:Choice>
              <mc:Fallback>
                <p:oleObj name="Equation" r:id="rId43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1237490" y="5916381"/>
                        <a:ext cx="412657" cy="495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TextBox 4099"/>
          <p:cNvSpPr txBox="1"/>
          <p:nvPr/>
        </p:nvSpPr>
        <p:spPr>
          <a:xfrm>
            <a:off x="11250038" y="54623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误差</a:t>
            </a:r>
          </a:p>
        </p:txBody>
      </p:sp>
      <p:sp>
        <p:nvSpPr>
          <p:cNvPr id="3" name="Rectangle 10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1280159" y="3233267"/>
                <a:ext cx="2210697" cy="756815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0159" y="3233267"/>
                <a:ext cx="2210697" cy="756815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1" name="Rectangle 13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对象 4101"/>
              <p:cNvSpPr txBox="1"/>
              <p:nvPr/>
            </p:nvSpPr>
            <p:spPr bwMode="auto">
              <a:xfrm>
                <a:off x="1261516" y="4107292"/>
                <a:ext cx="1709735" cy="709382"/>
              </a:xfrm>
              <a:prstGeom prst="rect">
                <a:avLst/>
              </a:prstGeom>
              <a:noFill/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6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6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den>
                      </m:f>
                      <m:r>
                        <a:rPr lang="zh-CN" altLang="en-US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6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sz="6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sz="6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2" name="对象 4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1516" y="4107292"/>
                <a:ext cx="1709735" cy="70938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3" name="Rectangle 13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4" name="对象 4103"/>
              <p:cNvSpPr txBox="1"/>
              <p:nvPr/>
            </p:nvSpPr>
            <p:spPr bwMode="auto">
              <a:xfrm>
                <a:off x="2888428" y="4069093"/>
                <a:ext cx="2243831" cy="715384"/>
              </a:xfrm>
              <a:prstGeom prst="rect">
                <a:avLst/>
              </a:prstGeom>
              <a:noFill/>
            </p:spPr>
            <p:txBody>
              <a:bodyPr>
                <a:normAutofit fontScale="25000" lnSpcReduction="20000"/>
              </a:bodyPr>
              <a:lstStyle>
                <a:defPPr>
                  <a:defRPr lang="zh-CN"/>
                </a:defPPr>
                <a:lvl1pPr>
                  <a:defRPr sz="6400" i="1">
                    <a:solidFill>
                      <a:srgbClr val="00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4" name="对象 4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88428" y="4069093"/>
                <a:ext cx="2243831" cy="71538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5" name="Rectangle 13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6" name="对象 4105"/>
              <p:cNvSpPr txBox="1"/>
              <p:nvPr/>
            </p:nvSpPr>
            <p:spPr bwMode="auto">
              <a:xfrm>
                <a:off x="1172584" y="5006975"/>
                <a:ext cx="1709734" cy="702908"/>
              </a:xfrm>
              <a:prstGeom prst="rect">
                <a:avLst/>
              </a:prstGeom>
              <a:noFill/>
            </p:spPr>
            <p:txBody>
              <a:bodyPr>
                <a:normAutofit fontScale="25000" lnSpcReduction="20000"/>
              </a:bodyPr>
              <a:lstStyle>
                <a:defPPr>
                  <a:defRPr lang="zh-CN"/>
                </a:defPPr>
                <a:lvl1pPr>
                  <a:defRPr sz="6400" i="1">
                    <a:solidFill>
                      <a:srgbClr val="00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6" name="对象 4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2584" y="5006975"/>
                <a:ext cx="1709734" cy="702908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7" name="Rectangle 13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8" name="对象 4107"/>
              <p:cNvSpPr txBox="1"/>
              <p:nvPr/>
            </p:nvSpPr>
            <p:spPr bwMode="auto">
              <a:xfrm>
                <a:off x="1571474" y="5913088"/>
                <a:ext cx="4126634" cy="736899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8" name="对象 4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1474" y="5913088"/>
                <a:ext cx="4126634" cy="7368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221341"/>
      </p:ext>
    </p:extLst>
  </p:cSld>
  <p:clrMapOvr>
    <a:masterClrMapping/>
  </p:clrMapOvr>
  <p:transition advTm="8005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8EACF8B-9263-4CC3-B845-3377A2702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074" y="1322572"/>
                <a:ext cx="7068301" cy="653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31740" rIns="0" bIns="31740" numCol="1" anchor="ctr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0"/>
                <a:r>
                  <a:rPr lang="zh-CN" altLang="en-US" b="1" dirty="0"/>
                  <a:t>第五步，计算隐层阈值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/>
                          </a:rPr>
                          <m:t>𝜸</m:t>
                        </m:r>
                      </m:e>
                      <m:sub>
                        <m:r>
                          <a:rPr lang="en-US" altLang="zh-CN" b="1" i="1">
                            <a:latin typeface="Cambria Math"/>
                          </a:rPr>
                          <m:t>𝒉</m:t>
                        </m:r>
                      </m:sub>
                    </m:sSub>
                  </m:oMath>
                </a14:m>
                <a:r>
                  <a:rPr lang="zh-CN" altLang="en-US" b="1" dirty="0"/>
                  <a:t>的梯度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CN" altLang="en-US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endParaRPr kumimoji="0" lang="zh-CN" altLang="zh-CN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8EACF8B-9263-4CC3-B845-3377A2702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074" y="1322572"/>
                <a:ext cx="7068301" cy="653749"/>
              </a:xfrm>
              <a:prstGeom prst="rect">
                <a:avLst/>
              </a:prstGeom>
              <a:blipFill rotWithShape="1">
                <a:blip r:embed="rId4"/>
                <a:stretch>
                  <a:fillRect l="-2586" b="-37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6">
            <a:extLst>
              <a:ext uri="{FF2B5EF4-FFF2-40B4-BE49-F238E27FC236}">
                <a16:creationId xmlns:a16="http://schemas.microsoft.com/office/drawing/2014/main" id="{D413EE41-636C-4218-8E52-0287DFB656F4}"/>
              </a:ext>
            </a:extLst>
          </p:cNvPr>
          <p:cNvSpPr txBox="1"/>
          <p:nvPr/>
        </p:nvSpPr>
        <p:spPr>
          <a:xfrm>
            <a:off x="668338" y="1894091"/>
            <a:ext cx="1020376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利用链式法则，可得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			</a:t>
            </a: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其中，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所以有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令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更新公式</a:t>
            </a:r>
            <a:endParaRPr lang="en-US" altLang="zh-CN" sz="20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909345"/>
              </p:ext>
            </p:extLst>
          </p:nvPr>
        </p:nvGraphicFramePr>
        <p:xfrm>
          <a:off x="7292798" y="2623762"/>
          <a:ext cx="3984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0440" imgH="228600" progId="Equation.DSMT4">
                  <p:embed/>
                </p:oleObj>
              </mc:Choice>
              <mc:Fallback>
                <p:oleObj name="Equation" r:id="rId5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92798" y="2623762"/>
                        <a:ext cx="398462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3214;p51"/>
          <p:cNvSpPr/>
          <p:nvPr/>
        </p:nvSpPr>
        <p:spPr>
          <a:xfrm>
            <a:off x="6255906" y="332137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8" name="Google Shape;3215;p51"/>
          <p:cNvSpPr/>
          <p:nvPr/>
        </p:nvSpPr>
        <p:spPr>
          <a:xfrm>
            <a:off x="6255906" y="437496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16;p51"/>
          <p:cNvSpPr/>
          <p:nvPr/>
        </p:nvSpPr>
        <p:spPr>
          <a:xfrm>
            <a:off x="6255906" y="2267787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21;p51"/>
          <p:cNvSpPr/>
          <p:nvPr/>
        </p:nvSpPr>
        <p:spPr>
          <a:xfrm>
            <a:off x="8665371" y="284370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2;p51"/>
          <p:cNvSpPr/>
          <p:nvPr/>
        </p:nvSpPr>
        <p:spPr>
          <a:xfrm>
            <a:off x="8665371" y="389728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3;p51"/>
          <p:cNvSpPr/>
          <p:nvPr/>
        </p:nvSpPr>
        <p:spPr>
          <a:xfrm>
            <a:off x="8665371" y="1790113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3" name="Google Shape;3224;p51"/>
          <p:cNvCxnSpPr>
            <a:stCxn id="9" idx="6"/>
            <a:endCxn id="10" idx="2"/>
          </p:cNvCxnSpPr>
          <p:nvPr/>
        </p:nvCxnSpPr>
        <p:spPr>
          <a:xfrm>
            <a:off x="6987906" y="2618337"/>
            <a:ext cx="1677465" cy="5759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5;p51"/>
          <p:cNvCxnSpPr>
            <a:stCxn id="9" idx="6"/>
            <a:endCxn id="12" idx="2"/>
          </p:cNvCxnSpPr>
          <p:nvPr/>
        </p:nvCxnSpPr>
        <p:spPr>
          <a:xfrm flipV="1">
            <a:off x="6987906" y="2140663"/>
            <a:ext cx="1677465" cy="4776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7;p51"/>
          <p:cNvCxnSpPr>
            <a:stCxn id="7" idx="6"/>
            <a:endCxn id="12" idx="2"/>
          </p:cNvCxnSpPr>
          <p:nvPr/>
        </p:nvCxnSpPr>
        <p:spPr>
          <a:xfrm flipV="1">
            <a:off x="6987906" y="2140663"/>
            <a:ext cx="1677465" cy="15312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8;p51"/>
          <p:cNvCxnSpPr>
            <a:stCxn id="7" idx="6"/>
            <a:endCxn id="10" idx="2"/>
          </p:cNvCxnSpPr>
          <p:nvPr/>
        </p:nvCxnSpPr>
        <p:spPr>
          <a:xfrm flipV="1">
            <a:off x="6987906" y="3194250"/>
            <a:ext cx="1677465" cy="4776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29;p51"/>
          <p:cNvCxnSpPr>
            <a:stCxn id="7" idx="6"/>
            <a:endCxn id="11" idx="2"/>
          </p:cNvCxnSpPr>
          <p:nvPr/>
        </p:nvCxnSpPr>
        <p:spPr>
          <a:xfrm>
            <a:off x="6987906" y="3671925"/>
            <a:ext cx="1677465" cy="57591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0;p51"/>
          <p:cNvCxnSpPr>
            <a:stCxn id="8" idx="6"/>
            <a:endCxn id="12" idx="2"/>
          </p:cNvCxnSpPr>
          <p:nvPr/>
        </p:nvCxnSpPr>
        <p:spPr>
          <a:xfrm flipV="1">
            <a:off x="6987906" y="2140663"/>
            <a:ext cx="1677465" cy="25848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1;p51"/>
          <p:cNvCxnSpPr>
            <a:stCxn id="8" idx="6"/>
            <a:endCxn id="10" idx="2"/>
          </p:cNvCxnSpPr>
          <p:nvPr/>
        </p:nvCxnSpPr>
        <p:spPr>
          <a:xfrm flipV="1">
            <a:off x="6987906" y="3194250"/>
            <a:ext cx="1677465" cy="15312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232;p51"/>
          <p:cNvCxnSpPr>
            <a:stCxn id="8" idx="6"/>
            <a:endCxn id="11" idx="2"/>
          </p:cNvCxnSpPr>
          <p:nvPr/>
        </p:nvCxnSpPr>
        <p:spPr>
          <a:xfrm flipV="1">
            <a:off x="6987906" y="4247838"/>
            <a:ext cx="1677465" cy="47767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3233;p51"/>
          <p:cNvSpPr/>
          <p:nvPr/>
        </p:nvSpPr>
        <p:spPr>
          <a:xfrm>
            <a:off x="10713776" y="231053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3" name="Google Shape;3234;p51"/>
          <p:cNvSpPr/>
          <p:nvPr/>
        </p:nvSpPr>
        <p:spPr>
          <a:xfrm>
            <a:off x="10713776" y="336770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4" name="Google Shape;3235;p51"/>
          <p:cNvCxnSpPr>
            <a:stCxn id="12" idx="6"/>
            <a:endCxn id="22" idx="2"/>
          </p:cNvCxnSpPr>
          <p:nvPr/>
        </p:nvCxnSpPr>
        <p:spPr>
          <a:xfrm>
            <a:off x="9397371" y="2140663"/>
            <a:ext cx="1316405" cy="5204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6;p51"/>
          <p:cNvCxnSpPr>
            <a:stCxn id="12" idx="6"/>
            <a:endCxn id="23" idx="2"/>
          </p:cNvCxnSpPr>
          <p:nvPr/>
        </p:nvCxnSpPr>
        <p:spPr>
          <a:xfrm>
            <a:off x="9397371" y="2140663"/>
            <a:ext cx="1316405" cy="157759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7;p51"/>
          <p:cNvCxnSpPr>
            <a:stCxn id="10" idx="6"/>
            <a:endCxn id="22" idx="2"/>
          </p:cNvCxnSpPr>
          <p:nvPr/>
        </p:nvCxnSpPr>
        <p:spPr>
          <a:xfrm flipV="1">
            <a:off x="9397371" y="2661088"/>
            <a:ext cx="1316405" cy="5331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8;p51"/>
          <p:cNvCxnSpPr>
            <a:stCxn id="10" idx="6"/>
            <a:endCxn id="23" idx="2"/>
          </p:cNvCxnSpPr>
          <p:nvPr/>
        </p:nvCxnSpPr>
        <p:spPr>
          <a:xfrm>
            <a:off x="9397371" y="3194250"/>
            <a:ext cx="1316405" cy="52400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39;p51"/>
          <p:cNvCxnSpPr>
            <a:stCxn id="11" idx="6"/>
            <a:endCxn id="22" idx="2"/>
          </p:cNvCxnSpPr>
          <p:nvPr/>
        </p:nvCxnSpPr>
        <p:spPr>
          <a:xfrm flipV="1">
            <a:off x="9397371" y="2661088"/>
            <a:ext cx="1316405" cy="1586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240;p51"/>
          <p:cNvCxnSpPr>
            <a:stCxn id="11" idx="6"/>
            <a:endCxn id="23" idx="2"/>
          </p:cNvCxnSpPr>
          <p:nvPr/>
        </p:nvCxnSpPr>
        <p:spPr>
          <a:xfrm flipV="1">
            <a:off x="9397371" y="3718254"/>
            <a:ext cx="1316405" cy="52958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3222;p51"/>
          <p:cNvSpPr/>
          <p:nvPr/>
        </p:nvSpPr>
        <p:spPr>
          <a:xfrm>
            <a:off x="8665371" y="499739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1" name="Google Shape;3226;p51"/>
          <p:cNvCxnSpPr>
            <a:stCxn id="9" idx="6"/>
            <a:endCxn id="30" idx="2"/>
          </p:cNvCxnSpPr>
          <p:nvPr/>
        </p:nvCxnSpPr>
        <p:spPr>
          <a:xfrm>
            <a:off x="6987906" y="2618337"/>
            <a:ext cx="1677465" cy="27296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8" idx="6"/>
            <a:endCxn id="30" idx="2"/>
          </p:cNvCxnSpPr>
          <p:nvPr/>
        </p:nvCxnSpPr>
        <p:spPr>
          <a:xfrm>
            <a:off x="6987906" y="4725512"/>
            <a:ext cx="1677465" cy="6224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32;p51"/>
          <p:cNvCxnSpPr>
            <a:stCxn id="7" idx="6"/>
            <a:endCxn id="30" idx="2"/>
          </p:cNvCxnSpPr>
          <p:nvPr/>
        </p:nvCxnSpPr>
        <p:spPr>
          <a:xfrm>
            <a:off x="6987906" y="3671925"/>
            <a:ext cx="1677465" cy="16760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240;p51"/>
          <p:cNvCxnSpPr>
            <a:stCxn id="30" idx="6"/>
            <a:endCxn id="23" idx="2"/>
          </p:cNvCxnSpPr>
          <p:nvPr/>
        </p:nvCxnSpPr>
        <p:spPr>
          <a:xfrm flipV="1">
            <a:off x="9397371" y="3718254"/>
            <a:ext cx="1316405" cy="162969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Google Shape;3234;p51"/>
          <p:cNvSpPr/>
          <p:nvPr/>
        </p:nvSpPr>
        <p:spPr>
          <a:xfrm>
            <a:off x="10713776" y="4389671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6" name="Google Shape;3240;p51"/>
          <p:cNvCxnSpPr>
            <a:stCxn id="30" idx="6"/>
            <a:endCxn id="35" idx="2"/>
          </p:cNvCxnSpPr>
          <p:nvPr/>
        </p:nvCxnSpPr>
        <p:spPr>
          <a:xfrm flipV="1">
            <a:off x="9397371" y="4740221"/>
            <a:ext cx="1316405" cy="6077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11" idx="6"/>
            <a:endCxn id="35" idx="2"/>
          </p:cNvCxnSpPr>
          <p:nvPr/>
        </p:nvCxnSpPr>
        <p:spPr>
          <a:xfrm>
            <a:off x="9397371" y="4247838"/>
            <a:ext cx="1316405" cy="49238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40;p51"/>
          <p:cNvCxnSpPr>
            <a:stCxn id="30" idx="6"/>
            <a:endCxn id="22" idx="2"/>
          </p:cNvCxnSpPr>
          <p:nvPr/>
        </p:nvCxnSpPr>
        <p:spPr>
          <a:xfrm flipV="1">
            <a:off x="9397371" y="2661088"/>
            <a:ext cx="1316405" cy="26868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12" idx="6"/>
            <a:endCxn id="35" idx="2"/>
          </p:cNvCxnSpPr>
          <p:nvPr/>
        </p:nvCxnSpPr>
        <p:spPr>
          <a:xfrm>
            <a:off x="9397371" y="2140663"/>
            <a:ext cx="1316405" cy="25995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3238;p51"/>
          <p:cNvCxnSpPr>
            <a:stCxn id="10" idx="6"/>
            <a:endCxn id="35" idx="2"/>
          </p:cNvCxnSpPr>
          <p:nvPr/>
        </p:nvCxnSpPr>
        <p:spPr>
          <a:xfrm>
            <a:off x="9397371" y="3194250"/>
            <a:ext cx="1316405" cy="15459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6049711" y="176725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74645" y="180612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7152" y="121099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341221"/>
              </p:ext>
            </p:extLst>
          </p:nvPr>
        </p:nvGraphicFramePr>
        <p:xfrm>
          <a:off x="6264868" y="2171224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64868" y="2171224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976173"/>
              </p:ext>
            </p:extLst>
          </p:nvPr>
        </p:nvGraphicFramePr>
        <p:xfrm>
          <a:off x="6244230" y="3211036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41200" progId="Equation.DSMT4">
                  <p:embed/>
                </p:oleObj>
              </mc:Choice>
              <mc:Fallback>
                <p:oleObj name="Equation" r:id="rId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4230" y="3211036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926221"/>
              </p:ext>
            </p:extLst>
          </p:nvPr>
        </p:nvGraphicFramePr>
        <p:xfrm>
          <a:off x="6188668" y="4274661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241200" progId="Equation.DSMT4">
                  <p:embed/>
                </p:oleObj>
              </mc:Choice>
              <mc:Fallback>
                <p:oleObj name="Equation" r:id="rId11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8668" y="4274661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703081"/>
              </p:ext>
            </p:extLst>
          </p:nvPr>
        </p:nvGraphicFramePr>
        <p:xfrm>
          <a:off x="8792452" y="1750138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9680" imgH="228600" progId="Equation.DSMT4">
                  <p:embed/>
                </p:oleObj>
              </mc:Choice>
              <mc:Fallback>
                <p:oleObj name="Equation" r:id="rId13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2452" y="1750138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819221"/>
              </p:ext>
            </p:extLst>
          </p:nvPr>
        </p:nvGraphicFramePr>
        <p:xfrm>
          <a:off x="8770221" y="2803199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0221" y="2803199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095413"/>
              </p:ext>
            </p:extLst>
          </p:nvPr>
        </p:nvGraphicFramePr>
        <p:xfrm>
          <a:off x="8749584" y="3857299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28600" progId="Equation.DSMT4">
                  <p:embed/>
                </p:oleObj>
              </mc:Choice>
              <mc:Fallback>
                <p:oleObj name="Equation" r:id="rId17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584" y="3857299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037808"/>
              </p:ext>
            </p:extLst>
          </p:nvPr>
        </p:nvGraphicFramePr>
        <p:xfrm>
          <a:off x="8749584" y="4935211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41200" progId="Equation.DSMT4">
                  <p:embed/>
                </p:oleObj>
              </mc:Choice>
              <mc:Fallback>
                <p:oleObj name="Equation" r:id="rId19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584" y="4935211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514256" y="292006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14256" y="3985302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907808" y="348809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907808" y="460525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482979"/>
              </p:ext>
            </p:extLst>
          </p:nvPr>
        </p:nvGraphicFramePr>
        <p:xfrm>
          <a:off x="10728499" y="2258388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41200" imgH="241200" progId="Equation.DSMT4">
                  <p:embed/>
                </p:oleObj>
              </mc:Choice>
              <mc:Fallback>
                <p:oleObj name="Equation" r:id="rId2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8499" y="2258388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985280"/>
              </p:ext>
            </p:extLst>
          </p:nvPr>
        </p:nvGraphicFramePr>
        <p:xfrm>
          <a:off x="10736809" y="3365036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53800" imgH="241200" progId="Equation.DSMT4">
                  <p:embed/>
                </p:oleObj>
              </mc:Choice>
              <mc:Fallback>
                <p:oleObj name="Equation" r:id="rId23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6809" y="3365036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213958"/>
              </p:ext>
            </p:extLst>
          </p:nvPr>
        </p:nvGraphicFramePr>
        <p:xfrm>
          <a:off x="10707677" y="4349904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41200" imgH="241200" progId="Equation.DSMT4">
                  <p:embed/>
                </p:oleObj>
              </mc:Choice>
              <mc:Fallback>
                <p:oleObj name="Equation" r:id="rId25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7677" y="4349904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Google Shape;3226;p51"/>
          <p:cNvCxnSpPr>
            <a:stCxn id="9" idx="6"/>
            <a:endCxn id="11" idx="2"/>
          </p:cNvCxnSpPr>
          <p:nvPr/>
        </p:nvCxnSpPr>
        <p:spPr>
          <a:xfrm>
            <a:off x="6987906" y="2618337"/>
            <a:ext cx="1677465" cy="162950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669193"/>
              </p:ext>
            </p:extLst>
          </p:nvPr>
        </p:nvGraphicFramePr>
        <p:xfrm>
          <a:off x="7640107" y="3461939"/>
          <a:ext cx="3730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228600" progId="Equation.DSMT4">
                  <p:embed/>
                </p:oleObj>
              </mc:Choice>
              <mc:Fallback>
                <p:oleObj name="Equation" r:id="rId27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0107" y="3461939"/>
                        <a:ext cx="3730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356907"/>
              </p:ext>
            </p:extLst>
          </p:nvPr>
        </p:nvGraphicFramePr>
        <p:xfrm>
          <a:off x="7562856" y="4408607"/>
          <a:ext cx="4270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03040" imgH="228600" progId="Equation.DSMT4">
                  <p:embed/>
                </p:oleObj>
              </mc:Choice>
              <mc:Fallback>
                <p:oleObj name="Equation" r:id="rId29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2856" y="4408607"/>
                        <a:ext cx="4270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021491"/>
              </p:ext>
            </p:extLst>
          </p:nvPr>
        </p:nvGraphicFramePr>
        <p:xfrm>
          <a:off x="9815860" y="2365130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28600" imgH="241200" progId="Equation.DSMT4">
                  <p:embed/>
                </p:oleObj>
              </mc:Choice>
              <mc:Fallback>
                <p:oleObj name="Equation" r:id="rId31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5860" y="2365130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836296"/>
              </p:ext>
            </p:extLst>
          </p:nvPr>
        </p:nvGraphicFramePr>
        <p:xfrm>
          <a:off x="9276823" y="2616677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41200" imgH="241200" progId="Equation.DSMT4">
                  <p:embed/>
                </p:oleObj>
              </mc:Choice>
              <mc:Fallback>
                <p:oleObj name="Equation" r:id="rId33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6823" y="2616677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227271"/>
              </p:ext>
            </p:extLst>
          </p:nvPr>
        </p:nvGraphicFramePr>
        <p:xfrm>
          <a:off x="9170358" y="3544800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0358" y="3544800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32482"/>
              </p:ext>
            </p:extLst>
          </p:nvPr>
        </p:nvGraphicFramePr>
        <p:xfrm>
          <a:off x="9872672" y="4509935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15640" imgH="241200" progId="Equation.DSMT4">
                  <p:embed/>
                </p:oleObj>
              </mc:Choice>
              <mc:Fallback>
                <p:oleObj name="Equation" r:id="rId37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2672" y="4509935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10949737" y="2993111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955309" y="3993109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7" name="左大括号 66"/>
          <p:cNvSpPr/>
          <p:nvPr/>
        </p:nvSpPr>
        <p:spPr>
          <a:xfrm>
            <a:off x="5942207" y="2650414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451333"/>
              </p:ext>
            </p:extLst>
          </p:nvPr>
        </p:nvGraphicFramePr>
        <p:xfrm>
          <a:off x="5458418" y="3338036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64880" imgH="228600" progId="Equation.DSMT4">
                  <p:embed/>
                </p:oleObj>
              </mc:Choice>
              <mc:Fallback>
                <p:oleObj name="Equation" r:id="rId39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458418" y="3338036"/>
                        <a:ext cx="371475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9" name="对象 68"/>
              <p:cNvSpPr txBox="1"/>
              <p:nvPr/>
            </p:nvSpPr>
            <p:spPr bwMode="auto">
              <a:xfrm>
                <a:off x="11797415" y="3408104"/>
                <a:ext cx="400050" cy="5159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9" name="对象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7415" y="3408104"/>
                <a:ext cx="400050" cy="515937"/>
              </a:xfrm>
              <a:prstGeom prst="rect">
                <a:avLst/>
              </a:prstGeom>
              <a:blipFill>
                <a:blip r:embed="rId41"/>
                <a:stretch>
                  <a:fillRect l="-4545" t="-1176" r="-15152" b="-11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左大括号 69"/>
          <p:cNvSpPr/>
          <p:nvPr/>
        </p:nvSpPr>
        <p:spPr>
          <a:xfrm rot="10800000">
            <a:off x="11447277" y="2640940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8410536" y="4383061"/>
            <a:ext cx="254835" cy="1482582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对象 71"/>
              <p:cNvSpPr txBox="1"/>
              <p:nvPr/>
            </p:nvSpPr>
            <p:spPr bwMode="auto">
              <a:xfrm>
                <a:off x="7858125" y="5645150"/>
                <a:ext cx="582613" cy="828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2" name="对象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8125" y="5645150"/>
                <a:ext cx="582613" cy="82867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/>
          <p:cNvSpPr txBox="1"/>
          <p:nvPr/>
        </p:nvSpPr>
        <p:spPr>
          <a:xfrm>
            <a:off x="6103795" y="5867971"/>
            <a:ext cx="192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对阈值求导</a:t>
            </a:r>
          </a:p>
        </p:txBody>
      </p:sp>
      <p:sp>
        <p:nvSpPr>
          <p:cNvPr id="74" name="下箭头 73"/>
          <p:cNvSpPr/>
          <p:nvPr/>
        </p:nvSpPr>
        <p:spPr>
          <a:xfrm rot="5400000">
            <a:off x="9593005" y="4813107"/>
            <a:ext cx="484632" cy="23950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对象 74"/>
              <p:cNvSpPr txBox="1"/>
              <p:nvPr/>
            </p:nvSpPr>
            <p:spPr>
              <a:xfrm>
                <a:off x="11322423" y="5999172"/>
                <a:ext cx="412657" cy="4951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" name="对象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423" y="5999172"/>
                <a:ext cx="412657" cy="495188"/>
              </a:xfrm>
              <a:prstGeom prst="rect">
                <a:avLst/>
              </a:prstGeom>
              <a:blipFill>
                <a:blip r:embed="rId43"/>
                <a:stretch>
                  <a:fillRect l="-2941" r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11128643" y="553750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误差</a:t>
            </a:r>
          </a:p>
        </p:txBody>
      </p:sp>
      <p:sp>
        <p:nvSpPr>
          <p:cNvPr id="3" name="Rectangle 17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2775472" y="2355422"/>
                <a:ext cx="1640541" cy="697230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5472" y="2355422"/>
                <a:ext cx="1640541" cy="69723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17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" name="对象 4095"/>
              <p:cNvSpPr txBox="1"/>
              <p:nvPr/>
            </p:nvSpPr>
            <p:spPr bwMode="auto">
              <a:xfrm>
                <a:off x="1452283" y="3194249"/>
                <a:ext cx="3189642" cy="688673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bSup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6" name="对象 40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2283" y="3194249"/>
                <a:ext cx="3189642" cy="688673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7" name="Rectangle 17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对象 4098"/>
              <p:cNvSpPr txBox="1"/>
              <p:nvPr/>
            </p:nvSpPr>
            <p:spPr bwMode="auto">
              <a:xfrm>
                <a:off x="1494593" y="3985302"/>
                <a:ext cx="3011334" cy="613086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对象 40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4593" y="3985302"/>
                <a:ext cx="3011334" cy="613086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17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1" name="对象 4100"/>
              <p:cNvSpPr txBox="1"/>
              <p:nvPr/>
            </p:nvSpPr>
            <p:spPr bwMode="auto">
              <a:xfrm>
                <a:off x="1565238" y="4605258"/>
                <a:ext cx="2103120" cy="640080"/>
              </a:xfrm>
              <a:prstGeom prst="rect">
                <a:avLst/>
              </a:prstGeom>
              <a:noFill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1" name="对象 4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5238" y="4605258"/>
                <a:ext cx="2103120" cy="640080"/>
              </a:xfrm>
              <a:prstGeom prst="rect">
                <a:avLst/>
              </a:prstGeom>
              <a:blipFill>
                <a:blip r:embed="rId47"/>
                <a:stretch>
                  <a:fillRect t="-79048" r="-15072" b="-115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3" name="对象 4102"/>
              <p:cNvSpPr txBox="1"/>
              <p:nvPr/>
            </p:nvSpPr>
            <p:spPr bwMode="auto">
              <a:xfrm>
                <a:off x="1070385" y="5512657"/>
                <a:ext cx="2033196" cy="684249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3" name="对象 4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0385" y="5512657"/>
                <a:ext cx="2033196" cy="68424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4" name="Rectangle 180"/>
          <p:cNvSpPr>
            <a:spLocks noChangeArrowheads="1"/>
          </p:cNvSpPr>
          <p:nvPr/>
        </p:nvSpPr>
        <p:spPr bwMode="auto">
          <a:xfrm>
            <a:off x="0" y="444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5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105" name="Rectangle 18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6" name="对象 4105"/>
              <p:cNvSpPr txBox="1"/>
              <p:nvPr/>
            </p:nvSpPr>
            <p:spPr bwMode="auto">
              <a:xfrm>
                <a:off x="1834178" y="6098803"/>
                <a:ext cx="1587917" cy="420331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6" name="对象 4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4178" y="6098803"/>
                <a:ext cx="1587917" cy="420331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133739"/>
      </p:ext>
    </p:extLst>
  </p:cSld>
  <p:clrMapOvr>
    <a:masterClrMapping/>
  </p:clrMapOvr>
  <p:transition advTm="8005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8EACF8B-9263-4CC3-B845-3377A2702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074" y="1322572"/>
                <a:ext cx="7068301" cy="65374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vert="horz" wrap="square" lIns="0" tIns="31740" rIns="0" bIns="31740" numCol="1" anchor="ctr" anchorCtr="0" compatLnSpc="1">
                <a:prstTxWarp prst="textNoShape">
                  <a:avLst/>
                </a:prstTxWarp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b="1" dirty="0">
                    <a:solidFill>
                      <a:srgbClr val="000000"/>
                    </a:solidFill>
                  </a:rPr>
                  <a:t>第六步，计算隐层权重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altLang="zh-CN" b="1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𝒉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0000"/>
                    </a:solidFill>
                  </a:rPr>
                  <a:t>的梯度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</m:oMath>
                </a14:m>
                <a:endParaRPr lang="zh-CN" altLang="zh-CN" b="1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8EACF8B-9263-4CC3-B845-3377A2702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074" y="1322572"/>
                <a:ext cx="7068301" cy="653749"/>
              </a:xfrm>
              <a:prstGeom prst="rect">
                <a:avLst/>
              </a:prstGeom>
              <a:blipFill rotWithShape="1">
                <a:blip r:embed="rId4"/>
                <a:stretch>
                  <a:fillRect l="-2586" b="-37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/>
              <p:nvPr/>
            </p:nvSpPr>
            <p:spPr>
              <a:xfrm>
                <a:off x="668338" y="1893844"/>
                <a:ext cx="10203766" cy="43367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利用链式法则，可得</a:t>
                </a:r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</a:rPr>
                  <a:t>	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altLang="zh-CN" sz="2000" b="0" i="1" dirty="0">
                  <a:solidFill>
                    <a:srgbClr val="000000"/>
                  </a:solidFill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所以有</a:t>
                </a:r>
                <a:endParaRPr lang="en-US" altLang="zh-CN" sz="200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更新公式</a:t>
                </a:r>
                <a:endParaRPr lang="en-US" altLang="zh-CN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8" y="1893844"/>
                <a:ext cx="10203766" cy="4336700"/>
              </a:xfrm>
              <a:prstGeom prst="rect">
                <a:avLst/>
              </a:prstGeom>
              <a:blipFill>
                <a:blip r:embed="rId5"/>
                <a:stretch>
                  <a:fillRect l="-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0742450"/>
              </p:ext>
            </p:extLst>
          </p:nvPr>
        </p:nvGraphicFramePr>
        <p:xfrm>
          <a:off x="7377913" y="2671252"/>
          <a:ext cx="3984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DSMT4">
                  <p:embed/>
                </p:oleObj>
              </mc:Choice>
              <mc:Fallback>
                <p:oleObj name="Equation" r:id="rId6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77913" y="2671252"/>
                        <a:ext cx="398462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ogle Shape;3214;p51"/>
          <p:cNvSpPr/>
          <p:nvPr/>
        </p:nvSpPr>
        <p:spPr>
          <a:xfrm>
            <a:off x="6372648" y="334423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8" name="Google Shape;3215;p51"/>
          <p:cNvSpPr/>
          <p:nvPr/>
        </p:nvSpPr>
        <p:spPr>
          <a:xfrm>
            <a:off x="6372648" y="439782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9" name="Google Shape;3216;p51"/>
          <p:cNvSpPr/>
          <p:nvPr/>
        </p:nvSpPr>
        <p:spPr>
          <a:xfrm>
            <a:off x="6372648" y="229065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0" name="Google Shape;3221;p51"/>
          <p:cNvSpPr/>
          <p:nvPr/>
        </p:nvSpPr>
        <p:spPr>
          <a:xfrm>
            <a:off x="8665371" y="284370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1" name="Google Shape;3222;p51"/>
          <p:cNvSpPr/>
          <p:nvPr/>
        </p:nvSpPr>
        <p:spPr>
          <a:xfrm>
            <a:off x="8665371" y="389728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23;p51"/>
          <p:cNvSpPr/>
          <p:nvPr/>
        </p:nvSpPr>
        <p:spPr>
          <a:xfrm>
            <a:off x="8665371" y="1790113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3" name="Google Shape;3224;p51"/>
          <p:cNvCxnSpPr>
            <a:stCxn id="9" idx="6"/>
            <a:endCxn id="10" idx="2"/>
          </p:cNvCxnSpPr>
          <p:nvPr/>
        </p:nvCxnSpPr>
        <p:spPr>
          <a:xfrm>
            <a:off x="7104648" y="2641200"/>
            <a:ext cx="1560723" cy="5530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3225;p51"/>
          <p:cNvCxnSpPr>
            <a:stCxn id="9" idx="6"/>
            <a:endCxn id="12" idx="2"/>
          </p:cNvCxnSpPr>
          <p:nvPr/>
        </p:nvCxnSpPr>
        <p:spPr>
          <a:xfrm flipV="1">
            <a:off x="7104648" y="2140663"/>
            <a:ext cx="1560723" cy="5005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227;p51"/>
          <p:cNvCxnSpPr>
            <a:stCxn id="7" idx="6"/>
            <a:endCxn id="12" idx="2"/>
          </p:cNvCxnSpPr>
          <p:nvPr/>
        </p:nvCxnSpPr>
        <p:spPr>
          <a:xfrm flipV="1">
            <a:off x="7104648" y="2140663"/>
            <a:ext cx="1560723" cy="1554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3228;p51"/>
          <p:cNvCxnSpPr>
            <a:stCxn id="7" idx="6"/>
            <a:endCxn id="10" idx="2"/>
          </p:cNvCxnSpPr>
          <p:nvPr/>
        </p:nvCxnSpPr>
        <p:spPr>
          <a:xfrm flipV="1">
            <a:off x="7104648" y="3194250"/>
            <a:ext cx="1560723" cy="5005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3229;p51"/>
          <p:cNvCxnSpPr>
            <a:stCxn id="7" idx="6"/>
            <a:endCxn id="11" idx="2"/>
          </p:cNvCxnSpPr>
          <p:nvPr/>
        </p:nvCxnSpPr>
        <p:spPr>
          <a:xfrm>
            <a:off x="7104648" y="3694788"/>
            <a:ext cx="1560723" cy="55305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3230;p51"/>
          <p:cNvCxnSpPr>
            <a:stCxn id="8" idx="6"/>
            <a:endCxn id="12" idx="2"/>
          </p:cNvCxnSpPr>
          <p:nvPr/>
        </p:nvCxnSpPr>
        <p:spPr>
          <a:xfrm flipV="1">
            <a:off x="7104648" y="2140663"/>
            <a:ext cx="1560723" cy="26077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31;p51"/>
          <p:cNvCxnSpPr>
            <a:stCxn id="8" idx="6"/>
            <a:endCxn id="10" idx="2"/>
          </p:cNvCxnSpPr>
          <p:nvPr/>
        </p:nvCxnSpPr>
        <p:spPr>
          <a:xfrm flipV="1">
            <a:off x="7104648" y="3194250"/>
            <a:ext cx="1560723" cy="1554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232;p51"/>
          <p:cNvCxnSpPr>
            <a:stCxn id="8" idx="6"/>
            <a:endCxn id="11" idx="2"/>
          </p:cNvCxnSpPr>
          <p:nvPr/>
        </p:nvCxnSpPr>
        <p:spPr>
          <a:xfrm flipV="1">
            <a:off x="7104648" y="4247838"/>
            <a:ext cx="1560723" cy="500537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3233;p51"/>
          <p:cNvSpPr/>
          <p:nvPr/>
        </p:nvSpPr>
        <p:spPr>
          <a:xfrm>
            <a:off x="10709568" y="230392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3" name="Google Shape;3234;p51"/>
          <p:cNvSpPr/>
          <p:nvPr/>
        </p:nvSpPr>
        <p:spPr>
          <a:xfrm>
            <a:off x="10709568" y="336109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4" name="Google Shape;3235;p51"/>
          <p:cNvCxnSpPr>
            <a:stCxn id="12" idx="6"/>
            <a:endCxn id="22" idx="2"/>
          </p:cNvCxnSpPr>
          <p:nvPr/>
        </p:nvCxnSpPr>
        <p:spPr>
          <a:xfrm>
            <a:off x="9397371" y="2140663"/>
            <a:ext cx="1312197" cy="5138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6;p51"/>
          <p:cNvCxnSpPr>
            <a:stCxn id="12" idx="6"/>
            <a:endCxn id="23" idx="2"/>
          </p:cNvCxnSpPr>
          <p:nvPr/>
        </p:nvCxnSpPr>
        <p:spPr>
          <a:xfrm>
            <a:off x="9397371" y="2140663"/>
            <a:ext cx="1312197" cy="1570981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7;p51"/>
          <p:cNvCxnSpPr>
            <a:stCxn id="10" idx="6"/>
            <a:endCxn id="22" idx="2"/>
          </p:cNvCxnSpPr>
          <p:nvPr/>
        </p:nvCxnSpPr>
        <p:spPr>
          <a:xfrm flipV="1">
            <a:off x="9397371" y="2654478"/>
            <a:ext cx="1312197" cy="5397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3238;p51"/>
          <p:cNvCxnSpPr>
            <a:stCxn id="10" idx="6"/>
            <a:endCxn id="23" idx="2"/>
          </p:cNvCxnSpPr>
          <p:nvPr/>
        </p:nvCxnSpPr>
        <p:spPr>
          <a:xfrm>
            <a:off x="9397371" y="3194250"/>
            <a:ext cx="1312197" cy="51739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3239;p51"/>
          <p:cNvCxnSpPr>
            <a:stCxn id="11" idx="6"/>
            <a:endCxn id="22" idx="2"/>
          </p:cNvCxnSpPr>
          <p:nvPr/>
        </p:nvCxnSpPr>
        <p:spPr>
          <a:xfrm flipV="1">
            <a:off x="9397371" y="2654478"/>
            <a:ext cx="1312197" cy="15933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3240;p51"/>
          <p:cNvCxnSpPr>
            <a:stCxn id="11" idx="6"/>
            <a:endCxn id="23" idx="2"/>
          </p:cNvCxnSpPr>
          <p:nvPr/>
        </p:nvCxnSpPr>
        <p:spPr>
          <a:xfrm flipV="1">
            <a:off x="9397371" y="3711644"/>
            <a:ext cx="1312197" cy="53619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3222;p51"/>
          <p:cNvSpPr/>
          <p:nvPr/>
        </p:nvSpPr>
        <p:spPr>
          <a:xfrm>
            <a:off x="8665371" y="499739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1" name="Google Shape;3226;p51"/>
          <p:cNvCxnSpPr>
            <a:stCxn id="9" idx="6"/>
            <a:endCxn id="30" idx="2"/>
          </p:cNvCxnSpPr>
          <p:nvPr/>
        </p:nvCxnSpPr>
        <p:spPr>
          <a:xfrm>
            <a:off x="7104648" y="2641200"/>
            <a:ext cx="1560723" cy="27067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2;p51"/>
          <p:cNvCxnSpPr>
            <a:stCxn id="8" idx="6"/>
            <a:endCxn id="30" idx="2"/>
          </p:cNvCxnSpPr>
          <p:nvPr/>
        </p:nvCxnSpPr>
        <p:spPr>
          <a:xfrm>
            <a:off x="7104648" y="4748375"/>
            <a:ext cx="1560723" cy="5995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32;p51"/>
          <p:cNvCxnSpPr>
            <a:stCxn id="7" idx="6"/>
            <a:endCxn id="30" idx="2"/>
          </p:cNvCxnSpPr>
          <p:nvPr/>
        </p:nvCxnSpPr>
        <p:spPr>
          <a:xfrm>
            <a:off x="7104648" y="3694788"/>
            <a:ext cx="1560723" cy="16531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240;p51"/>
          <p:cNvCxnSpPr>
            <a:stCxn id="30" idx="6"/>
            <a:endCxn id="23" idx="2"/>
          </p:cNvCxnSpPr>
          <p:nvPr/>
        </p:nvCxnSpPr>
        <p:spPr>
          <a:xfrm flipV="1">
            <a:off x="9397371" y="3711644"/>
            <a:ext cx="1312197" cy="163630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Google Shape;3234;p51"/>
          <p:cNvSpPr/>
          <p:nvPr/>
        </p:nvSpPr>
        <p:spPr>
          <a:xfrm>
            <a:off x="10709568" y="4383061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6" name="Google Shape;3240;p51"/>
          <p:cNvCxnSpPr>
            <a:stCxn id="30" idx="6"/>
            <a:endCxn id="35" idx="2"/>
          </p:cNvCxnSpPr>
          <p:nvPr/>
        </p:nvCxnSpPr>
        <p:spPr>
          <a:xfrm flipV="1">
            <a:off x="9397371" y="4733611"/>
            <a:ext cx="1312197" cy="6143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40;p51"/>
          <p:cNvCxnSpPr>
            <a:stCxn id="11" idx="6"/>
            <a:endCxn id="35" idx="2"/>
          </p:cNvCxnSpPr>
          <p:nvPr/>
        </p:nvCxnSpPr>
        <p:spPr>
          <a:xfrm>
            <a:off x="9397371" y="4247838"/>
            <a:ext cx="1312197" cy="4857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40;p51"/>
          <p:cNvCxnSpPr>
            <a:stCxn id="30" idx="6"/>
            <a:endCxn id="22" idx="2"/>
          </p:cNvCxnSpPr>
          <p:nvPr/>
        </p:nvCxnSpPr>
        <p:spPr>
          <a:xfrm flipV="1">
            <a:off x="9397371" y="2654478"/>
            <a:ext cx="1312197" cy="26934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38;p51"/>
          <p:cNvCxnSpPr>
            <a:stCxn id="12" idx="6"/>
            <a:endCxn id="35" idx="2"/>
          </p:cNvCxnSpPr>
          <p:nvPr/>
        </p:nvCxnSpPr>
        <p:spPr>
          <a:xfrm>
            <a:off x="9397371" y="2140663"/>
            <a:ext cx="1312197" cy="25929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3238;p51"/>
          <p:cNvCxnSpPr>
            <a:stCxn id="10" idx="6"/>
            <a:endCxn id="35" idx="2"/>
          </p:cNvCxnSpPr>
          <p:nvPr/>
        </p:nvCxnSpPr>
        <p:spPr>
          <a:xfrm>
            <a:off x="9397371" y="3194250"/>
            <a:ext cx="1312197" cy="15393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6166453" y="179011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输入层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70437" y="179951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输出层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7152" y="121099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隐层</a:t>
            </a: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2227"/>
              </p:ext>
            </p:extLst>
          </p:nvPr>
        </p:nvGraphicFramePr>
        <p:xfrm>
          <a:off x="6381610" y="2194087"/>
          <a:ext cx="7810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8600" imgH="241200" progId="Equation.DSMT4">
                  <p:embed/>
                </p:oleObj>
              </mc:Choice>
              <mc:Fallback>
                <p:oleObj name="Equation" r:id="rId8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81610" y="2194087"/>
                        <a:ext cx="7810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8514116"/>
              </p:ext>
            </p:extLst>
          </p:nvPr>
        </p:nvGraphicFramePr>
        <p:xfrm>
          <a:off x="6360972" y="3233899"/>
          <a:ext cx="7810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41200" progId="Equation.DSMT4">
                  <p:embed/>
                </p:oleObj>
              </mc:Choice>
              <mc:Fallback>
                <p:oleObj name="Equation" r:id="rId10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0972" y="3233899"/>
                        <a:ext cx="78105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812121"/>
              </p:ext>
            </p:extLst>
          </p:nvPr>
        </p:nvGraphicFramePr>
        <p:xfrm>
          <a:off x="6305410" y="4297524"/>
          <a:ext cx="86836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241200" progId="Equation.DSMT4">
                  <p:embed/>
                </p:oleObj>
              </mc:Choice>
              <mc:Fallback>
                <p:oleObj name="Equation" r:id="rId12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410" y="4297524"/>
                        <a:ext cx="86836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212022"/>
              </p:ext>
            </p:extLst>
          </p:nvPr>
        </p:nvGraphicFramePr>
        <p:xfrm>
          <a:off x="8792452" y="1750138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228600" progId="Equation.DSMT4">
                  <p:embed/>
                </p:oleObj>
              </mc:Choice>
              <mc:Fallback>
                <p:oleObj name="Equation" r:id="rId14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2452" y="1750138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4070"/>
              </p:ext>
            </p:extLst>
          </p:nvPr>
        </p:nvGraphicFramePr>
        <p:xfrm>
          <a:off x="8770221" y="2803199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228600" progId="Equation.DSMT4">
                  <p:embed/>
                </p:oleObj>
              </mc:Choice>
              <mc:Fallback>
                <p:oleObj name="Equation" r:id="rId16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0221" y="2803199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064336"/>
              </p:ext>
            </p:extLst>
          </p:nvPr>
        </p:nvGraphicFramePr>
        <p:xfrm>
          <a:off x="8749584" y="3857299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4880" imgH="228600" progId="Equation.DSMT4">
                  <p:embed/>
                </p:oleObj>
              </mc:Choice>
              <mc:Fallback>
                <p:oleObj name="Equation" r:id="rId18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584" y="3857299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953356"/>
              </p:ext>
            </p:extLst>
          </p:nvPr>
        </p:nvGraphicFramePr>
        <p:xfrm>
          <a:off x="8749584" y="4935211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241200" progId="Equation.DSMT4">
                  <p:embed/>
                </p:oleObj>
              </mc:Choice>
              <mc:Fallback>
                <p:oleObj name="Equation" r:id="rId20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584" y="4935211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6630998" y="294292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30998" y="400816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907808" y="348809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907808" y="460525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3922695"/>
              </p:ext>
            </p:extLst>
          </p:nvPr>
        </p:nvGraphicFramePr>
        <p:xfrm>
          <a:off x="10724291" y="2251778"/>
          <a:ext cx="763047" cy="763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241200" progId="Equation.DSMT4">
                  <p:embed/>
                </p:oleObj>
              </mc:Choice>
              <mc:Fallback>
                <p:oleObj name="Equation" r:id="rId22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4291" y="2251778"/>
                        <a:ext cx="763047" cy="763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1683"/>
              </p:ext>
            </p:extLst>
          </p:nvPr>
        </p:nvGraphicFramePr>
        <p:xfrm>
          <a:off x="10732601" y="3358426"/>
          <a:ext cx="730275" cy="6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53800" imgH="241200" progId="Equation.DSMT4">
                  <p:embed/>
                </p:oleObj>
              </mc:Choice>
              <mc:Fallback>
                <p:oleObj name="Equation" r:id="rId24" imgW="253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2601" y="3358426"/>
                        <a:ext cx="730275" cy="6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459159"/>
              </p:ext>
            </p:extLst>
          </p:nvPr>
        </p:nvGraphicFramePr>
        <p:xfrm>
          <a:off x="10703469" y="4343294"/>
          <a:ext cx="778143" cy="77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41200" imgH="241200" progId="Equation.DSMT4">
                  <p:embed/>
                </p:oleObj>
              </mc:Choice>
              <mc:Fallback>
                <p:oleObj name="Equation" r:id="rId26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3469" y="4343294"/>
                        <a:ext cx="778143" cy="778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Google Shape;3226;p51"/>
          <p:cNvCxnSpPr>
            <a:stCxn id="9" idx="6"/>
            <a:endCxn id="11" idx="2"/>
          </p:cNvCxnSpPr>
          <p:nvPr/>
        </p:nvCxnSpPr>
        <p:spPr>
          <a:xfrm>
            <a:off x="7104648" y="2641200"/>
            <a:ext cx="1560723" cy="1606638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257937"/>
              </p:ext>
            </p:extLst>
          </p:nvPr>
        </p:nvGraphicFramePr>
        <p:xfrm>
          <a:off x="7698478" y="3471931"/>
          <a:ext cx="3730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7480" imgH="228600" progId="Equation.DSMT4">
                  <p:embed/>
                </p:oleObj>
              </mc:Choice>
              <mc:Fallback>
                <p:oleObj name="Equation" r:id="rId28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8478" y="3471931"/>
                        <a:ext cx="3730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539757"/>
              </p:ext>
            </p:extLst>
          </p:nvPr>
        </p:nvGraphicFramePr>
        <p:xfrm>
          <a:off x="7605675" y="4423663"/>
          <a:ext cx="4270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03040" imgH="228600" progId="Equation.DSMT4">
                  <p:embed/>
                </p:oleObj>
              </mc:Choice>
              <mc:Fallback>
                <p:oleObj name="Equation" r:id="rId30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5675" y="4423663"/>
                        <a:ext cx="4270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273027"/>
              </p:ext>
            </p:extLst>
          </p:nvPr>
        </p:nvGraphicFramePr>
        <p:xfrm>
          <a:off x="9813756" y="2327828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28600" imgH="241200" progId="Equation.DSMT4">
                  <p:embed/>
                </p:oleObj>
              </mc:Choice>
              <mc:Fallback>
                <p:oleObj name="Equation" r:id="rId32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3756" y="2327828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475753"/>
              </p:ext>
            </p:extLst>
          </p:nvPr>
        </p:nvGraphicFramePr>
        <p:xfrm>
          <a:off x="9269280" y="3234888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41200" imgH="241200" progId="Equation.DSMT4">
                  <p:embed/>
                </p:oleObj>
              </mc:Choice>
              <mc:Fallback>
                <p:oleObj name="Equation" r:id="rId34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9280" y="3234888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139609"/>
              </p:ext>
            </p:extLst>
          </p:nvPr>
        </p:nvGraphicFramePr>
        <p:xfrm>
          <a:off x="9381296" y="4129854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15640" imgH="241200" progId="Equation.DSMT4">
                  <p:embed/>
                </p:oleObj>
              </mc:Choice>
              <mc:Fallback>
                <p:oleObj name="Equation" r:id="rId36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1296" y="4129854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296819"/>
              </p:ext>
            </p:extLst>
          </p:nvPr>
        </p:nvGraphicFramePr>
        <p:xfrm>
          <a:off x="9835321" y="4534366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15640" imgH="241200" progId="Equation.DSMT4">
                  <p:embed/>
                </p:oleObj>
              </mc:Choice>
              <mc:Fallback>
                <p:oleObj name="Equation" r:id="rId38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5321" y="4534366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10945529" y="2986501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951101" y="3986499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67" name="左大括号 66"/>
          <p:cNvSpPr/>
          <p:nvPr/>
        </p:nvSpPr>
        <p:spPr>
          <a:xfrm>
            <a:off x="6058949" y="2673277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198898"/>
              </p:ext>
            </p:extLst>
          </p:nvPr>
        </p:nvGraphicFramePr>
        <p:xfrm>
          <a:off x="5575160" y="3360899"/>
          <a:ext cx="3714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64880" imgH="228600" progId="Equation.DSMT4">
                  <p:embed/>
                </p:oleObj>
              </mc:Choice>
              <mc:Fallback>
                <p:oleObj name="Equation" r:id="rId40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575160" y="3360899"/>
                        <a:ext cx="371475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355521"/>
              </p:ext>
            </p:extLst>
          </p:nvPr>
        </p:nvGraphicFramePr>
        <p:xfrm>
          <a:off x="11793207" y="3401494"/>
          <a:ext cx="4000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77480" imgH="228600" progId="Equation.DSMT4">
                  <p:embed/>
                </p:oleObj>
              </mc:Choice>
              <mc:Fallback>
                <p:oleObj name="Equation" r:id="rId42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3207" y="3401494"/>
                        <a:ext cx="4000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左大括号 69"/>
          <p:cNvSpPr/>
          <p:nvPr/>
        </p:nvSpPr>
        <p:spPr>
          <a:xfrm rot="10800000">
            <a:off x="11443069" y="2634330"/>
            <a:ext cx="313699" cy="20791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71" name="直接连接符 70"/>
          <p:cNvCxnSpPr/>
          <p:nvPr/>
        </p:nvCxnSpPr>
        <p:spPr>
          <a:xfrm>
            <a:off x="8322197" y="4215914"/>
            <a:ext cx="88340" cy="1649729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对象 71"/>
              <p:cNvSpPr txBox="1"/>
              <p:nvPr/>
            </p:nvSpPr>
            <p:spPr bwMode="auto">
              <a:xfrm>
                <a:off x="7858125" y="5645150"/>
                <a:ext cx="582613" cy="828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2" name="对象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8125" y="5645150"/>
                <a:ext cx="582613" cy="82867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/>
          <p:cNvSpPr txBox="1"/>
          <p:nvPr/>
        </p:nvSpPr>
        <p:spPr>
          <a:xfrm>
            <a:off x="6103795" y="5867971"/>
            <a:ext cx="192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对权重求导</a:t>
            </a:r>
          </a:p>
        </p:txBody>
      </p:sp>
      <p:sp>
        <p:nvSpPr>
          <p:cNvPr id="74" name="下箭头 73"/>
          <p:cNvSpPr/>
          <p:nvPr/>
        </p:nvSpPr>
        <p:spPr>
          <a:xfrm rot="5400000">
            <a:off x="9593005" y="4813107"/>
            <a:ext cx="484632" cy="23950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对象 74"/>
              <p:cNvSpPr txBox="1"/>
              <p:nvPr/>
            </p:nvSpPr>
            <p:spPr>
              <a:xfrm>
                <a:off x="11322423" y="5999172"/>
                <a:ext cx="412657" cy="49518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" name="对象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423" y="5999172"/>
                <a:ext cx="412657" cy="495188"/>
              </a:xfrm>
              <a:prstGeom prst="rect">
                <a:avLst/>
              </a:prstGeom>
              <a:blipFill>
                <a:blip r:embed="rId45"/>
                <a:stretch>
                  <a:fillRect l="-2941" r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11128643" y="553750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误差</a:t>
            </a:r>
          </a:p>
        </p:txBody>
      </p:sp>
      <p:sp>
        <p:nvSpPr>
          <p:cNvPr id="3" name="Rectangle 21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 bwMode="auto">
              <a:xfrm>
                <a:off x="1577949" y="2491752"/>
                <a:ext cx="2043953" cy="637563"/>
              </a:xfrm>
              <a:prstGeom prst="rect">
                <a:avLst/>
              </a:prstGeom>
              <a:noFill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</m:den>
                      </m:f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7949" y="2491752"/>
                <a:ext cx="2043953" cy="637563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1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" name="对象 4095"/>
              <p:cNvSpPr txBox="1"/>
              <p:nvPr/>
            </p:nvSpPr>
            <p:spPr bwMode="auto">
              <a:xfrm>
                <a:off x="1479175" y="3271371"/>
                <a:ext cx="1436147" cy="605604"/>
              </a:xfrm>
              <a:prstGeom prst="rect">
                <a:avLst/>
              </a:prstGeom>
              <a:noFill/>
            </p:spPr>
            <p:txBody>
              <a:bodyPr>
                <a:normAutofit fontScale="25000" lnSpcReduction="20000"/>
              </a:bodyPr>
              <a:lstStyle>
                <a:defPPr>
                  <a:defRPr lang="zh-CN"/>
                </a:defPPr>
                <a:lvl1pPr>
                  <a:defRPr sz="2900" i="1">
                    <a:solidFill>
                      <a:srgbClr val="00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4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4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480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sz="480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zh-CN" altLang="en-US" sz="4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48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4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480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sz="4800"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6" name="对象 40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9175" y="3271371"/>
                <a:ext cx="1436147" cy="605604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7" name="Rectangle 21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对象 4098"/>
              <p:cNvSpPr txBox="1"/>
              <p:nvPr/>
            </p:nvSpPr>
            <p:spPr bwMode="auto">
              <a:xfrm>
                <a:off x="3020172" y="3344238"/>
                <a:ext cx="1463041" cy="614116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9" name="对象 40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0172" y="3344238"/>
                <a:ext cx="1463041" cy="614116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21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1" name="对象 4100"/>
              <p:cNvSpPr txBox="1"/>
              <p:nvPr/>
            </p:nvSpPr>
            <p:spPr bwMode="auto">
              <a:xfrm>
                <a:off x="1475161" y="3941793"/>
                <a:ext cx="826975" cy="639026"/>
              </a:xfrm>
              <a:prstGeom prst="rect">
                <a:avLst/>
              </a:prstGeom>
              <a:noFill/>
            </p:spPr>
            <p:txBody>
              <a:bodyPr>
                <a:normAutofit fontScale="40000" lnSpcReduction="20000"/>
              </a:bodyPr>
              <a:lstStyle>
                <a:defPPr>
                  <a:defRPr lang="zh-CN"/>
                </a:defPPr>
                <a:lvl1pPr>
                  <a:defRPr sz="2900" i="1">
                    <a:solidFill>
                      <a:srgbClr val="000000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1" name="对象 4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5161" y="3941793"/>
                <a:ext cx="826975" cy="639026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2" name="Rectangle 22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3" name="对象 4102"/>
              <p:cNvSpPr txBox="1"/>
              <p:nvPr/>
            </p:nvSpPr>
            <p:spPr bwMode="auto">
              <a:xfrm>
                <a:off x="1516826" y="4605258"/>
                <a:ext cx="3481635" cy="712615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𝑖h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3" name="对象 4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6826" y="4605258"/>
                <a:ext cx="3481635" cy="712615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4" name="Rectangle 2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5" name="对象 4104"/>
              <p:cNvSpPr txBox="1"/>
              <p:nvPr/>
            </p:nvSpPr>
            <p:spPr bwMode="auto">
              <a:xfrm>
                <a:off x="1834179" y="5637468"/>
                <a:ext cx="1871829" cy="443328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𝑖h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𝑖h</m:t>
                          </m:r>
                        </m:sub>
                      </m:sSub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05" name="对象 4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4179" y="5637468"/>
                <a:ext cx="1871829" cy="443328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505153"/>
      </p:ext>
    </p:extLst>
  </p:cSld>
  <p:clrMapOvr>
    <a:masterClrMapping/>
  </p:clrMapOvr>
  <p:transition advTm="8005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4" y="1432730"/>
            <a:ext cx="7068301" cy="433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第七步，引出结论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/>
              <p:nvPr/>
            </p:nvSpPr>
            <p:spPr>
              <a:xfrm>
                <a:off x="668338" y="1894091"/>
                <a:ext cx="10203766" cy="2999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观察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CN" altLang="en-US" sz="2000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latin typeface="Cambria Math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US" altLang="zh-CN" sz="20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 (1−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)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/>
                          </a:rPr>
                          <m:t>𝑗</m:t>
                        </m:r>
                        <m:r>
                          <a:rPr lang="en-US" altLang="zh-CN" sz="20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h𝑗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000" dirty="0"/>
                  <a:t>，可知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隐层阈值梯度取决于隐层神经元输出、输出层阈值梯度和隐层与输出层的连接权值。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在阈值的调整过程中，当前层的阈值梯度取决于下一层的阈值，这就是</a:t>
                </a:r>
                <a:r>
                  <a:rPr lang="en-US" altLang="zh-CN" sz="2000" dirty="0"/>
                  <a:t>BP</a:t>
                </a:r>
                <a:r>
                  <a:rPr lang="zh-CN" altLang="en-US" sz="2000" dirty="0"/>
                  <a:t>算法的</a:t>
                </a:r>
                <a:r>
                  <a:rPr lang="zh-CN" altLang="en-US" sz="2000" dirty="0">
                    <a:solidFill>
                      <a:srgbClr val="FF0000"/>
                    </a:solidFill>
                  </a:rPr>
                  <a:t>精髓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观察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zh-CN" altLang="en-US" sz="2000" i="1">
                            <a:latin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/>
                              </a:rPr>
                              <m:t>h𝑗</m:t>
                            </m:r>
                          </m:sub>
                        </m:sSub>
                      </m:den>
                    </m:f>
                    <m:r>
                      <a:rPr lang="en-US" altLang="zh-CN" sz="2000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h</m:t>
                        </m:r>
                      </m:sub>
                    </m:sSub>
                  </m:oMath>
                </a14:m>
                <a:r>
                  <a:rPr lang="zh-CN" altLang="en-US" sz="2000" dirty="0"/>
                  <a:t>，可知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/>
                  <a:t>当前层的连接权值梯度，取决于当前神经元阈值梯度和上层神经元输出。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14" name="文本框 6">
                <a:extLst>
                  <a:ext uri="{FF2B5EF4-FFF2-40B4-BE49-F238E27FC236}">
                    <a16:creationId xmlns:a16="http://schemas.microsoft.com/office/drawing/2014/main" id="{D413EE41-636C-4218-8E52-0287DFB65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38" y="1894091"/>
                <a:ext cx="10203766" cy="2999475"/>
              </a:xfrm>
              <a:prstGeom prst="rect">
                <a:avLst/>
              </a:prstGeom>
              <a:blipFill>
                <a:blip r:embed="rId3"/>
                <a:stretch>
                  <a:fillRect l="-658" b="-10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006696"/>
      </p:ext>
    </p:extLst>
  </p:cSld>
  <p:clrMapOvr>
    <a:masterClrMapping/>
  </p:clrMapOvr>
  <p:transition advTm="8005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4" y="1432730"/>
            <a:ext cx="7068301" cy="4334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第七步，引出结论</a:t>
            </a:r>
            <a:endParaRPr kumimoji="0" lang="zh-CN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D413EE41-636C-4218-8E52-0287DFB656F4}"/>
              </a:ext>
            </a:extLst>
          </p:cNvPr>
          <p:cNvSpPr txBox="1"/>
          <p:nvPr/>
        </p:nvSpPr>
        <p:spPr>
          <a:xfrm>
            <a:off x="668338" y="1894091"/>
            <a:ext cx="1020376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只要知道</a:t>
            </a:r>
            <a:r>
              <a:rPr lang="zh-CN" altLang="en-US" sz="2000" dirty="0">
                <a:solidFill>
                  <a:srgbClr val="FF0000"/>
                </a:solidFill>
              </a:rPr>
              <a:t>上一层</a:t>
            </a:r>
            <a:r>
              <a:rPr lang="zh-CN" altLang="en-US" sz="2000" dirty="0"/>
              <a:t>神经元的阈值梯度，即可计算</a:t>
            </a:r>
            <a:r>
              <a:rPr lang="zh-CN" altLang="en-US" sz="2000" dirty="0">
                <a:solidFill>
                  <a:srgbClr val="FF0000"/>
                </a:solidFill>
              </a:rPr>
              <a:t>当前层</a:t>
            </a:r>
            <a:r>
              <a:rPr lang="zh-CN" altLang="en-US" sz="2000" dirty="0"/>
              <a:t>神经元阈值梯度和连接权值梯度。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随后可以计算</a:t>
            </a:r>
            <a:r>
              <a:rPr lang="zh-CN" altLang="en-US" sz="2000" dirty="0">
                <a:solidFill>
                  <a:srgbClr val="FF0000"/>
                </a:solidFill>
              </a:rPr>
              <a:t>输出层</a:t>
            </a:r>
            <a:r>
              <a:rPr lang="zh-CN" altLang="en-US" sz="2000" dirty="0"/>
              <a:t>神经元阈值梯度，从而计算出</a:t>
            </a:r>
            <a:r>
              <a:rPr lang="zh-CN" altLang="en-US" sz="2000" dirty="0">
                <a:solidFill>
                  <a:srgbClr val="FF0000"/>
                </a:solidFill>
              </a:rPr>
              <a:t>全网络</a:t>
            </a:r>
            <a:r>
              <a:rPr lang="zh-CN" altLang="en-US" sz="2000" dirty="0"/>
              <a:t>的神经元阈值和连接权值梯度。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最终达到</a:t>
            </a:r>
            <a:r>
              <a:rPr lang="zh-CN" altLang="en-US" sz="2000" dirty="0">
                <a:solidFill>
                  <a:srgbClr val="FF0000"/>
                </a:solidFill>
              </a:rPr>
              <a:t>训练网络</a:t>
            </a:r>
            <a:r>
              <a:rPr lang="zh-CN" altLang="en-US" sz="2000" dirty="0"/>
              <a:t>的目的。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5169925"/>
      </p:ext>
    </p:extLst>
  </p:cSld>
  <p:clrMapOvr>
    <a:masterClrMapping/>
  </p:clrMapOvr>
  <p:transition advTm="8005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5" y="1401952"/>
            <a:ext cx="2836983" cy="4949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/>
              <a:t>算法流程回顾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2396" y="1951524"/>
            <a:ext cx="4595148" cy="4192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1.</a:t>
            </a:r>
            <a:r>
              <a:rPr lang="zh-CN" altLang="en-US" sz="2000" dirty="0"/>
              <a:t>将输入样本提供给输入层神经元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2.</a:t>
            </a:r>
            <a:r>
              <a:rPr lang="zh-CN" altLang="en-US" sz="2000" dirty="0"/>
              <a:t>逐层将</a:t>
            </a:r>
            <a:r>
              <a:rPr lang="zh-CN" altLang="en-US" sz="2000" dirty="0">
                <a:solidFill>
                  <a:srgbClr val="FF0000"/>
                </a:solidFill>
              </a:rPr>
              <a:t>信号前传</a:t>
            </a:r>
            <a:r>
              <a:rPr lang="zh-CN" altLang="en-US" sz="2000" dirty="0"/>
              <a:t>至隐层、输出层，产生输出层的结果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3.</a:t>
            </a:r>
            <a:r>
              <a:rPr lang="zh-CN" altLang="en-US" sz="2000" dirty="0"/>
              <a:t>计算输出层误差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4.</a:t>
            </a:r>
            <a:r>
              <a:rPr lang="zh-CN" altLang="en-US" sz="2000" dirty="0"/>
              <a:t>将</a:t>
            </a:r>
            <a:r>
              <a:rPr lang="zh-CN" altLang="en-US" sz="2000" dirty="0">
                <a:solidFill>
                  <a:srgbClr val="FF0000"/>
                </a:solidFill>
              </a:rPr>
              <a:t>误差反向传播</a:t>
            </a:r>
            <a:r>
              <a:rPr lang="zh-CN" altLang="en-US" sz="2000" dirty="0"/>
              <a:t>至隐藏层神经元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5.</a:t>
            </a:r>
            <a:r>
              <a:rPr lang="zh-CN" altLang="en-US" sz="2000" dirty="0"/>
              <a:t>根据隐层神经元对连接权重和阈值进行调整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6.</a:t>
            </a:r>
            <a:r>
              <a:rPr lang="zh-CN" altLang="en-US" sz="2000" dirty="0"/>
              <a:t>上述过程循环进行，直至达到某些停止条件为止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833995"/>
              </p:ext>
            </p:extLst>
          </p:nvPr>
        </p:nvGraphicFramePr>
        <p:xfrm>
          <a:off x="7192910" y="3444087"/>
          <a:ext cx="399309" cy="479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40" imgH="228600" progId="Equation.DSMT4">
                  <p:embed/>
                </p:oleObj>
              </mc:Choice>
              <mc:Fallback>
                <p:oleObj name="Equation" r:id="rId3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2910" y="3444087"/>
                        <a:ext cx="399309" cy="479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Google Shape;3214;p51"/>
          <p:cNvSpPr/>
          <p:nvPr/>
        </p:nvSpPr>
        <p:spPr>
          <a:xfrm>
            <a:off x="5648684" y="3923258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2" name="Google Shape;3215;p51"/>
          <p:cNvSpPr/>
          <p:nvPr/>
        </p:nvSpPr>
        <p:spPr>
          <a:xfrm>
            <a:off x="5648684" y="4976845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3" name="Google Shape;3216;p51"/>
          <p:cNvSpPr/>
          <p:nvPr/>
        </p:nvSpPr>
        <p:spPr>
          <a:xfrm>
            <a:off x="5648684" y="286967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4" name="Google Shape;3221;p51"/>
          <p:cNvSpPr/>
          <p:nvPr/>
        </p:nvSpPr>
        <p:spPr>
          <a:xfrm>
            <a:off x="8421501" y="3293050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5" name="Google Shape;3222;p51"/>
          <p:cNvSpPr/>
          <p:nvPr/>
        </p:nvSpPr>
        <p:spPr>
          <a:xfrm>
            <a:off x="8426032" y="438813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16" name="Google Shape;3223;p51"/>
          <p:cNvSpPr/>
          <p:nvPr/>
        </p:nvSpPr>
        <p:spPr>
          <a:xfrm>
            <a:off x="8438556" y="235275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19" name="Google Shape;3224;p51"/>
          <p:cNvCxnSpPr>
            <a:stCxn id="13" idx="6"/>
            <a:endCxn id="14" idx="2"/>
          </p:cNvCxnSpPr>
          <p:nvPr/>
        </p:nvCxnSpPr>
        <p:spPr>
          <a:xfrm>
            <a:off x="6380684" y="3220220"/>
            <a:ext cx="2040817" cy="42338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3225;p51"/>
          <p:cNvCxnSpPr>
            <a:stCxn id="13" idx="6"/>
            <a:endCxn id="16" idx="2"/>
          </p:cNvCxnSpPr>
          <p:nvPr/>
        </p:nvCxnSpPr>
        <p:spPr>
          <a:xfrm flipV="1">
            <a:off x="6380684" y="2703309"/>
            <a:ext cx="2057872" cy="5169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3227;p51"/>
          <p:cNvCxnSpPr>
            <a:stCxn id="11" idx="6"/>
            <a:endCxn id="16" idx="2"/>
          </p:cNvCxnSpPr>
          <p:nvPr/>
        </p:nvCxnSpPr>
        <p:spPr>
          <a:xfrm flipV="1">
            <a:off x="6380684" y="2703309"/>
            <a:ext cx="2057872" cy="1570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3228;p51"/>
          <p:cNvCxnSpPr>
            <a:stCxn id="11" idx="6"/>
            <a:endCxn id="14" idx="2"/>
          </p:cNvCxnSpPr>
          <p:nvPr/>
        </p:nvCxnSpPr>
        <p:spPr>
          <a:xfrm flipV="1">
            <a:off x="6380684" y="3643600"/>
            <a:ext cx="2040817" cy="6302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3229;p51"/>
          <p:cNvCxnSpPr>
            <a:stCxn id="11" idx="6"/>
            <a:endCxn id="15" idx="2"/>
          </p:cNvCxnSpPr>
          <p:nvPr/>
        </p:nvCxnSpPr>
        <p:spPr>
          <a:xfrm>
            <a:off x="6380684" y="4273808"/>
            <a:ext cx="2045348" cy="464874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3230;p51"/>
          <p:cNvCxnSpPr>
            <a:stCxn id="12" idx="6"/>
            <a:endCxn id="16" idx="2"/>
          </p:cNvCxnSpPr>
          <p:nvPr/>
        </p:nvCxnSpPr>
        <p:spPr>
          <a:xfrm flipV="1">
            <a:off x="6380684" y="2703309"/>
            <a:ext cx="2057872" cy="26240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3231;p51"/>
          <p:cNvCxnSpPr>
            <a:stCxn id="12" idx="6"/>
            <a:endCxn id="14" idx="2"/>
          </p:cNvCxnSpPr>
          <p:nvPr/>
        </p:nvCxnSpPr>
        <p:spPr>
          <a:xfrm flipV="1">
            <a:off x="6380684" y="3643600"/>
            <a:ext cx="2040817" cy="168379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6" name="Google Shape;3232;p51"/>
          <p:cNvCxnSpPr>
            <a:stCxn id="12" idx="6"/>
            <a:endCxn id="15" idx="2"/>
          </p:cNvCxnSpPr>
          <p:nvPr/>
        </p:nvCxnSpPr>
        <p:spPr>
          <a:xfrm flipV="1">
            <a:off x="6380684" y="4738682"/>
            <a:ext cx="2045348" cy="58871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3233;p51"/>
          <p:cNvSpPr/>
          <p:nvPr/>
        </p:nvSpPr>
        <p:spPr>
          <a:xfrm>
            <a:off x="11066866" y="2863476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sp>
        <p:nvSpPr>
          <p:cNvPr id="28" name="Google Shape;3234;p51"/>
          <p:cNvSpPr/>
          <p:nvPr/>
        </p:nvSpPr>
        <p:spPr>
          <a:xfrm>
            <a:off x="11066866" y="3920642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29" name="Google Shape;3235;p51"/>
          <p:cNvCxnSpPr>
            <a:cxnSpLocks/>
            <a:stCxn id="16" idx="6"/>
            <a:endCxn id="27" idx="2"/>
          </p:cNvCxnSpPr>
          <p:nvPr/>
        </p:nvCxnSpPr>
        <p:spPr>
          <a:xfrm>
            <a:off x="9170556" y="2703309"/>
            <a:ext cx="1896310" cy="5107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3236;p51"/>
          <p:cNvCxnSpPr>
            <a:cxnSpLocks/>
            <a:stCxn id="16" idx="6"/>
            <a:endCxn id="28" idx="2"/>
          </p:cNvCxnSpPr>
          <p:nvPr/>
        </p:nvCxnSpPr>
        <p:spPr>
          <a:xfrm>
            <a:off x="9170556" y="2703309"/>
            <a:ext cx="1896310" cy="1567883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3237;p51"/>
          <p:cNvCxnSpPr>
            <a:cxnSpLocks/>
            <a:stCxn id="14" idx="6"/>
            <a:endCxn id="27" idx="2"/>
          </p:cNvCxnSpPr>
          <p:nvPr/>
        </p:nvCxnSpPr>
        <p:spPr>
          <a:xfrm flipV="1">
            <a:off x="9153501" y="3214026"/>
            <a:ext cx="1913365" cy="4295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3238;p51"/>
          <p:cNvCxnSpPr>
            <a:cxnSpLocks/>
            <a:stCxn id="14" idx="6"/>
            <a:endCxn id="28" idx="2"/>
          </p:cNvCxnSpPr>
          <p:nvPr/>
        </p:nvCxnSpPr>
        <p:spPr>
          <a:xfrm>
            <a:off x="9153501" y="3643600"/>
            <a:ext cx="1913365" cy="62759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3239;p51"/>
          <p:cNvCxnSpPr>
            <a:cxnSpLocks/>
            <a:stCxn id="15" idx="6"/>
            <a:endCxn id="27" idx="2"/>
          </p:cNvCxnSpPr>
          <p:nvPr/>
        </p:nvCxnSpPr>
        <p:spPr>
          <a:xfrm flipV="1">
            <a:off x="9158032" y="3214026"/>
            <a:ext cx="1908834" cy="15246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" name="Google Shape;3240;p51"/>
          <p:cNvCxnSpPr>
            <a:cxnSpLocks/>
            <a:stCxn id="15" idx="6"/>
            <a:endCxn id="28" idx="2"/>
          </p:cNvCxnSpPr>
          <p:nvPr/>
        </p:nvCxnSpPr>
        <p:spPr>
          <a:xfrm flipV="1">
            <a:off x="9158032" y="4271192"/>
            <a:ext cx="1908834" cy="46749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Google Shape;3222;p51"/>
          <p:cNvSpPr/>
          <p:nvPr/>
        </p:nvSpPr>
        <p:spPr>
          <a:xfrm>
            <a:off x="8404446" y="5456144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36" name="Google Shape;3226;p51"/>
          <p:cNvCxnSpPr>
            <a:stCxn id="13" idx="6"/>
            <a:endCxn id="35" idx="2"/>
          </p:cNvCxnSpPr>
          <p:nvPr/>
        </p:nvCxnSpPr>
        <p:spPr>
          <a:xfrm>
            <a:off x="6380684" y="3220220"/>
            <a:ext cx="2023762" cy="25864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3232;p51"/>
          <p:cNvCxnSpPr>
            <a:stCxn id="12" idx="6"/>
            <a:endCxn id="35" idx="2"/>
          </p:cNvCxnSpPr>
          <p:nvPr/>
        </p:nvCxnSpPr>
        <p:spPr>
          <a:xfrm>
            <a:off x="6380684" y="5327395"/>
            <a:ext cx="2023762" cy="479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" name="Google Shape;3232;p51"/>
          <p:cNvCxnSpPr>
            <a:stCxn id="11" idx="6"/>
            <a:endCxn id="35" idx="2"/>
          </p:cNvCxnSpPr>
          <p:nvPr/>
        </p:nvCxnSpPr>
        <p:spPr>
          <a:xfrm>
            <a:off x="6380684" y="4273808"/>
            <a:ext cx="2023762" cy="15328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" name="Google Shape;3240;p51"/>
          <p:cNvCxnSpPr>
            <a:cxnSpLocks/>
            <a:stCxn id="35" idx="6"/>
            <a:endCxn id="28" idx="2"/>
          </p:cNvCxnSpPr>
          <p:nvPr/>
        </p:nvCxnSpPr>
        <p:spPr>
          <a:xfrm flipV="1">
            <a:off x="9136446" y="4271192"/>
            <a:ext cx="1930420" cy="153550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" name="Google Shape;3234;p51"/>
          <p:cNvSpPr/>
          <p:nvPr/>
        </p:nvSpPr>
        <p:spPr>
          <a:xfrm>
            <a:off x="11066866" y="4942609"/>
            <a:ext cx="732000" cy="701100"/>
          </a:xfrm>
          <a:prstGeom prst="ellipse">
            <a:avLst/>
          </a:prstGeom>
          <a:gradFill>
            <a:gsLst>
              <a:gs pos="0">
                <a:srgbClr val="69D4F4">
                  <a:alpha val="26274"/>
                </a:srgbClr>
              </a:gs>
              <a:gs pos="100000">
                <a:srgbClr val="9F39D5">
                  <a:alpha val="16862"/>
                </a:srgbClr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</p:txBody>
      </p:sp>
      <p:cxnSp>
        <p:nvCxnSpPr>
          <p:cNvPr id="41" name="Google Shape;3240;p51"/>
          <p:cNvCxnSpPr>
            <a:cxnSpLocks/>
            <a:stCxn id="35" idx="6"/>
            <a:endCxn id="40" idx="2"/>
          </p:cNvCxnSpPr>
          <p:nvPr/>
        </p:nvCxnSpPr>
        <p:spPr>
          <a:xfrm flipV="1">
            <a:off x="9136446" y="5293159"/>
            <a:ext cx="1930420" cy="5135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3240;p51"/>
          <p:cNvCxnSpPr>
            <a:cxnSpLocks/>
            <a:stCxn id="15" idx="6"/>
            <a:endCxn id="40" idx="2"/>
          </p:cNvCxnSpPr>
          <p:nvPr/>
        </p:nvCxnSpPr>
        <p:spPr>
          <a:xfrm>
            <a:off x="9158032" y="4738682"/>
            <a:ext cx="1908834" cy="5544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3240;p51"/>
          <p:cNvCxnSpPr>
            <a:cxnSpLocks/>
            <a:stCxn id="35" idx="6"/>
            <a:endCxn id="27" idx="2"/>
          </p:cNvCxnSpPr>
          <p:nvPr/>
        </p:nvCxnSpPr>
        <p:spPr>
          <a:xfrm flipV="1">
            <a:off x="9136446" y="3214026"/>
            <a:ext cx="1930420" cy="25926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" name="Google Shape;3238;p51"/>
          <p:cNvCxnSpPr>
            <a:cxnSpLocks/>
            <a:stCxn id="16" idx="6"/>
            <a:endCxn id="40" idx="2"/>
          </p:cNvCxnSpPr>
          <p:nvPr/>
        </p:nvCxnSpPr>
        <p:spPr>
          <a:xfrm>
            <a:off x="9170556" y="2703309"/>
            <a:ext cx="1896310" cy="25898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3238;p51"/>
          <p:cNvCxnSpPr>
            <a:cxnSpLocks/>
            <a:stCxn id="14" idx="6"/>
            <a:endCxn id="40" idx="2"/>
          </p:cNvCxnSpPr>
          <p:nvPr/>
        </p:nvCxnSpPr>
        <p:spPr>
          <a:xfrm>
            <a:off x="9153501" y="3643600"/>
            <a:ext cx="1913365" cy="16495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5442489" y="240800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482" y="240490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输出层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0337" y="191774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隐层</a:t>
            </a: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243238"/>
              </p:ext>
            </p:extLst>
          </p:nvPr>
        </p:nvGraphicFramePr>
        <p:xfrm>
          <a:off x="5787842" y="2795248"/>
          <a:ext cx="520423" cy="780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228600" progId="Equation.DSMT4">
                  <p:embed/>
                </p:oleObj>
              </mc:Choice>
              <mc:Fallback>
                <p:oleObj name="Equation" r:id="rId5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87842" y="2795248"/>
                        <a:ext cx="520423" cy="780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238124"/>
              </p:ext>
            </p:extLst>
          </p:nvPr>
        </p:nvGraphicFramePr>
        <p:xfrm>
          <a:off x="5767682" y="3834281"/>
          <a:ext cx="5207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80" imgH="228600" progId="Equation.DSMT4">
                  <p:embed/>
                </p:oleObj>
              </mc:Choice>
              <mc:Fallback>
                <p:oleObj name="Equation" r:id="rId7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682" y="3834281"/>
                        <a:ext cx="5207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406103"/>
              </p:ext>
            </p:extLst>
          </p:nvPr>
        </p:nvGraphicFramePr>
        <p:xfrm>
          <a:off x="5710904" y="4896694"/>
          <a:ext cx="6080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228600" progId="Equation.DSMT4">
                  <p:embed/>
                </p:oleObj>
              </mc:Choice>
              <mc:Fallback>
                <p:oleObj name="Equation" r:id="rId9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0904" y="4896694"/>
                        <a:ext cx="60801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72208"/>
              </p:ext>
            </p:extLst>
          </p:nvPr>
        </p:nvGraphicFramePr>
        <p:xfrm>
          <a:off x="8565637" y="2312784"/>
          <a:ext cx="4778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9680" imgH="228600" progId="Equation.DSMT4">
                  <p:embed/>
                </p:oleObj>
              </mc:Choice>
              <mc:Fallback>
                <p:oleObj name="Equation" r:id="rId11" imgW="139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5637" y="2312784"/>
                        <a:ext cx="4778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162504"/>
              </p:ext>
            </p:extLst>
          </p:nvPr>
        </p:nvGraphicFramePr>
        <p:xfrm>
          <a:off x="8554421" y="3239840"/>
          <a:ext cx="52228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80" imgH="228600" progId="Equation.DSMT4">
                  <p:embed/>
                </p:oleObj>
              </mc:Choice>
              <mc:Fallback>
                <p:oleObj name="Equation" r:id="rId13" imgW="152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4421" y="3239840"/>
                        <a:ext cx="52228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320956"/>
              </p:ext>
            </p:extLst>
          </p:nvPr>
        </p:nvGraphicFramePr>
        <p:xfrm>
          <a:off x="8527042" y="4354561"/>
          <a:ext cx="565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28600" progId="Equation.DSMT4">
                  <p:embed/>
                </p:oleObj>
              </mc:Choice>
              <mc:Fallback>
                <p:oleObj name="Equation" r:id="rId15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7042" y="4354561"/>
                        <a:ext cx="565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041988"/>
              </p:ext>
            </p:extLst>
          </p:nvPr>
        </p:nvGraphicFramePr>
        <p:xfrm>
          <a:off x="8529638" y="5379092"/>
          <a:ext cx="56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4880" imgH="241200" progId="Equation.DSMT4">
                  <p:embed/>
                </p:oleObj>
              </mc:Choice>
              <mc:Fallback>
                <p:oleObj name="Equation" r:id="rId17" imgW="164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638" y="5379092"/>
                        <a:ext cx="56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907034" y="3521948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907034" y="458718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89520" y="4012545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686914" y="5023491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560335"/>
              </p:ext>
            </p:extLst>
          </p:nvPr>
        </p:nvGraphicFramePr>
        <p:xfrm>
          <a:off x="11151084" y="2771803"/>
          <a:ext cx="5635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4880" imgH="228600" progId="Equation.DSMT4">
                  <p:embed/>
                </p:oleObj>
              </mc:Choice>
              <mc:Fallback>
                <p:oleObj name="Equation" r:id="rId19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1084" y="2771803"/>
                        <a:ext cx="5635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17271"/>
              </p:ext>
            </p:extLst>
          </p:nvPr>
        </p:nvGraphicFramePr>
        <p:xfrm>
          <a:off x="11131132" y="3828824"/>
          <a:ext cx="6064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7480" imgH="241200" progId="Equation.DSMT4">
                  <p:embed/>
                </p:oleObj>
              </mc:Choice>
              <mc:Fallback>
                <p:oleObj name="Equation" r:id="rId21" imgW="1774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1132" y="3828824"/>
                        <a:ext cx="6064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748664"/>
              </p:ext>
            </p:extLst>
          </p:nvPr>
        </p:nvGraphicFramePr>
        <p:xfrm>
          <a:off x="11150182" y="4844241"/>
          <a:ext cx="563562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4880" imgH="228600" progId="Equation.DSMT4">
                  <p:embed/>
                </p:oleObj>
              </mc:Choice>
              <mc:Fallback>
                <p:oleObj name="Equation" r:id="rId23" imgW="164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0182" y="4844241"/>
                        <a:ext cx="563562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Google Shape;3226;p51"/>
          <p:cNvCxnSpPr>
            <a:stCxn id="13" idx="6"/>
            <a:endCxn id="15" idx="2"/>
          </p:cNvCxnSpPr>
          <p:nvPr/>
        </p:nvCxnSpPr>
        <p:spPr>
          <a:xfrm>
            <a:off x="6380684" y="3220220"/>
            <a:ext cx="2045348" cy="1518462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867755"/>
              </p:ext>
            </p:extLst>
          </p:nvPr>
        </p:nvGraphicFramePr>
        <p:xfrm>
          <a:off x="7276487" y="3908707"/>
          <a:ext cx="3730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7480" imgH="228600" progId="Equation.DSMT4">
                  <p:embed/>
                </p:oleObj>
              </mc:Choice>
              <mc:Fallback>
                <p:oleObj name="Equation" r:id="rId25" imgW="177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6487" y="3908707"/>
                        <a:ext cx="3730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109084"/>
              </p:ext>
            </p:extLst>
          </p:nvPr>
        </p:nvGraphicFramePr>
        <p:xfrm>
          <a:off x="7144339" y="4976845"/>
          <a:ext cx="4254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040" imgH="228600" progId="Equation.DSMT4">
                  <p:embed/>
                </p:oleObj>
              </mc:Choice>
              <mc:Fallback>
                <p:oleObj name="Equation" r:id="rId27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339" y="4976845"/>
                        <a:ext cx="4254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510621"/>
              </p:ext>
            </p:extLst>
          </p:nvPr>
        </p:nvGraphicFramePr>
        <p:xfrm>
          <a:off x="9786400" y="2899933"/>
          <a:ext cx="4794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28600" imgH="241200" progId="Equation.DSMT4">
                  <p:embed/>
                </p:oleObj>
              </mc:Choice>
              <mc:Fallback>
                <p:oleObj name="Equation" r:id="rId29" imgW="22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6400" y="2899933"/>
                        <a:ext cx="4794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825772"/>
              </p:ext>
            </p:extLst>
          </p:nvPr>
        </p:nvGraphicFramePr>
        <p:xfrm>
          <a:off x="9123487" y="3854239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41200" imgH="241200" progId="Equation.DSMT4">
                  <p:embed/>
                </p:oleObj>
              </mc:Choice>
              <mc:Fallback>
                <p:oleObj name="Equation" r:id="rId31" imgW="241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3487" y="3854239"/>
                        <a:ext cx="506412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561987"/>
              </p:ext>
            </p:extLst>
          </p:nvPr>
        </p:nvGraphicFramePr>
        <p:xfrm>
          <a:off x="9192142" y="4718780"/>
          <a:ext cx="454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15640" imgH="241200" progId="Equation.DSMT4">
                  <p:embed/>
                </p:oleObj>
              </mc:Choice>
              <mc:Fallback>
                <p:oleObj name="Equation" r:id="rId33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2142" y="4718780"/>
                        <a:ext cx="454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068346"/>
              </p:ext>
            </p:extLst>
          </p:nvPr>
        </p:nvGraphicFramePr>
        <p:xfrm>
          <a:off x="10019829" y="5034013"/>
          <a:ext cx="4540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241200" progId="Equation.DSMT4">
                  <p:embed/>
                </p:oleObj>
              </mc:Choice>
              <mc:Fallback>
                <p:oleObj name="Equation" r:id="rId35" imgW="215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9829" y="5034013"/>
                        <a:ext cx="4540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Box 69"/>
          <p:cNvSpPr txBox="1"/>
          <p:nvPr/>
        </p:nvSpPr>
        <p:spPr>
          <a:xfrm>
            <a:off x="11302827" y="3546049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1308399" y="4546047"/>
            <a:ext cx="178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</a:p>
          <a:p>
            <a:r>
              <a:rPr lang="en-US" altLang="zh-CN" sz="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.</a:t>
            </a:r>
            <a:endParaRPr lang="zh-CN" altLang="en-US" sz="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5" name="上弧形箭头 4"/>
          <p:cNvSpPr/>
          <p:nvPr/>
        </p:nvSpPr>
        <p:spPr>
          <a:xfrm>
            <a:off x="5996487" y="1336230"/>
            <a:ext cx="5553118" cy="101652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上弧形箭头 73"/>
          <p:cNvSpPr/>
          <p:nvPr/>
        </p:nvSpPr>
        <p:spPr>
          <a:xfrm rot="10800000">
            <a:off x="5953244" y="5740747"/>
            <a:ext cx="5596359" cy="98992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D5D2D5BD-8B08-4258-8680-06031E2F07A3}"/>
              </a:ext>
            </a:extLst>
          </p:cNvPr>
          <p:cNvSpPr txBox="1"/>
          <p:nvPr/>
        </p:nvSpPr>
        <p:spPr>
          <a:xfrm>
            <a:off x="7978753" y="1376841"/>
            <a:ext cx="20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信号前传</a:t>
            </a:r>
            <a:endParaRPr lang="zh-CN" altLang="en-US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BD81AC5-428C-4499-B186-B063CFA5A288}"/>
              </a:ext>
            </a:extLst>
          </p:cNvPr>
          <p:cNvSpPr txBox="1"/>
          <p:nvPr/>
        </p:nvSpPr>
        <p:spPr>
          <a:xfrm>
            <a:off x="8170329" y="6230074"/>
            <a:ext cx="200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误差后传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7316879"/>
      </p:ext>
    </p:extLst>
  </p:cSld>
  <p:clrMapOvr>
    <a:masterClrMapping/>
  </p:clrMapOvr>
  <p:transition advTm="8005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235898"/>
            <a:ext cx="11523662" cy="677863"/>
          </a:xfrm>
        </p:spPr>
        <p:txBody>
          <a:bodyPr/>
          <a:lstStyle/>
          <a:p>
            <a:pPr algn="l" eaLnBrk="1" hangingPunct="1"/>
            <a:r>
              <a:rPr lang="en-US" altLang="zh-CN" dirty="0">
                <a:solidFill>
                  <a:schemeClr val="tx1"/>
                </a:solidFill>
              </a:rPr>
              <a:t>3.BP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075" y="1401952"/>
            <a:ext cx="2836983" cy="4949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优点：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499680-2924-4E3D-B61C-92AD431AF791}"/>
              </a:ext>
            </a:extLst>
          </p:cNvPr>
          <p:cNvSpPr txBox="1"/>
          <p:nvPr/>
        </p:nvSpPr>
        <p:spPr>
          <a:xfrm>
            <a:off x="633036" y="2118992"/>
            <a:ext cx="52724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1.能够自适应、自主学习。</a:t>
            </a:r>
            <a:r>
              <a:rPr lang="en-US" altLang="zh-CN" sz="2000" dirty="0"/>
              <a:t>BP</a:t>
            </a:r>
            <a:r>
              <a:rPr lang="zh-CN" altLang="en-US" sz="2000" dirty="0"/>
              <a:t>可以根据预设参数更新规则，通过不断调整神经网络中的参数，已达到最符合期望的输出。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2.拥有很强的非线性映射能力。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3.误差的反向传播采用的是成熟的链式法则，推导过程严谨且科学。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4.</a:t>
            </a:r>
            <a:r>
              <a:rPr lang="zh-CN" altLang="en-US" sz="2000" dirty="0"/>
              <a:t>算法泛化能力很强。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48EACF8B-9263-4CC3-B845-3377A270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5186" y="1401952"/>
            <a:ext cx="2836983" cy="4949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31740" rIns="0" bIns="3174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/>
              <a:t>缺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点：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文本框 9">
            <a:extLst>
              <a:ext uri="{FF2B5EF4-FFF2-40B4-BE49-F238E27FC236}">
                <a16:creationId xmlns:a16="http://schemas.microsoft.com/office/drawing/2014/main" id="{16499680-2924-4E3D-B61C-92AD431AF791}"/>
              </a:ext>
            </a:extLst>
          </p:cNvPr>
          <p:cNvSpPr txBox="1"/>
          <p:nvPr/>
        </p:nvSpPr>
        <p:spPr>
          <a:xfrm>
            <a:off x="6259136" y="2099942"/>
            <a:ext cx="527246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1.</a:t>
            </a:r>
            <a:r>
              <a:rPr lang="en-US" altLang="zh-CN" sz="2000" dirty="0"/>
              <a:t>BP</a:t>
            </a:r>
            <a:r>
              <a:rPr lang="zh-CN" altLang="en-US" sz="2000" dirty="0"/>
              <a:t>神经网络参数众多，每次迭代需要更新较多数量的阈值和权值，故收敛速度比较慢。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2.网络中隐层含有的节点数目没有明确的准则，需要不断设置节点数字试凑，根据网络误差结果最终确定隐层节点个数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3.</a:t>
            </a:r>
            <a:r>
              <a:rPr lang="en-US" altLang="zh-CN" sz="2000" dirty="0"/>
              <a:t>BP</a:t>
            </a:r>
            <a:r>
              <a:rPr lang="zh-CN" altLang="en-US" sz="2000" dirty="0"/>
              <a:t>算法是一种速度较快的梯度下降算法，容易陷入局部极小值的问题。</a:t>
            </a:r>
          </a:p>
        </p:txBody>
      </p:sp>
    </p:spTree>
    <p:extLst>
      <p:ext uri="{BB962C8B-B14F-4D97-AF65-F5344CB8AC3E}">
        <p14:creationId xmlns:p14="http://schemas.microsoft.com/office/powerpoint/2010/main" val="1737191482"/>
      </p:ext>
    </p:extLst>
  </p:cSld>
  <p:clrMapOvr>
    <a:masterClrMapping/>
  </p:clrMapOvr>
  <p:transition advTm="8005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22">
            <a:extLst>
              <a:ext uri="{FF2B5EF4-FFF2-40B4-BE49-F238E27FC236}">
                <a16:creationId xmlns:a16="http://schemas.microsoft.com/office/drawing/2014/main" id="{4CDD033A-9BDC-462A-93B9-D2A3289CB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28" y="266545"/>
            <a:ext cx="709834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eaLnBrk="1" hangingPunct="1">
              <a:defRPr sz="3600" b="1">
                <a:latin typeface="+mj-lt"/>
                <a:ea typeface="+mj-ea"/>
                <a:cs typeface="+mj-cs"/>
              </a:defRPr>
            </a:lvl1pPr>
            <a:lvl2pPr algn="ctr">
              <a:defRPr sz="3600" b="1">
                <a:solidFill>
                  <a:schemeClr val="tx2"/>
                </a:solidFill>
              </a:defRPr>
            </a:lvl2pPr>
            <a:lvl3pPr algn="ctr">
              <a:defRPr sz="3600" b="1">
                <a:solidFill>
                  <a:schemeClr val="tx2"/>
                </a:solidFill>
              </a:defRPr>
            </a:lvl3pPr>
            <a:lvl4pPr algn="ctr">
              <a:defRPr sz="3600" b="1">
                <a:solidFill>
                  <a:schemeClr val="tx2"/>
                </a:solidFill>
              </a:defRPr>
            </a:lvl4pPr>
            <a:lvl5pPr algn="ctr">
              <a:defRPr sz="3600" b="1">
                <a:solidFill>
                  <a:schemeClr val="tx2"/>
                </a:solidFill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</a:defRPr>
            </a:lvl9pPr>
          </a:lstStyle>
          <a:p>
            <a:r>
              <a:rPr lang="zh-CN" altLang="en-US" dirty="0"/>
              <a:t>参考文献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90017" y="1309816"/>
            <a:ext cx="11471749" cy="4917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[1]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李航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.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统计学习方法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[M].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北京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: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清华大学出版社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,2019.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[2]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周志华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.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机器学习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[M].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北京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: </a:t>
            </a:r>
            <a:r>
              <a:rPr lang="zh-CN" altLang="en-US" sz="1800" kern="100" dirty="0">
                <a:effectLst/>
                <a:latin typeface="+mj-ea"/>
                <a:ea typeface="+mj-ea"/>
              </a:rPr>
              <a:t>清华大学出版社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,2016.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[3] Andrew Ng. Machine Learning[EB/OL]. StanfordUniversity,2014. https://www.coursera.org/course/ml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[4] CHRISTOPHER M. BISHOP. Pattern Recognition and Machine Learning[M]. New York: Springer,2006. 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[5] MINSKY, MARVIN, PAPERT, et al. </a:t>
            </a:r>
            <a:r>
              <a:rPr lang="en-US" altLang="zh-CN" sz="1800" kern="100" dirty="0" err="1">
                <a:effectLst/>
                <a:latin typeface="+mj-ea"/>
                <a:ea typeface="+mj-ea"/>
              </a:rPr>
              <a:t>Perceptrons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 : An Introduction to Computational Geometry[J]. The MIT Press, 1969.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[6] DE </a:t>
            </a:r>
            <a:r>
              <a:rPr lang="en-US" altLang="zh-CN" sz="1800" kern="100" dirty="0" err="1">
                <a:effectLst/>
                <a:latin typeface="+mj-ea"/>
                <a:ea typeface="+mj-ea"/>
              </a:rPr>
              <a:t>Rumelhart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, Hinton G E, Williams R J. Learning Representations by Back Propagating Errors[J]. Nature, 1986, 323(6088):533-536.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[7] Bishop C M. Neural Networks for Pattern Recognition[J]. Advances in Computers, 1993, 37:119-166.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1800" kern="100" dirty="0">
                <a:effectLst/>
                <a:latin typeface="+mj-ea"/>
                <a:ea typeface="+mj-ea"/>
              </a:rPr>
              <a:t>[8] </a:t>
            </a:r>
            <a:r>
              <a:rPr lang="en-US" altLang="zh-CN" sz="1800" kern="100" dirty="0" err="1">
                <a:effectLst/>
                <a:latin typeface="+mj-ea"/>
                <a:ea typeface="+mj-ea"/>
              </a:rPr>
              <a:t>LeCun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 Y, </a:t>
            </a:r>
            <a:r>
              <a:rPr lang="en-US" altLang="zh-CN" sz="1800" kern="100" dirty="0" err="1">
                <a:effectLst/>
                <a:latin typeface="+mj-ea"/>
                <a:ea typeface="+mj-ea"/>
              </a:rPr>
              <a:t>Bengio</a:t>
            </a:r>
            <a:r>
              <a:rPr lang="en-US" altLang="zh-CN" sz="1800" kern="100" dirty="0">
                <a:effectLst/>
                <a:latin typeface="+mj-ea"/>
                <a:ea typeface="+mj-ea"/>
              </a:rPr>
              <a:t> Y. Convolutional networks for images, speech, and time series[J]. The handbook of brain theory and neural networks, 1995, 3361(10): 1995.</a:t>
            </a:r>
          </a:p>
        </p:txBody>
      </p:sp>
    </p:spTree>
    <p:extLst>
      <p:ext uri="{BB962C8B-B14F-4D97-AF65-F5344CB8AC3E}">
        <p14:creationId xmlns:p14="http://schemas.microsoft.com/office/powerpoint/2010/main" val="207502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12192000" cy="7379970"/>
          </a:xfrm>
          <a:prstGeom prst="rect">
            <a:avLst/>
          </a:prstGeom>
          <a:gradFill>
            <a:gsLst>
              <a:gs pos="11000">
                <a:schemeClr val="bg1"/>
              </a:gs>
              <a:gs pos="77000">
                <a:schemeClr val="bg1">
                  <a:alpha val="54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文本框 62">
            <a:extLst>
              <a:ext uri="{FF2B5EF4-FFF2-40B4-BE49-F238E27FC236}">
                <a16:creationId xmlns:a16="http://schemas.microsoft.com/office/drawing/2014/main" id="{05B38BAA-90AB-43CE-9EE2-AB2A32E85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3216" y="2800765"/>
            <a:ext cx="319510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600" b="1" dirty="0">
                <a:solidFill>
                  <a:srgbClr val="4B649F"/>
                </a:solidFill>
              </a:rPr>
              <a:t>谢  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17998</TotalTime>
  <Words>2099</Words>
  <Application>Microsoft Office PowerPoint</Application>
  <PresentationFormat>宽屏</PresentationFormat>
  <Paragraphs>484</Paragraphs>
  <Slides>29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-apple-system</vt:lpstr>
      <vt:lpstr>Helvetica Neue</vt:lpstr>
      <vt:lpstr>华文琥珀</vt:lpstr>
      <vt:lpstr>微软雅黑</vt:lpstr>
      <vt:lpstr>Arial</vt:lpstr>
      <vt:lpstr>Cambria</vt:lpstr>
      <vt:lpstr>Cambria Math</vt:lpstr>
      <vt:lpstr>Impact</vt:lpstr>
      <vt:lpstr>Times New Roman</vt:lpstr>
      <vt:lpstr>Verdana</vt:lpstr>
      <vt:lpstr>默认设计模板</vt:lpstr>
      <vt:lpstr>Equation</vt:lpstr>
      <vt:lpstr>机器学习-人工神经网络  刘海斌</vt:lpstr>
      <vt:lpstr>本章目录</vt:lpstr>
      <vt:lpstr>1.人工神经网络发展历史</vt:lpstr>
      <vt:lpstr>1.人工神经网络发展历史</vt:lpstr>
      <vt:lpstr>1.人工神经网络发展历史</vt:lpstr>
      <vt:lpstr>1.人工神经网络发展历史</vt:lpstr>
      <vt:lpstr>1.人工神经网络发展历史</vt:lpstr>
      <vt:lpstr>1.人工神经网络发展历史</vt:lpstr>
      <vt:lpstr>2.感知器算法</vt:lpstr>
      <vt:lpstr>2.感知机算法</vt:lpstr>
      <vt:lpstr>2.感知机算法</vt:lpstr>
      <vt:lpstr>2.感知机算法</vt:lpstr>
      <vt:lpstr>2.感知器算法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3.BP算法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</dc:title>
  <dc:creator>黄海广</dc:creator>
  <cp:lastModifiedBy>HAIBIN LIU</cp:lastModifiedBy>
  <cp:revision>3465</cp:revision>
  <cp:lastPrinted>2018-06-09T17:02:00Z</cp:lastPrinted>
  <dcterms:created xsi:type="dcterms:W3CDTF">2016-05-18T20:32:00Z</dcterms:created>
  <dcterms:modified xsi:type="dcterms:W3CDTF">2024-04-02T01:37:42Z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