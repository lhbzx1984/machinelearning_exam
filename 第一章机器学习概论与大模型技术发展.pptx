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heme/theme2.xml" ContentType="application/vnd.openxmlformats-officedocument.theme+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notesSlides/notesSlide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7"/>
  </p:notesMasterIdLst>
  <p:sldIdLst>
    <p:sldId id="257" r:id="rId2"/>
    <p:sldId id="330" r:id="rId3"/>
    <p:sldId id="259" r:id="rId4"/>
    <p:sldId id="331" r:id="rId5"/>
    <p:sldId id="332" r:id="rId6"/>
    <p:sldId id="336" r:id="rId7"/>
    <p:sldId id="342" r:id="rId8"/>
    <p:sldId id="337" r:id="rId9"/>
    <p:sldId id="338" r:id="rId10"/>
    <p:sldId id="339" r:id="rId11"/>
    <p:sldId id="335" r:id="rId12"/>
    <p:sldId id="344" r:id="rId13"/>
    <p:sldId id="345" r:id="rId14"/>
    <p:sldId id="346" r:id="rId15"/>
    <p:sldId id="347" r:id="rId16"/>
    <p:sldId id="348" r:id="rId17"/>
    <p:sldId id="349" r:id="rId18"/>
    <p:sldId id="350" r:id="rId19"/>
    <p:sldId id="343" r:id="rId20"/>
    <p:sldId id="263" r:id="rId21"/>
    <p:sldId id="290" r:id="rId22"/>
    <p:sldId id="291" r:id="rId23"/>
    <p:sldId id="292" r:id="rId24"/>
    <p:sldId id="293" r:id="rId25"/>
    <p:sldId id="295" r:id="rId26"/>
    <p:sldId id="296" r:id="rId27"/>
    <p:sldId id="297" r:id="rId28"/>
    <p:sldId id="298" r:id="rId29"/>
    <p:sldId id="294" r:id="rId30"/>
    <p:sldId id="299" r:id="rId31"/>
    <p:sldId id="351" r:id="rId32"/>
    <p:sldId id="352" r:id="rId33"/>
    <p:sldId id="353" r:id="rId34"/>
    <p:sldId id="354" r:id="rId35"/>
    <p:sldId id="355" r:id="rId36"/>
    <p:sldId id="360" r:id="rId37"/>
    <p:sldId id="356" r:id="rId38"/>
    <p:sldId id="357" r:id="rId39"/>
    <p:sldId id="358" r:id="rId40"/>
    <p:sldId id="359"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61" r:id="rId60"/>
    <p:sldId id="362" r:id="rId61"/>
    <p:sldId id="326" r:id="rId62"/>
    <p:sldId id="327" r:id="rId63"/>
    <p:sldId id="328" r:id="rId64"/>
    <p:sldId id="329" r:id="rId65"/>
    <p:sldId id="363" r:id="rId66"/>
    <p:sldId id="364" r:id="rId67"/>
    <p:sldId id="365" r:id="rId68"/>
    <p:sldId id="366" r:id="rId69"/>
    <p:sldId id="367" r:id="rId70"/>
    <p:sldId id="368" r:id="rId71"/>
    <p:sldId id="369" r:id="rId72"/>
    <p:sldId id="370" r:id="rId73"/>
    <p:sldId id="371" r:id="rId74"/>
    <p:sldId id="372" r:id="rId75"/>
    <p:sldId id="373"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幸全" initials="幸全"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69" autoAdjust="0"/>
    <p:restoredTop sz="94660"/>
  </p:normalViewPr>
  <p:slideViewPr>
    <p:cSldViewPr snapToGrid="0">
      <p:cViewPr varScale="1">
        <p:scale>
          <a:sx n="86" d="100"/>
          <a:sy n="86" d="100"/>
        </p:scale>
        <p:origin x="36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2024/3/3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8F3E0-69BD-CD7B-FDD6-1DEA535B28B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BBAE56-FB62-BADF-AD2A-1EB5DA3425F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4F638AC-7513-6073-FEA5-D0A0DF1558E7}"/>
              </a:ext>
            </a:extLst>
          </p:cNvPr>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39132317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13" Type="http://schemas.openxmlformats.org/officeDocument/2006/relationships/tags" Target="../tags/tag19.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tags" Target="../tags/tag18.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tags" Target="../tags/tag17.xml"/><Relationship Id="rId5" Type="http://schemas.openxmlformats.org/officeDocument/2006/relationships/tags" Target="../tags/tag11.xml"/><Relationship Id="rId10" Type="http://schemas.openxmlformats.org/officeDocument/2006/relationships/tags" Target="../tags/tag16.xml"/><Relationship Id="rId4" Type="http://schemas.openxmlformats.org/officeDocument/2006/relationships/tags" Target="../tags/tag10.xml"/><Relationship Id="rId9" Type="http://schemas.openxmlformats.org/officeDocument/2006/relationships/tags" Target="../tags/tag15.xml"/><Relationship Id="rId1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53.xml"/><Relationship Id="rId3" Type="http://schemas.openxmlformats.org/officeDocument/2006/relationships/tags" Target="../tags/tag48.xml"/><Relationship Id="rId7" Type="http://schemas.openxmlformats.org/officeDocument/2006/relationships/tags" Target="../tags/tag52.xm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tags" Target="../tags/tag51.xml"/><Relationship Id="rId5" Type="http://schemas.openxmlformats.org/officeDocument/2006/relationships/tags" Target="../tags/tag50.xml"/><Relationship Id="rId10" Type="http://schemas.openxmlformats.org/officeDocument/2006/relationships/slideMaster" Target="../slideMasters/slideMaster1.xml"/><Relationship Id="rId4" Type="http://schemas.openxmlformats.org/officeDocument/2006/relationships/tags" Target="../tags/tag49.xml"/><Relationship Id="rId9" Type="http://schemas.openxmlformats.org/officeDocument/2006/relationships/tags" Target="../tags/tag54.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60.xml"/><Relationship Id="rId7" Type="http://schemas.openxmlformats.org/officeDocument/2006/relationships/slideMaster" Target="../slideMasters/slideMaster1.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5" Type="http://schemas.openxmlformats.org/officeDocument/2006/relationships/tags" Target="../tags/tag62.xml"/><Relationship Id="rId4" Type="http://schemas.openxmlformats.org/officeDocument/2006/relationships/tags" Target="../tags/tag6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18" Type="http://schemas.openxmlformats.org/officeDocument/2006/relationships/tags" Target="../tags/tag90.xml"/><Relationship Id="rId3" Type="http://schemas.openxmlformats.org/officeDocument/2006/relationships/tags" Target="../tags/tag75.xml"/><Relationship Id="rId21" Type="http://schemas.openxmlformats.org/officeDocument/2006/relationships/tags" Target="../tags/tag93.xml"/><Relationship Id="rId7" Type="http://schemas.openxmlformats.org/officeDocument/2006/relationships/tags" Target="../tags/tag79.xml"/><Relationship Id="rId12" Type="http://schemas.openxmlformats.org/officeDocument/2006/relationships/tags" Target="../tags/tag84.xml"/><Relationship Id="rId17" Type="http://schemas.openxmlformats.org/officeDocument/2006/relationships/tags" Target="../tags/tag89.xml"/><Relationship Id="rId25" Type="http://schemas.openxmlformats.org/officeDocument/2006/relationships/slideMaster" Target="../slideMasters/slideMaster1.xml"/><Relationship Id="rId2" Type="http://schemas.openxmlformats.org/officeDocument/2006/relationships/tags" Target="../tags/tag74.xml"/><Relationship Id="rId16" Type="http://schemas.openxmlformats.org/officeDocument/2006/relationships/tags" Target="../tags/tag88.xml"/><Relationship Id="rId20" Type="http://schemas.openxmlformats.org/officeDocument/2006/relationships/tags" Target="../tags/tag92.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24" Type="http://schemas.openxmlformats.org/officeDocument/2006/relationships/tags" Target="../tags/tag96.xml"/><Relationship Id="rId5" Type="http://schemas.openxmlformats.org/officeDocument/2006/relationships/tags" Target="../tags/tag77.xml"/><Relationship Id="rId15" Type="http://schemas.openxmlformats.org/officeDocument/2006/relationships/tags" Target="../tags/tag87.xml"/><Relationship Id="rId23" Type="http://schemas.openxmlformats.org/officeDocument/2006/relationships/tags" Target="../tags/tag95.xml"/><Relationship Id="rId10" Type="http://schemas.openxmlformats.org/officeDocument/2006/relationships/tags" Target="../tags/tag82.xml"/><Relationship Id="rId19" Type="http://schemas.openxmlformats.org/officeDocument/2006/relationships/tags" Target="../tags/tag91.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tags" Target="../tags/tag86.xml"/><Relationship Id="rId22" Type="http://schemas.openxmlformats.org/officeDocument/2006/relationships/tags" Target="../tags/tag94.xml"/></Relationships>
</file>

<file path=ppt/slideLayouts/_rels/slideLayout1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9.xml"/><Relationship Id="rId7" Type="http://schemas.openxmlformats.org/officeDocument/2006/relationships/tags" Target="../tags/tag103.xml"/><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tags" Target="../tags/tag100.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11.xml"/><Relationship Id="rId3" Type="http://schemas.openxmlformats.org/officeDocument/2006/relationships/tags" Target="../tags/tag106.xml"/><Relationship Id="rId7" Type="http://schemas.openxmlformats.org/officeDocument/2006/relationships/tags" Target="../tags/tag110.xml"/><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tags" Target="../tags/tag109.xml"/><Relationship Id="rId11" Type="http://schemas.openxmlformats.org/officeDocument/2006/relationships/slideMaster" Target="../slideMasters/slideMaster1.xml"/><Relationship Id="rId5" Type="http://schemas.openxmlformats.org/officeDocument/2006/relationships/tags" Target="../tags/tag108.xml"/><Relationship Id="rId10" Type="http://schemas.openxmlformats.org/officeDocument/2006/relationships/tags" Target="../tags/tag113.xml"/><Relationship Id="rId4" Type="http://schemas.openxmlformats.org/officeDocument/2006/relationships/tags" Target="../tags/tag107.xml"/><Relationship Id="rId9" Type="http://schemas.openxmlformats.org/officeDocument/2006/relationships/tags" Target="../tags/tag11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21.xml"/><Relationship Id="rId3" Type="http://schemas.openxmlformats.org/officeDocument/2006/relationships/tags" Target="../tags/tag116.xml"/><Relationship Id="rId7" Type="http://schemas.openxmlformats.org/officeDocument/2006/relationships/tags" Target="../tags/tag120.xml"/><Relationship Id="rId12" Type="http://schemas.openxmlformats.org/officeDocument/2006/relationships/slideMaster" Target="../slideMasters/slideMaster1.xml"/><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tags" Target="../tags/tag119.xml"/><Relationship Id="rId11" Type="http://schemas.openxmlformats.org/officeDocument/2006/relationships/tags" Target="../tags/tag124.xml"/><Relationship Id="rId5" Type="http://schemas.openxmlformats.org/officeDocument/2006/relationships/tags" Target="../tags/tag118.xml"/><Relationship Id="rId10" Type="http://schemas.openxmlformats.org/officeDocument/2006/relationships/tags" Target="../tags/tag123.xml"/><Relationship Id="rId4" Type="http://schemas.openxmlformats.org/officeDocument/2006/relationships/tags" Target="../tags/tag117.xml"/><Relationship Id="rId9" Type="http://schemas.openxmlformats.org/officeDocument/2006/relationships/tags" Target="../tags/tag122.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32.xml"/><Relationship Id="rId3" Type="http://schemas.openxmlformats.org/officeDocument/2006/relationships/tags" Target="../tags/tag127.xml"/><Relationship Id="rId7" Type="http://schemas.openxmlformats.org/officeDocument/2006/relationships/tags" Target="../tags/tag131.xml"/><Relationship Id="rId2" Type="http://schemas.openxmlformats.org/officeDocument/2006/relationships/tags" Target="../tags/tag126.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slideMaster" Target="../slideMasters/slideMaster1.xml"/><Relationship Id="rId5" Type="http://schemas.openxmlformats.org/officeDocument/2006/relationships/tags" Target="../tags/tag129.xml"/><Relationship Id="rId10" Type="http://schemas.openxmlformats.org/officeDocument/2006/relationships/tags" Target="../tags/tag134.xml"/><Relationship Id="rId4" Type="http://schemas.openxmlformats.org/officeDocument/2006/relationships/tags" Target="../tags/tag128.xml"/><Relationship Id="rId9" Type="http://schemas.openxmlformats.org/officeDocument/2006/relationships/tags" Target="../tags/tag133.xm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42.xml"/><Relationship Id="rId3" Type="http://schemas.openxmlformats.org/officeDocument/2006/relationships/tags" Target="../tags/tag137.xml"/><Relationship Id="rId7" Type="http://schemas.openxmlformats.org/officeDocument/2006/relationships/tags" Target="../tags/tag141.xml"/><Relationship Id="rId12" Type="http://schemas.openxmlformats.org/officeDocument/2006/relationships/slideMaster" Target="../slideMasters/slideMaster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11" Type="http://schemas.openxmlformats.org/officeDocument/2006/relationships/tags" Target="../tags/tag145.xml"/><Relationship Id="rId5" Type="http://schemas.openxmlformats.org/officeDocument/2006/relationships/tags" Target="../tags/tag139.xml"/><Relationship Id="rId10" Type="http://schemas.openxmlformats.org/officeDocument/2006/relationships/tags" Target="../tags/tag144.xml"/><Relationship Id="rId4" Type="http://schemas.openxmlformats.org/officeDocument/2006/relationships/tags" Target="../tags/tag138.xml"/><Relationship Id="rId9" Type="http://schemas.openxmlformats.org/officeDocument/2006/relationships/tags" Target="../tags/tag143.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53.xml"/><Relationship Id="rId13" Type="http://schemas.openxmlformats.org/officeDocument/2006/relationships/slideMaster" Target="../slideMasters/slideMaster1.xml"/><Relationship Id="rId3" Type="http://schemas.openxmlformats.org/officeDocument/2006/relationships/tags" Target="../tags/tag148.xml"/><Relationship Id="rId7" Type="http://schemas.openxmlformats.org/officeDocument/2006/relationships/tags" Target="../tags/tag152.xml"/><Relationship Id="rId12" Type="http://schemas.openxmlformats.org/officeDocument/2006/relationships/tags" Target="../tags/tag157.xml"/><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tags" Target="../tags/tag151.xml"/><Relationship Id="rId11" Type="http://schemas.openxmlformats.org/officeDocument/2006/relationships/tags" Target="../tags/tag156.xml"/><Relationship Id="rId5" Type="http://schemas.openxmlformats.org/officeDocument/2006/relationships/tags" Target="../tags/tag150.xml"/><Relationship Id="rId10" Type="http://schemas.openxmlformats.org/officeDocument/2006/relationships/tags" Target="../tags/tag155.xml"/><Relationship Id="rId4" Type="http://schemas.openxmlformats.org/officeDocument/2006/relationships/tags" Target="../tags/tag149.xml"/><Relationship Id="rId9" Type="http://schemas.openxmlformats.org/officeDocument/2006/relationships/tags" Target="../tags/tag154.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65.xml"/><Relationship Id="rId13" Type="http://schemas.openxmlformats.org/officeDocument/2006/relationships/slideMaster" Target="../slideMasters/slideMaster1.xml"/><Relationship Id="rId3" Type="http://schemas.openxmlformats.org/officeDocument/2006/relationships/tags" Target="../tags/tag160.xml"/><Relationship Id="rId7" Type="http://schemas.openxmlformats.org/officeDocument/2006/relationships/tags" Target="../tags/tag164.xml"/><Relationship Id="rId12" Type="http://schemas.openxmlformats.org/officeDocument/2006/relationships/tags" Target="../tags/tag169.xml"/><Relationship Id="rId2" Type="http://schemas.openxmlformats.org/officeDocument/2006/relationships/tags" Target="../tags/tag159.xml"/><Relationship Id="rId1" Type="http://schemas.openxmlformats.org/officeDocument/2006/relationships/tags" Target="../tags/tag158.xml"/><Relationship Id="rId6" Type="http://schemas.openxmlformats.org/officeDocument/2006/relationships/tags" Target="../tags/tag163.xml"/><Relationship Id="rId11" Type="http://schemas.openxmlformats.org/officeDocument/2006/relationships/tags" Target="../tags/tag168.xml"/><Relationship Id="rId5" Type="http://schemas.openxmlformats.org/officeDocument/2006/relationships/tags" Target="../tags/tag162.xml"/><Relationship Id="rId10" Type="http://schemas.openxmlformats.org/officeDocument/2006/relationships/tags" Target="../tags/tag167.xml"/><Relationship Id="rId4" Type="http://schemas.openxmlformats.org/officeDocument/2006/relationships/tags" Target="../tags/tag161.xml"/><Relationship Id="rId9" Type="http://schemas.openxmlformats.org/officeDocument/2006/relationships/tags" Target="../tags/tag16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3" name="任意多边形: 形状 12"/>
          <p:cNvSpPr/>
          <p:nvPr>
            <p:custDataLst>
              <p:tags r:id="rId1"/>
            </p:custDataLst>
          </p:nvPr>
        </p:nvSpPr>
        <p:spPr>
          <a:xfrm>
            <a:off x="9070340" y="0"/>
            <a:ext cx="3121660" cy="2059940"/>
          </a:xfrm>
          <a:custGeom>
            <a:avLst/>
            <a:gdLst>
              <a:gd name="connsiteX0" fmla="*/ 3121594 w 3121594"/>
              <a:gd name="connsiteY0" fmla="*/ 2059935 h 2059935"/>
              <a:gd name="connsiteX1" fmla="*/ 3121594 w 3121594"/>
              <a:gd name="connsiteY1" fmla="*/ 0 h 2059935"/>
              <a:gd name="connsiteX2" fmla="*/ 0 w 3121594"/>
              <a:gd name="connsiteY2" fmla="*/ 0 h 2059935"/>
            </a:gdLst>
            <a:ahLst/>
            <a:cxnLst>
              <a:cxn ang="0">
                <a:pos x="connsiteX0" y="connsiteY0"/>
              </a:cxn>
              <a:cxn ang="0">
                <a:pos x="connsiteX1" y="connsiteY1"/>
              </a:cxn>
              <a:cxn ang="0">
                <a:pos x="connsiteX2" y="connsiteY2"/>
              </a:cxn>
            </a:cxnLst>
            <a:rect l="l" t="t" r="r" b="b"/>
            <a:pathLst>
              <a:path w="3121594" h="2059935">
                <a:moveTo>
                  <a:pt x="3121594" y="2059935"/>
                </a:moveTo>
                <a:lnTo>
                  <a:pt x="3121594" y="0"/>
                </a:lnTo>
                <a:lnTo>
                  <a:pt x="0" y="0"/>
                </a:lnTo>
                <a:close/>
              </a:path>
            </a:pathLst>
          </a:custGeom>
          <a:solidFill>
            <a:schemeClr val="accent6"/>
          </a:solidFill>
          <a:ln w="6335" cap="flat">
            <a:noFill/>
            <a:prstDash val="solid"/>
            <a:miter/>
          </a:ln>
        </p:spPr>
        <p:txBody>
          <a:bodyPr rtlCol="0" anchor="ctr"/>
          <a:lstStyle/>
          <a:p>
            <a:endParaRPr lang="zh-CN" altLang="en-US"/>
          </a:p>
        </p:txBody>
      </p:sp>
      <p:grpSp>
        <p:nvGrpSpPr>
          <p:cNvPr id="14" name="组合 13"/>
          <p:cNvGrpSpPr/>
          <p:nvPr>
            <p:custDataLst>
              <p:tags r:id="rId2"/>
            </p:custDataLst>
          </p:nvPr>
        </p:nvGrpSpPr>
        <p:grpSpPr>
          <a:xfrm>
            <a:off x="0" y="4744778"/>
            <a:ext cx="5066665" cy="2120842"/>
            <a:chOff x="0" y="5477"/>
            <a:chExt cx="12744" cy="5335"/>
          </a:xfrm>
        </p:grpSpPr>
        <p:sp>
          <p:nvSpPr>
            <p:cNvPr id="23" name="任意多边形: 形状 22"/>
            <p:cNvSpPr/>
            <p:nvPr>
              <p:custDataLst>
                <p:tags r:id="rId12"/>
              </p:custDataLst>
            </p:nvPr>
          </p:nvSpPr>
          <p:spPr>
            <a:xfrm>
              <a:off x="2" y="5477"/>
              <a:ext cx="12742" cy="5335"/>
            </a:xfrm>
            <a:custGeom>
              <a:avLst/>
              <a:gdLst>
                <a:gd name="connsiteX0" fmla="*/ 0 w 7228154"/>
                <a:gd name="connsiteY0" fmla="*/ 0 h 4082474"/>
                <a:gd name="connsiteX1" fmla="*/ 0 w 7228154"/>
                <a:gd name="connsiteY1" fmla="*/ 4082475 h 4082474"/>
                <a:gd name="connsiteX2" fmla="*/ 7228154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4" y="4082475"/>
                  </a:lnTo>
                  <a:close/>
                </a:path>
              </a:pathLst>
            </a:custGeom>
            <a:solidFill>
              <a:schemeClr val="accent4"/>
            </a:solidFill>
            <a:ln w="6335" cap="flat">
              <a:noFill/>
              <a:prstDash val="solid"/>
              <a:miter/>
            </a:ln>
          </p:spPr>
          <p:txBody>
            <a:bodyPr rtlCol="0" anchor="ctr"/>
            <a:lstStyle/>
            <a:p>
              <a:endParaRPr lang="zh-CN" altLang="en-US" dirty="0"/>
            </a:p>
          </p:txBody>
        </p:sp>
        <p:sp>
          <p:nvSpPr>
            <p:cNvPr id="24" name="任意多边形: 形状 23"/>
            <p:cNvSpPr/>
            <p:nvPr>
              <p:custDataLst>
                <p:tags r:id="rId13"/>
              </p:custDataLst>
            </p:nvPr>
          </p:nvSpPr>
          <p:spPr>
            <a:xfrm>
              <a:off x="0" y="6151"/>
              <a:ext cx="11383" cy="4661"/>
            </a:xfrm>
            <a:custGeom>
              <a:avLst/>
              <a:gdLst>
                <a:gd name="connsiteX0" fmla="*/ 0 w 7228154"/>
                <a:gd name="connsiteY0" fmla="*/ 0 h 4082474"/>
                <a:gd name="connsiteX1" fmla="*/ 0 w 7228154"/>
                <a:gd name="connsiteY1" fmla="*/ 4082475 h 4082474"/>
                <a:gd name="connsiteX2" fmla="*/ 7228155 w 7228154"/>
                <a:gd name="connsiteY2" fmla="*/ 4082475 h 4082474"/>
              </a:gdLst>
              <a:ahLst/>
              <a:cxnLst>
                <a:cxn ang="0">
                  <a:pos x="connsiteX0" y="connsiteY0"/>
                </a:cxn>
                <a:cxn ang="0">
                  <a:pos x="connsiteX1" y="connsiteY1"/>
                </a:cxn>
                <a:cxn ang="0">
                  <a:pos x="connsiteX2" y="connsiteY2"/>
                </a:cxn>
              </a:cxnLst>
              <a:rect l="l" t="t" r="r" b="b"/>
              <a:pathLst>
                <a:path w="7228154" h="4082474">
                  <a:moveTo>
                    <a:pt x="0" y="0"/>
                  </a:moveTo>
                  <a:lnTo>
                    <a:pt x="0" y="4082475"/>
                  </a:lnTo>
                  <a:lnTo>
                    <a:pt x="7228155" y="4082475"/>
                  </a:lnTo>
                  <a:close/>
                </a:path>
              </a:pathLst>
            </a:custGeom>
            <a:solidFill>
              <a:schemeClr val="accent6"/>
            </a:solidFill>
            <a:ln w="6335" cap="flat">
              <a:noFill/>
              <a:prstDash val="solid"/>
              <a:miter/>
            </a:ln>
          </p:spPr>
          <p:txBody>
            <a:bodyPr rtlCol="0" anchor="ctr"/>
            <a:lstStyle/>
            <a:p>
              <a:endParaRPr lang="zh-CN" altLang="en-US" dirty="0"/>
            </a:p>
          </p:txBody>
        </p:sp>
      </p:grpSp>
      <p:sp>
        <p:nvSpPr>
          <p:cNvPr id="25" name="任意多边形: 形状 24"/>
          <p:cNvSpPr/>
          <p:nvPr>
            <p:custDataLst>
              <p:tags r:id="rId3"/>
            </p:custDataLst>
          </p:nvPr>
        </p:nvSpPr>
        <p:spPr>
          <a:xfrm>
            <a:off x="0" y="0"/>
            <a:ext cx="2552700" cy="4409440"/>
          </a:xfrm>
          <a:custGeom>
            <a:avLst/>
            <a:gdLst>
              <a:gd name="connsiteX0" fmla="*/ 0 w 7837895"/>
              <a:gd name="connsiteY0" fmla="*/ 4409530 h 4409529"/>
              <a:gd name="connsiteX1" fmla="*/ 0 w 7837895"/>
              <a:gd name="connsiteY1" fmla="*/ 0 h 4409529"/>
              <a:gd name="connsiteX2" fmla="*/ 7837896 w 7837895"/>
              <a:gd name="connsiteY2" fmla="*/ 0 h 4409529"/>
            </a:gdLst>
            <a:ahLst/>
            <a:cxnLst>
              <a:cxn ang="0">
                <a:pos x="connsiteX0" y="connsiteY0"/>
              </a:cxn>
              <a:cxn ang="0">
                <a:pos x="connsiteX1" y="connsiteY1"/>
              </a:cxn>
              <a:cxn ang="0">
                <a:pos x="connsiteX2" y="connsiteY2"/>
              </a:cxn>
            </a:cxnLst>
            <a:rect l="l" t="t" r="r" b="b"/>
            <a:pathLst>
              <a:path w="7837895" h="4409529">
                <a:moveTo>
                  <a:pt x="0" y="4409530"/>
                </a:moveTo>
                <a:lnTo>
                  <a:pt x="0" y="0"/>
                </a:lnTo>
                <a:lnTo>
                  <a:pt x="7837896" y="0"/>
                </a:lnTo>
                <a:close/>
              </a:path>
            </a:pathLst>
          </a:custGeom>
          <a:solidFill>
            <a:schemeClr val="accent1"/>
          </a:solidFill>
          <a:ln w="6335" cap="flat">
            <a:noFill/>
            <a:prstDash val="solid"/>
            <a:miter/>
          </a:ln>
        </p:spPr>
        <p:txBody>
          <a:bodyPr rtlCol="0" anchor="ctr"/>
          <a:lstStyle/>
          <a:p>
            <a:endParaRPr lang="zh-CN" altLang="en-US" dirty="0"/>
          </a:p>
        </p:txBody>
      </p:sp>
      <p:cxnSp>
        <p:nvCxnSpPr>
          <p:cNvPr id="26" name="直接连接符 25"/>
          <p:cNvCxnSpPr/>
          <p:nvPr>
            <p:custDataLst>
              <p:tags r:id="rId4"/>
            </p:custDataLst>
          </p:nvPr>
        </p:nvCxnSpPr>
        <p:spPr>
          <a:xfrm>
            <a:off x="2800732" y="3622040"/>
            <a:ext cx="65905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5"/>
            </p:custDataLst>
          </p:nvPr>
        </p:nvSpPr>
        <p:spPr>
          <a:xfrm>
            <a:off x="1755527" y="1331623"/>
            <a:ext cx="8680946" cy="2121978"/>
          </a:xfrm>
        </p:spPr>
        <p:txBody>
          <a:bodyPr lIns="90000" tIns="46800" rIns="90000" bIns="0" anchor="b" anchorCtr="0">
            <a:normAutofit/>
          </a:bodyPr>
          <a:lstStyle>
            <a:lvl1pPr algn="ctr">
              <a:defRPr sz="5400" spc="600" baseline="0">
                <a:solidFill>
                  <a:schemeClr val="tx1">
                    <a:lumMod val="75000"/>
                    <a:lumOff val="25000"/>
                  </a:schemeClr>
                </a:solidFill>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3" name="副标题 2"/>
          <p:cNvSpPr>
            <a:spLocks noGrp="1"/>
          </p:cNvSpPr>
          <p:nvPr>
            <p:ph type="subTitle" idx="1" hasCustomPrompt="1"/>
            <p:custDataLst>
              <p:tags r:id="rId6"/>
            </p:custDataLst>
          </p:nvPr>
        </p:nvSpPr>
        <p:spPr>
          <a:xfrm>
            <a:off x="2192655" y="3713619"/>
            <a:ext cx="7896859" cy="511698"/>
          </a:xfrm>
        </p:spPr>
        <p:txBody>
          <a:bodyPr lIns="90170" tIns="46990" rIns="90170" bIns="46990" anchor="ctr" anchorCtr="0">
            <a:normAutofit/>
          </a:bodyPr>
          <a:lstStyle>
            <a:lvl1pPr marL="0" indent="0" algn="ctr" eaLnBrk="1" fontAlgn="auto" latinLnBrk="0" hangingPunct="1">
              <a:lnSpc>
                <a:spcPct val="100000"/>
              </a:lnSpc>
              <a:buNone/>
              <a:defRPr sz="2400" u="none" strike="noStrike" kern="1200" cap="none" spc="200" normalizeH="0" baseline="0">
                <a:solidFill>
                  <a:schemeClr val="tx1">
                    <a:lumMod val="75000"/>
                    <a:lumOff val="2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7"/>
            </p:custDataLst>
          </p:nvPr>
        </p:nvSpPr>
        <p:spPr/>
        <p:txBody>
          <a:bodyPr/>
          <a:lstStyle/>
          <a:p>
            <a:fld id="{760FBDFE-C587-4B4C-A407-44438C67B59E}" type="datetimeFigureOut">
              <a:rPr lang="zh-CN" altLang="en-US" smtClean="0"/>
              <a:t>2024/3/3</a:t>
            </a:fld>
            <a:endParaRPr lang="zh-CN" altLang="en-US"/>
          </a:p>
        </p:txBody>
      </p:sp>
      <p:sp>
        <p:nvSpPr>
          <p:cNvPr id="17" name="页脚占位符 16"/>
          <p:cNvSpPr>
            <a:spLocks noGrp="1"/>
          </p:cNvSpPr>
          <p:nvPr>
            <p:ph type="ftr" sz="quarter" idx="11"/>
            <p:custDataLst>
              <p:tags r:id="rId8"/>
            </p:custDataLst>
          </p:nvPr>
        </p:nvSpPr>
        <p:spPr/>
        <p:txBody>
          <a:bodyPr/>
          <a:lstStyle/>
          <a:p>
            <a:endParaRPr lang="zh-CN" altLang="en-US" dirty="0"/>
          </a:p>
        </p:txBody>
      </p:sp>
      <p:sp>
        <p:nvSpPr>
          <p:cNvPr id="18" name="灯片编号占位符 17"/>
          <p:cNvSpPr>
            <a:spLocks noGrp="1"/>
          </p:cNvSpPr>
          <p:nvPr>
            <p:ph type="sldNum" sz="quarter" idx="12"/>
            <p:custDataLst>
              <p:tags r:id="rId9"/>
            </p:custDataLst>
          </p:nvPr>
        </p:nvSpPr>
        <p:spPr/>
        <p:txBody>
          <a:bodyPr/>
          <a:lstStyle/>
          <a:p>
            <a:fld id="{49AE70B2-8BF9-45C0-BB95-33D1B9D3A854}" type="slidenum">
              <a:rPr lang="zh-CN" altLang="en-US" smtClean="0"/>
              <a:t>‹#›</a:t>
            </a:fld>
            <a:endParaRPr lang="zh-CN" altLang="en-US" dirty="0"/>
          </a:p>
        </p:txBody>
      </p:sp>
      <p:sp>
        <p:nvSpPr>
          <p:cNvPr id="5" name="文本占位符 4"/>
          <p:cNvSpPr>
            <a:spLocks noGrp="1"/>
          </p:cNvSpPr>
          <p:nvPr>
            <p:ph type="body" sz="quarter" idx="13" hasCustomPrompt="1"/>
            <p:custDataLst>
              <p:tags r:id="rId10"/>
            </p:custDataLst>
          </p:nvPr>
        </p:nvSpPr>
        <p:spPr>
          <a:xfrm>
            <a:off x="2552700" y="4299889"/>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
        <p:nvSpPr>
          <p:cNvPr id="7" name="文本占位符 6"/>
          <p:cNvSpPr>
            <a:spLocks noGrp="1"/>
          </p:cNvSpPr>
          <p:nvPr>
            <p:ph type="body" sz="quarter" idx="14" hasCustomPrompt="1"/>
            <p:custDataLst>
              <p:tags r:id="rId11"/>
            </p:custDataLst>
          </p:nvPr>
        </p:nvSpPr>
        <p:spPr>
          <a:xfrm>
            <a:off x="2552700" y="4790718"/>
            <a:ext cx="7107238" cy="511698"/>
          </a:xfrm>
        </p:spPr>
        <p:txBody>
          <a:bodyPr lIns="90000" tIns="46800" rIns="90000" bIns="46800">
            <a:normAutofit/>
          </a:bodyPr>
          <a:lstStyle>
            <a:lvl1pPr marL="0" indent="0" algn="ctr">
              <a:buNone/>
              <a:defRPr sz="1800">
                <a:solidFill>
                  <a:schemeClr val="tx1">
                    <a:lumMod val="75000"/>
                    <a:lumOff val="25000"/>
                  </a:schemeClr>
                </a:solidFill>
              </a:defRPr>
            </a:lvl1pPr>
          </a:lstStyle>
          <a:p>
            <a:pPr lvl="0"/>
            <a:r>
              <a:rPr lang="zh-CN" altLang="en-US" dirty="0"/>
              <a:t>单击此处编辑文本</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69882" y="952508"/>
            <a:ext cx="10852237"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2024/3/3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bg>
      <p:bgPr>
        <a:solidFill>
          <a:schemeClr val="bg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1" y="0"/>
            <a:ext cx="4429387" cy="6858000"/>
          </a:xfrm>
          <a:prstGeom prst="rect">
            <a:avLst/>
          </a:prstGeom>
          <a:solidFill>
            <a:schemeClr val="accent1"/>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54" name="矩形 53"/>
          <p:cNvSpPr/>
          <p:nvPr>
            <p:custDataLst>
              <p:tags r:id="rId2"/>
            </p:custDataLst>
          </p:nvPr>
        </p:nvSpPr>
        <p:spPr>
          <a:xfrm rot="18900000">
            <a:off x="3955998" y="2955611"/>
            <a:ext cx="946777" cy="9467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custDataLst>
              <p:tags r:id="rId3"/>
            </p:custDataLst>
          </p:nvPr>
        </p:nvSpPr>
        <p:spPr>
          <a:xfrm rot="18900000">
            <a:off x="4227003" y="3226617"/>
            <a:ext cx="404767" cy="404767"/>
          </a:xfrm>
          <a:prstGeom prst="rect">
            <a:avLst/>
          </a:prstGeom>
          <a:solidFill>
            <a:schemeClr val="accent4"/>
          </a:solidFill>
          <a:ln>
            <a:noFill/>
          </a:ln>
        </p:spPr>
        <p:style>
          <a:lnRef idx="2">
            <a:srgbClr val="282928">
              <a:shade val="50000"/>
            </a:srgbClr>
          </a:lnRef>
          <a:fillRef idx="1">
            <a:srgbClr val="282928"/>
          </a:fillRef>
          <a:effectRef idx="0">
            <a:srgbClr val="282928"/>
          </a:effectRef>
          <a:fontRef idx="minor">
            <a:sysClr val="window" lastClr="FFFFFF"/>
          </a:fontRef>
        </p:style>
        <p:txBody>
          <a:bodyPr rtlCol="0" anchor="ctr"/>
          <a:lstStyle/>
          <a:p>
            <a:pPr algn="ctr"/>
            <a:endParaRPr lang="zh-CN" altLang="en-US"/>
          </a:p>
        </p:txBody>
      </p:sp>
      <p:sp>
        <p:nvSpPr>
          <p:cNvPr id="2" name="标题 1"/>
          <p:cNvSpPr>
            <a:spLocks noGrp="1"/>
          </p:cNvSpPr>
          <p:nvPr>
            <p:ph type="title" hasCustomPrompt="1"/>
            <p:custDataLst>
              <p:tags r:id="rId4"/>
            </p:custDataLst>
          </p:nvPr>
        </p:nvSpPr>
        <p:spPr>
          <a:xfrm>
            <a:off x="5310135" y="2170322"/>
            <a:ext cx="6015208" cy="2357611"/>
          </a:xfrm>
        </p:spPr>
        <p:txBody>
          <a:bodyPr lIns="90000" tIns="46800" rIns="90000" bIns="46800" anchor="ctr" anchorCtr="0">
            <a:normAutofit/>
          </a:bodyPr>
          <a:lstStyle>
            <a:lvl1pPr>
              <a:defRPr sz="7200" u="none" strike="noStrike" kern="1200" cap="none" spc="300" normalizeH="0" baseline="0">
                <a:solidFill>
                  <a:schemeClr val="tx1">
                    <a:lumMod val="75000"/>
                    <a:lumOff val="25000"/>
                  </a:schemeClr>
                </a:solidFill>
                <a:uFillTx/>
                <a:latin typeface="Arial" panose="020B0604020202020204" pitchFamily="34" charset="0"/>
                <a:ea typeface="汉仪旗黑-85S" panose="00020600040101010101" pitchFamily="18" charset="-122"/>
              </a:defRPr>
            </a:lvl1pPr>
          </a:lstStyle>
          <a:p>
            <a:r>
              <a:rPr lang="zh-CN" altLang="en-US" dirty="0"/>
              <a:t>单击此处编辑标题</a:t>
            </a:r>
          </a:p>
        </p:txBody>
      </p:sp>
      <p:sp>
        <p:nvSpPr>
          <p:cNvPr id="4" name="日期占位符 3"/>
          <p:cNvSpPr>
            <a:spLocks noGrp="1"/>
          </p:cNvSpPr>
          <p:nvPr>
            <p:ph type="dt" sz="half" idx="10"/>
            <p:custDataLst>
              <p:tags r:id="rId5"/>
            </p:custDataLst>
          </p:nvPr>
        </p:nvSpPr>
        <p:spPr/>
        <p:txBody>
          <a:bodyPr/>
          <a:lstStyle/>
          <a:p>
            <a:fld id="{760FBDFE-C587-4B4C-A407-44438C67B59E}" type="datetimeFigureOut">
              <a:rPr lang="zh-CN" altLang="en-US" smtClean="0"/>
              <a:t>2024/3/3</a:t>
            </a:fld>
            <a:endParaRPr lang="zh-CN" altLang="en-US"/>
          </a:p>
        </p:txBody>
      </p:sp>
      <p:sp>
        <p:nvSpPr>
          <p:cNvPr id="5" name="页脚占位符 4"/>
          <p:cNvSpPr>
            <a:spLocks noGrp="1"/>
          </p:cNvSpPr>
          <p:nvPr>
            <p:ph type="ftr" sz="quarter" idx="11"/>
            <p:custDataLst>
              <p:tags r:id="rId6"/>
            </p:custDataLst>
          </p:nvPr>
        </p:nvSpPr>
        <p:spPr/>
        <p:txBody>
          <a:bodyPr/>
          <a:lstStyle/>
          <a:p>
            <a:endParaRPr lang="zh-CN" altLang="en-US"/>
          </a:p>
        </p:txBody>
      </p:sp>
      <p:sp>
        <p:nvSpPr>
          <p:cNvPr id="6" name="灯片编号占位符 5"/>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69930" y="952508"/>
            <a:ext cx="5283242" cy="5388907"/>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238877" y="952508"/>
            <a:ext cx="5283242" cy="5388907"/>
          </a:xfrm>
        </p:spPr>
        <p:txBody>
          <a:bodyPr>
            <a:no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sz="1600" baseline="0">
                <a:solidFill>
                  <a:schemeClr val="tx1">
                    <a:lumMod val="85000"/>
                    <a:lumOff val="15000"/>
                  </a:schemeClr>
                </a:solidFill>
                <a:latin typeface="Arial" panose="020B0604020202020204" pitchFamily="34" charset="0"/>
                <a:ea typeface="微软雅黑" panose="020B0503020204020204" charset="-122"/>
              </a:defRPr>
            </a:lvl2pPr>
            <a:lvl3pPr>
              <a:defRPr sz="1600" baseline="0">
                <a:solidFill>
                  <a:schemeClr val="tx1">
                    <a:lumMod val="85000"/>
                    <a:lumOff val="15000"/>
                  </a:schemeClr>
                </a:solidFill>
                <a:latin typeface="Arial" panose="020B0604020202020204" pitchFamily="34" charset="0"/>
                <a:ea typeface="微软雅黑" panose="020B0503020204020204" charset="-122"/>
              </a:defRPr>
            </a:lvl3pPr>
            <a:lvl4pPr>
              <a:defRPr sz="1600" baseline="0">
                <a:solidFill>
                  <a:schemeClr val="tx1">
                    <a:lumMod val="85000"/>
                    <a:lumOff val="15000"/>
                  </a:schemeClr>
                </a:solidFill>
                <a:latin typeface="Arial" panose="020B0604020202020204" pitchFamily="34" charset="0"/>
                <a:ea typeface="微软雅黑" panose="020B0503020204020204" charset="-122"/>
              </a:defRPr>
            </a:lvl4pPr>
            <a:lvl5pPr>
              <a:defRPr sz="160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2024/3/3</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882"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69930" y="952508"/>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lumMod val="85000"/>
                    <a:lumOff val="15000"/>
                  </a:schemeClr>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69925" y="1406525"/>
            <a:ext cx="5283200"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952508"/>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406525"/>
            <a:ext cx="5283242" cy="4934752"/>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2024/3/3</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bg2"/>
        </a:solidFill>
        <a:effectLst/>
      </p:bgPr>
    </p:bg>
    <p:spTree>
      <p:nvGrpSpPr>
        <p:cNvPr id="1" name=""/>
        <p:cNvGrpSpPr/>
        <p:nvPr/>
      </p:nvGrpSpPr>
      <p:grpSpPr>
        <a:xfrm>
          <a:off x="0" y="0"/>
          <a:ext cx="0" cy="0"/>
          <a:chOff x="0" y="0"/>
          <a:chExt cx="0" cy="0"/>
        </a:xfrm>
      </p:grpSpPr>
      <p:grpSp>
        <p:nvGrpSpPr>
          <p:cNvPr id="6" name="图形 34"/>
          <p:cNvGrpSpPr/>
          <p:nvPr>
            <p:custDataLst>
              <p:tags r:id="rId1"/>
            </p:custDataLst>
          </p:nvPr>
        </p:nvGrpSpPr>
        <p:grpSpPr>
          <a:xfrm>
            <a:off x="9783683" y="0"/>
            <a:ext cx="2416749" cy="6869016"/>
            <a:chOff x="9761381" y="0"/>
            <a:chExt cx="2416749" cy="6869016"/>
          </a:xfrm>
          <a:solidFill>
            <a:srgbClr val="0894A5"/>
          </a:solidFill>
        </p:grpSpPr>
        <p:sp>
          <p:nvSpPr>
            <p:cNvPr id="7" name="任意多边形: 形状 3"/>
            <p:cNvSpPr/>
            <p:nvPr>
              <p:custDataLst>
                <p:tags r:id="rId7"/>
              </p:custDataLst>
            </p:nvPr>
          </p:nvSpPr>
          <p:spPr>
            <a:xfrm>
              <a:off x="9761381"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4"/>
            </a:solidFill>
            <a:ln w="6325" cap="flat">
              <a:noFill/>
              <a:prstDash val="solid"/>
              <a:miter/>
            </a:ln>
          </p:spPr>
          <p:txBody>
            <a:bodyPr rtlCol="0" anchor="ctr"/>
            <a:lstStyle/>
            <a:p>
              <a:endParaRPr lang="zh-CN" altLang="en-US"/>
            </a:p>
          </p:txBody>
        </p:sp>
        <p:sp>
          <p:nvSpPr>
            <p:cNvPr id="8" name="任意多边形: 形状 4"/>
            <p:cNvSpPr/>
            <p:nvPr>
              <p:custDataLst>
                <p:tags r:id="rId8"/>
              </p:custDataLst>
            </p:nvPr>
          </p:nvSpPr>
          <p:spPr>
            <a:xfrm>
              <a:off x="10019506" y="0"/>
              <a:ext cx="2158624" cy="4069248"/>
            </a:xfrm>
            <a:custGeom>
              <a:avLst/>
              <a:gdLst>
                <a:gd name="connsiteX0" fmla="*/ 2158625 w 2158624"/>
                <a:gd name="connsiteY0" fmla="*/ 4069249 h 4069248"/>
                <a:gd name="connsiteX1" fmla="*/ 2158625 w 2158624"/>
                <a:gd name="connsiteY1" fmla="*/ 0 h 4069248"/>
                <a:gd name="connsiteX2" fmla="*/ 0 w 2158624"/>
                <a:gd name="connsiteY2" fmla="*/ 0 h 4069248"/>
              </a:gdLst>
              <a:ahLst/>
              <a:cxnLst>
                <a:cxn ang="0">
                  <a:pos x="connsiteX0" y="connsiteY0"/>
                </a:cxn>
                <a:cxn ang="0">
                  <a:pos x="connsiteX1" y="connsiteY1"/>
                </a:cxn>
                <a:cxn ang="0">
                  <a:pos x="connsiteX2" y="connsiteY2"/>
                </a:cxn>
              </a:cxnLst>
              <a:rect l="l" t="t" r="r" b="b"/>
              <a:pathLst>
                <a:path w="2158624" h="4069248">
                  <a:moveTo>
                    <a:pt x="2158625" y="4069249"/>
                  </a:moveTo>
                  <a:lnTo>
                    <a:pt x="2158625" y="0"/>
                  </a:lnTo>
                  <a:lnTo>
                    <a:pt x="0" y="0"/>
                  </a:lnTo>
                  <a:close/>
                </a:path>
              </a:pathLst>
            </a:custGeom>
            <a:solidFill>
              <a:schemeClr val="accent6"/>
            </a:solidFill>
            <a:ln w="6325" cap="flat">
              <a:noFill/>
              <a:prstDash val="solid"/>
              <a:miter/>
            </a:ln>
          </p:spPr>
          <p:txBody>
            <a:bodyPr rtlCol="0" anchor="ctr"/>
            <a:lstStyle/>
            <a:p>
              <a:endParaRPr lang="zh-CN" altLang="en-US" dirty="0"/>
            </a:p>
          </p:txBody>
        </p:sp>
        <p:sp>
          <p:nvSpPr>
            <p:cNvPr id="9" name="任意多边形: 形状 5"/>
            <p:cNvSpPr/>
            <p:nvPr>
              <p:custDataLst>
                <p:tags r:id="rId9"/>
              </p:custDataLst>
            </p:nvPr>
          </p:nvSpPr>
          <p:spPr>
            <a:xfrm>
              <a:off x="9837300" y="2473317"/>
              <a:ext cx="2340830" cy="4395699"/>
            </a:xfrm>
            <a:custGeom>
              <a:avLst/>
              <a:gdLst>
                <a:gd name="connsiteX0" fmla="*/ 2340830 w 2340830"/>
                <a:gd name="connsiteY0" fmla="*/ 0 h 4395699"/>
                <a:gd name="connsiteX1" fmla="*/ 2340830 w 2340830"/>
                <a:gd name="connsiteY1" fmla="*/ 4395700 h 4395699"/>
                <a:gd name="connsiteX2" fmla="*/ 0 w 2340830"/>
                <a:gd name="connsiteY2" fmla="*/ 4395700 h 4395699"/>
              </a:gdLst>
              <a:ahLst/>
              <a:cxnLst>
                <a:cxn ang="0">
                  <a:pos x="connsiteX0" y="connsiteY0"/>
                </a:cxn>
                <a:cxn ang="0">
                  <a:pos x="connsiteX1" y="connsiteY1"/>
                </a:cxn>
                <a:cxn ang="0">
                  <a:pos x="connsiteX2" y="connsiteY2"/>
                </a:cxn>
              </a:cxnLst>
              <a:rect l="l" t="t" r="r" b="b"/>
              <a:pathLst>
                <a:path w="2340830" h="4395699">
                  <a:moveTo>
                    <a:pt x="2340830" y="0"/>
                  </a:moveTo>
                  <a:lnTo>
                    <a:pt x="2340830" y="4395700"/>
                  </a:lnTo>
                  <a:lnTo>
                    <a:pt x="0" y="4395700"/>
                  </a:lnTo>
                  <a:close/>
                </a:path>
              </a:pathLst>
            </a:custGeom>
            <a:solidFill>
              <a:schemeClr val="accent1"/>
            </a:solidFill>
            <a:ln w="6325" cap="flat">
              <a:noFill/>
              <a:prstDash val="solid"/>
              <a:miter/>
            </a:ln>
          </p:spPr>
          <p:txBody>
            <a:bodyPr rtlCol="0" anchor="ctr"/>
            <a:lstStyle/>
            <a:p>
              <a:endParaRPr lang="zh-CN" altLang="en-US"/>
            </a:p>
          </p:txBody>
        </p:sp>
      </p:grpSp>
      <p:sp>
        <p:nvSpPr>
          <p:cNvPr id="10" name="任意多边形: 形状 6"/>
          <p:cNvSpPr/>
          <p:nvPr>
            <p:custDataLst>
              <p:tags r:id="rId2"/>
            </p:custDataLst>
          </p:nvPr>
        </p:nvSpPr>
        <p:spPr>
          <a:xfrm>
            <a:off x="0" y="5755540"/>
            <a:ext cx="965434" cy="1113476"/>
          </a:xfrm>
          <a:custGeom>
            <a:avLst/>
            <a:gdLst>
              <a:gd name="connsiteX0" fmla="*/ 0 w 965434"/>
              <a:gd name="connsiteY0" fmla="*/ 0 h 1113476"/>
              <a:gd name="connsiteX1" fmla="*/ 0 w 965434"/>
              <a:gd name="connsiteY1" fmla="*/ 1113476 h 1113476"/>
              <a:gd name="connsiteX2" fmla="*/ 965434 w 965434"/>
              <a:gd name="connsiteY2" fmla="*/ 1113476 h 1113476"/>
            </a:gdLst>
            <a:ahLst/>
            <a:cxnLst>
              <a:cxn ang="0">
                <a:pos x="connsiteX0" y="connsiteY0"/>
              </a:cxn>
              <a:cxn ang="0">
                <a:pos x="connsiteX1" y="connsiteY1"/>
              </a:cxn>
              <a:cxn ang="0">
                <a:pos x="connsiteX2" y="connsiteY2"/>
              </a:cxn>
            </a:cxnLst>
            <a:rect l="l" t="t" r="r" b="b"/>
            <a:pathLst>
              <a:path w="965434" h="1113476">
                <a:moveTo>
                  <a:pt x="0" y="0"/>
                </a:moveTo>
                <a:lnTo>
                  <a:pt x="0" y="1113476"/>
                </a:lnTo>
                <a:lnTo>
                  <a:pt x="965434" y="1113476"/>
                </a:lnTo>
                <a:close/>
              </a:path>
            </a:pathLst>
          </a:custGeom>
          <a:solidFill>
            <a:schemeClr val="accent1">
              <a:lumMod val="50000"/>
            </a:schemeClr>
          </a:solidFill>
          <a:ln w="6325" cap="flat">
            <a:noFill/>
            <a:prstDash val="solid"/>
            <a:miter/>
          </a:ln>
        </p:spPr>
        <p:txBody>
          <a:bodyPr rtlCol="0" anchor="ctr"/>
          <a:lstStyle/>
          <a:p>
            <a:endParaRPr lang="zh-CN" altLang="en-US"/>
          </a:p>
        </p:txBody>
      </p:sp>
      <p:sp>
        <p:nvSpPr>
          <p:cNvPr id="2" name="标题 1"/>
          <p:cNvSpPr>
            <a:spLocks noGrp="1"/>
          </p:cNvSpPr>
          <p:nvPr>
            <p:ph type="title"/>
            <p:custDataLst>
              <p:tags r:id="rId3"/>
            </p:custDataLst>
          </p:nvPr>
        </p:nvSpPr>
        <p:spPr/>
        <p:txBody>
          <a:bodyPr vert="horz" lIns="90170" tIns="46990" rIns="90170" bIns="46990" rtlCol="0" anchor="t"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2024/3/3</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bg2"/>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2024/3/3</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bg2"/>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lumMod val="85000"/>
                    <a:lumOff val="15000"/>
                  </a:schemeClr>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p>
        </p:txBody>
      </p:sp>
      <p:sp>
        <p:nvSpPr>
          <p:cNvPr id="3" name="竖排文字占位符 2"/>
          <p:cNvSpPr>
            <a:spLocks noGrp="1"/>
          </p:cNvSpPr>
          <p:nvPr>
            <p:ph type="body" orient="vert" idx="1"/>
            <p:custDataLst>
              <p:tags r:id="rId2"/>
            </p:custDataLst>
          </p:nvPr>
        </p:nvSpPr>
        <p:spPr>
          <a:xfrm>
            <a:off x="669925" y="952500"/>
            <a:ext cx="9828101" cy="5388907"/>
          </a:xfrm>
        </p:spPr>
        <p:txBody>
          <a:bodyPr vert="eaVert"/>
          <a:lstStyle>
            <a:lvl1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1pPr>
            <a:lvl2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2pPr>
            <a:lvl3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3pPr>
            <a:lvl4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4pPr>
            <a:lvl5pPr indent="0" eaLnBrk="1" fontAlgn="auto" latinLnBrk="0" hangingPunct="1">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2024/3/3</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bg2"/>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69930" y="952508"/>
            <a:ext cx="10852237" cy="5388907"/>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bg2"/>
        </a:solidFill>
        <a:effectLst/>
      </p:bgPr>
    </p:bg>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73660" y="4859655"/>
            <a:ext cx="5760085" cy="1998345"/>
            <a:chOff x="4151937" y="5109029"/>
            <a:chExt cx="2721846" cy="944356"/>
          </a:xfrm>
        </p:grpSpPr>
        <p:sp>
          <p:nvSpPr>
            <p:cNvPr id="13" name="等腰三角形 12"/>
            <p:cNvSpPr/>
            <p:nvPr>
              <p:custDataLst>
                <p:tags r:id="rId16"/>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14" name="等腰三角形 13"/>
            <p:cNvSpPr/>
            <p:nvPr>
              <p:custDataLst>
                <p:tags r:id="rId17"/>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0" name="等腰三角形 19"/>
            <p:cNvSpPr/>
            <p:nvPr>
              <p:custDataLst>
                <p:tags r:id="rId18"/>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2" name="等腰三角形 21"/>
            <p:cNvSpPr/>
            <p:nvPr>
              <p:custDataLst>
                <p:tags r:id="rId19"/>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23" name="等腰三角形 22"/>
            <p:cNvSpPr/>
            <p:nvPr>
              <p:custDataLst>
                <p:tags r:id="rId20"/>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4" name="等腰三角形 23"/>
            <p:cNvSpPr/>
            <p:nvPr>
              <p:custDataLst>
                <p:tags r:id="rId21"/>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5" name="等腰三角形 24"/>
            <p:cNvSpPr/>
            <p:nvPr>
              <p:custDataLst>
                <p:tags r:id="rId22"/>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6" name="等腰三角形 25"/>
            <p:cNvSpPr/>
            <p:nvPr>
              <p:custDataLst>
                <p:tags r:id="rId23"/>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27" name="等腰三角形 26"/>
            <p:cNvSpPr/>
            <p:nvPr>
              <p:custDataLst>
                <p:tags r:id="rId24"/>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grpSp>
        <p:nvGrpSpPr>
          <p:cNvPr id="28" name="组合 27"/>
          <p:cNvGrpSpPr/>
          <p:nvPr>
            <p:custDataLst>
              <p:tags r:id="rId2"/>
            </p:custDataLst>
          </p:nvPr>
        </p:nvGrpSpPr>
        <p:grpSpPr>
          <a:xfrm rot="10800000">
            <a:off x="6449060" y="0"/>
            <a:ext cx="5737860" cy="1990725"/>
            <a:chOff x="4151937" y="5109029"/>
            <a:chExt cx="2721846" cy="944356"/>
          </a:xfrm>
        </p:grpSpPr>
        <p:sp>
          <p:nvSpPr>
            <p:cNvPr id="29" name="等腰三角形 28"/>
            <p:cNvSpPr/>
            <p:nvPr>
              <p:custDataLst>
                <p:tags r:id="rId7"/>
              </p:custDataLst>
            </p:nvPr>
          </p:nvSpPr>
          <p:spPr>
            <a:xfrm>
              <a:off x="4565168" y="5109029"/>
              <a:ext cx="1912727" cy="944356"/>
            </a:xfrm>
            <a:prstGeom prst="triangle">
              <a:avLst/>
            </a:prstGeom>
            <a:solidFill>
              <a:schemeClr val="accent6"/>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dirty="0"/>
            </a:p>
          </p:txBody>
        </p:sp>
        <p:sp>
          <p:nvSpPr>
            <p:cNvPr id="30" name="等腰三角形 29"/>
            <p:cNvSpPr/>
            <p:nvPr>
              <p:custDataLst>
                <p:tags r:id="rId8"/>
              </p:custDataLst>
            </p:nvPr>
          </p:nvSpPr>
          <p:spPr>
            <a:xfrm>
              <a:off x="5562405" y="5405929"/>
              <a:ext cx="1311378" cy="647456"/>
            </a:xfrm>
            <a:prstGeom prst="triangle">
              <a:avLst/>
            </a:prstGeom>
            <a:solidFill>
              <a:schemeClr val="accent1">
                <a:alpha val="92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1" name="等腰三角形 30"/>
            <p:cNvSpPr/>
            <p:nvPr>
              <p:custDataLst>
                <p:tags r:id="rId9"/>
              </p:custDataLst>
            </p:nvPr>
          </p:nvSpPr>
          <p:spPr>
            <a:xfrm>
              <a:off x="4786508" y="5720585"/>
              <a:ext cx="674063" cy="33280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2" name="等腰三角形 31"/>
            <p:cNvSpPr/>
            <p:nvPr>
              <p:custDataLst>
                <p:tags r:id="rId10"/>
              </p:custDataLst>
            </p:nvPr>
          </p:nvSpPr>
          <p:spPr>
            <a:xfrm>
              <a:off x="4151937" y="5645342"/>
              <a:ext cx="826463" cy="408043"/>
            </a:xfrm>
            <a:prstGeom prst="triangle">
              <a:avLst/>
            </a:prstGeom>
            <a:solidFill>
              <a:schemeClr val="accent4">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3" name="等腰三角形 32"/>
            <p:cNvSpPr/>
            <p:nvPr>
              <p:custDataLst>
                <p:tags r:id="rId11"/>
              </p:custDataLst>
            </p:nvPr>
          </p:nvSpPr>
          <p:spPr>
            <a:xfrm>
              <a:off x="6313124" y="5516676"/>
              <a:ext cx="266605" cy="131629"/>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4" name="等腰三角形 33"/>
            <p:cNvSpPr/>
            <p:nvPr>
              <p:custDataLst>
                <p:tags r:id="rId12"/>
              </p:custDataLst>
            </p:nvPr>
          </p:nvSpPr>
          <p:spPr>
            <a:xfrm>
              <a:off x="5572277" y="5720585"/>
              <a:ext cx="431377" cy="212981"/>
            </a:xfrm>
            <a:prstGeom prst="triangle">
              <a:avLst/>
            </a:prstGeom>
            <a:solidFill>
              <a:schemeClr val="accent5"/>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5" name="等腰三角形 34"/>
            <p:cNvSpPr/>
            <p:nvPr>
              <p:custDataLst>
                <p:tags r:id="rId13"/>
              </p:custDataLst>
            </p:nvPr>
          </p:nvSpPr>
          <p:spPr>
            <a:xfrm>
              <a:off x="5618478" y="5234511"/>
              <a:ext cx="169487" cy="83680"/>
            </a:xfrm>
            <a:prstGeom prst="triangle">
              <a:avLst/>
            </a:prstGeom>
            <a:solidFill>
              <a:schemeClr val="accent1">
                <a:lumMod val="5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6" name="等腰三角形 35"/>
            <p:cNvSpPr/>
            <p:nvPr>
              <p:custDataLst>
                <p:tags r:id="rId14"/>
              </p:custDataLst>
            </p:nvPr>
          </p:nvSpPr>
          <p:spPr>
            <a:xfrm>
              <a:off x="4565168" y="5348993"/>
              <a:ext cx="266605" cy="131629"/>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sp>
          <p:nvSpPr>
            <p:cNvPr id="37" name="等腰三角形 36"/>
            <p:cNvSpPr/>
            <p:nvPr>
              <p:custDataLst>
                <p:tags r:id="rId15"/>
              </p:custDataLst>
            </p:nvPr>
          </p:nvSpPr>
          <p:spPr>
            <a:xfrm>
              <a:off x="4202503" y="5803305"/>
              <a:ext cx="169487" cy="83680"/>
            </a:xfrm>
            <a:prstGeom prst="triangle">
              <a:avLst/>
            </a:prstGeom>
            <a:solidFill>
              <a:schemeClr val="accent2">
                <a:lumMod val="60000"/>
                <a:lumOff val="40000"/>
              </a:schemeClr>
            </a:solidFill>
            <a:ln>
              <a:noFill/>
            </a:ln>
          </p:spPr>
          <p:style>
            <a:lnRef idx="2">
              <a:srgbClr val="3FC1E0">
                <a:shade val="50000"/>
              </a:srgbClr>
            </a:lnRef>
            <a:fillRef idx="1">
              <a:srgbClr val="3FC1E0"/>
            </a:fillRef>
            <a:effectRef idx="0">
              <a:srgbClr val="3FC1E0"/>
            </a:effectRef>
            <a:fontRef idx="minor">
              <a:srgbClr val="FFFFFF"/>
            </a:fontRef>
          </p:style>
          <p:txBody>
            <a:bodyPr rtlCol="0" anchor="ctr"/>
            <a:lstStyle/>
            <a:p>
              <a:pPr algn="ctr"/>
              <a:endParaRPr lang="zh-CN" altLang="en-US"/>
            </a:p>
          </p:txBody>
        </p:sp>
      </p:grpSp>
      <p:sp>
        <p:nvSpPr>
          <p:cNvPr id="2" name="标题 1"/>
          <p:cNvSpPr>
            <a:spLocks noGrp="1"/>
          </p:cNvSpPr>
          <p:nvPr>
            <p:ph type="title" hasCustomPrompt="1"/>
            <p:custDataLst>
              <p:tags r:id="rId3"/>
            </p:custDataLst>
          </p:nvPr>
        </p:nvSpPr>
        <p:spPr>
          <a:xfrm>
            <a:off x="2793365" y="2295525"/>
            <a:ext cx="6605270" cy="1950085"/>
          </a:xfrm>
        </p:spPr>
        <p:txBody>
          <a:bodyPr vert="horz" lIns="90170" tIns="46990" rIns="90170" bIns="46990" rtlCol="0" anchor="ctr" anchorCtr="0">
            <a:normAutofit/>
          </a:bodyPr>
          <a:lstStyle>
            <a:lvl1pPr marL="0" marR="0" algn="ctr" defTabSz="914400" rtl="0" eaLnBrk="1" fontAlgn="auto" latinLnBrk="0" hangingPunct="1">
              <a:lnSpc>
                <a:spcPct val="100000"/>
              </a:lnSpc>
              <a:buNone/>
              <a:defRPr kumimoji="0" lang="zh-CN" altLang="en-US" sz="9600" b="1" i="0" u="none" strike="noStrike" kern="1200" cap="none" spc="600" normalizeH="0" baseline="0" noProof="1" dirty="0">
                <a:solidFill>
                  <a:schemeClr val="tx1">
                    <a:lumMod val="75000"/>
                    <a:lumOff val="25000"/>
                  </a:schemeClr>
                </a:solidFill>
                <a:uFillTx/>
                <a:latin typeface="Arial" panose="020B0604020202020204" pitchFamily="34" charset="0"/>
                <a:ea typeface="汉仪旗黑-85S" panose="00020600040101010101" pitchFamily="18" charset="-122"/>
                <a:cs typeface="+mj-cs"/>
                <a:sym typeface="+mn-ea"/>
              </a:defRPr>
            </a:lvl1pPr>
          </a:lstStyle>
          <a:p>
            <a:pPr lvl="0"/>
            <a:r>
              <a:rPr dirty="0">
                <a:sym typeface="+mn-ea"/>
              </a:rPr>
              <a:t>编辑标题</a:t>
            </a:r>
          </a:p>
        </p:txBody>
      </p:sp>
      <p:sp>
        <p:nvSpPr>
          <p:cNvPr id="3" name="日期占位符 2"/>
          <p:cNvSpPr>
            <a:spLocks noGrp="1"/>
          </p:cNvSpPr>
          <p:nvPr>
            <p:ph type="dt" sz="half" idx="10"/>
            <p:custDataLst>
              <p:tags r:id="rId4"/>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5"/>
            </p:custDataLst>
          </p:nvPr>
        </p:nvSpPr>
        <p:spPr/>
        <p:txBody>
          <a:bodyPr/>
          <a:lstStyle/>
          <a:p>
            <a:endParaRPr lang="zh-CN" altLang="en-US"/>
          </a:p>
        </p:txBody>
      </p:sp>
      <p:sp>
        <p:nvSpPr>
          <p:cNvPr id="5" name="灯片编号占位符 4"/>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bg2"/>
        </a:solidFill>
        <a:effectLst/>
      </p:bgPr>
    </p:bg>
    <p:spTree>
      <p:nvGrpSpPr>
        <p:cNvPr id="1" name=""/>
        <p:cNvGrpSpPr/>
        <p:nvPr/>
      </p:nvGrpSpPr>
      <p:grpSpPr>
        <a:xfrm>
          <a:off x="0" y="0"/>
          <a:ext cx="0" cy="0"/>
          <a:chOff x="0" y="0"/>
          <a:chExt cx="0" cy="0"/>
        </a:xfrm>
      </p:grpSpPr>
      <p:sp>
        <p:nvSpPr>
          <p:cNvPr id="9" name="任意多边形: 形状 3"/>
          <p:cNvSpPr/>
          <p:nvPr>
            <p:custDataLst>
              <p:tags r:id="rId1"/>
            </p:custDataLst>
          </p:nvPr>
        </p:nvSpPr>
        <p:spPr>
          <a:xfrm>
            <a:off x="4930775" y="6114415"/>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0" name="任意多边形: 形状 4"/>
          <p:cNvSpPr/>
          <p:nvPr>
            <p:custDataLst>
              <p:tags r:id="rId2"/>
            </p:custDataLst>
          </p:nvPr>
        </p:nvSpPr>
        <p:spPr>
          <a:xfrm>
            <a:off x="4930775" y="6193790"/>
            <a:ext cx="7261225" cy="66421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1" name="任意多边形: 形状 7"/>
          <p:cNvSpPr/>
          <p:nvPr>
            <p:custDataLst>
              <p:tags r:id="rId3"/>
            </p:custDataLst>
          </p:nvPr>
        </p:nvSpPr>
        <p:spPr>
          <a:xfrm>
            <a:off x="0" y="6148705"/>
            <a:ext cx="7843520" cy="72009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2" name="标题 1"/>
          <p:cNvSpPr>
            <a:spLocks noGrp="1"/>
          </p:cNvSpPr>
          <p:nvPr>
            <p:ph type="title"/>
            <p:custDataLst>
              <p:tags r:id="rId4"/>
            </p:custDataLst>
          </p:nvPr>
        </p:nvSpPr>
        <p:spPr/>
        <p:txBody>
          <a:bodyPr/>
          <a:lstStyle>
            <a:lvl1pPr>
              <a:defRPr baseline="0">
                <a:latin typeface="微软雅黑" panose="020B0503020204020204" charset="-122"/>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8" name="矩形 7"/>
          <p:cNvSpPr/>
          <p:nvPr>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任意多边形 15"/>
          <p:cNvSpPr/>
          <p:nvPr>
            <p:custDataLst>
              <p:tags r:id="rId2"/>
            </p:custDataLst>
          </p:nvPr>
        </p:nvSpPr>
        <p:spPr>
          <a:xfrm rot="8220000">
            <a:off x="-495300" y="549275"/>
            <a:ext cx="1016635" cy="1052195"/>
          </a:xfrm>
          <a:custGeom>
            <a:avLst/>
            <a:gdLst/>
            <a:ahLst/>
            <a:cxnLst>
              <a:cxn ang="3">
                <a:pos x="hc" y="t"/>
              </a:cxn>
              <a:cxn ang="cd2">
                <a:pos x="l" y="vc"/>
              </a:cxn>
              <a:cxn ang="cd4">
                <a:pos x="hc" y="b"/>
              </a:cxn>
              <a:cxn ang="0">
                <a:pos x="r" y="vc"/>
              </a:cxn>
            </a:cxnLst>
            <a:rect l="l" t="t" r="r" b="b"/>
            <a:pathLst>
              <a:path w="1090" h="1128">
                <a:moveTo>
                  <a:pt x="0" y="0"/>
                </a:moveTo>
                <a:lnTo>
                  <a:pt x="1090" y="0"/>
                </a:lnTo>
                <a:lnTo>
                  <a:pt x="38" y="1128"/>
                </a:lnTo>
                <a:lnTo>
                  <a:pt x="0" y="1128"/>
                </a:lnTo>
                <a:lnTo>
                  <a:pt x="0"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nvGrpSpPr>
          <p:cNvPr id="11" name="组合 10"/>
          <p:cNvGrpSpPr/>
          <p:nvPr>
            <p:custDataLst>
              <p:tags r:id="rId3"/>
            </p:custDataLst>
          </p:nvPr>
        </p:nvGrpSpPr>
        <p:grpSpPr>
          <a:xfrm>
            <a:off x="11292205" y="4382135"/>
            <a:ext cx="899160" cy="2477770"/>
            <a:chOff x="17783" y="6171"/>
            <a:chExt cx="1416" cy="4632"/>
          </a:xfrm>
        </p:grpSpPr>
        <p:sp>
          <p:nvSpPr>
            <p:cNvPr id="12" name="任意多边形 11"/>
            <p:cNvSpPr/>
            <p:nvPr>
              <p:custDataLst>
                <p:tags r:id="rId9"/>
              </p:custDataLst>
            </p:nvPr>
          </p:nvSpPr>
          <p:spPr>
            <a:xfrm>
              <a:off x="17783" y="664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6"/>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sp>
          <p:nvSpPr>
            <p:cNvPr id="13" name="任意多边形 11"/>
            <p:cNvSpPr/>
            <p:nvPr>
              <p:custDataLst>
                <p:tags r:id="rId10"/>
              </p:custDataLst>
            </p:nvPr>
          </p:nvSpPr>
          <p:spPr>
            <a:xfrm>
              <a:off x="17783" y="6171"/>
              <a:ext cx="1417" cy="4162"/>
            </a:xfrm>
            <a:custGeom>
              <a:avLst/>
              <a:gdLst>
                <a:gd name="ir" fmla="*/ w 3 4"/>
                <a:gd name="ib" fmla="*/ h 3 4"/>
              </a:gdLst>
              <a:ahLst/>
              <a:cxnLst>
                <a:cxn ang="3">
                  <a:pos x="hc" y="t"/>
                </a:cxn>
                <a:cxn ang="cd2">
                  <a:pos x="l" y="vc"/>
                </a:cxn>
                <a:cxn ang="cd4">
                  <a:pos x="hc" y="b"/>
                </a:cxn>
                <a:cxn ang="0">
                  <a:pos x="r" y="vc"/>
                </a:cxn>
              </a:cxnLst>
              <a:rect l="l" t="t" r="r" b="b"/>
              <a:pathLst>
                <a:path w="3741" h="7481">
                  <a:moveTo>
                    <a:pt x="3741" y="0"/>
                  </a:moveTo>
                  <a:lnTo>
                    <a:pt x="3741" y="1"/>
                  </a:lnTo>
                  <a:lnTo>
                    <a:pt x="3741" y="7481"/>
                  </a:lnTo>
                  <a:lnTo>
                    <a:pt x="3741" y="7481"/>
                  </a:lnTo>
                  <a:lnTo>
                    <a:pt x="0" y="3741"/>
                  </a:lnTo>
                  <a:lnTo>
                    <a:pt x="3741" y="0"/>
                  </a:lnTo>
                  <a:close/>
                </a:path>
              </a:pathLst>
            </a:custGeom>
            <a:solidFill>
              <a:schemeClr val="accent1"/>
            </a:solidFill>
            <a:ln>
              <a:noFill/>
            </a:ln>
          </p:spPr>
          <p:style>
            <a:lnRef idx="2">
              <a:srgbClr val="0894A5">
                <a:shade val="50000"/>
              </a:srgbClr>
            </a:lnRef>
            <a:fillRef idx="1">
              <a:srgbClr val="0894A5"/>
            </a:fillRef>
            <a:effectRef idx="0">
              <a:srgbClr val="0894A5"/>
            </a:effectRef>
            <a:fontRef idx="minor">
              <a:sysClr val="window" lastClr="FFFFFF"/>
            </a:fontRef>
          </p:style>
          <p:txBody>
            <a:bodyPr wrap="square" rtlCol="0" anchor="ctr">
              <a:noAutofit/>
            </a:bodyPr>
            <a:lstStyle/>
            <a:p>
              <a:pPr algn="ctr"/>
              <a:endParaRPr lang="zh-CN" altLang="en-US"/>
            </a:p>
          </p:txBody>
        </p:sp>
      </p:grpSp>
      <p:sp>
        <p:nvSpPr>
          <p:cNvPr id="2" name="标题 1"/>
          <p:cNvSpPr>
            <a:spLocks noGrp="1"/>
          </p:cNvSpPr>
          <p:nvPr>
            <p:ph type="title" hasCustomPrompt="1"/>
            <p:custDataLst>
              <p:tags r:id="rId4"/>
            </p:custDataLst>
          </p:nvPr>
        </p:nvSpPr>
        <p:spPr>
          <a:xfrm>
            <a:off x="1281600" y="1249200"/>
            <a:ext cx="9626400" cy="723600"/>
          </a:xfrm>
        </p:spPr>
        <p:txBody>
          <a:bodyPr anchor="ctr">
            <a:normAutofit/>
          </a:bodyPr>
          <a:lstStyle>
            <a:lvl1pP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bg2"/>
        </a:solidFill>
        <a:effectLst/>
      </p:bgPr>
    </p:bg>
    <p:spTree>
      <p:nvGrpSpPr>
        <p:cNvPr id="1" name=""/>
        <p:cNvGrpSpPr/>
        <p:nvPr/>
      </p:nvGrpSpPr>
      <p:grpSpPr>
        <a:xfrm>
          <a:off x="0" y="0"/>
          <a:ext cx="0" cy="0"/>
          <a:chOff x="0" y="0"/>
          <a:chExt cx="0" cy="0"/>
        </a:xfrm>
      </p:grpSpPr>
      <p:grpSp>
        <p:nvGrpSpPr>
          <p:cNvPr id="11" name="组合 10"/>
          <p:cNvGrpSpPr/>
          <p:nvPr>
            <p:custDataLst>
              <p:tags r:id="rId1"/>
            </p:custDataLst>
          </p:nvPr>
        </p:nvGrpSpPr>
        <p:grpSpPr>
          <a:xfrm>
            <a:off x="7926070" y="6221730"/>
            <a:ext cx="4265930" cy="640080"/>
            <a:chOff x="6681" y="8932"/>
            <a:chExt cx="12521" cy="1880"/>
          </a:xfrm>
        </p:grpSpPr>
        <p:sp>
          <p:nvSpPr>
            <p:cNvPr id="12"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3"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14" name="任意多边形: 形状 9"/>
          <p:cNvSpPr/>
          <p:nvPr>
            <p:custDataLst>
              <p:tags r:id="rId2"/>
            </p:custDataLst>
          </p:nvPr>
        </p:nvSpPr>
        <p:spPr>
          <a:xfrm>
            <a:off x="11525250" y="0"/>
            <a:ext cx="666750" cy="769620"/>
          </a:xfrm>
          <a:custGeom>
            <a:avLst/>
            <a:gdLst>
              <a:gd name="connsiteX0" fmla="*/ 969010 w 969009"/>
              <a:gd name="connsiteY0" fmla="*/ 1117600 h 1117600"/>
              <a:gd name="connsiteX1" fmla="*/ 969010 w 969009"/>
              <a:gd name="connsiteY1" fmla="*/ 0 h 1117600"/>
              <a:gd name="connsiteX2" fmla="*/ 0 w 969009"/>
              <a:gd name="connsiteY2" fmla="*/ 0 h 1117600"/>
            </a:gdLst>
            <a:ahLst/>
            <a:cxnLst>
              <a:cxn ang="0">
                <a:pos x="connsiteX0" y="connsiteY0"/>
              </a:cxn>
              <a:cxn ang="0">
                <a:pos x="connsiteX1" y="connsiteY1"/>
              </a:cxn>
              <a:cxn ang="0">
                <a:pos x="connsiteX2" y="connsiteY2"/>
              </a:cxn>
            </a:cxnLst>
            <a:rect l="l" t="t" r="r" b="b"/>
            <a:pathLst>
              <a:path w="969009" h="1117600">
                <a:moveTo>
                  <a:pt x="969010" y="1117600"/>
                </a:moveTo>
                <a:lnTo>
                  <a:pt x="969010" y="0"/>
                </a:lnTo>
                <a:lnTo>
                  <a:pt x="0" y="0"/>
                </a:lnTo>
                <a:close/>
              </a:path>
            </a:pathLst>
          </a:custGeom>
          <a:solidFill>
            <a:schemeClr val="accent1">
              <a:lumMod val="50000"/>
            </a:schemeClr>
          </a:solidFill>
          <a:ln w="6350" cap="flat">
            <a:noFill/>
            <a:prstDash val="solid"/>
            <a:miter/>
          </a:ln>
        </p:spPr>
        <p:txBody>
          <a:bodyPr rtlCol="0" anchor="ctr"/>
          <a:lstStyle/>
          <a:p>
            <a:endParaRPr lang="zh-CN" altLang="en-US"/>
          </a:p>
        </p:txBody>
      </p:sp>
      <p:sp>
        <p:nvSpPr>
          <p:cNvPr id="8" name="矩形 7"/>
          <p:cNvSpPr/>
          <p:nvPr>
            <p:custDataLst>
              <p:tags r:id="rId3"/>
            </p:custDataLst>
          </p:nvPr>
        </p:nvSpPr>
        <p:spPr>
          <a:xfrm>
            <a:off x="0" y="0"/>
            <a:ext cx="4823460" cy="6866255"/>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hasCustomPrompt="1"/>
            <p:custDataLst>
              <p:tags r:id="rId4"/>
            </p:custDataLst>
          </p:nvPr>
        </p:nvSpPr>
        <p:spPr>
          <a:xfrm>
            <a:off x="583200" y="770400"/>
            <a:ext cx="3960000" cy="882000"/>
          </a:xfrm>
        </p:spPr>
        <p:txBody>
          <a:bodyPr anchor="ctr">
            <a:normAutofit/>
          </a:bodyPr>
          <a:lstStyle>
            <a:lvl1pPr>
              <a:defRPr sz="3600" baseline="0">
                <a:solidFill>
                  <a:schemeClr val="bg1"/>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586800" y="1764000"/>
            <a:ext cx="3956400" cy="4093200"/>
          </a:xfrm>
        </p:spPr>
        <p:txBody>
          <a:bodyPr/>
          <a:lstStyle>
            <a:lvl1pPr>
              <a:defRPr baseline="0">
                <a:solidFill>
                  <a:schemeClr val="bg1"/>
                </a:solidFill>
                <a:latin typeface="Arial" panose="020B0604020202020204" pitchFamily="34" charset="0"/>
                <a:ea typeface="微软雅黑" panose="020B0503020204020204" charset="-122"/>
              </a:defRPr>
            </a:lvl1pPr>
            <a:lvl2pPr>
              <a:defRPr baseline="0">
                <a:solidFill>
                  <a:schemeClr val="bg1"/>
                </a:solidFill>
                <a:latin typeface="Arial" panose="020B0604020202020204" pitchFamily="34" charset="0"/>
                <a:ea typeface="微软雅黑" panose="020B0503020204020204" charset="-122"/>
              </a:defRPr>
            </a:lvl2pPr>
            <a:lvl3pPr>
              <a:defRPr baseline="0">
                <a:solidFill>
                  <a:schemeClr val="bg1"/>
                </a:solidFill>
                <a:latin typeface="Arial" panose="020B0604020202020204" pitchFamily="34" charset="0"/>
                <a:ea typeface="微软雅黑" panose="020B0503020204020204" charset="-122"/>
              </a:defRPr>
            </a:lvl3pPr>
            <a:lvl4pPr>
              <a:defRPr baseline="0">
                <a:solidFill>
                  <a:schemeClr val="bg1"/>
                </a:solidFill>
                <a:latin typeface="Arial" panose="020B0604020202020204" pitchFamily="34" charset="0"/>
                <a:ea typeface="微软雅黑" panose="020B0503020204020204" charset="-122"/>
              </a:defRPr>
            </a:lvl4pPr>
            <a:lvl5pPr>
              <a:defRPr baseline="0">
                <a:solidFill>
                  <a:schemeClr val="bg1"/>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5101200" y="769938"/>
            <a:ext cx="6480000" cy="5087937"/>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bg2"/>
        </a:solidFill>
        <a:effectLst/>
      </p:bgPr>
    </p:bg>
    <p:spTree>
      <p:nvGrpSpPr>
        <p:cNvPr id="1" name=""/>
        <p:cNvGrpSpPr/>
        <p:nvPr/>
      </p:nvGrpSpPr>
      <p:grpSpPr>
        <a:xfrm>
          <a:off x="0" y="0"/>
          <a:ext cx="0" cy="0"/>
          <a:chOff x="0" y="0"/>
          <a:chExt cx="0" cy="0"/>
        </a:xfrm>
      </p:grpSpPr>
      <p:sp>
        <p:nvSpPr>
          <p:cNvPr id="13"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4"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5"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sp>
        <p:nvSpPr>
          <p:cNvPr id="10" name="矩形 9"/>
          <p:cNvSpPr/>
          <p:nvPr>
            <p:custDataLst>
              <p:tags r:id="rId4"/>
            </p:custDataLst>
          </p:nvPr>
        </p:nvSpPr>
        <p:spPr>
          <a:xfrm>
            <a:off x="0" y="0"/>
            <a:ext cx="12192000" cy="26640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ym typeface="+mn-ea"/>
            </a:endParaRPr>
          </a:p>
        </p:txBody>
      </p:sp>
      <p:sp>
        <p:nvSpPr>
          <p:cNvPr id="2" name="标题 1"/>
          <p:cNvSpPr>
            <a:spLocks noGrp="1"/>
          </p:cNvSpPr>
          <p:nvPr>
            <p:ph type="title"/>
            <p:custDataLst>
              <p:tags r:id="rId5"/>
            </p:custDataLst>
          </p:nvPr>
        </p:nvSpPr>
        <p:spPr>
          <a:xfrm>
            <a:off x="612000" y="781200"/>
            <a:ext cx="10976400" cy="626400"/>
          </a:xfrm>
        </p:spPr>
        <p:txBody>
          <a:bodyPr anchor="ctr">
            <a:normAutofit/>
          </a:bodyPr>
          <a:lstStyle>
            <a:lvl1pPr algn="ctr">
              <a:defRPr sz="36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9"/>
            </p:custDataLst>
          </p:nvPr>
        </p:nvSpPr>
        <p:spPr>
          <a:xfrm>
            <a:off x="612000" y="1659600"/>
            <a:ext cx="10975975" cy="828000"/>
          </a:xfrm>
        </p:spPr>
        <p:txBody>
          <a:bodyPr/>
          <a:lstStyle>
            <a:lvl1pPr algn="ct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p:ph sz="quarter" idx="14"/>
            <p:custDataLst>
              <p:tags r:id="rId10"/>
            </p:custDataLst>
          </p:nvPr>
        </p:nvSpPr>
        <p:spPr>
          <a:xfrm>
            <a:off x="612775" y="2808000"/>
            <a:ext cx="10965600" cy="34308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bg2"/>
        </a:solidFill>
        <a:effectLst/>
      </p:bgPr>
    </p:bg>
    <p:spTree>
      <p:nvGrpSpPr>
        <p:cNvPr id="1" name=""/>
        <p:cNvGrpSpPr/>
        <p:nvPr/>
      </p:nvGrpSpPr>
      <p:grpSpPr>
        <a:xfrm>
          <a:off x="0" y="0"/>
          <a:ext cx="0" cy="0"/>
          <a:chOff x="0" y="0"/>
          <a:chExt cx="0" cy="0"/>
        </a:xfrm>
      </p:grpSpPr>
      <p:sp>
        <p:nvSpPr>
          <p:cNvPr id="12" name="任意多边形: 形状 7"/>
          <p:cNvSpPr/>
          <p:nvPr>
            <p:custDataLst>
              <p:tags r:id="rId1"/>
            </p:custDataLst>
          </p:nvPr>
        </p:nvSpPr>
        <p:spPr>
          <a:xfrm rot="10800000">
            <a:off x="568960" y="0"/>
            <a:ext cx="1162304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a:p>
        </p:txBody>
      </p:sp>
      <p:grpSp>
        <p:nvGrpSpPr>
          <p:cNvPr id="13" name="组合 12"/>
          <p:cNvGrpSpPr/>
          <p:nvPr>
            <p:custDataLst>
              <p:tags r:id="rId2"/>
            </p:custDataLst>
          </p:nvPr>
        </p:nvGrpSpPr>
        <p:grpSpPr>
          <a:xfrm rot="10800000">
            <a:off x="-635" y="0"/>
            <a:ext cx="4265930" cy="640080"/>
            <a:chOff x="6681" y="8932"/>
            <a:chExt cx="12521" cy="1880"/>
          </a:xfrm>
        </p:grpSpPr>
        <p:sp>
          <p:nvSpPr>
            <p:cNvPr id="14" name="任意多边形: 形状 3"/>
            <p:cNvSpPr/>
            <p:nvPr>
              <p:custDataLst>
                <p:tags r:id="rId10"/>
              </p:custDataLst>
            </p:nvPr>
          </p:nvSpPr>
          <p:spPr>
            <a:xfrm>
              <a:off x="6681" y="8932"/>
              <a:ext cx="12521" cy="188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5" name="任意多边形: 形状 4"/>
            <p:cNvSpPr/>
            <p:nvPr>
              <p:custDataLst>
                <p:tags r:id="rId11"/>
              </p:custDataLst>
            </p:nvPr>
          </p:nvSpPr>
          <p:spPr>
            <a:xfrm>
              <a:off x="7765" y="9076"/>
              <a:ext cx="11435" cy="1724"/>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grpSp>
      <p:sp>
        <p:nvSpPr>
          <p:cNvPr id="8" name="矩形 7"/>
          <p:cNvSpPr/>
          <p:nvPr>
            <p:custDataLst>
              <p:tags r:id="rId3"/>
            </p:custDataLst>
          </p:nvPr>
        </p:nvSpPr>
        <p:spPr>
          <a:xfrm>
            <a:off x="0" y="5029201"/>
            <a:ext cx="12192000" cy="1828799"/>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4"/>
            </p:custDataLst>
          </p:nvPr>
        </p:nvSpPr>
        <p:spPr>
          <a:xfrm>
            <a:off x="604800" y="669600"/>
            <a:ext cx="10976400" cy="565200"/>
          </a:xfrm>
        </p:spPr>
        <p:txBody>
          <a:bodyPr anchor="ctr">
            <a:normAutofit/>
          </a:bodyPr>
          <a:lstStyle>
            <a:lvl1pPr algn="ctr">
              <a:defRPr sz="3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a:lstStyle>
            <a:lvl1pPr>
              <a:defRPr baseline="0">
                <a:solidFill>
                  <a:schemeClr val="bg1"/>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bg2"/>
        </a:solidFill>
        <a:effectLst/>
      </p:bgPr>
    </p:bg>
    <p:spTree>
      <p:nvGrpSpPr>
        <p:cNvPr id="1" name=""/>
        <p:cNvGrpSpPr/>
        <p:nvPr/>
      </p:nvGrpSpPr>
      <p:grpSpPr>
        <a:xfrm>
          <a:off x="0" y="0"/>
          <a:ext cx="0" cy="0"/>
          <a:chOff x="0" y="0"/>
          <a:chExt cx="0" cy="0"/>
        </a:xfrm>
      </p:grpSpPr>
      <p:sp>
        <p:nvSpPr>
          <p:cNvPr id="15" name="任意多边形: 形状 3"/>
          <p:cNvSpPr/>
          <p:nvPr>
            <p:custDataLst>
              <p:tags r:id="rId1"/>
            </p:custDataLst>
          </p:nvPr>
        </p:nvSpPr>
        <p:spPr>
          <a:xfrm>
            <a:off x="4930775" y="6388735"/>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4"/>
          </a:solidFill>
          <a:ln w="6350" cap="flat">
            <a:noFill/>
            <a:prstDash val="solid"/>
            <a:miter/>
          </a:ln>
        </p:spPr>
        <p:txBody>
          <a:bodyPr rtlCol="0" anchor="ctr"/>
          <a:lstStyle/>
          <a:p>
            <a:endParaRPr lang="zh-CN" altLang="en-US"/>
          </a:p>
        </p:txBody>
      </p:sp>
      <p:sp>
        <p:nvSpPr>
          <p:cNvPr id="16" name="任意多边形: 形状 4"/>
          <p:cNvSpPr/>
          <p:nvPr>
            <p:custDataLst>
              <p:tags r:id="rId2"/>
            </p:custDataLst>
          </p:nvPr>
        </p:nvSpPr>
        <p:spPr>
          <a:xfrm>
            <a:off x="4930775" y="6438900"/>
            <a:ext cx="7261225" cy="419100"/>
          </a:xfrm>
          <a:custGeom>
            <a:avLst/>
            <a:gdLst>
              <a:gd name="connsiteX0" fmla="*/ 0 w 7261225"/>
              <a:gd name="connsiteY0" fmla="*/ 1094740 h 1094740"/>
              <a:gd name="connsiteX1" fmla="*/ 7261225 w 7261225"/>
              <a:gd name="connsiteY1" fmla="*/ 1094740 h 1094740"/>
              <a:gd name="connsiteX2" fmla="*/ 7261225 w 7261225"/>
              <a:gd name="connsiteY2" fmla="*/ 0 h 1094740"/>
            </a:gdLst>
            <a:ahLst/>
            <a:cxnLst>
              <a:cxn ang="0">
                <a:pos x="connsiteX0" y="connsiteY0"/>
              </a:cxn>
              <a:cxn ang="0">
                <a:pos x="connsiteX1" y="connsiteY1"/>
              </a:cxn>
              <a:cxn ang="0">
                <a:pos x="connsiteX2" y="connsiteY2"/>
              </a:cxn>
            </a:cxnLst>
            <a:rect l="l" t="t" r="r" b="b"/>
            <a:pathLst>
              <a:path w="7261225" h="1094740">
                <a:moveTo>
                  <a:pt x="0" y="1094740"/>
                </a:moveTo>
                <a:lnTo>
                  <a:pt x="7261225" y="1094740"/>
                </a:lnTo>
                <a:lnTo>
                  <a:pt x="7261225" y="0"/>
                </a:lnTo>
                <a:close/>
              </a:path>
            </a:pathLst>
          </a:custGeom>
          <a:solidFill>
            <a:schemeClr val="accent6"/>
          </a:solidFill>
          <a:ln w="6350" cap="flat">
            <a:noFill/>
            <a:prstDash val="solid"/>
            <a:miter/>
          </a:ln>
        </p:spPr>
        <p:txBody>
          <a:bodyPr rtlCol="0" anchor="ctr"/>
          <a:lstStyle/>
          <a:p>
            <a:endParaRPr lang="zh-CN" altLang="en-US"/>
          </a:p>
        </p:txBody>
      </p:sp>
      <p:sp>
        <p:nvSpPr>
          <p:cNvPr id="17" name="任意多边形: 形状 7"/>
          <p:cNvSpPr/>
          <p:nvPr>
            <p:custDataLst>
              <p:tags r:id="rId3"/>
            </p:custDataLst>
          </p:nvPr>
        </p:nvSpPr>
        <p:spPr>
          <a:xfrm>
            <a:off x="0" y="6414135"/>
            <a:ext cx="7843520" cy="454660"/>
          </a:xfrm>
          <a:custGeom>
            <a:avLst/>
            <a:gdLst>
              <a:gd name="connsiteX0" fmla="*/ 7843520 w 7843519"/>
              <a:gd name="connsiteY0" fmla="*/ 1186815 h 1186815"/>
              <a:gd name="connsiteX1" fmla="*/ 0 w 7843519"/>
              <a:gd name="connsiteY1" fmla="*/ 1186815 h 1186815"/>
              <a:gd name="connsiteX2" fmla="*/ 0 w 7843519"/>
              <a:gd name="connsiteY2" fmla="*/ 0 h 1186815"/>
            </a:gdLst>
            <a:ahLst/>
            <a:cxnLst>
              <a:cxn ang="0">
                <a:pos x="connsiteX0" y="connsiteY0"/>
              </a:cxn>
              <a:cxn ang="0">
                <a:pos x="connsiteX1" y="connsiteY1"/>
              </a:cxn>
              <a:cxn ang="0">
                <a:pos x="connsiteX2" y="connsiteY2"/>
              </a:cxn>
            </a:cxnLst>
            <a:rect l="l" t="t" r="r" b="b"/>
            <a:pathLst>
              <a:path w="7843519" h="1186815">
                <a:moveTo>
                  <a:pt x="7843520" y="1186815"/>
                </a:moveTo>
                <a:lnTo>
                  <a:pt x="0" y="1186815"/>
                </a:lnTo>
                <a:lnTo>
                  <a:pt x="0" y="0"/>
                </a:lnTo>
                <a:close/>
              </a:path>
            </a:pathLst>
          </a:custGeom>
          <a:solidFill>
            <a:schemeClr val="accent1"/>
          </a:solidFill>
          <a:ln w="6350" cap="flat">
            <a:noFill/>
            <a:prstDash val="solid"/>
            <a:miter/>
          </a:ln>
        </p:spPr>
        <p:txBody>
          <a:bodyPr rtlCol="0" anchor="ctr"/>
          <a:lstStyle/>
          <a:p>
            <a:endParaRPr lang="zh-CN" altLang="en-US" dirty="0"/>
          </a:p>
        </p:txBody>
      </p:sp>
      <p:sp>
        <p:nvSpPr>
          <p:cNvPr id="10" name="矩形 9"/>
          <p:cNvSpPr/>
          <p:nvPr>
            <p:custDataLst>
              <p:tags r:id="rId4"/>
            </p:custDataLst>
          </p:nvPr>
        </p:nvSpPr>
        <p:spPr>
          <a:xfrm>
            <a:off x="0" y="0"/>
            <a:ext cx="12192000" cy="914400"/>
          </a:xfrm>
          <a:prstGeom prst="rect">
            <a:avLst/>
          </a:prstGeom>
          <a:solidFill>
            <a:schemeClr val="tx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sp>
        <p:nvSpPr>
          <p:cNvPr id="2" name="标题 1"/>
          <p:cNvSpPr>
            <a:spLocks noGrp="1"/>
          </p:cNvSpPr>
          <p:nvPr>
            <p:ph type="title"/>
            <p:custDataLst>
              <p:tags r:id="rId5"/>
            </p:custDataLst>
          </p:nvPr>
        </p:nvSpPr>
        <p:spPr>
          <a:xfrm>
            <a:off x="579600" y="237600"/>
            <a:ext cx="11037600" cy="441964"/>
          </a:xfrm>
        </p:spPr>
        <p:txBody>
          <a:bodyPr>
            <a:normAutofit/>
          </a:bodyPr>
          <a:lstStyle>
            <a:lvl1pPr>
              <a:defRPr sz="2800" baseline="0">
                <a:solidFill>
                  <a:schemeClr val="bg1"/>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p:ph type="dt" sz="half" idx="10"/>
            <p:custDataLst>
              <p:tags r:id="rId6"/>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7"/>
            </p:custDataLst>
          </p:nvPr>
        </p:nvSpPr>
        <p:spPr/>
        <p:txBody>
          <a:bodyPr/>
          <a:lstStyle/>
          <a:p>
            <a:endParaRPr lang="zh-CN" altLang="en-US" dirty="0"/>
          </a:p>
        </p:txBody>
      </p:sp>
      <p:sp>
        <p:nvSpPr>
          <p:cNvPr id="5" name="灯片编号占位符 4"/>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9"/>
            </p:custDataLst>
          </p:nvPr>
        </p:nvSpPr>
        <p:spPr>
          <a:xfrm>
            <a:off x="579600" y="1663200"/>
            <a:ext cx="53424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10"/>
            </p:custDataLst>
          </p:nvPr>
        </p:nvSpPr>
        <p:spPr>
          <a:xfrm>
            <a:off x="6242400" y="1663200"/>
            <a:ext cx="5367600" cy="28944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lumMod val="85000"/>
                    <a:lumOff val="15000"/>
                  </a:schemeClr>
                </a:solidFill>
                <a:latin typeface="Arial" panose="020B0604020202020204" pitchFamily="34" charset="0"/>
                <a:ea typeface="微软雅黑" panose="020B0503020204020204" charset="-122"/>
              </a:defRPr>
            </a:lvl2pPr>
            <a:lvl3pPr>
              <a:defRPr baseline="0">
                <a:solidFill>
                  <a:schemeClr val="tx1">
                    <a:lumMod val="85000"/>
                    <a:lumOff val="15000"/>
                  </a:schemeClr>
                </a:solidFill>
                <a:latin typeface="Arial" panose="020B0604020202020204" pitchFamily="34" charset="0"/>
                <a:ea typeface="微软雅黑" panose="020B0503020204020204" charset="-122"/>
              </a:defRPr>
            </a:lvl3pPr>
            <a:lvl4pPr>
              <a:defRPr baseline="0">
                <a:solidFill>
                  <a:schemeClr val="tx1">
                    <a:lumMod val="85000"/>
                    <a:lumOff val="15000"/>
                  </a:schemeClr>
                </a:solidFill>
                <a:latin typeface="Arial" panose="020B0604020202020204" pitchFamily="34" charset="0"/>
                <a:ea typeface="微软雅黑" panose="020B0503020204020204" charset="-122"/>
              </a:defRPr>
            </a:lvl4pPr>
            <a:lvl5pPr>
              <a:defRPr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1"/>
            </p:custDataLst>
          </p:nvPr>
        </p:nvSpPr>
        <p:spPr>
          <a:xfrm>
            <a:off x="572400" y="4816800"/>
            <a:ext cx="53424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2"/>
            </p:custDataLst>
          </p:nvPr>
        </p:nvSpPr>
        <p:spPr>
          <a:xfrm>
            <a:off x="6253200" y="4813200"/>
            <a:ext cx="5367600" cy="781200"/>
          </a:xfrm>
        </p:spPr>
        <p:txBody>
          <a:bodyPr/>
          <a:lstStyle>
            <a:lvl1pP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ym typeface="+mn-ea"/>
            </a:endParaRPr>
          </a:p>
        </p:txBody>
      </p:sp>
      <p:grpSp>
        <p:nvGrpSpPr>
          <p:cNvPr id="12" name="组合 11"/>
          <p:cNvGrpSpPr/>
          <p:nvPr>
            <p:custDataLst>
              <p:tags r:id="rId2"/>
            </p:custDataLst>
          </p:nvPr>
        </p:nvGrpSpPr>
        <p:grpSpPr>
          <a:xfrm rot="10800000">
            <a:off x="10848975" y="3707765"/>
            <a:ext cx="1343025" cy="3265170"/>
            <a:chOff x="0" y="606"/>
            <a:chExt cx="1437" cy="8628"/>
          </a:xfrm>
        </p:grpSpPr>
        <p:sp>
          <p:nvSpPr>
            <p:cNvPr id="14" name="等腰三角形 13"/>
            <p:cNvSpPr/>
            <p:nvPr>
              <p:custDataLst>
                <p:tags r:id="rId11"/>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5" name="等腰三角形 14"/>
            <p:cNvSpPr/>
            <p:nvPr>
              <p:custDataLst>
                <p:tags r:id="rId12"/>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grpSp>
        <p:nvGrpSpPr>
          <p:cNvPr id="16" name="组合 15"/>
          <p:cNvGrpSpPr/>
          <p:nvPr>
            <p:custDataLst>
              <p:tags r:id="rId3"/>
            </p:custDataLst>
          </p:nvPr>
        </p:nvGrpSpPr>
        <p:grpSpPr>
          <a:xfrm>
            <a:off x="0" y="113665"/>
            <a:ext cx="1343025" cy="3265170"/>
            <a:chOff x="0" y="606"/>
            <a:chExt cx="1437" cy="8628"/>
          </a:xfrm>
        </p:grpSpPr>
        <p:sp>
          <p:nvSpPr>
            <p:cNvPr id="17" name="等腰三角形 16"/>
            <p:cNvSpPr/>
            <p:nvPr>
              <p:custDataLst>
                <p:tags r:id="rId9"/>
              </p:custDataLst>
            </p:nvPr>
          </p:nvSpPr>
          <p:spPr>
            <a:xfrm rot="5400000">
              <a:off x="-3067" y="3673"/>
              <a:ext cx="7571" cy="1437"/>
            </a:xfrm>
            <a:prstGeom prst="triangle">
              <a:avLst/>
            </a:prstGeom>
            <a:solidFill>
              <a:schemeClr val="accent6"/>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sp>
          <p:nvSpPr>
            <p:cNvPr id="18" name="等腰三角形 17"/>
            <p:cNvSpPr/>
            <p:nvPr>
              <p:custDataLst>
                <p:tags r:id="rId10"/>
              </p:custDataLst>
            </p:nvPr>
          </p:nvSpPr>
          <p:spPr>
            <a:xfrm rot="5400000">
              <a:off x="-3067" y="4730"/>
              <a:ext cx="7571" cy="1437"/>
            </a:xfrm>
            <a:prstGeom prst="triangle">
              <a:avLst/>
            </a:prstGeom>
            <a:solidFill>
              <a:schemeClr val="accent1"/>
            </a:solidFill>
            <a:ln>
              <a:noFill/>
            </a:ln>
          </p:spPr>
          <p:style>
            <a:lnRef idx="2">
              <a:srgbClr val="1C313C">
                <a:shade val="50000"/>
              </a:srgbClr>
            </a:lnRef>
            <a:fillRef idx="1">
              <a:srgbClr val="1C313C"/>
            </a:fillRef>
            <a:effectRef idx="0">
              <a:srgbClr val="1C313C"/>
            </a:effectRef>
            <a:fontRef idx="minor">
              <a:sysClr val="window" lastClr="FFFFFF"/>
            </a:fontRef>
          </p:style>
          <p:txBody>
            <a:bodyPr rtlCol="0" anchor="ctr"/>
            <a:lstStyle/>
            <a:p>
              <a:pPr algn="ctr"/>
              <a:endParaRPr lang="zh-CN" altLang="en-US"/>
            </a:p>
          </p:txBody>
        </p:sp>
      </p:grpSp>
      <p:sp>
        <p:nvSpPr>
          <p:cNvPr id="2" name="标题 1"/>
          <p:cNvSpPr>
            <a:spLocks noGrp="1"/>
          </p:cNvSpPr>
          <p:nvPr>
            <p:ph type="title" hasCustomPrompt="1"/>
            <p:custDataLst>
              <p:tags r:id="rId4"/>
            </p:custDataLst>
          </p:nvPr>
        </p:nvSpPr>
        <p:spPr>
          <a:xfrm>
            <a:off x="1522800" y="1339200"/>
            <a:ext cx="9144000" cy="2386800"/>
          </a:xfrm>
        </p:spPr>
        <p:txBody>
          <a:bodyPr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custDataLst>
              <p:tags r:id="rId6"/>
            </p:custDataLst>
          </p:nvPr>
        </p:nvSpPr>
        <p:spPr/>
        <p:txBody>
          <a:bodyPr/>
          <a:lstStyle/>
          <a:p>
            <a:endParaRPr lang="zh-CN" altLang="en-US" dirty="0"/>
          </a:p>
        </p:txBody>
      </p:sp>
      <p:sp>
        <p:nvSpPr>
          <p:cNvPr id="5" name="灯片编号占位符 4"/>
          <p:cNvSpPr>
            <a:spLocks noGrp="1"/>
          </p:cNvSpPr>
          <p:nvPr>
            <p:ph type="sldNum" sz="quarter" idx="12"/>
            <p:custDataLst>
              <p:tags r:id="rId7"/>
            </p:custDataLst>
          </p:nvPr>
        </p:nvSpPr>
        <p:spPr/>
        <p:txBody>
          <a:body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a:lstStyle>
            <a:lvl1pPr algn="ctr">
              <a:defRPr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2024/3/3</a:t>
            </a:fld>
            <a:endParaRPr lang="zh-CN" altLang="en-US"/>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6.xml"/><Relationship Id="rId3" Type="http://schemas.openxmlformats.org/officeDocument/2006/relationships/slideLayout" Target="../slideLayouts/slideLayout3.xml"/><Relationship Id="rId21" Type="http://schemas.openxmlformats.org/officeDocument/2006/relationships/tags" Target="../tags/tag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69882" y="443230"/>
            <a:ext cx="10852237" cy="441964"/>
          </a:xfrm>
          <a:prstGeom prst="rect">
            <a:avLst/>
          </a:prstGeom>
        </p:spPr>
        <p:txBody>
          <a:bodyPr vert="horz" lIns="101600" tIns="38100" rIns="76200" bIns="38100" rtlCol="0" anchor="t"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69882" y="952508"/>
            <a:ext cx="10852237" cy="5388907"/>
          </a:xfrm>
          <a:prstGeom prst="rect">
            <a:avLst/>
          </a:prstGeom>
        </p:spPr>
        <p:txBody>
          <a:bodyPr vert="horz" lIns="101600" tIns="0" rIns="82550" bIns="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3"/>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t>2024/3/3</a:t>
            </a:fld>
            <a:endParaRPr lang="zh-CN" altLang="en-US"/>
          </a:p>
        </p:txBody>
      </p:sp>
      <p:sp>
        <p:nvSpPr>
          <p:cNvPr id="5" name="页脚占位符 4"/>
          <p:cNvSpPr>
            <a:spLocks noGrp="1"/>
          </p:cNvSpPr>
          <p:nvPr>
            <p:ph type="ftr" sz="quarter" idx="3"/>
            <p:custDataLst>
              <p:tags r:id="rId24"/>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5"/>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KSO_TEMPLATE" hidden="1"/>
          <p:cNvSpPr/>
          <p:nvPr>
            <p:custDataLst>
              <p:tags r:id="rId26"/>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lumMod val="85000"/>
              <a:lumOff val="15000"/>
            </a:schemeClr>
          </a:solidFill>
          <a:uFillTx/>
          <a:latin typeface="微软雅黑" panose="020B0503020204020204" charset="-122"/>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lumMod val="85000"/>
              <a:lumOff val="15000"/>
            </a:schemeClr>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72.xml"/><Relationship Id="rId2" Type="http://schemas.openxmlformats.org/officeDocument/2006/relationships/tags" Target="../tags/tag171.xml"/><Relationship Id="rId1" Type="http://schemas.openxmlformats.org/officeDocument/2006/relationships/tags" Target="../tags/tag17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8" Type="http://schemas.openxmlformats.org/officeDocument/2006/relationships/tags" Target="../tags/tag182.xml"/><Relationship Id="rId3" Type="http://schemas.openxmlformats.org/officeDocument/2006/relationships/tags" Target="../tags/tag177.xml"/><Relationship Id="rId7" Type="http://schemas.openxmlformats.org/officeDocument/2006/relationships/tags" Target="../tags/tag181.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tags" Target="../tags/tag180.xml"/><Relationship Id="rId5" Type="http://schemas.openxmlformats.org/officeDocument/2006/relationships/tags" Target="../tags/tag179.xml"/><Relationship Id="rId10" Type="http://schemas.openxmlformats.org/officeDocument/2006/relationships/slideLayout" Target="../slideLayouts/slideLayout6.xml"/><Relationship Id="rId4" Type="http://schemas.openxmlformats.org/officeDocument/2006/relationships/tags" Target="../tags/tag178.xml"/><Relationship Id="rId9" Type="http://schemas.openxmlformats.org/officeDocument/2006/relationships/tags" Target="../tags/tag18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5.xml"/><Relationship Id="rId1" Type="http://schemas.openxmlformats.org/officeDocument/2006/relationships/tags" Target="../tags/tag18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87.xml"/><Relationship Id="rId1" Type="http://schemas.openxmlformats.org/officeDocument/2006/relationships/tags" Target="../tags/tag186.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jpe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190.png"/><Relationship Id="rId2" Type="http://schemas.openxmlformats.org/officeDocument/2006/relationships/image" Target="../media/image16.png"/><Relationship Id="rId16" Type="http://schemas.openxmlformats.org/officeDocument/2006/relationships/image" Target="../media/image180.png"/><Relationship Id="rId1" Type="http://schemas.openxmlformats.org/officeDocument/2006/relationships/slideLayout" Target="../slideLayouts/slideLayout6.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170.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 Id="rId14" Type="http://schemas.openxmlformats.org/officeDocument/2006/relationships/image" Target="../media/image160.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5.png"/><Relationship Id="rId7" Type="http://schemas.openxmlformats.org/officeDocument/2006/relationships/image" Target="../media/image42.png"/><Relationship Id="rId12" Type="http://schemas.openxmlformats.org/officeDocument/2006/relationships/image" Target="../media/image47.png"/><Relationship Id="rId2" Type="http://schemas.openxmlformats.org/officeDocument/2006/relationships/image" Target="../media/image34.png"/><Relationship Id="rId1" Type="http://schemas.openxmlformats.org/officeDocument/2006/relationships/slideLayout" Target="../slideLayouts/slideLayout6.xml"/><Relationship Id="rId6" Type="http://schemas.openxmlformats.org/officeDocument/2006/relationships/image" Target="../media/image38.png"/><Relationship Id="rId11" Type="http://schemas.openxmlformats.org/officeDocument/2006/relationships/image" Target="../media/image46.png"/><Relationship Id="rId5" Type="http://schemas.openxmlformats.org/officeDocument/2006/relationships/image" Target="../media/image37.png"/><Relationship Id="rId10" Type="http://schemas.openxmlformats.org/officeDocument/2006/relationships/image" Target="../media/image45.png"/><Relationship Id="rId4" Type="http://schemas.openxmlformats.org/officeDocument/2006/relationships/image" Target="../media/image36.png"/><Relationship Id="rId9" Type="http://schemas.openxmlformats.org/officeDocument/2006/relationships/image" Target="../media/image44.png"/></Relationships>
</file>

<file path=ppt/slides/_rels/slide1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50.svg"/><Relationship Id="rId7" Type="http://schemas.openxmlformats.org/officeDocument/2006/relationships/image" Target="../media/image54.svg"/><Relationship Id="rId2" Type="http://schemas.openxmlformats.org/officeDocument/2006/relationships/image" Target="../media/image49.png"/><Relationship Id="rId1" Type="http://schemas.openxmlformats.org/officeDocument/2006/relationships/slideLayout" Target="../slideLayouts/slideLayout6.xml"/><Relationship Id="rId6" Type="http://schemas.openxmlformats.org/officeDocument/2006/relationships/image" Target="../media/image53.png"/><Relationship Id="rId5" Type="http://schemas.openxmlformats.org/officeDocument/2006/relationships/image" Target="../media/image52.svg"/><Relationship Id="rId4" Type="http://schemas.openxmlformats.org/officeDocument/2006/relationships/image" Target="../media/image51.png"/></Relationships>
</file>

<file path=ppt/slides/_rels/slide21.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slideLayout" Target="../slideLayouts/slideLayout6.xml"/><Relationship Id="rId5" Type="http://schemas.openxmlformats.org/officeDocument/2006/relationships/tags" Target="../tags/tag192.xml"/><Relationship Id="rId4" Type="http://schemas.openxmlformats.org/officeDocument/2006/relationships/tags" Target="../tags/tag191.xml"/></Relationships>
</file>

<file path=ppt/slides/_rels/slide22.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6.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6.xml"/><Relationship Id="rId4" Type="http://schemas.openxmlformats.org/officeDocument/2006/relationships/image" Target="../media/image71.png"/></Relationships>
</file>

<file path=ppt/slides/_rels/slide29.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3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xml"/><Relationship Id="rId5" Type="http://schemas.openxmlformats.org/officeDocument/2006/relationships/image" Target="../media/image81.png"/><Relationship Id="rId4" Type="http://schemas.openxmlformats.org/officeDocument/2006/relationships/image" Target="../media/image8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image" Target="../media/image82.png"/><Relationship Id="rId1" Type="http://schemas.openxmlformats.org/officeDocument/2006/relationships/slideLayout" Target="../slideLayouts/slideLayout6.xml"/><Relationship Id="rId6" Type="http://schemas.openxmlformats.org/officeDocument/2006/relationships/image" Target="../media/image86.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3.png"/><Relationship Id="rId1" Type="http://schemas.openxmlformats.org/officeDocument/2006/relationships/slideLayout" Target="../slideLayouts/slideLayout6.xml"/><Relationship Id="rId4" Type="http://schemas.openxmlformats.org/officeDocument/2006/relationships/image" Target="../media/image96.png"/></Relationships>
</file>

<file path=ppt/slides/_rels/slide4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6.xml"/><Relationship Id="rId4" Type="http://schemas.openxmlformats.org/officeDocument/2006/relationships/image" Target="../media/image100.png"/></Relationships>
</file>

<file path=ppt/slides/_rels/slide43.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6.xml"/><Relationship Id="rId4" Type="http://schemas.openxmlformats.org/officeDocument/2006/relationships/image" Target="../media/image105.png"/></Relationships>
</file>

<file path=ppt/slides/_rels/slide5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108.png"/><Relationship Id="rId7" Type="http://schemas.openxmlformats.org/officeDocument/2006/relationships/image" Target="../media/image112.png"/><Relationship Id="rId2" Type="http://schemas.openxmlformats.org/officeDocument/2006/relationships/image" Target="../media/image107.png"/><Relationship Id="rId1" Type="http://schemas.openxmlformats.org/officeDocument/2006/relationships/slideLayout" Target="../slideLayouts/slideLayout6.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5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6.xml"/><Relationship Id="rId5" Type="http://schemas.openxmlformats.org/officeDocument/2006/relationships/image" Target="../media/image119.png"/><Relationship Id="rId4" Type="http://schemas.openxmlformats.org/officeDocument/2006/relationships/image" Target="../media/image118.png"/></Relationships>
</file>

<file path=ppt/slides/_rels/slide58.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oleObject" Target="../embeddings/oleObject1.bin"/><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image" Target="../media/image123.png"/><Relationship Id="rId7"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6.xml"/><Relationship Id="rId6" Type="http://schemas.openxmlformats.org/officeDocument/2006/relationships/image" Target="../media/image126.png"/><Relationship Id="rId5" Type="http://schemas.openxmlformats.org/officeDocument/2006/relationships/image" Target="../media/image125.png"/><Relationship Id="rId4" Type="http://schemas.openxmlformats.org/officeDocument/2006/relationships/image" Target="../media/image124.png"/></Relationships>
</file>

<file path=ppt/slides/_rels/slide6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image" Target="../media/image136.png"/><Relationship Id="rId1" Type="http://schemas.openxmlformats.org/officeDocument/2006/relationships/slideLayout" Target="../slideLayouts/slideLayout6.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6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42.png"/><Relationship Id="rId1" Type="http://schemas.openxmlformats.org/officeDocument/2006/relationships/slideLayout" Target="../slideLayouts/slideLayout6.xml"/><Relationship Id="rId4" Type="http://schemas.openxmlformats.org/officeDocument/2006/relationships/image" Target="../media/image14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6.xml"/><Relationship Id="rId4" Type="http://schemas.openxmlformats.org/officeDocument/2006/relationships/image" Target="../media/image14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3737498" y="2512380"/>
            <a:ext cx="4856085" cy="1029997"/>
          </a:xfrm>
        </p:spPr>
        <p:txBody>
          <a:bodyPr/>
          <a:lstStyle/>
          <a:p>
            <a:r>
              <a:rPr lang="zh-CN" altLang="en-US" dirty="0"/>
              <a:t>机器学习</a:t>
            </a:r>
          </a:p>
        </p:txBody>
      </p:sp>
      <p:sp>
        <p:nvSpPr>
          <p:cNvPr id="5" name="文本占位符 4"/>
          <p:cNvSpPr>
            <a:spLocks noGrp="1"/>
          </p:cNvSpPr>
          <p:nvPr>
            <p:ph type="body" sz="quarter" idx="13"/>
            <p:custDataLst>
              <p:tags r:id="rId3"/>
            </p:custDataLst>
          </p:nvPr>
        </p:nvSpPr>
        <p:spPr>
          <a:xfrm>
            <a:off x="-473034" y="0"/>
            <a:ext cx="7107238" cy="511698"/>
          </a:xfrm>
        </p:spPr>
        <p:txBody>
          <a:bodyPr/>
          <a:lstStyle/>
          <a:p>
            <a:r>
              <a:rPr lang="zh-CN" altLang="en-US" dirty="0"/>
              <a:t>机器学习</a:t>
            </a:r>
          </a:p>
        </p:txBody>
      </p:sp>
      <p:sp>
        <p:nvSpPr>
          <p:cNvPr id="7" name="文本框 6">
            <a:extLst>
              <a:ext uri="{FF2B5EF4-FFF2-40B4-BE49-F238E27FC236}">
                <a16:creationId xmlns:a16="http://schemas.microsoft.com/office/drawing/2014/main" id="{42B758E3-2164-2516-922E-370D1E027CD8}"/>
              </a:ext>
            </a:extLst>
          </p:cNvPr>
          <p:cNvSpPr txBox="1"/>
          <p:nvPr/>
        </p:nvSpPr>
        <p:spPr>
          <a:xfrm>
            <a:off x="8297036" y="5543059"/>
            <a:ext cx="2808445" cy="369332"/>
          </a:xfrm>
          <a:prstGeom prst="rect">
            <a:avLst/>
          </a:prstGeom>
          <a:noFill/>
        </p:spPr>
        <p:txBody>
          <a:bodyPr wrap="square" rtlCol="0">
            <a:spAutoFit/>
          </a:bodyPr>
          <a:lstStyle/>
          <a:p>
            <a:r>
              <a:rPr lang="zh-CN" altLang="en-US" dirty="0">
                <a:solidFill>
                  <a:srgbClr val="767171"/>
                </a:solidFill>
                <a:latin typeface="华文中宋" panose="02010600040101010101" pitchFamily="2" charset="-122"/>
                <a:ea typeface="华文中宋" panose="02010600040101010101" pitchFamily="2" charset="-122"/>
              </a:rPr>
              <a:t>主讲人：刘海斌</a:t>
            </a:r>
          </a:p>
        </p:txBody>
      </p:sp>
      <p:sp>
        <p:nvSpPr>
          <p:cNvPr id="8" name="文本框 7">
            <a:extLst>
              <a:ext uri="{FF2B5EF4-FFF2-40B4-BE49-F238E27FC236}">
                <a16:creationId xmlns:a16="http://schemas.microsoft.com/office/drawing/2014/main" id="{CF6F7953-7957-43CA-6CDC-E5FCFEB1A909}"/>
              </a:ext>
            </a:extLst>
          </p:cNvPr>
          <p:cNvSpPr txBox="1"/>
          <p:nvPr/>
        </p:nvSpPr>
        <p:spPr>
          <a:xfrm>
            <a:off x="8297036" y="6155618"/>
            <a:ext cx="2808445" cy="369332"/>
          </a:xfrm>
          <a:prstGeom prst="rect">
            <a:avLst/>
          </a:prstGeom>
          <a:noFill/>
        </p:spPr>
        <p:txBody>
          <a:bodyPr wrap="square" rtlCol="0">
            <a:spAutoFit/>
          </a:bodyPr>
          <a:lstStyle/>
          <a:p>
            <a:r>
              <a:rPr lang="en-US" altLang="zh-CN" dirty="0">
                <a:solidFill>
                  <a:srgbClr val="767171"/>
                </a:solidFill>
                <a:latin typeface="华文中宋" panose="02010600040101010101" pitchFamily="2" charset="-122"/>
                <a:ea typeface="华文中宋" panose="02010600040101010101" pitchFamily="2" charset="-122"/>
              </a:rPr>
              <a:t>2024/3/3</a:t>
            </a:r>
            <a:endParaRPr lang="zh-CN" altLang="en-US" dirty="0">
              <a:solidFill>
                <a:srgbClr val="767171"/>
              </a:solidFill>
              <a:latin typeface="华文中宋" panose="02010600040101010101" pitchFamily="2" charset="-122"/>
              <a:ea typeface="华文中宋" panose="02010600040101010101" pitchFamily="2" charset="-122"/>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2CCFB-4607-387C-75E9-B78C887F5A37}"/>
            </a:ext>
          </a:extLst>
        </p:cNvPr>
        <p:cNvGrpSpPr/>
        <p:nvPr/>
      </p:nvGrpSpPr>
      <p:grpSpPr>
        <a:xfrm>
          <a:off x="0" y="0"/>
          <a:ext cx="0" cy="0"/>
          <a:chOff x="0" y="0"/>
          <a:chExt cx="0" cy="0"/>
        </a:xfrm>
      </p:grpSpPr>
      <p:sp>
        <p:nvSpPr>
          <p:cNvPr id="5" name="文本占位符 4">
            <a:extLst>
              <a:ext uri="{FF2B5EF4-FFF2-40B4-BE49-F238E27FC236}">
                <a16:creationId xmlns:a16="http://schemas.microsoft.com/office/drawing/2014/main" id="{32F96BC8-4573-8AF7-4F5F-D3FADD6F7E1B}"/>
              </a:ext>
            </a:extLst>
          </p:cNvPr>
          <p:cNvSpPr>
            <a:spLocks noGrp="1"/>
          </p:cNvSpPr>
          <p:nvPr>
            <p:ph type="body" sz="quarter" idx="13"/>
            <p:custDataLst>
              <p:tags r:id="rId2"/>
            </p:custDataLst>
          </p:nvPr>
        </p:nvSpPr>
        <p:spPr>
          <a:xfrm>
            <a:off x="-473034" y="0"/>
            <a:ext cx="7107238" cy="511698"/>
          </a:xfrm>
        </p:spPr>
        <p:txBody>
          <a:bodyPr/>
          <a:lstStyle/>
          <a:p>
            <a:r>
              <a:rPr lang="zh-CN" altLang="en-US" dirty="0"/>
              <a:t>机器学习</a:t>
            </a:r>
          </a:p>
        </p:txBody>
      </p:sp>
      <p:sp>
        <p:nvSpPr>
          <p:cNvPr id="6" name="矩形 5">
            <a:extLst>
              <a:ext uri="{FF2B5EF4-FFF2-40B4-BE49-F238E27FC236}">
                <a16:creationId xmlns:a16="http://schemas.microsoft.com/office/drawing/2014/main" id="{8244378A-03EB-93F8-18B6-686724F5D013}"/>
              </a:ext>
            </a:extLst>
          </p:cNvPr>
          <p:cNvSpPr/>
          <p:nvPr/>
        </p:nvSpPr>
        <p:spPr>
          <a:xfrm>
            <a:off x="259815" y="737203"/>
            <a:ext cx="1159885" cy="652007"/>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目录</a:t>
            </a:r>
            <a:endParaRPr lang="zh-CN" altLang="en-US" sz="3600" b="1" dirty="0">
              <a:latin typeface="微软雅黑" panose="020B0503020204020204" pitchFamily="34" charset="-122"/>
              <a:ea typeface="微软雅黑" panose="020B0503020204020204" pitchFamily="34" charset="-122"/>
            </a:endParaRPr>
          </a:p>
        </p:txBody>
      </p:sp>
      <p:sp>
        <p:nvSpPr>
          <p:cNvPr id="8" name="圆角矩形 18">
            <a:extLst>
              <a:ext uri="{FF2B5EF4-FFF2-40B4-BE49-F238E27FC236}">
                <a16:creationId xmlns:a16="http://schemas.microsoft.com/office/drawing/2014/main" id="{EC88110A-3380-6721-13E1-B59BB2500A4A}"/>
              </a:ext>
            </a:extLst>
          </p:cNvPr>
          <p:cNvSpPr/>
          <p:nvPr/>
        </p:nvSpPr>
        <p:spPr>
          <a:xfrm>
            <a:off x="2468428" y="1577266"/>
            <a:ext cx="4732472" cy="769711"/>
          </a:xfrm>
          <a:prstGeom prst="roundRect">
            <a:avLst/>
          </a:prstGeom>
          <a:solidFill>
            <a:schemeClr val="accent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zh-CN" sz="2800" dirty="0">
                <a:solidFill>
                  <a:schemeClr val="tx1"/>
                </a:solidFill>
                <a:latin typeface="微软雅黑" panose="020B0503020204020204" pitchFamily="34" charset="-122"/>
                <a:ea typeface="微软雅黑" panose="020B0503020204020204" pitchFamily="34" charset="-122"/>
              </a:rPr>
              <a:t>机器学习概念与原理</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9" name="椭圆 8">
            <a:extLst>
              <a:ext uri="{FF2B5EF4-FFF2-40B4-BE49-F238E27FC236}">
                <a16:creationId xmlns:a16="http://schemas.microsoft.com/office/drawing/2014/main" id="{014571EC-6BCE-DC5E-6D5A-5B2CA795D14A}"/>
              </a:ext>
            </a:extLst>
          </p:cNvPr>
          <p:cNvSpPr/>
          <p:nvPr/>
        </p:nvSpPr>
        <p:spPr>
          <a:xfrm>
            <a:off x="2119306" y="1561341"/>
            <a:ext cx="830580" cy="823085"/>
          </a:xfrm>
          <a:prstGeom prst="ellipse">
            <a:avLst/>
          </a:prstGeom>
          <a:solidFill>
            <a:schemeClr val="accent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dirty="0">
                <a:solidFill>
                  <a:schemeClr val="tx1"/>
                </a:solidFill>
              </a:rPr>
              <a:t>1</a:t>
            </a:r>
            <a:endParaRPr lang="zh-CN" altLang="en-US" sz="3200" dirty="0">
              <a:solidFill>
                <a:schemeClr val="tx1"/>
              </a:solidFill>
            </a:endParaRPr>
          </a:p>
        </p:txBody>
      </p:sp>
      <p:sp>
        <p:nvSpPr>
          <p:cNvPr id="10" name="圆角矩形 20">
            <a:extLst>
              <a:ext uri="{FF2B5EF4-FFF2-40B4-BE49-F238E27FC236}">
                <a16:creationId xmlns:a16="http://schemas.microsoft.com/office/drawing/2014/main" id="{3B915E91-7F82-7C2C-C5C4-447462D61480}"/>
              </a:ext>
            </a:extLst>
          </p:cNvPr>
          <p:cNvSpPr/>
          <p:nvPr/>
        </p:nvSpPr>
        <p:spPr>
          <a:xfrm>
            <a:off x="2468428" y="2701397"/>
            <a:ext cx="4732472" cy="769711"/>
          </a:xfrm>
          <a:prstGeom prst="roundRect">
            <a:avLst/>
          </a:prstGeom>
          <a:solidFill>
            <a:schemeClr val="tx2">
              <a:lumMod val="60000"/>
              <a:lumOff val="40000"/>
            </a:schemeClr>
          </a:solidFill>
          <a:ln w="28575">
            <a:solidFill>
              <a:schemeClr val="tx1">
                <a:lumMod val="95000"/>
                <a:lumOff val="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zh-CN" sz="2800" dirty="0">
                <a:solidFill>
                  <a:schemeClr val="tx1"/>
                </a:solidFill>
                <a:latin typeface="微软雅黑" panose="020B0503020204020204" pitchFamily="34" charset="-122"/>
                <a:ea typeface="微软雅黑" panose="020B0503020204020204" pitchFamily="34" charset="-122"/>
              </a:rPr>
              <a:t>数据预处理与特征工程</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1" name="椭圆 10">
            <a:extLst>
              <a:ext uri="{FF2B5EF4-FFF2-40B4-BE49-F238E27FC236}">
                <a16:creationId xmlns:a16="http://schemas.microsoft.com/office/drawing/2014/main" id="{95CE9F2D-66A1-08F5-6787-D092867EE602}"/>
              </a:ext>
            </a:extLst>
          </p:cNvPr>
          <p:cNvSpPr/>
          <p:nvPr/>
        </p:nvSpPr>
        <p:spPr>
          <a:xfrm>
            <a:off x="2119306" y="2649913"/>
            <a:ext cx="830580" cy="823085"/>
          </a:xfrm>
          <a:prstGeom prst="ellipse">
            <a:avLst/>
          </a:prstGeom>
          <a:solidFill>
            <a:schemeClr val="tx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dirty="0">
                <a:solidFill>
                  <a:schemeClr val="tx1"/>
                </a:solidFill>
              </a:rPr>
              <a:t>2</a:t>
            </a:r>
            <a:endParaRPr lang="zh-CN" altLang="en-US" sz="3200" dirty="0">
              <a:solidFill>
                <a:schemeClr val="tx1"/>
              </a:solidFill>
            </a:endParaRPr>
          </a:p>
        </p:txBody>
      </p:sp>
      <p:sp>
        <p:nvSpPr>
          <p:cNvPr id="12" name="圆角矩形 22">
            <a:extLst>
              <a:ext uri="{FF2B5EF4-FFF2-40B4-BE49-F238E27FC236}">
                <a16:creationId xmlns:a16="http://schemas.microsoft.com/office/drawing/2014/main" id="{039B1310-BE2F-5EB6-931C-3A2B202B394E}"/>
              </a:ext>
            </a:extLst>
          </p:cNvPr>
          <p:cNvSpPr/>
          <p:nvPr/>
        </p:nvSpPr>
        <p:spPr>
          <a:xfrm>
            <a:off x="2468428" y="3801998"/>
            <a:ext cx="4732472" cy="769711"/>
          </a:xfrm>
          <a:prstGeom prst="roundRect">
            <a:avLst/>
          </a:prstGeom>
          <a:solidFill>
            <a:schemeClr val="accent4">
              <a:lumMod val="60000"/>
              <a:lumOff val="40000"/>
            </a:schemeClr>
          </a:solidFill>
          <a:ln w="28575">
            <a:solidFill>
              <a:schemeClr val="tx1">
                <a:lumMod val="95000"/>
                <a:lumOff val="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zh-CN" sz="2800" dirty="0">
                <a:solidFill>
                  <a:schemeClr val="tx1"/>
                </a:solidFill>
                <a:latin typeface="微软雅黑" panose="020B0503020204020204" pitchFamily="34" charset="-122"/>
                <a:ea typeface="微软雅黑" panose="020B0503020204020204" pitchFamily="34" charset="-122"/>
              </a:rPr>
              <a:t>模型评估与选择</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3" name="椭圆 12">
            <a:extLst>
              <a:ext uri="{FF2B5EF4-FFF2-40B4-BE49-F238E27FC236}">
                <a16:creationId xmlns:a16="http://schemas.microsoft.com/office/drawing/2014/main" id="{9BB128EE-0BD0-B0D0-B97B-B56FC7BDA2A4}"/>
              </a:ext>
            </a:extLst>
          </p:cNvPr>
          <p:cNvSpPr/>
          <p:nvPr/>
        </p:nvSpPr>
        <p:spPr>
          <a:xfrm>
            <a:off x="2119306" y="3791859"/>
            <a:ext cx="830580" cy="823085"/>
          </a:xfrm>
          <a:prstGeom prst="ellipse">
            <a:avLst/>
          </a:prstGeom>
          <a:solidFill>
            <a:schemeClr val="accent4">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dirty="0">
                <a:solidFill>
                  <a:schemeClr val="tx1"/>
                </a:solidFill>
              </a:rPr>
              <a:t>3</a:t>
            </a:r>
            <a:endParaRPr lang="zh-CN" altLang="en-US" sz="3200" dirty="0">
              <a:solidFill>
                <a:schemeClr val="tx1"/>
              </a:solidFill>
            </a:endParaRPr>
          </a:p>
        </p:txBody>
      </p:sp>
      <p:sp>
        <p:nvSpPr>
          <p:cNvPr id="14" name="圆角矩形 27">
            <a:extLst>
              <a:ext uri="{FF2B5EF4-FFF2-40B4-BE49-F238E27FC236}">
                <a16:creationId xmlns:a16="http://schemas.microsoft.com/office/drawing/2014/main" id="{577397E8-1DF4-6F41-0E43-CCE10EEA8F2F}"/>
              </a:ext>
            </a:extLst>
          </p:cNvPr>
          <p:cNvSpPr/>
          <p:nvPr/>
        </p:nvSpPr>
        <p:spPr>
          <a:xfrm>
            <a:off x="2534596" y="4876362"/>
            <a:ext cx="4732472" cy="769711"/>
          </a:xfrm>
          <a:prstGeom prst="roundRect">
            <a:avLst/>
          </a:prstGeom>
          <a:solidFill>
            <a:schemeClr val="accent6"/>
          </a:solidFill>
          <a:ln w="28575">
            <a:solidFill>
              <a:schemeClr val="tx1">
                <a:lumMod val="95000"/>
                <a:lumOff val="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sz="2800" dirty="0">
                <a:solidFill>
                  <a:schemeClr val="tx1"/>
                </a:solidFill>
                <a:latin typeface="微软雅黑" panose="020B0503020204020204" pitchFamily="34" charset="-122"/>
                <a:ea typeface="微软雅黑" panose="020B0503020204020204" pitchFamily="34" charset="-122"/>
              </a:rPr>
              <a:t>   </a:t>
            </a:r>
            <a:r>
              <a:rPr lang="zh-CN" altLang="zh-CN" sz="2800" dirty="0">
                <a:solidFill>
                  <a:schemeClr val="tx1"/>
                </a:solidFill>
                <a:latin typeface="微软雅黑" panose="020B0503020204020204" pitchFamily="34" charset="-122"/>
                <a:ea typeface="微软雅黑" panose="020B0503020204020204" pitchFamily="34" charset="-122"/>
              </a:rPr>
              <a:t>大模型技术的兴起与应用</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5" name="椭圆 14">
            <a:extLst>
              <a:ext uri="{FF2B5EF4-FFF2-40B4-BE49-F238E27FC236}">
                <a16:creationId xmlns:a16="http://schemas.microsoft.com/office/drawing/2014/main" id="{C953CA6C-A3F5-07DD-CEBD-7E3AD795EA27}"/>
              </a:ext>
            </a:extLst>
          </p:cNvPr>
          <p:cNvSpPr/>
          <p:nvPr/>
        </p:nvSpPr>
        <p:spPr>
          <a:xfrm>
            <a:off x="2119306" y="4880431"/>
            <a:ext cx="830580" cy="823085"/>
          </a:xfrm>
          <a:prstGeom prst="ellipse">
            <a:avLst/>
          </a:prstGeom>
          <a:solidFill>
            <a:schemeClr val="accent6"/>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CN" sz="3200" dirty="0">
                <a:solidFill>
                  <a:schemeClr val="tx1"/>
                </a:solidFill>
              </a:rPr>
              <a:t>4</a:t>
            </a:r>
            <a:endParaRPr lang="zh-CN" altLang="en-US" sz="3200" dirty="0">
              <a:solidFill>
                <a:schemeClr val="tx1"/>
              </a:solidFill>
            </a:endParaRPr>
          </a:p>
        </p:txBody>
      </p:sp>
    </p:spTree>
    <p:custDataLst>
      <p:tags r:id="rId1"/>
    </p:custDataLst>
    <p:extLst>
      <p:ext uri="{BB962C8B-B14F-4D97-AF65-F5344CB8AC3E}">
        <p14:creationId xmlns:p14="http://schemas.microsoft.com/office/powerpoint/2010/main" val="1442716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矩形 86"/>
          <p:cNvSpPr/>
          <p:nvPr>
            <p:custDataLst>
              <p:tags r:id="rId2"/>
            </p:custDataLst>
          </p:nvPr>
        </p:nvSpPr>
        <p:spPr>
          <a:xfrm>
            <a:off x="1605879" y="2674460"/>
            <a:ext cx="1116963" cy="829945"/>
          </a:xfrm>
          <a:prstGeom prst="rect">
            <a:avLst/>
          </a:prstGeom>
          <a:noFill/>
        </p:spPr>
        <p:txBody>
          <a:bodyPr wrap="square">
            <a:normAutofit/>
          </a:bodyPr>
          <a:lstStyle/>
          <a:p>
            <a:r>
              <a:rPr lang="en-US" altLang="zh-CN" sz="4800" b="1" spc="-200" dirty="0">
                <a:solidFill>
                  <a:schemeClr val="accent1"/>
                </a:solidFill>
                <a:uFillTx/>
                <a:latin typeface="Arial" panose="020B0604020202020204" pitchFamily="34" charset="0"/>
                <a:ea typeface="微软雅黑" panose="020B0503020204020204" charset="-122"/>
                <a:cs typeface="+mn-ea"/>
                <a:sym typeface="+mn-lt"/>
              </a:rPr>
              <a:t>01.</a:t>
            </a:r>
          </a:p>
        </p:txBody>
      </p:sp>
      <p:sp>
        <p:nvSpPr>
          <p:cNvPr id="90" name="矩形 89"/>
          <p:cNvSpPr/>
          <p:nvPr>
            <p:custDataLst>
              <p:tags r:id="rId3"/>
            </p:custDataLst>
          </p:nvPr>
        </p:nvSpPr>
        <p:spPr>
          <a:xfrm>
            <a:off x="1685778" y="4458970"/>
            <a:ext cx="1116963" cy="829945"/>
          </a:xfrm>
          <a:prstGeom prst="rect">
            <a:avLst/>
          </a:prstGeom>
          <a:noFill/>
        </p:spPr>
        <p:txBody>
          <a:bodyPr wrap="square">
            <a:normAutofit/>
          </a:bodyPr>
          <a:lstStyle/>
          <a:p>
            <a:r>
              <a:rPr lang="en-US" altLang="zh-CN" sz="4800" b="1" spc="-200" dirty="0">
                <a:solidFill>
                  <a:schemeClr val="accent3"/>
                </a:solidFill>
                <a:uFillTx/>
                <a:latin typeface="Arial" panose="020B0604020202020204" pitchFamily="34" charset="0"/>
                <a:ea typeface="微软雅黑" panose="020B0503020204020204" charset="-122"/>
                <a:cs typeface="+mn-ea"/>
                <a:sym typeface="+mn-lt"/>
              </a:rPr>
              <a:t>03.</a:t>
            </a:r>
          </a:p>
        </p:txBody>
      </p:sp>
      <p:sp>
        <p:nvSpPr>
          <p:cNvPr id="91" name="矩形 90"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4"/>
            </p:custDataLst>
          </p:nvPr>
        </p:nvSpPr>
        <p:spPr>
          <a:xfrm>
            <a:off x="2713990" y="4458970"/>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模型评估方法</a:t>
            </a:r>
            <a:endParaRPr lang="zh-CN" altLang="en-US" sz="2400" b="1" spc="100" dirty="0">
              <a:solidFill>
                <a:schemeClr val="accent3"/>
              </a:solidFill>
              <a:uFillTx/>
              <a:latin typeface="Arial" panose="020B0604020202020204" pitchFamily="34" charset="0"/>
              <a:ea typeface="微软雅黑" panose="020B0503020204020204" charset="-122"/>
              <a:cs typeface="+mn-ea"/>
              <a:sym typeface="+mn-lt"/>
            </a:endParaRPr>
          </a:p>
        </p:txBody>
      </p:sp>
      <p:sp>
        <p:nvSpPr>
          <p:cNvPr id="93" name="矩形 92"/>
          <p:cNvSpPr/>
          <p:nvPr>
            <p:custDataLst>
              <p:tags r:id="rId5"/>
            </p:custDataLst>
          </p:nvPr>
        </p:nvSpPr>
        <p:spPr>
          <a:xfrm>
            <a:off x="5777194" y="2674460"/>
            <a:ext cx="1116963" cy="829945"/>
          </a:xfrm>
          <a:prstGeom prst="rect">
            <a:avLst/>
          </a:prstGeom>
          <a:noFill/>
        </p:spPr>
        <p:txBody>
          <a:bodyPr wrap="square">
            <a:normAutofit/>
          </a:bodyPr>
          <a:lstStyle/>
          <a:p>
            <a:r>
              <a:rPr lang="en-US" altLang="zh-CN" sz="4800" b="1" spc="-200" dirty="0">
                <a:solidFill>
                  <a:schemeClr val="accent2"/>
                </a:solidFill>
                <a:uFillTx/>
                <a:latin typeface="Arial" panose="020B0604020202020204" pitchFamily="34" charset="0"/>
                <a:ea typeface="微软雅黑" panose="020B0503020204020204" charset="-122"/>
                <a:cs typeface="+mn-ea"/>
                <a:sym typeface="+mn-lt"/>
              </a:rPr>
              <a:t>02.</a:t>
            </a:r>
          </a:p>
        </p:txBody>
      </p:sp>
      <p:sp>
        <p:nvSpPr>
          <p:cNvPr id="94" name="矩形 93" descr="e7d195523061f1c0cef09ac28eaae964ec9988a5cce77c8b8C1E4685C6E6B40CD7615480512384A61EE159C6FE0045D14B61E85D0A95589D558B81FFC809322ACC20DC2254D928200A3EA0841B8B1814D46540F92FDE0CC7D2E4FED8FEEFC6C9A68F4EFD8E967F607C3A4874F08B710D4B9EDAF2198A37174DB562817F68A467C4A8AF4E469EC69C"/>
          <p:cNvSpPr/>
          <p:nvPr>
            <p:custDataLst>
              <p:tags r:id="rId6"/>
            </p:custDataLst>
          </p:nvPr>
        </p:nvSpPr>
        <p:spPr>
          <a:xfrm>
            <a:off x="2574916" y="2643822"/>
            <a:ext cx="3202278" cy="60134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2"/>
                </a:solidFill>
                <a:uFillTx/>
                <a:latin typeface="Arial" panose="020B0604020202020204" pitchFamily="34" charset="0"/>
                <a:ea typeface="微软雅黑" panose="020B0503020204020204" charset="-122"/>
                <a:cs typeface="+mn-ea"/>
                <a:sym typeface="+mn-lt"/>
              </a:rPr>
              <a:t>掌握</a:t>
            </a:r>
            <a:r>
              <a:rPr lang="zh-CN" altLang="en-US" sz="2400" b="1" spc="100" dirty="0">
                <a:solidFill>
                  <a:schemeClr val="accent2"/>
                </a:solidFill>
                <a:latin typeface="Arial" panose="020B0604020202020204" pitchFamily="34" charset="0"/>
                <a:ea typeface="微软雅黑" panose="020B0503020204020204" charset="-122"/>
                <a:cs typeface="+mn-ea"/>
                <a:sym typeface="+mn-lt"/>
              </a:rPr>
              <a:t>机器学习三要素</a:t>
            </a:r>
            <a:endParaRPr lang="zh-CN" altLang="en-US" sz="2400" b="1" spc="100" dirty="0">
              <a:solidFill>
                <a:schemeClr val="accent2"/>
              </a:solidFill>
              <a:uFillTx/>
              <a:latin typeface="Arial" panose="020B0604020202020204" pitchFamily="34" charset="0"/>
              <a:ea typeface="微软雅黑" panose="020B0503020204020204" charset="-122"/>
              <a:cs typeface="+mn-ea"/>
              <a:sym typeface="+mn-lt"/>
            </a:endParaRPr>
          </a:p>
        </p:txBody>
      </p:sp>
      <p:sp>
        <p:nvSpPr>
          <p:cNvPr id="97" name="矩形 96"/>
          <p:cNvSpPr/>
          <p:nvPr>
            <p:custDataLst>
              <p:tags r:id="rId7"/>
            </p:custDataLst>
          </p:nvPr>
        </p:nvSpPr>
        <p:spPr>
          <a:xfrm>
            <a:off x="5777194" y="4520286"/>
            <a:ext cx="1116963" cy="829945"/>
          </a:xfrm>
          <a:prstGeom prst="rect">
            <a:avLst/>
          </a:prstGeom>
          <a:noFill/>
        </p:spPr>
        <p:txBody>
          <a:bodyPr wrap="square">
            <a:normAutofit/>
          </a:bodyPr>
          <a:lstStyle/>
          <a:p>
            <a:r>
              <a:rPr lang="en-US" altLang="zh-CN" sz="4800" b="1" spc="-200" dirty="0">
                <a:solidFill>
                  <a:schemeClr val="accent4"/>
                </a:solidFill>
                <a:uFillTx/>
                <a:latin typeface="Arial" panose="020B0604020202020204" pitchFamily="34" charset="0"/>
                <a:ea typeface="微软雅黑" panose="020B0503020204020204" charset="-122"/>
                <a:cs typeface="+mn-ea"/>
                <a:sym typeface="+mn-lt"/>
              </a:rPr>
              <a:t>04.</a:t>
            </a:r>
          </a:p>
        </p:txBody>
      </p:sp>
      <p:sp>
        <p:nvSpPr>
          <p:cNvPr id="101" name="文本框 100"/>
          <p:cNvSpPr txBox="1"/>
          <p:nvPr>
            <p:custDataLst>
              <p:tags r:id="rId8"/>
            </p:custDataLst>
          </p:nvPr>
        </p:nvSpPr>
        <p:spPr>
          <a:xfrm>
            <a:off x="715645" y="817880"/>
            <a:ext cx="4610100" cy="1213485"/>
          </a:xfrm>
          <a:prstGeom prst="rect">
            <a:avLst/>
          </a:prstGeom>
          <a:noFill/>
        </p:spPr>
        <p:txBody>
          <a:bodyPr wrap="square" rtlCol="0" anchor="ctr" anchorCtr="0">
            <a:normAutofit/>
          </a:bodyPr>
          <a:lstStyle/>
          <a:p>
            <a:pPr algn="l">
              <a:lnSpc>
                <a:spcPct val="100000"/>
              </a:lnSpc>
            </a:pPr>
            <a:r>
              <a:rPr lang="en-US" altLang="zh-CN" sz="5400" b="1" spc="100" dirty="0">
                <a:solidFill>
                  <a:schemeClr val="tx1">
                    <a:lumMod val="85000"/>
                    <a:lumOff val="15000"/>
                  </a:schemeClr>
                </a:solidFill>
                <a:uFillTx/>
                <a:latin typeface="Arial" panose="020B0604020202020204" pitchFamily="34" charset="0"/>
                <a:ea typeface="汉仪旗黑-85S" panose="00020600040101010101" pitchFamily="18" charset="-122"/>
                <a:cs typeface="+mn-ea"/>
                <a:sym typeface="+mn-lt"/>
              </a:rPr>
              <a:t>学习目标</a:t>
            </a:r>
          </a:p>
        </p:txBody>
      </p:sp>
      <p:sp>
        <p:nvSpPr>
          <p:cNvPr id="12" name="文本框 11">
            <a:extLst>
              <a:ext uri="{FF2B5EF4-FFF2-40B4-BE49-F238E27FC236}">
                <a16:creationId xmlns:a16="http://schemas.microsoft.com/office/drawing/2014/main" id="{6E195ADA-EF78-4580-90A7-6A1993EAF5B9}"/>
              </a:ext>
            </a:extLst>
          </p:cNvPr>
          <p:cNvSpPr txBox="1"/>
          <p:nvPr/>
        </p:nvSpPr>
        <p:spPr>
          <a:xfrm>
            <a:off x="6894157" y="2904766"/>
            <a:ext cx="401649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400" b="1" spc="100" dirty="0">
                <a:solidFill>
                  <a:schemeClr val="accent2"/>
                </a:solidFill>
                <a:latin typeface="Arial" panose="020B0604020202020204" pitchFamily="34" charset="0"/>
                <a:ea typeface="微软雅黑" panose="020B0503020204020204" charset="-122"/>
                <a:cs typeface="+mn-ea"/>
              </a:rPr>
              <a:t>机器学习方法流程</a:t>
            </a:r>
          </a:p>
        </p:txBody>
      </p:sp>
      <p:sp>
        <p:nvSpPr>
          <p:cNvPr id="13" name="矩形 12" descr="e7d195523061f1c0cef09ac28eaae964ec9988a5cce77c8b8C1E4685C6E6B40CD7615480512384A61EE159C6FE0045D14B61E85D0A95589D558B81FFC809322ACC20DC2254D928200A3EA0841B8B1814D46540F92FDE0CC7D2E4FED8FEEFC6C9A68F4EFD8E967F607C3A4874F08B710D4B9EDAF2198A37174DB562817F68A467C4A8AF4E469EC69C">
            <a:extLst>
              <a:ext uri="{FF2B5EF4-FFF2-40B4-BE49-F238E27FC236}">
                <a16:creationId xmlns:a16="http://schemas.microsoft.com/office/drawing/2014/main" id="{C26D57C0-7532-41D1-83AB-E4CFF9EEB9FE}"/>
              </a:ext>
            </a:extLst>
          </p:cNvPr>
          <p:cNvSpPr/>
          <p:nvPr>
            <p:custDataLst>
              <p:tags r:id="rId9"/>
            </p:custDataLst>
          </p:nvPr>
        </p:nvSpPr>
        <p:spPr>
          <a:xfrm>
            <a:off x="6966394" y="4520286"/>
            <a:ext cx="2863850" cy="591185"/>
          </a:xfrm>
          <a:prstGeom prst="rect">
            <a:avLst/>
          </a:prstGeom>
          <a:ln>
            <a:noFill/>
          </a:ln>
        </p:spPr>
        <p:txBody>
          <a:bodyPr wrap="square" lIns="90000" tIns="46800" rIns="90000" bIns="0" anchor="b" anchorCtr="0">
            <a:normAutofit/>
          </a:bodyPr>
          <a:lstStyle/>
          <a:p>
            <a:pPr lvl="0" algn="l">
              <a:buClrTx/>
              <a:buSzTx/>
              <a:buFontTx/>
            </a:pPr>
            <a:r>
              <a:rPr lang="zh-CN" altLang="en-US" sz="2400" b="1" spc="100" dirty="0">
                <a:solidFill>
                  <a:schemeClr val="accent3"/>
                </a:solidFill>
                <a:uFillTx/>
                <a:latin typeface="Arial" panose="020B0604020202020204" pitchFamily="34" charset="0"/>
                <a:ea typeface="微软雅黑" panose="020B0503020204020204" charset="-122"/>
                <a:cs typeface="+mn-ea"/>
                <a:sym typeface="+mn-lt"/>
              </a:rPr>
              <a:t>性能量度</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04EE7-3600-39CD-A43B-DEAF91B819C7}"/>
            </a:ext>
          </a:extLst>
        </p:cNvPr>
        <p:cNvGrpSpPr/>
        <p:nvPr/>
      </p:nvGrpSpPr>
      <p:grpSpPr>
        <a:xfrm>
          <a:off x="0" y="0"/>
          <a:ext cx="0" cy="0"/>
          <a:chOff x="0" y="0"/>
          <a:chExt cx="0" cy="0"/>
        </a:xfrm>
      </p:grpSpPr>
      <p:sp>
        <p:nvSpPr>
          <p:cNvPr id="101" name="文本框 100">
            <a:extLst>
              <a:ext uri="{FF2B5EF4-FFF2-40B4-BE49-F238E27FC236}">
                <a16:creationId xmlns:a16="http://schemas.microsoft.com/office/drawing/2014/main" id="{2CA4F9A6-A272-C56D-6302-A7660A97D010}"/>
              </a:ext>
            </a:extLst>
          </p:cNvPr>
          <p:cNvSpPr txBox="1"/>
          <p:nvPr>
            <p:custDataLst>
              <p:tags r:id="rId2"/>
            </p:custDataLst>
          </p:nvPr>
        </p:nvSpPr>
        <p:spPr>
          <a:xfrm>
            <a:off x="83435" y="96575"/>
            <a:ext cx="4610100" cy="1213485"/>
          </a:xfrm>
          <a:prstGeom prst="rect">
            <a:avLst/>
          </a:prstGeom>
          <a:noFill/>
        </p:spPr>
        <p:txBody>
          <a:bodyPr wrap="square" rtlCol="0" anchor="ctr" anchorCtr="0">
            <a:normAutofit fontScale="85000" lnSpcReduction="10000"/>
          </a:bodyPr>
          <a:lstStyle/>
          <a:p>
            <a:r>
              <a:rPr kumimoji="1" lang="zh-CN" altLang="en-US" sz="5400" b="1" dirty="0">
                <a:latin typeface="微软雅黑" panose="020B0503020204020204" pitchFamily="34" charset="-122"/>
                <a:ea typeface="微软雅黑" panose="020B0503020204020204" pitchFamily="34" charset="-122"/>
              </a:rPr>
              <a:t>什么是机器学习</a:t>
            </a:r>
            <a:endParaRPr lang="zh-CN" altLang="en-US" sz="5400" b="1"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522A898B-36D8-DC37-A899-E45CCB5CB764}"/>
              </a:ext>
            </a:extLst>
          </p:cNvPr>
          <p:cNvSpPr/>
          <p:nvPr/>
        </p:nvSpPr>
        <p:spPr>
          <a:xfrm>
            <a:off x="163334" y="1071313"/>
            <a:ext cx="10397218" cy="892552"/>
          </a:xfrm>
          <a:prstGeom prst="rect">
            <a:avLst/>
          </a:prstGeom>
        </p:spPr>
        <p:txBody>
          <a:bodyPr wrap="square">
            <a:spAutoFit/>
          </a:bodyPr>
          <a:lstStyle/>
          <a:p>
            <a:r>
              <a:rPr kumimoji="1" lang="zh-CN" altLang="en-US" sz="2600" b="1" dirty="0">
                <a:solidFill>
                  <a:srgbClr val="0033CC"/>
                </a:solidFill>
                <a:latin typeface="微软雅黑" panose="020B0503020204020204" pitchFamily="34" charset="-122"/>
                <a:ea typeface="微软雅黑" panose="020B0503020204020204" pitchFamily="34" charset="-122"/>
              </a:rPr>
              <a:t>机器学习是从人工智能中产生的一个重要学科分支，是实现智能化的关键。</a:t>
            </a:r>
          </a:p>
        </p:txBody>
      </p:sp>
      <p:grpSp>
        <p:nvGrpSpPr>
          <p:cNvPr id="3" name="组 28">
            <a:extLst>
              <a:ext uri="{FF2B5EF4-FFF2-40B4-BE49-F238E27FC236}">
                <a16:creationId xmlns:a16="http://schemas.microsoft.com/office/drawing/2014/main" id="{39CCF53B-F175-2617-DE32-69DF809C0DEE}"/>
              </a:ext>
            </a:extLst>
          </p:cNvPr>
          <p:cNvGrpSpPr/>
          <p:nvPr/>
        </p:nvGrpSpPr>
        <p:grpSpPr>
          <a:xfrm>
            <a:off x="163334" y="2002772"/>
            <a:ext cx="10557164" cy="1938992"/>
            <a:chOff x="1490332" y="2451131"/>
            <a:chExt cx="8412480" cy="1938992"/>
          </a:xfrm>
        </p:grpSpPr>
        <p:sp>
          <p:nvSpPr>
            <p:cNvPr id="4" name="矩形 3">
              <a:extLst>
                <a:ext uri="{FF2B5EF4-FFF2-40B4-BE49-F238E27FC236}">
                  <a16:creationId xmlns:a16="http://schemas.microsoft.com/office/drawing/2014/main" id="{7DE034F7-F599-9700-9A00-1A11D6A3E6CA}"/>
                </a:ext>
              </a:extLst>
            </p:cNvPr>
            <p:cNvSpPr/>
            <p:nvPr/>
          </p:nvSpPr>
          <p:spPr>
            <a:xfrm>
              <a:off x="1563714" y="2451131"/>
              <a:ext cx="8339098" cy="1938992"/>
            </a:xfrm>
            <a:prstGeom prst="rect">
              <a:avLst/>
            </a:prstGeom>
          </p:spPr>
          <p:txBody>
            <a:bodyPr wrap="square">
              <a:spAutoFit/>
            </a:bodyPr>
            <a:lstStyle/>
            <a:p>
              <a:pPr>
                <a:lnSpc>
                  <a:spcPct val="125000"/>
                </a:lnSpc>
              </a:pPr>
              <a:r>
                <a:rPr kumimoji="1" lang="zh-CN" altLang="en-US" sz="2400" dirty="0">
                  <a:latin typeface="微软雅黑" panose="020B0503020204020204" pitchFamily="34" charset="-122"/>
                  <a:ea typeface="微软雅黑" panose="020B0503020204020204" pitchFamily="34" charset="-122"/>
                </a:rPr>
                <a:t>机器学习（</a:t>
              </a:r>
              <a:r>
                <a:rPr kumimoji="1" lang="en-US" altLang="zh-CN" sz="2400" dirty="0">
                  <a:latin typeface="微软雅黑" panose="020B0503020204020204" pitchFamily="34" charset="-122"/>
                  <a:ea typeface="微软雅黑" panose="020B0503020204020204" pitchFamily="34" charset="-122"/>
                </a:rPr>
                <a:t>Machine Learning</a:t>
              </a:r>
              <a:r>
                <a:rPr kumimoji="1" lang="zh-CN" altLang="en-US" sz="2400" dirty="0">
                  <a:latin typeface="微软雅黑" panose="020B0503020204020204" pitchFamily="34" charset="-122"/>
                  <a:ea typeface="微软雅黑" panose="020B0503020204020204" pitchFamily="34" charset="-122"/>
                </a:rPr>
                <a:t>）是一门多领域</a:t>
              </a:r>
              <a:r>
                <a:rPr kumimoji="1" lang="zh-CN" altLang="en-US" sz="2400" b="1" dirty="0">
                  <a:latin typeface="微软雅黑" panose="020B0503020204020204" pitchFamily="34" charset="-122"/>
                  <a:ea typeface="微软雅黑" panose="020B0503020204020204" pitchFamily="34" charset="-122"/>
                </a:rPr>
                <a:t>交叉学科</a:t>
              </a:r>
              <a:r>
                <a:rPr kumimoji="1" lang="zh-CN" altLang="en-US" sz="2400" dirty="0">
                  <a:latin typeface="微软雅黑" panose="020B0503020204020204" pitchFamily="34" charset="-122"/>
                  <a:ea typeface="微软雅黑" panose="020B0503020204020204" pitchFamily="34" charset="-122"/>
                </a:rPr>
                <a:t>，涉及概率论、统计学、逼近论、凸分析、算法复杂度理论等多门学科 。专门研究计算机怎样模拟或实现人类的学习行为，以获取新知识或技能，重新组织已有的知识结构使之不断改善自身的性能。</a:t>
              </a:r>
            </a:p>
          </p:txBody>
        </p:sp>
        <p:sp>
          <p:nvSpPr>
            <p:cNvPr id="5" name="圆角矩形 27">
              <a:extLst>
                <a:ext uri="{FF2B5EF4-FFF2-40B4-BE49-F238E27FC236}">
                  <a16:creationId xmlns:a16="http://schemas.microsoft.com/office/drawing/2014/main" id="{5806FEA6-8814-6A66-6522-0762817DAA62}"/>
                </a:ext>
              </a:extLst>
            </p:cNvPr>
            <p:cNvSpPr/>
            <p:nvPr/>
          </p:nvSpPr>
          <p:spPr>
            <a:xfrm>
              <a:off x="1490332" y="2464831"/>
              <a:ext cx="8412479" cy="1854836"/>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7" name="圆角矩形 29">
            <a:extLst>
              <a:ext uri="{FF2B5EF4-FFF2-40B4-BE49-F238E27FC236}">
                <a16:creationId xmlns:a16="http://schemas.microsoft.com/office/drawing/2014/main" id="{F88263B4-7C9F-6D75-69FB-6ED7D9DEB272}"/>
              </a:ext>
            </a:extLst>
          </p:cNvPr>
          <p:cNvSpPr/>
          <p:nvPr/>
        </p:nvSpPr>
        <p:spPr>
          <a:xfrm>
            <a:off x="8840496" y="3469959"/>
            <a:ext cx="1880001" cy="514740"/>
          </a:xfrm>
          <a:prstGeom prst="roundRect">
            <a:avLst/>
          </a:prstGeom>
          <a:solidFill>
            <a:srgbClr val="D26CAF"/>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6" name="矩形 5">
            <a:extLst>
              <a:ext uri="{FF2B5EF4-FFF2-40B4-BE49-F238E27FC236}">
                <a16:creationId xmlns:a16="http://schemas.microsoft.com/office/drawing/2014/main" id="{94C62FCE-EA5F-D07D-5D7E-817215644B00}"/>
              </a:ext>
            </a:extLst>
          </p:cNvPr>
          <p:cNvSpPr/>
          <p:nvPr/>
        </p:nvSpPr>
        <p:spPr>
          <a:xfrm>
            <a:off x="8959367" y="3486428"/>
            <a:ext cx="1642257" cy="523220"/>
          </a:xfrm>
          <a:prstGeom prst="rect">
            <a:avLst/>
          </a:prstGeom>
        </p:spPr>
        <p:txBody>
          <a:bodyPr wrap="square">
            <a:spAutoFit/>
          </a:bodyPr>
          <a:lstStyle/>
          <a:p>
            <a:r>
              <a:rPr kumimoji="1" lang="zh-CN" altLang="en-US" sz="2800" b="1" dirty="0">
                <a:latin typeface="微软雅黑" panose="020B0503020204020204" pitchFamily="34" charset="-122"/>
                <a:ea typeface="微软雅黑" panose="020B0503020204020204" pitchFamily="34" charset="-122"/>
              </a:rPr>
              <a:t>百度百科</a:t>
            </a:r>
            <a:endParaRPr kumimoji="1" lang="zh-CN" altLang="en-US" sz="2800" dirty="0">
              <a:latin typeface="微软雅黑" panose="020B0503020204020204" pitchFamily="34" charset="-122"/>
              <a:ea typeface="微软雅黑" panose="020B0503020204020204" pitchFamily="34" charset="-122"/>
            </a:endParaRPr>
          </a:p>
        </p:txBody>
      </p:sp>
      <p:grpSp>
        <p:nvGrpSpPr>
          <p:cNvPr id="8" name="组 28">
            <a:extLst>
              <a:ext uri="{FF2B5EF4-FFF2-40B4-BE49-F238E27FC236}">
                <a16:creationId xmlns:a16="http://schemas.microsoft.com/office/drawing/2014/main" id="{D7E9F8DF-E754-E103-168E-7AFE6C44E9D3}"/>
              </a:ext>
            </a:extLst>
          </p:cNvPr>
          <p:cNvGrpSpPr/>
          <p:nvPr/>
        </p:nvGrpSpPr>
        <p:grpSpPr>
          <a:xfrm>
            <a:off x="88202" y="4148664"/>
            <a:ext cx="10557164" cy="1868536"/>
            <a:chOff x="1490332" y="2451131"/>
            <a:chExt cx="8412480" cy="1868536"/>
          </a:xfrm>
        </p:grpSpPr>
        <p:sp>
          <p:nvSpPr>
            <p:cNvPr id="9" name="矩形 8">
              <a:extLst>
                <a:ext uri="{FF2B5EF4-FFF2-40B4-BE49-F238E27FC236}">
                  <a16:creationId xmlns:a16="http://schemas.microsoft.com/office/drawing/2014/main" id="{05C63B8E-CE4E-8EAC-64FA-5AE2943CDDB6}"/>
                </a:ext>
              </a:extLst>
            </p:cNvPr>
            <p:cNvSpPr/>
            <p:nvPr/>
          </p:nvSpPr>
          <p:spPr>
            <a:xfrm>
              <a:off x="1563714" y="2451131"/>
              <a:ext cx="8339098" cy="1443152"/>
            </a:xfrm>
            <a:prstGeom prst="rect">
              <a:avLst/>
            </a:prstGeom>
          </p:spPr>
          <p:txBody>
            <a:bodyPr wrap="square">
              <a:spAutoFit/>
            </a:bodyPr>
            <a:lstStyle/>
            <a:p>
              <a:pPr>
                <a:lnSpc>
                  <a:spcPct val="125000"/>
                </a:lnSpc>
              </a:pPr>
              <a:r>
                <a:rPr lang="en-US" altLang="zh-CN" sz="2400" b="0" i="0" dirty="0">
                  <a:solidFill>
                    <a:srgbClr val="4F4F4F"/>
                  </a:solidFill>
                  <a:effectLst/>
                  <a:latin typeface="-apple-system"/>
                </a:rPr>
                <a:t>A computer program is said to learn from experience E with respect to some task T and some performance measure P, if its performance on T, as measured by P, improves with experience E.</a:t>
              </a:r>
            </a:p>
          </p:txBody>
        </p:sp>
        <p:sp>
          <p:nvSpPr>
            <p:cNvPr id="10" name="圆角矩形 27">
              <a:extLst>
                <a:ext uri="{FF2B5EF4-FFF2-40B4-BE49-F238E27FC236}">
                  <a16:creationId xmlns:a16="http://schemas.microsoft.com/office/drawing/2014/main" id="{6A35CCB9-A07C-EAEA-A4E3-60222D8C1AA8}"/>
                </a:ext>
              </a:extLst>
            </p:cNvPr>
            <p:cNvSpPr/>
            <p:nvPr/>
          </p:nvSpPr>
          <p:spPr>
            <a:xfrm>
              <a:off x="1490332" y="2464831"/>
              <a:ext cx="8412479" cy="1854836"/>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1" name="圆角矩形 29">
            <a:extLst>
              <a:ext uri="{FF2B5EF4-FFF2-40B4-BE49-F238E27FC236}">
                <a16:creationId xmlns:a16="http://schemas.microsoft.com/office/drawing/2014/main" id="{EA9450A6-B3FA-A95F-0154-46A672A853CE}"/>
              </a:ext>
            </a:extLst>
          </p:cNvPr>
          <p:cNvSpPr/>
          <p:nvPr/>
        </p:nvSpPr>
        <p:spPr>
          <a:xfrm>
            <a:off x="8319219" y="5707315"/>
            <a:ext cx="2326146" cy="514740"/>
          </a:xfrm>
          <a:prstGeom prst="roundRect">
            <a:avLst/>
          </a:prstGeom>
          <a:solidFill>
            <a:srgbClr val="D26CAF"/>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14" name="矩形 13">
            <a:extLst>
              <a:ext uri="{FF2B5EF4-FFF2-40B4-BE49-F238E27FC236}">
                <a16:creationId xmlns:a16="http://schemas.microsoft.com/office/drawing/2014/main" id="{6686C6F3-4206-1851-43E1-A5EC95090E76}"/>
              </a:ext>
            </a:extLst>
          </p:cNvPr>
          <p:cNvSpPr/>
          <p:nvPr/>
        </p:nvSpPr>
        <p:spPr>
          <a:xfrm>
            <a:off x="8249606" y="5698835"/>
            <a:ext cx="3061778" cy="523220"/>
          </a:xfrm>
          <a:prstGeom prst="rect">
            <a:avLst/>
          </a:prstGeom>
        </p:spPr>
        <p:txBody>
          <a:bodyPr wrap="square">
            <a:spAutoFit/>
          </a:bodyPr>
          <a:lstStyle/>
          <a:p>
            <a:r>
              <a:rPr kumimoji="1" lang="en-US" altLang="zh-CN" sz="2800" b="1" dirty="0" err="1">
                <a:latin typeface="微软雅黑" panose="020B0503020204020204" pitchFamily="34" charset="-122"/>
                <a:ea typeface="微软雅黑" panose="020B0503020204020204" pitchFamily="34" charset="-122"/>
              </a:rPr>
              <a:t>TomMitchell</a:t>
            </a:r>
            <a:r>
              <a:rPr kumimoji="1" lang="en-US" altLang="zh-CN" sz="2800" b="1" dirty="0">
                <a:latin typeface="微软雅黑" panose="020B0503020204020204" pitchFamily="34" charset="-122"/>
                <a:ea typeface="微软雅黑" panose="020B0503020204020204" pitchFamily="34" charset="-122"/>
              </a:rPr>
              <a:t> </a:t>
            </a:r>
            <a:endParaRPr kumimoji="1" lang="zh-CN" altLang="en-US" sz="2800" b="1" dirty="0">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827242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6" grpId="0"/>
      <p:bldP spid="11" grpId="0" animBg="1"/>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AB550-3399-2001-2059-1FE054EC2CA6}"/>
            </a:ext>
          </a:extLst>
        </p:cNvPr>
        <p:cNvGrpSpPr/>
        <p:nvPr/>
      </p:nvGrpSpPr>
      <p:grpSpPr>
        <a:xfrm>
          <a:off x="0" y="0"/>
          <a:ext cx="0" cy="0"/>
          <a:chOff x="0" y="0"/>
          <a:chExt cx="0" cy="0"/>
        </a:xfrm>
      </p:grpSpPr>
      <p:sp>
        <p:nvSpPr>
          <p:cNvPr id="101" name="文本框 100">
            <a:extLst>
              <a:ext uri="{FF2B5EF4-FFF2-40B4-BE49-F238E27FC236}">
                <a16:creationId xmlns:a16="http://schemas.microsoft.com/office/drawing/2014/main" id="{2A858753-7822-3284-0D0B-3507BB9CFB55}"/>
              </a:ext>
            </a:extLst>
          </p:cNvPr>
          <p:cNvSpPr txBox="1"/>
          <p:nvPr>
            <p:custDataLst>
              <p:tags r:id="rId2"/>
            </p:custDataLst>
          </p:nvPr>
        </p:nvSpPr>
        <p:spPr>
          <a:xfrm>
            <a:off x="83435" y="96575"/>
            <a:ext cx="4610100" cy="1213485"/>
          </a:xfrm>
          <a:prstGeom prst="rect">
            <a:avLst/>
          </a:prstGeom>
          <a:noFill/>
        </p:spPr>
        <p:txBody>
          <a:bodyPr wrap="square" rtlCol="0" anchor="ctr" anchorCtr="0">
            <a:normAutofit fontScale="85000" lnSpcReduction="10000"/>
          </a:bodyPr>
          <a:lstStyle/>
          <a:p>
            <a:r>
              <a:rPr kumimoji="1" lang="zh-CN" altLang="en-US" sz="5400" b="1" dirty="0">
                <a:latin typeface="微软雅黑" panose="020B0503020204020204" pitchFamily="34" charset="-122"/>
                <a:ea typeface="微软雅黑" panose="020B0503020204020204" pitchFamily="34" charset="-122"/>
              </a:rPr>
              <a:t>什么是机器学习</a:t>
            </a:r>
            <a:endParaRPr lang="zh-CN" altLang="en-US" sz="5400" b="1"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C47B6A68-4BF5-5367-5499-F3C92904F73C}"/>
              </a:ext>
            </a:extLst>
          </p:cNvPr>
          <p:cNvSpPr/>
          <p:nvPr/>
        </p:nvSpPr>
        <p:spPr>
          <a:xfrm>
            <a:off x="163334" y="1071313"/>
            <a:ext cx="10397218" cy="892552"/>
          </a:xfrm>
          <a:prstGeom prst="rect">
            <a:avLst/>
          </a:prstGeom>
        </p:spPr>
        <p:txBody>
          <a:bodyPr wrap="square">
            <a:spAutoFit/>
          </a:bodyPr>
          <a:lstStyle/>
          <a:p>
            <a:r>
              <a:rPr kumimoji="1" lang="zh-CN" altLang="en-US" sz="2600" b="1" dirty="0">
                <a:solidFill>
                  <a:srgbClr val="0033CC"/>
                </a:solidFill>
                <a:latin typeface="微软雅黑" panose="020B0503020204020204" pitchFamily="34" charset="-122"/>
                <a:ea typeface="微软雅黑" panose="020B0503020204020204" pitchFamily="34" charset="-122"/>
              </a:rPr>
              <a:t>机器学习是从人工智能中产生的一个重要学科分支，是实现智能化的关键。</a:t>
            </a:r>
          </a:p>
        </p:txBody>
      </p:sp>
      <p:grpSp>
        <p:nvGrpSpPr>
          <p:cNvPr id="3" name="组 28">
            <a:extLst>
              <a:ext uri="{FF2B5EF4-FFF2-40B4-BE49-F238E27FC236}">
                <a16:creationId xmlns:a16="http://schemas.microsoft.com/office/drawing/2014/main" id="{D8B5040A-4071-8951-04B2-AFD7896F5449}"/>
              </a:ext>
            </a:extLst>
          </p:cNvPr>
          <p:cNvGrpSpPr/>
          <p:nvPr/>
        </p:nvGrpSpPr>
        <p:grpSpPr>
          <a:xfrm>
            <a:off x="163334" y="2002772"/>
            <a:ext cx="10557164" cy="1868536"/>
            <a:chOff x="1490332" y="2451131"/>
            <a:chExt cx="8412480" cy="1868536"/>
          </a:xfrm>
        </p:grpSpPr>
        <p:sp>
          <p:nvSpPr>
            <p:cNvPr id="4" name="矩形 3">
              <a:extLst>
                <a:ext uri="{FF2B5EF4-FFF2-40B4-BE49-F238E27FC236}">
                  <a16:creationId xmlns:a16="http://schemas.microsoft.com/office/drawing/2014/main" id="{CEDED0F8-FDE7-B438-2E94-2C83A5B85A9F}"/>
                </a:ext>
              </a:extLst>
            </p:cNvPr>
            <p:cNvSpPr/>
            <p:nvPr/>
          </p:nvSpPr>
          <p:spPr>
            <a:xfrm>
              <a:off x="1563714" y="2451131"/>
              <a:ext cx="8339098" cy="979755"/>
            </a:xfrm>
            <a:prstGeom prst="rect">
              <a:avLst/>
            </a:prstGeom>
          </p:spPr>
          <p:txBody>
            <a:bodyPr wrap="square">
              <a:spAutoFit/>
            </a:bodyPr>
            <a:lstStyle/>
            <a:p>
              <a:pPr>
                <a:lnSpc>
                  <a:spcPct val="125000"/>
                </a:lnSpc>
              </a:pPr>
              <a:r>
                <a:rPr lang="zh-CN" altLang="en-US" sz="2400" b="0" i="0" dirty="0">
                  <a:solidFill>
                    <a:srgbClr val="4D4D4D"/>
                  </a:solidFill>
                  <a:effectLst/>
                  <a:latin typeface="-apple-system"/>
                </a:rPr>
                <a:t>假设用</a:t>
              </a:r>
              <a:r>
                <a:rPr lang="en-US" altLang="zh-CN" sz="2400" b="0" i="0" dirty="0">
                  <a:solidFill>
                    <a:srgbClr val="4D4D4D"/>
                  </a:solidFill>
                  <a:effectLst/>
                  <a:latin typeface="-apple-system"/>
                </a:rPr>
                <a:t>P</a:t>
              </a:r>
              <a:r>
                <a:rPr lang="zh-CN" altLang="en-US" sz="2400" b="0" i="0" dirty="0">
                  <a:solidFill>
                    <a:srgbClr val="4D4D4D"/>
                  </a:solidFill>
                  <a:effectLst/>
                  <a:latin typeface="-apple-system"/>
                </a:rPr>
                <a:t>来评估计算机程序在某任务类</a:t>
              </a:r>
              <a:r>
                <a:rPr lang="en-US" altLang="zh-CN" sz="2400" b="0" i="0" dirty="0">
                  <a:solidFill>
                    <a:srgbClr val="4D4D4D"/>
                  </a:solidFill>
                  <a:effectLst/>
                  <a:latin typeface="-apple-system"/>
                </a:rPr>
                <a:t>T</a:t>
              </a:r>
              <a:r>
                <a:rPr lang="zh-CN" altLang="en-US" sz="2400" b="0" i="0" dirty="0">
                  <a:solidFill>
                    <a:srgbClr val="4D4D4D"/>
                  </a:solidFill>
                  <a:effectLst/>
                  <a:latin typeface="-apple-system"/>
                </a:rPr>
                <a:t>上的性能，若一个程序通过利用经验</a:t>
              </a:r>
              <a:r>
                <a:rPr lang="en-US" altLang="zh-CN" sz="2400" b="0" i="0" dirty="0">
                  <a:solidFill>
                    <a:srgbClr val="4D4D4D"/>
                  </a:solidFill>
                  <a:effectLst/>
                  <a:latin typeface="-apple-system"/>
                </a:rPr>
                <a:t>E</a:t>
              </a:r>
              <a:r>
                <a:rPr lang="zh-CN" altLang="en-US" sz="2400" b="0" i="0" dirty="0">
                  <a:solidFill>
                    <a:srgbClr val="4D4D4D"/>
                  </a:solidFill>
                  <a:effectLst/>
                  <a:latin typeface="-apple-system"/>
                </a:rPr>
                <a:t>在</a:t>
              </a:r>
              <a:r>
                <a:rPr lang="en-US" altLang="zh-CN" sz="2400" b="0" i="0" dirty="0">
                  <a:solidFill>
                    <a:srgbClr val="4D4D4D"/>
                  </a:solidFill>
                  <a:effectLst/>
                  <a:latin typeface="-apple-system"/>
                </a:rPr>
                <a:t>T</a:t>
              </a:r>
              <a:r>
                <a:rPr lang="zh-CN" altLang="en-US" sz="2400" b="0" i="0" dirty="0">
                  <a:solidFill>
                    <a:srgbClr val="4D4D4D"/>
                  </a:solidFill>
                  <a:effectLst/>
                  <a:latin typeface="-apple-system"/>
                </a:rPr>
                <a:t>中任务获得了性能改善，则我们就说关于</a:t>
              </a:r>
              <a:r>
                <a:rPr lang="en-US" altLang="zh-CN" sz="2400" b="0" i="0" dirty="0">
                  <a:solidFill>
                    <a:srgbClr val="4D4D4D"/>
                  </a:solidFill>
                  <a:effectLst/>
                  <a:latin typeface="-apple-system"/>
                </a:rPr>
                <a:t>T</a:t>
              </a:r>
              <a:r>
                <a:rPr lang="zh-CN" altLang="en-US" sz="2400" b="0" i="0" dirty="0">
                  <a:solidFill>
                    <a:srgbClr val="4D4D4D"/>
                  </a:solidFill>
                  <a:effectLst/>
                  <a:latin typeface="-apple-system"/>
                </a:rPr>
                <a:t>和</a:t>
              </a:r>
              <a:r>
                <a:rPr lang="en-US" altLang="zh-CN" sz="2400" b="0" i="0" dirty="0">
                  <a:solidFill>
                    <a:srgbClr val="4D4D4D"/>
                  </a:solidFill>
                  <a:effectLst/>
                  <a:latin typeface="-apple-system"/>
                </a:rPr>
                <a:t>P</a:t>
              </a:r>
              <a:r>
                <a:rPr lang="zh-CN" altLang="en-US" sz="2400" b="0" i="0" dirty="0">
                  <a:solidFill>
                    <a:srgbClr val="4D4D4D"/>
                  </a:solidFill>
                  <a:effectLst/>
                  <a:latin typeface="-apple-system"/>
                </a:rPr>
                <a:t>，该程序对</a:t>
              </a:r>
              <a:r>
                <a:rPr lang="en-US" altLang="zh-CN" sz="2400" b="0" i="0" dirty="0">
                  <a:solidFill>
                    <a:srgbClr val="4D4D4D"/>
                  </a:solidFill>
                  <a:effectLst/>
                  <a:latin typeface="-apple-system"/>
                </a:rPr>
                <a:t>E</a:t>
              </a:r>
              <a:r>
                <a:rPr lang="zh-CN" altLang="en-US" sz="2400" b="0" i="0" dirty="0">
                  <a:solidFill>
                    <a:srgbClr val="4D4D4D"/>
                  </a:solidFill>
                  <a:effectLst/>
                  <a:latin typeface="-apple-system"/>
                </a:rPr>
                <a:t>进行了学习”</a:t>
              </a:r>
              <a:endParaRPr kumimoji="1" lang="zh-CN" altLang="en-US" sz="2400" dirty="0">
                <a:latin typeface="微软雅黑" panose="020B0503020204020204" pitchFamily="34" charset="-122"/>
                <a:ea typeface="微软雅黑" panose="020B0503020204020204" pitchFamily="34" charset="-122"/>
              </a:endParaRPr>
            </a:p>
          </p:txBody>
        </p:sp>
        <p:sp>
          <p:nvSpPr>
            <p:cNvPr id="5" name="圆角矩形 27">
              <a:extLst>
                <a:ext uri="{FF2B5EF4-FFF2-40B4-BE49-F238E27FC236}">
                  <a16:creationId xmlns:a16="http://schemas.microsoft.com/office/drawing/2014/main" id="{DC84E75F-DDDA-E309-0E76-83B7F134B906}"/>
                </a:ext>
              </a:extLst>
            </p:cNvPr>
            <p:cNvSpPr/>
            <p:nvPr/>
          </p:nvSpPr>
          <p:spPr>
            <a:xfrm>
              <a:off x="1490332" y="2464831"/>
              <a:ext cx="8412479" cy="1854836"/>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7" name="圆角矩形 29">
            <a:extLst>
              <a:ext uri="{FF2B5EF4-FFF2-40B4-BE49-F238E27FC236}">
                <a16:creationId xmlns:a16="http://schemas.microsoft.com/office/drawing/2014/main" id="{D904A255-7F39-5C5D-7D1D-A8B988D955DF}"/>
              </a:ext>
            </a:extLst>
          </p:cNvPr>
          <p:cNvSpPr/>
          <p:nvPr/>
        </p:nvSpPr>
        <p:spPr>
          <a:xfrm>
            <a:off x="8840496" y="3469959"/>
            <a:ext cx="1880001" cy="514740"/>
          </a:xfrm>
          <a:prstGeom prst="roundRect">
            <a:avLst/>
          </a:prstGeom>
          <a:solidFill>
            <a:srgbClr val="D26CAF"/>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
        <p:nvSpPr>
          <p:cNvPr id="6" name="矩形 5">
            <a:extLst>
              <a:ext uri="{FF2B5EF4-FFF2-40B4-BE49-F238E27FC236}">
                <a16:creationId xmlns:a16="http://schemas.microsoft.com/office/drawing/2014/main" id="{2266BB5E-308F-FBB6-0924-37367DE7D8BE}"/>
              </a:ext>
            </a:extLst>
          </p:cNvPr>
          <p:cNvSpPr/>
          <p:nvPr/>
        </p:nvSpPr>
        <p:spPr>
          <a:xfrm>
            <a:off x="9145798" y="3493616"/>
            <a:ext cx="1642257" cy="523220"/>
          </a:xfrm>
          <a:prstGeom prst="rect">
            <a:avLst/>
          </a:prstGeom>
        </p:spPr>
        <p:txBody>
          <a:bodyPr wrap="square">
            <a:spAutoFit/>
          </a:bodyPr>
          <a:lstStyle/>
          <a:p>
            <a:r>
              <a:rPr kumimoji="1" lang="zh-CN" altLang="en-US" sz="2800" b="1" dirty="0">
                <a:latin typeface="微软雅黑" panose="020B0503020204020204" pitchFamily="34" charset="-122"/>
                <a:ea typeface="微软雅黑" panose="020B0503020204020204" pitchFamily="34" charset="-122"/>
              </a:rPr>
              <a:t>周志华</a:t>
            </a:r>
            <a:endParaRPr kumimoji="1" lang="zh-CN" altLang="en-US" sz="2800" dirty="0">
              <a:latin typeface="微软雅黑" panose="020B0503020204020204" pitchFamily="34" charset="-122"/>
              <a:ea typeface="微软雅黑" panose="020B0503020204020204" pitchFamily="34" charset="-122"/>
            </a:endParaRPr>
          </a:p>
        </p:txBody>
      </p:sp>
      <p:grpSp>
        <p:nvGrpSpPr>
          <p:cNvPr id="8" name="组 28">
            <a:extLst>
              <a:ext uri="{FF2B5EF4-FFF2-40B4-BE49-F238E27FC236}">
                <a16:creationId xmlns:a16="http://schemas.microsoft.com/office/drawing/2014/main" id="{83429D08-6EF4-ADE5-5672-BB152A23C6EC}"/>
              </a:ext>
            </a:extLst>
          </p:cNvPr>
          <p:cNvGrpSpPr/>
          <p:nvPr/>
        </p:nvGrpSpPr>
        <p:grpSpPr>
          <a:xfrm>
            <a:off x="88202" y="4148664"/>
            <a:ext cx="10557164" cy="1868536"/>
            <a:chOff x="1490332" y="2451131"/>
            <a:chExt cx="8412480" cy="1868536"/>
          </a:xfrm>
        </p:grpSpPr>
        <p:sp>
          <p:nvSpPr>
            <p:cNvPr id="9" name="矩形 8">
              <a:extLst>
                <a:ext uri="{FF2B5EF4-FFF2-40B4-BE49-F238E27FC236}">
                  <a16:creationId xmlns:a16="http://schemas.microsoft.com/office/drawing/2014/main" id="{3EFB3740-0FF1-58BE-CE16-A73269880897}"/>
                </a:ext>
              </a:extLst>
            </p:cNvPr>
            <p:cNvSpPr/>
            <p:nvPr/>
          </p:nvSpPr>
          <p:spPr>
            <a:xfrm>
              <a:off x="1563714" y="2451131"/>
              <a:ext cx="8339098" cy="1443152"/>
            </a:xfrm>
            <a:prstGeom prst="rect">
              <a:avLst/>
            </a:prstGeom>
          </p:spPr>
          <p:txBody>
            <a:bodyPr wrap="square">
              <a:spAutoFit/>
            </a:bodyPr>
            <a:lstStyle/>
            <a:p>
              <a:pPr>
                <a:lnSpc>
                  <a:spcPct val="125000"/>
                </a:lnSpc>
              </a:pPr>
              <a:r>
                <a:rPr lang="zh-CN" altLang="en-US" sz="2400" b="0" i="0" dirty="0">
                  <a:solidFill>
                    <a:srgbClr val="4D4D4D"/>
                  </a:solidFill>
                  <a:effectLst/>
                  <a:latin typeface="-apple-system"/>
                </a:rPr>
                <a:t>如果我们要利用机器去预测</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评估</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一个任务的结果，但是在预测</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评估</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过程中利用数据</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经验</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来使得我们任务结果得到了更准确的值，那么利用数据</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经验</a:t>
              </a:r>
              <a:r>
                <a:rPr lang="en-US" altLang="zh-CN" sz="2400" b="0" i="0" dirty="0">
                  <a:solidFill>
                    <a:srgbClr val="4D4D4D"/>
                  </a:solidFill>
                  <a:effectLst/>
                  <a:latin typeface="-apple-system"/>
                </a:rPr>
                <a:t>)</a:t>
              </a:r>
              <a:r>
                <a:rPr lang="zh-CN" altLang="en-US" sz="2400" b="0" i="0" dirty="0">
                  <a:solidFill>
                    <a:srgbClr val="4D4D4D"/>
                  </a:solidFill>
                  <a:effectLst/>
                  <a:latin typeface="-apple-system"/>
                </a:rPr>
                <a:t>来改善任务结果的过程就成为</a:t>
              </a:r>
              <a:r>
                <a:rPr lang="zh-CN" altLang="en-US" sz="2400" b="0" i="0" u="none" strike="noStrike" dirty="0">
                  <a:solidFill>
                    <a:srgbClr val="FC5531"/>
                  </a:solidFill>
                  <a:effectLst/>
                  <a:latin typeface="-apple-system"/>
                </a:rPr>
                <a:t>机器学习</a:t>
              </a:r>
              <a:endParaRPr lang="en-US" altLang="zh-CN" sz="2400" b="0" i="0" dirty="0">
                <a:solidFill>
                  <a:srgbClr val="4F4F4F"/>
                </a:solidFill>
                <a:effectLst/>
                <a:latin typeface="-apple-system"/>
              </a:endParaRPr>
            </a:p>
          </p:txBody>
        </p:sp>
        <p:sp>
          <p:nvSpPr>
            <p:cNvPr id="10" name="圆角矩形 27">
              <a:extLst>
                <a:ext uri="{FF2B5EF4-FFF2-40B4-BE49-F238E27FC236}">
                  <a16:creationId xmlns:a16="http://schemas.microsoft.com/office/drawing/2014/main" id="{712409EF-6589-26F5-DA91-0BC4CC75182C}"/>
                </a:ext>
              </a:extLst>
            </p:cNvPr>
            <p:cNvSpPr/>
            <p:nvPr/>
          </p:nvSpPr>
          <p:spPr>
            <a:xfrm>
              <a:off x="1490332" y="2464831"/>
              <a:ext cx="8412479" cy="1854836"/>
            </a:xfrm>
            <a:prstGeom prst="roundRect">
              <a:avLst/>
            </a:prstGeom>
            <a:noFill/>
            <a:ln w="28575">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sp>
        <p:nvSpPr>
          <p:cNvPr id="11" name="圆角矩形 29">
            <a:extLst>
              <a:ext uri="{FF2B5EF4-FFF2-40B4-BE49-F238E27FC236}">
                <a16:creationId xmlns:a16="http://schemas.microsoft.com/office/drawing/2014/main" id="{5F4813F5-E41F-0F47-4175-9F78C1344439}"/>
              </a:ext>
            </a:extLst>
          </p:cNvPr>
          <p:cNvSpPr/>
          <p:nvPr/>
        </p:nvSpPr>
        <p:spPr>
          <a:xfrm>
            <a:off x="8319219" y="5707315"/>
            <a:ext cx="2326146" cy="514740"/>
          </a:xfrm>
          <a:prstGeom prst="roundRect">
            <a:avLst/>
          </a:prstGeom>
          <a:solidFill>
            <a:srgbClr val="D26CAF"/>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800"/>
          </a:p>
        </p:txBody>
      </p:sp>
    </p:spTree>
    <p:custDataLst>
      <p:tags r:id="rId1"/>
    </p:custDataLst>
    <p:extLst>
      <p:ext uri="{BB962C8B-B14F-4D97-AF65-F5344CB8AC3E}">
        <p14:creationId xmlns:p14="http://schemas.microsoft.com/office/powerpoint/2010/main" val="10646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0"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1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animBg="1"/>
      <p:bldP spid="6" grpId="0"/>
      <p:bldP spid="1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E31828-15B2-26BC-C2CE-2A9739C8AF6E}"/>
              </a:ext>
            </a:extLst>
          </p:cNvPr>
          <p:cNvSpPr>
            <a:spLocks noGrp="1"/>
          </p:cNvSpPr>
          <p:nvPr>
            <p:ph type="title"/>
          </p:nvPr>
        </p:nvSpPr>
        <p:spPr>
          <a:xfrm>
            <a:off x="128345" y="348468"/>
            <a:ext cx="10852237" cy="441964"/>
          </a:xfrm>
        </p:spPr>
        <p:txBody>
          <a:bodyPr>
            <a:normAutofit fontScale="90000"/>
          </a:bodyPr>
          <a:lstStyle/>
          <a:p>
            <a:pPr>
              <a:lnSpc>
                <a:spcPct val="90000"/>
              </a:lnSpc>
            </a:pPr>
            <a:r>
              <a:rPr kumimoji="1" lang="zh-CN" altLang="en-US" sz="4600" dirty="0">
                <a:solidFill>
                  <a:schemeClr val="tx1"/>
                </a:solidFill>
                <a:latin typeface="微软雅黑" panose="020B0503020204020204" pitchFamily="34" charset="-122"/>
                <a:ea typeface="微软雅黑" panose="020B0503020204020204" pitchFamily="34" charset="-122"/>
                <a:cs typeface="+mn-cs"/>
              </a:rPr>
              <a:t>机器学习的任务分类</a:t>
            </a:r>
          </a:p>
        </p:txBody>
      </p:sp>
      <p:sp>
        <p:nvSpPr>
          <p:cNvPr id="4" name="文本框 3">
            <a:extLst>
              <a:ext uri="{FF2B5EF4-FFF2-40B4-BE49-F238E27FC236}">
                <a16:creationId xmlns:a16="http://schemas.microsoft.com/office/drawing/2014/main" id="{6557F98A-B1BA-4F44-4D45-06F5CC543860}"/>
              </a:ext>
            </a:extLst>
          </p:cNvPr>
          <p:cNvSpPr txBox="1"/>
          <p:nvPr/>
        </p:nvSpPr>
        <p:spPr>
          <a:xfrm>
            <a:off x="234877" y="1492805"/>
            <a:ext cx="9796891" cy="369332"/>
          </a:xfrm>
          <a:prstGeom prst="rect">
            <a:avLst/>
          </a:prstGeom>
          <a:noFill/>
        </p:spPr>
        <p:txBody>
          <a:bodyPr wrap="square">
            <a:spAutoFit/>
          </a:bodyPr>
          <a:lstStyle/>
          <a:p>
            <a:r>
              <a:rPr lang="zh-CN" altLang="en-US" b="0" i="0" dirty="0">
                <a:solidFill>
                  <a:srgbClr val="4D4D4D"/>
                </a:solidFill>
                <a:effectLst/>
                <a:latin typeface="-apple-system"/>
              </a:rPr>
              <a:t>我们根据数据是否有标签列，引出新的概念：有监督学习、无监督学习、半监督学习和强化学习。</a:t>
            </a:r>
            <a:endParaRPr lang="zh-CN" altLang="en-US" dirty="0"/>
          </a:p>
        </p:txBody>
      </p:sp>
      <p:pic>
        <p:nvPicPr>
          <p:cNvPr id="3074" name="Picture 2">
            <a:extLst>
              <a:ext uri="{FF2B5EF4-FFF2-40B4-BE49-F238E27FC236}">
                <a16:creationId xmlns:a16="http://schemas.microsoft.com/office/drawing/2014/main" id="{BDC5B8E9-6741-F4BF-0448-037A45FBB4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6369" y="2291796"/>
            <a:ext cx="4736284" cy="415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1986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80A0BD-EC0A-9F67-A92A-C92AEE518496}"/>
              </a:ext>
            </a:extLst>
          </p:cNvPr>
          <p:cNvSpPr>
            <a:spLocks noGrp="1"/>
          </p:cNvSpPr>
          <p:nvPr>
            <p:ph type="title"/>
          </p:nvPr>
        </p:nvSpPr>
        <p:spPr>
          <a:xfrm>
            <a:off x="189515" y="349854"/>
            <a:ext cx="10852237" cy="441964"/>
          </a:xfrm>
        </p:spPr>
        <p:txBody>
          <a:bodyPr>
            <a:normAutofit fontScale="90000"/>
          </a:bodyPr>
          <a:lstStyle/>
          <a:p>
            <a:r>
              <a:rPr kumimoji="1" lang="zh-CN" altLang="en-US" sz="2800" dirty="0">
                <a:solidFill>
                  <a:srgbClr val="0033CC"/>
                </a:solidFill>
                <a:latin typeface="微软雅黑" panose="020B0503020204020204" pitchFamily="34" charset="-122"/>
                <a:ea typeface="微软雅黑" panose="020B0503020204020204" pitchFamily="34" charset="-122"/>
              </a:rPr>
              <a:t>有监督学习</a:t>
            </a:r>
            <a:r>
              <a:rPr kumimoji="1" lang="zh-CN" altLang="en-US" dirty="0">
                <a:solidFill>
                  <a:srgbClr val="0033CC"/>
                </a:solidFill>
                <a:latin typeface="微软雅黑" panose="020B0503020204020204" pitchFamily="34" charset="-122"/>
                <a:ea typeface="微软雅黑" panose="020B0503020204020204" pitchFamily="34" charset="-122"/>
              </a:rPr>
              <a:t>（</a:t>
            </a:r>
            <a:r>
              <a:rPr kumimoji="1" lang="en-US" altLang="zh-CN" dirty="0">
                <a:solidFill>
                  <a:srgbClr val="0033CC"/>
                </a:solidFill>
                <a:latin typeface="微软雅黑" panose="020B0503020204020204" pitchFamily="34" charset="-122"/>
                <a:ea typeface="微软雅黑" panose="020B0503020204020204" pitchFamily="34" charset="-122"/>
              </a:rPr>
              <a:t>supervised learning</a:t>
            </a:r>
            <a:r>
              <a:rPr kumimoji="1" lang="zh-CN" altLang="en-US" dirty="0">
                <a:solidFill>
                  <a:srgbClr val="0033CC"/>
                </a:solidFill>
                <a:latin typeface="微软雅黑" panose="020B0503020204020204" pitchFamily="34" charset="-122"/>
                <a:ea typeface="微软雅黑" panose="020B0503020204020204" pitchFamily="34" charset="-122"/>
              </a:rPr>
              <a:t>）</a:t>
            </a:r>
            <a:endParaRPr lang="zh-CN" altLang="en-US" dirty="0"/>
          </a:p>
        </p:txBody>
      </p:sp>
      <p:sp>
        <p:nvSpPr>
          <p:cNvPr id="3" name="矩形 2">
            <a:extLst>
              <a:ext uri="{FF2B5EF4-FFF2-40B4-BE49-F238E27FC236}">
                <a16:creationId xmlns:a16="http://schemas.microsoft.com/office/drawing/2014/main" id="{95857B53-9E43-FEA8-1604-131D5D63EEF1}"/>
              </a:ext>
            </a:extLst>
          </p:cNvPr>
          <p:cNvSpPr/>
          <p:nvPr/>
        </p:nvSpPr>
        <p:spPr>
          <a:xfrm>
            <a:off x="125060" y="1099961"/>
            <a:ext cx="11800715" cy="1048172"/>
          </a:xfrm>
          <a:prstGeom prst="rect">
            <a:avLst/>
          </a:prstGeom>
        </p:spPr>
        <p:txBody>
          <a:bodyPr wrap="square">
            <a:spAutoFit/>
          </a:bodyPr>
          <a:lstStyle/>
          <a:p>
            <a:pPr fontAlgn="auto">
              <a:lnSpc>
                <a:spcPct val="150000"/>
              </a:lnSpc>
            </a:pPr>
            <a:r>
              <a:rPr lang="zh-CN" altLang="en-US" sz="2200" dirty="0">
                <a:latin typeface="微软雅黑" panose="020B0503020204020204" pitchFamily="34" charset="-122"/>
                <a:ea typeface="微软雅黑" panose="020B0503020204020204" pitchFamily="34" charset="-122"/>
              </a:rPr>
              <a:t>从给定的</a:t>
            </a:r>
            <a:r>
              <a:rPr lang="zh-CN" altLang="en-US" sz="2200" b="1" dirty="0">
                <a:solidFill>
                  <a:srgbClr val="CC0099"/>
                </a:solidFill>
                <a:latin typeface="微软雅黑" panose="020B0503020204020204" pitchFamily="34" charset="-122"/>
                <a:ea typeface="微软雅黑" panose="020B0503020204020204" pitchFamily="34" charset="-122"/>
              </a:rPr>
              <a:t>有标注的训练数据集</a:t>
            </a:r>
            <a:r>
              <a:rPr lang="zh-CN" altLang="en-US" sz="2200" dirty="0">
                <a:latin typeface="微软雅黑" panose="020B0503020204020204" pitchFamily="34" charset="-122"/>
                <a:ea typeface="微软雅黑" panose="020B0503020204020204" pitchFamily="34" charset="-122"/>
              </a:rPr>
              <a:t>中学习出一个函数（模型参数），当新的数据到来时可以根据这个函数预测结果。 常见任务包括</a:t>
            </a:r>
            <a:r>
              <a:rPr lang="zh-CN" altLang="en-US" sz="2200" b="1" dirty="0">
                <a:solidFill>
                  <a:srgbClr val="FF0000"/>
                </a:solidFill>
                <a:latin typeface="微软雅黑" panose="020B0503020204020204" pitchFamily="34" charset="-122"/>
                <a:ea typeface="微软雅黑" panose="020B0503020204020204" pitchFamily="34" charset="-122"/>
              </a:rPr>
              <a:t>分类</a:t>
            </a:r>
            <a:r>
              <a:rPr lang="zh-CN" altLang="en-US" sz="2200" dirty="0">
                <a:latin typeface="微软雅黑" panose="020B0503020204020204" pitchFamily="34" charset="-122"/>
                <a:ea typeface="微软雅黑" panose="020B0503020204020204" pitchFamily="34" charset="-122"/>
              </a:rPr>
              <a:t>与</a:t>
            </a:r>
            <a:r>
              <a:rPr lang="zh-CN" altLang="en-US" sz="2200" b="1" dirty="0">
                <a:solidFill>
                  <a:srgbClr val="FF0000"/>
                </a:solidFill>
                <a:latin typeface="微软雅黑" panose="020B0503020204020204" pitchFamily="34" charset="-122"/>
                <a:ea typeface="微软雅黑" panose="020B0503020204020204" pitchFamily="34" charset="-122"/>
              </a:rPr>
              <a:t>回归</a:t>
            </a:r>
            <a:r>
              <a:rPr lang="zh-CN" altLang="en-US" sz="2200" dirty="0">
                <a:latin typeface="微软雅黑" panose="020B0503020204020204" pitchFamily="34" charset="-122"/>
                <a:ea typeface="微软雅黑" panose="020B0503020204020204" pitchFamily="34" charset="-122"/>
              </a:rPr>
              <a:t>。</a:t>
            </a:r>
          </a:p>
        </p:txBody>
      </p:sp>
      <p:grpSp>
        <p:nvGrpSpPr>
          <p:cNvPr id="4" name="组合 3">
            <a:extLst>
              <a:ext uri="{FF2B5EF4-FFF2-40B4-BE49-F238E27FC236}">
                <a16:creationId xmlns:a16="http://schemas.microsoft.com/office/drawing/2014/main" id="{E5F57128-B48A-3BEA-1C57-D8832CFC10EC}"/>
              </a:ext>
            </a:extLst>
          </p:cNvPr>
          <p:cNvGrpSpPr/>
          <p:nvPr/>
        </p:nvGrpSpPr>
        <p:grpSpPr>
          <a:xfrm>
            <a:off x="6025418" y="3149600"/>
            <a:ext cx="5141595" cy="3708400"/>
            <a:chOff x="1253" y="4025"/>
            <a:chExt cx="8097" cy="5840"/>
          </a:xfrm>
        </p:grpSpPr>
        <p:pic>
          <p:nvPicPr>
            <p:cNvPr id="5" name="图片 4">
              <a:extLst>
                <a:ext uri="{FF2B5EF4-FFF2-40B4-BE49-F238E27FC236}">
                  <a16:creationId xmlns:a16="http://schemas.microsoft.com/office/drawing/2014/main" id="{CA161C11-B473-686F-9F76-5D57BC4EB0D8}"/>
                </a:ext>
              </a:extLst>
            </p:cNvPr>
            <p:cNvPicPr>
              <a:picLocks noChangeAspect="1"/>
            </p:cNvPicPr>
            <p:nvPr/>
          </p:nvPicPr>
          <p:blipFill>
            <a:blip r:embed="rId2"/>
            <a:stretch>
              <a:fillRect/>
            </a:stretch>
          </p:blipFill>
          <p:spPr>
            <a:xfrm>
              <a:off x="1253" y="4283"/>
              <a:ext cx="5543" cy="5583"/>
            </a:xfrm>
            <a:prstGeom prst="rect">
              <a:avLst/>
            </a:prstGeom>
          </p:spPr>
        </p:pic>
        <p:pic>
          <p:nvPicPr>
            <p:cNvPr id="6" name="图片 5">
              <a:extLst>
                <a:ext uri="{FF2B5EF4-FFF2-40B4-BE49-F238E27FC236}">
                  <a16:creationId xmlns:a16="http://schemas.microsoft.com/office/drawing/2014/main" id="{EB968E98-0559-C7FA-918C-7B51C8C3A67F}"/>
                </a:ext>
              </a:extLst>
            </p:cNvPr>
            <p:cNvPicPr>
              <a:picLocks noChangeAspect="1"/>
            </p:cNvPicPr>
            <p:nvPr/>
          </p:nvPicPr>
          <p:blipFill>
            <a:blip r:embed="rId3"/>
            <a:srcRect r="25068"/>
            <a:stretch>
              <a:fillRect/>
            </a:stretch>
          </p:blipFill>
          <p:spPr>
            <a:xfrm>
              <a:off x="5488" y="4025"/>
              <a:ext cx="3862" cy="5222"/>
            </a:xfrm>
            <a:prstGeom prst="rect">
              <a:avLst/>
            </a:prstGeom>
          </p:spPr>
        </p:pic>
        <p:pic>
          <p:nvPicPr>
            <p:cNvPr id="7" name="图片 6">
              <a:extLst>
                <a:ext uri="{FF2B5EF4-FFF2-40B4-BE49-F238E27FC236}">
                  <a16:creationId xmlns:a16="http://schemas.microsoft.com/office/drawing/2014/main" id="{D25069D9-0923-9F1B-3DF7-F0864FE362DE}"/>
                </a:ext>
              </a:extLst>
            </p:cNvPr>
            <p:cNvPicPr>
              <a:picLocks noChangeAspect="1"/>
            </p:cNvPicPr>
            <p:nvPr/>
          </p:nvPicPr>
          <p:blipFill>
            <a:blip r:embed="rId4"/>
            <a:stretch>
              <a:fillRect/>
            </a:stretch>
          </p:blipFill>
          <p:spPr>
            <a:xfrm>
              <a:off x="6887" y="9062"/>
              <a:ext cx="1281" cy="427"/>
            </a:xfrm>
            <a:prstGeom prst="rect">
              <a:avLst/>
            </a:prstGeom>
          </p:spPr>
        </p:pic>
      </p:grpSp>
      <p:grpSp>
        <p:nvGrpSpPr>
          <p:cNvPr id="8" name="组合 7">
            <a:extLst>
              <a:ext uri="{FF2B5EF4-FFF2-40B4-BE49-F238E27FC236}">
                <a16:creationId xmlns:a16="http://schemas.microsoft.com/office/drawing/2014/main" id="{E7870C5D-7F8C-6C36-D5E9-334CCFDE5A87}"/>
              </a:ext>
            </a:extLst>
          </p:cNvPr>
          <p:cNvGrpSpPr/>
          <p:nvPr/>
        </p:nvGrpSpPr>
        <p:grpSpPr>
          <a:xfrm>
            <a:off x="461195" y="3210098"/>
            <a:ext cx="4648787" cy="3647902"/>
            <a:chOff x="10087" y="4088"/>
            <a:chExt cx="8026" cy="6298"/>
          </a:xfrm>
        </p:grpSpPr>
        <p:pic>
          <p:nvPicPr>
            <p:cNvPr id="9" name="图片 8">
              <a:extLst>
                <a:ext uri="{FF2B5EF4-FFF2-40B4-BE49-F238E27FC236}">
                  <a16:creationId xmlns:a16="http://schemas.microsoft.com/office/drawing/2014/main" id="{4D2B4F15-7765-CBE9-19CB-DE6155583F3D}"/>
                </a:ext>
              </a:extLst>
            </p:cNvPr>
            <p:cNvPicPr>
              <a:picLocks noChangeAspect="1"/>
            </p:cNvPicPr>
            <p:nvPr/>
          </p:nvPicPr>
          <p:blipFill>
            <a:blip r:embed="rId5"/>
            <a:stretch>
              <a:fillRect/>
            </a:stretch>
          </p:blipFill>
          <p:spPr>
            <a:xfrm>
              <a:off x="10087" y="4088"/>
              <a:ext cx="6369" cy="3568"/>
            </a:xfrm>
            <a:prstGeom prst="rect">
              <a:avLst/>
            </a:prstGeom>
          </p:spPr>
        </p:pic>
        <p:pic>
          <p:nvPicPr>
            <p:cNvPr id="10" name="图片 9">
              <a:extLst>
                <a:ext uri="{FF2B5EF4-FFF2-40B4-BE49-F238E27FC236}">
                  <a16:creationId xmlns:a16="http://schemas.microsoft.com/office/drawing/2014/main" id="{8482D8C5-6B8C-C730-9B81-287658CE90D5}"/>
                </a:ext>
              </a:extLst>
            </p:cNvPr>
            <p:cNvPicPr>
              <a:picLocks noChangeAspect="1"/>
            </p:cNvPicPr>
            <p:nvPr/>
          </p:nvPicPr>
          <p:blipFill>
            <a:blip r:embed="rId6"/>
            <a:stretch>
              <a:fillRect/>
            </a:stretch>
          </p:blipFill>
          <p:spPr>
            <a:xfrm>
              <a:off x="10279" y="7901"/>
              <a:ext cx="4683" cy="1005"/>
            </a:xfrm>
            <a:prstGeom prst="rect">
              <a:avLst/>
            </a:prstGeom>
          </p:spPr>
        </p:pic>
        <p:pic>
          <p:nvPicPr>
            <p:cNvPr id="11" name="图片 10">
              <a:extLst>
                <a:ext uri="{FF2B5EF4-FFF2-40B4-BE49-F238E27FC236}">
                  <a16:creationId xmlns:a16="http://schemas.microsoft.com/office/drawing/2014/main" id="{CCB0EA4B-A3E2-0301-5408-7146EDB110CD}"/>
                </a:ext>
              </a:extLst>
            </p:cNvPr>
            <p:cNvPicPr>
              <a:picLocks noChangeAspect="1"/>
            </p:cNvPicPr>
            <p:nvPr/>
          </p:nvPicPr>
          <p:blipFill>
            <a:blip r:embed="rId7" cstate="print"/>
            <a:stretch>
              <a:fillRect/>
            </a:stretch>
          </p:blipFill>
          <p:spPr>
            <a:xfrm>
              <a:off x="13977" y="7656"/>
              <a:ext cx="4137" cy="2731"/>
            </a:xfrm>
            <a:prstGeom prst="rect">
              <a:avLst/>
            </a:prstGeom>
          </p:spPr>
        </p:pic>
        <p:sp>
          <p:nvSpPr>
            <p:cNvPr id="12" name="文本框 11">
              <a:extLst>
                <a:ext uri="{FF2B5EF4-FFF2-40B4-BE49-F238E27FC236}">
                  <a16:creationId xmlns:a16="http://schemas.microsoft.com/office/drawing/2014/main" id="{DD3F6457-B874-227E-48AF-750A142F9863}"/>
                </a:ext>
              </a:extLst>
            </p:cNvPr>
            <p:cNvSpPr txBox="1"/>
            <p:nvPr/>
          </p:nvSpPr>
          <p:spPr>
            <a:xfrm>
              <a:off x="13139" y="9438"/>
              <a:ext cx="1073" cy="580"/>
            </a:xfrm>
            <a:prstGeom prst="rect">
              <a:avLst/>
            </a:prstGeom>
            <a:solidFill>
              <a:schemeClr val="bg1"/>
            </a:solidFill>
          </p:spPr>
          <p:txBody>
            <a:bodyPr wrap="square" rtlCol="0">
              <a:spAutoFit/>
            </a:bodyPr>
            <a:lstStyle/>
            <a:p>
              <a:endParaRPr lang="zh-CN" altLang="en-US">
                <a:solidFill>
                  <a:schemeClr val="bg1"/>
                </a:solidFill>
              </a:endParaRPr>
            </a:p>
          </p:txBody>
        </p:sp>
      </p:grpSp>
      <p:sp>
        <p:nvSpPr>
          <p:cNvPr id="13" name="文本框 12">
            <a:extLst>
              <a:ext uri="{FF2B5EF4-FFF2-40B4-BE49-F238E27FC236}">
                <a16:creationId xmlns:a16="http://schemas.microsoft.com/office/drawing/2014/main" id="{5CE64000-0322-9790-0C34-EE2B5D62C69E}"/>
              </a:ext>
            </a:extLst>
          </p:cNvPr>
          <p:cNvSpPr txBox="1"/>
          <p:nvPr/>
        </p:nvSpPr>
        <p:spPr>
          <a:xfrm>
            <a:off x="822334" y="2511133"/>
            <a:ext cx="3201026"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分类</a:t>
            </a:r>
            <a:r>
              <a:rPr lang="zh-CN" altLang="en-US" dirty="0">
                <a:latin typeface="微软雅黑" panose="020B0503020204020204" pitchFamily="34" charset="-122"/>
                <a:ea typeface="微软雅黑" panose="020B0503020204020204" pitchFamily="34" charset="-122"/>
              </a:rPr>
              <a:t>：输出是类别标签</a:t>
            </a:r>
          </a:p>
        </p:txBody>
      </p:sp>
      <p:sp>
        <p:nvSpPr>
          <p:cNvPr id="14" name="文本框 13">
            <a:extLst>
              <a:ext uri="{FF2B5EF4-FFF2-40B4-BE49-F238E27FC236}">
                <a16:creationId xmlns:a16="http://schemas.microsoft.com/office/drawing/2014/main" id="{C80606F5-9B79-9F21-6850-3362A2CCCA79}"/>
              </a:ext>
            </a:extLst>
          </p:cNvPr>
          <p:cNvSpPr txBox="1"/>
          <p:nvPr/>
        </p:nvSpPr>
        <p:spPr>
          <a:xfrm>
            <a:off x="6548755" y="2484467"/>
            <a:ext cx="3201026"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回归</a:t>
            </a:r>
            <a:r>
              <a:rPr lang="zh-CN" altLang="en-US" dirty="0">
                <a:latin typeface="微软雅黑" panose="020B0503020204020204" pitchFamily="34" charset="-122"/>
                <a:ea typeface="微软雅黑" panose="020B0503020204020204" pitchFamily="34" charset="-122"/>
              </a:rPr>
              <a:t>：输出是实数</a:t>
            </a:r>
          </a:p>
        </p:txBody>
      </p:sp>
    </p:spTree>
    <p:extLst>
      <p:ext uri="{BB962C8B-B14F-4D97-AF65-F5344CB8AC3E}">
        <p14:creationId xmlns:p14="http://schemas.microsoft.com/office/powerpoint/2010/main" val="63655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13174F5A-F68A-1AB7-8CBA-0BFC95031210}"/>
              </a:ext>
            </a:extLst>
          </p:cNvPr>
          <p:cNvSpPr/>
          <p:nvPr/>
        </p:nvSpPr>
        <p:spPr>
          <a:xfrm>
            <a:off x="63589" y="1069674"/>
            <a:ext cx="11579412" cy="1048172"/>
          </a:xfrm>
          <a:prstGeom prst="rect">
            <a:avLst/>
          </a:prstGeom>
        </p:spPr>
        <p:txBody>
          <a:bodyPr wrap="square">
            <a:spAutoFit/>
          </a:bodyPr>
          <a:lstStyle/>
          <a:p>
            <a:pPr fontAlgn="auto">
              <a:lnSpc>
                <a:spcPct val="150000"/>
              </a:lnSpc>
            </a:pPr>
            <a:r>
              <a:rPr lang="zh-CN" altLang="en-US" sz="2200" b="1" dirty="0">
                <a:solidFill>
                  <a:srgbClr val="CC0099"/>
                </a:solidFill>
                <a:latin typeface="微软雅黑" panose="020B0503020204020204" pitchFamily="34" charset="-122"/>
                <a:ea typeface="微软雅黑" panose="020B0503020204020204" pitchFamily="34" charset="-122"/>
              </a:rPr>
              <a:t>没有标注的训练数据集</a:t>
            </a:r>
            <a:r>
              <a:rPr lang="zh-CN" altLang="en-US" sz="2200" dirty="0">
                <a:latin typeface="微软雅黑" panose="020B0503020204020204" pitchFamily="34" charset="-122"/>
                <a:ea typeface="微软雅黑" panose="020B0503020204020204" pitchFamily="34" charset="-122"/>
              </a:rPr>
              <a:t>，需要根据样本间的统计规律对样本集进行分析，常见任务如</a:t>
            </a:r>
            <a:r>
              <a:rPr lang="zh-CN" altLang="en-US" sz="2200" b="1" dirty="0">
                <a:solidFill>
                  <a:srgbClr val="FF0000"/>
                </a:solidFill>
                <a:latin typeface="微软雅黑" panose="020B0503020204020204" pitchFamily="34" charset="-122"/>
                <a:ea typeface="微软雅黑" panose="020B0503020204020204" pitchFamily="34" charset="-122"/>
              </a:rPr>
              <a:t>聚类、降维</a:t>
            </a:r>
            <a:r>
              <a:rPr lang="zh-CN" altLang="en-US" sz="2200" dirty="0">
                <a:solidFill>
                  <a:schemeClr val="tx1"/>
                </a:solidFill>
                <a:latin typeface="微软雅黑" panose="020B0503020204020204" pitchFamily="34" charset="-122"/>
                <a:ea typeface="微软雅黑" panose="020B0503020204020204" pitchFamily="34" charset="-122"/>
              </a:rPr>
              <a:t>等</a:t>
            </a:r>
            <a:r>
              <a:rPr lang="zh-CN" altLang="en-US" sz="2200" dirty="0">
                <a:latin typeface="微软雅黑" panose="020B0503020204020204" pitchFamily="34" charset="-122"/>
                <a:ea typeface="微软雅黑" panose="020B0503020204020204" pitchFamily="34" charset="-122"/>
              </a:rPr>
              <a:t>。</a:t>
            </a:r>
          </a:p>
        </p:txBody>
      </p:sp>
      <p:pic>
        <p:nvPicPr>
          <p:cNvPr id="5" name="图片 4">
            <a:extLst>
              <a:ext uri="{FF2B5EF4-FFF2-40B4-BE49-F238E27FC236}">
                <a16:creationId xmlns:a16="http://schemas.microsoft.com/office/drawing/2014/main" id="{F7D2DDFA-885E-60C8-CA60-1F9B66ABE995}"/>
              </a:ext>
            </a:extLst>
          </p:cNvPr>
          <p:cNvPicPr>
            <a:picLocks noChangeAspect="1"/>
          </p:cNvPicPr>
          <p:nvPr/>
        </p:nvPicPr>
        <p:blipFill>
          <a:blip r:embed="rId2"/>
          <a:stretch>
            <a:fillRect/>
          </a:stretch>
        </p:blipFill>
        <p:spPr>
          <a:xfrm>
            <a:off x="4818264" y="2802835"/>
            <a:ext cx="2767965" cy="3123565"/>
          </a:xfrm>
          <a:prstGeom prst="rect">
            <a:avLst/>
          </a:prstGeom>
        </p:spPr>
      </p:pic>
      <p:pic>
        <p:nvPicPr>
          <p:cNvPr id="6" name="图片 5">
            <a:extLst>
              <a:ext uri="{FF2B5EF4-FFF2-40B4-BE49-F238E27FC236}">
                <a16:creationId xmlns:a16="http://schemas.microsoft.com/office/drawing/2014/main" id="{994575F9-CCB6-C9D4-071E-3D51EDFC0011}"/>
              </a:ext>
            </a:extLst>
          </p:cNvPr>
          <p:cNvPicPr>
            <a:picLocks noChangeAspect="1"/>
          </p:cNvPicPr>
          <p:nvPr/>
        </p:nvPicPr>
        <p:blipFill>
          <a:blip r:embed="rId3"/>
          <a:stretch>
            <a:fillRect/>
          </a:stretch>
        </p:blipFill>
        <p:spPr>
          <a:xfrm>
            <a:off x="8276700" y="2744901"/>
            <a:ext cx="2499995" cy="386715"/>
          </a:xfrm>
          <a:prstGeom prst="rect">
            <a:avLst/>
          </a:prstGeom>
        </p:spPr>
      </p:pic>
      <p:pic>
        <p:nvPicPr>
          <p:cNvPr id="7" name="图片 6">
            <a:extLst>
              <a:ext uri="{FF2B5EF4-FFF2-40B4-BE49-F238E27FC236}">
                <a16:creationId xmlns:a16="http://schemas.microsoft.com/office/drawing/2014/main" id="{EA9E92F7-DE23-D2B2-0768-0E01CF4599B6}"/>
              </a:ext>
            </a:extLst>
          </p:cNvPr>
          <p:cNvPicPr>
            <a:picLocks noChangeAspect="1"/>
          </p:cNvPicPr>
          <p:nvPr/>
        </p:nvPicPr>
        <p:blipFill>
          <a:blip r:embed="rId4"/>
          <a:stretch>
            <a:fillRect/>
          </a:stretch>
        </p:blipFill>
        <p:spPr>
          <a:xfrm>
            <a:off x="8138616" y="3622066"/>
            <a:ext cx="2978150" cy="2755900"/>
          </a:xfrm>
          <a:prstGeom prst="rect">
            <a:avLst/>
          </a:prstGeom>
        </p:spPr>
      </p:pic>
      <p:pic>
        <p:nvPicPr>
          <p:cNvPr id="8" name="Picture 19" descr="image011">
            <a:extLst>
              <a:ext uri="{FF2B5EF4-FFF2-40B4-BE49-F238E27FC236}">
                <a16:creationId xmlns:a16="http://schemas.microsoft.com/office/drawing/2014/main" id="{8BE22BFA-FDA9-D412-2260-225E471CB74F}"/>
              </a:ext>
            </a:extLst>
          </p:cNvPr>
          <p:cNvPicPr>
            <a:picLocks noChangeAspect="1"/>
          </p:cNvPicPr>
          <p:nvPr/>
        </p:nvPicPr>
        <p:blipFill>
          <a:blip r:embed="rId5"/>
          <a:srcRect l="15080" r="15031" b="10519"/>
          <a:stretch>
            <a:fillRect/>
          </a:stretch>
        </p:blipFill>
        <p:spPr>
          <a:xfrm>
            <a:off x="178999" y="2796222"/>
            <a:ext cx="4115909" cy="3304113"/>
          </a:xfrm>
          <a:prstGeom prst="rect">
            <a:avLst/>
          </a:prstGeom>
          <a:noFill/>
          <a:ln w="9525">
            <a:noFill/>
          </a:ln>
        </p:spPr>
      </p:pic>
      <p:sp>
        <p:nvSpPr>
          <p:cNvPr id="9" name="矩形 8">
            <a:extLst>
              <a:ext uri="{FF2B5EF4-FFF2-40B4-BE49-F238E27FC236}">
                <a16:creationId xmlns:a16="http://schemas.microsoft.com/office/drawing/2014/main" id="{94129F72-BB7B-C58A-F625-234998529398}"/>
              </a:ext>
            </a:extLst>
          </p:cNvPr>
          <p:cNvSpPr/>
          <p:nvPr/>
        </p:nvSpPr>
        <p:spPr>
          <a:xfrm>
            <a:off x="10246609" y="5752465"/>
            <a:ext cx="725556" cy="3478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2B2ECB3-6E58-0265-DF77-E6B14B3F3312}"/>
              </a:ext>
            </a:extLst>
          </p:cNvPr>
          <p:cNvSpPr txBox="1"/>
          <p:nvPr/>
        </p:nvSpPr>
        <p:spPr>
          <a:xfrm>
            <a:off x="178998" y="390095"/>
            <a:ext cx="7959617" cy="477054"/>
          </a:xfrm>
          <a:prstGeom prst="rect">
            <a:avLst/>
          </a:prstGeom>
          <a:noFill/>
        </p:spPr>
        <p:txBody>
          <a:bodyPr wrap="square">
            <a:spAutoFit/>
          </a:bodyPr>
          <a:lstStyle/>
          <a:p>
            <a:pPr>
              <a:spcBef>
                <a:spcPct val="0"/>
              </a:spcBef>
            </a:pPr>
            <a:r>
              <a:rPr kumimoji="1" lang="zh-CN" altLang="en-US" sz="2500" b="1" spc="200" noProof="1">
                <a:solidFill>
                  <a:srgbClr val="0033CC"/>
                </a:solidFill>
                <a:latin typeface="微软雅黑" panose="020B0503020204020204" pitchFamily="34" charset="-122"/>
                <a:ea typeface="微软雅黑" panose="020B0503020204020204" pitchFamily="34" charset="-122"/>
                <a:cs typeface="+mj-cs"/>
                <a:sym typeface="+mn-ea"/>
              </a:rPr>
              <a:t>无监督学习（</a:t>
            </a:r>
            <a:r>
              <a:rPr kumimoji="1" lang="en-US" altLang="zh-CN" sz="2500" b="1" spc="200" noProof="1">
                <a:solidFill>
                  <a:srgbClr val="0033CC"/>
                </a:solidFill>
                <a:latin typeface="微软雅黑" panose="020B0503020204020204" pitchFamily="34" charset="-122"/>
                <a:ea typeface="微软雅黑" panose="020B0503020204020204" pitchFamily="34" charset="-122"/>
                <a:cs typeface="+mj-cs"/>
                <a:sym typeface="+mn-ea"/>
              </a:rPr>
              <a:t>unsupervised learning</a:t>
            </a:r>
            <a:r>
              <a:rPr kumimoji="1" lang="zh-CN" altLang="en-US" sz="2500" b="1" spc="200" noProof="1">
                <a:solidFill>
                  <a:srgbClr val="0033CC"/>
                </a:solidFill>
                <a:latin typeface="微软雅黑" panose="020B0503020204020204" pitchFamily="34" charset="-122"/>
                <a:ea typeface="微软雅黑" panose="020B0503020204020204" pitchFamily="34" charset="-122"/>
                <a:cs typeface="+mj-cs"/>
                <a:sym typeface="+mn-ea"/>
              </a:rPr>
              <a:t>）</a:t>
            </a:r>
          </a:p>
        </p:txBody>
      </p:sp>
    </p:spTree>
    <p:extLst>
      <p:ext uri="{BB962C8B-B14F-4D97-AF65-F5344CB8AC3E}">
        <p14:creationId xmlns:p14="http://schemas.microsoft.com/office/powerpoint/2010/main" val="2824506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BC555585-42B4-383E-C716-43F4680EDA0C}"/>
              </a:ext>
            </a:extLst>
          </p:cNvPr>
          <p:cNvSpPr/>
          <p:nvPr/>
        </p:nvSpPr>
        <p:spPr>
          <a:xfrm>
            <a:off x="155841" y="1323455"/>
            <a:ext cx="10121988" cy="540341"/>
          </a:xfrm>
          <a:prstGeom prst="rect">
            <a:avLst/>
          </a:prstGeom>
        </p:spPr>
        <p:txBody>
          <a:bodyPr wrap="square">
            <a:spAutoFit/>
          </a:bodyPr>
          <a:lstStyle/>
          <a:p>
            <a:pPr fontAlgn="auto">
              <a:lnSpc>
                <a:spcPct val="150000"/>
              </a:lnSpc>
            </a:pPr>
            <a:r>
              <a:rPr lang="zh-CN" altLang="en-US" sz="2200" dirty="0">
                <a:latin typeface="微软雅黑" panose="020B0503020204020204" pitchFamily="34" charset="-122"/>
                <a:ea typeface="微软雅黑" panose="020B0503020204020204" pitchFamily="34" charset="-122"/>
              </a:rPr>
              <a:t>结合</a:t>
            </a:r>
            <a:r>
              <a:rPr lang="zh-CN" altLang="en-US" sz="2200" b="1" dirty="0">
                <a:solidFill>
                  <a:srgbClr val="CC0099"/>
                </a:solidFill>
                <a:latin typeface="微软雅黑" panose="020B0503020204020204" pitchFamily="34" charset="-122"/>
                <a:ea typeface="微软雅黑" panose="020B0503020204020204" pitchFamily="34" charset="-122"/>
              </a:rPr>
              <a:t>（少量的）标注训练数据</a:t>
            </a:r>
            <a:r>
              <a:rPr lang="zh-CN" altLang="en-US" sz="2200" dirty="0">
                <a:latin typeface="微软雅黑" panose="020B0503020204020204" pitchFamily="34" charset="-122"/>
                <a:ea typeface="微软雅黑" panose="020B0503020204020204" pitchFamily="34" charset="-122"/>
              </a:rPr>
              <a:t>和</a:t>
            </a:r>
            <a:r>
              <a:rPr lang="zh-CN" altLang="en-US" sz="2200" b="1" dirty="0">
                <a:solidFill>
                  <a:srgbClr val="CC0099"/>
                </a:solidFill>
                <a:latin typeface="微软雅黑" panose="020B0503020204020204" pitchFamily="34" charset="-122"/>
                <a:ea typeface="微软雅黑" panose="020B0503020204020204" pitchFamily="34" charset="-122"/>
              </a:rPr>
              <a:t>（大量的）未标注数据</a:t>
            </a:r>
            <a:r>
              <a:rPr lang="zh-CN" altLang="en-US" sz="2200" dirty="0">
                <a:latin typeface="微软雅黑" panose="020B0503020204020204" pitchFamily="34" charset="-122"/>
                <a:ea typeface="微软雅黑" panose="020B0503020204020204" pitchFamily="34" charset="-122"/>
              </a:rPr>
              <a:t>来进行数据的分类学习。</a:t>
            </a:r>
          </a:p>
        </p:txBody>
      </p:sp>
      <p:pic>
        <p:nvPicPr>
          <p:cNvPr id="5" name="图片 4">
            <a:extLst>
              <a:ext uri="{FF2B5EF4-FFF2-40B4-BE49-F238E27FC236}">
                <a16:creationId xmlns:a16="http://schemas.microsoft.com/office/drawing/2014/main" id="{DEB492A8-9603-1F2B-3A86-829B9A07ED96}"/>
              </a:ext>
            </a:extLst>
          </p:cNvPr>
          <p:cNvPicPr>
            <a:picLocks noChangeAspect="1"/>
          </p:cNvPicPr>
          <p:nvPr/>
        </p:nvPicPr>
        <p:blipFill>
          <a:blip r:embed="rId2"/>
          <a:stretch>
            <a:fillRect/>
          </a:stretch>
        </p:blipFill>
        <p:spPr>
          <a:xfrm>
            <a:off x="5880780" y="2304578"/>
            <a:ext cx="4480381" cy="1868113"/>
          </a:xfrm>
          <a:prstGeom prst="rect">
            <a:avLst/>
          </a:prstGeom>
        </p:spPr>
      </p:pic>
      <p:pic>
        <p:nvPicPr>
          <p:cNvPr id="6" name="图片 5">
            <a:extLst>
              <a:ext uri="{FF2B5EF4-FFF2-40B4-BE49-F238E27FC236}">
                <a16:creationId xmlns:a16="http://schemas.microsoft.com/office/drawing/2014/main" id="{F85369E5-D37E-E5A5-8827-28FABD225963}"/>
              </a:ext>
            </a:extLst>
          </p:cNvPr>
          <p:cNvPicPr>
            <a:picLocks noChangeAspect="1"/>
          </p:cNvPicPr>
          <p:nvPr/>
        </p:nvPicPr>
        <p:blipFill rotWithShape="1">
          <a:blip r:embed="rId3"/>
          <a:srcRect l="3237" t="27850" r="2725" b="7239"/>
          <a:stretch/>
        </p:blipFill>
        <p:spPr>
          <a:xfrm>
            <a:off x="5265444" y="4172691"/>
            <a:ext cx="5459702" cy="2685309"/>
          </a:xfrm>
          <a:prstGeom prst="rect">
            <a:avLst/>
          </a:prstGeom>
        </p:spPr>
      </p:pic>
      <p:sp>
        <p:nvSpPr>
          <p:cNvPr id="7" name="矩形 6">
            <a:extLst>
              <a:ext uri="{FF2B5EF4-FFF2-40B4-BE49-F238E27FC236}">
                <a16:creationId xmlns:a16="http://schemas.microsoft.com/office/drawing/2014/main" id="{D44B2356-DF5E-B837-13A5-0FA4B7E9F0C8}"/>
              </a:ext>
            </a:extLst>
          </p:cNvPr>
          <p:cNvSpPr/>
          <p:nvPr/>
        </p:nvSpPr>
        <p:spPr>
          <a:xfrm>
            <a:off x="155841" y="3068023"/>
            <a:ext cx="5199340" cy="3016018"/>
          </a:xfrm>
          <a:prstGeom prst="rect">
            <a:avLst/>
          </a:prstGeom>
        </p:spPr>
        <p:txBody>
          <a:bodyPr wrap="square">
            <a:spAutoFit/>
          </a:bodyPr>
          <a:lstStyle/>
          <a:p>
            <a:pPr>
              <a:lnSpc>
                <a:spcPct val="125000"/>
              </a:lnSpc>
            </a:pPr>
            <a:r>
              <a:rPr lang="zh-CN" altLang="en-US" sz="2200" b="1" dirty="0">
                <a:solidFill>
                  <a:srgbClr val="CC0099"/>
                </a:solidFill>
                <a:latin typeface="微软雅黑" panose="020B0503020204020204" pitchFamily="34" charset="-122"/>
                <a:ea typeface="微软雅黑" panose="020B0503020204020204" pitchFamily="34" charset="-122"/>
                <a:sym typeface="+mn-ea"/>
              </a:rPr>
              <a:t>两个基本假设：</a:t>
            </a:r>
            <a:endParaRPr lang="en-US" altLang="zh-CN" sz="2200" b="1" dirty="0">
              <a:solidFill>
                <a:srgbClr val="CC0099"/>
              </a:solidFill>
              <a:latin typeface="微软雅黑" panose="020B0503020204020204" pitchFamily="34" charset="-122"/>
              <a:ea typeface="微软雅黑" panose="020B0503020204020204" pitchFamily="34" charset="-122"/>
              <a:sym typeface="+mn-ea"/>
            </a:endParaRPr>
          </a:p>
          <a:p>
            <a:pPr marL="342900" indent="-342900">
              <a:lnSpc>
                <a:spcPct val="125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sym typeface="+mn-ea"/>
              </a:rPr>
              <a:t>聚类假设：</a:t>
            </a:r>
            <a:r>
              <a:rPr lang="zh-CN" altLang="en-US" sz="2200" dirty="0">
                <a:latin typeface="微软雅黑" panose="020B0503020204020204" pitchFamily="34" charset="-122"/>
                <a:ea typeface="微软雅黑" panose="020B0503020204020204" pitchFamily="34" charset="-122"/>
                <a:sym typeface="+mn-ea"/>
              </a:rPr>
              <a:t>处在相同聚类中的样本示例有较大的可能拥有相同的标记。</a:t>
            </a:r>
            <a:endParaRPr lang="en-US" altLang="zh-CN" sz="2200" dirty="0">
              <a:latin typeface="微软雅黑" panose="020B0503020204020204" pitchFamily="34" charset="-122"/>
              <a:ea typeface="微软雅黑" panose="020B0503020204020204" pitchFamily="34" charset="-122"/>
              <a:sym typeface="+mn-ea"/>
            </a:endParaRPr>
          </a:p>
          <a:p>
            <a:pPr marL="342900" indent="-342900">
              <a:lnSpc>
                <a:spcPct val="125000"/>
              </a:lnSpc>
              <a:buFont typeface="Arial" panose="020B0604020202020204" pitchFamily="34" charset="0"/>
              <a:buChar char="•"/>
            </a:pPr>
            <a:endParaRPr lang="en-US" altLang="zh-CN" sz="2200" dirty="0">
              <a:latin typeface="微软雅黑" panose="020B0503020204020204" pitchFamily="34" charset="-122"/>
              <a:ea typeface="微软雅黑" panose="020B0503020204020204" pitchFamily="34" charset="-122"/>
              <a:sym typeface="+mn-ea"/>
            </a:endParaRPr>
          </a:p>
          <a:p>
            <a:pPr marL="342900" indent="-342900">
              <a:lnSpc>
                <a:spcPct val="125000"/>
              </a:lnSpc>
              <a:buFont typeface="Arial" panose="020B0604020202020204" pitchFamily="34" charset="0"/>
              <a:buChar char="•"/>
            </a:pPr>
            <a:r>
              <a:rPr lang="zh-CN" altLang="en-US" sz="2200" b="1" dirty="0">
                <a:latin typeface="微软雅黑" panose="020B0503020204020204" pitchFamily="34" charset="-122"/>
                <a:ea typeface="微软雅黑" panose="020B0503020204020204" pitchFamily="34" charset="-122"/>
                <a:sym typeface="+mn-ea"/>
              </a:rPr>
              <a:t>流形假设：</a:t>
            </a:r>
            <a:r>
              <a:rPr lang="zh-CN" altLang="en-US" sz="2200" dirty="0">
                <a:latin typeface="微软雅黑" panose="020B0503020204020204" pitchFamily="34" charset="-122"/>
                <a:ea typeface="微软雅黑" panose="020B0503020204020204" pitchFamily="34" charset="-122"/>
                <a:sym typeface="+mn-ea"/>
              </a:rPr>
              <a:t>处于一个很小的局部区域内的样本示例具有相似的性质，因此，其标记也应该相似。</a:t>
            </a:r>
            <a:endParaRPr lang="en-US" altLang="zh-CN" sz="2200" dirty="0">
              <a:latin typeface="微软雅黑" panose="020B0503020204020204" pitchFamily="34" charset="-122"/>
              <a:ea typeface="微软雅黑" panose="020B0503020204020204" pitchFamily="34" charset="-122"/>
              <a:sym typeface="+mn-ea"/>
            </a:endParaRPr>
          </a:p>
        </p:txBody>
      </p:sp>
      <p:sp>
        <p:nvSpPr>
          <p:cNvPr id="9" name="文本框 8">
            <a:extLst>
              <a:ext uri="{FF2B5EF4-FFF2-40B4-BE49-F238E27FC236}">
                <a16:creationId xmlns:a16="http://schemas.microsoft.com/office/drawing/2014/main" id="{D7B97B1C-4F4E-3B41-9B4E-721546AFC878}"/>
              </a:ext>
            </a:extLst>
          </p:cNvPr>
          <p:cNvSpPr txBox="1"/>
          <p:nvPr/>
        </p:nvSpPr>
        <p:spPr>
          <a:xfrm>
            <a:off x="204449" y="404627"/>
            <a:ext cx="8744241" cy="477054"/>
          </a:xfrm>
          <a:prstGeom prst="rect">
            <a:avLst/>
          </a:prstGeom>
          <a:noFill/>
        </p:spPr>
        <p:txBody>
          <a:bodyPr wrap="square">
            <a:spAutoFit/>
          </a:bodyPr>
          <a:lstStyle/>
          <a:p>
            <a:r>
              <a:rPr kumimoji="1" lang="zh-CN" altLang="en-US" sz="2500" b="1" spc="200" dirty="0">
                <a:solidFill>
                  <a:srgbClr val="0033CC"/>
                </a:solidFill>
                <a:latin typeface="微软雅黑" panose="020B0503020204020204" pitchFamily="34" charset="-122"/>
                <a:ea typeface="微软雅黑" panose="020B0503020204020204" pitchFamily="34" charset="-122"/>
                <a:cs typeface="+mj-cs"/>
              </a:rPr>
              <a:t>半监督学习（</a:t>
            </a:r>
            <a:r>
              <a:rPr kumimoji="1" lang="en-US" altLang="zh-CN" sz="2500" b="1" spc="200" dirty="0">
                <a:solidFill>
                  <a:srgbClr val="0033CC"/>
                </a:solidFill>
                <a:latin typeface="微软雅黑" panose="020B0503020204020204" pitchFamily="34" charset="-122"/>
                <a:ea typeface="微软雅黑" panose="020B0503020204020204" pitchFamily="34" charset="-122"/>
                <a:cs typeface="+mj-cs"/>
              </a:rPr>
              <a:t>Semi-supervised learning</a:t>
            </a:r>
            <a:r>
              <a:rPr kumimoji="1" lang="zh-CN" altLang="en-US" sz="2500" b="1" spc="200" dirty="0">
                <a:solidFill>
                  <a:srgbClr val="0033CC"/>
                </a:solidFill>
                <a:latin typeface="微软雅黑" panose="020B0503020204020204" pitchFamily="34" charset="-122"/>
                <a:ea typeface="微软雅黑" panose="020B0503020204020204" pitchFamily="34" charset="-122"/>
                <a:cs typeface="+mj-cs"/>
              </a:rPr>
              <a:t>）</a:t>
            </a:r>
          </a:p>
        </p:txBody>
      </p:sp>
    </p:spTree>
    <p:extLst>
      <p:ext uri="{BB962C8B-B14F-4D97-AF65-F5344CB8AC3E}">
        <p14:creationId xmlns:p14="http://schemas.microsoft.com/office/powerpoint/2010/main" val="159336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5B7CAD-B14B-EC53-1A55-AA3C449A6AE8}"/>
              </a:ext>
            </a:extLst>
          </p:cNvPr>
          <p:cNvSpPr>
            <a:spLocks noGrp="1"/>
          </p:cNvSpPr>
          <p:nvPr>
            <p:ph type="title"/>
          </p:nvPr>
        </p:nvSpPr>
        <p:spPr>
          <a:xfrm>
            <a:off x="465696" y="469863"/>
            <a:ext cx="10852237" cy="441964"/>
          </a:xfrm>
        </p:spPr>
        <p:txBody>
          <a:bodyPr>
            <a:normAutofit fontScale="90000"/>
          </a:bodyPr>
          <a:lstStyle/>
          <a:p>
            <a:br>
              <a:rPr kumimoji="1" lang="zh-CN" altLang="en-US" sz="2400" b="1" dirty="0">
                <a:latin typeface="微软雅黑" panose="020B0503020204020204" pitchFamily="34" charset="-122"/>
                <a:ea typeface="微软雅黑" panose="020B0503020204020204" pitchFamily="34" charset="-122"/>
              </a:rPr>
            </a:br>
            <a:endParaRPr lang="zh-CN" altLang="en-US" dirty="0"/>
          </a:p>
        </p:txBody>
      </p:sp>
      <p:sp>
        <p:nvSpPr>
          <p:cNvPr id="3" name="矩形 2">
            <a:extLst>
              <a:ext uri="{FF2B5EF4-FFF2-40B4-BE49-F238E27FC236}">
                <a16:creationId xmlns:a16="http://schemas.microsoft.com/office/drawing/2014/main" id="{242CA819-2B94-BBF7-2BA1-978763917926}"/>
              </a:ext>
            </a:extLst>
          </p:cNvPr>
          <p:cNvSpPr/>
          <p:nvPr/>
        </p:nvSpPr>
        <p:spPr>
          <a:xfrm>
            <a:off x="-106532" y="1254850"/>
            <a:ext cx="10156056" cy="1048172"/>
          </a:xfrm>
          <a:prstGeom prst="rect">
            <a:avLst/>
          </a:prstGeom>
        </p:spPr>
        <p:txBody>
          <a:bodyPr wrap="square">
            <a:spAutoFit/>
          </a:bodyPr>
          <a:lstStyle/>
          <a:p>
            <a:pPr lvl="1">
              <a:lnSpc>
                <a:spcPct val="150000"/>
              </a:lnSpc>
            </a:pPr>
            <a:r>
              <a:rPr lang="zh-CN" altLang="en-US" sz="2200" b="1" dirty="0">
                <a:solidFill>
                  <a:srgbClr val="CC0099"/>
                </a:solidFill>
                <a:latin typeface="微软雅黑" panose="020B0503020204020204" pitchFamily="34" charset="-122"/>
                <a:ea typeface="微软雅黑" panose="020B0503020204020204" pitchFamily="34" charset="-122"/>
              </a:rPr>
              <a:t>外部环境对输出只给出评价信息而非正确答案</a:t>
            </a:r>
            <a:r>
              <a:rPr kumimoji="1" lang="zh-CN" altLang="en-US" sz="2200" dirty="0">
                <a:latin typeface="微软雅黑" panose="020B0503020204020204" pitchFamily="34" charset="-122"/>
                <a:ea typeface="微软雅黑" panose="020B0503020204020204" pitchFamily="34" charset="-122"/>
              </a:rPr>
              <a:t>，学习机通过强化受奖励的动作来改善自身的性能。</a:t>
            </a:r>
            <a:endParaRPr lang="zh-CN" altLang="en-US" sz="22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AF730F73-BCE5-E45D-719B-7C7103EED7C1}"/>
              </a:ext>
            </a:extLst>
          </p:cNvPr>
          <p:cNvSpPr/>
          <p:nvPr/>
        </p:nvSpPr>
        <p:spPr>
          <a:xfrm>
            <a:off x="219029" y="2646045"/>
            <a:ext cx="7532003" cy="1565910"/>
          </a:xfrm>
          <a:prstGeom prst="rect">
            <a:avLst/>
          </a:prstGeom>
        </p:spPr>
        <p:txBody>
          <a:bodyPr wrap="square" rtlCol="0" anchor="t">
            <a:spAutoFit/>
          </a:bodyPr>
          <a:lstStyle/>
          <a:p>
            <a:pPr lvl="0" indent="0" algn="l">
              <a:lnSpc>
                <a:spcPct val="120000"/>
              </a:lnSpc>
              <a:buNone/>
            </a:pPr>
            <a:r>
              <a:rPr kumimoji="1" lang="zh-CN" altLang="en-US" sz="1600" dirty="0">
                <a:latin typeface="微软雅黑" panose="020B0503020204020204" pitchFamily="34" charset="-122"/>
                <a:ea typeface="微软雅黑" panose="020B0503020204020204" pitchFamily="34" charset="-122"/>
                <a:sym typeface="+mn-ea"/>
              </a:rPr>
              <a:t>如：</a:t>
            </a:r>
            <a:r>
              <a:rPr kumimoji="1" lang="zh-CN" altLang="en-US" sz="1600" b="1" dirty="0">
                <a:latin typeface="微软雅黑" panose="020B0503020204020204" pitchFamily="34" charset="-122"/>
                <a:ea typeface="微软雅黑" panose="020B0503020204020204" pitchFamily="34" charset="-122"/>
                <a:sym typeface="+mn-ea"/>
              </a:rPr>
              <a:t>让计算机学着去玩Flappy Bird</a:t>
            </a:r>
            <a:endParaRPr kumimoji="1" lang="zh-CN" altLang="en-US" sz="1600" dirty="0">
              <a:latin typeface="微软雅黑" panose="020B0503020204020204" pitchFamily="34" charset="-122"/>
              <a:ea typeface="微软雅黑" panose="020B0503020204020204" pitchFamily="34" charset="-122"/>
              <a:sym typeface="+mn-ea"/>
            </a:endParaRPr>
          </a:p>
          <a:p>
            <a:pPr lvl="0" indent="0" algn="l">
              <a:lnSpc>
                <a:spcPct val="120000"/>
              </a:lnSpc>
              <a:buNone/>
            </a:pPr>
            <a:r>
              <a:rPr kumimoji="1" lang="zh-CN" altLang="en-US" sz="1600" dirty="0">
                <a:latin typeface="微软雅黑" panose="020B0503020204020204" pitchFamily="34" charset="-122"/>
                <a:ea typeface="微软雅黑" panose="020B0503020204020204" pitchFamily="34" charset="-122"/>
                <a:sym typeface="+mn-ea"/>
              </a:rPr>
              <a:t>       我们不需要设置具体的策略，比如先飞到上面，再飞到下面，我们只是需要给算法定一个“小目标”！比如当计算机玩的好的时候，我们就给它一定的奖励，它玩的不好的时候，就给它一定的惩罚，在这个算法框架下，它就可以越来越好，超过人类玩家的水平。</a:t>
            </a:r>
          </a:p>
        </p:txBody>
      </p:sp>
      <p:pic>
        <p:nvPicPr>
          <p:cNvPr id="2050" name="Picture 2">
            <a:extLst>
              <a:ext uri="{FF2B5EF4-FFF2-40B4-BE49-F238E27FC236}">
                <a16:creationId xmlns:a16="http://schemas.microsoft.com/office/drawing/2014/main" id="{6CB5AB6A-A3D1-0617-61A5-9CE93CE185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3021" y="4486275"/>
            <a:ext cx="3052439" cy="2098552"/>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3D3434FB-5D4F-6264-EDB2-81C5E8EB1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7838" y="4213102"/>
            <a:ext cx="6219825" cy="2371725"/>
          </a:xfrm>
          <a:prstGeom prst="rect">
            <a:avLst/>
          </a:prstGeom>
          <a:noFill/>
          <a:extLst>
            <a:ext uri="{909E8E84-426E-40DD-AFC4-6F175D3DCCD1}">
              <a14:hiddenFill xmlns:a14="http://schemas.microsoft.com/office/drawing/2010/main">
                <a:solidFill>
                  <a:srgbClr val="FFFFFF"/>
                </a:solidFill>
              </a14:hiddenFill>
            </a:ext>
          </a:extLst>
        </p:spPr>
      </p:pic>
      <p:sp>
        <p:nvSpPr>
          <p:cNvPr id="7" name="文本框 6">
            <a:extLst>
              <a:ext uri="{FF2B5EF4-FFF2-40B4-BE49-F238E27FC236}">
                <a16:creationId xmlns:a16="http://schemas.microsoft.com/office/drawing/2014/main" id="{4AB053E6-8D29-8CAB-A463-D951C659B72E}"/>
              </a:ext>
            </a:extLst>
          </p:cNvPr>
          <p:cNvSpPr txBox="1"/>
          <p:nvPr/>
        </p:nvSpPr>
        <p:spPr>
          <a:xfrm>
            <a:off x="296892" y="273173"/>
            <a:ext cx="8516598" cy="477054"/>
          </a:xfrm>
          <a:prstGeom prst="rect">
            <a:avLst/>
          </a:prstGeom>
          <a:noFill/>
        </p:spPr>
        <p:txBody>
          <a:bodyPr wrap="square">
            <a:spAutoFit/>
          </a:bodyPr>
          <a:lstStyle/>
          <a:p>
            <a:r>
              <a:rPr kumimoji="1" lang="zh-CN" altLang="en-US" sz="2500" b="1" spc="200" dirty="0">
                <a:solidFill>
                  <a:srgbClr val="0033CC"/>
                </a:solidFill>
                <a:latin typeface="微软雅黑" panose="020B0503020204020204" pitchFamily="34" charset="-122"/>
                <a:ea typeface="微软雅黑" panose="020B0503020204020204" pitchFamily="34" charset="-122"/>
                <a:cs typeface="+mj-cs"/>
              </a:rPr>
              <a:t>强化学习（</a:t>
            </a:r>
            <a:r>
              <a:rPr kumimoji="1" lang="en-US" altLang="zh-CN" sz="2500" b="1" spc="200" dirty="0">
                <a:solidFill>
                  <a:srgbClr val="0033CC"/>
                </a:solidFill>
                <a:latin typeface="微软雅黑" panose="020B0503020204020204" pitchFamily="34" charset="-122"/>
                <a:ea typeface="微软雅黑" panose="020B0503020204020204" pitchFamily="34" charset="-122"/>
                <a:cs typeface="+mj-cs"/>
              </a:rPr>
              <a:t>Reinforcement Learning</a:t>
            </a:r>
            <a:r>
              <a:rPr kumimoji="1" lang="zh-CN" altLang="en-US" sz="2500" b="1" spc="200" dirty="0">
                <a:solidFill>
                  <a:srgbClr val="0033CC"/>
                </a:solidFill>
                <a:latin typeface="微软雅黑" panose="020B0503020204020204" pitchFamily="34" charset="-122"/>
                <a:ea typeface="微软雅黑" panose="020B0503020204020204" pitchFamily="34" charset="-122"/>
                <a:cs typeface="+mj-cs"/>
              </a:rPr>
              <a:t>）</a:t>
            </a:r>
          </a:p>
        </p:txBody>
      </p:sp>
    </p:spTree>
    <p:extLst>
      <p:ext uri="{BB962C8B-B14F-4D97-AF65-F5344CB8AC3E}">
        <p14:creationId xmlns:p14="http://schemas.microsoft.com/office/powerpoint/2010/main" val="606610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78AA39B-BD84-C345-8A97-8985125792B0}"/>
              </a:ext>
            </a:extLst>
          </p:cNvPr>
          <p:cNvSpPr/>
          <p:nvPr/>
        </p:nvSpPr>
        <p:spPr>
          <a:xfrm>
            <a:off x="311928" y="338884"/>
            <a:ext cx="4789757"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机器学习原理</a:t>
            </a:r>
          </a:p>
        </p:txBody>
      </p:sp>
      <p:sp>
        <p:nvSpPr>
          <p:cNvPr id="4" name="流程图: 磁盘 3">
            <a:extLst>
              <a:ext uri="{FF2B5EF4-FFF2-40B4-BE49-F238E27FC236}">
                <a16:creationId xmlns:a16="http://schemas.microsoft.com/office/drawing/2014/main" id="{D140099F-3D7C-B0C8-03AA-9BF80E887F7E}"/>
              </a:ext>
            </a:extLst>
          </p:cNvPr>
          <p:cNvSpPr/>
          <p:nvPr/>
        </p:nvSpPr>
        <p:spPr>
          <a:xfrm>
            <a:off x="1396390" y="1789971"/>
            <a:ext cx="1610139" cy="1013791"/>
          </a:xfrm>
          <a:prstGeom prst="flowChartMagneticDisk">
            <a:avLst/>
          </a:prstGeom>
          <a:solidFill>
            <a:schemeClr val="accent2">
              <a:lumMod val="60000"/>
              <a:lumOff val="40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微软雅黑" panose="020B0503020204020204" pitchFamily="34" charset="-122"/>
                <a:ea typeface="微软雅黑" panose="020B0503020204020204" pitchFamily="34" charset="-122"/>
              </a:rPr>
              <a:t>训练数据</a:t>
            </a:r>
          </a:p>
        </p:txBody>
      </p:sp>
      <p:sp>
        <p:nvSpPr>
          <p:cNvPr id="5" name="流程图: 磁盘 4">
            <a:extLst>
              <a:ext uri="{FF2B5EF4-FFF2-40B4-BE49-F238E27FC236}">
                <a16:creationId xmlns:a16="http://schemas.microsoft.com/office/drawing/2014/main" id="{C2CE8196-590C-59EF-95A6-5287503D88C2}"/>
              </a:ext>
            </a:extLst>
          </p:cNvPr>
          <p:cNvSpPr/>
          <p:nvPr/>
        </p:nvSpPr>
        <p:spPr>
          <a:xfrm>
            <a:off x="7270423" y="1571137"/>
            <a:ext cx="2882348" cy="1361661"/>
          </a:xfrm>
          <a:prstGeom prst="flowChartMagneticDisk">
            <a:avLst/>
          </a:prstGeom>
          <a:solidFill>
            <a:schemeClr val="accent6">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b="1" dirty="0">
                <a:solidFill>
                  <a:schemeClr val="tx1"/>
                </a:solidFill>
                <a:latin typeface="微软雅黑" panose="020B0503020204020204" pitchFamily="34" charset="-122"/>
                <a:ea typeface="微软雅黑" panose="020B0503020204020204" pitchFamily="34" charset="-122"/>
              </a:rPr>
              <a:t>未知测试数据</a:t>
            </a:r>
          </a:p>
        </p:txBody>
      </p:sp>
      <p:pic>
        <p:nvPicPr>
          <p:cNvPr id="6" name="图片 5">
            <a:extLst>
              <a:ext uri="{FF2B5EF4-FFF2-40B4-BE49-F238E27FC236}">
                <a16:creationId xmlns:a16="http://schemas.microsoft.com/office/drawing/2014/main" id="{3DE41219-2A91-67C1-C093-A8ACF5064384}"/>
              </a:ext>
            </a:extLst>
          </p:cNvPr>
          <p:cNvPicPr>
            <a:picLocks noChangeAspect="1"/>
          </p:cNvPicPr>
          <p:nvPr/>
        </p:nvPicPr>
        <p:blipFill rotWithShape="1">
          <a:blip r:embed="rId2"/>
          <a:srcRect l="74879" t="26087" r="1498" b="50290"/>
          <a:stretch/>
        </p:blipFill>
        <p:spPr>
          <a:xfrm>
            <a:off x="4447705" y="1606095"/>
            <a:ext cx="1381542" cy="1381542"/>
          </a:xfrm>
          <a:prstGeom prst="rect">
            <a:avLst/>
          </a:prstGeom>
        </p:spPr>
      </p:pic>
      <p:sp>
        <p:nvSpPr>
          <p:cNvPr id="7" name="右箭头 6">
            <a:extLst>
              <a:ext uri="{FF2B5EF4-FFF2-40B4-BE49-F238E27FC236}">
                <a16:creationId xmlns:a16="http://schemas.microsoft.com/office/drawing/2014/main" id="{CFC4631A-8567-4A44-5A98-AC71F25107B0}"/>
              </a:ext>
            </a:extLst>
          </p:cNvPr>
          <p:cNvSpPr/>
          <p:nvPr/>
        </p:nvSpPr>
        <p:spPr>
          <a:xfrm>
            <a:off x="3280314" y="2073235"/>
            <a:ext cx="1063487" cy="523662"/>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8FDF8FB0-6983-6702-40E2-27857409BEC3}"/>
              </a:ext>
            </a:extLst>
          </p:cNvPr>
          <p:cNvSpPr/>
          <p:nvPr/>
        </p:nvSpPr>
        <p:spPr>
          <a:xfrm>
            <a:off x="3403951" y="1819976"/>
            <a:ext cx="646331" cy="369332"/>
          </a:xfrm>
          <a:prstGeom prst="rect">
            <a:avLst/>
          </a:prstGeom>
        </p:spPr>
        <p:txBody>
          <a:bodyPr wrap="none">
            <a:spAutoFit/>
          </a:bodyPr>
          <a:lstStyle/>
          <a:p>
            <a:r>
              <a:rPr kumimoji="1" lang="zh-CN" altLang="en-US" b="1" dirty="0">
                <a:latin typeface="微软雅黑" panose="020B0503020204020204" pitchFamily="34" charset="-122"/>
                <a:ea typeface="微软雅黑" panose="020B0503020204020204" pitchFamily="34" charset="-122"/>
              </a:rPr>
              <a:t>训练</a:t>
            </a:r>
            <a:endParaRPr lang="zh-CN" altLang="en-US" dirty="0">
              <a:latin typeface="微软雅黑" panose="020B0503020204020204" pitchFamily="34" charset="-122"/>
              <a:ea typeface="微软雅黑" panose="020B0503020204020204" pitchFamily="34" charset="-122"/>
            </a:endParaRPr>
          </a:p>
        </p:txBody>
      </p:sp>
      <p:sp>
        <p:nvSpPr>
          <p:cNvPr id="9" name="右箭头 9">
            <a:extLst>
              <a:ext uri="{FF2B5EF4-FFF2-40B4-BE49-F238E27FC236}">
                <a16:creationId xmlns:a16="http://schemas.microsoft.com/office/drawing/2014/main" id="{881BA348-3E65-5D49-B8C8-995D342D0867}"/>
              </a:ext>
            </a:extLst>
          </p:cNvPr>
          <p:cNvSpPr/>
          <p:nvPr/>
        </p:nvSpPr>
        <p:spPr>
          <a:xfrm>
            <a:off x="6035535" y="2077610"/>
            <a:ext cx="1063487" cy="523662"/>
          </a:xfrm>
          <a:prstGeom prst="rightArrow">
            <a:avLst>
              <a:gd name="adj1" fmla="val 37674"/>
              <a:gd name="adj2" fmla="val 50000"/>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D16D8F51-559E-BFEA-EBD1-B254FF0C218F}"/>
              </a:ext>
            </a:extLst>
          </p:cNvPr>
          <p:cNvSpPr/>
          <p:nvPr/>
        </p:nvSpPr>
        <p:spPr>
          <a:xfrm>
            <a:off x="6156621" y="1798869"/>
            <a:ext cx="646331" cy="369332"/>
          </a:xfrm>
          <a:prstGeom prst="rect">
            <a:avLst/>
          </a:prstGeom>
        </p:spPr>
        <p:txBody>
          <a:bodyPr wrap="none">
            <a:spAutoFit/>
          </a:bodyPr>
          <a:lstStyle/>
          <a:p>
            <a:r>
              <a:rPr kumimoji="1" lang="zh-CN" altLang="en-US" b="1" dirty="0">
                <a:latin typeface="微软雅黑" panose="020B0503020204020204" pitchFamily="34" charset="-122"/>
                <a:ea typeface="微软雅黑" panose="020B0503020204020204" pitchFamily="34" charset="-122"/>
              </a:rPr>
              <a:t>应用</a:t>
            </a:r>
            <a:endParaRPr lang="zh-CN" altLang="en-US"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7EC5F8BF-66BB-C447-B52C-F1433E8927F5}"/>
              </a:ext>
            </a:extLst>
          </p:cNvPr>
          <p:cNvPicPr>
            <a:picLocks noChangeAspect="1"/>
          </p:cNvPicPr>
          <p:nvPr/>
        </p:nvPicPr>
        <p:blipFill>
          <a:blip r:embed="rId3"/>
          <a:stretch>
            <a:fillRect/>
          </a:stretch>
        </p:blipFill>
        <p:spPr>
          <a:xfrm>
            <a:off x="7947680" y="4614430"/>
            <a:ext cx="622361" cy="99812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2" name="图片 11">
            <a:extLst>
              <a:ext uri="{FF2B5EF4-FFF2-40B4-BE49-F238E27FC236}">
                <a16:creationId xmlns:a16="http://schemas.microsoft.com/office/drawing/2014/main" id="{F8915821-3930-4714-3E4A-9BA37C101506}"/>
              </a:ext>
            </a:extLst>
          </p:cNvPr>
          <p:cNvPicPr>
            <a:picLocks noChangeAspect="1"/>
          </p:cNvPicPr>
          <p:nvPr/>
        </p:nvPicPr>
        <p:blipFill>
          <a:blip r:embed="rId4"/>
          <a:stretch>
            <a:fillRect/>
          </a:stretch>
        </p:blipFill>
        <p:spPr>
          <a:xfrm>
            <a:off x="7864673" y="3848230"/>
            <a:ext cx="788374" cy="5702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nvGrpSpPr>
          <p:cNvPr id="13" name="组合 12">
            <a:extLst>
              <a:ext uri="{FF2B5EF4-FFF2-40B4-BE49-F238E27FC236}">
                <a16:creationId xmlns:a16="http://schemas.microsoft.com/office/drawing/2014/main" id="{CA86D959-473C-BDEE-2379-A842EDF76B82}"/>
              </a:ext>
            </a:extLst>
          </p:cNvPr>
          <p:cNvGrpSpPr/>
          <p:nvPr/>
        </p:nvGrpSpPr>
        <p:grpSpPr>
          <a:xfrm>
            <a:off x="571638" y="2987637"/>
            <a:ext cx="2832313" cy="1935158"/>
            <a:chOff x="795756" y="2889563"/>
            <a:chExt cx="2832313" cy="1935158"/>
          </a:xfrm>
        </p:grpSpPr>
        <p:pic>
          <p:nvPicPr>
            <p:cNvPr id="14" name="图片 13">
              <a:extLst>
                <a:ext uri="{FF2B5EF4-FFF2-40B4-BE49-F238E27FC236}">
                  <a16:creationId xmlns:a16="http://schemas.microsoft.com/office/drawing/2014/main" id="{CCC63396-327E-024F-344D-0CB0963F43F9}"/>
                </a:ext>
              </a:extLst>
            </p:cNvPr>
            <p:cNvPicPr>
              <a:picLocks noChangeAspect="1"/>
            </p:cNvPicPr>
            <p:nvPr/>
          </p:nvPicPr>
          <p:blipFill>
            <a:blip r:embed="rId5"/>
            <a:stretch>
              <a:fillRect/>
            </a:stretch>
          </p:blipFill>
          <p:spPr>
            <a:xfrm>
              <a:off x="800677" y="2889907"/>
              <a:ext cx="1059228" cy="7752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5" name="图片 14">
              <a:extLst>
                <a:ext uri="{FF2B5EF4-FFF2-40B4-BE49-F238E27FC236}">
                  <a16:creationId xmlns:a16="http://schemas.microsoft.com/office/drawing/2014/main" id="{344AE5DC-78FF-C04C-C300-0D16DFD3653F}"/>
                </a:ext>
              </a:extLst>
            </p:cNvPr>
            <p:cNvPicPr>
              <a:picLocks noChangeAspect="1"/>
            </p:cNvPicPr>
            <p:nvPr/>
          </p:nvPicPr>
          <p:blipFill>
            <a:blip r:embed="rId6"/>
            <a:stretch>
              <a:fillRect/>
            </a:stretch>
          </p:blipFill>
          <p:spPr>
            <a:xfrm>
              <a:off x="1933391" y="2892044"/>
              <a:ext cx="801827" cy="87864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 name="图片 15">
              <a:extLst>
                <a:ext uri="{FF2B5EF4-FFF2-40B4-BE49-F238E27FC236}">
                  <a16:creationId xmlns:a16="http://schemas.microsoft.com/office/drawing/2014/main" id="{EFF98414-DEBB-FD96-2970-1B632079968D}"/>
                </a:ext>
              </a:extLst>
            </p:cNvPr>
            <p:cNvPicPr>
              <a:picLocks noChangeAspect="1"/>
            </p:cNvPicPr>
            <p:nvPr/>
          </p:nvPicPr>
          <p:blipFill>
            <a:blip r:embed="rId7"/>
            <a:stretch>
              <a:fillRect/>
            </a:stretch>
          </p:blipFill>
          <p:spPr>
            <a:xfrm>
              <a:off x="2735218" y="3874908"/>
              <a:ext cx="892851" cy="9494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7" name="图片 16">
              <a:extLst>
                <a:ext uri="{FF2B5EF4-FFF2-40B4-BE49-F238E27FC236}">
                  <a16:creationId xmlns:a16="http://schemas.microsoft.com/office/drawing/2014/main" id="{8793F0C5-086F-F435-64D3-285370A01FB5}"/>
                </a:ext>
              </a:extLst>
            </p:cNvPr>
            <p:cNvPicPr>
              <a:picLocks noChangeAspect="1"/>
            </p:cNvPicPr>
            <p:nvPr/>
          </p:nvPicPr>
          <p:blipFill>
            <a:blip r:embed="rId8"/>
            <a:stretch>
              <a:fillRect/>
            </a:stretch>
          </p:blipFill>
          <p:spPr>
            <a:xfrm>
              <a:off x="1753379" y="3911954"/>
              <a:ext cx="906558" cy="91276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8" name="图片 17">
              <a:extLst>
                <a:ext uri="{FF2B5EF4-FFF2-40B4-BE49-F238E27FC236}">
                  <a16:creationId xmlns:a16="http://schemas.microsoft.com/office/drawing/2014/main" id="{9C67683E-E576-7FC3-DA9D-50AB04F141BC}"/>
                </a:ext>
              </a:extLst>
            </p:cNvPr>
            <p:cNvPicPr>
              <a:picLocks noChangeAspect="1"/>
            </p:cNvPicPr>
            <p:nvPr/>
          </p:nvPicPr>
          <p:blipFill>
            <a:blip r:embed="rId9"/>
            <a:stretch>
              <a:fillRect/>
            </a:stretch>
          </p:blipFill>
          <p:spPr>
            <a:xfrm>
              <a:off x="795756" y="3722657"/>
              <a:ext cx="906947" cy="110169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图片 18">
              <a:extLst>
                <a:ext uri="{FF2B5EF4-FFF2-40B4-BE49-F238E27FC236}">
                  <a16:creationId xmlns:a16="http://schemas.microsoft.com/office/drawing/2014/main" id="{32B30D49-8BD1-32E9-5E33-A770D9CFECB3}"/>
                </a:ext>
              </a:extLst>
            </p:cNvPr>
            <p:cNvPicPr>
              <a:picLocks noChangeAspect="1"/>
            </p:cNvPicPr>
            <p:nvPr/>
          </p:nvPicPr>
          <p:blipFill>
            <a:blip r:embed="rId10"/>
            <a:stretch>
              <a:fillRect/>
            </a:stretch>
          </p:blipFill>
          <p:spPr>
            <a:xfrm>
              <a:off x="2828024" y="2889563"/>
              <a:ext cx="800045" cy="88113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63409646-36F4-3419-A844-F19D29831429}"/>
                  </a:ext>
                </a:extLst>
              </p:cNvPr>
              <p:cNvSpPr/>
              <p:nvPr/>
            </p:nvSpPr>
            <p:spPr>
              <a:xfrm>
                <a:off x="7275483" y="3781722"/>
                <a:ext cx="2375201"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mc:Choice>
        <mc:Fallback xmlns="">
          <p:sp>
            <p:nvSpPr>
              <p:cNvPr id="20" name="矩形 19">
                <a:extLst>
                  <a:ext uri="{FF2B5EF4-FFF2-40B4-BE49-F238E27FC236}">
                    <a16:creationId xmlns:a16="http://schemas.microsoft.com/office/drawing/2014/main" id="{63409646-36F4-3419-A844-F19D29831429}"/>
                  </a:ext>
                </a:extLst>
              </p:cNvPr>
              <p:cNvSpPr>
                <a:spLocks noRot="1" noChangeAspect="1" noMove="1" noResize="1" noEditPoints="1" noAdjustHandles="1" noChangeArrowheads="1" noChangeShapeType="1" noTextEdit="1"/>
              </p:cNvSpPr>
              <p:nvPr/>
            </p:nvSpPr>
            <p:spPr>
              <a:xfrm>
                <a:off x="7275483" y="3781722"/>
                <a:ext cx="2375201" cy="584775"/>
              </a:xfrm>
              <a:prstGeom prst="rect">
                <a:avLst/>
              </a:prstGeom>
              <a:blipFill>
                <a:blip r:embed="rId11"/>
                <a:stretch>
                  <a:fillRect t="-15625" r="-7436" b="-385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EAA9A81E-5151-8715-C01D-273723139FE3}"/>
                  </a:ext>
                </a:extLst>
              </p:cNvPr>
              <p:cNvSpPr/>
              <p:nvPr/>
            </p:nvSpPr>
            <p:spPr>
              <a:xfrm>
                <a:off x="7290729" y="4792770"/>
                <a:ext cx="2375202"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rgbClr val="FF0000"/>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rgbClr val="FF0000"/>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p>
            </p:txBody>
          </p:sp>
        </mc:Choice>
        <mc:Fallback xmlns="">
          <p:sp>
            <p:nvSpPr>
              <p:cNvPr id="21" name="矩形 20">
                <a:extLst>
                  <a:ext uri="{FF2B5EF4-FFF2-40B4-BE49-F238E27FC236}">
                    <a16:creationId xmlns:a16="http://schemas.microsoft.com/office/drawing/2014/main" id="{EAA9A81E-5151-8715-C01D-273723139FE3}"/>
                  </a:ext>
                </a:extLst>
              </p:cNvPr>
              <p:cNvSpPr>
                <a:spLocks noRot="1" noChangeAspect="1" noMove="1" noResize="1" noEditPoints="1" noAdjustHandles="1" noChangeArrowheads="1" noChangeShapeType="1" noTextEdit="1"/>
              </p:cNvSpPr>
              <p:nvPr/>
            </p:nvSpPr>
            <p:spPr>
              <a:xfrm>
                <a:off x="7290729" y="4792770"/>
                <a:ext cx="2375202" cy="584775"/>
              </a:xfrm>
              <a:prstGeom prst="rect">
                <a:avLst/>
              </a:prstGeom>
              <a:blipFill>
                <a:blip r:embed="rId12"/>
                <a:stretch>
                  <a:fillRect t="-15625" r="-7436" b="-38542"/>
                </a:stretch>
              </a:blipFill>
            </p:spPr>
            <p:txBody>
              <a:bodyPr/>
              <a:lstStyle/>
              <a:p>
                <a:r>
                  <a:rPr lang="zh-CN" altLang="en-US">
                    <a:noFill/>
                  </a:rPr>
                  <a:t> </a:t>
                </a:r>
              </a:p>
            </p:txBody>
          </p:sp>
        </mc:Fallback>
      </mc:AlternateContent>
      <p:grpSp>
        <p:nvGrpSpPr>
          <p:cNvPr id="22" name="组合 21">
            <a:extLst>
              <a:ext uri="{FF2B5EF4-FFF2-40B4-BE49-F238E27FC236}">
                <a16:creationId xmlns:a16="http://schemas.microsoft.com/office/drawing/2014/main" id="{D7004E4E-9831-DDF5-F9D3-38A3A7CD610B}"/>
              </a:ext>
            </a:extLst>
          </p:cNvPr>
          <p:cNvGrpSpPr/>
          <p:nvPr/>
        </p:nvGrpSpPr>
        <p:grpSpPr>
          <a:xfrm>
            <a:off x="4205605" y="3240896"/>
            <a:ext cx="2195669" cy="3217669"/>
            <a:chOff x="4270522" y="2987637"/>
            <a:chExt cx="2195669" cy="3217669"/>
          </a:xfrm>
        </p:grpSpPr>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B5D1F27A-B5D8-5E09-8DF1-55BF6DB14BA5}"/>
                    </a:ext>
                  </a:extLst>
                </p:cNvPr>
                <p:cNvSpPr/>
                <p:nvPr/>
              </p:nvSpPr>
              <p:spPr>
                <a:xfrm>
                  <a:off x="4270522" y="3011201"/>
                  <a:ext cx="2195666"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22" name="矩形 21"/>
                <p:cNvSpPr>
                  <a:spLocks noRot="1" noChangeAspect="1" noMove="1" noResize="1" noEditPoints="1" noAdjustHandles="1" noChangeArrowheads="1" noChangeShapeType="1" noTextEdit="1"/>
                </p:cNvSpPr>
                <p:nvPr/>
              </p:nvSpPr>
              <p:spPr>
                <a:xfrm>
                  <a:off x="3660485" y="3011201"/>
                  <a:ext cx="3415743" cy="923330"/>
                </a:xfrm>
                <a:prstGeom prst="rect">
                  <a:avLst/>
                </a:prstGeom>
                <a:blipFill rotWithShape="0">
                  <a:blip r:embed="rId14"/>
                  <a:stretch>
                    <a:fillRect t="-26490" r="-10160" b="-45695"/>
                  </a:stretch>
                </a:blipFill>
              </p:spPr>
              <p:txBody>
                <a:bodyPr/>
                <a:lstStyle/>
                <a:p>
                  <a:r>
                    <a:rPr lang="zh-CN" altLang="en-US">
                      <a:noFill/>
                    </a:rPr>
                    <a:t> </a:t>
                  </a:r>
                </a:p>
              </p:txBody>
            </p:sp>
          </mc:Fallback>
        </mc:AlternateContent>
        <p:pic>
          <p:nvPicPr>
            <p:cNvPr id="24" name="图片 23">
              <a:extLst>
                <a:ext uri="{FF2B5EF4-FFF2-40B4-BE49-F238E27FC236}">
                  <a16:creationId xmlns:a16="http://schemas.microsoft.com/office/drawing/2014/main" id="{E9CEA836-A4ED-A04F-AA58-D675AA4BB0DD}"/>
                </a:ext>
              </a:extLst>
            </p:cNvPr>
            <p:cNvPicPr>
              <a:picLocks noChangeAspect="1"/>
            </p:cNvPicPr>
            <p:nvPr/>
          </p:nvPicPr>
          <p:blipFill>
            <a:blip r:embed="rId5"/>
            <a:stretch>
              <a:fillRect/>
            </a:stretch>
          </p:blipFill>
          <p:spPr>
            <a:xfrm>
              <a:off x="4808162" y="5704141"/>
              <a:ext cx="684731" cy="50116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mc:AlternateContent xmlns:mc="http://schemas.openxmlformats.org/markup-compatibility/2006" xmlns:a14="http://schemas.microsoft.com/office/drawing/2010/main">
          <mc:Choice Requires="a14">
            <p:sp>
              <p:nvSpPr>
                <p:cNvPr id="25" name="矩形 24">
                  <a:extLst>
                    <a:ext uri="{FF2B5EF4-FFF2-40B4-BE49-F238E27FC236}">
                      <a16:creationId xmlns:a16="http://schemas.microsoft.com/office/drawing/2014/main" id="{5A387035-5F4D-0E6F-1DFF-A67E7A9840A1}"/>
                    </a:ext>
                  </a:extLst>
                </p:cNvPr>
                <p:cNvSpPr/>
                <p:nvPr/>
              </p:nvSpPr>
              <p:spPr>
                <a:xfrm>
                  <a:off x="4270525" y="3881235"/>
                  <a:ext cx="2195666"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35" name="矩形 34"/>
                <p:cNvSpPr>
                  <a:spLocks noRot="1" noChangeAspect="1" noMove="1" noResize="1" noEditPoints="1" noAdjustHandles="1" noChangeArrowheads="1" noChangeShapeType="1" noTextEdit="1"/>
                </p:cNvSpPr>
                <p:nvPr/>
              </p:nvSpPr>
              <p:spPr>
                <a:xfrm>
                  <a:off x="3660488" y="3881235"/>
                  <a:ext cx="3415743" cy="923330"/>
                </a:xfrm>
                <a:prstGeom prst="rect">
                  <a:avLst/>
                </a:prstGeom>
                <a:blipFill rotWithShape="0">
                  <a:blip r:embed="rId15"/>
                  <a:stretch>
                    <a:fillRect t="-26490" r="-10160" b="-450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82E6FE28-450E-CC84-23A8-D273E5823828}"/>
                    </a:ext>
                  </a:extLst>
                </p:cNvPr>
                <p:cNvSpPr/>
                <p:nvPr/>
              </p:nvSpPr>
              <p:spPr>
                <a:xfrm>
                  <a:off x="4270524" y="4761087"/>
                  <a:ext cx="2195666"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36" name="矩形 35"/>
                <p:cNvSpPr>
                  <a:spLocks noRot="1" noChangeAspect="1" noMove="1" noResize="1" noEditPoints="1" noAdjustHandles="1" noChangeArrowheads="1" noChangeShapeType="1" noTextEdit="1"/>
                </p:cNvSpPr>
                <p:nvPr/>
              </p:nvSpPr>
              <p:spPr>
                <a:xfrm>
                  <a:off x="3660487" y="4761087"/>
                  <a:ext cx="3415743" cy="923330"/>
                </a:xfrm>
                <a:prstGeom prst="rect">
                  <a:avLst/>
                </a:prstGeom>
                <a:blipFill rotWithShape="0">
                  <a:blip r:embed="rId16"/>
                  <a:stretch>
                    <a:fillRect t="-26490" r="-10160" b="-4569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矩形 26">
                  <a:extLst>
                    <a:ext uri="{FF2B5EF4-FFF2-40B4-BE49-F238E27FC236}">
                      <a16:creationId xmlns:a16="http://schemas.microsoft.com/office/drawing/2014/main" id="{41B1A4B2-09E6-E8FC-95D0-4A34ACD496C7}"/>
                    </a:ext>
                  </a:extLst>
                </p:cNvPr>
                <p:cNvSpPr/>
                <p:nvPr/>
              </p:nvSpPr>
              <p:spPr>
                <a:xfrm>
                  <a:off x="4270523" y="5620531"/>
                  <a:ext cx="2195666" cy="584775"/>
                </a:xfrm>
                <a:prstGeom prst="rect">
                  <a:avLst/>
                </a:prstGeom>
                <a:noFill/>
              </p:spPr>
              <p:txBody>
                <a:bodyPr wrap="none" lIns="91440" tIns="45720" rIns="91440" bIns="45720">
                  <a:spAutoFit/>
                </a:bodyPr>
                <a:lstStyle/>
                <a:p>
                  <a:pPr algn="ctr"/>
                  <a14:m>
                    <m:oMath xmlns:m="http://schemas.openxmlformats.org/officeDocument/2006/math">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𝑓</m:t>
                      </m:r>
                      <m:r>
                        <a:rPr lang="en-US" altLang="zh-CN" sz="3200" b="0" i="1" cap="none" spc="0" smtClean="0">
                          <a:ln w="0"/>
                          <a:solidFill>
                            <a:schemeClr val="tx1"/>
                          </a:solidFill>
                          <a:effectLst>
                            <a:outerShdw blurRad="38100" dist="19050" dir="2700000" algn="tl" rotWithShape="0">
                              <a:schemeClr val="dk1">
                                <a:alpha val="40000"/>
                              </a:schemeClr>
                            </a:outerShdw>
                          </a:effectLst>
                          <a:latin typeface="Cambria Math" panose="02040503050406030204" pitchFamily="18" charset="0"/>
                        </a:rPr>
                        <m:t>(        )</m:t>
                      </m:r>
                    </m:oMath>
                  </a14:m>
                  <a:r>
                    <a:rPr lang="en-US" altLang="zh-CN"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a:t>
                  </a:r>
                  <a:r>
                    <a:rPr lang="zh-CN" altLang="en-US" sz="3200" b="0" cap="none" spc="0" dirty="0">
                      <a:ln w="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rPr>
                    <a:t>狗</a:t>
                  </a:r>
                </a:p>
              </p:txBody>
            </p:sp>
          </mc:Choice>
          <mc:Fallback xmlns="">
            <p:sp>
              <p:nvSpPr>
                <p:cNvPr id="37" name="矩形 36"/>
                <p:cNvSpPr>
                  <a:spLocks noRot="1" noChangeAspect="1" noMove="1" noResize="1" noEditPoints="1" noAdjustHandles="1" noChangeArrowheads="1" noChangeShapeType="1" noTextEdit="1"/>
                </p:cNvSpPr>
                <p:nvPr/>
              </p:nvSpPr>
              <p:spPr>
                <a:xfrm>
                  <a:off x="3660486" y="5620531"/>
                  <a:ext cx="3415743" cy="923330"/>
                </a:xfrm>
                <a:prstGeom prst="rect">
                  <a:avLst/>
                </a:prstGeom>
                <a:blipFill rotWithShape="0">
                  <a:blip r:embed="rId17"/>
                  <a:stretch>
                    <a:fillRect t="-26490" r="-10160" b="-45695"/>
                  </a:stretch>
                </a:blipFill>
              </p:spPr>
              <p:txBody>
                <a:bodyPr/>
                <a:lstStyle/>
                <a:p>
                  <a:r>
                    <a:rPr lang="zh-CN" altLang="en-US">
                      <a:noFill/>
                    </a:rPr>
                    <a:t> </a:t>
                  </a:r>
                </a:p>
              </p:txBody>
            </p:sp>
          </mc:Fallback>
        </mc:AlternateContent>
        <p:pic>
          <p:nvPicPr>
            <p:cNvPr id="28" name="图片 27">
              <a:extLst>
                <a:ext uri="{FF2B5EF4-FFF2-40B4-BE49-F238E27FC236}">
                  <a16:creationId xmlns:a16="http://schemas.microsoft.com/office/drawing/2014/main" id="{95E22E31-6B37-A82C-D056-103A26EB053D}"/>
                </a:ext>
              </a:extLst>
            </p:cNvPr>
            <p:cNvPicPr>
              <a:picLocks noChangeAspect="1"/>
            </p:cNvPicPr>
            <p:nvPr/>
          </p:nvPicPr>
          <p:blipFill>
            <a:blip r:embed="rId6"/>
            <a:stretch>
              <a:fillRect/>
            </a:stretch>
          </p:blipFill>
          <p:spPr>
            <a:xfrm>
              <a:off x="4808162" y="2987637"/>
              <a:ext cx="660628" cy="72392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9" name="图片 28">
              <a:extLst>
                <a:ext uri="{FF2B5EF4-FFF2-40B4-BE49-F238E27FC236}">
                  <a16:creationId xmlns:a16="http://schemas.microsoft.com/office/drawing/2014/main" id="{F12C4C65-4144-B773-4E5B-296E1D8DEF83}"/>
                </a:ext>
              </a:extLst>
            </p:cNvPr>
            <p:cNvPicPr>
              <a:picLocks noChangeAspect="1"/>
            </p:cNvPicPr>
            <p:nvPr/>
          </p:nvPicPr>
          <p:blipFill>
            <a:blip r:embed="rId8"/>
            <a:stretch>
              <a:fillRect/>
            </a:stretch>
          </p:blipFill>
          <p:spPr>
            <a:xfrm>
              <a:off x="4808162" y="4818020"/>
              <a:ext cx="660628" cy="61145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30" name="图片 29">
              <a:extLst>
                <a:ext uri="{FF2B5EF4-FFF2-40B4-BE49-F238E27FC236}">
                  <a16:creationId xmlns:a16="http://schemas.microsoft.com/office/drawing/2014/main" id="{FF1116E1-9A1E-4162-8F2E-DA2E7CE82B70}"/>
                </a:ext>
              </a:extLst>
            </p:cNvPr>
            <p:cNvPicPr>
              <a:picLocks noChangeAspect="1"/>
            </p:cNvPicPr>
            <p:nvPr/>
          </p:nvPicPr>
          <p:blipFill>
            <a:blip r:embed="rId7"/>
            <a:stretch>
              <a:fillRect/>
            </a:stretch>
          </p:blipFill>
          <p:spPr>
            <a:xfrm>
              <a:off x="4813905" y="3938519"/>
              <a:ext cx="654885" cy="61165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sp>
        <p:nvSpPr>
          <p:cNvPr id="31" name="圆角矩形 45">
            <a:extLst>
              <a:ext uri="{FF2B5EF4-FFF2-40B4-BE49-F238E27FC236}">
                <a16:creationId xmlns:a16="http://schemas.microsoft.com/office/drawing/2014/main" id="{CBC0FCDD-142F-0B75-DDB5-A5DF79786EE0}"/>
              </a:ext>
            </a:extLst>
          </p:cNvPr>
          <p:cNvSpPr/>
          <p:nvPr/>
        </p:nvSpPr>
        <p:spPr>
          <a:xfrm>
            <a:off x="9925399" y="4281568"/>
            <a:ext cx="1736719" cy="452990"/>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7030A0"/>
                </a:solidFill>
                <a:latin typeface="微软雅黑" panose="020B0503020204020204" pitchFamily="34" charset="-122"/>
                <a:ea typeface="微软雅黑" panose="020B0503020204020204" pitchFamily="34" charset="-122"/>
              </a:rPr>
              <a:t>泛化问题</a:t>
            </a:r>
          </a:p>
        </p:txBody>
      </p:sp>
    </p:spTree>
    <p:extLst>
      <p:ext uri="{BB962C8B-B14F-4D97-AF65-F5344CB8AC3E}">
        <p14:creationId xmlns:p14="http://schemas.microsoft.com/office/powerpoint/2010/main" val="1061767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500"/>
                                        <p:tgtEl>
                                          <p:spTgt spid="2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fade">
                                      <p:cBhvr>
                                        <p:cTn id="47" dur="500"/>
                                        <p:tgtEl>
                                          <p:spTgt spid="1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p:bldP spid="9" grpId="0" animBg="1"/>
      <p:bldP spid="10" grpId="0"/>
      <p:bldP spid="20" grpId="0"/>
      <p:bldP spid="21" grpId="0"/>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E70E2-32CE-8ACB-7E0F-E64C6B076852}"/>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D5DC5F1A-5B76-1EE6-EBFA-F623D5D3107C}"/>
              </a:ext>
            </a:extLst>
          </p:cNvPr>
          <p:cNvSpPr txBox="1"/>
          <p:nvPr/>
        </p:nvSpPr>
        <p:spPr>
          <a:xfrm>
            <a:off x="951520" y="208400"/>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输入空间与输出空间</a:t>
            </a:r>
          </a:p>
        </p:txBody>
      </p:sp>
      <p:grpSp>
        <p:nvGrpSpPr>
          <p:cNvPr id="4" name="组合 3">
            <a:extLst>
              <a:ext uri="{FF2B5EF4-FFF2-40B4-BE49-F238E27FC236}">
                <a16:creationId xmlns:a16="http://schemas.microsoft.com/office/drawing/2014/main" id="{055A082C-FC31-294D-BAD6-92F7ED62A94E}"/>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294A106D-7ED4-6C8D-2D75-33A66DE3ACA0}"/>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F88DDEEA-F27F-69BD-3D73-BA9884D1B0E1}"/>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9AAAFF17-3912-F20B-7C9A-787FF4F12ECA}"/>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DB590C03-A31A-6D87-6F2C-8B61C3292C5A}"/>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CB97C53E-6AFF-E1E1-8007-E3251BF81CD7}"/>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42D8FB8C-BC23-A04B-FF55-EB27C778697F}"/>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065BC486-383C-50B9-D078-3E4B01A8F2CE}"/>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486DA6B1-4EC3-62E6-637D-FBBD6A405BA6}"/>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18752D7C-A713-306C-85ED-2C23B664D7AA}"/>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D5FC7F1B-E76A-11AC-4D95-A8973D4ABE57}"/>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0D3682E4-BA2F-E953-06E2-D5283505B845}"/>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87E782F0-8536-C7CB-ADF1-5586713BDBF3}"/>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9057C0F6-B2E8-394A-B6C2-D0469421E23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F6FC547E-8C64-C7A0-F2C7-16FF5BDA98B5}"/>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BF2EF33B-1342-99D4-9206-3969435A7A6C}"/>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6C244EEA-BCF8-0A6F-E922-D802D34D525D}"/>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FCD30283-6391-26EC-160E-ED6203A94753}"/>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55561F35-8531-A8F3-D177-9AD11F40E4D6}"/>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722697E1-144F-E799-77F6-F3103FAACBC7}"/>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5233CE52-27E2-B18E-C410-DF9A263A99B4}"/>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CBF68BD6-E707-E3E1-682A-5E5CAB1F9470}"/>
              </a:ext>
            </a:extLst>
          </p:cNvPr>
          <p:cNvSpPr txBox="1"/>
          <p:nvPr/>
        </p:nvSpPr>
        <p:spPr>
          <a:xfrm>
            <a:off x="1209675" y="1102360"/>
            <a:ext cx="9103995" cy="460375"/>
          </a:xfrm>
          <a:prstGeom prst="rect">
            <a:avLst/>
          </a:prstGeom>
          <a:noFill/>
        </p:spPr>
        <p:txBody>
          <a:bodyPr wrap="square" rtlCol="0">
            <a:spAutoFit/>
          </a:bodyPr>
          <a:lstStyle/>
          <a:p>
            <a:r>
              <a:rPr lang="zh-CN" altLang="en-US" sz="2400" b="1" dirty="0"/>
              <a:t>输入空间</a:t>
            </a:r>
            <a:r>
              <a:rPr lang="zh-CN" altLang="en-US" sz="2400" dirty="0"/>
              <a:t>（</a:t>
            </a:r>
            <a:r>
              <a:rPr lang="en-US" altLang="zh-CN" sz="2400" i="1" dirty="0"/>
              <a:t>Input Space</a:t>
            </a:r>
            <a:r>
              <a:rPr lang="zh-CN" altLang="en-US" sz="2400" dirty="0"/>
              <a:t>）：</a:t>
            </a:r>
            <a:r>
              <a:rPr lang="zh-CN" altLang="en-US" sz="2000" dirty="0"/>
              <a:t>将输入的所有可能取值的集合称作输入空间。</a:t>
            </a:r>
          </a:p>
        </p:txBody>
      </p:sp>
      <p:sp>
        <p:nvSpPr>
          <p:cNvPr id="26" name="文本框 25">
            <a:extLst>
              <a:ext uri="{FF2B5EF4-FFF2-40B4-BE49-F238E27FC236}">
                <a16:creationId xmlns:a16="http://schemas.microsoft.com/office/drawing/2014/main" id="{BAD0CF53-E3E0-9D29-4A2A-14065AE76BEB}"/>
              </a:ext>
            </a:extLst>
          </p:cNvPr>
          <p:cNvSpPr txBox="1"/>
          <p:nvPr/>
        </p:nvSpPr>
        <p:spPr>
          <a:xfrm>
            <a:off x="1210310" y="1835150"/>
            <a:ext cx="9103360" cy="460375"/>
          </a:xfrm>
          <a:prstGeom prst="rect">
            <a:avLst/>
          </a:prstGeom>
          <a:noFill/>
        </p:spPr>
        <p:txBody>
          <a:bodyPr wrap="square" rtlCol="0">
            <a:spAutoFit/>
          </a:bodyPr>
          <a:lstStyle/>
          <a:p>
            <a:r>
              <a:rPr lang="zh-CN" altLang="en-US" sz="2400" b="1" dirty="0"/>
              <a:t>输出空间</a:t>
            </a:r>
            <a:r>
              <a:rPr lang="zh-CN" altLang="en-US" sz="2400" dirty="0"/>
              <a:t>（</a:t>
            </a:r>
            <a:r>
              <a:rPr lang="en-US" altLang="zh-CN" sz="2400" i="1" dirty="0"/>
              <a:t>Output Space</a:t>
            </a:r>
            <a:r>
              <a:rPr lang="zh-CN" altLang="en-US" sz="2400" dirty="0"/>
              <a:t>）：</a:t>
            </a:r>
            <a:r>
              <a:rPr lang="zh-CN" altLang="en-US" sz="2000" dirty="0"/>
              <a:t>将输出的所有可能取值的集合称作输出空间。</a:t>
            </a:r>
          </a:p>
        </p:txBody>
      </p:sp>
      <p:sp>
        <p:nvSpPr>
          <p:cNvPr id="27" name="文本框 26">
            <a:extLst>
              <a:ext uri="{FF2B5EF4-FFF2-40B4-BE49-F238E27FC236}">
                <a16:creationId xmlns:a16="http://schemas.microsoft.com/office/drawing/2014/main" id="{43589621-972C-D8CF-68D5-011A05B1E325}"/>
              </a:ext>
            </a:extLst>
          </p:cNvPr>
          <p:cNvSpPr txBox="1"/>
          <p:nvPr/>
        </p:nvSpPr>
        <p:spPr>
          <a:xfrm>
            <a:off x="1190625" y="2583180"/>
            <a:ext cx="4737735" cy="922020"/>
          </a:xfrm>
          <a:prstGeom prst="rect">
            <a:avLst/>
          </a:prstGeom>
          <a:noFill/>
        </p:spPr>
        <p:txBody>
          <a:bodyPr wrap="square" rtlCol="0">
            <a:spAutoFit/>
          </a:bodyPr>
          <a:lstStyle/>
          <a:p>
            <a:r>
              <a:rPr lang="zh-CN" altLang="en-US" dirty="0"/>
              <a:t>采集了一些父子的身高，对这些数据进行建模，然后使用模型，根据输入的父亲的身高去预测其儿子身高的取值。</a:t>
            </a:r>
          </a:p>
        </p:txBody>
      </p:sp>
      <p:sp>
        <p:nvSpPr>
          <p:cNvPr id="28" name="文本框 27">
            <a:extLst>
              <a:ext uri="{FF2B5EF4-FFF2-40B4-BE49-F238E27FC236}">
                <a16:creationId xmlns:a16="http://schemas.microsoft.com/office/drawing/2014/main" id="{85AF8B22-0C6B-021B-2204-04D4DEB925C2}"/>
              </a:ext>
            </a:extLst>
          </p:cNvPr>
          <p:cNvSpPr txBox="1"/>
          <p:nvPr/>
        </p:nvSpPr>
        <p:spPr>
          <a:xfrm>
            <a:off x="6654165" y="2568575"/>
            <a:ext cx="4813300" cy="922020"/>
          </a:xfrm>
          <a:prstGeom prst="rect">
            <a:avLst/>
          </a:prstGeom>
          <a:noFill/>
        </p:spPr>
        <p:txBody>
          <a:bodyPr wrap="square" rtlCol="0">
            <a:spAutoFit/>
          </a:bodyPr>
          <a:lstStyle/>
          <a:p>
            <a:r>
              <a:rPr lang="zh-CN" altLang="en-US" dirty="0"/>
              <a:t>搜集了泰坦尼克号上乘客的相关信息，对这些数据进行建模，使用模型去预测某个乘客是否可以生还。</a:t>
            </a:r>
          </a:p>
        </p:txBody>
      </p:sp>
      <p:pic>
        <p:nvPicPr>
          <p:cNvPr id="29" name="图片 28">
            <a:extLst>
              <a:ext uri="{FF2B5EF4-FFF2-40B4-BE49-F238E27FC236}">
                <a16:creationId xmlns:a16="http://schemas.microsoft.com/office/drawing/2014/main" id="{321C085E-13B3-923E-4504-9C9326256A25}"/>
              </a:ext>
            </a:extLst>
          </p:cNvPr>
          <p:cNvPicPr>
            <a:picLocks noChangeAspect="1"/>
          </p:cNvPicPr>
          <p:nvPr/>
        </p:nvPicPr>
        <p:blipFill>
          <a:blip r:embed="rId2"/>
          <a:stretch>
            <a:fillRect/>
          </a:stretch>
        </p:blipFill>
        <p:spPr>
          <a:xfrm>
            <a:off x="2212975" y="3694430"/>
            <a:ext cx="1670685" cy="2714625"/>
          </a:xfrm>
          <a:prstGeom prst="rect">
            <a:avLst/>
          </a:prstGeom>
        </p:spPr>
      </p:pic>
      <p:sp>
        <p:nvSpPr>
          <p:cNvPr id="30" name="圆角矩形 8">
            <a:extLst>
              <a:ext uri="{FF2B5EF4-FFF2-40B4-BE49-F238E27FC236}">
                <a16:creationId xmlns:a16="http://schemas.microsoft.com/office/drawing/2014/main" id="{B30E0F35-389F-6A4A-12E4-5CC075514994}"/>
              </a:ext>
            </a:extLst>
          </p:cNvPr>
          <p:cNvSpPr/>
          <p:nvPr/>
        </p:nvSpPr>
        <p:spPr>
          <a:xfrm>
            <a:off x="2318385" y="3505835"/>
            <a:ext cx="633730" cy="3093085"/>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9">
            <a:extLst>
              <a:ext uri="{FF2B5EF4-FFF2-40B4-BE49-F238E27FC236}">
                <a16:creationId xmlns:a16="http://schemas.microsoft.com/office/drawing/2014/main" id="{ACB6AD56-21FF-0F30-527B-1EF032202ABE}"/>
              </a:ext>
            </a:extLst>
          </p:cNvPr>
          <p:cNvSpPr/>
          <p:nvPr/>
        </p:nvSpPr>
        <p:spPr>
          <a:xfrm>
            <a:off x="3126740" y="3505835"/>
            <a:ext cx="633730" cy="3108325"/>
          </a:xfrm>
          <a:prstGeom prst="roundRect">
            <a:avLst/>
          </a:prstGeom>
          <a:noFill/>
          <a:ln w="57150">
            <a:solidFill>
              <a:schemeClr val="accent4">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2" name="图片 31">
            <a:extLst>
              <a:ext uri="{FF2B5EF4-FFF2-40B4-BE49-F238E27FC236}">
                <a16:creationId xmlns:a16="http://schemas.microsoft.com/office/drawing/2014/main" id="{EEB73913-EA19-B601-09EF-7A69F61A5CF3}"/>
              </a:ext>
            </a:extLst>
          </p:cNvPr>
          <p:cNvPicPr>
            <a:picLocks noChangeAspect="1"/>
          </p:cNvPicPr>
          <p:nvPr/>
        </p:nvPicPr>
        <p:blipFill>
          <a:blip r:embed="rId3"/>
          <a:stretch>
            <a:fillRect/>
          </a:stretch>
        </p:blipFill>
        <p:spPr>
          <a:xfrm>
            <a:off x="6348730" y="3694430"/>
            <a:ext cx="5424805" cy="2118995"/>
          </a:xfrm>
          <a:prstGeom prst="rect">
            <a:avLst/>
          </a:prstGeom>
        </p:spPr>
      </p:pic>
      <p:pic>
        <p:nvPicPr>
          <p:cNvPr id="33" name="图片 32">
            <a:extLst>
              <a:ext uri="{FF2B5EF4-FFF2-40B4-BE49-F238E27FC236}">
                <a16:creationId xmlns:a16="http://schemas.microsoft.com/office/drawing/2014/main" id="{CAD5D9D4-3F56-F159-CA21-D781B6189390}"/>
              </a:ext>
            </a:extLst>
          </p:cNvPr>
          <p:cNvPicPr>
            <a:picLocks noChangeAspect="1"/>
          </p:cNvPicPr>
          <p:nvPr/>
        </p:nvPicPr>
        <p:blipFill>
          <a:blip r:embed="rId4"/>
          <a:stretch>
            <a:fillRect/>
          </a:stretch>
        </p:blipFill>
        <p:spPr>
          <a:xfrm>
            <a:off x="8030845" y="5905500"/>
            <a:ext cx="2282825" cy="693420"/>
          </a:xfrm>
          <a:prstGeom prst="rect">
            <a:avLst/>
          </a:prstGeom>
        </p:spPr>
      </p:pic>
      <p:sp>
        <p:nvSpPr>
          <p:cNvPr id="34" name="圆角矩形 1">
            <a:extLst>
              <a:ext uri="{FF2B5EF4-FFF2-40B4-BE49-F238E27FC236}">
                <a16:creationId xmlns:a16="http://schemas.microsoft.com/office/drawing/2014/main" id="{5D4A0D89-EB56-C053-D1A3-89996ADD9DD2}"/>
              </a:ext>
            </a:extLst>
          </p:cNvPr>
          <p:cNvSpPr/>
          <p:nvPr/>
        </p:nvSpPr>
        <p:spPr>
          <a:xfrm>
            <a:off x="6043295" y="3996690"/>
            <a:ext cx="6034405" cy="234950"/>
          </a:xfrm>
          <a:prstGeom prst="roundRect">
            <a:avLst/>
          </a:prstGeom>
          <a:noFill/>
          <a:ln w="44450" cmpd="sng">
            <a:solidFill>
              <a:srgbClr val="FF0000"/>
            </a:solidFill>
            <a:prstDash val="solid"/>
          </a:ln>
          <a:extLst>
            <a:ext uri="{909E8E84-426E-40DD-AFC4-6F175D3DCCD1}">
              <a14:hiddenFill xmlns:a14="http://schemas.microsoft.com/office/drawing/2010/main">
                <a:solidFill>
                  <a:srgbClr val="FF000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31828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down)">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down)">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linds(horizontal)">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blinds(horizontal)">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blinds(horizontal)">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blinds(horizontal)">
                                      <p:cBhvr>
                                        <p:cTn id="55" dur="500"/>
                                        <p:tgtEl>
                                          <p:spTgt spid="32"/>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blinds(horizontal)">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grpId="0" nodeType="click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blinds(horizontal)">
                                      <p:cBhvr>
                                        <p:cTn id="65"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P spid="28" grpId="0"/>
      <p:bldP spid="30" grpId="0" bldLvl="0" animBg="1"/>
      <p:bldP spid="30" grpId="1" animBg="1"/>
      <p:bldP spid="31" grpId="0" bldLvl="0" animBg="1"/>
      <p:bldP spid="31" grpId="1" animBg="1"/>
      <p:bldP spid="34" grpId="0" animBg="1"/>
      <p:bldP spid="34" grpId="1"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05D93-1D5F-E928-E705-F56BA0CA0C2E}"/>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06AA7E7C-D2EA-A533-2E02-886FE61C929B}"/>
              </a:ext>
            </a:extLst>
          </p:cNvPr>
          <p:cNvSpPr txBox="1"/>
          <p:nvPr/>
        </p:nvSpPr>
        <p:spPr>
          <a:xfrm>
            <a:off x="951520" y="208400"/>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输入空间与输出空间</a:t>
            </a:r>
          </a:p>
        </p:txBody>
      </p:sp>
      <p:grpSp>
        <p:nvGrpSpPr>
          <p:cNvPr id="4" name="组合 3">
            <a:extLst>
              <a:ext uri="{FF2B5EF4-FFF2-40B4-BE49-F238E27FC236}">
                <a16:creationId xmlns:a16="http://schemas.microsoft.com/office/drawing/2014/main" id="{F7C29D67-E278-904F-2A51-11A677D33EC0}"/>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442D3A3E-B508-3535-B8FD-8DB156896F88}"/>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2E5E258E-B402-E2B8-5B0F-1A6AA7260032}"/>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044F346B-D97B-EC4A-D93F-92B5D2FCC7F4}"/>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CE8C42B4-2C9D-5E70-07D2-83A61A3D6F75}"/>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DB580C81-B30A-173F-AC6B-9885FB7FA765}"/>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9B3FB5D9-FFBC-73F6-8E07-AEE5BB511A89}"/>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F7FC0898-E155-A441-952F-0EBE36A8155D}"/>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BEBD1778-91B7-BCAB-5C41-B67B6B6F1C51}"/>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15464A7D-2A9B-4F0F-4666-9ABB7F5039F6}"/>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02FD850-47A4-3ECE-25C5-BE22C116D2D7}"/>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FBD0D196-766E-3996-8407-264E37B82773}"/>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296641B2-90B4-DABB-6FF1-E08919D605CC}"/>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B0D303B2-D823-CE0B-3222-34DBCE1182D9}"/>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6C7F0328-CD0D-E758-BCFF-3387A3DB75BB}"/>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53869BF5-1EE0-40CA-494D-7077D981FBEE}"/>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8A19F13E-0A0F-E146-6820-CABFB8664C97}"/>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7491B634-9D9C-11E6-636D-D5B891F41D63}"/>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3DD730AC-9588-D87E-F0AC-E1D5ED6FD6AB}"/>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424EEA28-3231-EF00-2D48-1E0D7BD6C433}"/>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5C127824-1696-C275-53D9-73B8167E149C}"/>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FC2CD706-5F0D-FD8B-42B9-721205C890CF}"/>
              </a:ext>
            </a:extLst>
          </p:cNvPr>
          <p:cNvSpPr txBox="1"/>
          <p:nvPr/>
        </p:nvSpPr>
        <p:spPr>
          <a:xfrm>
            <a:off x="1209675" y="1102360"/>
            <a:ext cx="9103995" cy="460375"/>
          </a:xfrm>
          <a:prstGeom prst="rect">
            <a:avLst/>
          </a:prstGeom>
          <a:noFill/>
        </p:spPr>
        <p:txBody>
          <a:bodyPr wrap="square" rtlCol="0">
            <a:spAutoFit/>
          </a:bodyPr>
          <a:lstStyle/>
          <a:p>
            <a:r>
              <a:rPr lang="zh-CN" altLang="en-US" sz="2400" b="1" dirty="0"/>
              <a:t>输入空间</a:t>
            </a:r>
            <a:r>
              <a:rPr lang="zh-CN" altLang="en-US" sz="2400" dirty="0"/>
              <a:t>（</a:t>
            </a:r>
            <a:r>
              <a:rPr lang="en-US" altLang="zh-CN" sz="2400" i="1" dirty="0"/>
              <a:t>Input Space</a:t>
            </a:r>
            <a:r>
              <a:rPr lang="zh-CN" altLang="en-US" sz="2400" dirty="0"/>
              <a:t>）：</a:t>
            </a:r>
            <a:r>
              <a:rPr lang="zh-CN" altLang="en-US" sz="2000" dirty="0"/>
              <a:t>将输入的所有可能取值的集合称作输入空间。</a:t>
            </a:r>
          </a:p>
        </p:txBody>
      </p:sp>
      <p:sp>
        <p:nvSpPr>
          <p:cNvPr id="26" name="文本框 25">
            <a:extLst>
              <a:ext uri="{FF2B5EF4-FFF2-40B4-BE49-F238E27FC236}">
                <a16:creationId xmlns:a16="http://schemas.microsoft.com/office/drawing/2014/main" id="{FFB111D4-88B6-5E89-E31E-184021F39994}"/>
              </a:ext>
            </a:extLst>
          </p:cNvPr>
          <p:cNvSpPr txBox="1"/>
          <p:nvPr/>
        </p:nvSpPr>
        <p:spPr>
          <a:xfrm>
            <a:off x="1210310" y="1835150"/>
            <a:ext cx="9103360" cy="460375"/>
          </a:xfrm>
          <a:prstGeom prst="rect">
            <a:avLst/>
          </a:prstGeom>
          <a:noFill/>
        </p:spPr>
        <p:txBody>
          <a:bodyPr wrap="square" rtlCol="0">
            <a:spAutoFit/>
          </a:bodyPr>
          <a:lstStyle/>
          <a:p>
            <a:r>
              <a:rPr lang="zh-CN" altLang="en-US" sz="2400" b="1" dirty="0"/>
              <a:t>输出空间</a:t>
            </a:r>
            <a:r>
              <a:rPr lang="zh-CN" altLang="en-US" sz="2400" dirty="0"/>
              <a:t>（</a:t>
            </a:r>
            <a:r>
              <a:rPr lang="en-US" altLang="zh-CN" sz="2400" i="1" dirty="0"/>
              <a:t>Output Space</a:t>
            </a:r>
            <a:r>
              <a:rPr lang="zh-CN" altLang="en-US" sz="2400" dirty="0"/>
              <a:t>）：</a:t>
            </a:r>
            <a:r>
              <a:rPr lang="zh-CN" altLang="en-US" sz="2000" dirty="0"/>
              <a:t>将输出的所有可能取值的集合称作输出空间。</a:t>
            </a:r>
          </a:p>
        </p:txBody>
      </p:sp>
      <p:sp>
        <p:nvSpPr>
          <p:cNvPr id="27" name="文本框 26">
            <a:extLst>
              <a:ext uri="{FF2B5EF4-FFF2-40B4-BE49-F238E27FC236}">
                <a16:creationId xmlns:a16="http://schemas.microsoft.com/office/drawing/2014/main" id="{4DD4D5B8-3552-35CA-2DBB-524C17648762}"/>
              </a:ext>
            </a:extLst>
          </p:cNvPr>
          <p:cNvSpPr txBox="1"/>
          <p:nvPr/>
        </p:nvSpPr>
        <p:spPr>
          <a:xfrm>
            <a:off x="1210310" y="2952750"/>
            <a:ext cx="10223500" cy="1863725"/>
          </a:xfrm>
          <a:prstGeom prst="rect">
            <a:avLst/>
          </a:prstGeom>
          <a:noFill/>
        </p:spPr>
        <p:txBody>
          <a:bodyPr wrap="square" rtlCol="0">
            <a:spAutoFit/>
          </a:bodyPr>
          <a:lstStyle/>
          <a:p>
            <a:pPr marL="342900" indent="-342900">
              <a:lnSpc>
                <a:spcPct val="120000"/>
              </a:lnSpc>
              <a:buFont typeface="Wingdings" panose="05000000000000000000" charset="0"/>
              <a:buChar char="l"/>
            </a:pPr>
            <a:r>
              <a:rPr lang="zh-CN" altLang="en-US" sz="2400" dirty="0"/>
              <a:t>输入空间和输出空间可以是有限元素的集合，也可以是整个欧氏空间</a:t>
            </a:r>
          </a:p>
          <a:p>
            <a:pPr marL="342900" indent="-342900">
              <a:lnSpc>
                <a:spcPct val="120000"/>
              </a:lnSpc>
              <a:buFont typeface="Wingdings" panose="05000000000000000000" charset="0"/>
              <a:buChar char="l"/>
            </a:pPr>
            <a:r>
              <a:rPr lang="zh-CN" altLang="en-US" sz="2400" dirty="0"/>
              <a:t>输入空间和输出空间可以是连续值集合，也可以是离散值集合</a:t>
            </a:r>
          </a:p>
          <a:p>
            <a:pPr marL="342900" indent="-342900">
              <a:lnSpc>
                <a:spcPct val="120000"/>
              </a:lnSpc>
              <a:buFont typeface="Wingdings" panose="05000000000000000000" charset="0"/>
              <a:buChar char="l"/>
            </a:pPr>
            <a:r>
              <a:rPr lang="zh-CN" altLang="en-US" sz="2400" dirty="0"/>
              <a:t>输入空间和输出空间可以是同一个空间，也可以是不同空间</a:t>
            </a:r>
          </a:p>
          <a:p>
            <a:pPr marL="342900" indent="-342900">
              <a:lnSpc>
                <a:spcPct val="120000"/>
              </a:lnSpc>
              <a:buFont typeface="Wingdings" panose="05000000000000000000" charset="0"/>
              <a:buChar char="l"/>
            </a:pPr>
            <a:r>
              <a:rPr lang="zh-CN" altLang="en-US" sz="2400" dirty="0"/>
              <a:t>通常输出空间会比输入空间小</a:t>
            </a:r>
          </a:p>
        </p:txBody>
      </p:sp>
    </p:spTree>
    <p:extLst>
      <p:ext uri="{BB962C8B-B14F-4D97-AF65-F5344CB8AC3E}">
        <p14:creationId xmlns:p14="http://schemas.microsoft.com/office/powerpoint/2010/main" val="2029238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E1FB0-6258-3282-CC5C-70E7FAA11A1F}"/>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F822BD8-9838-7429-747C-DC55C7E37FDD}"/>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特征空间</a:t>
            </a:r>
          </a:p>
        </p:txBody>
      </p:sp>
      <p:grpSp>
        <p:nvGrpSpPr>
          <p:cNvPr id="4" name="组合 3">
            <a:extLst>
              <a:ext uri="{FF2B5EF4-FFF2-40B4-BE49-F238E27FC236}">
                <a16:creationId xmlns:a16="http://schemas.microsoft.com/office/drawing/2014/main" id="{4A3F0949-1DED-3DCD-1B88-440C6554A754}"/>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EF72B186-5F89-D730-694D-B00E6E936B33}"/>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AB6D7789-65B3-8D26-7F6C-88C0E3F6DC8C}"/>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966D7ADB-D3D9-988F-2DA7-AA5C62B80A41}"/>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99F61DC5-3D9C-C606-6917-F6713D29F27E}"/>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C067A753-3414-7DA2-05AE-E28ACF5996F1}"/>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57156C2-18C8-7E33-C4A9-3893E565F0C8}"/>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92109094-3DD3-E0CD-46E8-C40B63C40442}"/>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6DA54015-29FC-EAF2-ABB6-5E52896F0521}"/>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0E7405C8-B7F7-412A-8A0D-9A6CEA0A6A3E}"/>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A39535C4-817A-D46F-3141-FEEA95CB8F8B}"/>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A6720590-F842-24D2-BADB-B0A001A9D9FD}"/>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9F57CA60-E367-F5EC-C956-4BA007A7D1A5}"/>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50DF25DC-04D0-425C-28B5-0B5EDAFB8F15}"/>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DE059C46-2D10-4C26-4B37-CD7B5A8B93CF}"/>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2CEB778F-6BF2-C2C7-976D-B85A50CF2B36}"/>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F2409F13-031B-F482-D1FC-917EEB7307BD}"/>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A13BF719-6B04-BABD-09D3-629EA9A50694}"/>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B304BA0E-49A7-98B5-0ADB-908A639460A0}"/>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6B036657-A18F-F390-0DFE-8D5042E4996B}"/>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1AF8D911-96DF-C659-D277-FF75F2FFDB5D}"/>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2EB1F9AD-AAAB-E97E-7DEA-D30F0DD2753F}"/>
              </a:ext>
            </a:extLst>
          </p:cNvPr>
          <p:cNvSpPr txBox="1"/>
          <p:nvPr/>
        </p:nvSpPr>
        <p:spPr>
          <a:xfrm>
            <a:off x="951865" y="1079500"/>
            <a:ext cx="9969500" cy="1346835"/>
          </a:xfrm>
          <a:prstGeom prst="rect">
            <a:avLst/>
          </a:prstGeom>
          <a:noFill/>
        </p:spPr>
        <p:txBody>
          <a:bodyPr wrap="square" rtlCol="0">
            <a:spAutoFit/>
          </a:bodyPr>
          <a:lstStyle/>
          <a:p>
            <a:pPr>
              <a:lnSpc>
                <a:spcPct val="120000"/>
              </a:lnSpc>
            </a:pPr>
            <a:r>
              <a:rPr lang="zh-CN" altLang="en-US" sz="2400" b="1" dirty="0"/>
              <a:t>特征</a:t>
            </a:r>
            <a:r>
              <a:rPr lang="zh-CN" altLang="en-US" sz="2400" dirty="0"/>
              <a:t>（</a:t>
            </a:r>
            <a:r>
              <a:rPr lang="zh-CN" altLang="en-US" sz="2400" i="1" dirty="0"/>
              <a:t>Feature</a:t>
            </a:r>
            <a:r>
              <a:rPr lang="zh-CN" altLang="en-US" sz="2400" dirty="0"/>
              <a:t>）：</a:t>
            </a:r>
            <a:r>
              <a:rPr lang="zh-CN" altLang="en-US" sz="2000" dirty="0"/>
              <a:t>即属性。每个输入实例的各个组成部分（属性）称作原始特征，基于原始特征还可以扩展出更多的衍生特征。</a:t>
            </a:r>
            <a:endParaRPr lang="zh-CN" altLang="en-US" sz="2400" dirty="0"/>
          </a:p>
          <a:p>
            <a:pPr>
              <a:lnSpc>
                <a:spcPct val="120000"/>
              </a:lnSpc>
            </a:pPr>
            <a:endParaRPr lang="zh-CN" altLang="en-US" sz="2400" dirty="0">
              <a:solidFill>
                <a:schemeClr val="bg1"/>
              </a:solidFill>
            </a:endParaRPr>
          </a:p>
        </p:txBody>
      </p:sp>
      <p:sp>
        <p:nvSpPr>
          <p:cNvPr id="27" name="圆角矩形 2">
            <a:extLst>
              <a:ext uri="{FF2B5EF4-FFF2-40B4-BE49-F238E27FC236}">
                <a16:creationId xmlns:a16="http://schemas.microsoft.com/office/drawing/2014/main" id="{CC71DBFA-C0A6-444E-54AB-47B6A9D18466}"/>
              </a:ext>
            </a:extLst>
          </p:cNvPr>
          <p:cNvSpPr/>
          <p:nvPr/>
        </p:nvSpPr>
        <p:spPr>
          <a:xfrm>
            <a:off x="1712595" y="3707765"/>
            <a:ext cx="1047115" cy="270510"/>
          </a:xfrm>
          <a:prstGeom prst="round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78C560DA-0F9A-C7B6-84E8-E1BB520198C7}"/>
              </a:ext>
            </a:extLst>
          </p:cNvPr>
          <p:cNvSpPr txBox="1"/>
          <p:nvPr/>
        </p:nvSpPr>
        <p:spPr>
          <a:xfrm>
            <a:off x="3968115" y="3707765"/>
            <a:ext cx="1936750" cy="645160"/>
          </a:xfrm>
          <a:prstGeom prst="rect">
            <a:avLst/>
          </a:prstGeom>
          <a:noFill/>
        </p:spPr>
        <p:txBody>
          <a:bodyPr wrap="square" rtlCol="0">
            <a:spAutoFit/>
          </a:bodyPr>
          <a:lstStyle/>
          <a:p>
            <a:r>
              <a:rPr lang="zh-CN" altLang="en-US" b="1">
                <a:solidFill>
                  <a:schemeClr val="bg1"/>
                </a:solidFill>
              </a:rPr>
              <a:t>特征：</a:t>
            </a:r>
          </a:p>
          <a:p>
            <a:r>
              <a:rPr lang="zh-CN" altLang="en-US" b="1">
                <a:solidFill>
                  <a:schemeClr val="bg1"/>
                </a:solidFill>
              </a:rPr>
              <a:t>父亲身高 </a:t>
            </a:r>
            <a:r>
              <a:rPr lang="en-US" altLang="zh-CN" b="1">
                <a:solidFill>
                  <a:schemeClr val="bg1"/>
                </a:solidFill>
              </a:rPr>
              <a:t>165</a:t>
            </a:r>
          </a:p>
        </p:txBody>
      </p:sp>
      <p:sp>
        <p:nvSpPr>
          <p:cNvPr id="29" name="文本框 28">
            <a:extLst>
              <a:ext uri="{FF2B5EF4-FFF2-40B4-BE49-F238E27FC236}">
                <a16:creationId xmlns:a16="http://schemas.microsoft.com/office/drawing/2014/main" id="{C4B342BE-ADDE-3AD9-8940-CCFF6F6067FE}"/>
              </a:ext>
            </a:extLst>
          </p:cNvPr>
          <p:cNvSpPr txBox="1"/>
          <p:nvPr/>
        </p:nvSpPr>
        <p:spPr>
          <a:xfrm>
            <a:off x="951865" y="2016125"/>
            <a:ext cx="9636125" cy="842010"/>
          </a:xfrm>
          <a:prstGeom prst="rect">
            <a:avLst/>
          </a:prstGeom>
          <a:noFill/>
        </p:spPr>
        <p:txBody>
          <a:bodyPr wrap="square" rtlCol="0">
            <a:spAutoFit/>
          </a:bodyPr>
          <a:lstStyle/>
          <a:p>
            <a:pPr>
              <a:lnSpc>
                <a:spcPct val="120000"/>
              </a:lnSpc>
            </a:pPr>
            <a:r>
              <a:rPr lang="zh-CN" altLang="en-US" sz="2400" b="1" dirty="0">
                <a:sym typeface="+mn-ea"/>
              </a:rPr>
              <a:t>特征向量</a:t>
            </a:r>
            <a:r>
              <a:rPr lang="zh-CN" altLang="en-US" sz="2400" dirty="0">
                <a:sym typeface="+mn-ea"/>
              </a:rPr>
              <a:t>（</a:t>
            </a:r>
            <a:r>
              <a:rPr lang="zh-CN" altLang="en-US" sz="2400" i="1" dirty="0">
                <a:sym typeface="+mn-ea"/>
              </a:rPr>
              <a:t>Feature Vector</a:t>
            </a:r>
            <a:r>
              <a:rPr lang="zh-CN" altLang="en-US" sz="2400" dirty="0">
                <a:sym typeface="+mn-ea"/>
              </a:rPr>
              <a:t>）：</a:t>
            </a:r>
            <a:r>
              <a:rPr lang="zh-CN" altLang="en-US" sz="2000" dirty="0">
                <a:sym typeface="+mn-ea"/>
              </a:rPr>
              <a:t>由多个特征组成的集合，称作特征向量。</a:t>
            </a:r>
            <a:endParaRPr lang="zh-CN" altLang="en-US" sz="2000" dirty="0"/>
          </a:p>
          <a:p>
            <a:endParaRPr lang="zh-CN" altLang="en-US" sz="2000" dirty="0">
              <a:solidFill>
                <a:schemeClr val="bg1"/>
              </a:solidFill>
            </a:endParaRPr>
          </a:p>
        </p:txBody>
      </p:sp>
      <p:sp>
        <p:nvSpPr>
          <p:cNvPr id="30" name="文本框 29">
            <a:extLst>
              <a:ext uri="{FF2B5EF4-FFF2-40B4-BE49-F238E27FC236}">
                <a16:creationId xmlns:a16="http://schemas.microsoft.com/office/drawing/2014/main" id="{29170545-4EEC-65B8-374B-8C3F5E29E71D}"/>
              </a:ext>
            </a:extLst>
          </p:cNvPr>
          <p:cNvSpPr txBox="1"/>
          <p:nvPr/>
        </p:nvSpPr>
        <p:spPr>
          <a:xfrm>
            <a:off x="936625" y="2631440"/>
            <a:ext cx="9651365" cy="768350"/>
          </a:xfrm>
          <a:prstGeom prst="rect">
            <a:avLst/>
          </a:prstGeom>
          <a:noFill/>
        </p:spPr>
        <p:txBody>
          <a:bodyPr wrap="square" rtlCol="0">
            <a:spAutoFit/>
          </a:bodyPr>
          <a:lstStyle/>
          <a:p>
            <a:r>
              <a:rPr lang="zh-CN" altLang="en-US" sz="2400" b="1" dirty="0">
                <a:sym typeface="+mn-ea"/>
              </a:rPr>
              <a:t>特征空间</a:t>
            </a:r>
            <a:r>
              <a:rPr lang="zh-CN" altLang="en-US" sz="2400" dirty="0">
                <a:sym typeface="+mn-ea"/>
              </a:rPr>
              <a:t>（</a:t>
            </a:r>
            <a:r>
              <a:rPr lang="zh-CN" altLang="en-US" sz="2400" i="1" dirty="0">
                <a:sym typeface="+mn-ea"/>
              </a:rPr>
              <a:t>Feature Space</a:t>
            </a:r>
            <a:r>
              <a:rPr lang="zh-CN" altLang="en-US" sz="2400" dirty="0">
                <a:sym typeface="+mn-ea"/>
              </a:rPr>
              <a:t>）：</a:t>
            </a:r>
            <a:r>
              <a:rPr lang="zh-CN" altLang="en-US" sz="2000" dirty="0">
                <a:sym typeface="+mn-ea"/>
              </a:rPr>
              <a:t>将特征向量存在的空间称作特征空间。</a:t>
            </a:r>
            <a:endParaRPr lang="zh-CN" altLang="en-US" sz="2000" dirty="0"/>
          </a:p>
          <a:p>
            <a:endParaRPr lang="zh-CN" altLang="en-US" sz="2000" dirty="0">
              <a:solidFill>
                <a:schemeClr val="bg1"/>
              </a:solidFill>
            </a:endParaRPr>
          </a:p>
        </p:txBody>
      </p:sp>
      <p:sp>
        <p:nvSpPr>
          <p:cNvPr id="31" name="文本框 30">
            <a:extLst>
              <a:ext uri="{FF2B5EF4-FFF2-40B4-BE49-F238E27FC236}">
                <a16:creationId xmlns:a16="http://schemas.microsoft.com/office/drawing/2014/main" id="{4E172B99-0712-D154-13BB-C0482D5A6CF6}"/>
              </a:ext>
            </a:extLst>
          </p:cNvPr>
          <p:cNvSpPr txBox="1"/>
          <p:nvPr/>
        </p:nvSpPr>
        <p:spPr>
          <a:xfrm>
            <a:off x="3968115" y="4587875"/>
            <a:ext cx="1397635" cy="645160"/>
          </a:xfrm>
          <a:prstGeom prst="rect">
            <a:avLst/>
          </a:prstGeom>
          <a:noFill/>
        </p:spPr>
        <p:txBody>
          <a:bodyPr wrap="square" rtlCol="0">
            <a:spAutoFit/>
          </a:bodyPr>
          <a:lstStyle/>
          <a:p>
            <a:r>
              <a:rPr lang="zh-CN" altLang="en-US" b="1">
                <a:solidFill>
                  <a:schemeClr val="bg1"/>
                </a:solidFill>
              </a:rPr>
              <a:t>特征向量：</a:t>
            </a:r>
          </a:p>
          <a:p>
            <a:r>
              <a:rPr lang="zh-CN" altLang="en-US" b="1">
                <a:solidFill>
                  <a:schemeClr val="bg1"/>
                </a:solidFill>
              </a:rPr>
              <a:t>一维 （</a:t>
            </a:r>
            <a:r>
              <a:rPr lang="en-US" altLang="zh-CN" b="1">
                <a:solidFill>
                  <a:schemeClr val="bg1"/>
                </a:solidFill>
              </a:rPr>
              <a:t>165</a:t>
            </a:r>
            <a:r>
              <a:rPr lang="zh-CN" altLang="en-US" b="1">
                <a:solidFill>
                  <a:schemeClr val="bg1"/>
                </a:solidFill>
              </a:rPr>
              <a:t>）</a:t>
            </a:r>
          </a:p>
        </p:txBody>
      </p:sp>
      <p:pic>
        <p:nvPicPr>
          <p:cNvPr id="33" name="图片 32">
            <a:extLst>
              <a:ext uri="{FF2B5EF4-FFF2-40B4-BE49-F238E27FC236}">
                <a16:creationId xmlns:a16="http://schemas.microsoft.com/office/drawing/2014/main" id="{AF757E53-4D85-2639-C866-0C03BAB371B6}"/>
              </a:ext>
            </a:extLst>
          </p:cNvPr>
          <p:cNvPicPr>
            <a:picLocks noChangeAspect="1"/>
          </p:cNvPicPr>
          <p:nvPr/>
        </p:nvPicPr>
        <p:blipFill>
          <a:blip r:embed="rId2"/>
          <a:stretch>
            <a:fillRect/>
          </a:stretch>
        </p:blipFill>
        <p:spPr>
          <a:xfrm>
            <a:off x="1519555" y="3399790"/>
            <a:ext cx="8833485" cy="2129790"/>
          </a:xfrm>
          <a:prstGeom prst="rect">
            <a:avLst/>
          </a:prstGeom>
        </p:spPr>
      </p:pic>
      <p:sp>
        <p:nvSpPr>
          <p:cNvPr id="34" name="圆角矩形 10">
            <a:extLst>
              <a:ext uri="{FF2B5EF4-FFF2-40B4-BE49-F238E27FC236}">
                <a16:creationId xmlns:a16="http://schemas.microsoft.com/office/drawing/2014/main" id="{983DB0EC-E766-6E7D-39F6-0B6E8DE73584}"/>
              </a:ext>
            </a:extLst>
          </p:cNvPr>
          <p:cNvSpPr/>
          <p:nvPr/>
        </p:nvSpPr>
        <p:spPr>
          <a:xfrm>
            <a:off x="1134745" y="3684270"/>
            <a:ext cx="9604375" cy="31750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EAF60449-229E-446D-0C22-C9C44C09F72C}"/>
              </a:ext>
            </a:extLst>
          </p:cNvPr>
          <p:cNvSpPr/>
          <p:nvPr/>
        </p:nvSpPr>
        <p:spPr>
          <a:xfrm>
            <a:off x="2635250" y="3666490"/>
            <a:ext cx="856615" cy="317500"/>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213BF0E8-06EC-9A18-52C9-06CBB19BD6F5}"/>
              </a:ext>
            </a:extLst>
          </p:cNvPr>
          <p:cNvSpPr txBox="1"/>
          <p:nvPr/>
        </p:nvSpPr>
        <p:spPr>
          <a:xfrm>
            <a:off x="1520190" y="5708650"/>
            <a:ext cx="8833485" cy="398780"/>
          </a:xfrm>
          <a:prstGeom prst="rect">
            <a:avLst/>
          </a:prstGeom>
          <a:noFill/>
        </p:spPr>
        <p:txBody>
          <a:bodyPr wrap="square" rtlCol="0">
            <a:spAutoFit/>
          </a:bodyPr>
          <a:lstStyle/>
          <a:p>
            <a:r>
              <a:rPr lang="en-US" altLang="zh-CN" sz="2000" dirty="0">
                <a:solidFill>
                  <a:schemeClr val="bg1"/>
                </a:solidFill>
              </a:rPr>
              <a:t>特征:Passengerld,Pclass,Name,Sex,Age,SibSp,Parch,Ticket,Fare,Cabin,Embarked</a:t>
            </a:r>
          </a:p>
        </p:txBody>
      </p:sp>
      <p:sp>
        <p:nvSpPr>
          <p:cNvPr id="37" name="文本框 36">
            <a:extLst>
              <a:ext uri="{FF2B5EF4-FFF2-40B4-BE49-F238E27FC236}">
                <a16:creationId xmlns:a16="http://schemas.microsoft.com/office/drawing/2014/main" id="{63FE08DE-BFAA-92EA-62AC-4709C802A4D6}"/>
              </a:ext>
            </a:extLst>
          </p:cNvPr>
          <p:cNvSpPr txBox="1"/>
          <p:nvPr/>
        </p:nvSpPr>
        <p:spPr>
          <a:xfrm>
            <a:off x="1520190" y="6151245"/>
            <a:ext cx="10271760" cy="398780"/>
          </a:xfrm>
          <a:prstGeom prst="rect">
            <a:avLst/>
          </a:prstGeom>
          <a:noFill/>
        </p:spPr>
        <p:txBody>
          <a:bodyPr wrap="square" rtlCol="0">
            <a:spAutoFit/>
          </a:bodyPr>
          <a:lstStyle/>
          <a:p>
            <a:r>
              <a:rPr lang="zh-CN" altLang="en-US" sz="2000" dirty="0">
                <a:solidFill>
                  <a:schemeClr val="bg1"/>
                </a:solidFill>
              </a:rPr>
              <a:t>特征向量： 十一维，(1,3,"Braund， Mr.Owen Harris","male",22,1,0,"A/5 21171",7.25,"","S”)</a:t>
            </a:r>
          </a:p>
        </p:txBody>
      </p:sp>
      <p:sp>
        <p:nvSpPr>
          <p:cNvPr id="38" name="圆角矩形 19">
            <a:extLst>
              <a:ext uri="{FF2B5EF4-FFF2-40B4-BE49-F238E27FC236}">
                <a16:creationId xmlns:a16="http://schemas.microsoft.com/office/drawing/2014/main" id="{CA8D4066-830D-5412-3A63-631043DAE637}"/>
              </a:ext>
            </a:extLst>
          </p:cNvPr>
          <p:cNvSpPr/>
          <p:nvPr/>
        </p:nvSpPr>
        <p:spPr>
          <a:xfrm>
            <a:off x="5270500" y="3079750"/>
            <a:ext cx="1079500" cy="2667000"/>
          </a:xfrm>
          <a:prstGeom prst="roundRect">
            <a:avLst/>
          </a:prstGeom>
          <a:noFill/>
          <a:ln w="349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圆角矩形 20">
            <a:extLst>
              <a:ext uri="{FF2B5EF4-FFF2-40B4-BE49-F238E27FC236}">
                <a16:creationId xmlns:a16="http://schemas.microsoft.com/office/drawing/2014/main" id="{8FB6F4B8-0EC9-B646-35DD-35B70114E122}"/>
              </a:ext>
            </a:extLst>
          </p:cNvPr>
          <p:cNvSpPr/>
          <p:nvPr/>
        </p:nvSpPr>
        <p:spPr>
          <a:xfrm>
            <a:off x="8238490" y="3048000"/>
            <a:ext cx="666750" cy="2746375"/>
          </a:xfrm>
          <a:prstGeom prst="roundRect">
            <a:avLst/>
          </a:prstGeom>
          <a:noFill/>
          <a:ln w="44450" cmpd="sng">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0" name="图片 39">
            <a:extLst>
              <a:ext uri="{FF2B5EF4-FFF2-40B4-BE49-F238E27FC236}">
                <a16:creationId xmlns:a16="http://schemas.microsoft.com/office/drawing/2014/main" id="{34643430-FAA7-2772-890D-C16D936A1394}"/>
              </a:ext>
            </a:extLst>
          </p:cNvPr>
          <p:cNvPicPr>
            <a:picLocks noChangeAspect="1"/>
          </p:cNvPicPr>
          <p:nvPr/>
        </p:nvPicPr>
        <p:blipFill>
          <a:blip r:embed="rId3"/>
          <a:stretch>
            <a:fillRect/>
          </a:stretch>
        </p:blipFill>
        <p:spPr>
          <a:xfrm>
            <a:off x="10921365" y="3399790"/>
            <a:ext cx="749300" cy="2129790"/>
          </a:xfrm>
          <a:prstGeom prst="rect">
            <a:avLst/>
          </a:prstGeom>
        </p:spPr>
      </p:pic>
      <p:cxnSp>
        <p:nvCxnSpPr>
          <p:cNvPr id="41" name="直接箭头连接符 40">
            <a:extLst>
              <a:ext uri="{FF2B5EF4-FFF2-40B4-BE49-F238E27FC236}">
                <a16:creationId xmlns:a16="http://schemas.microsoft.com/office/drawing/2014/main" id="{4DF0CA59-A19A-BF66-F306-60578735737A}"/>
              </a:ext>
            </a:extLst>
          </p:cNvPr>
          <p:cNvCxnSpPr/>
          <p:nvPr/>
        </p:nvCxnSpPr>
        <p:spPr>
          <a:xfrm>
            <a:off x="8889365" y="4491990"/>
            <a:ext cx="2143760" cy="8255"/>
          </a:xfrm>
          <a:prstGeom prst="straightConnector1">
            <a:avLst/>
          </a:prstGeom>
          <a:ln w="349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2" name="圆角矩形 24">
            <a:extLst>
              <a:ext uri="{FF2B5EF4-FFF2-40B4-BE49-F238E27FC236}">
                <a16:creationId xmlns:a16="http://schemas.microsoft.com/office/drawing/2014/main" id="{DCE143F2-FBC3-9AAF-8FC0-D70B67ADAFCB}"/>
              </a:ext>
            </a:extLst>
          </p:cNvPr>
          <p:cNvSpPr/>
          <p:nvPr/>
        </p:nvSpPr>
        <p:spPr>
          <a:xfrm>
            <a:off x="11057890" y="3222625"/>
            <a:ext cx="476250" cy="2524125"/>
          </a:xfrm>
          <a:prstGeom prst="roundRect">
            <a:avLst/>
          </a:prstGeom>
          <a:noFill/>
          <a:ln w="381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文本框 42">
            <a:extLst>
              <a:ext uri="{FF2B5EF4-FFF2-40B4-BE49-F238E27FC236}">
                <a16:creationId xmlns:a16="http://schemas.microsoft.com/office/drawing/2014/main" id="{0AC7EF2B-AFE9-3F24-ACA0-0516289E7D11}"/>
              </a:ext>
            </a:extLst>
          </p:cNvPr>
          <p:cNvSpPr txBox="1"/>
          <p:nvPr/>
        </p:nvSpPr>
        <p:spPr>
          <a:xfrm>
            <a:off x="1519555" y="5708650"/>
            <a:ext cx="5334000" cy="398780"/>
          </a:xfrm>
          <a:prstGeom prst="rect">
            <a:avLst/>
          </a:prstGeom>
          <a:noFill/>
        </p:spPr>
        <p:txBody>
          <a:bodyPr wrap="square" rtlCol="0">
            <a:spAutoFit/>
          </a:bodyPr>
          <a:lstStyle/>
          <a:p>
            <a:r>
              <a:rPr lang="zh-CN" altLang="en-US" sz="2000" dirty="0"/>
              <a:t>特征：Sex="male",Age=22,C_level=“L"</a:t>
            </a:r>
          </a:p>
        </p:txBody>
      </p:sp>
      <p:sp>
        <p:nvSpPr>
          <p:cNvPr id="44" name="文本框 43">
            <a:extLst>
              <a:ext uri="{FF2B5EF4-FFF2-40B4-BE49-F238E27FC236}">
                <a16:creationId xmlns:a16="http://schemas.microsoft.com/office/drawing/2014/main" id="{CA9C35EF-5634-BD3B-834B-D1F1FA936AF8}"/>
              </a:ext>
            </a:extLst>
          </p:cNvPr>
          <p:cNvSpPr txBox="1"/>
          <p:nvPr/>
        </p:nvSpPr>
        <p:spPr>
          <a:xfrm>
            <a:off x="1520190" y="6107430"/>
            <a:ext cx="8890000" cy="398780"/>
          </a:xfrm>
          <a:prstGeom prst="rect">
            <a:avLst/>
          </a:prstGeom>
          <a:noFill/>
        </p:spPr>
        <p:txBody>
          <a:bodyPr wrap="square" rtlCol="0">
            <a:spAutoFit/>
          </a:bodyPr>
          <a:lstStyle/>
          <a:p>
            <a:r>
              <a:rPr lang="zh-CN" altLang="en-US" sz="2000" dirty="0"/>
              <a:t>特征向量：三维，("male",22,”L”)，(“female",38,”H”)……</a:t>
            </a:r>
          </a:p>
        </p:txBody>
      </p:sp>
      <p:sp>
        <p:nvSpPr>
          <p:cNvPr id="45" name="文本框 44">
            <a:extLst>
              <a:ext uri="{FF2B5EF4-FFF2-40B4-BE49-F238E27FC236}">
                <a16:creationId xmlns:a16="http://schemas.microsoft.com/office/drawing/2014/main" id="{EE44A4D1-BD07-66BD-89EE-15B0542D19BA}"/>
              </a:ext>
            </a:extLst>
          </p:cNvPr>
          <p:cNvSpPr txBox="1"/>
          <p:nvPr/>
        </p:nvSpPr>
        <p:spPr>
          <a:xfrm>
            <a:off x="1519555" y="6447095"/>
            <a:ext cx="9823131" cy="400110"/>
          </a:xfrm>
          <a:prstGeom prst="rect">
            <a:avLst/>
          </a:prstGeom>
          <a:noFill/>
        </p:spPr>
        <p:txBody>
          <a:bodyPr wrap="square" rtlCol="0">
            <a:spAutoFit/>
          </a:bodyPr>
          <a:lstStyle/>
          <a:p>
            <a:r>
              <a:rPr lang="en-US" altLang="zh-CN" sz="2000" dirty="0"/>
              <a:t>特征:Passengerld,Pclass,Name,Sex,Age,SibSp,Parch,Ticket,Fare,Cabin,Embarked</a:t>
            </a:r>
          </a:p>
        </p:txBody>
      </p:sp>
      <p:sp>
        <p:nvSpPr>
          <p:cNvPr id="46" name="文本框 45">
            <a:extLst>
              <a:ext uri="{FF2B5EF4-FFF2-40B4-BE49-F238E27FC236}">
                <a16:creationId xmlns:a16="http://schemas.microsoft.com/office/drawing/2014/main" id="{0380E635-802F-9618-765C-5AC4450CC327}"/>
              </a:ext>
            </a:extLst>
          </p:cNvPr>
          <p:cNvSpPr txBox="1"/>
          <p:nvPr/>
        </p:nvSpPr>
        <p:spPr>
          <a:xfrm>
            <a:off x="951520" y="777748"/>
            <a:ext cx="11003168" cy="400110"/>
          </a:xfrm>
          <a:prstGeom prst="rect">
            <a:avLst/>
          </a:prstGeom>
          <a:noFill/>
        </p:spPr>
        <p:txBody>
          <a:bodyPr wrap="square" rtlCol="0">
            <a:spAutoFit/>
          </a:bodyPr>
          <a:lstStyle/>
          <a:p>
            <a:r>
              <a:rPr lang="zh-CN" altLang="en-US" sz="2000" dirty="0"/>
              <a:t>特征向量： 十一维，(1,3,"Braund， Mr.Owen Harris","male",22,1,0,"A/5 21171",7.25,"","S”)</a:t>
            </a:r>
          </a:p>
        </p:txBody>
      </p:sp>
    </p:spTree>
    <p:extLst>
      <p:ext uri="{BB962C8B-B14F-4D97-AF65-F5344CB8AC3E}">
        <p14:creationId xmlns:p14="http://schemas.microsoft.com/office/powerpoint/2010/main" val="1806285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linds(horizontal)">
                                      <p:cBhvr>
                                        <p:cTn id="25" dur="500"/>
                                        <p:tgtEl>
                                          <p:spTgt spid="2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linds(horizontal)">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blinds(horizontal)">
                                      <p:cBhvr>
                                        <p:cTn id="35" dur="50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blinds(horizontal)">
                                      <p:cBhvr>
                                        <p:cTn id="40" dur="500"/>
                                        <p:tgtEl>
                                          <p:spTgt spid="2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blinds(horizontal)">
                                      <p:cBhvr>
                                        <p:cTn id="45" dur="500"/>
                                        <p:tgtEl>
                                          <p:spTgt spid="31"/>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blinds(horizontal)">
                                      <p:cBhvr>
                                        <p:cTn id="50" dur="500"/>
                                        <p:tgtEl>
                                          <p:spTgt spid="33"/>
                                        </p:tgtEl>
                                      </p:cBhvr>
                                    </p:animEffect>
                                  </p:childTnLst>
                                </p:cTn>
                              </p:par>
                            </p:childTnLst>
                          </p:cTn>
                        </p:par>
                      </p:childTnLst>
                    </p:cTn>
                  </p:par>
                  <p:par>
                    <p:cTn id="51" fill="hold">
                      <p:stCondLst>
                        <p:cond delay="indefinite"/>
                      </p:stCondLst>
                      <p:childTnLst>
                        <p:par>
                          <p:cTn id="52" fill="hold">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animEffect transition="in" filter="box(in)">
                                      <p:cBhvr>
                                        <p:cTn id="55" dur="2000"/>
                                        <p:tgtEl>
                                          <p:spTgt spid="34"/>
                                        </p:tgtEl>
                                      </p:cBhvr>
                                    </p:animEffect>
                                  </p:childTnLst>
                                </p:cTn>
                              </p:par>
                            </p:childTnLst>
                          </p:cTn>
                        </p:par>
                      </p:childTnLst>
                    </p:cTn>
                  </p:par>
                  <p:par>
                    <p:cTn id="56" fill="hold">
                      <p:stCondLst>
                        <p:cond delay="indefinite"/>
                      </p:stCondLst>
                      <p:childTnLst>
                        <p:par>
                          <p:cTn id="57" fill="hold">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35"/>
                                        </p:tgtEl>
                                        <p:attrNameLst>
                                          <p:attrName>style.visibility</p:attrName>
                                        </p:attrNameLst>
                                      </p:cBhvr>
                                      <p:to>
                                        <p:strVal val="visible"/>
                                      </p:to>
                                    </p:set>
                                    <p:animEffect transition="in" filter="box(in)">
                                      <p:cBhvr>
                                        <p:cTn id="60" dur="2000"/>
                                        <p:tgtEl>
                                          <p:spTgt spid="35"/>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dow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xit" presetSubtype="10" fill="hold" grpId="1" nodeType="clickEffect">
                                  <p:stCondLst>
                                    <p:cond delay="0"/>
                                  </p:stCondLst>
                                  <p:childTnLst>
                                    <p:animEffect transition="out" filter="blinds(horizontal)">
                                      <p:cBhvr>
                                        <p:cTn id="74" dur="500"/>
                                        <p:tgtEl>
                                          <p:spTgt spid="37"/>
                                        </p:tgtEl>
                                      </p:cBhvr>
                                    </p:animEffect>
                                    <p:set>
                                      <p:cBhvr>
                                        <p:cTn id="75" dur="1" fill="hold">
                                          <p:stCondLst>
                                            <p:cond delay="499"/>
                                          </p:stCondLst>
                                        </p:cTn>
                                        <p:tgtEl>
                                          <p:spTgt spid="37"/>
                                        </p:tgtEl>
                                        <p:attrNameLst>
                                          <p:attrName>style.visibility</p:attrName>
                                        </p:attrNameLst>
                                      </p:cBhvr>
                                      <p:to>
                                        <p:strVal val="hidden"/>
                                      </p:to>
                                    </p:set>
                                  </p:childTnLst>
                                </p:cTn>
                              </p:par>
                              <p:par>
                                <p:cTn id="76" presetID="3" presetClass="exit" presetSubtype="10" fill="hold" grpId="2" nodeType="withEffect">
                                  <p:stCondLst>
                                    <p:cond delay="0"/>
                                  </p:stCondLst>
                                  <p:childTnLst>
                                    <p:animEffect transition="out" filter="blinds(horizontal)">
                                      <p:cBhvr>
                                        <p:cTn id="77" dur="500"/>
                                        <p:tgtEl>
                                          <p:spTgt spid="36"/>
                                        </p:tgtEl>
                                      </p:cBhvr>
                                    </p:animEffect>
                                    <p:set>
                                      <p:cBhvr>
                                        <p:cTn id="78" dur="1" fill="hold">
                                          <p:stCondLst>
                                            <p:cond delay="499"/>
                                          </p:stCondLst>
                                        </p:cTn>
                                        <p:tgtEl>
                                          <p:spTgt spid="36"/>
                                        </p:tgtEl>
                                        <p:attrNameLst>
                                          <p:attrName>style.visibility</p:attrName>
                                        </p:attrNameLst>
                                      </p:cBhvr>
                                      <p:to>
                                        <p:strVal val="hidden"/>
                                      </p:to>
                                    </p:set>
                                  </p:childTnLst>
                                </p:cTn>
                              </p:par>
                              <p:par>
                                <p:cTn id="79" presetID="3" presetClass="exit" presetSubtype="10" fill="hold" grpId="2" nodeType="withEffect">
                                  <p:stCondLst>
                                    <p:cond delay="0"/>
                                  </p:stCondLst>
                                  <p:childTnLst>
                                    <p:animEffect transition="out" filter="blinds(horizontal)">
                                      <p:cBhvr>
                                        <p:cTn id="80" dur="500"/>
                                        <p:tgtEl>
                                          <p:spTgt spid="34"/>
                                        </p:tgtEl>
                                      </p:cBhvr>
                                    </p:animEffect>
                                    <p:set>
                                      <p:cBhvr>
                                        <p:cTn id="81" dur="1" fill="hold">
                                          <p:stCondLst>
                                            <p:cond delay="499"/>
                                          </p:stCondLst>
                                        </p:cTn>
                                        <p:tgtEl>
                                          <p:spTgt spid="34"/>
                                        </p:tgtEl>
                                        <p:attrNameLst>
                                          <p:attrName>style.visibility</p:attrName>
                                        </p:attrNameLst>
                                      </p:cBhvr>
                                      <p:to>
                                        <p:strVal val="hidden"/>
                                      </p:to>
                                    </p:set>
                                  </p:childTnLst>
                                </p:cTn>
                              </p:par>
                              <p:par>
                                <p:cTn id="82" presetID="3" presetClass="exit" presetSubtype="10" fill="hold" grpId="2" nodeType="withEffect">
                                  <p:stCondLst>
                                    <p:cond delay="0"/>
                                  </p:stCondLst>
                                  <p:childTnLst>
                                    <p:animEffect transition="out" filter="blinds(horizontal)">
                                      <p:cBhvr>
                                        <p:cTn id="83" dur="500"/>
                                        <p:tgtEl>
                                          <p:spTgt spid="35"/>
                                        </p:tgtEl>
                                      </p:cBhvr>
                                    </p:animEffect>
                                    <p:set>
                                      <p:cBhvr>
                                        <p:cTn id="84" dur="1" fill="hold">
                                          <p:stCondLst>
                                            <p:cond delay="499"/>
                                          </p:stCondLst>
                                        </p:cTn>
                                        <p:tgtEl>
                                          <p:spTgt spid="35"/>
                                        </p:tgtEl>
                                        <p:attrNameLst>
                                          <p:attrName>style.visibility</p:attrName>
                                        </p:attrNameLst>
                                      </p:cBhvr>
                                      <p:to>
                                        <p:strVal val="hidden"/>
                                      </p:to>
                                    </p:se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grpId="0" nodeType="click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blinds(horizontal)">
                                      <p:cBhvr>
                                        <p:cTn id="89" dur="500"/>
                                        <p:tgtEl>
                                          <p:spTgt spid="38"/>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grpId="0" nodeType="click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wipe(down)">
                                      <p:cBhvr>
                                        <p:cTn id="94" dur="500"/>
                                        <p:tgtEl>
                                          <p:spTgt spid="39"/>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41"/>
                                        </p:tgtEl>
                                        <p:attrNameLst>
                                          <p:attrName>style.visibility</p:attrName>
                                        </p:attrNameLst>
                                      </p:cBhvr>
                                      <p:to>
                                        <p:strVal val="visible"/>
                                      </p:to>
                                    </p:set>
                                    <p:animEffect transition="in" filter="wipe(down)">
                                      <p:cBhvr>
                                        <p:cTn id="99" dur="500"/>
                                        <p:tgtEl>
                                          <p:spTgt spid="41"/>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nodeType="clickEffect">
                                  <p:stCondLst>
                                    <p:cond delay="0"/>
                                  </p:stCondLst>
                                  <p:childTnLst>
                                    <p:set>
                                      <p:cBhvr>
                                        <p:cTn id="103" dur="1" fill="hold">
                                          <p:stCondLst>
                                            <p:cond delay="0"/>
                                          </p:stCondLst>
                                        </p:cTn>
                                        <p:tgtEl>
                                          <p:spTgt spid="40"/>
                                        </p:tgtEl>
                                        <p:attrNameLst>
                                          <p:attrName>style.visibility</p:attrName>
                                        </p:attrNameLst>
                                      </p:cBhvr>
                                      <p:to>
                                        <p:strVal val="visible"/>
                                      </p:to>
                                    </p:set>
                                    <p:animEffect transition="in" filter="wipe(down)">
                                      <p:cBhvr>
                                        <p:cTn id="104" dur="500"/>
                                        <p:tgtEl>
                                          <p:spTgt spid="40"/>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grpId="0" nodeType="clickEffect">
                                  <p:stCondLst>
                                    <p:cond delay="0"/>
                                  </p:stCondLst>
                                  <p:childTnLst>
                                    <p:set>
                                      <p:cBhvr>
                                        <p:cTn id="108" dur="1" fill="hold">
                                          <p:stCondLst>
                                            <p:cond delay="0"/>
                                          </p:stCondLst>
                                        </p:cTn>
                                        <p:tgtEl>
                                          <p:spTgt spid="42"/>
                                        </p:tgtEl>
                                        <p:attrNameLst>
                                          <p:attrName>style.visibility</p:attrName>
                                        </p:attrNameLst>
                                      </p:cBhvr>
                                      <p:to>
                                        <p:strVal val="visible"/>
                                      </p:to>
                                    </p:set>
                                    <p:animEffect transition="in" filter="box(in)">
                                      <p:cBhvr>
                                        <p:cTn id="109" dur="2000"/>
                                        <p:tgtEl>
                                          <p:spTgt spid="42"/>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0" nodeType="clickEffect">
                                  <p:stCondLst>
                                    <p:cond delay="0"/>
                                  </p:stCondLst>
                                  <p:childTnLst>
                                    <p:set>
                                      <p:cBhvr>
                                        <p:cTn id="113" dur="1" fill="hold">
                                          <p:stCondLst>
                                            <p:cond delay="0"/>
                                          </p:stCondLst>
                                        </p:cTn>
                                        <p:tgtEl>
                                          <p:spTgt spid="43"/>
                                        </p:tgtEl>
                                        <p:attrNameLst>
                                          <p:attrName>style.visibility</p:attrName>
                                        </p:attrNameLst>
                                      </p:cBhvr>
                                      <p:to>
                                        <p:strVal val="visible"/>
                                      </p:to>
                                    </p:set>
                                    <p:animEffect transition="in" filter="box(in)">
                                      <p:cBhvr>
                                        <p:cTn id="114" dur="2000"/>
                                        <p:tgtEl>
                                          <p:spTgt spid="43"/>
                                        </p:tgtEl>
                                      </p:cBhvr>
                                    </p:animEffect>
                                  </p:childTnLst>
                                </p:cTn>
                              </p:par>
                            </p:childTnLst>
                          </p:cTn>
                        </p:par>
                      </p:childTnLst>
                    </p:cTn>
                  </p:par>
                  <p:par>
                    <p:cTn id="115" fill="hold">
                      <p:stCondLst>
                        <p:cond delay="indefinite"/>
                      </p:stCondLst>
                      <p:childTnLst>
                        <p:par>
                          <p:cTn id="116" fill="hold">
                            <p:stCondLst>
                              <p:cond delay="0"/>
                            </p:stCondLst>
                            <p:childTnLst>
                              <p:par>
                                <p:cTn id="117" presetID="3" presetClass="entr" presetSubtype="10" fill="hold" grpId="0" nodeType="clickEffect">
                                  <p:stCondLst>
                                    <p:cond delay="0"/>
                                  </p:stCondLst>
                                  <p:childTnLst>
                                    <p:set>
                                      <p:cBhvr>
                                        <p:cTn id="118" dur="1" fill="hold">
                                          <p:stCondLst>
                                            <p:cond delay="0"/>
                                          </p:stCondLst>
                                        </p:cTn>
                                        <p:tgtEl>
                                          <p:spTgt spid="44"/>
                                        </p:tgtEl>
                                        <p:attrNameLst>
                                          <p:attrName>style.visibility</p:attrName>
                                        </p:attrNameLst>
                                      </p:cBhvr>
                                      <p:to>
                                        <p:strVal val="visible"/>
                                      </p:to>
                                    </p:set>
                                    <p:animEffect transition="in" filter="blinds(horizontal)">
                                      <p:cBhvr>
                                        <p:cTn id="119" dur="500"/>
                                        <p:tgtEl>
                                          <p:spTgt spid="44"/>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4" fill="hold" grpId="0" nodeType="click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wipe(down)">
                                      <p:cBhvr>
                                        <p:cTn id="124" dur="500"/>
                                        <p:tgtEl>
                                          <p:spTgt spid="45"/>
                                        </p:tgtEl>
                                      </p:cBhvr>
                                    </p:animEffect>
                                  </p:childTnLst>
                                </p:cTn>
                              </p:par>
                              <p:par>
                                <p:cTn id="125" presetID="3" presetClass="exit" presetSubtype="10" fill="hold" grpId="2" nodeType="withEffect">
                                  <p:stCondLst>
                                    <p:cond delay="0"/>
                                  </p:stCondLst>
                                  <p:childTnLst>
                                    <p:animEffect transition="out" filter="blinds(horizontal)">
                                      <p:cBhvr>
                                        <p:cTn id="126" dur="500"/>
                                        <p:tgtEl>
                                          <p:spTgt spid="45"/>
                                        </p:tgtEl>
                                      </p:cBhvr>
                                    </p:animEffect>
                                    <p:set>
                                      <p:cBhvr>
                                        <p:cTn id="127" dur="1" fill="hold">
                                          <p:stCondLst>
                                            <p:cond delay="499"/>
                                          </p:stCondLst>
                                        </p:cTn>
                                        <p:tgtEl>
                                          <p:spTgt spid="45"/>
                                        </p:tgtEl>
                                        <p:attrNameLst>
                                          <p:attrName>style.visibility</p:attrName>
                                        </p:attrNameLst>
                                      </p:cBhvr>
                                      <p:to>
                                        <p:strVal val="hidden"/>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46"/>
                                        </p:tgtEl>
                                        <p:attrNameLst>
                                          <p:attrName>style.visibility</p:attrName>
                                        </p:attrNameLst>
                                      </p:cBhvr>
                                      <p:to>
                                        <p:strVal val="visible"/>
                                      </p:to>
                                    </p:set>
                                    <p:animEffect transition="in" filter="wipe(down)">
                                      <p:cBhvr>
                                        <p:cTn id="132" dur="500"/>
                                        <p:tgtEl>
                                          <p:spTgt spid="46"/>
                                        </p:tgtEl>
                                      </p:cBhvr>
                                    </p:animEffect>
                                  </p:childTnLst>
                                </p:cTn>
                              </p:par>
                            </p:childTnLst>
                          </p:cTn>
                        </p:par>
                      </p:childTnLst>
                    </p:cTn>
                  </p:par>
                  <p:par>
                    <p:cTn id="133" fill="hold">
                      <p:stCondLst>
                        <p:cond delay="indefinite"/>
                      </p:stCondLst>
                      <p:childTnLst>
                        <p:par>
                          <p:cTn id="134" fill="hold">
                            <p:stCondLst>
                              <p:cond delay="0"/>
                            </p:stCondLst>
                            <p:childTnLst>
                              <p:par>
                                <p:cTn id="135" presetID="3" presetClass="exit" presetSubtype="10" fill="hold" grpId="1" nodeType="clickEffect">
                                  <p:stCondLst>
                                    <p:cond delay="0"/>
                                  </p:stCondLst>
                                  <p:childTnLst>
                                    <p:animEffect transition="out" filter="blinds(horizontal)">
                                      <p:cBhvr>
                                        <p:cTn id="136" dur="500"/>
                                        <p:tgtEl>
                                          <p:spTgt spid="46"/>
                                        </p:tgtEl>
                                      </p:cBhvr>
                                    </p:animEffect>
                                    <p:set>
                                      <p:cBhvr>
                                        <p:cTn id="137" dur="1" fill="hold">
                                          <p:stCondLst>
                                            <p:cond delay="499"/>
                                          </p:stCondLst>
                                        </p:cTn>
                                        <p:tgtEl>
                                          <p:spTgt spid="4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7" grpId="0" animBg="1"/>
      <p:bldP spid="27" grpId="1" animBg="1"/>
      <p:bldP spid="28" grpId="0"/>
      <p:bldP spid="28" grpId="1"/>
      <p:bldP spid="29" grpId="0"/>
      <p:bldP spid="29" grpId="1"/>
      <p:bldP spid="30" grpId="0"/>
      <p:bldP spid="30" grpId="1"/>
      <p:bldP spid="31" grpId="0"/>
      <p:bldP spid="31" grpId="1"/>
      <p:bldP spid="34" grpId="0" animBg="1"/>
      <p:bldP spid="34" grpId="1" animBg="1"/>
      <p:bldP spid="34" grpId="2" animBg="1"/>
      <p:bldP spid="35" grpId="0" animBg="1"/>
      <p:bldP spid="35" grpId="1" animBg="1"/>
      <p:bldP spid="35" grpId="2" animBg="1"/>
      <p:bldP spid="36" grpId="0"/>
      <p:bldP spid="36" grpId="1"/>
      <p:bldP spid="36" grpId="2"/>
      <p:bldP spid="37" grpId="0"/>
      <p:bldP spid="37" grpId="1"/>
      <p:bldP spid="38" grpId="0" animBg="1"/>
      <p:bldP spid="38" grpId="1" animBg="1"/>
      <p:bldP spid="39" grpId="0" animBg="1"/>
      <p:bldP spid="39" grpId="1" animBg="1"/>
      <p:bldP spid="42" grpId="0" animBg="1"/>
      <p:bldP spid="42" grpId="1" animBg="1"/>
      <p:bldP spid="43" grpId="0"/>
      <p:bldP spid="43" grpId="1"/>
      <p:bldP spid="44" grpId="0"/>
      <p:bldP spid="44" grpId="1"/>
      <p:bldP spid="45" grpId="0"/>
      <p:bldP spid="45" grpId="1"/>
      <p:bldP spid="45" grpId="2"/>
      <p:bldP spid="46" grpId="0"/>
      <p:bldP spid="4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FA7A-8A83-D9AA-EA07-B62069C3CE3B}"/>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52D18F70-DFBE-A2F3-66AD-C9A81564B983}"/>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特征空间</a:t>
            </a:r>
          </a:p>
        </p:txBody>
      </p:sp>
      <p:grpSp>
        <p:nvGrpSpPr>
          <p:cNvPr id="4" name="组合 3">
            <a:extLst>
              <a:ext uri="{FF2B5EF4-FFF2-40B4-BE49-F238E27FC236}">
                <a16:creationId xmlns:a16="http://schemas.microsoft.com/office/drawing/2014/main" id="{6159ED01-B2E1-437D-C633-B2148623986A}"/>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CB79E32D-E5CD-017D-4AB0-EDE0A75C222F}"/>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451955D7-1881-9B49-8CF8-C3CDD5A35FC7}"/>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EF18F896-34CD-553D-64C0-582C3C1C2921}"/>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73CC2512-035E-90CF-3BEF-CEDDAFE1F2E9}"/>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7C2060BD-AAE9-E85D-5BB8-E4BB736A031A}"/>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DA9B309F-3A49-E27A-4112-9F4328587B05}"/>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CE9B7AB0-27E0-1E7A-637D-D90C71F3CF08}"/>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19DAF146-70B9-6D29-AC99-74AC311DFD89}"/>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99609754-A572-B28A-8AE3-9F9E5F908968}"/>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C0203887-33E3-E835-9F7C-666A31DA4D03}"/>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CCD582F6-3742-DE9A-DCC1-E08F53C61873}"/>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E47B9BDD-3D62-47CB-39E8-7DDA1F19A257}"/>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FC4BD330-1A24-D977-338A-4B693984292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BF280A28-5FE1-FBE1-6CB9-86B75AB8CB65}"/>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86914C11-BF54-83D9-F396-ABD587EFA04F}"/>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DEF417E2-1125-C0B3-DD30-0D818FE6284A}"/>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22EBF618-3E51-2220-8D86-03EC51D6A978}"/>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CF135CBA-9EFD-7226-B5BE-CF3D95215D46}"/>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E4216492-F252-BB22-89A8-60A0B14E7FB1}"/>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8BE048A2-44C9-B240-DF90-B1665C926D74}"/>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250B1DCC-EE90-F0B4-CDC5-1FAA7F30FECD}"/>
              </a:ext>
            </a:extLst>
          </p:cNvPr>
          <p:cNvSpPr txBox="1"/>
          <p:nvPr/>
        </p:nvSpPr>
        <p:spPr>
          <a:xfrm>
            <a:off x="951865" y="1079500"/>
            <a:ext cx="9969500" cy="1346835"/>
          </a:xfrm>
          <a:prstGeom prst="rect">
            <a:avLst/>
          </a:prstGeom>
          <a:noFill/>
        </p:spPr>
        <p:txBody>
          <a:bodyPr wrap="square" rtlCol="0">
            <a:spAutoFit/>
          </a:bodyPr>
          <a:lstStyle/>
          <a:p>
            <a:pPr>
              <a:lnSpc>
                <a:spcPct val="120000"/>
              </a:lnSpc>
            </a:pPr>
            <a:r>
              <a:rPr lang="zh-CN" altLang="en-US" sz="2400" b="1" dirty="0"/>
              <a:t>特征</a:t>
            </a:r>
            <a:r>
              <a:rPr lang="zh-CN" altLang="en-US" sz="2400" dirty="0"/>
              <a:t>（</a:t>
            </a:r>
            <a:r>
              <a:rPr lang="zh-CN" altLang="en-US" sz="2400" i="1" dirty="0"/>
              <a:t>Feature</a:t>
            </a:r>
            <a:r>
              <a:rPr lang="zh-CN" altLang="en-US" sz="2400" dirty="0"/>
              <a:t>）：</a:t>
            </a:r>
            <a:r>
              <a:rPr lang="zh-CN" altLang="en-US" sz="2000" dirty="0"/>
              <a:t>即属性。每个输入实例的各个组成部分（属性）称作原始特征，基于原始特征还可以扩展出更多的衍生特征。</a:t>
            </a:r>
            <a:endParaRPr lang="zh-CN" altLang="en-US" sz="2400" dirty="0"/>
          </a:p>
          <a:p>
            <a:pPr>
              <a:lnSpc>
                <a:spcPct val="120000"/>
              </a:lnSpc>
            </a:pPr>
            <a:endParaRPr lang="zh-CN" altLang="en-US" sz="2400" dirty="0">
              <a:solidFill>
                <a:schemeClr val="bg1"/>
              </a:solidFill>
            </a:endParaRPr>
          </a:p>
        </p:txBody>
      </p:sp>
      <p:sp>
        <p:nvSpPr>
          <p:cNvPr id="26" name="文本框 25">
            <a:extLst>
              <a:ext uri="{FF2B5EF4-FFF2-40B4-BE49-F238E27FC236}">
                <a16:creationId xmlns:a16="http://schemas.microsoft.com/office/drawing/2014/main" id="{C1D839D8-DFEB-36DA-B29D-EA59C649905B}"/>
              </a:ext>
            </a:extLst>
          </p:cNvPr>
          <p:cNvSpPr txBox="1"/>
          <p:nvPr/>
        </p:nvSpPr>
        <p:spPr>
          <a:xfrm>
            <a:off x="951865" y="2016125"/>
            <a:ext cx="9636125" cy="842010"/>
          </a:xfrm>
          <a:prstGeom prst="rect">
            <a:avLst/>
          </a:prstGeom>
          <a:noFill/>
        </p:spPr>
        <p:txBody>
          <a:bodyPr wrap="square" rtlCol="0">
            <a:spAutoFit/>
          </a:bodyPr>
          <a:lstStyle/>
          <a:p>
            <a:pPr>
              <a:lnSpc>
                <a:spcPct val="120000"/>
              </a:lnSpc>
            </a:pPr>
            <a:r>
              <a:rPr lang="zh-CN" altLang="en-US" sz="2400" b="1" dirty="0">
                <a:sym typeface="+mn-ea"/>
              </a:rPr>
              <a:t>特征向量</a:t>
            </a:r>
            <a:r>
              <a:rPr lang="zh-CN" altLang="en-US" sz="2400" dirty="0">
                <a:sym typeface="+mn-ea"/>
              </a:rPr>
              <a:t>（</a:t>
            </a:r>
            <a:r>
              <a:rPr lang="zh-CN" altLang="en-US" sz="2400" i="1" dirty="0">
                <a:sym typeface="+mn-ea"/>
              </a:rPr>
              <a:t>Feature Vector</a:t>
            </a:r>
            <a:r>
              <a:rPr lang="zh-CN" altLang="en-US" sz="2400" dirty="0">
                <a:sym typeface="+mn-ea"/>
              </a:rPr>
              <a:t>）：</a:t>
            </a:r>
            <a:r>
              <a:rPr lang="zh-CN" altLang="en-US" sz="2000" dirty="0">
                <a:sym typeface="+mn-ea"/>
              </a:rPr>
              <a:t>由多个特征组成的集合，称作特征向量。</a:t>
            </a:r>
            <a:endParaRPr lang="zh-CN" altLang="en-US" sz="2000" dirty="0"/>
          </a:p>
          <a:p>
            <a:endParaRPr lang="zh-CN" altLang="en-US" sz="2000" dirty="0">
              <a:solidFill>
                <a:schemeClr val="bg1"/>
              </a:solidFill>
            </a:endParaRPr>
          </a:p>
        </p:txBody>
      </p:sp>
      <p:sp>
        <p:nvSpPr>
          <p:cNvPr id="27" name="文本框 26">
            <a:extLst>
              <a:ext uri="{FF2B5EF4-FFF2-40B4-BE49-F238E27FC236}">
                <a16:creationId xmlns:a16="http://schemas.microsoft.com/office/drawing/2014/main" id="{E2588646-38F9-67E9-5ABE-C76419702406}"/>
              </a:ext>
            </a:extLst>
          </p:cNvPr>
          <p:cNvSpPr txBox="1"/>
          <p:nvPr/>
        </p:nvSpPr>
        <p:spPr>
          <a:xfrm>
            <a:off x="936625" y="2631440"/>
            <a:ext cx="9651365" cy="768350"/>
          </a:xfrm>
          <a:prstGeom prst="rect">
            <a:avLst/>
          </a:prstGeom>
          <a:noFill/>
        </p:spPr>
        <p:txBody>
          <a:bodyPr wrap="square" rtlCol="0">
            <a:spAutoFit/>
          </a:bodyPr>
          <a:lstStyle/>
          <a:p>
            <a:r>
              <a:rPr lang="zh-CN" altLang="en-US" sz="2400" b="1" dirty="0">
                <a:sym typeface="+mn-ea"/>
              </a:rPr>
              <a:t>特征空间</a:t>
            </a:r>
            <a:r>
              <a:rPr lang="zh-CN" altLang="en-US" sz="2400" dirty="0">
                <a:sym typeface="+mn-ea"/>
              </a:rPr>
              <a:t>（</a:t>
            </a:r>
            <a:r>
              <a:rPr lang="zh-CN" altLang="en-US" sz="2400" i="1" dirty="0">
                <a:sym typeface="+mn-ea"/>
              </a:rPr>
              <a:t>Feature Space</a:t>
            </a:r>
            <a:r>
              <a:rPr lang="zh-CN" altLang="en-US" sz="2400" dirty="0">
                <a:sym typeface="+mn-ea"/>
              </a:rPr>
              <a:t>）：</a:t>
            </a:r>
            <a:r>
              <a:rPr lang="zh-CN" altLang="en-US" sz="2000" dirty="0">
                <a:sym typeface="+mn-ea"/>
              </a:rPr>
              <a:t>将特征向量存在的空间称作特征空间。</a:t>
            </a:r>
            <a:endParaRPr lang="zh-CN" altLang="en-US" sz="2000" dirty="0"/>
          </a:p>
          <a:p>
            <a:endParaRPr lang="zh-CN" altLang="en-US" sz="2000" dirty="0">
              <a:solidFill>
                <a:schemeClr val="bg1"/>
              </a:solidFill>
            </a:endParaRPr>
          </a:p>
        </p:txBody>
      </p:sp>
      <p:sp>
        <p:nvSpPr>
          <p:cNvPr id="28" name="文本框 27">
            <a:extLst>
              <a:ext uri="{FF2B5EF4-FFF2-40B4-BE49-F238E27FC236}">
                <a16:creationId xmlns:a16="http://schemas.microsoft.com/office/drawing/2014/main" id="{B8590E5B-BC10-A82B-9086-78DACA63CB4A}"/>
              </a:ext>
            </a:extLst>
          </p:cNvPr>
          <p:cNvSpPr txBox="1"/>
          <p:nvPr/>
        </p:nvSpPr>
        <p:spPr>
          <a:xfrm>
            <a:off x="936625" y="3399790"/>
            <a:ext cx="9747250" cy="1863725"/>
          </a:xfrm>
          <a:prstGeom prst="rect">
            <a:avLst/>
          </a:prstGeom>
          <a:noFill/>
        </p:spPr>
        <p:txBody>
          <a:bodyPr wrap="square" rtlCol="0">
            <a:spAutoFit/>
          </a:bodyPr>
          <a:lstStyle/>
          <a:p>
            <a:pPr marL="342900" indent="-342900">
              <a:lnSpc>
                <a:spcPct val="120000"/>
              </a:lnSpc>
              <a:buFont typeface="Wingdings" panose="05000000000000000000" charset="0"/>
              <a:buChar char="l"/>
            </a:pPr>
            <a:r>
              <a:rPr lang="zh-CN" altLang="en-US" sz="2400" dirty="0"/>
              <a:t>特征空间中每一维都对应了一个特征（属性）</a:t>
            </a:r>
          </a:p>
          <a:p>
            <a:pPr marL="342900" indent="-342900">
              <a:lnSpc>
                <a:spcPct val="120000"/>
              </a:lnSpc>
              <a:buFont typeface="Wingdings" panose="05000000000000000000" charset="0"/>
              <a:buChar char="l"/>
            </a:pPr>
            <a:r>
              <a:rPr lang="zh-CN" altLang="en-US" sz="2400" dirty="0"/>
              <a:t>特征空间可以和输入空间相同，也可以不同</a:t>
            </a:r>
          </a:p>
          <a:p>
            <a:pPr marL="342900" indent="-342900">
              <a:lnSpc>
                <a:spcPct val="120000"/>
              </a:lnSpc>
              <a:buFont typeface="Wingdings" panose="05000000000000000000" charset="0"/>
              <a:buChar char="l"/>
            </a:pPr>
            <a:r>
              <a:rPr lang="zh-CN" altLang="en-US" sz="2400" dirty="0"/>
              <a:t>需将将实例从输入空间映射到特征空间</a:t>
            </a:r>
          </a:p>
          <a:p>
            <a:pPr marL="342900" indent="-342900">
              <a:lnSpc>
                <a:spcPct val="120000"/>
              </a:lnSpc>
              <a:buFont typeface="Wingdings" panose="05000000000000000000" charset="0"/>
              <a:buChar char="l"/>
            </a:pPr>
            <a:r>
              <a:rPr lang="zh-CN" altLang="en-US" sz="2400" dirty="0"/>
              <a:t>模型实际上是定义于特征空间之上的</a:t>
            </a:r>
          </a:p>
        </p:txBody>
      </p:sp>
    </p:spTree>
    <p:extLst>
      <p:ext uri="{BB962C8B-B14F-4D97-AF65-F5344CB8AC3E}">
        <p14:creationId xmlns:p14="http://schemas.microsoft.com/office/powerpoint/2010/main" val="175763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linds(horizontal)">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P spid="28" grpId="0"/>
      <p:bldP spid="28"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8FBCC-BD77-7530-B4C5-F18D8AC2C0C1}"/>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741D290B-6CFB-C653-D514-38D77A0B77E1}"/>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假设空间</a:t>
            </a:r>
          </a:p>
        </p:txBody>
      </p:sp>
      <p:grpSp>
        <p:nvGrpSpPr>
          <p:cNvPr id="4" name="组合 3">
            <a:extLst>
              <a:ext uri="{FF2B5EF4-FFF2-40B4-BE49-F238E27FC236}">
                <a16:creationId xmlns:a16="http://schemas.microsoft.com/office/drawing/2014/main" id="{4825787D-8465-A545-C2C6-7396E9883023}"/>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B904109C-B3A7-6DE8-DB12-01B841A2F71D}"/>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C3EDFF63-7CB9-8692-7D5F-B3D39CDD05A0}"/>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C6A8A056-7F61-DB9F-E772-339112AA88B7}"/>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F0B8131B-E85D-B6C9-ABE5-5DF92745AF1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AEC5A962-F8EE-DAD4-4578-821D08A64904}"/>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AA40FE6A-2513-FA2E-FCF6-444046FB41D4}"/>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ECF31A32-4DFE-52B5-7ECC-08C561BCB2F1}"/>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571612D6-D3CE-E3D1-A058-EAE22AA9A239}"/>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8F30453F-0E3E-38C3-2ABB-76396592C58C}"/>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73F809DB-F608-62C7-7A94-08DA24F5E1F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44230B17-E247-7EB1-26D9-7522FB08882E}"/>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E383D6CC-2EEF-E6DD-C43A-122644464477}"/>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88B68A9F-2D08-2ECC-A85E-839F70A13040}"/>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2F1064F4-2BAC-B586-FAD4-4DE8DBCF037A}"/>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B319CCFE-380F-E735-B54B-C5B56D9A7A59}"/>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6DD78F80-BFDA-B402-138D-3B6E7113A26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C9644E02-DA12-8352-7CD2-110CB6287E0C}"/>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9AA8D635-B329-9427-C6C8-131261AC7BCE}"/>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B708108E-17D4-B781-6E9E-9D9383EF19B3}"/>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E197F07-EDA8-130B-FECA-F989D1D5357F}"/>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4CAE5B81-B648-16A9-D6AE-2F1DACF0386B}"/>
              </a:ext>
            </a:extLst>
          </p:cNvPr>
          <p:cNvSpPr txBox="1"/>
          <p:nvPr/>
        </p:nvSpPr>
        <p:spPr>
          <a:xfrm>
            <a:off x="495300" y="984250"/>
            <a:ext cx="8998585" cy="5692775"/>
          </a:xfrm>
          <a:prstGeom prst="rect">
            <a:avLst/>
          </a:prstGeom>
          <a:noFill/>
        </p:spPr>
        <p:txBody>
          <a:bodyPr wrap="square" rtlCol="0">
            <a:spAutoFit/>
          </a:bodyPr>
          <a:lstStyle/>
          <a:p>
            <a:r>
              <a:rPr lang="zh-CN" altLang="en-US" sz="2400" b="1" dirty="0"/>
              <a:t>假设空间</a:t>
            </a:r>
            <a:r>
              <a:rPr lang="zh-CN" altLang="en-US" sz="2000" b="1" dirty="0"/>
              <a:t>（</a:t>
            </a:r>
            <a:r>
              <a:rPr lang="zh-CN" altLang="en-US" sz="2000" b="1" i="1" dirty="0"/>
              <a:t>HypothesisSpace</a:t>
            </a:r>
            <a:r>
              <a:rPr lang="zh-CN" altLang="en-US" sz="2000" b="1" dirty="0"/>
              <a:t>）：</a:t>
            </a:r>
            <a:r>
              <a:rPr lang="zh-CN" altLang="en-US" sz="2000" dirty="0"/>
              <a:t>由输入空间到输出空间的映射的集合，称作假设空间。</a:t>
            </a:r>
          </a:p>
          <a:p>
            <a:endParaRPr lang="zh-CN" altLang="en-US" sz="2000" dirty="0"/>
          </a:p>
          <a:p>
            <a:r>
              <a:rPr lang="zh-CN" altLang="en-US" sz="2000" dirty="0"/>
              <a:t>监督学习的目的在于学习一个由输入到输出的映射，这一映射由模型来表示。换句话说，学习的目的就在于找到最好的这样的模型。模型属于由输入空间到输出空间的映射集合，这个集合就是假设空间。假设空间的确定意味着学习范围的确定。                                                                     </a:t>
            </a:r>
            <a:r>
              <a:rPr lang="en-US" altLang="zh-CN" sz="2000" dirty="0"/>
              <a:t>-</a:t>
            </a:r>
            <a:r>
              <a:rPr lang="zh-CN" altLang="en-US" sz="2000" dirty="0"/>
              <a:t>-李航《统计学习方法》</a:t>
            </a:r>
          </a:p>
          <a:p>
            <a:endParaRPr lang="zh-CN" altLang="en-US" sz="2000" dirty="0"/>
          </a:p>
          <a:p>
            <a:r>
              <a:rPr lang="zh-CN" altLang="en-US" sz="2000" dirty="0"/>
              <a:t>The hypothesis space,which defines the class of functions mapping the input space to the output space. That is, the functions operate on the feature vectors of the input objects,and make predictions according to the format of the output space.</a:t>
            </a:r>
          </a:p>
          <a:p>
            <a:r>
              <a:rPr lang="zh-CN" altLang="en-US" sz="2000" dirty="0"/>
              <a:t>                                          --李铁岩 Learning to Rank for Information Retrieval</a:t>
            </a:r>
          </a:p>
          <a:p>
            <a:endParaRPr lang="zh-CN" altLang="en-US" sz="2000" dirty="0"/>
          </a:p>
          <a:p>
            <a:r>
              <a:rPr lang="zh-CN" altLang="en-US" sz="2000" dirty="0"/>
              <a:t>假设空间指的是问题所有假设组成的空间，我们可以把学习过程看作是在假设空间中搜索的过程，搜索目标是寻找与训练集“匹配”的假设。</a:t>
            </a:r>
          </a:p>
          <a:p>
            <a:r>
              <a:rPr lang="zh-CN" altLang="en-US" sz="2000" dirty="0"/>
              <a:t>                                                                                          --周志华《机器学习》</a:t>
            </a:r>
          </a:p>
          <a:p>
            <a:endParaRPr lang="zh-CN" altLang="en-US" sz="2000" dirty="0">
              <a:solidFill>
                <a:schemeClr val="bg1"/>
              </a:solidFill>
            </a:endParaRPr>
          </a:p>
        </p:txBody>
      </p:sp>
      <p:pic>
        <p:nvPicPr>
          <p:cNvPr id="26" name="图片 25">
            <a:extLst>
              <a:ext uri="{FF2B5EF4-FFF2-40B4-BE49-F238E27FC236}">
                <a16:creationId xmlns:a16="http://schemas.microsoft.com/office/drawing/2014/main" id="{F8A292E3-31EC-78D3-0A3C-AC4E8F25C4C7}"/>
              </a:ext>
            </a:extLst>
          </p:cNvPr>
          <p:cNvPicPr>
            <a:picLocks noChangeAspect="1"/>
          </p:cNvPicPr>
          <p:nvPr/>
        </p:nvPicPr>
        <p:blipFill>
          <a:blip r:embed="rId2"/>
          <a:stretch>
            <a:fillRect/>
          </a:stretch>
        </p:blipFill>
        <p:spPr>
          <a:xfrm>
            <a:off x="9814560" y="1594485"/>
            <a:ext cx="1343025" cy="1846580"/>
          </a:xfrm>
          <a:prstGeom prst="rect">
            <a:avLst/>
          </a:prstGeom>
        </p:spPr>
      </p:pic>
      <p:pic>
        <p:nvPicPr>
          <p:cNvPr id="27" name="图片 26">
            <a:extLst>
              <a:ext uri="{FF2B5EF4-FFF2-40B4-BE49-F238E27FC236}">
                <a16:creationId xmlns:a16="http://schemas.microsoft.com/office/drawing/2014/main" id="{9B1A1686-E95F-82A8-351D-31820CDFA4CF}"/>
              </a:ext>
            </a:extLst>
          </p:cNvPr>
          <p:cNvPicPr>
            <a:picLocks noChangeAspect="1"/>
          </p:cNvPicPr>
          <p:nvPr/>
        </p:nvPicPr>
        <p:blipFill>
          <a:blip r:embed="rId3"/>
          <a:stretch>
            <a:fillRect/>
          </a:stretch>
        </p:blipFill>
        <p:spPr>
          <a:xfrm>
            <a:off x="9592310" y="4090035"/>
            <a:ext cx="2125980" cy="2359025"/>
          </a:xfrm>
          <a:prstGeom prst="rect">
            <a:avLst/>
          </a:prstGeom>
        </p:spPr>
      </p:pic>
    </p:spTree>
    <p:extLst>
      <p:ext uri="{BB962C8B-B14F-4D97-AF65-F5344CB8AC3E}">
        <p14:creationId xmlns:p14="http://schemas.microsoft.com/office/powerpoint/2010/main" val="255190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7C45F-4AE6-D82F-DAA4-5CC13A76C19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ADA08795-E081-A1C6-DB84-F4B0D164BB77}"/>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假设空间</a:t>
            </a:r>
          </a:p>
        </p:txBody>
      </p:sp>
      <p:grpSp>
        <p:nvGrpSpPr>
          <p:cNvPr id="4" name="组合 3">
            <a:extLst>
              <a:ext uri="{FF2B5EF4-FFF2-40B4-BE49-F238E27FC236}">
                <a16:creationId xmlns:a16="http://schemas.microsoft.com/office/drawing/2014/main" id="{F1AAD92B-3D97-E065-B421-AA542A0B1436}"/>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8A7A4EF4-404B-3627-DDB0-F428CF0ED3B8}"/>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051A5C4D-C3C8-A361-8382-77455BAEE58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AF333F40-3E23-32CA-FF08-7C8AE18C9CBA}"/>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A51FBEAE-CB13-58B8-30AA-79F079055986}"/>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6A4B59FC-B661-769F-9F9D-A991EC1B3D94}"/>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FFF02437-6F10-019A-181F-9BFD6F3BBD1B}"/>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C1099B0B-449F-595C-26EA-C8F23FE74295}"/>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A323A53-4C94-A5F0-6307-D9041C5296F3}"/>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DE60E316-131C-B8CD-4169-4161D7B6D8F6}"/>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E352950E-424E-3132-2EED-43F41C352236}"/>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5F82D865-DF91-AFE6-75DF-C6D01A8CBD0D}"/>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3C8BAF1E-A87B-1D89-5573-5CF14428EB0F}"/>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CFF33636-D9F7-F1FE-69E7-722B9301E4CA}"/>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5ED7F7C3-C592-0977-6723-C1BE8312F479}"/>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2BC71C81-E9B1-973F-31CC-7FB206738D7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490860E5-2942-E9E2-A035-6A15D9FD3E4F}"/>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EAB16CA8-199F-8191-E5A8-1401F0EBBA5A}"/>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57C1B5A7-706F-99AF-E718-78F840D13C7E}"/>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5BC7E6E6-A0E4-D6C7-DDA8-B6E03E8258D5}"/>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032A5799-7EC5-7BF2-4A50-EAC6EDF99CBD}"/>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63F6296D-7204-0BF6-7732-6863DB8E6F6E}"/>
              </a:ext>
            </a:extLst>
          </p:cNvPr>
          <p:cNvSpPr txBox="1"/>
          <p:nvPr/>
        </p:nvSpPr>
        <p:spPr>
          <a:xfrm>
            <a:off x="495056" y="898673"/>
            <a:ext cx="10779125" cy="768350"/>
          </a:xfrm>
          <a:prstGeom prst="rect">
            <a:avLst/>
          </a:prstGeom>
          <a:noFill/>
        </p:spPr>
        <p:txBody>
          <a:bodyPr wrap="square" rtlCol="0">
            <a:spAutoFit/>
          </a:bodyPr>
          <a:lstStyle/>
          <a:p>
            <a:r>
              <a:rPr lang="zh-CN" altLang="en-US" sz="2400" b="1" dirty="0"/>
              <a:t>假设空间（</a:t>
            </a:r>
            <a:r>
              <a:rPr lang="zh-CN" altLang="en-US" sz="2400" b="1" i="1" dirty="0"/>
              <a:t>Hypothesis Space</a:t>
            </a:r>
            <a:r>
              <a:rPr lang="zh-CN" altLang="en-US" sz="2400" b="1" dirty="0"/>
              <a:t>)</a:t>
            </a:r>
            <a:r>
              <a:rPr lang="zh-CN" altLang="en-US" sz="2000" dirty="0"/>
              <a:t>：由输入空间到输出空间的映射的集合，称作假设空间。</a:t>
            </a:r>
          </a:p>
          <a:p>
            <a:endParaRPr lang="zh-CN" altLang="en-US" sz="2000" dirty="0">
              <a:solidFill>
                <a:schemeClr val="bg1"/>
              </a:solidFill>
            </a:endParaRPr>
          </a:p>
        </p:txBody>
      </p:sp>
      <p:sp>
        <p:nvSpPr>
          <p:cNvPr id="26" name="文本框 25">
            <a:extLst>
              <a:ext uri="{FF2B5EF4-FFF2-40B4-BE49-F238E27FC236}">
                <a16:creationId xmlns:a16="http://schemas.microsoft.com/office/drawing/2014/main" id="{22DB3D20-F816-1440-664D-7028FB828C55}"/>
              </a:ext>
            </a:extLst>
          </p:cNvPr>
          <p:cNvSpPr txBox="1"/>
          <p:nvPr/>
        </p:nvSpPr>
        <p:spPr>
          <a:xfrm>
            <a:off x="17780" y="1463235"/>
            <a:ext cx="4001135" cy="2030095"/>
          </a:xfrm>
          <a:prstGeom prst="rect">
            <a:avLst/>
          </a:prstGeom>
          <a:noFill/>
        </p:spPr>
        <p:txBody>
          <a:bodyPr wrap="square" rtlCol="0">
            <a:spAutoFit/>
          </a:bodyPr>
          <a:lstStyle/>
          <a:p>
            <a:r>
              <a:rPr lang="zh-CN" altLang="en-US" dirty="0">
                <a:sym typeface="+mn-ea"/>
              </a:rPr>
              <a:t>某商品的浏览、购买记录中，记录了性别、信用度及是否购买，基于数据建模。</a:t>
            </a:r>
            <a:endParaRPr lang="zh-CN" altLang="en-US" dirty="0"/>
          </a:p>
          <a:p>
            <a:r>
              <a:rPr lang="zh-CN" altLang="en-US" dirty="0">
                <a:sym typeface="+mn-ea"/>
              </a:rPr>
              <a:t>其中 Gender 取值为{Female,Male），</a:t>
            </a:r>
            <a:endParaRPr lang="zh-CN" altLang="en-US" dirty="0"/>
          </a:p>
          <a:p>
            <a:r>
              <a:rPr lang="zh-CN" altLang="en-US" dirty="0">
                <a:sym typeface="+mn-ea"/>
              </a:rPr>
              <a:t>Credit 取值为{High,Mediun,Low），</a:t>
            </a:r>
            <a:endParaRPr lang="zh-CN" altLang="en-US" dirty="0"/>
          </a:p>
          <a:p>
            <a:r>
              <a:rPr lang="zh-CN" altLang="en-US" dirty="0">
                <a:sym typeface="+mn-ea"/>
              </a:rPr>
              <a:t>Buy 的取值为{TRUE,FALSE）</a:t>
            </a:r>
            <a:endParaRPr lang="zh-CN" altLang="en-US" dirty="0"/>
          </a:p>
          <a:p>
            <a:endParaRPr lang="zh-CN" altLang="en-US" dirty="0">
              <a:solidFill>
                <a:schemeClr val="bg1"/>
              </a:solidFill>
            </a:endParaRPr>
          </a:p>
        </p:txBody>
      </p:sp>
      <p:pic>
        <p:nvPicPr>
          <p:cNvPr id="27" name="图片 26">
            <a:extLst>
              <a:ext uri="{FF2B5EF4-FFF2-40B4-BE49-F238E27FC236}">
                <a16:creationId xmlns:a16="http://schemas.microsoft.com/office/drawing/2014/main" id="{886C2D30-9A17-AF40-0DD4-42810860542E}"/>
              </a:ext>
            </a:extLst>
          </p:cNvPr>
          <p:cNvPicPr>
            <a:picLocks noChangeAspect="1"/>
          </p:cNvPicPr>
          <p:nvPr/>
        </p:nvPicPr>
        <p:blipFill>
          <a:blip r:embed="rId2"/>
          <a:stretch>
            <a:fillRect/>
          </a:stretch>
        </p:blipFill>
        <p:spPr>
          <a:xfrm>
            <a:off x="183515" y="3501390"/>
            <a:ext cx="2563495" cy="1234440"/>
          </a:xfrm>
          <a:prstGeom prst="rect">
            <a:avLst/>
          </a:prstGeom>
        </p:spPr>
      </p:pic>
      <p:sp>
        <p:nvSpPr>
          <p:cNvPr id="28" name="文本框 27">
            <a:extLst>
              <a:ext uri="{FF2B5EF4-FFF2-40B4-BE49-F238E27FC236}">
                <a16:creationId xmlns:a16="http://schemas.microsoft.com/office/drawing/2014/main" id="{5F23B13D-C235-C06A-A519-A62AAC9ED779}"/>
              </a:ext>
            </a:extLst>
          </p:cNvPr>
          <p:cNvSpPr txBox="1"/>
          <p:nvPr/>
        </p:nvSpPr>
        <p:spPr>
          <a:xfrm>
            <a:off x="5281295" y="1418103"/>
            <a:ext cx="5688965" cy="368300"/>
          </a:xfrm>
          <a:prstGeom prst="rect">
            <a:avLst/>
          </a:prstGeom>
          <a:noFill/>
        </p:spPr>
        <p:txBody>
          <a:bodyPr wrap="square" rtlCol="0">
            <a:spAutoFit/>
          </a:bodyPr>
          <a:lstStyle/>
          <a:p>
            <a:r>
              <a:rPr lang="zh-CN" altLang="en-US" dirty="0">
                <a:solidFill>
                  <a:schemeClr val="bg1"/>
                </a:solidFill>
              </a:rPr>
              <a:t>在</a:t>
            </a:r>
            <a:r>
              <a:rPr lang="zh-CN" altLang="en-US" dirty="0"/>
              <a:t>输入空间和输出空间之间建立映射关系，即假设空间。</a:t>
            </a:r>
          </a:p>
        </p:txBody>
      </p:sp>
      <p:sp>
        <p:nvSpPr>
          <p:cNvPr id="29" name="文本框 28">
            <a:extLst>
              <a:ext uri="{FF2B5EF4-FFF2-40B4-BE49-F238E27FC236}">
                <a16:creationId xmlns:a16="http://schemas.microsoft.com/office/drawing/2014/main" id="{923A6E26-4BC2-2C8F-B9EB-6B68393859FE}"/>
              </a:ext>
            </a:extLst>
          </p:cNvPr>
          <p:cNvSpPr txBox="1"/>
          <p:nvPr/>
        </p:nvSpPr>
        <p:spPr>
          <a:xfrm>
            <a:off x="5498465" y="2586355"/>
            <a:ext cx="2858135" cy="922020"/>
          </a:xfrm>
          <a:prstGeom prst="rect">
            <a:avLst/>
          </a:prstGeom>
          <a:noFill/>
        </p:spPr>
        <p:txBody>
          <a:bodyPr wrap="square" rtlCol="0">
            <a:spAutoFit/>
          </a:bodyPr>
          <a:lstStyle/>
          <a:p>
            <a:r>
              <a:rPr lang="zh-CN" altLang="en-US">
                <a:solidFill>
                  <a:schemeClr val="bg1"/>
                </a:solidFill>
              </a:rPr>
              <a:t>输入记录中所有可能出现的值的组合为2×3=6个，列表如下：</a:t>
            </a:r>
          </a:p>
        </p:txBody>
      </p:sp>
      <p:pic>
        <p:nvPicPr>
          <p:cNvPr id="30" name="图片 29">
            <a:extLst>
              <a:ext uri="{FF2B5EF4-FFF2-40B4-BE49-F238E27FC236}">
                <a16:creationId xmlns:a16="http://schemas.microsoft.com/office/drawing/2014/main" id="{012D5598-09C8-F93A-8B46-001D7ED42111}"/>
              </a:ext>
            </a:extLst>
          </p:cNvPr>
          <p:cNvPicPr>
            <a:picLocks noChangeAspect="1"/>
          </p:cNvPicPr>
          <p:nvPr/>
        </p:nvPicPr>
        <p:blipFill>
          <a:blip r:embed="rId3"/>
          <a:stretch>
            <a:fillRect/>
          </a:stretch>
        </p:blipFill>
        <p:spPr>
          <a:xfrm>
            <a:off x="6087745" y="3876675"/>
            <a:ext cx="1414780" cy="1456055"/>
          </a:xfrm>
          <a:prstGeom prst="rect">
            <a:avLst/>
          </a:prstGeom>
        </p:spPr>
      </p:pic>
      <p:pic>
        <p:nvPicPr>
          <p:cNvPr id="31" name="图片 30">
            <a:extLst>
              <a:ext uri="{FF2B5EF4-FFF2-40B4-BE49-F238E27FC236}">
                <a16:creationId xmlns:a16="http://schemas.microsoft.com/office/drawing/2014/main" id="{92AFED5E-C96C-49EE-B59F-5608DEDEE1D7}"/>
              </a:ext>
            </a:extLst>
          </p:cNvPr>
          <p:cNvPicPr>
            <a:picLocks noChangeAspect="1"/>
          </p:cNvPicPr>
          <p:nvPr/>
        </p:nvPicPr>
        <p:blipFill>
          <a:blip r:embed="rId4"/>
          <a:stretch>
            <a:fillRect/>
          </a:stretch>
        </p:blipFill>
        <p:spPr>
          <a:xfrm>
            <a:off x="8865870" y="3508375"/>
            <a:ext cx="2392680" cy="2787650"/>
          </a:xfrm>
          <a:prstGeom prst="rect">
            <a:avLst/>
          </a:prstGeom>
        </p:spPr>
      </p:pic>
      <p:sp>
        <p:nvSpPr>
          <p:cNvPr id="32" name="文本框 31">
            <a:extLst>
              <a:ext uri="{FF2B5EF4-FFF2-40B4-BE49-F238E27FC236}">
                <a16:creationId xmlns:a16="http://schemas.microsoft.com/office/drawing/2014/main" id="{063A900A-77E7-8B8C-6F6F-8D7E2FD437DB}"/>
              </a:ext>
            </a:extLst>
          </p:cNvPr>
          <p:cNvSpPr txBox="1"/>
          <p:nvPr/>
        </p:nvSpPr>
        <p:spPr>
          <a:xfrm>
            <a:off x="6181725" y="2477845"/>
            <a:ext cx="3182620" cy="645160"/>
          </a:xfrm>
          <a:prstGeom prst="rect">
            <a:avLst/>
          </a:prstGeom>
          <a:noFill/>
        </p:spPr>
        <p:txBody>
          <a:bodyPr wrap="square" rtlCol="0">
            <a:spAutoFit/>
          </a:bodyPr>
          <a:lstStyle/>
          <a:p>
            <a:r>
              <a:rPr lang="zh-CN" altLang="en-US" dirty="0"/>
              <a:t>上述每个组合最终结果都可能</a:t>
            </a:r>
          </a:p>
          <a:p>
            <a:r>
              <a:rPr lang="zh-CN" altLang="en-US" dirty="0">
                <a:solidFill>
                  <a:schemeClr val="bg1"/>
                </a:solidFill>
              </a:rPr>
              <a:t>有两个，即True或False：</a:t>
            </a:r>
          </a:p>
        </p:txBody>
      </p:sp>
      <p:sp>
        <p:nvSpPr>
          <p:cNvPr id="33" name="左箭头 62">
            <a:extLst>
              <a:ext uri="{FF2B5EF4-FFF2-40B4-BE49-F238E27FC236}">
                <a16:creationId xmlns:a16="http://schemas.microsoft.com/office/drawing/2014/main" id="{923C5D05-DDAC-1300-4522-61C67DE2C76E}"/>
              </a:ext>
            </a:extLst>
          </p:cNvPr>
          <p:cNvSpPr/>
          <p:nvPr/>
        </p:nvSpPr>
        <p:spPr>
          <a:xfrm>
            <a:off x="6897370" y="5635625"/>
            <a:ext cx="1824990" cy="619125"/>
          </a:xfrm>
          <a:prstGeom prst="leftArrow">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954CA434-335A-6DC6-1DB2-BB28713C37EC}"/>
              </a:ext>
            </a:extLst>
          </p:cNvPr>
          <p:cNvSpPr txBox="1"/>
          <p:nvPr/>
        </p:nvSpPr>
        <p:spPr>
          <a:xfrm>
            <a:off x="4426585" y="5794375"/>
            <a:ext cx="2327275" cy="460375"/>
          </a:xfrm>
          <a:prstGeom prst="rect">
            <a:avLst/>
          </a:prstGeom>
          <a:noFill/>
        </p:spPr>
        <p:txBody>
          <a:bodyPr wrap="square" rtlCol="0">
            <a:spAutoFit/>
          </a:bodyPr>
          <a:lstStyle/>
          <a:p>
            <a:r>
              <a:rPr lang="zh-CN" altLang="en-US" sz="2400">
                <a:solidFill>
                  <a:schemeClr val="bg1"/>
                </a:solidFill>
              </a:rPr>
              <a:t>是假设空间吗？</a:t>
            </a:r>
          </a:p>
        </p:txBody>
      </p:sp>
      <p:sp>
        <p:nvSpPr>
          <p:cNvPr id="36" name="文本框 35">
            <a:extLst>
              <a:ext uri="{FF2B5EF4-FFF2-40B4-BE49-F238E27FC236}">
                <a16:creationId xmlns:a16="http://schemas.microsoft.com/office/drawing/2014/main" id="{FFE57D4D-1272-4AD1-A4D7-F6BA9A85AE00}"/>
              </a:ext>
            </a:extLst>
          </p:cNvPr>
          <p:cNvSpPr txBox="1"/>
          <p:nvPr/>
        </p:nvSpPr>
        <p:spPr>
          <a:xfrm>
            <a:off x="138430" y="5059997"/>
            <a:ext cx="4359912" cy="922020"/>
          </a:xfrm>
          <a:prstGeom prst="rect">
            <a:avLst/>
          </a:prstGeom>
          <a:noFill/>
        </p:spPr>
        <p:txBody>
          <a:bodyPr wrap="square" rtlCol="0">
            <a:spAutoFit/>
          </a:bodyPr>
          <a:lstStyle/>
          <a:p>
            <a:r>
              <a:rPr lang="zh-CN" altLang="en-US" dirty="0">
                <a:sym typeface="+mn-ea"/>
              </a:rPr>
              <a:t>针对每一种可能的输入，都能找到一个映射，对应了输出空间中某个输出。</a:t>
            </a:r>
            <a:endParaRPr lang="zh-CN" altLang="en-US" dirty="0"/>
          </a:p>
          <a:p>
            <a:endParaRPr lang="zh-CN" altLang="en-US" dirty="0">
              <a:solidFill>
                <a:schemeClr val="bg1"/>
              </a:solidFill>
            </a:endParaRPr>
          </a:p>
        </p:txBody>
      </p:sp>
      <p:pic>
        <p:nvPicPr>
          <p:cNvPr id="37" name="图片 36">
            <a:extLst>
              <a:ext uri="{FF2B5EF4-FFF2-40B4-BE49-F238E27FC236}">
                <a16:creationId xmlns:a16="http://schemas.microsoft.com/office/drawing/2014/main" id="{EF3B7DB0-59AF-B0FC-D761-A2766C610957}"/>
              </a:ext>
            </a:extLst>
          </p:cNvPr>
          <p:cNvPicPr>
            <a:picLocks noChangeAspect="1"/>
          </p:cNvPicPr>
          <p:nvPr/>
        </p:nvPicPr>
        <p:blipFill>
          <a:blip r:embed="rId5"/>
          <a:stretch>
            <a:fillRect/>
          </a:stretch>
        </p:blipFill>
        <p:spPr>
          <a:xfrm>
            <a:off x="5589905" y="3231515"/>
            <a:ext cx="2675890" cy="3294380"/>
          </a:xfrm>
          <a:prstGeom prst="rect">
            <a:avLst/>
          </a:prstGeom>
        </p:spPr>
      </p:pic>
      <p:sp>
        <p:nvSpPr>
          <p:cNvPr id="38" name="圆角矩形 74">
            <a:extLst>
              <a:ext uri="{FF2B5EF4-FFF2-40B4-BE49-F238E27FC236}">
                <a16:creationId xmlns:a16="http://schemas.microsoft.com/office/drawing/2014/main" id="{B6B4FB0C-63EC-487F-1803-C644643CD086}"/>
              </a:ext>
            </a:extLst>
          </p:cNvPr>
          <p:cNvSpPr/>
          <p:nvPr/>
        </p:nvSpPr>
        <p:spPr>
          <a:xfrm>
            <a:off x="5086985" y="3231515"/>
            <a:ext cx="3682365" cy="570865"/>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76BEFB59-74B0-5314-CA74-16194D4637C2}"/>
              </a:ext>
            </a:extLst>
          </p:cNvPr>
          <p:cNvPicPr>
            <a:picLocks noChangeAspect="1"/>
          </p:cNvPicPr>
          <p:nvPr/>
        </p:nvPicPr>
        <p:blipFill>
          <a:blip r:embed="rId6"/>
          <a:srcRect t="8192" b="84348"/>
          <a:stretch>
            <a:fillRect/>
          </a:stretch>
        </p:blipFill>
        <p:spPr>
          <a:xfrm>
            <a:off x="8865870" y="3501390"/>
            <a:ext cx="2550795" cy="245745"/>
          </a:xfrm>
          <a:prstGeom prst="rect">
            <a:avLst/>
          </a:prstGeom>
        </p:spPr>
      </p:pic>
      <p:pic>
        <p:nvPicPr>
          <p:cNvPr id="40" name="图片 39">
            <a:extLst>
              <a:ext uri="{FF2B5EF4-FFF2-40B4-BE49-F238E27FC236}">
                <a16:creationId xmlns:a16="http://schemas.microsoft.com/office/drawing/2014/main" id="{48EF2400-F293-DF5D-2709-72DF2047CF2B}"/>
              </a:ext>
            </a:extLst>
          </p:cNvPr>
          <p:cNvPicPr>
            <a:picLocks noChangeAspect="1"/>
          </p:cNvPicPr>
          <p:nvPr/>
        </p:nvPicPr>
        <p:blipFill>
          <a:blip r:embed="rId6"/>
          <a:srcRect t="91095"/>
          <a:stretch>
            <a:fillRect/>
          </a:stretch>
        </p:blipFill>
        <p:spPr>
          <a:xfrm>
            <a:off x="8865870" y="6232525"/>
            <a:ext cx="2550795" cy="293370"/>
          </a:xfrm>
          <a:prstGeom prst="rect">
            <a:avLst/>
          </a:prstGeom>
        </p:spPr>
      </p:pic>
      <p:pic>
        <p:nvPicPr>
          <p:cNvPr id="41" name="图片 40">
            <a:extLst>
              <a:ext uri="{FF2B5EF4-FFF2-40B4-BE49-F238E27FC236}">
                <a16:creationId xmlns:a16="http://schemas.microsoft.com/office/drawing/2014/main" id="{9962C019-60A5-46AE-C51B-B715064DBEBA}"/>
              </a:ext>
            </a:extLst>
          </p:cNvPr>
          <p:cNvPicPr>
            <a:picLocks noChangeAspect="1"/>
          </p:cNvPicPr>
          <p:nvPr/>
        </p:nvPicPr>
        <p:blipFill>
          <a:blip r:embed="rId6"/>
          <a:srcRect t="24089" b="59712"/>
          <a:stretch>
            <a:fillRect/>
          </a:stretch>
        </p:blipFill>
        <p:spPr>
          <a:xfrm>
            <a:off x="8865870" y="4024630"/>
            <a:ext cx="2550160" cy="550545"/>
          </a:xfrm>
          <a:prstGeom prst="rect">
            <a:avLst/>
          </a:prstGeom>
        </p:spPr>
      </p:pic>
      <p:pic>
        <p:nvPicPr>
          <p:cNvPr id="42" name="图片 41">
            <a:extLst>
              <a:ext uri="{FF2B5EF4-FFF2-40B4-BE49-F238E27FC236}">
                <a16:creationId xmlns:a16="http://schemas.microsoft.com/office/drawing/2014/main" id="{7E53E921-CD9A-3C19-03E9-333B6242A558}"/>
              </a:ext>
            </a:extLst>
          </p:cNvPr>
          <p:cNvPicPr>
            <a:picLocks noChangeAspect="1"/>
          </p:cNvPicPr>
          <p:nvPr/>
        </p:nvPicPr>
        <p:blipFill>
          <a:blip r:embed="rId6"/>
          <a:srcRect t="56410" b="25545"/>
          <a:stretch>
            <a:fillRect/>
          </a:stretch>
        </p:blipFill>
        <p:spPr>
          <a:xfrm>
            <a:off x="8865870" y="5089525"/>
            <a:ext cx="2550795" cy="594360"/>
          </a:xfrm>
          <a:prstGeom prst="rect">
            <a:avLst/>
          </a:prstGeom>
        </p:spPr>
      </p:pic>
      <p:sp>
        <p:nvSpPr>
          <p:cNvPr id="43" name="右箭头 82">
            <a:extLst>
              <a:ext uri="{FF2B5EF4-FFF2-40B4-BE49-F238E27FC236}">
                <a16:creationId xmlns:a16="http://schemas.microsoft.com/office/drawing/2014/main" id="{780BDD40-0043-452C-33B9-6E0E20023661}"/>
              </a:ext>
            </a:extLst>
          </p:cNvPr>
          <p:cNvSpPr/>
          <p:nvPr/>
        </p:nvSpPr>
        <p:spPr>
          <a:xfrm>
            <a:off x="8356600" y="4806950"/>
            <a:ext cx="396875" cy="28194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83">
            <a:extLst>
              <a:ext uri="{FF2B5EF4-FFF2-40B4-BE49-F238E27FC236}">
                <a16:creationId xmlns:a16="http://schemas.microsoft.com/office/drawing/2014/main" id="{E3836288-5B1D-F91A-9A55-E7DC54533CB9}"/>
              </a:ext>
            </a:extLst>
          </p:cNvPr>
          <p:cNvSpPr/>
          <p:nvPr/>
        </p:nvSpPr>
        <p:spPr>
          <a:xfrm>
            <a:off x="8769350" y="3120390"/>
            <a:ext cx="2770505" cy="3689985"/>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562E8790-6E73-278C-55C2-FE792FFAFE74}"/>
              </a:ext>
            </a:extLst>
          </p:cNvPr>
          <p:cNvSpPr txBox="1"/>
          <p:nvPr/>
        </p:nvSpPr>
        <p:spPr>
          <a:xfrm>
            <a:off x="9296400" y="4694555"/>
            <a:ext cx="2243455" cy="398780"/>
          </a:xfrm>
          <a:prstGeom prst="rect">
            <a:avLst/>
          </a:prstGeom>
          <a:noFill/>
        </p:spPr>
        <p:txBody>
          <a:bodyPr wrap="square" rtlCol="0">
            <a:spAutoFit/>
          </a:bodyPr>
          <a:lstStyle/>
          <a:p>
            <a:r>
              <a:rPr lang="zh-CN" altLang="en-US" sz="2000" b="1">
                <a:solidFill>
                  <a:srgbClr val="FF0000"/>
                </a:solidFill>
              </a:rPr>
              <a:t>一个假设 </a:t>
            </a:r>
            <a:r>
              <a:rPr lang="en-US" altLang="zh-CN" sz="2000" b="1">
                <a:solidFill>
                  <a:srgbClr val="FF0000"/>
                </a:solidFill>
              </a:rPr>
              <a:t>h1</a:t>
            </a:r>
          </a:p>
        </p:txBody>
      </p:sp>
      <p:sp>
        <p:nvSpPr>
          <p:cNvPr id="46" name="矩形 45">
            <a:extLst>
              <a:ext uri="{FF2B5EF4-FFF2-40B4-BE49-F238E27FC236}">
                <a16:creationId xmlns:a16="http://schemas.microsoft.com/office/drawing/2014/main" id="{1955CC62-F0CD-0105-4CEA-DEBDFD15775C}"/>
              </a:ext>
            </a:extLst>
          </p:cNvPr>
          <p:cNvSpPr/>
          <p:nvPr/>
        </p:nvSpPr>
        <p:spPr>
          <a:xfrm>
            <a:off x="4712337" y="3055433"/>
            <a:ext cx="6921500" cy="3846195"/>
          </a:xfrm>
          <a:prstGeom prst="rect">
            <a:avLst/>
          </a:prstGeom>
          <a:solidFill>
            <a:srgbClr val="191F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a:extLst>
              <a:ext uri="{FF2B5EF4-FFF2-40B4-BE49-F238E27FC236}">
                <a16:creationId xmlns:a16="http://schemas.microsoft.com/office/drawing/2014/main" id="{4C343736-5FC7-190D-EC69-E276421C67B6}"/>
              </a:ext>
            </a:extLst>
          </p:cNvPr>
          <p:cNvPicPr>
            <a:picLocks noChangeAspect="1"/>
          </p:cNvPicPr>
          <p:nvPr/>
        </p:nvPicPr>
        <p:blipFill>
          <a:blip r:embed="rId7"/>
          <a:stretch>
            <a:fillRect/>
          </a:stretch>
        </p:blipFill>
        <p:spPr>
          <a:xfrm>
            <a:off x="4916170" y="4025265"/>
            <a:ext cx="1981200" cy="1610995"/>
          </a:xfrm>
          <a:prstGeom prst="rect">
            <a:avLst/>
          </a:prstGeom>
        </p:spPr>
      </p:pic>
      <p:pic>
        <p:nvPicPr>
          <p:cNvPr id="48" name="图片 47">
            <a:extLst>
              <a:ext uri="{FF2B5EF4-FFF2-40B4-BE49-F238E27FC236}">
                <a16:creationId xmlns:a16="http://schemas.microsoft.com/office/drawing/2014/main" id="{4D56C7B5-5546-86E8-69D5-339B5A4B952B}"/>
              </a:ext>
            </a:extLst>
          </p:cNvPr>
          <p:cNvPicPr>
            <a:picLocks noChangeAspect="1"/>
          </p:cNvPicPr>
          <p:nvPr/>
        </p:nvPicPr>
        <p:blipFill>
          <a:blip r:embed="rId8"/>
          <a:stretch>
            <a:fillRect/>
          </a:stretch>
        </p:blipFill>
        <p:spPr>
          <a:xfrm>
            <a:off x="7581265" y="3611880"/>
            <a:ext cx="1863725" cy="638810"/>
          </a:xfrm>
          <a:prstGeom prst="rect">
            <a:avLst/>
          </a:prstGeom>
        </p:spPr>
      </p:pic>
      <p:cxnSp>
        <p:nvCxnSpPr>
          <p:cNvPr id="49" name="直接箭头连接符 48">
            <a:extLst>
              <a:ext uri="{FF2B5EF4-FFF2-40B4-BE49-F238E27FC236}">
                <a16:creationId xmlns:a16="http://schemas.microsoft.com/office/drawing/2014/main" id="{770DDEC4-9D9B-320D-077A-0CEBC8E1380D}"/>
              </a:ext>
            </a:extLst>
          </p:cNvPr>
          <p:cNvCxnSpPr/>
          <p:nvPr/>
        </p:nvCxnSpPr>
        <p:spPr>
          <a:xfrm flipV="1">
            <a:off x="6875145" y="3847465"/>
            <a:ext cx="648970" cy="327660"/>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EAF88B2A-278F-57D8-5A7F-C75440C46F07}"/>
              </a:ext>
            </a:extLst>
          </p:cNvPr>
          <p:cNvCxnSpPr/>
          <p:nvPr/>
        </p:nvCxnSpPr>
        <p:spPr>
          <a:xfrm flipV="1">
            <a:off x="6875145" y="4083685"/>
            <a:ext cx="706120" cy="91440"/>
          </a:xfrm>
          <a:prstGeom prst="straightConnector1">
            <a:avLst/>
          </a:prstGeom>
          <a:ln w="28575">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4C7518D2-8D42-99AB-41FF-CF3988015B17}"/>
              </a:ext>
            </a:extLst>
          </p:cNvPr>
          <p:cNvSpPr txBox="1"/>
          <p:nvPr/>
        </p:nvSpPr>
        <p:spPr>
          <a:xfrm>
            <a:off x="9937750" y="3747135"/>
            <a:ext cx="120650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52" name="文本框 51">
            <a:extLst>
              <a:ext uri="{FF2B5EF4-FFF2-40B4-BE49-F238E27FC236}">
                <a16:creationId xmlns:a16="http://schemas.microsoft.com/office/drawing/2014/main" id="{D32180D6-A6D7-861B-F90D-4F6E4A20D77F}"/>
              </a:ext>
            </a:extLst>
          </p:cNvPr>
          <p:cNvSpPr txBox="1"/>
          <p:nvPr/>
        </p:nvSpPr>
        <p:spPr>
          <a:xfrm>
            <a:off x="5498465" y="3140075"/>
            <a:ext cx="4683125" cy="368300"/>
          </a:xfrm>
          <a:prstGeom prst="rect">
            <a:avLst/>
          </a:prstGeom>
          <a:noFill/>
        </p:spPr>
        <p:txBody>
          <a:bodyPr wrap="square" rtlCol="0">
            <a:spAutoFit/>
          </a:bodyPr>
          <a:lstStyle/>
          <a:p>
            <a:r>
              <a:rPr lang="zh-CN" altLang="en-US">
                <a:solidFill>
                  <a:schemeClr val="bg1"/>
                </a:solidFill>
              </a:rPr>
              <a:t>算一下总共可能出现的假设h</a:t>
            </a:r>
            <a:r>
              <a:rPr lang="en-US" altLang="zh-CN">
                <a:solidFill>
                  <a:schemeClr val="bg1"/>
                </a:solidFill>
              </a:rPr>
              <a:t>i</a:t>
            </a:r>
            <a:r>
              <a:rPr lang="zh-CN" altLang="en-US">
                <a:solidFill>
                  <a:schemeClr val="bg1"/>
                </a:solidFill>
              </a:rPr>
              <a:t>个数：</a:t>
            </a:r>
          </a:p>
        </p:txBody>
      </p:sp>
      <p:cxnSp>
        <p:nvCxnSpPr>
          <p:cNvPr id="53" name="直接箭头连接符 52">
            <a:extLst>
              <a:ext uri="{FF2B5EF4-FFF2-40B4-BE49-F238E27FC236}">
                <a16:creationId xmlns:a16="http://schemas.microsoft.com/office/drawing/2014/main" id="{859AAE7D-7931-EE8A-8DC0-472C95A92680}"/>
              </a:ext>
            </a:extLst>
          </p:cNvPr>
          <p:cNvCxnSpPr/>
          <p:nvPr/>
        </p:nvCxnSpPr>
        <p:spPr>
          <a:xfrm flipV="1">
            <a:off x="6875145" y="4438650"/>
            <a:ext cx="2666365" cy="15875"/>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3FC4DEAB-B1A9-3148-3116-4D2D1E4D5BAD}"/>
              </a:ext>
            </a:extLst>
          </p:cNvPr>
          <p:cNvCxnSpPr/>
          <p:nvPr/>
        </p:nvCxnSpPr>
        <p:spPr>
          <a:xfrm flipV="1">
            <a:off x="6875145" y="4678680"/>
            <a:ext cx="2666365" cy="15875"/>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04DB7D8C-DF92-66A7-E1C4-3AA75175C023}"/>
              </a:ext>
            </a:extLst>
          </p:cNvPr>
          <p:cNvCxnSpPr/>
          <p:nvPr/>
        </p:nvCxnSpPr>
        <p:spPr>
          <a:xfrm flipV="1">
            <a:off x="6875145" y="4957445"/>
            <a:ext cx="2666365" cy="15875"/>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0D2ADF8E-7058-733C-CC14-F3291FACEFCE}"/>
              </a:ext>
            </a:extLst>
          </p:cNvPr>
          <p:cNvCxnSpPr/>
          <p:nvPr/>
        </p:nvCxnSpPr>
        <p:spPr>
          <a:xfrm flipV="1">
            <a:off x="6889750" y="5222240"/>
            <a:ext cx="2666365" cy="15875"/>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6A34ADE4-1A8A-E4BA-DCAA-1CB0B2D66B53}"/>
              </a:ext>
            </a:extLst>
          </p:cNvPr>
          <p:cNvCxnSpPr/>
          <p:nvPr/>
        </p:nvCxnSpPr>
        <p:spPr>
          <a:xfrm flipV="1">
            <a:off x="6897370" y="5493385"/>
            <a:ext cx="2666365" cy="15875"/>
          </a:xfrm>
          <a:prstGeom prst="straightConnector1">
            <a:avLst/>
          </a:prstGeom>
          <a:ln w="25400">
            <a:solidFill>
              <a:schemeClr val="bg1"/>
            </a:solidFill>
            <a:tailEnd type="arrow"/>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1E484FAB-5717-D566-3106-6DB6073C646C}"/>
              </a:ext>
            </a:extLst>
          </p:cNvPr>
          <p:cNvSpPr txBox="1"/>
          <p:nvPr/>
        </p:nvSpPr>
        <p:spPr>
          <a:xfrm>
            <a:off x="9937750" y="4116070"/>
            <a:ext cx="103251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59" name="文本框 58">
            <a:extLst>
              <a:ext uri="{FF2B5EF4-FFF2-40B4-BE49-F238E27FC236}">
                <a16:creationId xmlns:a16="http://schemas.microsoft.com/office/drawing/2014/main" id="{C31C2CA5-DA56-4E6F-A353-CF421B136F3B}"/>
              </a:ext>
            </a:extLst>
          </p:cNvPr>
          <p:cNvSpPr txBox="1"/>
          <p:nvPr/>
        </p:nvSpPr>
        <p:spPr>
          <a:xfrm>
            <a:off x="9937750" y="5315585"/>
            <a:ext cx="120650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60" name="文本框 59">
            <a:extLst>
              <a:ext uri="{FF2B5EF4-FFF2-40B4-BE49-F238E27FC236}">
                <a16:creationId xmlns:a16="http://schemas.microsoft.com/office/drawing/2014/main" id="{F9915DE2-48AD-B26E-E55D-05863C8EE2FA}"/>
              </a:ext>
            </a:extLst>
          </p:cNvPr>
          <p:cNvSpPr txBox="1"/>
          <p:nvPr/>
        </p:nvSpPr>
        <p:spPr>
          <a:xfrm>
            <a:off x="9937750" y="4973320"/>
            <a:ext cx="120650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61" name="文本框 60">
            <a:extLst>
              <a:ext uri="{FF2B5EF4-FFF2-40B4-BE49-F238E27FC236}">
                <a16:creationId xmlns:a16="http://schemas.microsoft.com/office/drawing/2014/main" id="{A68D57E2-F9B5-D3F7-BC15-3A9FBA7AC112}"/>
              </a:ext>
            </a:extLst>
          </p:cNvPr>
          <p:cNvSpPr txBox="1"/>
          <p:nvPr/>
        </p:nvSpPr>
        <p:spPr>
          <a:xfrm>
            <a:off x="9937750" y="4438650"/>
            <a:ext cx="120650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62" name="文本框 61">
            <a:extLst>
              <a:ext uri="{FF2B5EF4-FFF2-40B4-BE49-F238E27FC236}">
                <a16:creationId xmlns:a16="http://schemas.microsoft.com/office/drawing/2014/main" id="{65855707-28B8-862B-AE0D-2E8124E8CC11}"/>
              </a:ext>
            </a:extLst>
          </p:cNvPr>
          <p:cNvSpPr txBox="1"/>
          <p:nvPr/>
        </p:nvSpPr>
        <p:spPr>
          <a:xfrm>
            <a:off x="9937750" y="4694555"/>
            <a:ext cx="1206500" cy="368300"/>
          </a:xfrm>
          <a:prstGeom prst="rect">
            <a:avLst/>
          </a:prstGeom>
          <a:noFill/>
        </p:spPr>
        <p:txBody>
          <a:bodyPr wrap="square" rtlCol="0">
            <a:spAutoFit/>
          </a:bodyPr>
          <a:lstStyle/>
          <a:p>
            <a:r>
              <a:rPr lang="en-US" altLang="zh-CN">
                <a:solidFill>
                  <a:schemeClr val="bg1"/>
                </a:solidFill>
              </a:rPr>
              <a:t>2</a:t>
            </a:r>
            <a:r>
              <a:rPr lang="zh-CN" altLang="en-US">
                <a:solidFill>
                  <a:schemeClr val="bg1"/>
                </a:solidFill>
              </a:rPr>
              <a:t>种取法</a:t>
            </a:r>
          </a:p>
        </p:txBody>
      </p:sp>
      <p:sp>
        <p:nvSpPr>
          <p:cNvPr id="63" name="文本框 62">
            <a:extLst>
              <a:ext uri="{FF2B5EF4-FFF2-40B4-BE49-F238E27FC236}">
                <a16:creationId xmlns:a16="http://schemas.microsoft.com/office/drawing/2014/main" id="{657F05FC-292C-68AE-7C38-65B2EE3AB9CE}"/>
              </a:ext>
            </a:extLst>
          </p:cNvPr>
          <p:cNvSpPr txBox="1"/>
          <p:nvPr/>
        </p:nvSpPr>
        <p:spPr>
          <a:xfrm>
            <a:off x="4916170" y="5778476"/>
            <a:ext cx="6556375" cy="368300"/>
          </a:xfrm>
          <a:prstGeom prst="rect">
            <a:avLst/>
          </a:prstGeom>
          <a:noFill/>
        </p:spPr>
        <p:txBody>
          <a:bodyPr wrap="square" rtlCol="0">
            <a:spAutoFit/>
          </a:bodyPr>
          <a:lstStyle/>
          <a:p>
            <a:r>
              <a:rPr lang="zh-CN" altLang="en-US" dirty="0">
                <a:solidFill>
                  <a:schemeClr val="bg1"/>
                </a:solidFill>
              </a:rPr>
              <a:t>总共可能出现的假设hi个数：2x2x2x2x2x2=2</a:t>
            </a:r>
            <a:r>
              <a:rPr lang="en-US" altLang="zh-CN" baseline="30000" dirty="0">
                <a:solidFill>
                  <a:schemeClr val="bg1"/>
                </a:solidFill>
              </a:rPr>
              <a:t>6</a:t>
            </a:r>
            <a:endParaRPr lang="zh-CN" altLang="en-US" baseline="30000" dirty="0">
              <a:solidFill>
                <a:schemeClr val="bg1"/>
              </a:solidFill>
            </a:endParaRPr>
          </a:p>
        </p:txBody>
      </p:sp>
      <p:sp>
        <p:nvSpPr>
          <p:cNvPr id="64" name="文本框 63">
            <a:extLst>
              <a:ext uri="{FF2B5EF4-FFF2-40B4-BE49-F238E27FC236}">
                <a16:creationId xmlns:a16="http://schemas.microsoft.com/office/drawing/2014/main" id="{07D65B83-C421-73D6-04FC-8A91E382F8B4}"/>
              </a:ext>
            </a:extLst>
          </p:cNvPr>
          <p:cNvSpPr txBox="1"/>
          <p:nvPr/>
        </p:nvSpPr>
        <p:spPr>
          <a:xfrm>
            <a:off x="4916170" y="6129020"/>
            <a:ext cx="5143500" cy="368300"/>
          </a:xfrm>
          <a:prstGeom prst="rect">
            <a:avLst/>
          </a:prstGeom>
          <a:noFill/>
        </p:spPr>
        <p:txBody>
          <a:bodyPr wrap="square" rtlCol="0">
            <a:spAutoFit/>
          </a:bodyPr>
          <a:lstStyle/>
          <a:p>
            <a:r>
              <a:rPr lang="zh-CN" altLang="en-US" dirty="0">
                <a:solidFill>
                  <a:schemeClr val="bg1"/>
                </a:solidFill>
              </a:rPr>
              <a:t>通常还会加上一个特殊的全空假设0，即：2</a:t>
            </a:r>
            <a:r>
              <a:rPr lang="en-US" altLang="zh-CN" baseline="30000" dirty="0">
                <a:solidFill>
                  <a:schemeClr val="bg1"/>
                </a:solidFill>
              </a:rPr>
              <a:t>6</a:t>
            </a:r>
            <a:r>
              <a:rPr lang="zh-CN" altLang="en-US" dirty="0">
                <a:solidFill>
                  <a:schemeClr val="bg1"/>
                </a:solidFill>
              </a:rPr>
              <a:t>+1</a:t>
            </a:r>
          </a:p>
        </p:txBody>
      </p:sp>
      <p:sp>
        <p:nvSpPr>
          <p:cNvPr id="65" name="文本框 64">
            <a:extLst>
              <a:ext uri="{FF2B5EF4-FFF2-40B4-BE49-F238E27FC236}">
                <a16:creationId xmlns:a16="http://schemas.microsoft.com/office/drawing/2014/main" id="{0D119DE2-E6A2-E40C-2064-1050D72E8407}"/>
              </a:ext>
            </a:extLst>
          </p:cNvPr>
          <p:cNvSpPr txBox="1"/>
          <p:nvPr/>
        </p:nvSpPr>
        <p:spPr>
          <a:xfrm>
            <a:off x="4916170" y="6479540"/>
            <a:ext cx="5238750" cy="368300"/>
          </a:xfrm>
          <a:prstGeom prst="rect">
            <a:avLst/>
          </a:prstGeom>
          <a:noFill/>
        </p:spPr>
        <p:txBody>
          <a:bodyPr wrap="square" rtlCol="0">
            <a:spAutoFit/>
          </a:bodyPr>
          <a:lstStyle/>
          <a:p>
            <a:r>
              <a:rPr lang="zh-CN" altLang="en-US">
                <a:solidFill>
                  <a:schemeClr val="bg1"/>
                </a:solidFill>
              </a:rPr>
              <a:t>更一般的，假设空间H中的假设个数：</a:t>
            </a:r>
          </a:p>
        </p:txBody>
      </p:sp>
      <p:pic>
        <p:nvPicPr>
          <p:cNvPr id="66" name="图片 65">
            <a:extLst>
              <a:ext uri="{FF2B5EF4-FFF2-40B4-BE49-F238E27FC236}">
                <a16:creationId xmlns:a16="http://schemas.microsoft.com/office/drawing/2014/main" id="{EDF2A6DF-B6BB-85FF-7B46-CC7468A76577}"/>
              </a:ext>
            </a:extLst>
          </p:cNvPr>
          <p:cNvPicPr>
            <a:picLocks noChangeAspect="1"/>
          </p:cNvPicPr>
          <p:nvPr/>
        </p:nvPicPr>
        <p:blipFill>
          <a:blip r:embed="rId9"/>
          <a:stretch>
            <a:fillRect/>
          </a:stretch>
        </p:blipFill>
        <p:spPr>
          <a:xfrm>
            <a:off x="8722360" y="6428740"/>
            <a:ext cx="1283970" cy="419100"/>
          </a:xfrm>
          <a:prstGeom prst="rect">
            <a:avLst/>
          </a:prstGeom>
        </p:spPr>
      </p:pic>
    </p:spTree>
    <p:extLst>
      <p:ext uri="{BB962C8B-B14F-4D97-AF65-F5344CB8AC3E}">
        <p14:creationId xmlns:p14="http://schemas.microsoft.com/office/powerpoint/2010/main" val="2017582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par>
                                <p:cTn id="24" presetID="22" presetClass="entr" presetSubtype="4"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down)">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down)">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down)">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wipe(down)">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down)">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down)">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dow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wipe(down)">
                                      <p:cBhvr>
                                        <p:cTn id="75" dur="500"/>
                                        <p:tgtEl>
                                          <p:spTgt spid="3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wipe(down)">
                                      <p:cBhvr>
                                        <p:cTn id="80" dur="500"/>
                                        <p:tgtEl>
                                          <p:spTgt spid="39"/>
                                        </p:tgtEl>
                                      </p:cBhvr>
                                    </p:animEffect>
                                  </p:childTnLst>
                                </p:cTn>
                              </p:par>
                              <p:par>
                                <p:cTn id="81" presetID="22" presetClass="entr" presetSubtype="4"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down)">
                                      <p:cBhvr>
                                        <p:cTn id="83" dur="500"/>
                                        <p:tgtEl>
                                          <p:spTgt spid="41"/>
                                        </p:tgtEl>
                                      </p:cBhvr>
                                    </p:animEffect>
                                  </p:childTnLst>
                                </p:cTn>
                              </p:par>
                              <p:par>
                                <p:cTn id="84" presetID="22" presetClass="entr" presetSubtype="4" fill="hold"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wipe(down)">
                                      <p:cBhvr>
                                        <p:cTn id="86" dur="500"/>
                                        <p:tgtEl>
                                          <p:spTgt spid="42"/>
                                        </p:tgtEl>
                                      </p:cBhvr>
                                    </p:animEffect>
                                  </p:childTnLst>
                                </p:cTn>
                              </p:par>
                              <p:par>
                                <p:cTn id="87" presetID="22" presetClass="entr" presetSubtype="4" fill="hold" nodeType="withEffect">
                                  <p:stCondLst>
                                    <p:cond delay="0"/>
                                  </p:stCondLst>
                                  <p:childTnLst>
                                    <p:set>
                                      <p:cBhvr>
                                        <p:cTn id="88" dur="1" fill="hold">
                                          <p:stCondLst>
                                            <p:cond delay="0"/>
                                          </p:stCondLst>
                                        </p:cTn>
                                        <p:tgtEl>
                                          <p:spTgt spid="40"/>
                                        </p:tgtEl>
                                        <p:attrNameLst>
                                          <p:attrName>style.visibility</p:attrName>
                                        </p:attrNameLst>
                                      </p:cBhvr>
                                      <p:to>
                                        <p:strVal val="visible"/>
                                      </p:to>
                                    </p:set>
                                    <p:animEffect transition="in" filter="wipe(down)">
                                      <p:cBhvr>
                                        <p:cTn id="89" dur="500"/>
                                        <p:tgtEl>
                                          <p:spTgt spid="40"/>
                                        </p:tgtEl>
                                      </p:cBhvr>
                                    </p:animEffect>
                                  </p:childTnLst>
                                </p:cTn>
                              </p:par>
                              <p:par>
                                <p:cTn id="90" presetID="22" presetClass="entr" presetSubtype="4"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wipe(down)">
                                      <p:cBhvr>
                                        <p:cTn id="92" dur="500"/>
                                        <p:tgtEl>
                                          <p:spTgt spid="43"/>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xit" presetSubtype="4" fill="hold" grpId="2" nodeType="clickEffect">
                                  <p:stCondLst>
                                    <p:cond delay="0"/>
                                  </p:stCondLst>
                                  <p:childTnLst>
                                    <p:animEffect transition="out" filter="wipe(down)">
                                      <p:cBhvr>
                                        <p:cTn id="96" dur="500"/>
                                        <p:tgtEl>
                                          <p:spTgt spid="38"/>
                                        </p:tgtEl>
                                      </p:cBhvr>
                                    </p:animEffect>
                                    <p:set>
                                      <p:cBhvr>
                                        <p:cTn id="97" dur="1" fill="hold">
                                          <p:stCondLst>
                                            <p:cond delay="499"/>
                                          </p:stCondLst>
                                        </p:cTn>
                                        <p:tgtEl>
                                          <p:spTgt spid="38"/>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wipe(down)">
                                      <p:cBhvr>
                                        <p:cTn id="102" dur="500"/>
                                        <p:tgtEl>
                                          <p:spTgt spid="4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45"/>
                                        </p:tgtEl>
                                        <p:attrNameLst>
                                          <p:attrName>style.visibility</p:attrName>
                                        </p:attrNameLst>
                                      </p:cBhvr>
                                      <p:to>
                                        <p:strVal val="visible"/>
                                      </p:to>
                                    </p:set>
                                    <p:animEffect transition="in" filter="wipe(down)">
                                      <p:cBhvr>
                                        <p:cTn id="107" dur="500"/>
                                        <p:tgtEl>
                                          <p:spTgt spid="45"/>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6"/>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22" presetClass="entr" presetSubtype="4" fill="hold" grpId="0" nodeType="clickEffect">
                                  <p:stCondLst>
                                    <p:cond delay="0"/>
                                  </p:stCondLst>
                                  <p:childTnLst>
                                    <p:set>
                                      <p:cBhvr>
                                        <p:cTn id="115" dur="1" fill="hold">
                                          <p:stCondLst>
                                            <p:cond delay="0"/>
                                          </p:stCondLst>
                                        </p:cTn>
                                        <p:tgtEl>
                                          <p:spTgt spid="52"/>
                                        </p:tgtEl>
                                        <p:attrNameLst>
                                          <p:attrName>style.visibility</p:attrName>
                                        </p:attrNameLst>
                                      </p:cBhvr>
                                      <p:to>
                                        <p:strVal val="visible"/>
                                      </p:to>
                                    </p:set>
                                    <p:animEffect transition="in" filter="wipe(down)">
                                      <p:cBhvr>
                                        <p:cTn id="116" dur="500"/>
                                        <p:tgtEl>
                                          <p:spTgt spid="5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nodeType="click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wipe(down)">
                                      <p:cBhvr>
                                        <p:cTn id="121" dur="500"/>
                                        <p:tgtEl>
                                          <p:spTgt spid="47"/>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nodeType="clickEffect">
                                  <p:stCondLst>
                                    <p:cond delay="0"/>
                                  </p:stCondLst>
                                  <p:childTnLst>
                                    <p:set>
                                      <p:cBhvr>
                                        <p:cTn id="125" dur="1" fill="hold">
                                          <p:stCondLst>
                                            <p:cond delay="0"/>
                                          </p:stCondLst>
                                        </p:cTn>
                                        <p:tgtEl>
                                          <p:spTgt spid="49"/>
                                        </p:tgtEl>
                                        <p:attrNameLst>
                                          <p:attrName>style.visibility</p:attrName>
                                        </p:attrNameLst>
                                      </p:cBhvr>
                                      <p:to>
                                        <p:strVal val="visible"/>
                                      </p:to>
                                    </p:set>
                                    <p:animEffect transition="in" filter="wipe(down)">
                                      <p:cBhvr>
                                        <p:cTn id="126" dur="500"/>
                                        <p:tgtEl>
                                          <p:spTgt spid="49"/>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4" fill="hold" nodeType="clickEffect">
                                  <p:stCondLst>
                                    <p:cond delay="0"/>
                                  </p:stCondLst>
                                  <p:childTnLst>
                                    <p:set>
                                      <p:cBhvr>
                                        <p:cTn id="130" dur="1" fill="hold">
                                          <p:stCondLst>
                                            <p:cond delay="0"/>
                                          </p:stCondLst>
                                        </p:cTn>
                                        <p:tgtEl>
                                          <p:spTgt spid="50"/>
                                        </p:tgtEl>
                                        <p:attrNameLst>
                                          <p:attrName>style.visibility</p:attrName>
                                        </p:attrNameLst>
                                      </p:cBhvr>
                                      <p:to>
                                        <p:strVal val="visible"/>
                                      </p:to>
                                    </p:set>
                                    <p:animEffect transition="in" filter="wipe(down)">
                                      <p:cBhvr>
                                        <p:cTn id="131" dur="500"/>
                                        <p:tgtEl>
                                          <p:spTgt spid="50"/>
                                        </p:tgtEl>
                                      </p:cBhvr>
                                    </p:animEffect>
                                  </p:childTnLst>
                                </p:cTn>
                              </p:par>
                            </p:childTnLst>
                          </p:cTn>
                        </p:par>
                      </p:childTnLst>
                    </p:cTn>
                  </p:par>
                  <p:par>
                    <p:cTn id="132" fill="hold">
                      <p:stCondLst>
                        <p:cond delay="indefinite"/>
                      </p:stCondLst>
                      <p:childTnLst>
                        <p:par>
                          <p:cTn id="133" fill="hold">
                            <p:stCondLst>
                              <p:cond delay="0"/>
                            </p:stCondLst>
                            <p:childTnLst>
                              <p:par>
                                <p:cTn id="134" presetID="22" presetClass="entr" presetSubtype="4" fill="hold" nodeType="clickEffect">
                                  <p:stCondLst>
                                    <p:cond delay="0"/>
                                  </p:stCondLst>
                                  <p:childTnLst>
                                    <p:set>
                                      <p:cBhvr>
                                        <p:cTn id="135" dur="1" fill="hold">
                                          <p:stCondLst>
                                            <p:cond delay="0"/>
                                          </p:stCondLst>
                                        </p:cTn>
                                        <p:tgtEl>
                                          <p:spTgt spid="48"/>
                                        </p:tgtEl>
                                        <p:attrNameLst>
                                          <p:attrName>style.visibility</p:attrName>
                                        </p:attrNameLst>
                                      </p:cBhvr>
                                      <p:to>
                                        <p:strVal val="visible"/>
                                      </p:to>
                                    </p:set>
                                    <p:animEffect transition="in" filter="wipe(down)">
                                      <p:cBhvr>
                                        <p:cTn id="136" dur="500"/>
                                        <p:tgtEl>
                                          <p:spTgt spid="48"/>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4" fill="hold" grpId="0" nodeType="clickEffect">
                                  <p:stCondLst>
                                    <p:cond delay="0"/>
                                  </p:stCondLst>
                                  <p:childTnLst>
                                    <p:set>
                                      <p:cBhvr>
                                        <p:cTn id="140" dur="1" fill="hold">
                                          <p:stCondLst>
                                            <p:cond delay="0"/>
                                          </p:stCondLst>
                                        </p:cTn>
                                        <p:tgtEl>
                                          <p:spTgt spid="51"/>
                                        </p:tgtEl>
                                        <p:attrNameLst>
                                          <p:attrName>style.visibility</p:attrName>
                                        </p:attrNameLst>
                                      </p:cBhvr>
                                      <p:to>
                                        <p:strVal val="visible"/>
                                      </p:to>
                                    </p:set>
                                    <p:animEffect transition="in" filter="wipe(down)">
                                      <p:cBhvr>
                                        <p:cTn id="141" dur="500"/>
                                        <p:tgtEl>
                                          <p:spTgt spid="51"/>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4" fill="hold" nodeType="clickEffect">
                                  <p:stCondLst>
                                    <p:cond delay="0"/>
                                  </p:stCondLst>
                                  <p:childTnLst>
                                    <p:set>
                                      <p:cBhvr>
                                        <p:cTn id="145" dur="1" fill="hold">
                                          <p:stCondLst>
                                            <p:cond delay="0"/>
                                          </p:stCondLst>
                                        </p:cTn>
                                        <p:tgtEl>
                                          <p:spTgt spid="53"/>
                                        </p:tgtEl>
                                        <p:attrNameLst>
                                          <p:attrName>style.visibility</p:attrName>
                                        </p:attrNameLst>
                                      </p:cBhvr>
                                      <p:to>
                                        <p:strVal val="visible"/>
                                      </p:to>
                                    </p:set>
                                    <p:animEffect transition="in" filter="wipe(down)">
                                      <p:cBhvr>
                                        <p:cTn id="146" dur="500"/>
                                        <p:tgtEl>
                                          <p:spTgt spid="53"/>
                                        </p:tgtEl>
                                      </p:cBhvr>
                                    </p:animEffect>
                                  </p:childTnLst>
                                </p:cTn>
                              </p:par>
                              <p:par>
                                <p:cTn id="147" presetID="22" presetClass="entr" presetSubtype="4" fill="hold" grpId="0" nodeType="withEffect">
                                  <p:stCondLst>
                                    <p:cond delay="0"/>
                                  </p:stCondLst>
                                  <p:childTnLst>
                                    <p:set>
                                      <p:cBhvr>
                                        <p:cTn id="148" dur="1" fill="hold">
                                          <p:stCondLst>
                                            <p:cond delay="0"/>
                                          </p:stCondLst>
                                        </p:cTn>
                                        <p:tgtEl>
                                          <p:spTgt spid="58"/>
                                        </p:tgtEl>
                                        <p:attrNameLst>
                                          <p:attrName>style.visibility</p:attrName>
                                        </p:attrNameLst>
                                      </p:cBhvr>
                                      <p:to>
                                        <p:strVal val="visible"/>
                                      </p:to>
                                    </p:set>
                                    <p:animEffect transition="in" filter="wipe(down)">
                                      <p:cBhvr>
                                        <p:cTn id="149" dur="500"/>
                                        <p:tgtEl>
                                          <p:spTgt spid="58"/>
                                        </p:tgtEl>
                                      </p:cBhvr>
                                    </p:animEffect>
                                  </p:childTnLst>
                                </p:cTn>
                              </p:par>
                            </p:childTnLst>
                          </p:cTn>
                        </p:par>
                      </p:childTnLst>
                    </p:cTn>
                  </p:par>
                  <p:par>
                    <p:cTn id="150" fill="hold">
                      <p:stCondLst>
                        <p:cond delay="indefinite"/>
                      </p:stCondLst>
                      <p:childTnLst>
                        <p:par>
                          <p:cTn id="151" fill="hold">
                            <p:stCondLst>
                              <p:cond delay="0"/>
                            </p:stCondLst>
                            <p:childTnLst>
                              <p:par>
                                <p:cTn id="152" presetID="22" presetClass="entr" presetSubtype="4" fill="hold" nodeType="clickEffect">
                                  <p:stCondLst>
                                    <p:cond delay="0"/>
                                  </p:stCondLst>
                                  <p:childTnLst>
                                    <p:set>
                                      <p:cBhvr>
                                        <p:cTn id="153" dur="1" fill="hold">
                                          <p:stCondLst>
                                            <p:cond delay="0"/>
                                          </p:stCondLst>
                                        </p:cTn>
                                        <p:tgtEl>
                                          <p:spTgt spid="54"/>
                                        </p:tgtEl>
                                        <p:attrNameLst>
                                          <p:attrName>style.visibility</p:attrName>
                                        </p:attrNameLst>
                                      </p:cBhvr>
                                      <p:to>
                                        <p:strVal val="visible"/>
                                      </p:to>
                                    </p:set>
                                    <p:animEffect transition="in" filter="wipe(down)">
                                      <p:cBhvr>
                                        <p:cTn id="154" dur="500"/>
                                        <p:tgtEl>
                                          <p:spTgt spid="54"/>
                                        </p:tgtEl>
                                      </p:cBhvr>
                                    </p:animEffect>
                                  </p:childTnLst>
                                </p:cTn>
                              </p:par>
                              <p:par>
                                <p:cTn id="155" presetID="22" presetClass="entr" presetSubtype="4" fill="hold" grpId="0" nodeType="withEffect">
                                  <p:stCondLst>
                                    <p:cond delay="0"/>
                                  </p:stCondLst>
                                  <p:childTnLst>
                                    <p:set>
                                      <p:cBhvr>
                                        <p:cTn id="156" dur="1" fill="hold">
                                          <p:stCondLst>
                                            <p:cond delay="0"/>
                                          </p:stCondLst>
                                        </p:cTn>
                                        <p:tgtEl>
                                          <p:spTgt spid="61"/>
                                        </p:tgtEl>
                                        <p:attrNameLst>
                                          <p:attrName>style.visibility</p:attrName>
                                        </p:attrNameLst>
                                      </p:cBhvr>
                                      <p:to>
                                        <p:strVal val="visible"/>
                                      </p:to>
                                    </p:set>
                                    <p:animEffect transition="in" filter="wipe(down)">
                                      <p:cBhvr>
                                        <p:cTn id="157" dur="500"/>
                                        <p:tgtEl>
                                          <p:spTgt spid="61"/>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4" fill="hold" nodeType="click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wipe(down)">
                                      <p:cBhvr>
                                        <p:cTn id="162" dur="500"/>
                                        <p:tgtEl>
                                          <p:spTgt spid="55"/>
                                        </p:tgtEl>
                                      </p:cBhvr>
                                    </p:animEffect>
                                  </p:childTnLst>
                                </p:cTn>
                              </p:par>
                              <p:par>
                                <p:cTn id="163" presetID="22" presetClass="entr" presetSubtype="4" fill="hold" grpId="0" nodeType="withEffect">
                                  <p:stCondLst>
                                    <p:cond delay="0"/>
                                  </p:stCondLst>
                                  <p:childTnLst>
                                    <p:set>
                                      <p:cBhvr>
                                        <p:cTn id="164" dur="1" fill="hold">
                                          <p:stCondLst>
                                            <p:cond delay="0"/>
                                          </p:stCondLst>
                                        </p:cTn>
                                        <p:tgtEl>
                                          <p:spTgt spid="62"/>
                                        </p:tgtEl>
                                        <p:attrNameLst>
                                          <p:attrName>style.visibility</p:attrName>
                                        </p:attrNameLst>
                                      </p:cBhvr>
                                      <p:to>
                                        <p:strVal val="visible"/>
                                      </p:to>
                                    </p:set>
                                    <p:animEffect transition="in" filter="wipe(down)">
                                      <p:cBhvr>
                                        <p:cTn id="165" dur="500"/>
                                        <p:tgtEl>
                                          <p:spTgt spid="62"/>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4" fill="hold" nodeType="clickEffect">
                                  <p:stCondLst>
                                    <p:cond delay="0"/>
                                  </p:stCondLst>
                                  <p:childTnLst>
                                    <p:set>
                                      <p:cBhvr>
                                        <p:cTn id="169" dur="1" fill="hold">
                                          <p:stCondLst>
                                            <p:cond delay="0"/>
                                          </p:stCondLst>
                                        </p:cTn>
                                        <p:tgtEl>
                                          <p:spTgt spid="56"/>
                                        </p:tgtEl>
                                        <p:attrNameLst>
                                          <p:attrName>style.visibility</p:attrName>
                                        </p:attrNameLst>
                                      </p:cBhvr>
                                      <p:to>
                                        <p:strVal val="visible"/>
                                      </p:to>
                                    </p:set>
                                    <p:animEffect transition="in" filter="wipe(down)">
                                      <p:cBhvr>
                                        <p:cTn id="170" dur="500"/>
                                        <p:tgtEl>
                                          <p:spTgt spid="56"/>
                                        </p:tgtEl>
                                      </p:cBhvr>
                                    </p:animEffect>
                                  </p:childTnLst>
                                </p:cTn>
                              </p:par>
                              <p:par>
                                <p:cTn id="171" presetID="22" presetClass="entr" presetSubtype="4" fill="hold" grpId="0" nodeType="withEffect">
                                  <p:stCondLst>
                                    <p:cond delay="0"/>
                                  </p:stCondLst>
                                  <p:childTnLst>
                                    <p:set>
                                      <p:cBhvr>
                                        <p:cTn id="172" dur="1" fill="hold">
                                          <p:stCondLst>
                                            <p:cond delay="0"/>
                                          </p:stCondLst>
                                        </p:cTn>
                                        <p:tgtEl>
                                          <p:spTgt spid="60"/>
                                        </p:tgtEl>
                                        <p:attrNameLst>
                                          <p:attrName>style.visibility</p:attrName>
                                        </p:attrNameLst>
                                      </p:cBhvr>
                                      <p:to>
                                        <p:strVal val="visible"/>
                                      </p:to>
                                    </p:set>
                                    <p:animEffect transition="in" filter="wipe(down)">
                                      <p:cBhvr>
                                        <p:cTn id="173" dur="500"/>
                                        <p:tgtEl>
                                          <p:spTgt spid="60"/>
                                        </p:tgtEl>
                                      </p:cBhvr>
                                    </p:animEffect>
                                  </p:childTnLst>
                                </p:cTn>
                              </p:par>
                            </p:childTnLst>
                          </p:cTn>
                        </p:par>
                      </p:childTnLst>
                    </p:cTn>
                  </p:par>
                  <p:par>
                    <p:cTn id="174" fill="hold">
                      <p:stCondLst>
                        <p:cond delay="indefinite"/>
                      </p:stCondLst>
                      <p:childTnLst>
                        <p:par>
                          <p:cTn id="175" fill="hold">
                            <p:stCondLst>
                              <p:cond delay="0"/>
                            </p:stCondLst>
                            <p:childTnLst>
                              <p:par>
                                <p:cTn id="176" presetID="22" presetClass="entr" presetSubtype="4" fill="hold" nodeType="clickEffect">
                                  <p:stCondLst>
                                    <p:cond delay="0"/>
                                  </p:stCondLst>
                                  <p:childTnLst>
                                    <p:set>
                                      <p:cBhvr>
                                        <p:cTn id="177" dur="1" fill="hold">
                                          <p:stCondLst>
                                            <p:cond delay="0"/>
                                          </p:stCondLst>
                                        </p:cTn>
                                        <p:tgtEl>
                                          <p:spTgt spid="57"/>
                                        </p:tgtEl>
                                        <p:attrNameLst>
                                          <p:attrName>style.visibility</p:attrName>
                                        </p:attrNameLst>
                                      </p:cBhvr>
                                      <p:to>
                                        <p:strVal val="visible"/>
                                      </p:to>
                                    </p:set>
                                    <p:animEffect transition="in" filter="wipe(down)">
                                      <p:cBhvr>
                                        <p:cTn id="178" dur="500"/>
                                        <p:tgtEl>
                                          <p:spTgt spid="57"/>
                                        </p:tgtEl>
                                      </p:cBhvr>
                                    </p:animEffect>
                                  </p:childTnLst>
                                </p:cTn>
                              </p:par>
                              <p:par>
                                <p:cTn id="179" presetID="22" presetClass="entr" presetSubtype="4" fill="hold" grpId="0" nodeType="withEffect">
                                  <p:stCondLst>
                                    <p:cond delay="0"/>
                                  </p:stCondLst>
                                  <p:childTnLst>
                                    <p:set>
                                      <p:cBhvr>
                                        <p:cTn id="180" dur="1" fill="hold">
                                          <p:stCondLst>
                                            <p:cond delay="0"/>
                                          </p:stCondLst>
                                        </p:cTn>
                                        <p:tgtEl>
                                          <p:spTgt spid="59"/>
                                        </p:tgtEl>
                                        <p:attrNameLst>
                                          <p:attrName>style.visibility</p:attrName>
                                        </p:attrNameLst>
                                      </p:cBhvr>
                                      <p:to>
                                        <p:strVal val="visible"/>
                                      </p:to>
                                    </p:set>
                                    <p:animEffect transition="in" filter="wipe(down)">
                                      <p:cBhvr>
                                        <p:cTn id="181" dur="500"/>
                                        <p:tgtEl>
                                          <p:spTgt spid="59"/>
                                        </p:tgtEl>
                                      </p:cBhvr>
                                    </p:animEffect>
                                  </p:childTnLst>
                                </p:cTn>
                              </p:par>
                            </p:childTnLst>
                          </p:cTn>
                        </p:par>
                      </p:childTnLst>
                    </p:cTn>
                  </p:par>
                  <p:par>
                    <p:cTn id="182" fill="hold">
                      <p:stCondLst>
                        <p:cond delay="indefinite"/>
                      </p:stCondLst>
                      <p:childTnLst>
                        <p:par>
                          <p:cTn id="183" fill="hold">
                            <p:stCondLst>
                              <p:cond delay="0"/>
                            </p:stCondLst>
                            <p:childTnLst>
                              <p:par>
                                <p:cTn id="184" presetID="22" presetClass="entr" presetSubtype="4" fill="hold" grpId="0" nodeType="clickEffect">
                                  <p:stCondLst>
                                    <p:cond delay="0"/>
                                  </p:stCondLst>
                                  <p:childTnLst>
                                    <p:set>
                                      <p:cBhvr>
                                        <p:cTn id="185" dur="1" fill="hold">
                                          <p:stCondLst>
                                            <p:cond delay="0"/>
                                          </p:stCondLst>
                                        </p:cTn>
                                        <p:tgtEl>
                                          <p:spTgt spid="63"/>
                                        </p:tgtEl>
                                        <p:attrNameLst>
                                          <p:attrName>style.visibility</p:attrName>
                                        </p:attrNameLst>
                                      </p:cBhvr>
                                      <p:to>
                                        <p:strVal val="visible"/>
                                      </p:to>
                                    </p:set>
                                    <p:animEffect transition="in" filter="wipe(down)">
                                      <p:cBhvr>
                                        <p:cTn id="186" dur="500"/>
                                        <p:tgtEl>
                                          <p:spTgt spid="63"/>
                                        </p:tgtEl>
                                      </p:cBhvr>
                                    </p:animEffect>
                                  </p:childTnLst>
                                </p:cTn>
                              </p:par>
                            </p:childTnLst>
                          </p:cTn>
                        </p:par>
                      </p:childTnLst>
                    </p:cTn>
                  </p:par>
                  <p:par>
                    <p:cTn id="187" fill="hold">
                      <p:stCondLst>
                        <p:cond delay="indefinite"/>
                      </p:stCondLst>
                      <p:childTnLst>
                        <p:par>
                          <p:cTn id="188" fill="hold">
                            <p:stCondLst>
                              <p:cond delay="0"/>
                            </p:stCondLst>
                            <p:childTnLst>
                              <p:par>
                                <p:cTn id="189" presetID="22" presetClass="entr" presetSubtype="4" fill="hold" grpId="0" nodeType="clickEffect">
                                  <p:stCondLst>
                                    <p:cond delay="0"/>
                                  </p:stCondLst>
                                  <p:childTnLst>
                                    <p:set>
                                      <p:cBhvr>
                                        <p:cTn id="190" dur="1" fill="hold">
                                          <p:stCondLst>
                                            <p:cond delay="0"/>
                                          </p:stCondLst>
                                        </p:cTn>
                                        <p:tgtEl>
                                          <p:spTgt spid="64"/>
                                        </p:tgtEl>
                                        <p:attrNameLst>
                                          <p:attrName>style.visibility</p:attrName>
                                        </p:attrNameLst>
                                      </p:cBhvr>
                                      <p:to>
                                        <p:strVal val="visible"/>
                                      </p:to>
                                    </p:set>
                                    <p:animEffect transition="in" filter="wipe(down)">
                                      <p:cBhvr>
                                        <p:cTn id="191" dur="500"/>
                                        <p:tgtEl>
                                          <p:spTgt spid="64"/>
                                        </p:tgtEl>
                                      </p:cBhvr>
                                    </p:animEffect>
                                  </p:childTnLst>
                                </p:cTn>
                              </p:par>
                            </p:childTnLst>
                          </p:cTn>
                        </p:par>
                      </p:childTnLst>
                    </p:cTn>
                  </p:par>
                  <p:par>
                    <p:cTn id="192" fill="hold">
                      <p:stCondLst>
                        <p:cond delay="indefinite"/>
                      </p:stCondLst>
                      <p:childTnLst>
                        <p:par>
                          <p:cTn id="193" fill="hold">
                            <p:stCondLst>
                              <p:cond delay="0"/>
                            </p:stCondLst>
                            <p:childTnLst>
                              <p:par>
                                <p:cTn id="194" presetID="22" presetClass="entr" presetSubtype="4" fill="hold" nodeType="clickEffect">
                                  <p:stCondLst>
                                    <p:cond delay="0"/>
                                  </p:stCondLst>
                                  <p:childTnLst>
                                    <p:set>
                                      <p:cBhvr>
                                        <p:cTn id="195" dur="1" fill="hold">
                                          <p:stCondLst>
                                            <p:cond delay="0"/>
                                          </p:stCondLst>
                                        </p:cTn>
                                        <p:tgtEl>
                                          <p:spTgt spid="66"/>
                                        </p:tgtEl>
                                        <p:attrNameLst>
                                          <p:attrName>style.visibility</p:attrName>
                                        </p:attrNameLst>
                                      </p:cBhvr>
                                      <p:to>
                                        <p:strVal val="visible"/>
                                      </p:to>
                                    </p:set>
                                    <p:animEffect transition="in" filter="wipe(down)">
                                      <p:cBhvr>
                                        <p:cTn id="196" dur="500"/>
                                        <p:tgtEl>
                                          <p:spTgt spid="66"/>
                                        </p:tgtEl>
                                      </p:cBhvr>
                                    </p:animEffect>
                                  </p:childTnLst>
                                </p:cTn>
                              </p:par>
                              <p:par>
                                <p:cTn id="197" presetID="22" presetClass="entr" presetSubtype="4" fill="hold" grpId="0" nodeType="withEffect">
                                  <p:stCondLst>
                                    <p:cond delay="0"/>
                                  </p:stCondLst>
                                  <p:childTnLst>
                                    <p:set>
                                      <p:cBhvr>
                                        <p:cTn id="198" dur="1" fill="hold">
                                          <p:stCondLst>
                                            <p:cond delay="0"/>
                                          </p:stCondLst>
                                        </p:cTn>
                                        <p:tgtEl>
                                          <p:spTgt spid="65"/>
                                        </p:tgtEl>
                                        <p:attrNameLst>
                                          <p:attrName>style.visibility</p:attrName>
                                        </p:attrNameLst>
                                      </p:cBhvr>
                                      <p:to>
                                        <p:strVal val="visible"/>
                                      </p:to>
                                    </p:set>
                                    <p:animEffect transition="in" filter="wipe(down)">
                                      <p:cBhvr>
                                        <p:cTn id="199"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8" grpId="0"/>
      <p:bldP spid="28" grpId="1"/>
      <p:bldP spid="29" grpId="0"/>
      <p:bldP spid="29" grpId="1"/>
      <p:bldP spid="32" grpId="0"/>
      <p:bldP spid="32" grpId="1"/>
      <p:bldP spid="33" grpId="0" animBg="1"/>
      <p:bldP spid="33" grpId="1" animBg="1"/>
      <p:bldP spid="34" grpId="0"/>
      <p:bldP spid="34" grpId="1"/>
      <p:bldP spid="36" grpId="0"/>
      <p:bldP spid="36" grpId="1"/>
      <p:bldP spid="38" grpId="0" bldLvl="0" animBg="1"/>
      <p:bldP spid="38" grpId="1" animBg="1"/>
      <p:bldP spid="38" grpId="2" animBg="1"/>
      <p:bldP spid="43" grpId="0" animBg="1"/>
      <p:bldP spid="43" grpId="1" animBg="1"/>
      <p:bldP spid="44" grpId="0" bldLvl="0" animBg="1"/>
      <p:bldP spid="44" grpId="1" animBg="1"/>
      <p:bldP spid="45" grpId="0"/>
      <p:bldP spid="45" grpId="1"/>
      <p:bldP spid="46" grpId="0" bldLvl="0" animBg="1"/>
      <p:bldP spid="46" grpId="1" animBg="1"/>
      <p:bldP spid="51" grpId="0"/>
      <p:bldP spid="52" grpId="0"/>
      <p:bldP spid="52" grpId="1"/>
      <p:bldP spid="58" grpId="0"/>
      <p:bldP spid="58" grpId="1"/>
      <p:bldP spid="59" grpId="0"/>
      <p:bldP spid="59" grpId="1"/>
      <p:bldP spid="60" grpId="0"/>
      <p:bldP spid="60" grpId="1"/>
      <p:bldP spid="61" grpId="0"/>
      <p:bldP spid="61" grpId="1"/>
      <p:bldP spid="62" grpId="0"/>
      <p:bldP spid="62" grpId="1"/>
      <p:bldP spid="63" grpId="0"/>
      <p:bldP spid="63" grpId="1"/>
      <p:bldP spid="64" grpId="0"/>
      <p:bldP spid="64" grpId="1"/>
      <p:bldP spid="65" grpId="0"/>
      <p:bldP spid="65"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EECF4-4F09-F381-B006-5513B2529FC8}"/>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91183A00-C77A-D244-731F-60922D54E3EC}"/>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假设空间</a:t>
            </a:r>
          </a:p>
        </p:txBody>
      </p:sp>
      <p:grpSp>
        <p:nvGrpSpPr>
          <p:cNvPr id="4" name="组合 3">
            <a:extLst>
              <a:ext uri="{FF2B5EF4-FFF2-40B4-BE49-F238E27FC236}">
                <a16:creationId xmlns:a16="http://schemas.microsoft.com/office/drawing/2014/main" id="{80513AB4-E75F-B973-D448-DB127FA263E6}"/>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71989D29-E5DC-4A92-ACF5-F9314EBD8BB1}"/>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CCC2431D-6B81-F306-5A3F-270B340BA2F5}"/>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42066E72-3C69-2C4D-D157-D725C77726C8}"/>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BBCEBCAC-F8D1-E80B-FE0B-716E89B22ECE}"/>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8C888175-579D-E8B1-71EF-20C8374C6C93}"/>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5AD8FAC-3F7B-B6C4-E8E7-E92B03A2C34A}"/>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30FEE488-8602-A67F-32FF-9213DEB69F5E}"/>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0C158302-33B7-59C9-CC77-0091A7722D55}"/>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765B1F02-20D1-01D3-05BB-517EBE45157A}"/>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3925A501-CCFB-E9C0-B30C-2DBFAA4634B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C721A536-8A89-C42F-ED1A-533EE4D455A0}"/>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AC5822F-7434-99A9-DDAB-642ECD919C79}"/>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203E25DE-9ABC-3BD0-3FED-B046E69DF5A2}"/>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60EE2245-6BCB-DC00-1709-022C611868CC}"/>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E27DE0F2-51F9-05E0-978A-7E0571344E5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44412088-D4A3-0E4D-0CF5-7D14F6C89EA5}"/>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9360A031-168C-6047-B946-531124F397F4}"/>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D05FCE5D-EF9F-C393-8EE7-B96E021A3C44}"/>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A3654E05-ECDB-EC8D-866C-FA5A0BF0CF81}"/>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6E122BF3-2996-B825-DD0C-244C12319095}"/>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2B5DB031-2447-8528-830A-24DE50C14F0E}"/>
              </a:ext>
            </a:extLst>
          </p:cNvPr>
          <p:cNvSpPr txBox="1"/>
          <p:nvPr/>
        </p:nvSpPr>
        <p:spPr>
          <a:xfrm>
            <a:off x="899659" y="951865"/>
            <a:ext cx="10779125" cy="768350"/>
          </a:xfrm>
          <a:prstGeom prst="rect">
            <a:avLst/>
          </a:prstGeom>
          <a:noFill/>
        </p:spPr>
        <p:txBody>
          <a:bodyPr wrap="square" rtlCol="0">
            <a:spAutoFit/>
          </a:bodyPr>
          <a:lstStyle/>
          <a:p>
            <a:r>
              <a:rPr lang="zh-CN" altLang="en-US" sz="2400" b="1" dirty="0"/>
              <a:t>假设空间（</a:t>
            </a:r>
            <a:r>
              <a:rPr lang="zh-CN" altLang="en-US" sz="2400" b="1" i="1" dirty="0"/>
              <a:t>Hypothesis Space</a:t>
            </a:r>
            <a:r>
              <a:rPr lang="zh-CN" altLang="en-US" sz="2400" b="1" dirty="0"/>
              <a:t>)</a:t>
            </a:r>
            <a:r>
              <a:rPr lang="zh-CN" altLang="en-US" sz="2000" dirty="0"/>
              <a:t>：由输入空间到输出空间的映射的集合，称作假设空间。</a:t>
            </a:r>
          </a:p>
          <a:p>
            <a:endParaRPr lang="zh-CN" altLang="en-US" sz="2000" dirty="0">
              <a:solidFill>
                <a:schemeClr val="bg1"/>
              </a:solidFill>
            </a:endParaRPr>
          </a:p>
        </p:txBody>
      </p:sp>
      <p:sp>
        <p:nvSpPr>
          <p:cNvPr id="26" name="文本框 25">
            <a:extLst>
              <a:ext uri="{FF2B5EF4-FFF2-40B4-BE49-F238E27FC236}">
                <a16:creationId xmlns:a16="http://schemas.microsoft.com/office/drawing/2014/main" id="{67DC15BB-7D31-15DC-4D35-C71F719E3AA5}"/>
              </a:ext>
            </a:extLst>
          </p:cNvPr>
          <p:cNvSpPr txBox="1"/>
          <p:nvPr/>
        </p:nvSpPr>
        <p:spPr>
          <a:xfrm>
            <a:off x="837565" y="2032000"/>
            <a:ext cx="4001135" cy="2030095"/>
          </a:xfrm>
          <a:prstGeom prst="rect">
            <a:avLst/>
          </a:prstGeom>
          <a:noFill/>
        </p:spPr>
        <p:txBody>
          <a:bodyPr wrap="square" rtlCol="0">
            <a:spAutoFit/>
          </a:bodyPr>
          <a:lstStyle/>
          <a:p>
            <a:r>
              <a:rPr lang="zh-CN" altLang="en-US" dirty="0">
                <a:sym typeface="+mn-ea"/>
              </a:rPr>
              <a:t>某商品的浏览、购买记录中，记录了性别、信用度及是否购买，基于数据建模。</a:t>
            </a:r>
            <a:endParaRPr lang="zh-CN" altLang="en-US" dirty="0"/>
          </a:p>
          <a:p>
            <a:r>
              <a:rPr lang="zh-CN" altLang="en-US" dirty="0">
                <a:sym typeface="+mn-ea"/>
              </a:rPr>
              <a:t>其中 Gender 取值为{Female,Male），</a:t>
            </a:r>
            <a:endParaRPr lang="zh-CN" altLang="en-US" dirty="0"/>
          </a:p>
          <a:p>
            <a:r>
              <a:rPr lang="zh-CN" altLang="en-US" dirty="0">
                <a:sym typeface="+mn-ea"/>
              </a:rPr>
              <a:t>Credit 取值为{High,Mediun,Low），</a:t>
            </a:r>
            <a:endParaRPr lang="zh-CN" altLang="en-US" dirty="0"/>
          </a:p>
          <a:p>
            <a:r>
              <a:rPr lang="zh-CN" altLang="en-US" dirty="0">
                <a:sym typeface="+mn-ea"/>
              </a:rPr>
              <a:t>Buy 的取值为{TRUE,FALSE）</a:t>
            </a:r>
            <a:endParaRPr lang="zh-CN" altLang="en-US" dirty="0"/>
          </a:p>
          <a:p>
            <a:endParaRPr lang="zh-CN" altLang="en-US" dirty="0">
              <a:solidFill>
                <a:schemeClr val="bg1"/>
              </a:solidFill>
            </a:endParaRPr>
          </a:p>
        </p:txBody>
      </p:sp>
      <p:pic>
        <p:nvPicPr>
          <p:cNvPr id="27" name="图片 26">
            <a:extLst>
              <a:ext uri="{FF2B5EF4-FFF2-40B4-BE49-F238E27FC236}">
                <a16:creationId xmlns:a16="http://schemas.microsoft.com/office/drawing/2014/main" id="{0C122B73-2C50-F459-8F40-132CFB54651C}"/>
              </a:ext>
            </a:extLst>
          </p:cNvPr>
          <p:cNvPicPr>
            <a:picLocks noChangeAspect="1"/>
          </p:cNvPicPr>
          <p:nvPr/>
        </p:nvPicPr>
        <p:blipFill>
          <a:blip r:embed="rId2"/>
          <a:stretch>
            <a:fillRect/>
          </a:stretch>
        </p:blipFill>
        <p:spPr>
          <a:xfrm>
            <a:off x="1259840" y="3987800"/>
            <a:ext cx="2563495" cy="1234440"/>
          </a:xfrm>
          <a:prstGeom prst="rect">
            <a:avLst/>
          </a:prstGeom>
        </p:spPr>
      </p:pic>
      <p:sp>
        <p:nvSpPr>
          <p:cNvPr id="28" name="文本框 27">
            <a:extLst>
              <a:ext uri="{FF2B5EF4-FFF2-40B4-BE49-F238E27FC236}">
                <a16:creationId xmlns:a16="http://schemas.microsoft.com/office/drawing/2014/main" id="{A64C4375-C66E-6E17-2AB6-4B3626DE60C9}"/>
              </a:ext>
            </a:extLst>
          </p:cNvPr>
          <p:cNvSpPr txBox="1"/>
          <p:nvPr/>
        </p:nvSpPr>
        <p:spPr>
          <a:xfrm>
            <a:off x="5455285" y="2032000"/>
            <a:ext cx="5688965" cy="368300"/>
          </a:xfrm>
          <a:prstGeom prst="rect">
            <a:avLst/>
          </a:prstGeom>
          <a:noFill/>
        </p:spPr>
        <p:txBody>
          <a:bodyPr wrap="square" rtlCol="0">
            <a:spAutoFit/>
          </a:bodyPr>
          <a:lstStyle/>
          <a:p>
            <a:r>
              <a:rPr lang="zh-CN" altLang="en-US" dirty="0"/>
              <a:t>在输入空间和输出空间之间建立映射关系，即假设空间。</a:t>
            </a:r>
          </a:p>
        </p:txBody>
      </p:sp>
      <p:sp>
        <p:nvSpPr>
          <p:cNvPr id="29" name="文本框 28">
            <a:extLst>
              <a:ext uri="{FF2B5EF4-FFF2-40B4-BE49-F238E27FC236}">
                <a16:creationId xmlns:a16="http://schemas.microsoft.com/office/drawing/2014/main" id="{EC98106F-9871-E48E-DA3A-240795F9A326}"/>
              </a:ext>
            </a:extLst>
          </p:cNvPr>
          <p:cNvSpPr txBox="1"/>
          <p:nvPr/>
        </p:nvSpPr>
        <p:spPr>
          <a:xfrm>
            <a:off x="5498465" y="2586355"/>
            <a:ext cx="2858135" cy="922020"/>
          </a:xfrm>
          <a:prstGeom prst="rect">
            <a:avLst/>
          </a:prstGeom>
          <a:noFill/>
        </p:spPr>
        <p:txBody>
          <a:bodyPr wrap="square" rtlCol="0">
            <a:spAutoFit/>
          </a:bodyPr>
          <a:lstStyle/>
          <a:p>
            <a:r>
              <a:rPr lang="zh-CN" altLang="en-US">
                <a:solidFill>
                  <a:schemeClr val="bg1"/>
                </a:solidFill>
              </a:rPr>
              <a:t>输入记录中所有可能出现的值的组合为2×3=6个，列表如下：</a:t>
            </a:r>
          </a:p>
        </p:txBody>
      </p:sp>
      <p:pic>
        <p:nvPicPr>
          <p:cNvPr id="30" name="图片 29">
            <a:extLst>
              <a:ext uri="{FF2B5EF4-FFF2-40B4-BE49-F238E27FC236}">
                <a16:creationId xmlns:a16="http://schemas.microsoft.com/office/drawing/2014/main" id="{000783E0-1C18-258C-0ABE-5A725745E5F8}"/>
              </a:ext>
            </a:extLst>
          </p:cNvPr>
          <p:cNvPicPr>
            <a:picLocks noChangeAspect="1"/>
          </p:cNvPicPr>
          <p:nvPr/>
        </p:nvPicPr>
        <p:blipFill>
          <a:blip r:embed="rId3"/>
          <a:stretch>
            <a:fillRect/>
          </a:stretch>
        </p:blipFill>
        <p:spPr>
          <a:xfrm>
            <a:off x="6087745" y="3876675"/>
            <a:ext cx="1414780" cy="1456055"/>
          </a:xfrm>
          <a:prstGeom prst="rect">
            <a:avLst/>
          </a:prstGeom>
        </p:spPr>
      </p:pic>
      <p:pic>
        <p:nvPicPr>
          <p:cNvPr id="31" name="图片 30">
            <a:extLst>
              <a:ext uri="{FF2B5EF4-FFF2-40B4-BE49-F238E27FC236}">
                <a16:creationId xmlns:a16="http://schemas.microsoft.com/office/drawing/2014/main" id="{143B0850-E448-AC23-1EB2-AE18D5957E01}"/>
              </a:ext>
            </a:extLst>
          </p:cNvPr>
          <p:cNvPicPr>
            <a:picLocks noChangeAspect="1"/>
          </p:cNvPicPr>
          <p:nvPr/>
        </p:nvPicPr>
        <p:blipFill>
          <a:blip r:embed="rId4"/>
          <a:stretch>
            <a:fillRect/>
          </a:stretch>
        </p:blipFill>
        <p:spPr>
          <a:xfrm>
            <a:off x="8865870" y="3508375"/>
            <a:ext cx="2392680" cy="2787650"/>
          </a:xfrm>
          <a:prstGeom prst="rect">
            <a:avLst/>
          </a:prstGeom>
        </p:spPr>
      </p:pic>
      <p:sp>
        <p:nvSpPr>
          <p:cNvPr id="32" name="文本框 31">
            <a:extLst>
              <a:ext uri="{FF2B5EF4-FFF2-40B4-BE49-F238E27FC236}">
                <a16:creationId xmlns:a16="http://schemas.microsoft.com/office/drawing/2014/main" id="{CEE0DF46-4672-5F60-68D0-7E935FA8D9E8}"/>
              </a:ext>
            </a:extLst>
          </p:cNvPr>
          <p:cNvSpPr txBox="1"/>
          <p:nvPr/>
        </p:nvSpPr>
        <p:spPr>
          <a:xfrm>
            <a:off x="6575790" y="2704577"/>
            <a:ext cx="3182620" cy="645160"/>
          </a:xfrm>
          <a:prstGeom prst="rect">
            <a:avLst/>
          </a:prstGeom>
          <a:noFill/>
        </p:spPr>
        <p:txBody>
          <a:bodyPr wrap="square" rtlCol="0">
            <a:spAutoFit/>
          </a:bodyPr>
          <a:lstStyle/>
          <a:p>
            <a:r>
              <a:rPr lang="zh-CN" altLang="en-US" dirty="0"/>
              <a:t>上述每个组合最终结果都可能</a:t>
            </a:r>
          </a:p>
          <a:p>
            <a:r>
              <a:rPr lang="zh-CN" altLang="en-US" dirty="0">
                <a:solidFill>
                  <a:schemeClr val="bg1"/>
                </a:solidFill>
              </a:rPr>
              <a:t>有两个，即True或False：</a:t>
            </a:r>
          </a:p>
        </p:txBody>
      </p:sp>
      <p:sp>
        <p:nvSpPr>
          <p:cNvPr id="33" name="左箭头 62">
            <a:extLst>
              <a:ext uri="{FF2B5EF4-FFF2-40B4-BE49-F238E27FC236}">
                <a16:creationId xmlns:a16="http://schemas.microsoft.com/office/drawing/2014/main" id="{5AF3C0C6-77AE-B1C8-C063-773C3F16BEAE}"/>
              </a:ext>
            </a:extLst>
          </p:cNvPr>
          <p:cNvSpPr/>
          <p:nvPr/>
        </p:nvSpPr>
        <p:spPr>
          <a:xfrm>
            <a:off x="6897370" y="5635625"/>
            <a:ext cx="1824990" cy="619125"/>
          </a:xfrm>
          <a:prstGeom prst="leftArrow">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id="{CA58AE54-48E1-C67C-F2E7-505779CFE428}"/>
              </a:ext>
            </a:extLst>
          </p:cNvPr>
          <p:cNvSpPr txBox="1"/>
          <p:nvPr/>
        </p:nvSpPr>
        <p:spPr>
          <a:xfrm>
            <a:off x="4426585" y="5794375"/>
            <a:ext cx="2327275" cy="460375"/>
          </a:xfrm>
          <a:prstGeom prst="rect">
            <a:avLst/>
          </a:prstGeom>
          <a:noFill/>
        </p:spPr>
        <p:txBody>
          <a:bodyPr wrap="square" rtlCol="0">
            <a:spAutoFit/>
          </a:bodyPr>
          <a:lstStyle/>
          <a:p>
            <a:r>
              <a:rPr lang="zh-CN" altLang="en-US" sz="2400">
                <a:solidFill>
                  <a:schemeClr val="bg1"/>
                </a:solidFill>
              </a:rPr>
              <a:t>是假设空间吗？</a:t>
            </a:r>
          </a:p>
        </p:txBody>
      </p:sp>
      <p:sp>
        <p:nvSpPr>
          <p:cNvPr id="36" name="文本框 35">
            <a:extLst>
              <a:ext uri="{FF2B5EF4-FFF2-40B4-BE49-F238E27FC236}">
                <a16:creationId xmlns:a16="http://schemas.microsoft.com/office/drawing/2014/main" id="{2927C680-2557-BD22-F763-47FF17A2504F}"/>
              </a:ext>
            </a:extLst>
          </p:cNvPr>
          <p:cNvSpPr txBox="1"/>
          <p:nvPr/>
        </p:nvSpPr>
        <p:spPr>
          <a:xfrm>
            <a:off x="710272" y="5848537"/>
            <a:ext cx="6223000" cy="922020"/>
          </a:xfrm>
          <a:prstGeom prst="rect">
            <a:avLst/>
          </a:prstGeom>
          <a:noFill/>
        </p:spPr>
        <p:txBody>
          <a:bodyPr wrap="square" rtlCol="0">
            <a:spAutoFit/>
          </a:bodyPr>
          <a:lstStyle/>
          <a:p>
            <a:r>
              <a:rPr lang="zh-CN" altLang="en-US" dirty="0">
                <a:sym typeface="+mn-ea"/>
              </a:rPr>
              <a:t>针对每一种可能的输入，都能找到一个映射，对应了输出空间中某个输出。</a:t>
            </a:r>
            <a:endParaRPr lang="zh-CN" altLang="en-US" dirty="0"/>
          </a:p>
          <a:p>
            <a:endParaRPr lang="zh-CN" altLang="en-US" dirty="0">
              <a:solidFill>
                <a:schemeClr val="bg1"/>
              </a:solidFill>
            </a:endParaRPr>
          </a:p>
        </p:txBody>
      </p:sp>
      <p:pic>
        <p:nvPicPr>
          <p:cNvPr id="37" name="图片 36">
            <a:extLst>
              <a:ext uri="{FF2B5EF4-FFF2-40B4-BE49-F238E27FC236}">
                <a16:creationId xmlns:a16="http://schemas.microsoft.com/office/drawing/2014/main" id="{21AB48EA-DE5E-D9D4-C7BD-9DB7B5367096}"/>
              </a:ext>
            </a:extLst>
          </p:cNvPr>
          <p:cNvPicPr>
            <a:picLocks noChangeAspect="1"/>
          </p:cNvPicPr>
          <p:nvPr/>
        </p:nvPicPr>
        <p:blipFill>
          <a:blip r:embed="rId5"/>
          <a:stretch>
            <a:fillRect/>
          </a:stretch>
        </p:blipFill>
        <p:spPr>
          <a:xfrm>
            <a:off x="5589905" y="3231515"/>
            <a:ext cx="2675890" cy="3294380"/>
          </a:xfrm>
          <a:prstGeom prst="rect">
            <a:avLst/>
          </a:prstGeom>
        </p:spPr>
      </p:pic>
      <p:sp>
        <p:nvSpPr>
          <p:cNvPr id="38" name="圆角矩形 74">
            <a:extLst>
              <a:ext uri="{FF2B5EF4-FFF2-40B4-BE49-F238E27FC236}">
                <a16:creationId xmlns:a16="http://schemas.microsoft.com/office/drawing/2014/main" id="{74AAD137-2119-14D3-40E1-9904DF7CAAAF}"/>
              </a:ext>
            </a:extLst>
          </p:cNvPr>
          <p:cNvSpPr/>
          <p:nvPr/>
        </p:nvSpPr>
        <p:spPr>
          <a:xfrm>
            <a:off x="5086985" y="3231515"/>
            <a:ext cx="3682365" cy="570865"/>
          </a:xfrm>
          <a:prstGeom prst="round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a:extLst>
              <a:ext uri="{FF2B5EF4-FFF2-40B4-BE49-F238E27FC236}">
                <a16:creationId xmlns:a16="http://schemas.microsoft.com/office/drawing/2014/main" id="{4A5ADFCB-B9D6-AB3D-B7CD-F1E08FE7A713}"/>
              </a:ext>
            </a:extLst>
          </p:cNvPr>
          <p:cNvPicPr>
            <a:picLocks noChangeAspect="1"/>
          </p:cNvPicPr>
          <p:nvPr/>
        </p:nvPicPr>
        <p:blipFill>
          <a:blip r:embed="rId6"/>
          <a:srcRect t="8192" b="84348"/>
          <a:stretch>
            <a:fillRect/>
          </a:stretch>
        </p:blipFill>
        <p:spPr>
          <a:xfrm>
            <a:off x="8865870" y="3501390"/>
            <a:ext cx="2550795" cy="245745"/>
          </a:xfrm>
          <a:prstGeom prst="rect">
            <a:avLst/>
          </a:prstGeom>
        </p:spPr>
      </p:pic>
      <p:pic>
        <p:nvPicPr>
          <p:cNvPr id="40" name="图片 39">
            <a:extLst>
              <a:ext uri="{FF2B5EF4-FFF2-40B4-BE49-F238E27FC236}">
                <a16:creationId xmlns:a16="http://schemas.microsoft.com/office/drawing/2014/main" id="{DB271734-60E9-3D29-D162-5CA6F29039F9}"/>
              </a:ext>
            </a:extLst>
          </p:cNvPr>
          <p:cNvPicPr>
            <a:picLocks noChangeAspect="1"/>
          </p:cNvPicPr>
          <p:nvPr/>
        </p:nvPicPr>
        <p:blipFill>
          <a:blip r:embed="rId6"/>
          <a:srcRect t="91095"/>
          <a:stretch>
            <a:fillRect/>
          </a:stretch>
        </p:blipFill>
        <p:spPr>
          <a:xfrm>
            <a:off x="8865870" y="6232525"/>
            <a:ext cx="2550795" cy="293370"/>
          </a:xfrm>
          <a:prstGeom prst="rect">
            <a:avLst/>
          </a:prstGeom>
        </p:spPr>
      </p:pic>
      <p:pic>
        <p:nvPicPr>
          <p:cNvPr id="41" name="图片 40">
            <a:extLst>
              <a:ext uri="{FF2B5EF4-FFF2-40B4-BE49-F238E27FC236}">
                <a16:creationId xmlns:a16="http://schemas.microsoft.com/office/drawing/2014/main" id="{621A39F6-2AC0-7B90-E889-DCC9943F9EC1}"/>
              </a:ext>
            </a:extLst>
          </p:cNvPr>
          <p:cNvPicPr>
            <a:picLocks noChangeAspect="1"/>
          </p:cNvPicPr>
          <p:nvPr/>
        </p:nvPicPr>
        <p:blipFill>
          <a:blip r:embed="rId6"/>
          <a:srcRect t="24089" b="59712"/>
          <a:stretch>
            <a:fillRect/>
          </a:stretch>
        </p:blipFill>
        <p:spPr>
          <a:xfrm>
            <a:off x="8865870" y="4024630"/>
            <a:ext cx="2550160" cy="550545"/>
          </a:xfrm>
          <a:prstGeom prst="rect">
            <a:avLst/>
          </a:prstGeom>
        </p:spPr>
      </p:pic>
      <p:pic>
        <p:nvPicPr>
          <p:cNvPr id="42" name="图片 41">
            <a:extLst>
              <a:ext uri="{FF2B5EF4-FFF2-40B4-BE49-F238E27FC236}">
                <a16:creationId xmlns:a16="http://schemas.microsoft.com/office/drawing/2014/main" id="{A25D8D06-3783-5A1B-5C43-5C7398EA57D3}"/>
              </a:ext>
            </a:extLst>
          </p:cNvPr>
          <p:cNvPicPr>
            <a:picLocks noChangeAspect="1"/>
          </p:cNvPicPr>
          <p:nvPr/>
        </p:nvPicPr>
        <p:blipFill>
          <a:blip r:embed="rId6"/>
          <a:srcRect t="56410" b="25545"/>
          <a:stretch>
            <a:fillRect/>
          </a:stretch>
        </p:blipFill>
        <p:spPr>
          <a:xfrm>
            <a:off x="8865870" y="5089525"/>
            <a:ext cx="2550795" cy="594360"/>
          </a:xfrm>
          <a:prstGeom prst="rect">
            <a:avLst/>
          </a:prstGeom>
        </p:spPr>
      </p:pic>
      <p:sp>
        <p:nvSpPr>
          <p:cNvPr id="43" name="右箭头 82">
            <a:extLst>
              <a:ext uri="{FF2B5EF4-FFF2-40B4-BE49-F238E27FC236}">
                <a16:creationId xmlns:a16="http://schemas.microsoft.com/office/drawing/2014/main" id="{14211C9C-6F6C-6760-AE6D-50A2CFDBB6C8}"/>
              </a:ext>
            </a:extLst>
          </p:cNvPr>
          <p:cNvSpPr/>
          <p:nvPr/>
        </p:nvSpPr>
        <p:spPr>
          <a:xfrm>
            <a:off x="8356600" y="4806950"/>
            <a:ext cx="396875" cy="28194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圆角矩形 83">
            <a:extLst>
              <a:ext uri="{FF2B5EF4-FFF2-40B4-BE49-F238E27FC236}">
                <a16:creationId xmlns:a16="http://schemas.microsoft.com/office/drawing/2014/main" id="{97453A3B-7305-2F79-3DB5-5E3D74F90EAC}"/>
              </a:ext>
            </a:extLst>
          </p:cNvPr>
          <p:cNvSpPr/>
          <p:nvPr/>
        </p:nvSpPr>
        <p:spPr>
          <a:xfrm>
            <a:off x="8769350" y="3120390"/>
            <a:ext cx="2770505" cy="3689985"/>
          </a:xfrm>
          <a:prstGeom prst="round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文本框 44">
            <a:extLst>
              <a:ext uri="{FF2B5EF4-FFF2-40B4-BE49-F238E27FC236}">
                <a16:creationId xmlns:a16="http://schemas.microsoft.com/office/drawing/2014/main" id="{4A21D08B-CCE3-BCC9-2A3A-D0A3A770418A}"/>
              </a:ext>
            </a:extLst>
          </p:cNvPr>
          <p:cNvSpPr txBox="1"/>
          <p:nvPr/>
        </p:nvSpPr>
        <p:spPr>
          <a:xfrm>
            <a:off x="9296400" y="4694555"/>
            <a:ext cx="2243455" cy="398780"/>
          </a:xfrm>
          <a:prstGeom prst="rect">
            <a:avLst/>
          </a:prstGeom>
          <a:noFill/>
        </p:spPr>
        <p:txBody>
          <a:bodyPr wrap="square" rtlCol="0">
            <a:spAutoFit/>
          </a:bodyPr>
          <a:lstStyle/>
          <a:p>
            <a:r>
              <a:rPr lang="zh-CN" altLang="en-US" sz="2000" b="1">
                <a:solidFill>
                  <a:srgbClr val="FF0000"/>
                </a:solidFill>
              </a:rPr>
              <a:t>一个假设 </a:t>
            </a:r>
            <a:r>
              <a:rPr lang="en-US" altLang="zh-CN" sz="2000" b="1">
                <a:solidFill>
                  <a:srgbClr val="FF0000"/>
                </a:solidFill>
              </a:rPr>
              <a:t>h1</a:t>
            </a:r>
          </a:p>
        </p:txBody>
      </p:sp>
      <p:sp>
        <p:nvSpPr>
          <p:cNvPr id="46" name="矩形 45">
            <a:extLst>
              <a:ext uri="{FF2B5EF4-FFF2-40B4-BE49-F238E27FC236}">
                <a16:creationId xmlns:a16="http://schemas.microsoft.com/office/drawing/2014/main" id="{A5BDD301-859F-7222-D7D2-E2D1FCAAE720}"/>
              </a:ext>
            </a:extLst>
          </p:cNvPr>
          <p:cNvSpPr/>
          <p:nvPr/>
        </p:nvSpPr>
        <p:spPr>
          <a:xfrm>
            <a:off x="4839335" y="3042285"/>
            <a:ext cx="6921500" cy="3846195"/>
          </a:xfrm>
          <a:prstGeom prst="rect">
            <a:avLst/>
          </a:prstGeom>
          <a:solidFill>
            <a:srgbClr val="191F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7" name="图片 46">
            <a:extLst>
              <a:ext uri="{FF2B5EF4-FFF2-40B4-BE49-F238E27FC236}">
                <a16:creationId xmlns:a16="http://schemas.microsoft.com/office/drawing/2014/main" id="{21F2A171-58A2-4F65-FDA2-4DEEB682A784}"/>
              </a:ext>
            </a:extLst>
          </p:cNvPr>
          <p:cNvPicPr>
            <a:picLocks noChangeAspect="1"/>
          </p:cNvPicPr>
          <p:nvPr/>
        </p:nvPicPr>
        <p:blipFill>
          <a:blip r:embed="rId7"/>
          <a:stretch>
            <a:fillRect/>
          </a:stretch>
        </p:blipFill>
        <p:spPr>
          <a:xfrm>
            <a:off x="4991100" y="3203575"/>
            <a:ext cx="2160000" cy="1422621"/>
          </a:xfrm>
          <a:prstGeom prst="rect">
            <a:avLst/>
          </a:prstGeom>
        </p:spPr>
      </p:pic>
      <p:pic>
        <p:nvPicPr>
          <p:cNvPr id="48" name="图片 47">
            <a:extLst>
              <a:ext uri="{FF2B5EF4-FFF2-40B4-BE49-F238E27FC236}">
                <a16:creationId xmlns:a16="http://schemas.microsoft.com/office/drawing/2014/main" id="{FCB35710-A2B1-1797-5F44-6C8F30037C94}"/>
              </a:ext>
            </a:extLst>
          </p:cNvPr>
          <p:cNvPicPr>
            <a:picLocks noChangeAspect="1"/>
          </p:cNvPicPr>
          <p:nvPr/>
        </p:nvPicPr>
        <p:blipFill>
          <a:blip r:embed="rId8"/>
          <a:stretch>
            <a:fillRect/>
          </a:stretch>
        </p:blipFill>
        <p:spPr>
          <a:xfrm>
            <a:off x="7331075" y="3203575"/>
            <a:ext cx="2160000" cy="1422112"/>
          </a:xfrm>
          <a:prstGeom prst="rect">
            <a:avLst/>
          </a:prstGeom>
        </p:spPr>
      </p:pic>
      <p:pic>
        <p:nvPicPr>
          <p:cNvPr id="49" name="图片 48">
            <a:extLst>
              <a:ext uri="{FF2B5EF4-FFF2-40B4-BE49-F238E27FC236}">
                <a16:creationId xmlns:a16="http://schemas.microsoft.com/office/drawing/2014/main" id="{1E81D388-AD8E-C001-34B7-C3017B10CE9F}"/>
              </a:ext>
            </a:extLst>
          </p:cNvPr>
          <p:cNvPicPr>
            <a:picLocks noChangeAspect="1"/>
          </p:cNvPicPr>
          <p:nvPr/>
        </p:nvPicPr>
        <p:blipFill>
          <a:blip r:embed="rId9"/>
          <a:stretch>
            <a:fillRect/>
          </a:stretch>
        </p:blipFill>
        <p:spPr>
          <a:xfrm>
            <a:off x="9594215" y="3199130"/>
            <a:ext cx="2160000" cy="1426667"/>
          </a:xfrm>
          <a:prstGeom prst="rect">
            <a:avLst/>
          </a:prstGeom>
        </p:spPr>
      </p:pic>
      <p:pic>
        <p:nvPicPr>
          <p:cNvPr id="50" name="图片 49">
            <a:extLst>
              <a:ext uri="{FF2B5EF4-FFF2-40B4-BE49-F238E27FC236}">
                <a16:creationId xmlns:a16="http://schemas.microsoft.com/office/drawing/2014/main" id="{2756765D-F05F-805C-286A-E6EDC794B5A7}"/>
              </a:ext>
            </a:extLst>
          </p:cNvPr>
          <p:cNvPicPr>
            <a:picLocks noChangeAspect="1"/>
          </p:cNvPicPr>
          <p:nvPr/>
        </p:nvPicPr>
        <p:blipFill>
          <a:blip r:embed="rId10"/>
          <a:stretch>
            <a:fillRect/>
          </a:stretch>
        </p:blipFill>
        <p:spPr>
          <a:xfrm>
            <a:off x="4991100" y="4873625"/>
            <a:ext cx="2160000" cy="1422112"/>
          </a:xfrm>
          <a:prstGeom prst="rect">
            <a:avLst/>
          </a:prstGeom>
        </p:spPr>
      </p:pic>
      <p:pic>
        <p:nvPicPr>
          <p:cNvPr id="51" name="图片 50">
            <a:extLst>
              <a:ext uri="{FF2B5EF4-FFF2-40B4-BE49-F238E27FC236}">
                <a16:creationId xmlns:a16="http://schemas.microsoft.com/office/drawing/2014/main" id="{8461CE48-8DE8-13BD-EBC3-686AA73C7A1E}"/>
              </a:ext>
            </a:extLst>
          </p:cNvPr>
          <p:cNvPicPr>
            <a:picLocks noChangeAspect="1"/>
          </p:cNvPicPr>
          <p:nvPr/>
        </p:nvPicPr>
        <p:blipFill>
          <a:blip r:embed="rId11"/>
          <a:stretch>
            <a:fillRect/>
          </a:stretch>
        </p:blipFill>
        <p:spPr>
          <a:xfrm>
            <a:off x="7293610" y="4881880"/>
            <a:ext cx="2197735" cy="1440180"/>
          </a:xfrm>
          <a:prstGeom prst="rect">
            <a:avLst/>
          </a:prstGeom>
        </p:spPr>
      </p:pic>
      <p:pic>
        <p:nvPicPr>
          <p:cNvPr id="52" name="图片 51">
            <a:extLst>
              <a:ext uri="{FF2B5EF4-FFF2-40B4-BE49-F238E27FC236}">
                <a16:creationId xmlns:a16="http://schemas.microsoft.com/office/drawing/2014/main" id="{5D01FCCB-362E-1CFE-CB5A-D2FB424CB29C}"/>
              </a:ext>
            </a:extLst>
          </p:cNvPr>
          <p:cNvPicPr>
            <a:picLocks noChangeAspect="1"/>
          </p:cNvPicPr>
          <p:nvPr/>
        </p:nvPicPr>
        <p:blipFill>
          <a:blip r:embed="rId12"/>
          <a:stretch>
            <a:fillRect/>
          </a:stretch>
        </p:blipFill>
        <p:spPr>
          <a:xfrm>
            <a:off x="9594215" y="4864735"/>
            <a:ext cx="2135505" cy="1440180"/>
          </a:xfrm>
          <a:prstGeom prst="rect">
            <a:avLst/>
          </a:prstGeom>
        </p:spPr>
      </p:pic>
    </p:spTree>
    <p:extLst>
      <p:ext uri="{BB962C8B-B14F-4D97-AF65-F5344CB8AC3E}">
        <p14:creationId xmlns:p14="http://schemas.microsoft.com/office/powerpoint/2010/main" val="2070393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wipe(down)">
                                      <p:cBhvr>
                                        <p:cTn id="23" dur="500"/>
                                        <p:tgtEl>
                                          <p:spTgt spid="26"/>
                                        </p:tgtEl>
                                      </p:cBhvr>
                                    </p:animEffect>
                                  </p:childTnLst>
                                </p:cTn>
                              </p:par>
                              <p:par>
                                <p:cTn id="24" presetID="22" presetClass="entr" presetSubtype="4"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wipe(down)">
                                      <p:cBhvr>
                                        <p:cTn id="26" dur="500"/>
                                        <p:tgtEl>
                                          <p:spTgt spid="2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down)">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wipe(down)">
                                      <p:cBhvr>
                                        <p:cTn id="36" dur="500"/>
                                        <p:tgtEl>
                                          <p:spTgt spid="29"/>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wipe(down)">
                                      <p:cBhvr>
                                        <p:cTn id="41" dur="500"/>
                                        <p:tgtEl>
                                          <p:spTgt spid="30"/>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wipe(down)">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down)">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33"/>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4"/>
                                        </p:tgtEl>
                                        <p:attrNameLst>
                                          <p:attrName>style.visibility</p:attrName>
                                        </p:attrNameLst>
                                      </p:cBhvr>
                                      <p:to>
                                        <p:strVal val="visible"/>
                                      </p:to>
                                    </p:set>
                                    <p:animEffect transition="in" filter="wipe(down)">
                                      <p:cBhvr>
                                        <p:cTn id="60" dur="500"/>
                                        <p:tgtEl>
                                          <p:spTgt spid="34"/>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dow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grpId="0" nodeType="clickEffect">
                                  <p:stCondLst>
                                    <p:cond delay="0"/>
                                  </p:stCondLst>
                                  <p:childTnLst>
                                    <p:set>
                                      <p:cBhvr>
                                        <p:cTn id="74" dur="1" fill="hold">
                                          <p:stCondLst>
                                            <p:cond delay="0"/>
                                          </p:stCondLst>
                                        </p:cTn>
                                        <p:tgtEl>
                                          <p:spTgt spid="38"/>
                                        </p:tgtEl>
                                        <p:attrNameLst>
                                          <p:attrName>style.visibility</p:attrName>
                                        </p:attrNameLst>
                                      </p:cBhvr>
                                      <p:to>
                                        <p:strVal val="visible"/>
                                      </p:to>
                                    </p:set>
                                    <p:animEffect transition="in" filter="wipe(down)">
                                      <p:cBhvr>
                                        <p:cTn id="75" dur="500"/>
                                        <p:tgtEl>
                                          <p:spTgt spid="38"/>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nodeType="clickEffect">
                                  <p:stCondLst>
                                    <p:cond delay="0"/>
                                  </p:stCondLst>
                                  <p:childTnLst>
                                    <p:set>
                                      <p:cBhvr>
                                        <p:cTn id="79" dur="1" fill="hold">
                                          <p:stCondLst>
                                            <p:cond delay="0"/>
                                          </p:stCondLst>
                                        </p:cTn>
                                        <p:tgtEl>
                                          <p:spTgt spid="39"/>
                                        </p:tgtEl>
                                        <p:attrNameLst>
                                          <p:attrName>style.visibility</p:attrName>
                                        </p:attrNameLst>
                                      </p:cBhvr>
                                      <p:to>
                                        <p:strVal val="visible"/>
                                      </p:to>
                                    </p:set>
                                    <p:animEffect transition="in" filter="wipe(down)">
                                      <p:cBhvr>
                                        <p:cTn id="80" dur="500"/>
                                        <p:tgtEl>
                                          <p:spTgt spid="39"/>
                                        </p:tgtEl>
                                      </p:cBhvr>
                                    </p:animEffect>
                                  </p:childTnLst>
                                </p:cTn>
                              </p:par>
                              <p:par>
                                <p:cTn id="81" presetID="22" presetClass="entr" presetSubtype="4" fill="hold" nodeType="withEffect">
                                  <p:stCondLst>
                                    <p:cond delay="0"/>
                                  </p:stCondLst>
                                  <p:childTnLst>
                                    <p:set>
                                      <p:cBhvr>
                                        <p:cTn id="82" dur="1" fill="hold">
                                          <p:stCondLst>
                                            <p:cond delay="0"/>
                                          </p:stCondLst>
                                        </p:cTn>
                                        <p:tgtEl>
                                          <p:spTgt spid="41"/>
                                        </p:tgtEl>
                                        <p:attrNameLst>
                                          <p:attrName>style.visibility</p:attrName>
                                        </p:attrNameLst>
                                      </p:cBhvr>
                                      <p:to>
                                        <p:strVal val="visible"/>
                                      </p:to>
                                    </p:set>
                                    <p:animEffect transition="in" filter="wipe(down)">
                                      <p:cBhvr>
                                        <p:cTn id="83" dur="500"/>
                                        <p:tgtEl>
                                          <p:spTgt spid="41"/>
                                        </p:tgtEl>
                                      </p:cBhvr>
                                    </p:animEffect>
                                  </p:childTnLst>
                                </p:cTn>
                              </p:par>
                              <p:par>
                                <p:cTn id="84" presetID="22" presetClass="entr" presetSubtype="4" fill="hold" nodeType="withEffect">
                                  <p:stCondLst>
                                    <p:cond delay="0"/>
                                  </p:stCondLst>
                                  <p:childTnLst>
                                    <p:set>
                                      <p:cBhvr>
                                        <p:cTn id="85" dur="1" fill="hold">
                                          <p:stCondLst>
                                            <p:cond delay="0"/>
                                          </p:stCondLst>
                                        </p:cTn>
                                        <p:tgtEl>
                                          <p:spTgt spid="42"/>
                                        </p:tgtEl>
                                        <p:attrNameLst>
                                          <p:attrName>style.visibility</p:attrName>
                                        </p:attrNameLst>
                                      </p:cBhvr>
                                      <p:to>
                                        <p:strVal val="visible"/>
                                      </p:to>
                                    </p:set>
                                    <p:animEffect transition="in" filter="wipe(down)">
                                      <p:cBhvr>
                                        <p:cTn id="86" dur="500"/>
                                        <p:tgtEl>
                                          <p:spTgt spid="42"/>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wipe(down)">
                                      <p:cBhvr>
                                        <p:cTn id="89" dur="500"/>
                                        <p:tgtEl>
                                          <p:spTgt spid="43"/>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xit" presetSubtype="4" fill="hold" grpId="2" nodeType="clickEffect">
                                  <p:stCondLst>
                                    <p:cond delay="0"/>
                                  </p:stCondLst>
                                  <p:childTnLst>
                                    <p:animEffect transition="out" filter="wipe(down)">
                                      <p:cBhvr>
                                        <p:cTn id="93" dur="500"/>
                                        <p:tgtEl>
                                          <p:spTgt spid="38"/>
                                        </p:tgtEl>
                                      </p:cBhvr>
                                    </p:animEffect>
                                    <p:set>
                                      <p:cBhvr>
                                        <p:cTn id="94" dur="1" fill="hold">
                                          <p:stCondLst>
                                            <p:cond delay="499"/>
                                          </p:stCondLst>
                                        </p:cTn>
                                        <p:tgtEl>
                                          <p:spTgt spid="3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grpId="0" nodeType="clickEffect">
                                  <p:stCondLst>
                                    <p:cond delay="0"/>
                                  </p:stCondLst>
                                  <p:childTnLst>
                                    <p:set>
                                      <p:cBhvr>
                                        <p:cTn id="98" dur="1" fill="hold">
                                          <p:stCondLst>
                                            <p:cond delay="0"/>
                                          </p:stCondLst>
                                        </p:cTn>
                                        <p:tgtEl>
                                          <p:spTgt spid="44"/>
                                        </p:tgtEl>
                                        <p:attrNameLst>
                                          <p:attrName>style.visibility</p:attrName>
                                        </p:attrNameLst>
                                      </p:cBhvr>
                                      <p:to>
                                        <p:strVal val="visible"/>
                                      </p:to>
                                    </p:set>
                                    <p:animEffect transition="in" filter="wipe(down)">
                                      <p:cBhvr>
                                        <p:cTn id="99" dur="500"/>
                                        <p:tgtEl>
                                          <p:spTgt spid="44"/>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4" fill="hold" grpId="0" nodeType="click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wipe(down)">
                                      <p:cBhvr>
                                        <p:cTn id="104" dur="500"/>
                                        <p:tgtEl>
                                          <p:spTgt spid="45"/>
                                        </p:tgtEl>
                                      </p:cBhvr>
                                    </p:animEffec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22" presetClass="entr" presetSubtype="4" fill="hold" nodeType="clickEffect">
                                  <p:stCondLst>
                                    <p:cond delay="0"/>
                                  </p:stCondLst>
                                  <p:childTnLst>
                                    <p:set>
                                      <p:cBhvr>
                                        <p:cTn id="112" dur="1" fill="hold">
                                          <p:stCondLst>
                                            <p:cond delay="0"/>
                                          </p:stCondLst>
                                        </p:cTn>
                                        <p:tgtEl>
                                          <p:spTgt spid="47"/>
                                        </p:tgtEl>
                                        <p:attrNameLst>
                                          <p:attrName>style.visibility</p:attrName>
                                        </p:attrNameLst>
                                      </p:cBhvr>
                                      <p:to>
                                        <p:strVal val="visible"/>
                                      </p:to>
                                    </p:set>
                                    <p:animEffect transition="in" filter="wipe(down)">
                                      <p:cBhvr>
                                        <p:cTn id="113" dur="500"/>
                                        <p:tgtEl>
                                          <p:spTgt spid="47"/>
                                        </p:tgtEl>
                                      </p:cBhvr>
                                    </p:animEffec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48"/>
                                        </p:tgtEl>
                                        <p:attrNameLst>
                                          <p:attrName>style.visibility</p:attrName>
                                        </p:attrNameLst>
                                      </p:cBhvr>
                                      <p:to>
                                        <p:strVal val="visible"/>
                                      </p:to>
                                    </p:set>
                                    <p:animEffect transition="in" filter="wipe(down)">
                                      <p:cBhvr>
                                        <p:cTn id="118" dur="500"/>
                                        <p:tgtEl>
                                          <p:spTgt spid="48"/>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nodeType="clickEffect">
                                  <p:stCondLst>
                                    <p:cond delay="0"/>
                                  </p:stCondLst>
                                  <p:childTnLst>
                                    <p:set>
                                      <p:cBhvr>
                                        <p:cTn id="122" dur="1" fill="hold">
                                          <p:stCondLst>
                                            <p:cond delay="0"/>
                                          </p:stCondLst>
                                        </p:cTn>
                                        <p:tgtEl>
                                          <p:spTgt spid="49"/>
                                        </p:tgtEl>
                                        <p:attrNameLst>
                                          <p:attrName>style.visibility</p:attrName>
                                        </p:attrNameLst>
                                      </p:cBhvr>
                                      <p:to>
                                        <p:strVal val="visible"/>
                                      </p:to>
                                    </p:set>
                                    <p:animEffect transition="in" filter="wipe(down)">
                                      <p:cBhvr>
                                        <p:cTn id="123" dur="500"/>
                                        <p:tgtEl>
                                          <p:spTgt spid="49"/>
                                        </p:tgtEl>
                                      </p:cBhvr>
                                    </p:animEffect>
                                  </p:childTnLst>
                                </p:cTn>
                              </p:par>
                            </p:childTnLst>
                          </p:cTn>
                        </p:par>
                      </p:childTnLst>
                    </p:cTn>
                  </p:par>
                  <p:par>
                    <p:cTn id="124" fill="hold">
                      <p:stCondLst>
                        <p:cond delay="indefinite"/>
                      </p:stCondLst>
                      <p:childTnLst>
                        <p:par>
                          <p:cTn id="125" fill="hold">
                            <p:stCondLst>
                              <p:cond delay="0"/>
                            </p:stCondLst>
                            <p:childTnLst>
                              <p:par>
                                <p:cTn id="126" presetID="22" presetClass="entr" presetSubtype="4" fill="hold" nodeType="clickEffect">
                                  <p:stCondLst>
                                    <p:cond delay="0"/>
                                  </p:stCondLst>
                                  <p:childTnLst>
                                    <p:set>
                                      <p:cBhvr>
                                        <p:cTn id="127" dur="1" fill="hold">
                                          <p:stCondLst>
                                            <p:cond delay="0"/>
                                          </p:stCondLst>
                                        </p:cTn>
                                        <p:tgtEl>
                                          <p:spTgt spid="50"/>
                                        </p:tgtEl>
                                        <p:attrNameLst>
                                          <p:attrName>style.visibility</p:attrName>
                                        </p:attrNameLst>
                                      </p:cBhvr>
                                      <p:to>
                                        <p:strVal val="visible"/>
                                      </p:to>
                                    </p:set>
                                    <p:animEffect transition="in" filter="wipe(down)">
                                      <p:cBhvr>
                                        <p:cTn id="128" dur="500"/>
                                        <p:tgtEl>
                                          <p:spTgt spid="50"/>
                                        </p:tgtEl>
                                      </p:cBhvr>
                                    </p:animEffect>
                                  </p:childTnLst>
                                </p:cTn>
                              </p:par>
                            </p:childTnLst>
                          </p:cTn>
                        </p:par>
                      </p:childTnLst>
                    </p:cTn>
                  </p:par>
                  <p:par>
                    <p:cTn id="129" fill="hold">
                      <p:stCondLst>
                        <p:cond delay="indefinite"/>
                      </p:stCondLst>
                      <p:childTnLst>
                        <p:par>
                          <p:cTn id="130" fill="hold">
                            <p:stCondLst>
                              <p:cond delay="0"/>
                            </p:stCondLst>
                            <p:childTnLst>
                              <p:par>
                                <p:cTn id="131" presetID="22" presetClass="entr" presetSubtype="4" fill="hold" nodeType="clickEffect">
                                  <p:stCondLst>
                                    <p:cond delay="0"/>
                                  </p:stCondLst>
                                  <p:childTnLst>
                                    <p:set>
                                      <p:cBhvr>
                                        <p:cTn id="132" dur="1" fill="hold">
                                          <p:stCondLst>
                                            <p:cond delay="0"/>
                                          </p:stCondLst>
                                        </p:cTn>
                                        <p:tgtEl>
                                          <p:spTgt spid="51"/>
                                        </p:tgtEl>
                                        <p:attrNameLst>
                                          <p:attrName>style.visibility</p:attrName>
                                        </p:attrNameLst>
                                      </p:cBhvr>
                                      <p:to>
                                        <p:strVal val="visible"/>
                                      </p:to>
                                    </p:set>
                                    <p:animEffect transition="in" filter="wipe(down)">
                                      <p:cBhvr>
                                        <p:cTn id="133" dur="500"/>
                                        <p:tgtEl>
                                          <p:spTgt spid="51"/>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52"/>
                                        </p:tgtEl>
                                        <p:attrNameLst>
                                          <p:attrName>style.visibility</p:attrName>
                                        </p:attrNameLst>
                                      </p:cBhvr>
                                      <p:to>
                                        <p:strVal val="visible"/>
                                      </p:to>
                                    </p:set>
                                    <p:animEffect transition="in" filter="wipe(down)">
                                      <p:cBhvr>
                                        <p:cTn id="138"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8" grpId="0"/>
      <p:bldP spid="28" grpId="1"/>
      <p:bldP spid="29" grpId="0"/>
      <p:bldP spid="29" grpId="1"/>
      <p:bldP spid="32" grpId="0"/>
      <p:bldP spid="32" grpId="1"/>
      <p:bldP spid="33" grpId="0" bldLvl="0" animBg="1"/>
      <p:bldP spid="33" grpId="1" animBg="1"/>
      <p:bldP spid="34" grpId="0"/>
      <p:bldP spid="34" grpId="1"/>
      <p:bldP spid="36" grpId="0"/>
      <p:bldP spid="36" grpId="1"/>
      <p:bldP spid="38" grpId="0" bldLvl="0" animBg="1"/>
      <p:bldP spid="38" grpId="1" animBg="1"/>
      <p:bldP spid="38" grpId="2" bldLvl="0" animBg="1"/>
      <p:bldP spid="43" grpId="0" bldLvl="0" animBg="1"/>
      <p:bldP spid="43" grpId="1" animBg="1"/>
      <p:bldP spid="44" grpId="0" bldLvl="0" animBg="1"/>
      <p:bldP spid="44" grpId="1" animBg="1"/>
      <p:bldP spid="45" grpId="0"/>
      <p:bldP spid="45" grpId="1"/>
      <p:bldP spid="46" grpId="0" bldLvl="0" animBg="1"/>
      <p:bldP spid="46"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BE3CA-B0A5-C24E-FCB7-B05D2D4D6160}"/>
            </a:ext>
          </a:extLst>
        </p:cNvPr>
        <p:cNvGrpSpPr/>
        <p:nvPr/>
      </p:nvGrpSpPr>
      <p:grpSpPr>
        <a:xfrm>
          <a:off x="0" y="0"/>
          <a:ext cx="0" cy="0"/>
          <a:chOff x="0" y="0"/>
          <a:chExt cx="0" cy="0"/>
        </a:xfrm>
      </p:grpSpPr>
      <p:sp>
        <p:nvSpPr>
          <p:cNvPr id="3" name="椭圆 2">
            <a:extLst>
              <a:ext uri="{FF2B5EF4-FFF2-40B4-BE49-F238E27FC236}">
                <a16:creationId xmlns:a16="http://schemas.microsoft.com/office/drawing/2014/main" id="{85C59C8D-7085-5FFC-987E-6133BC2CFAA3}"/>
              </a:ext>
            </a:extLst>
          </p:cNvPr>
          <p:cNvSpPr/>
          <p:nvPr/>
        </p:nvSpPr>
        <p:spPr>
          <a:xfrm>
            <a:off x="1416705" y="2793148"/>
            <a:ext cx="72000" cy="72000"/>
          </a:xfrm>
          <a:prstGeom prst="ellipse">
            <a:avLst/>
          </a:prstGeom>
          <a:solidFill>
            <a:srgbClr val="191F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椭圆 3">
            <a:extLst>
              <a:ext uri="{FF2B5EF4-FFF2-40B4-BE49-F238E27FC236}">
                <a16:creationId xmlns:a16="http://schemas.microsoft.com/office/drawing/2014/main" id="{9CC964D8-A699-EC06-1176-9FC6BFC4AB29}"/>
              </a:ext>
            </a:extLst>
          </p:cNvPr>
          <p:cNvSpPr/>
          <p:nvPr/>
        </p:nvSpPr>
        <p:spPr>
          <a:xfrm>
            <a:off x="1416705" y="4000875"/>
            <a:ext cx="72000" cy="72000"/>
          </a:xfrm>
          <a:prstGeom prst="ellipse">
            <a:avLst/>
          </a:prstGeom>
          <a:solidFill>
            <a:srgbClr val="191F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文本框 4">
            <a:extLst>
              <a:ext uri="{FF2B5EF4-FFF2-40B4-BE49-F238E27FC236}">
                <a16:creationId xmlns:a16="http://schemas.microsoft.com/office/drawing/2014/main" id="{9CBA8226-2FE0-5A07-4FFB-153275FD8DF5}"/>
              </a:ext>
            </a:extLst>
          </p:cNvPr>
          <p:cNvSpPr txBox="1"/>
          <p:nvPr/>
        </p:nvSpPr>
        <p:spPr>
          <a:xfrm>
            <a:off x="951520" y="208400"/>
            <a:ext cx="3434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机器学习方法流程</a:t>
            </a:r>
          </a:p>
        </p:txBody>
      </p:sp>
      <p:grpSp>
        <p:nvGrpSpPr>
          <p:cNvPr id="6" name="组合 5">
            <a:extLst>
              <a:ext uri="{FF2B5EF4-FFF2-40B4-BE49-F238E27FC236}">
                <a16:creationId xmlns:a16="http://schemas.microsoft.com/office/drawing/2014/main" id="{8E46FB13-D171-7EA1-CE83-B6CAAC81AB32}"/>
              </a:ext>
            </a:extLst>
          </p:cNvPr>
          <p:cNvGrpSpPr/>
          <p:nvPr/>
        </p:nvGrpSpPr>
        <p:grpSpPr>
          <a:xfrm>
            <a:off x="274265" y="222655"/>
            <a:ext cx="563089" cy="556264"/>
            <a:chOff x="318716" y="199386"/>
            <a:chExt cx="608244" cy="600871"/>
          </a:xfrm>
        </p:grpSpPr>
        <p:sp>
          <p:nvSpPr>
            <p:cNvPr id="7" name="任意多边形 1">
              <a:extLst>
                <a:ext uri="{FF2B5EF4-FFF2-40B4-BE49-F238E27FC236}">
                  <a16:creationId xmlns:a16="http://schemas.microsoft.com/office/drawing/2014/main" id="{42F73A32-10EE-355D-CC61-8FD44B642AA0}"/>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任意多边形 2">
              <a:extLst>
                <a:ext uri="{FF2B5EF4-FFF2-40B4-BE49-F238E27FC236}">
                  <a16:creationId xmlns:a16="http://schemas.microsoft.com/office/drawing/2014/main" id="{C1326958-56AE-464E-9D14-4D188691BEDE}"/>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86D25C20-0040-90CA-801B-EB02C496C32B}"/>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9B6F598A-C10A-F6B5-17A5-B3C12599C677}"/>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3F4FFADE-12C6-4E20-2FC6-57A7AFB8EF9C}"/>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B1A0366A-47BF-E360-5A25-70AABFBC3F57}"/>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7F9D2FBD-8C35-FA84-C995-797A7735A29D}"/>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703C0E79-74AD-03B7-5236-D8FEBD4F844B}"/>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1D7203A7-D204-2257-C89C-132595C3D17F}"/>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A675A22E-1437-2FAE-DBCD-0A6E6C39FDE3}"/>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5DBB7448-8EB2-376D-5FC3-ECD6175116E0}"/>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FDA1ADED-1FE7-2911-8BF9-C43F0FB8F716}"/>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椭圆 18">
              <a:extLst>
                <a:ext uri="{FF2B5EF4-FFF2-40B4-BE49-F238E27FC236}">
                  <a16:creationId xmlns:a16="http://schemas.microsoft.com/office/drawing/2014/main" id="{62263A99-C986-1DB6-17D1-90131673DD1B}"/>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a:extLst>
                <a:ext uri="{FF2B5EF4-FFF2-40B4-BE49-F238E27FC236}">
                  <a16:creationId xmlns:a16="http://schemas.microsoft.com/office/drawing/2014/main" id="{E73AA359-62D5-131A-3C9A-1453C3763A4D}"/>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438E6E6E-D9CC-0CC6-5F2A-770ABEF7F171}"/>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4A8D2AA1-6F20-6F49-B396-4B41FCFD4011}"/>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6181A7A7-36EE-A486-3347-5C474FAAE4CC}"/>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4B219ECC-A972-490D-1641-6E75103CECE3}"/>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任意多边形: 形状 24">
              <a:extLst>
                <a:ext uri="{FF2B5EF4-FFF2-40B4-BE49-F238E27FC236}">
                  <a16:creationId xmlns:a16="http://schemas.microsoft.com/office/drawing/2014/main" id="{8427B492-C12E-1632-FBEC-DEB5ADE4B7F0}"/>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任意多边形: 形状 25">
              <a:extLst>
                <a:ext uri="{FF2B5EF4-FFF2-40B4-BE49-F238E27FC236}">
                  <a16:creationId xmlns:a16="http://schemas.microsoft.com/office/drawing/2014/main" id="{4EDAD695-BAA1-50BE-BCBE-09300E6ADFBD}"/>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pic>
        <p:nvPicPr>
          <p:cNvPr id="27" name="图片 26">
            <a:extLst>
              <a:ext uri="{FF2B5EF4-FFF2-40B4-BE49-F238E27FC236}">
                <a16:creationId xmlns:a16="http://schemas.microsoft.com/office/drawing/2014/main" id="{ABFB4AE3-0CC4-6AD8-034A-A8F4926A13BE}"/>
              </a:ext>
            </a:extLst>
          </p:cNvPr>
          <p:cNvPicPr>
            <a:picLocks noChangeAspect="1"/>
          </p:cNvPicPr>
          <p:nvPr/>
        </p:nvPicPr>
        <p:blipFill>
          <a:blip r:embed="rId2"/>
          <a:stretch>
            <a:fillRect/>
          </a:stretch>
        </p:blipFill>
        <p:spPr>
          <a:xfrm>
            <a:off x="2012315" y="1760855"/>
            <a:ext cx="7849870" cy="3336925"/>
          </a:xfrm>
          <a:prstGeom prst="rect">
            <a:avLst/>
          </a:prstGeom>
        </p:spPr>
      </p:pic>
      <p:sp>
        <p:nvSpPr>
          <p:cNvPr id="28" name="文本框 27">
            <a:extLst>
              <a:ext uri="{FF2B5EF4-FFF2-40B4-BE49-F238E27FC236}">
                <a16:creationId xmlns:a16="http://schemas.microsoft.com/office/drawing/2014/main" id="{D7B7EB42-A7D7-0AB3-EAC7-CEBB204323F5}"/>
              </a:ext>
            </a:extLst>
          </p:cNvPr>
          <p:cNvSpPr txBox="1"/>
          <p:nvPr/>
        </p:nvSpPr>
        <p:spPr>
          <a:xfrm>
            <a:off x="1805940" y="1256665"/>
            <a:ext cx="2579370" cy="368300"/>
          </a:xfrm>
          <a:prstGeom prst="rect">
            <a:avLst/>
          </a:prstGeom>
          <a:noFill/>
        </p:spPr>
        <p:txBody>
          <a:bodyPr wrap="square" rtlCol="0">
            <a:spAutoFit/>
          </a:bodyPr>
          <a:lstStyle/>
          <a:p>
            <a:r>
              <a:rPr lang="zh-CN" altLang="en-US" dirty="0"/>
              <a:t>以监督学习方法为例</a:t>
            </a:r>
          </a:p>
        </p:txBody>
      </p:sp>
      <p:sp>
        <p:nvSpPr>
          <p:cNvPr id="29" name="文本框 28">
            <a:extLst>
              <a:ext uri="{FF2B5EF4-FFF2-40B4-BE49-F238E27FC236}">
                <a16:creationId xmlns:a16="http://schemas.microsoft.com/office/drawing/2014/main" id="{B3A76440-A660-833F-749D-24EE86A021AA}"/>
              </a:ext>
            </a:extLst>
          </p:cNvPr>
          <p:cNvSpPr txBox="1"/>
          <p:nvPr/>
        </p:nvSpPr>
        <p:spPr>
          <a:xfrm>
            <a:off x="2036445" y="5450205"/>
            <a:ext cx="1614805" cy="368300"/>
          </a:xfrm>
          <a:prstGeom prst="rect">
            <a:avLst/>
          </a:prstGeom>
          <a:noFill/>
        </p:spPr>
        <p:txBody>
          <a:bodyPr wrap="square" rtlCol="0">
            <a:spAutoFit/>
          </a:bodyPr>
          <a:lstStyle/>
          <a:p>
            <a:r>
              <a:rPr lang="en-US" altLang="zh-CN" dirty="0"/>
              <a:t>    </a:t>
            </a:r>
            <a:r>
              <a:rPr lang="zh-CN" altLang="en-US" dirty="0"/>
              <a:t>输入数据</a:t>
            </a:r>
          </a:p>
        </p:txBody>
      </p:sp>
      <p:sp>
        <p:nvSpPr>
          <p:cNvPr id="30" name="文本框 29">
            <a:extLst>
              <a:ext uri="{FF2B5EF4-FFF2-40B4-BE49-F238E27FC236}">
                <a16:creationId xmlns:a16="http://schemas.microsoft.com/office/drawing/2014/main" id="{2C4101B5-6375-8236-1183-ACC8566D7A0C}"/>
              </a:ext>
            </a:extLst>
          </p:cNvPr>
          <p:cNvSpPr txBox="1"/>
          <p:nvPr/>
        </p:nvSpPr>
        <p:spPr>
          <a:xfrm>
            <a:off x="3937635" y="5450205"/>
            <a:ext cx="1282700" cy="368300"/>
          </a:xfrm>
          <a:prstGeom prst="rect">
            <a:avLst/>
          </a:prstGeom>
          <a:noFill/>
        </p:spPr>
        <p:txBody>
          <a:bodyPr wrap="square" rtlCol="0">
            <a:spAutoFit/>
          </a:bodyPr>
          <a:lstStyle/>
          <a:p>
            <a:r>
              <a:rPr lang="en-US" altLang="zh-CN" dirty="0"/>
              <a:t>  </a:t>
            </a:r>
            <a:r>
              <a:rPr lang="zh-CN" altLang="en-US" dirty="0"/>
              <a:t>特征工程</a:t>
            </a:r>
          </a:p>
        </p:txBody>
      </p:sp>
      <p:sp>
        <p:nvSpPr>
          <p:cNvPr id="31" name="文本框 30">
            <a:extLst>
              <a:ext uri="{FF2B5EF4-FFF2-40B4-BE49-F238E27FC236}">
                <a16:creationId xmlns:a16="http://schemas.microsoft.com/office/drawing/2014/main" id="{258A5EA1-F62C-6755-469A-1642BD81AE00}"/>
              </a:ext>
            </a:extLst>
          </p:cNvPr>
          <p:cNvSpPr txBox="1"/>
          <p:nvPr/>
        </p:nvSpPr>
        <p:spPr>
          <a:xfrm>
            <a:off x="5506720" y="5450205"/>
            <a:ext cx="1372235" cy="368300"/>
          </a:xfrm>
          <a:prstGeom prst="rect">
            <a:avLst/>
          </a:prstGeom>
          <a:noFill/>
        </p:spPr>
        <p:txBody>
          <a:bodyPr wrap="square" rtlCol="0">
            <a:spAutoFit/>
          </a:bodyPr>
          <a:lstStyle/>
          <a:p>
            <a:r>
              <a:rPr lang="zh-CN" altLang="en-US" dirty="0"/>
              <a:t>模拟训练</a:t>
            </a:r>
          </a:p>
        </p:txBody>
      </p:sp>
      <p:sp>
        <p:nvSpPr>
          <p:cNvPr id="32" name="文本框 31">
            <a:extLst>
              <a:ext uri="{FF2B5EF4-FFF2-40B4-BE49-F238E27FC236}">
                <a16:creationId xmlns:a16="http://schemas.microsoft.com/office/drawing/2014/main" id="{57A1C8F9-EFA7-DD43-0626-3FE9B124DF41}"/>
              </a:ext>
            </a:extLst>
          </p:cNvPr>
          <p:cNvSpPr txBox="1"/>
          <p:nvPr/>
        </p:nvSpPr>
        <p:spPr>
          <a:xfrm>
            <a:off x="7167245" y="5450205"/>
            <a:ext cx="1365250" cy="368300"/>
          </a:xfrm>
          <a:prstGeom prst="rect">
            <a:avLst/>
          </a:prstGeom>
          <a:noFill/>
        </p:spPr>
        <p:txBody>
          <a:bodyPr wrap="square" rtlCol="0">
            <a:spAutoFit/>
          </a:bodyPr>
          <a:lstStyle/>
          <a:p>
            <a:r>
              <a:rPr lang="zh-CN" altLang="en-US" dirty="0"/>
              <a:t>模拟部署</a:t>
            </a:r>
          </a:p>
        </p:txBody>
      </p:sp>
      <p:sp>
        <p:nvSpPr>
          <p:cNvPr id="33" name="文本框 32">
            <a:extLst>
              <a:ext uri="{FF2B5EF4-FFF2-40B4-BE49-F238E27FC236}">
                <a16:creationId xmlns:a16="http://schemas.microsoft.com/office/drawing/2014/main" id="{F5B26A1A-C14D-E4F7-5543-9B7B80754256}"/>
              </a:ext>
            </a:extLst>
          </p:cNvPr>
          <p:cNvSpPr txBox="1"/>
          <p:nvPr/>
        </p:nvSpPr>
        <p:spPr>
          <a:xfrm>
            <a:off x="8825865" y="5450205"/>
            <a:ext cx="1252855" cy="368300"/>
          </a:xfrm>
          <a:prstGeom prst="rect">
            <a:avLst/>
          </a:prstGeom>
          <a:noFill/>
        </p:spPr>
        <p:txBody>
          <a:bodyPr wrap="square" rtlCol="0">
            <a:spAutoFit/>
          </a:bodyPr>
          <a:lstStyle/>
          <a:p>
            <a:r>
              <a:rPr lang="zh-CN" altLang="en-US" dirty="0"/>
              <a:t>模拟应用</a:t>
            </a:r>
          </a:p>
        </p:txBody>
      </p:sp>
    </p:spTree>
    <p:extLst>
      <p:ext uri="{BB962C8B-B14F-4D97-AF65-F5344CB8AC3E}">
        <p14:creationId xmlns:p14="http://schemas.microsoft.com/office/powerpoint/2010/main" val="1552279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8" presetClass="emph" presetSubtype="0" fill="hold" nodeType="withEffect">
                                  <p:stCondLst>
                                    <p:cond delay="250"/>
                                  </p:stCondLst>
                                  <p:childTnLst>
                                    <p:animRot by="-21600000">
                                      <p:cBhvr>
                                        <p:cTn id="12" dur="2000" fill="hold"/>
                                        <p:tgtEl>
                                          <p:spTgt spid="6"/>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par>
                          <p:cTn id="16" fill="hold">
                            <p:stCondLst>
                              <p:cond delay="2250"/>
                            </p:stCondLst>
                            <p:childTnLst>
                              <p:par>
                                <p:cTn id="17" presetID="10" presetClass="entr" presetSubtype="0"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250"/>
                                        <p:tgtEl>
                                          <p:spTgt spid="3"/>
                                        </p:tgtEl>
                                      </p:cBhvr>
                                    </p:animEffect>
                                  </p:childTnLst>
                                </p:cTn>
                              </p:par>
                            </p:childTnLst>
                          </p:cTn>
                        </p:par>
                        <p:par>
                          <p:cTn id="20" fill="hold">
                            <p:stCondLst>
                              <p:cond delay="2500"/>
                            </p:stCondLst>
                            <p:childTnLst>
                              <p:par>
                                <p:cTn id="21" presetID="10" presetClass="entr" presetSubtype="0" fill="hold" grpId="0"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5C4FA36-AF78-456C-BA30-922BAAC9A260}"/>
              </a:ext>
            </a:extLst>
          </p:cNvPr>
          <p:cNvSpPr txBox="1"/>
          <p:nvPr/>
        </p:nvSpPr>
        <p:spPr>
          <a:xfrm>
            <a:off x="1105638" y="232513"/>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机器学习方法三要素</a:t>
            </a:r>
          </a:p>
        </p:txBody>
      </p:sp>
      <p:grpSp>
        <p:nvGrpSpPr>
          <p:cNvPr id="7" name="组合 6">
            <a:extLst>
              <a:ext uri="{FF2B5EF4-FFF2-40B4-BE49-F238E27FC236}">
                <a16:creationId xmlns:a16="http://schemas.microsoft.com/office/drawing/2014/main" id="{A788E97A-380C-4BBA-B6F6-413F15E29748}"/>
              </a:ext>
            </a:extLst>
          </p:cNvPr>
          <p:cNvGrpSpPr/>
          <p:nvPr/>
        </p:nvGrpSpPr>
        <p:grpSpPr>
          <a:xfrm>
            <a:off x="274265" y="222655"/>
            <a:ext cx="563089" cy="556264"/>
            <a:chOff x="318716" y="199386"/>
            <a:chExt cx="608244" cy="600871"/>
          </a:xfrm>
        </p:grpSpPr>
        <p:sp>
          <p:nvSpPr>
            <p:cNvPr id="8" name="任意多边形 1">
              <a:extLst>
                <a:ext uri="{FF2B5EF4-FFF2-40B4-BE49-F238E27FC236}">
                  <a16:creationId xmlns:a16="http://schemas.microsoft.com/office/drawing/2014/main" id="{F706DC93-AC4C-4E23-B211-20BDCBD01B87}"/>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chemeClr val="tx1"/>
                </a:solidFill>
                <a:effectLst/>
                <a:uLnTx/>
                <a:uFillTx/>
                <a:latin typeface="等线" panose="02010600030101010101" charset="-122"/>
                <a:ea typeface="等线" panose="02010600030101010101" charset="-122"/>
                <a:cs typeface="+mn-cs"/>
              </a:endParaRPr>
            </a:p>
          </p:txBody>
        </p:sp>
        <p:sp>
          <p:nvSpPr>
            <p:cNvPr id="9" name="任意多边形 2">
              <a:extLst>
                <a:ext uri="{FF2B5EF4-FFF2-40B4-BE49-F238E27FC236}">
                  <a16:creationId xmlns:a16="http://schemas.microsoft.com/office/drawing/2014/main" id="{77A64933-1547-4367-903B-175878E9772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F1490783-98E7-401E-98C5-D7561F815D63}"/>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BE1CCDE2-4632-4F89-8B60-C9E694805066}"/>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28AF4DBF-8581-457B-9A96-F4B792D2662A}"/>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E5A7D0AB-F937-4117-B781-A80F60278BFF}"/>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2A59877D-301B-4865-9ABE-593AB7CE35B2}"/>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5DE31484-4403-43CA-93F4-0133563A6236}"/>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A234C4BB-0A4D-4932-A5E7-2BBCF6D8E586}"/>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5DC03CCF-CF75-4916-8D91-63BBF7AFC3E7}"/>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C2ED2409-22A6-4441-AE20-C411FB6D87F0}"/>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19" name="椭圆 18">
              <a:extLst>
                <a:ext uri="{FF2B5EF4-FFF2-40B4-BE49-F238E27FC236}">
                  <a16:creationId xmlns:a16="http://schemas.microsoft.com/office/drawing/2014/main" id="{2A03C842-8EDB-4914-A8BF-0CC04C9862C9}"/>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0" name="椭圆 19">
              <a:extLst>
                <a:ext uri="{FF2B5EF4-FFF2-40B4-BE49-F238E27FC236}">
                  <a16:creationId xmlns:a16="http://schemas.microsoft.com/office/drawing/2014/main" id="{01C997AB-9145-4F5C-ACD0-136625086B4F}"/>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1" name="椭圆 20">
              <a:extLst>
                <a:ext uri="{FF2B5EF4-FFF2-40B4-BE49-F238E27FC236}">
                  <a16:creationId xmlns:a16="http://schemas.microsoft.com/office/drawing/2014/main" id="{5F76A0EC-2B38-406F-9903-61809E12856D}"/>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25ACA539-1A4F-445E-BB4C-C3BD22A62490}"/>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65A5AA2E-F5B1-45D0-8335-BB003E012714}"/>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0A478D28-62AF-427B-A6EB-AD5FCA6E1A14}"/>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5" name="任意多边形: 形状 24">
              <a:extLst>
                <a:ext uri="{FF2B5EF4-FFF2-40B4-BE49-F238E27FC236}">
                  <a16:creationId xmlns:a16="http://schemas.microsoft.com/office/drawing/2014/main" id="{C3D8C46F-9502-4E17-A394-A005241180BC}"/>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6" name="任意多边形: 形状 25">
              <a:extLst>
                <a:ext uri="{FF2B5EF4-FFF2-40B4-BE49-F238E27FC236}">
                  <a16:creationId xmlns:a16="http://schemas.microsoft.com/office/drawing/2014/main" id="{9BED250D-F788-44A1-AB6A-C82A6081C379}"/>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sp>
          <p:nvSpPr>
            <p:cNvPr id="27" name="任意多边形: 形状 26">
              <a:extLst>
                <a:ext uri="{FF2B5EF4-FFF2-40B4-BE49-F238E27FC236}">
                  <a16:creationId xmlns:a16="http://schemas.microsoft.com/office/drawing/2014/main" id="{E0610344-E24B-4ECD-B03F-2760A10FF5D2}"/>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grpSp>
      <p:sp>
        <p:nvSpPr>
          <p:cNvPr id="28" name="文本框 27">
            <a:extLst>
              <a:ext uri="{FF2B5EF4-FFF2-40B4-BE49-F238E27FC236}">
                <a16:creationId xmlns:a16="http://schemas.microsoft.com/office/drawing/2014/main" id="{60179DF7-D6A0-4DFB-A824-C89436D6A617}"/>
              </a:ext>
            </a:extLst>
          </p:cNvPr>
          <p:cNvSpPr txBox="1"/>
          <p:nvPr/>
        </p:nvSpPr>
        <p:spPr>
          <a:xfrm>
            <a:off x="705485" y="1246505"/>
            <a:ext cx="10653395" cy="1543685"/>
          </a:xfrm>
          <a:prstGeom prst="rect">
            <a:avLst/>
          </a:prstGeom>
          <a:noFill/>
        </p:spPr>
        <p:txBody>
          <a:bodyPr wrap="square" rtlCol="0">
            <a:spAutoFit/>
          </a:bodyPr>
          <a:lstStyle/>
          <a:p>
            <a:pPr>
              <a:lnSpc>
                <a:spcPct val="110000"/>
              </a:lnSpc>
            </a:pPr>
            <a:r>
              <a:rPr lang="zh-CN" altLang="en-US" sz="2000" dirty="0"/>
              <a:t>机器学习方法通常都是由</a:t>
            </a:r>
            <a:r>
              <a:rPr lang="zh-CN" altLang="en-US" sz="2400" b="1" dirty="0"/>
              <a:t>模型、策略和算法</a:t>
            </a:r>
            <a:r>
              <a:rPr lang="zh-CN" altLang="en-US" sz="2000" dirty="0"/>
              <a:t>三部分构成：方法=模型+策略+算法</a:t>
            </a:r>
          </a:p>
          <a:p>
            <a:pPr>
              <a:lnSpc>
                <a:spcPct val="110000"/>
              </a:lnSpc>
            </a:pPr>
            <a:r>
              <a:rPr lang="zh-CN" altLang="en-US" sz="2000" b="1" dirty="0"/>
              <a:t>模型</a:t>
            </a:r>
            <a:r>
              <a:rPr lang="zh-CN" altLang="en-US" sz="2000" dirty="0"/>
              <a:t>：输入空间到输出空间的映射关系。学习过程即为从假设空间中搜索适合当前数据的假设。</a:t>
            </a:r>
          </a:p>
          <a:p>
            <a:pPr>
              <a:lnSpc>
                <a:spcPct val="110000"/>
              </a:lnSpc>
            </a:pPr>
            <a:r>
              <a:rPr lang="zh-CN" altLang="en-US" sz="2000" b="1" dirty="0"/>
              <a:t>策略</a:t>
            </a:r>
            <a:r>
              <a:rPr lang="zh-CN" altLang="en-US" sz="2000" dirty="0"/>
              <a:t>：从假设空间众多的假设中选择到最优的模型的学习标准或规则。</a:t>
            </a:r>
          </a:p>
          <a:p>
            <a:pPr>
              <a:lnSpc>
                <a:spcPct val="120000"/>
              </a:lnSpc>
            </a:pPr>
            <a:r>
              <a:rPr lang="zh-CN" altLang="en-US" sz="2000" b="1" dirty="0"/>
              <a:t>算法</a:t>
            </a:r>
            <a:r>
              <a:rPr lang="zh-CN" altLang="en-US" sz="2000" dirty="0"/>
              <a:t>：学习模型的具体的计算方法，通常是求解最优化问题。</a:t>
            </a:r>
          </a:p>
        </p:txBody>
      </p:sp>
      <p:pic>
        <p:nvPicPr>
          <p:cNvPr id="29" name="图片 4" descr="303b32303137373439353bc9e8d6c3b3ddc2d6">
            <a:extLst>
              <a:ext uri="{FF2B5EF4-FFF2-40B4-BE49-F238E27FC236}">
                <a16:creationId xmlns:a16="http://schemas.microsoft.com/office/drawing/2014/main" id="{EE816F06-920A-4B68-8B77-9273E4E778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91005" y="3274060"/>
            <a:ext cx="1971675" cy="1971675"/>
          </a:xfrm>
          <a:prstGeom prst="rect">
            <a:avLst/>
          </a:prstGeom>
        </p:spPr>
      </p:pic>
      <p:pic>
        <p:nvPicPr>
          <p:cNvPr id="30" name="图片 6" descr="303b32303233353434373bb5c6c5dd">
            <a:extLst>
              <a:ext uri="{FF2B5EF4-FFF2-40B4-BE49-F238E27FC236}">
                <a16:creationId xmlns:a16="http://schemas.microsoft.com/office/drawing/2014/main" id="{32328C29-9DD0-4F91-A4B3-B1BEA7BD26A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94300" y="3357880"/>
            <a:ext cx="1803400" cy="1803400"/>
          </a:xfrm>
          <a:prstGeom prst="rect">
            <a:avLst/>
          </a:prstGeom>
        </p:spPr>
      </p:pic>
      <p:pic>
        <p:nvPicPr>
          <p:cNvPr id="31" name="图片 7" descr="303b32313537323331313bd7e9bacfcee5b1dfd0ce">
            <a:extLst>
              <a:ext uri="{FF2B5EF4-FFF2-40B4-BE49-F238E27FC236}">
                <a16:creationId xmlns:a16="http://schemas.microsoft.com/office/drawing/2014/main" id="{3BEE4D2B-8555-417C-BA39-208401FDCE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528685" y="3491865"/>
            <a:ext cx="2099310" cy="1803400"/>
          </a:xfrm>
          <a:prstGeom prst="rect">
            <a:avLst/>
          </a:prstGeom>
        </p:spPr>
      </p:pic>
      <p:sp>
        <p:nvSpPr>
          <p:cNvPr id="32" name="文本框 31">
            <a:extLst>
              <a:ext uri="{FF2B5EF4-FFF2-40B4-BE49-F238E27FC236}">
                <a16:creationId xmlns:a16="http://schemas.microsoft.com/office/drawing/2014/main" id="{27DADD25-66FA-472D-887C-59E4B72E1406}"/>
              </a:ext>
            </a:extLst>
          </p:cNvPr>
          <p:cNvSpPr txBox="1"/>
          <p:nvPr/>
        </p:nvSpPr>
        <p:spPr>
          <a:xfrm>
            <a:off x="1524000" y="5785485"/>
            <a:ext cx="2356485" cy="368300"/>
          </a:xfrm>
          <a:prstGeom prst="rect">
            <a:avLst/>
          </a:prstGeom>
          <a:noFill/>
        </p:spPr>
        <p:txBody>
          <a:bodyPr wrap="square" rtlCol="0">
            <a:spAutoFit/>
          </a:bodyPr>
          <a:lstStyle/>
          <a:p>
            <a:r>
              <a:rPr lang="zh-CN" altLang="en-US" dirty="0"/>
              <a:t>模型：确定学习范围</a:t>
            </a:r>
          </a:p>
        </p:txBody>
      </p:sp>
      <p:sp>
        <p:nvSpPr>
          <p:cNvPr id="33" name="文本框 32">
            <a:extLst>
              <a:ext uri="{FF2B5EF4-FFF2-40B4-BE49-F238E27FC236}">
                <a16:creationId xmlns:a16="http://schemas.microsoft.com/office/drawing/2014/main" id="{5DB39836-DD7C-4B6D-B813-AED42E4928AE}"/>
              </a:ext>
            </a:extLst>
          </p:cNvPr>
          <p:cNvSpPr txBox="1"/>
          <p:nvPr/>
        </p:nvSpPr>
        <p:spPr>
          <a:xfrm>
            <a:off x="4994910" y="5785485"/>
            <a:ext cx="2949575" cy="368300"/>
          </a:xfrm>
          <a:prstGeom prst="rect">
            <a:avLst/>
          </a:prstGeom>
          <a:noFill/>
        </p:spPr>
        <p:txBody>
          <a:bodyPr wrap="square" rtlCol="0">
            <a:spAutoFit/>
          </a:bodyPr>
          <a:lstStyle/>
          <a:p>
            <a:r>
              <a:rPr lang="zh-CN" altLang="en-US" dirty="0"/>
              <a:t>策略：确定学习规则</a:t>
            </a:r>
          </a:p>
        </p:txBody>
      </p:sp>
      <p:sp>
        <p:nvSpPr>
          <p:cNvPr id="34" name="文本框 33">
            <a:extLst>
              <a:ext uri="{FF2B5EF4-FFF2-40B4-BE49-F238E27FC236}">
                <a16:creationId xmlns:a16="http://schemas.microsoft.com/office/drawing/2014/main" id="{F0538D2B-FBA5-4F41-B42B-FAE9065D8E14}"/>
              </a:ext>
            </a:extLst>
          </p:cNvPr>
          <p:cNvSpPr txBox="1"/>
          <p:nvPr/>
        </p:nvSpPr>
        <p:spPr>
          <a:xfrm>
            <a:off x="8339455" y="5785485"/>
            <a:ext cx="3019425" cy="368300"/>
          </a:xfrm>
          <a:prstGeom prst="rect">
            <a:avLst/>
          </a:prstGeom>
          <a:noFill/>
        </p:spPr>
        <p:txBody>
          <a:bodyPr wrap="square" rtlCol="0">
            <a:spAutoFit/>
          </a:bodyPr>
          <a:lstStyle/>
          <a:p>
            <a:r>
              <a:rPr lang="zh-CN" altLang="en-US" dirty="0"/>
              <a:t>算法：按规则在范围内学习</a:t>
            </a:r>
          </a:p>
        </p:txBody>
      </p:sp>
    </p:spTree>
    <p:extLst>
      <p:ext uri="{BB962C8B-B14F-4D97-AF65-F5344CB8AC3E}">
        <p14:creationId xmlns:p14="http://schemas.microsoft.com/office/powerpoint/2010/main" val="2869233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style.rotation</p:attrName>
                                        </p:attrNameLst>
                                      </p:cBhvr>
                                      <p:tavLst>
                                        <p:tav tm="0">
                                          <p:val>
                                            <p:fltVal val="90"/>
                                          </p:val>
                                        </p:tav>
                                        <p:tav tm="100000">
                                          <p:val>
                                            <p:fltVal val="0"/>
                                          </p:val>
                                        </p:tav>
                                      </p:tavLst>
                                    </p:anim>
                                    <p:animEffect transition="in" filter="fade">
                                      <p:cBhvr>
                                        <p:cTn id="10" dur="1000"/>
                                        <p:tgtEl>
                                          <p:spTgt spid="7"/>
                                        </p:tgtEl>
                                      </p:cBhvr>
                                    </p:animEffect>
                                  </p:childTnLst>
                                </p:cTn>
                              </p:par>
                              <p:par>
                                <p:cTn id="11" presetID="8" presetClass="emph" presetSubtype="0" fill="hold" nodeType="withEffect">
                                  <p:stCondLst>
                                    <p:cond delay="250"/>
                                  </p:stCondLst>
                                  <p:childTnLst>
                                    <p:animRot by="-21600000">
                                      <p:cBhvr>
                                        <p:cTn id="12" dur="2000" fill="hold"/>
                                        <p:tgtEl>
                                          <p:spTgt spid="7"/>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blinds(horizontal)">
                                      <p:cBhvr>
                                        <p:cTn id="20" dur="500"/>
                                        <p:tgtEl>
                                          <p:spTgt spid="28"/>
                                        </p:tgtEl>
                                      </p:cBhvr>
                                    </p:animEffect>
                                  </p:childTnLst>
                                </p:cTn>
                              </p:par>
                              <p:par>
                                <p:cTn id="21" presetID="3" presetClass="entr" presetSubtype="10" fill="hold" nodeType="with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blinds(horizontal)">
                                      <p:cBhvr>
                                        <p:cTn id="23" dur="500"/>
                                        <p:tgtEl>
                                          <p:spTgt spid="29"/>
                                        </p:tgtEl>
                                      </p:cBhvr>
                                    </p:animEffect>
                                  </p:childTnLst>
                                </p:cTn>
                              </p:par>
                              <p:par>
                                <p:cTn id="24" presetID="3" presetClass="entr" presetSubtype="10" fill="hold" nodeType="with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blinds(horizontal)">
                                      <p:cBhvr>
                                        <p:cTn id="26" dur="500"/>
                                        <p:tgtEl>
                                          <p:spTgt spid="30"/>
                                        </p:tgtEl>
                                      </p:cBhvr>
                                    </p:animEffect>
                                  </p:childTnLst>
                                </p:cTn>
                              </p:par>
                              <p:par>
                                <p:cTn id="27" presetID="3" presetClass="entr" presetSubtype="10" fill="hold" nodeType="with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blinds(horizontal)">
                                      <p:cBhvr>
                                        <p:cTn id="29" dur="500"/>
                                        <p:tgtEl>
                                          <p:spTgt spid="31"/>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blinds(horizontal)">
                                      <p:cBhvr>
                                        <p:cTn id="32" dur="500"/>
                                        <p:tgtEl>
                                          <p:spTgt spid="34"/>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animEffect transition="in" filter="blinds(horizontal)">
                                      <p:cBhvr>
                                        <p:cTn id="35" dur="500"/>
                                        <p:tgtEl>
                                          <p:spTgt spid="33"/>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2"/>
                                        </p:tgtEl>
                                        <p:attrNameLst>
                                          <p:attrName>style.visibility</p:attrName>
                                        </p:attrNameLst>
                                      </p:cBhvr>
                                      <p:to>
                                        <p:strVal val="visible"/>
                                      </p:to>
                                    </p:set>
                                    <p:animEffect transition="in" filter="blinds(horizontal)">
                                      <p:cBhvr>
                                        <p:cTn id="3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8" grpId="0"/>
      <p:bldP spid="32" grpId="0"/>
      <p:bldP spid="33" grpId="0"/>
      <p:bldP spid="3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C0C5EE4-038F-4293-8395-C9DBE8B3528C}"/>
              </a:ext>
            </a:extLst>
          </p:cNvPr>
          <p:cNvSpPr txBox="1"/>
          <p:nvPr/>
        </p:nvSpPr>
        <p:spPr>
          <a:xfrm>
            <a:off x="951520" y="208400"/>
            <a:ext cx="995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模型</a:t>
            </a:r>
          </a:p>
        </p:txBody>
      </p:sp>
      <p:grpSp>
        <p:nvGrpSpPr>
          <p:cNvPr id="4" name="组合 3">
            <a:extLst>
              <a:ext uri="{FF2B5EF4-FFF2-40B4-BE49-F238E27FC236}">
                <a16:creationId xmlns:a16="http://schemas.microsoft.com/office/drawing/2014/main" id="{3A665BAC-0950-4EED-B36D-60C5A11B00A2}"/>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EF0EDC74-B2BD-4B0C-831D-AB0C18DA5018}"/>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8C9D5441-118A-41C9-B842-CDCE7D26BDE8}"/>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07616F01-393A-4B73-99C6-DDAB7EAC7E19}"/>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DE9FAB02-3856-4899-A153-63B6E9AF4AE2}"/>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4F984537-A959-43EC-83C0-EA4E2B3BAC72}"/>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B5CCF92-ABF2-4558-AFF7-624BFF202983}"/>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27DBB721-E055-4C9B-90E7-D235927B6719}"/>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17CCCB12-A66E-4628-86F8-6817C29A98D9}"/>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6DFBD754-0435-4DDC-B9DB-DB3D77278892}"/>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477B2F5F-15B3-4259-A874-99FF8EB41592}"/>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2BF21087-5F6F-43C4-9A19-38A4A47BCB1A}"/>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3782914-9423-4445-A60F-C4843400DA0B}"/>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C741B4EC-0A56-4C8A-A89E-F892A1CD1F8E}"/>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72763E29-DE28-47E7-9061-2E1EE0F54214}"/>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2A4DC5E6-0867-47F2-8E63-DC576C076831}"/>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87110394-F566-40D8-B3CA-248D32967B45}"/>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E684B48D-5352-4C59-93F5-A94A2A314713}"/>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09F1D2B-9851-43A9-9B20-42501BBEDB42}"/>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04E83352-7969-40BA-9D74-83E445A72DE2}"/>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82AA2180-2B20-4491-A911-7C57A7B87070}"/>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BD66249B-2633-431B-BA57-366D4FE7C959}"/>
              </a:ext>
            </a:extLst>
          </p:cNvPr>
          <p:cNvSpPr txBox="1"/>
          <p:nvPr/>
        </p:nvSpPr>
        <p:spPr>
          <a:xfrm>
            <a:off x="951230" y="1184910"/>
            <a:ext cx="9476740" cy="768350"/>
          </a:xfrm>
          <a:prstGeom prst="rect">
            <a:avLst/>
          </a:prstGeom>
          <a:noFill/>
        </p:spPr>
        <p:txBody>
          <a:bodyPr wrap="square" rtlCol="0">
            <a:spAutoFit/>
          </a:bodyPr>
          <a:lstStyle/>
          <a:p>
            <a:r>
              <a:rPr lang="zh-CN" altLang="en-US" sz="2400" b="1" dirty="0"/>
              <a:t>模型：</a:t>
            </a:r>
            <a:r>
              <a:rPr lang="zh-CN" altLang="en-US" sz="2000" dirty="0"/>
              <a:t>输入空间到输出空间的映射关系。学习过程即为从假设空间中搜索适合当前数据的假设。分析当前需要解决的问题，确定模型。</a:t>
            </a:r>
          </a:p>
        </p:txBody>
      </p:sp>
      <p:cxnSp>
        <p:nvCxnSpPr>
          <p:cNvPr id="26" name="直接箭头连接符 25">
            <a:extLst>
              <a:ext uri="{FF2B5EF4-FFF2-40B4-BE49-F238E27FC236}">
                <a16:creationId xmlns:a16="http://schemas.microsoft.com/office/drawing/2014/main" id="{BD947011-FA59-4F75-A340-669D1D23F3BB}"/>
              </a:ext>
            </a:extLst>
          </p:cNvPr>
          <p:cNvCxnSpPr/>
          <p:nvPr/>
        </p:nvCxnSpPr>
        <p:spPr>
          <a:xfrm>
            <a:off x="1179195" y="3831590"/>
            <a:ext cx="951865" cy="2095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sp>
        <p:nvSpPr>
          <p:cNvPr id="27" name="菱形 26">
            <a:extLst>
              <a:ext uri="{FF2B5EF4-FFF2-40B4-BE49-F238E27FC236}">
                <a16:creationId xmlns:a16="http://schemas.microsoft.com/office/drawing/2014/main" id="{054A3117-1E68-478F-B0D0-D4CA351BC269}"/>
              </a:ext>
            </a:extLst>
          </p:cNvPr>
          <p:cNvSpPr/>
          <p:nvPr/>
        </p:nvSpPr>
        <p:spPr>
          <a:xfrm>
            <a:off x="2131060" y="2828290"/>
            <a:ext cx="2049145" cy="2028190"/>
          </a:xfrm>
          <a:prstGeom prst="diamond">
            <a:avLst/>
          </a:prstGeom>
          <a:noFill/>
          <a:ln w="412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13439D7B-23C4-4224-8097-E5A8CDDA55F4}"/>
              </a:ext>
            </a:extLst>
          </p:cNvPr>
          <p:cNvSpPr txBox="1"/>
          <p:nvPr/>
        </p:nvSpPr>
        <p:spPr>
          <a:xfrm>
            <a:off x="2487295" y="3509645"/>
            <a:ext cx="1336675" cy="706755"/>
          </a:xfrm>
          <a:prstGeom prst="rect">
            <a:avLst/>
          </a:prstGeom>
          <a:noFill/>
        </p:spPr>
        <p:txBody>
          <a:bodyPr wrap="square" rtlCol="0">
            <a:spAutoFit/>
          </a:bodyPr>
          <a:lstStyle/>
          <a:p>
            <a:r>
              <a:rPr lang="zh-CN" altLang="en-US" sz="2000" b="1" dirty="0"/>
              <a:t>需要解决什么问题</a:t>
            </a:r>
          </a:p>
        </p:txBody>
      </p:sp>
      <p:grpSp>
        <p:nvGrpSpPr>
          <p:cNvPr id="29" name="组合 28">
            <a:extLst>
              <a:ext uri="{FF2B5EF4-FFF2-40B4-BE49-F238E27FC236}">
                <a16:creationId xmlns:a16="http://schemas.microsoft.com/office/drawing/2014/main" id="{69685C5D-D000-4A94-AEEE-09CB4EC2D325}"/>
              </a:ext>
            </a:extLst>
          </p:cNvPr>
          <p:cNvGrpSpPr/>
          <p:nvPr>
            <p:custDataLst>
              <p:tags r:id="rId1"/>
            </p:custDataLst>
          </p:nvPr>
        </p:nvGrpSpPr>
        <p:grpSpPr>
          <a:xfrm rot="16200000">
            <a:off x="4139565" y="2543175"/>
            <a:ext cx="3100070" cy="2576830"/>
            <a:chOff x="2832697" y="2488586"/>
            <a:chExt cx="6620242" cy="1205872"/>
          </a:xfrm>
        </p:grpSpPr>
        <p:cxnSp>
          <p:nvCxnSpPr>
            <p:cNvPr id="30" name="直接箭头连接符 29">
              <a:extLst>
                <a:ext uri="{FF2B5EF4-FFF2-40B4-BE49-F238E27FC236}">
                  <a16:creationId xmlns:a16="http://schemas.microsoft.com/office/drawing/2014/main" id="{A1ABC6FA-E5C9-4356-B901-6ACA64F4A9ED}"/>
                </a:ext>
              </a:extLst>
            </p:cNvPr>
            <p:cNvCxnSpPr/>
            <p:nvPr>
              <p:custDataLst>
                <p:tags r:id="rId2"/>
              </p:custDataLst>
            </p:nvPr>
          </p:nvCxnSpPr>
          <p:spPr>
            <a:xfrm>
              <a:off x="4982491" y="3101008"/>
              <a:ext cx="0" cy="593450"/>
            </a:xfrm>
            <a:prstGeom prst="straightConnector1">
              <a:avLst/>
            </a:prstGeom>
            <a:ln w="38100">
              <a:solidFill>
                <a:srgbClr val="2C85AE"/>
              </a:solidFill>
              <a:headEnd w="lg" len="lg"/>
              <a:tailEnd type="triangle"/>
            </a:ln>
          </p:spPr>
          <p:style>
            <a:lnRef idx="1">
              <a:srgbClr val="5B9BD5"/>
            </a:lnRef>
            <a:fillRef idx="0">
              <a:srgbClr val="5B9BD5"/>
            </a:fillRef>
            <a:effectRef idx="0">
              <a:srgbClr val="5B9BD5"/>
            </a:effectRef>
            <a:fontRef idx="minor">
              <a:sysClr val="windowText" lastClr="000000"/>
            </a:fontRef>
          </p:style>
        </p:cxnSp>
        <p:grpSp>
          <p:nvGrpSpPr>
            <p:cNvPr id="31" name="组合 30">
              <a:extLst>
                <a:ext uri="{FF2B5EF4-FFF2-40B4-BE49-F238E27FC236}">
                  <a16:creationId xmlns:a16="http://schemas.microsoft.com/office/drawing/2014/main" id="{BEE4B12B-9055-4DC6-95F9-0D6BD20A29C8}"/>
                </a:ext>
              </a:extLst>
            </p:cNvPr>
            <p:cNvGrpSpPr/>
            <p:nvPr/>
          </p:nvGrpSpPr>
          <p:grpSpPr>
            <a:xfrm rot="10800000">
              <a:off x="2832697" y="2488586"/>
              <a:ext cx="6620242" cy="1205871"/>
              <a:chOff x="3467099" y="3350314"/>
              <a:chExt cx="5187672" cy="1205871"/>
            </a:xfrm>
          </p:grpSpPr>
          <p:cxnSp>
            <p:nvCxnSpPr>
              <p:cNvPr id="33" name="肘形连接符 33">
                <a:extLst>
                  <a:ext uri="{FF2B5EF4-FFF2-40B4-BE49-F238E27FC236}">
                    <a16:creationId xmlns:a16="http://schemas.microsoft.com/office/drawing/2014/main" id="{5EA8B216-63CA-4C84-86A5-43AF5EE66D51}"/>
                  </a:ext>
                </a:extLst>
              </p:cNvPr>
              <p:cNvCxnSpPr/>
              <p:nvPr>
                <p:custDataLst>
                  <p:tags r:id="rId4"/>
                </p:custDataLst>
              </p:nvPr>
            </p:nvCxnSpPr>
            <p:spPr>
              <a:xfrm rot="16200000" flipV="1">
                <a:off x="4178614" y="2638798"/>
                <a:ext cx="1205871" cy="2628902"/>
              </a:xfrm>
              <a:prstGeom prst="bentConnector3">
                <a:avLst/>
              </a:prstGeom>
              <a:ln w="38100">
                <a:solidFill>
                  <a:srgbClr val="2C85AE"/>
                </a:solidFill>
                <a:tailEnd type="triangle"/>
              </a:ln>
            </p:spPr>
            <p:style>
              <a:lnRef idx="1">
                <a:srgbClr val="5B9BD5"/>
              </a:lnRef>
              <a:fillRef idx="0">
                <a:srgbClr val="5B9BD5"/>
              </a:fillRef>
              <a:effectRef idx="0">
                <a:srgbClr val="5B9BD5"/>
              </a:effectRef>
              <a:fontRef idx="minor">
                <a:sysClr val="windowText" lastClr="000000"/>
              </a:fontRef>
            </p:style>
          </p:cxnSp>
          <p:cxnSp>
            <p:nvCxnSpPr>
              <p:cNvPr id="34" name="肘形连接符 34">
                <a:extLst>
                  <a:ext uri="{FF2B5EF4-FFF2-40B4-BE49-F238E27FC236}">
                    <a16:creationId xmlns:a16="http://schemas.microsoft.com/office/drawing/2014/main" id="{87120689-2122-4ED0-AD38-D5167F070A39}"/>
                  </a:ext>
                </a:extLst>
              </p:cNvPr>
              <p:cNvCxnSpPr/>
              <p:nvPr>
                <p:custDataLst>
                  <p:tags r:id="rId5"/>
                </p:custDataLst>
              </p:nvPr>
            </p:nvCxnSpPr>
            <p:spPr>
              <a:xfrm rot="5400000" flipH="1" flipV="1">
                <a:off x="6737384" y="2638798"/>
                <a:ext cx="1205871" cy="2628903"/>
              </a:xfrm>
              <a:prstGeom prst="bentConnector3">
                <a:avLst/>
              </a:prstGeom>
              <a:ln w="38100">
                <a:solidFill>
                  <a:srgbClr val="2C85AE"/>
                </a:solidFill>
                <a:tailEnd type="triangle"/>
              </a:ln>
            </p:spPr>
            <p:style>
              <a:lnRef idx="1">
                <a:srgbClr val="5B9BD5"/>
              </a:lnRef>
              <a:fillRef idx="0">
                <a:srgbClr val="5B9BD5"/>
              </a:fillRef>
              <a:effectRef idx="0">
                <a:srgbClr val="5B9BD5"/>
              </a:effectRef>
              <a:fontRef idx="minor">
                <a:sysClr val="windowText" lastClr="000000"/>
              </a:fontRef>
            </p:style>
          </p:cxnSp>
        </p:grpSp>
        <p:cxnSp>
          <p:nvCxnSpPr>
            <p:cNvPr id="32" name="直接箭头连接符 31">
              <a:extLst>
                <a:ext uri="{FF2B5EF4-FFF2-40B4-BE49-F238E27FC236}">
                  <a16:creationId xmlns:a16="http://schemas.microsoft.com/office/drawing/2014/main" id="{819EE35E-764E-4509-895E-8729F1DF11C2}"/>
                </a:ext>
              </a:extLst>
            </p:cNvPr>
            <p:cNvCxnSpPr/>
            <p:nvPr>
              <p:custDataLst>
                <p:tags r:id="rId3"/>
              </p:custDataLst>
            </p:nvPr>
          </p:nvCxnSpPr>
          <p:spPr>
            <a:xfrm>
              <a:off x="7207576" y="3091069"/>
              <a:ext cx="0" cy="593450"/>
            </a:xfrm>
            <a:prstGeom prst="straightConnector1">
              <a:avLst/>
            </a:prstGeom>
            <a:ln w="38100">
              <a:solidFill>
                <a:srgbClr val="2C85AE"/>
              </a:solidFill>
              <a:headEnd w="lg" len="lg"/>
              <a:tailEnd type="triangle"/>
            </a:ln>
          </p:spPr>
          <p:style>
            <a:lnRef idx="1">
              <a:srgbClr val="5B9BD5"/>
            </a:lnRef>
            <a:fillRef idx="0">
              <a:srgbClr val="5B9BD5"/>
            </a:fillRef>
            <a:effectRef idx="0">
              <a:srgbClr val="5B9BD5"/>
            </a:effectRef>
            <a:fontRef idx="minor">
              <a:sysClr val="windowText" lastClr="000000"/>
            </a:fontRef>
          </p:style>
        </p:cxnSp>
      </p:grpSp>
      <p:sp>
        <p:nvSpPr>
          <p:cNvPr id="35" name="文本框 34">
            <a:extLst>
              <a:ext uri="{FF2B5EF4-FFF2-40B4-BE49-F238E27FC236}">
                <a16:creationId xmlns:a16="http://schemas.microsoft.com/office/drawing/2014/main" id="{4CA9B3AD-BD9D-40C8-BB8B-053E46126ED4}"/>
              </a:ext>
            </a:extLst>
          </p:cNvPr>
          <p:cNvSpPr txBox="1"/>
          <p:nvPr/>
        </p:nvSpPr>
        <p:spPr>
          <a:xfrm>
            <a:off x="7202805" y="1953260"/>
            <a:ext cx="2187575" cy="645160"/>
          </a:xfrm>
          <a:prstGeom prst="rect">
            <a:avLst/>
          </a:prstGeom>
          <a:noFill/>
        </p:spPr>
        <p:txBody>
          <a:bodyPr wrap="square" rtlCol="0">
            <a:spAutoFit/>
          </a:bodyPr>
          <a:lstStyle/>
          <a:p>
            <a:r>
              <a:rPr lang="en-US" altLang="zh-CN" dirty="0"/>
              <a:t>       </a:t>
            </a:r>
            <a:r>
              <a:rPr lang="zh-CN" altLang="en-US" dirty="0"/>
              <a:t>分类</a:t>
            </a:r>
          </a:p>
          <a:p>
            <a:r>
              <a:rPr lang="en-US" altLang="zh-CN" dirty="0"/>
              <a:t>Classification</a:t>
            </a:r>
          </a:p>
        </p:txBody>
      </p:sp>
      <p:sp>
        <p:nvSpPr>
          <p:cNvPr id="36" name="文本框 35">
            <a:extLst>
              <a:ext uri="{FF2B5EF4-FFF2-40B4-BE49-F238E27FC236}">
                <a16:creationId xmlns:a16="http://schemas.microsoft.com/office/drawing/2014/main" id="{30F5848D-751A-4885-AFF9-6F80F18ACD2C}"/>
              </a:ext>
            </a:extLst>
          </p:cNvPr>
          <p:cNvSpPr txBox="1"/>
          <p:nvPr/>
        </p:nvSpPr>
        <p:spPr>
          <a:xfrm>
            <a:off x="7315835" y="3010535"/>
            <a:ext cx="2187575" cy="645160"/>
          </a:xfrm>
          <a:prstGeom prst="rect">
            <a:avLst/>
          </a:prstGeom>
          <a:noFill/>
        </p:spPr>
        <p:txBody>
          <a:bodyPr wrap="square" rtlCol="0">
            <a:spAutoFit/>
          </a:bodyPr>
          <a:lstStyle/>
          <a:p>
            <a:r>
              <a:rPr lang="en-US" altLang="zh-CN" dirty="0"/>
              <a:t>     </a:t>
            </a:r>
            <a:r>
              <a:rPr lang="zh-CN" altLang="en-US" dirty="0"/>
              <a:t>回归</a:t>
            </a:r>
          </a:p>
          <a:p>
            <a:r>
              <a:rPr lang="en-US" altLang="zh-CN" dirty="0"/>
              <a:t>Regression</a:t>
            </a:r>
          </a:p>
        </p:txBody>
      </p:sp>
      <p:sp>
        <p:nvSpPr>
          <p:cNvPr id="37" name="文本框 36">
            <a:extLst>
              <a:ext uri="{FF2B5EF4-FFF2-40B4-BE49-F238E27FC236}">
                <a16:creationId xmlns:a16="http://schemas.microsoft.com/office/drawing/2014/main" id="{DC705FBF-733D-4414-9D80-5B787AC7B694}"/>
              </a:ext>
            </a:extLst>
          </p:cNvPr>
          <p:cNvSpPr txBox="1"/>
          <p:nvPr/>
        </p:nvSpPr>
        <p:spPr>
          <a:xfrm>
            <a:off x="7202805" y="4006850"/>
            <a:ext cx="2187575" cy="645160"/>
          </a:xfrm>
          <a:prstGeom prst="rect">
            <a:avLst/>
          </a:prstGeom>
          <a:noFill/>
        </p:spPr>
        <p:txBody>
          <a:bodyPr wrap="square" rtlCol="0">
            <a:spAutoFit/>
          </a:bodyPr>
          <a:lstStyle/>
          <a:p>
            <a:r>
              <a:rPr lang="en-US" altLang="zh-CN" dirty="0"/>
              <a:t>       </a:t>
            </a:r>
            <a:r>
              <a:rPr lang="zh-CN" altLang="en-US" dirty="0"/>
              <a:t>聚类</a:t>
            </a:r>
          </a:p>
          <a:p>
            <a:r>
              <a:rPr lang="en-US" altLang="zh-CN" dirty="0"/>
              <a:t>   Clustering</a:t>
            </a:r>
          </a:p>
        </p:txBody>
      </p:sp>
      <p:sp>
        <p:nvSpPr>
          <p:cNvPr id="38" name="文本框 37">
            <a:extLst>
              <a:ext uri="{FF2B5EF4-FFF2-40B4-BE49-F238E27FC236}">
                <a16:creationId xmlns:a16="http://schemas.microsoft.com/office/drawing/2014/main" id="{9E196FC9-6823-405B-817B-C30BE202DF5B}"/>
              </a:ext>
            </a:extLst>
          </p:cNvPr>
          <p:cNvSpPr txBox="1"/>
          <p:nvPr/>
        </p:nvSpPr>
        <p:spPr>
          <a:xfrm>
            <a:off x="7202805" y="5013325"/>
            <a:ext cx="2187575" cy="645160"/>
          </a:xfrm>
          <a:prstGeom prst="rect">
            <a:avLst/>
          </a:prstGeom>
          <a:noFill/>
        </p:spPr>
        <p:txBody>
          <a:bodyPr wrap="square" rtlCol="0">
            <a:spAutoFit/>
          </a:bodyPr>
          <a:lstStyle/>
          <a:p>
            <a:r>
              <a:rPr lang="en-US" altLang="zh-CN" dirty="0"/>
              <a:t>     </a:t>
            </a:r>
            <a:r>
              <a:rPr lang="zh-CN" altLang="en-US" dirty="0"/>
              <a:t>异常检测</a:t>
            </a:r>
          </a:p>
          <a:p>
            <a:r>
              <a:rPr lang="en-US" altLang="zh-CN" dirty="0"/>
              <a:t>Anomaly Detection</a:t>
            </a:r>
          </a:p>
        </p:txBody>
      </p:sp>
      <p:sp>
        <p:nvSpPr>
          <p:cNvPr id="39" name="文本框 38">
            <a:extLst>
              <a:ext uri="{FF2B5EF4-FFF2-40B4-BE49-F238E27FC236}">
                <a16:creationId xmlns:a16="http://schemas.microsoft.com/office/drawing/2014/main" id="{71C2788D-5809-4EC6-A909-D4C9B098AE65}"/>
              </a:ext>
            </a:extLst>
          </p:cNvPr>
          <p:cNvSpPr txBox="1"/>
          <p:nvPr/>
        </p:nvSpPr>
        <p:spPr>
          <a:xfrm>
            <a:off x="5741035" y="1953260"/>
            <a:ext cx="1205865" cy="368300"/>
          </a:xfrm>
          <a:prstGeom prst="rect">
            <a:avLst/>
          </a:prstGeom>
          <a:noFill/>
        </p:spPr>
        <p:txBody>
          <a:bodyPr wrap="square" rtlCol="0">
            <a:spAutoFit/>
          </a:bodyPr>
          <a:lstStyle/>
          <a:p>
            <a:r>
              <a:rPr lang="zh-CN" altLang="en-US" dirty="0"/>
              <a:t>预测分类</a:t>
            </a:r>
          </a:p>
        </p:txBody>
      </p:sp>
      <p:sp>
        <p:nvSpPr>
          <p:cNvPr id="40" name="文本框 39">
            <a:extLst>
              <a:ext uri="{FF2B5EF4-FFF2-40B4-BE49-F238E27FC236}">
                <a16:creationId xmlns:a16="http://schemas.microsoft.com/office/drawing/2014/main" id="{D989A7B9-3250-4C17-9C8D-11CE9D5597D4}"/>
              </a:ext>
            </a:extLst>
          </p:cNvPr>
          <p:cNvSpPr txBox="1"/>
          <p:nvPr/>
        </p:nvSpPr>
        <p:spPr>
          <a:xfrm>
            <a:off x="5709285" y="2964815"/>
            <a:ext cx="1205865" cy="368300"/>
          </a:xfrm>
          <a:prstGeom prst="rect">
            <a:avLst/>
          </a:prstGeom>
          <a:noFill/>
        </p:spPr>
        <p:txBody>
          <a:bodyPr wrap="square" rtlCol="0">
            <a:spAutoFit/>
          </a:bodyPr>
          <a:lstStyle/>
          <a:p>
            <a:r>
              <a:rPr lang="zh-CN" altLang="en-US" dirty="0"/>
              <a:t>预测取值</a:t>
            </a:r>
          </a:p>
        </p:txBody>
      </p:sp>
      <p:sp>
        <p:nvSpPr>
          <p:cNvPr id="41" name="文本框 40">
            <a:extLst>
              <a:ext uri="{FF2B5EF4-FFF2-40B4-BE49-F238E27FC236}">
                <a16:creationId xmlns:a16="http://schemas.microsoft.com/office/drawing/2014/main" id="{4C7BB6B8-ED46-43D1-A217-8DC38A241154}"/>
              </a:ext>
            </a:extLst>
          </p:cNvPr>
          <p:cNvSpPr txBox="1"/>
          <p:nvPr/>
        </p:nvSpPr>
        <p:spPr>
          <a:xfrm>
            <a:off x="5719445" y="4006850"/>
            <a:ext cx="1205865" cy="368300"/>
          </a:xfrm>
          <a:prstGeom prst="rect">
            <a:avLst/>
          </a:prstGeom>
          <a:noFill/>
        </p:spPr>
        <p:txBody>
          <a:bodyPr wrap="square" rtlCol="0">
            <a:spAutoFit/>
          </a:bodyPr>
          <a:lstStyle/>
          <a:p>
            <a:r>
              <a:rPr lang="zh-CN" altLang="en-US" dirty="0"/>
              <a:t>发现结构</a:t>
            </a:r>
          </a:p>
        </p:txBody>
      </p:sp>
      <p:sp>
        <p:nvSpPr>
          <p:cNvPr id="42" name="文本框 41">
            <a:extLst>
              <a:ext uri="{FF2B5EF4-FFF2-40B4-BE49-F238E27FC236}">
                <a16:creationId xmlns:a16="http://schemas.microsoft.com/office/drawing/2014/main" id="{AE1BE1D1-6430-4BCD-A292-72FDDE46E95D}"/>
              </a:ext>
            </a:extLst>
          </p:cNvPr>
          <p:cNvSpPr txBox="1"/>
          <p:nvPr/>
        </p:nvSpPr>
        <p:spPr>
          <a:xfrm>
            <a:off x="5719445" y="5013325"/>
            <a:ext cx="1596390" cy="368300"/>
          </a:xfrm>
          <a:prstGeom prst="rect">
            <a:avLst/>
          </a:prstGeom>
          <a:noFill/>
        </p:spPr>
        <p:txBody>
          <a:bodyPr wrap="square" rtlCol="0">
            <a:spAutoFit/>
          </a:bodyPr>
          <a:lstStyle/>
          <a:p>
            <a:r>
              <a:rPr lang="zh-CN" altLang="en-US" dirty="0"/>
              <a:t>发现异常结构</a:t>
            </a:r>
          </a:p>
        </p:txBody>
      </p:sp>
      <p:cxnSp>
        <p:nvCxnSpPr>
          <p:cNvPr id="43" name="直接箭头连接符 42">
            <a:extLst>
              <a:ext uri="{FF2B5EF4-FFF2-40B4-BE49-F238E27FC236}">
                <a16:creationId xmlns:a16="http://schemas.microsoft.com/office/drawing/2014/main" id="{B18B88D1-A8A5-46A4-8733-6EBBD553C8E0}"/>
              </a:ext>
            </a:extLst>
          </p:cNvPr>
          <p:cNvCxnSpPr/>
          <p:nvPr/>
        </p:nvCxnSpPr>
        <p:spPr>
          <a:xfrm>
            <a:off x="1179195" y="3831590"/>
            <a:ext cx="951865" cy="20955"/>
          </a:xfrm>
          <a:prstGeom prst="straightConnector1">
            <a:avLst/>
          </a:prstGeom>
          <a:ln w="508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166F3D80-4B13-46D7-B7FF-9F753D628351}"/>
              </a:ext>
            </a:extLst>
          </p:cNvPr>
          <p:cNvCxnSpPr/>
          <p:nvPr/>
        </p:nvCxnSpPr>
        <p:spPr>
          <a:xfrm flipV="1">
            <a:off x="4211955" y="3831590"/>
            <a:ext cx="1529080" cy="6350"/>
          </a:xfrm>
          <a:prstGeom prst="straightConnector1">
            <a:avLst/>
          </a:prstGeom>
          <a:ln w="793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2142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500"/>
                                        <p:tgtEl>
                                          <p:spTgt spid="26"/>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wipe(down)">
                                      <p:cBhvr>
                                        <p:cTn id="28" dur="500"/>
                                        <p:tgtEl>
                                          <p:spTgt spid="27"/>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wipe(down)">
                                      <p:cBhvr>
                                        <p:cTn id="31" dur="500"/>
                                        <p:tgtEl>
                                          <p:spTgt spid="28"/>
                                        </p:tgtEl>
                                      </p:cBhvr>
                                    </p:animEffect>
                                  </p:childTnLst>
                                </p:cTn>
                              </p:par>
                              <p:par>
                                <p:cTn id="32" presetID="22" presetClass="entr" presetSubtype="4" fill="hold" nodeType="with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par>
                                <p:cTn id="35" presetID="22" presetClass="entr" presetSubtype="4"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down)">
                                      <p:cBhvr>
                                        <p:cTn id="37" dur="500"/>
                                        <p:tgtEl>
                                          <p:spTgt spid="35"/>
                                        </p:tgtEl>
                                      </p:cBhvr>
                                    </p:animEffect>
                                  </p:childTnLst>
                                </p:cTn>
                              </p:par>
                              <p:par>
                                <p:cTn id="38" presetID="22" presetClass="entr" presetSubtype="4"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wipe(down)">
                                      <p:cBhvr>
                                        <p:cTn id="40" dur="500"/>
                                        <p:tgtEl>
                                          <p:spTgt spid="36"/>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wipe(down)">
                                      <p:cBhvr>
                                        <p:cTn id="43" dur="500"/>
                                        <p:tgtEl>
                                          <p:spTgt spid="37"/>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Effect transition="in" filter="wipe(down)">
                                      <p:cBhvr>
                                        <p:cTn id="46" dur="500"/>
                                        <p:tgtEl>
                                          <p:spTgt spid="38"/>
                                        </p:tgtEl>
                                      </p:cBhvr>
                                    </p:animEffect>
                                  </p:childTnLst>
                                </p:cTn>
                              </p:par>
                              <p:par>
                                <p:cTn id="47" presetID="22" presetClass="entr" presetSubtype="4" fill="hold" grpId="0" nodeType="with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wipe(down)">
                                      <p:cBhvr>
                                        <p:cTn id="49" dur="500"/>
                                        <p:tgtEl>
                                          <p:spTgt spid="39"/>
                                        </p:tgtEl>
                                      </p:cBhvr>
                                    </p:animEffect>
                                  </p:childTnLst>
                                </p:cTn>
                              </p:par>
                              <p:par>
                                <p:cTn id="50" presetID="22" presetClass="entr" presetSubtype="4" fill="hold" grpId="0" nodeType="withEffect">
                                  <p:stCondLst>
                                    <p:cond delay="0"/>
                                  </p:stCondLst>
                                  <p:childTnLst>
                                    <p:set>
                                      <p:cBhvr>
                                        <p:cTn id="51" dur="1" fill="hold">
                                          <p:stCondLst>
                                            <p:cond delay="0"/>
                                          </p:stCondLst>
                                        </p:cTn>
                                        <p:tgtEl>
                                          <p:spTgt spid="40"/>
                                        </p:tgtEl>
                                        <p:attrNameLst>
                                          <p:attrName>style.visibility</p:attrName>
                                        </p:attrNameLst>
                                      </p:cBhvr>
                                      <p:to>
                                        <p:strVal val="visible"/>
                                      </p:to>
                                    </p:set>
                                    <p:animEffect transition="in" filter="wipe(down)">
                                      <p:cBhvr>
                                        <p:cTn id="52" dur="500"/>
                                        <p:tgtEl>
                                          <p:spTgt spid="40"/>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41"/>
                                        </p:tgtEl>
                                        <p:attrNameLst>
                                          <p:attrName>style.visibility</p:attrName>
                                        </p:attrNameLst>
                                      </p:cBhvr>
                                      <p:to>
                                        <p:strVal val="visible"/>
                                      </p:to>
                                    </p:set>
                                    <p:animEffect transition="in" filter="wipe(down)">
                                      <p:cBhvr>
                                        <p:cTn id="55" dur="500"/>
                                        <p:tgtEl>
                                          <p:spTgt spid="41"/>
                                        </p:tgtEl>
                                      </p:cBhvr>
                                    </p:animEffect>
                                  </p:childTnLst>
                                </p:cTn>
                              </p:par>
                              <p:par>
                                <p:cTn id="56" presetID="22" presetClass="entr" presetSubtype="4" fill="hold" grpId="0" nodeType="withEffect">
                                  <p:stCondLst>
                                    <p:cond delay="0"/>
                                  </p:stCondLst>
                                  <p:childTnLst>
                                    <p:set>
                                      <p:cBhvr>
                                        <p:cTn id="57" dur="1" fill="hold">
                                          <p:stCondLst>
                                            <p:cond delay="0"/>
                                          </p:stCondLst>
                                        </p:cTn>
                                        <p:tgtEl>
                                          <p:spTgt spid="42"/>
                                        </p:tgtEl>
                                        <p:attrNameLst>
                                          <p:attrName>style.visibility</p:attrName>
                                        </p:attrNameLst>
                                      </p:cBhvr>
                                      <p:to>
                                        <p:strVal val="visible"/>
                                      </p:to>
                                    </p:set>
                                    <p:animEffect transition="in" filter="wipe(down)">
                                      <p:cBhvr>
                                        <p:cTn id="58" dur="500"/>
                                        <p:tgtEl>
                                          <p:spTgt spid="42"/>
                                        </p:tgtEl>
                                      </p:cBhvr>
                                    </p:animEffect>
                                  </p:childTnLst>
                                </p:cTn>
                              </p:par>
                              <p:par>
                                <p:cTn id="59" presetID="22" presetClass="entr" presetSubtype="4" fill="hold" nodeType="with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down)">
                                      <p:cBhvr>
                                        <p:cTn id="61" dur="500"/>
                                        <p:tgtEl>
                                          <p:spTgt spid="43"/>
                                        </p:tgtEl>
                                      </p:cBhvr>
                                    </p:animEffect>
                                  </p:childTnLst>
                                </p:cTn>
                              </p:par>
                              <p:par>
                                <p:cTn id="62" presetID="22" presetClass="entr" presetSubtype="4" fill="hold" nodeType="withEffect">
                                  <p:stCondLst>
                                    <p:cond delay="0"/>
                                  </p:stCondLst>
                                  <p:childTnLst>
                                    <p:set>
                                      <p:cBhvr>
                                        <p:cTn id="63" dur="1" fill="hold">
                                          <p:stCondLst>
                                            <p:cond delay="0"/>
                                          </p:stCondLst>
                                        </p:cTn>
                                        <p:tgtEl>
                                          <p:spTgt spid="44"/>
                                        </p:tgtEl>
                                        <p:attrNameLst>
                                          <p:attrName>style.visibility</p:attrName>
                                        </p:attrNameLst>
                                      </p:cBhvr>
                                      <p:to>
                                        <p:strVal val="visible"/>
                                      </p:to>
                                    </p:set>
                                    <p:animEffect transition="in" filter="wipe(down)">
                                      <p:cBhvr>
                                        <p:cTn id="64"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7" grpId="0" animBg="1"/>
      <p:bldP spid="27" grpId="1" animBg="1"/>
      <p:bldP spid="28" grpId="0"/>
      <p:bldP spid="28" grpId="1"/>
      <p:bldP spid="35" grpId="0"/>
      <p:bldP spid="35" grpId="1"/>
      <p:bldP spid="36" grpId="0"/>
      <p:bldP spid="36" grpId="1"/>
      <p:bldP spid="37" grpId="0"/>
      <p:bldP spid="37" grpId="1"/>
      <p:bldP spid="38" grpId="0"/>
      <p:bldP spid="38" grpId="1"/>
      <p:bldP spid="39" grpId="0"/>
      <p:bldP spid="39" grpId="1"/>
      <p:bldP spid="40" grpId="0"/>
      <p:bldP spid="40" grpId="1"/>
      <p:bldP spid="41" grpId="0"/>
      <p:bldP spid="41" grpId="1"/>
      <p:bldP spid="42" grpId="0"/>
      <p:bldP spid="42" grpId="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45754C0-9D3B-4B97-956A-F4686965977C}"/>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损失函数</a:t>
            </a:r>
          </a:p>
        </p:txBody>
      </p:sp>
      <p:grpSp>
        <p:nvGrpSpPr>
          <p:cNvPr id="4" name="组合 3">
            <a:extLst>
              <a:ext uri="{FF2B5EF4-FFF2-40B4-BE49-F238E27FC236}">
                <a16:creationId xmlns:a16="http://schemas.microsoft.com/office/drawing/2014/main" id="{DD2DF6DC-9864-43A8-BEB2-BF7A771048C4}"/>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96B4B4EB-EC09-4F0C-8B16-DA16D3C22A45}"/>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FD826D9A-1B52-47F8-B3F1-CA15C2F9302C}"/>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C68BCED1-845B-42DB-8618-BA5AD00871DB}"/>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2FED223C-C64D-4FF1-B78B-99B03F2A29E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82902931-83FB-4068-BF99-B2FC72E773E1}"/>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F801A37F-902E-4ADA-90F5-CB0C68E4D42F}"/>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773996D3-7CDC-4928-903D-BE753BE5C849}"/>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E09C9C9-6946-4628-AE9A-35C88DE9F425}"/>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212982EE-87FF-4C7A-964F-DF87F9C55BB5}"/>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70B9BCF3-DCB4-4A7A-8E7F-0314057F7DB0}"/>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24D199E9-5A8F-4F1B-A748-09CA8021DCEF}"/>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FA3A2B5E-D3AA-42FA-B1A8-E24DC37D7EF2}"/>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C9996D65-5AB9-4CCB-ABD7-5AD6AECAAF10}"/>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EDEF2648-99BE-4754-8AD7-22DA0A9706A6}"/>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9FB50F8D-A274-46DE-80F8-D7C380399CE8}"/>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ACBAAE1D-F824-48A4-9676-D74AF9D764CF}"/>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4D3AD51F-4C02-450D-A779-A04A68537EC6}"/>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46D85D5-D241-4693-892C-628F4AED6092}"/>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7A5A4B58-5541-4AF5-9FE7-1FB7F1EDE0E6}"/>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F86747C9-BE11-46A2-B7C4-2E09E42A4699}"/>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B570E037-4DF2-4F2D-88C3-1221B5A575FA}"/>
              </a:ext>
            </a:extLst>
          </p:cNvPr>
          <p:cNvSpPr txBox="1"/>
          <p:nvPr/>
        </p:nvSpPr>
        <p:spPr>
          <a:xfrm>
            <a:off x="542925" y="923290"/>
            <a:ext cx="10939145" cy="1076325"/>
          </a:xfrm>
          <a:prstGeom prst="rect">
            <a:avLst/>
          </a:prstGeom>
          <a:noFill/>
        </p:spPr>
        <p:txBody>
          <a:bodyPr wrap="square" rtlCol="0">
            <a:spAutoFit/>
          </a:bodyPr>
          <a:lstStyle/>
          <a:p>
            <a:r>
              <a:rPr lang="zh-CN" altLang="en-US" sz="2400" b="1" dirty="0"/>
              <a:t>损失函数（</a:t>
            </a:r>
            <a:r>
              <a:rPr lang="zh-CN" altLang="en-US" sz="2400" b="1" i="1" dirty="0"/>
              <a:t>Loss Function</a:t>
            </a:r>
            <a:r>
              <a:rPr lang="zh-CN" altLang="en-US" sz="2400" b="1" dirty="0"/>
              <a:t>）：</a:t>
            </a:r>
            <a:r>
              <a:rPr lang="zh-CN" altLang="en-US" sz="2000" dirty="0"/>
              <a:t>用来衡量预测结果和真实结果之间的差距，其值越小，代表预测结果和真实结果越一致。通常是一个非负实值函数。通过各种方式缩小损失函数的过程被称作优化。损失函数记做L(Y,f(x))。</a:t>
            </a:r>
          </a:p>
        </p:txBody>
      </p:sp>
      <p:sp>
        <p:nvSpPr>
          <p:cNvPr id="26" name="文本框 25">
            <a:extLst>
              <a:ext uri="{FF2B5EF4-FFF2-40B4-BE49-F238E27FC236}">
                <a16:creationId xmlns:a16="http://schemas.microsoft.com/office/drawing/2014/main" id="{2037D466-D813-4FF9-9C4B-38A30E1562FE}"/>
              </a:ext>
            </a:extLst>
          </p:cNvPr>
          <p:cNvSpPr txBox="1"/>
          <p:nvPr/>
        </p:nvSpPr>
        <p:spPr>
          <a:xfrm>
            <a:off x="542925" y="1999615"/>
            <a:ext cx="10487025" cy="706755"/>
          </a:xfrm>
          <a:prstGeom prst="rect">
            <a:avLst/>
          </a:prstGeom>
          <a:noFill/>
        </p:spPr>
        <p:txBody>
          <a:bodyPr wrap="square" rtlCol="0">
            <a:spAutoFit/>
          </a:bodyPr>
          <a:lstStyle/>
          <a:p>
            <a:r>
              <a:rPr lang="zh-CN" altLang="en-US" sz="2000">
                <a:solidFill>
                  <a:schemeClr val="bg1"/>
                </a:solidFill>
              </a:rPr>
              <a:t>0-1损失函数（0-1LF）：预测值和实际值精确相等则“没有损失”为0，否则意味着“完全损失”，为1预测值和实际值精确相等有些过于严格，可以采用两者的差小于某个阈值的方式。</a:t>
            </a:r>
          </a:p>
        </p:txBody>
      </p:sp>
      <p:pic>
        <p:nvPicPr>
          <p:cNvPr id="27" name="图片 26">
            <a:extLst>
              <a:ext uri="{FF2B5EF4-FFF2-40B4-BE49-F238E27FC236}">
                <a16:creationId xmlns:a16="http://schemas.microsoft.com/office/drawing/2014/main" id="{402CB9CE-75FD-4E8B-99D9-F1B6A22FA4B2}"/>
              </a:ext>
            </a:extLst>
          </p:cNvPr>
          <p:cNvPicPr>
            <a:picLocks noChangeAspect="1"/>
          </p:cNvPicPr>
          <p:nvPr/>
        </p:nvPicPr>
        <p:blipFill>
          <a:blip r:embed="rId2"/>
          <a:stretch>
            <a:fillRect/>
          </a:stretch>
        </p:blipFill>
        <p:spPr>
          <a:xfrm>
            <a:off x="752793" y="2777864"/>
            <a:ext cx="2638425" cy="642620"/>
          </a:xfrm>
          <a:prstGeom prst="rect">
            <a:avLst/>
          </a:prstGeom>
        </p:spPr>
      </p:pic>
      <p:pic>
        <p:nvPicPr>
          <p:cNvPr id="28" name="图片 27">
            <a:extLst>
              <a:ext uri="{FF2B5EF4-FFF2-40B4-BE49-F238E27FC236}">
                <a16:creationId xmlns:a16="http://schemas.microsoft.com/office/drawing/2014/main" id="{9B614D28-B81C-4C86-84D7-0639E00B3F9F}"/>
              </a:ext>
            </a:extLst>
          </p:cNvPr>
          <p:cNvPicPr>
            <a:picLocks noChangeAspect="1"/>
          </p:cNvPicPr>
          <p:nvPr/>
        </p:nvPicPr>
        <p:blipFill>
          <a:blip r:embed="rId3"/>
          <a:stretch>
            <a:fillRect/>
          </a:stretch>
        </p:blipFill>
        <p:spPr>
          <a:xfrm>
            <a:off x="4543984" y="2738662"/>
            <a:ext cx="2605405" cy="732155"/>
          </a:xfrm>
          <a:prstGeom prst="rect">
            <a:avLst/>
          </a:prstGeom>
        </p:spPr>
      </p:pic>
      <p:pic>
        <p:nvPicPr>
          <p:cNvPr id="29" name="图片 28">
            <a:extLst>
              <a:ext uri="{FF2B5EF4-FFF2-40B4-BE49-F238E27FC236}">
                <a16:creationId xmlns:a16="http://schemas.microsoft.com/office/drawing/2014/main" id="{7E3E212C-70CD-4A88-993F-3834C71E0010}"/>
              </a:ext>
            </a:extLst>
          </p:cNvPr>
          <p:cNvPicPr>
            <a:picLocks noChangeAspect="1"/>
          </p:cNvPicPr>
          <p:nvPr/>
        </p:nvPicPr>
        <p:blipFill>
          <a:blip r:embed="rId4"/>
          <a:stretch>
            <a:fillRect/>
          </a:stretch>
        </p:blipFill>
        <p:spPr>
          <a:xfrm>
            <a:off x="5785561" y="5104550"/>
            <a:ext cx="4080510" cy="1695450"/>
          </a:xfrm>
          <a:prstGeom prst="rect">
            <a:avLst/>
          </a:prstGeom>
        </p:spPr>
      </p:pic>
      <p:sp>
        <p:nvSpPr>
          <p:cNvPr id="30" name="文本框 29">
            <a:extLst>
              <a:ext uri="{FF2B5EF4-FFF2-40B4-BE49-F238E27FC236}">
                <a16:creationId xmlns:a16="http://schemas.microsoft.com/office/drawing/2014/main" id="{29217771-08B5-4570-AF65-CC6B4E6EDEE2}"/>
              </a:ext>
            </a:extLst>
          </p:cNvPr>
          <p:cNvSpPr txBox="1"/>
          <p:nvPr/>
        </p:nvSpPr>
        <p:spPr>
          <a:xfrm>
            <a:off x="4300220" y="3428365"/>
            <a:ext cx="3742055" cy="645160"/>
          </a:xfrm>
          <a:prstGeom prst="rect">
            <a:avLst/>
          </a:prstGeom>
          <a:noFill/>
        </p:spPr>
        <p:txBody>
          <a:bodyPr wrap="square" rtlCol="0">
            <a:spAutoFit/>
          </a:bodyPr>
          <a:lstStyle/>
          <a:p>
            <a:r>
              <a:rPr lang="zh-CN" altLang="en-US">
                <a:solidFill>
                  <a:schemeClr val="bg1"/>
                </a:solidFill>
              </a:rPr>
              <a:t>对于相同的预测结果，两个损失函数严格程度不同。设T=0.5，则有：</a:t>
            </a:r>
          </a:p>
        </p:txBody>
      </p:sp>
      <p:sp>
        <p:nvSpPr>
          <p:cNvPr id="32" name="文本框 31">
            <a:extLst>
              <a:ext uri="{FF2B5EF4-FFF2-40B4-BE49-F238E27FC236}">
                <a16:creationId xmlns:a16="http://schemas.microsoft.com/office/drawing/2014/main" id="{8697A8A0-4930-4D15-9463-F0BBC302024D}"/>
              </a:ext>
            </a:extLst>
          </p:cNvPr>
          <p:cNvSpPr txBox="1"/>
          <p:nvPr/>
        </p:nvSpPr>
        <p:spPr>
          <a:xfrm>
            <a:off x="542049" y="3515902"/>
            <a:ext cx="11398939" cy="1077218"/>
          </a:xfrm>
          <a:prstGeom prst="rect">
            <a:avLst/>
          </a:prstGeom>
          <a:noFill/>
        </p:spPr>
        <p:txBody>
          <a:bodyPr wrap="square" rtlCol="0">
            <a:spAutoFit/>
          </a:bodyPr>
          <a:lstStyle/>
          <a:p>
            <a:r>
              <a:rPr lang="zh-CN" altLang="en-US" sz="2400" b="1" dirty="0"/>
              <a:t>绝对值损失函数（</a:t>
            </a:r>
            <a:r>
              <a:rPr lang="zh-CN" altLang="en-US" sz="2400" b="1" i="1" dirty="0"/>
              <a:t>Absolute LF</a:t>
            </a:r>
            <a:r>
              <a:rPr lang="zh-CN" altLang="en-US" sz="2400" b="1" dirty="0"/>
              <a:t>）</a:t>
            </a:r>
            <a:r>
              <a:rPr lang="zh-CN" altLang="en-US" sz="2000" dirty="0"/>
              <a:t>：预测结果与真实结果差的绝对值。简单易懂，但是计算不方便。</a:t>
            </a:r>
          </a:p>
          <a:p>
            <a:endParaRPr lang="zh-CN" altLang="en-US" sz="2000" dirty="0">
              <a:solidFill>
                <a:schemeClr val="bg1"/>
              </a:solidFill>
            </a:endParaRPr>
          </a:p>
        </p:txBody>
      </p:sp>
      <p:sp>
        <p:nvSpPr>
          <p:cNvPr id="33" name="文本框 32">
            <a:extLst>
              <a:ext uri="{FF2B5EF4-FFF2-40B4-BE49-F238E27FC236}">
                <a16:creationId xmlns:a16="http://schemas.microsoft.com/office/drawing/2014/main" id="{3A9189F6-D376-4623-AD25-30616A1D6B51}"/>
              </a:ext>
            </a:extLst>
          </p:cNvPr>
          <p:cNvSpPr txBox="1"/>
          <p:nvPr/>
        </p:nvSpPr>
        <p:spPr>
          <a:xfrm>
            <a:off x="584617" y="4394970"/>
            <a:ext cx="10622915" cy="768350"/>
          </a:xfrm>
          <a:prstGeom prst="rect">
            <a:avLst/>
          </a:prstGeom>
          <a:noFill/>
        </p:spPr>
        <p:txBody>
          <a:bodyPr wrap="square" rtlCol="0">
            <a:spAutoFit/>
          </a:bodyPr>
          <a:lstStyle/>
          <a:p>
            <a:r>
              <a:rPr lang="zh-CN" altLang="en-US" sz="2400" b="1" dirty="0">
                <a:sym typeface="+mn-ea"/>
              </a:rPr>
              <a:t>平方损失函数（</a:t>
            </a:r>
            <a:r>
              <a:rPr lang="zh-CN" altLang="en-US" sz="2400" b="1" i="1" dirty="0">
                <a:sym typeface="+mn-ea"/>
              </a:rPr>
              <a:t>Quadratic LF</a:t>
            </a:r>
            <a:r>
              <a:rPr lang="zh-CN" altLang="en-US" sz="2400" b="1" dirty="0">
                <a:sym typeface="+mn-ea"/>
              </a:rPr>
              <a:t>）：</a:t>
            </a:r>
            <a:r>
              <a:rPr lang="zh-CN" altLang="en-US" sz="2000" dirty="0">
                <a:sym typeface="+mn-ea"/>
              </a:rPr>
              <a:t>预测结果与真实结果差的平方。</a:t>
            </a:r>
            <a:endParaRPr lang="zh-CN" altLang="en-US" sz="2000" dirty="0"/>
          </a:p>
          <a:p>
            <a:endParaRPr lang="zh-CN" altLang="en-US" sz="2000" dirty="0">
              <a:solidFill>
                <a:schemeClr val="bg1"/>
              </a:solidFill>
            </a:endParaRPr>
          </a:p>
        </p:txBody>
      </p:sp>
      <p:sp>
        <p:nvSpPr>
          <p:cNvPr id="34" name="文本框 33">
            <a:extLst>
              <a:ext uri="{FF2B5EF4-FFF2-40B4-BE49-F238E27FC236}">
                <a16:creationId xmlns:a16="http://schemas.microsoft.com/office/drawing/2014/main" id="{A3C5B932-DCC7-4923-A5BD-F1E6EB68C12D}"/>
              </a:ext>
            </a:extLst>
          </p:cNvPr>
          <p:cNvSpPr txBox="1"/>
          <p:nvPr/>
        </p:nvSpPr>
        <p:spPr>
          <a:xfrm>
            <a:off x="431032" y="5466054"/>
            <a:ext cx="6231255" cy="1630045"/>
          </a:xfrm>
          <a:prstGeom prst="rect">
            <a:avLst/>
          </a:prstGeom>
          <a:noFill/>
        </p:spPr>
        <p:txBody>
          <a:bodyPr wrap="square" rtlCol="0">
            <a:spAutoFit/>
          </a:bodyPr>
          <a:lstStyle/>
          <a:p>
            <a:r>
              <a:rPr lang="zh-CN" altLang="en-US" sz="2000" dirty="0">
                <a:sym typeface="+mn-ea"/>
              </a:rPr>
              <a:t>平方损失函数优势有：</a:t>
            </a:r>
            <a:endParaRPr lang="zh-CN" altLang="en-US" sz="2000" dirty="0"/>
          </a:p>
          <a:p>
            <a:pPr marL="342900" indent="-342900">
              <a:buFont typeface="Wingdings" panose="05000000000000000000" charset="0"/>
              <a:buChar char="l"/>
            </a:pPr>
            <a:r>
              <a:rPr lang="zh-CN" altLang="en-US" sz="2000" dirty="0">
                <a:sym typeface="+mn-ea"/>
              </a:rPr>
              <a:t>每个样本的误差都是正的，累加不会被抵消</a:t>
            </a:r>
            <a:endParaRPr lang="zh-CN" altLang="en-US" sz="2000" dirty="0"/>
          </a:p>
          <a:p>
            <a:pPr marL="342900" indent="-342900">
              <a:buFont typeface="Wingdings" panose="05000000000000000000" charset="0"/>
              <a:buChar char="l"/>
            </a:pPr>
            <a:r>
              <a:rPr lang="zh-CN" altLang="en-US" sz="2000" dirty="0">
                <a:sym typeface="+mn-ea"/>
              </a:rPr>
              <a:t>平方对于大误差的惩罚大于小误差</a:t>
            </a:r>
            <a:endParaRPr lang="zh-CN" altLang="en-US" sz="2000" dirty="0"/>
          </a:p>
          <a:p>
            <a:pPr marL="342900" indent="-342900">
              <a:buFont typeface="Wingdings" panose="05000000000000000000" charset="0"/>
              <a:buChar char="l"/>
            </a:pPr>
            <a:r>
              <a:rPr lang="zh-CN" altLang="en-US" sz="2000" dirty="0">
                <a:sym typeface="+mn-ea"/>
              </a:rPr>
              <a:t>数学计算简单、友好，导数为一次函数</a:t>
            </a:r>
            <a:endParaRPr lang="zh-CN" altLang="en-US" sz="2000" dirty="0"/>
          </a:p>
          <a:p>
            <a:pPr marL="342900" indent="-342900"/>
            <a:endParaRPr lang="zh-CN" altLang="en-US" sz="2000" dirty="0">
              <a:solidFill>
                <a:schemeClr val="bg1"/>
              </a:solidFill>
            </a:endParaRPr>
          </a:p>
        </p:txBody>
      </p:sp>
      <p:pic>
        <p:nvPicPr>
          <p:cNvPr id="35" name="图片 34">
            <a:extLst>
              <a:ext uri="{FF2B5EF4-FFF2-40B4-BE49-F238E27FC236}">
                <a16:creationId xmlns:a16="http://schemas.microsoft.com/office/drawing/2014/main" id="{70E0B0FF-723D-4E9F-A544-BE26AFE45421}"/>
              </a:ext>
            </a:extLst>
          </p:cNvPr>
          <p:cNvPicPr>
            <a:picLocks noChangeAspect="1"/>
          </p:cNvPicPr>
          <p:nvPr/>
        </p:nvPicPr>
        <p:blipFill>
          <a:blip r:embed="rId5"/>
          <a:stretch>
            <a:fillRect/>
          </a:stretch>
        </p:blipFill>
        <p:spPr>
          <a:xfrm>
            <a:off x="2384926" y="4016469"/>
            <a:ext cx="2323465" cy="355600"/>
          </a:xfrm>
          <a:prstGeom prst="rect">
            <a:avLst/>
          </a:prstGeom>
        </p:spPr>
      </p:pic>
      <p:pic>
        <p:nvPicPr>
          <p:cNvPr id="36" name="图片 35">
            <a:extLst>
              <a:ext uri="{FF2B5EF4-FFF2-40B4-BE49-F238E27FC236}">
                <a16:creationId xmlns:a16="http://schemas.microsoft.com/office/drawing/2014/main" id="{47416873-383F-4021-9BEB-57FD15873A4B}"/>
              </a:ext>
            </a:extLst>
          </p:cNvPr>
          <p:cNvPicPr>
            <a:picLocks noChangeAspect="1"/>
          </p:cNvPicPr>
          <p:nvPr/>
        </p:nvPicPr>
        <p:blipFill>
          <a:blip r:embed="rId6"/>
          <a:stretch>
            <a:fillRect/>
          </a:stretch>
        </p:blipFill>
        <p:spPr>
          <a:xfrm>
            <a:off x="2384926" y="4883057"/>
            <a:ext cx="2559685" cy="309880"/>
          </a:xfrm>
          <a:prstGeom prst="rect">
            <a:avLst/>
          </a:prstGeom>
        </p:spPr>
      </p:pic>
      <p:pic>
        <p:nvPicPr>
          <p:cNvPr id="37" name="图片 36">
            <a:extLst>
              <a:ext uri="{FF2B5EF4-FFF2-40B4-BE49-F238E27FC236}">
                <a16:creationId xmlns:a16="http://schemas.microsoft.com/office/drawing/2014/main" id="{71EE5BCD-1730-4F62-ACD5-05258494C7AA}"/>
              </a:ext>
            </a:extLst>
          </p:cNvPr>
          <p:cNvPicPr>
            <a:picLocks noChangeAspect="1"/>
          </p:cNvPicPr>
          <p:nvPr/>
        </p:nvPicPr>
        <p:blipFill>
          <a:blip r:embed="rId7"/>
          <a:stretch>
            <a:fillRect/>
          </a:stretch>
        </p:blipFill>
        <p:spPr>
          <a:xfrm>
            <a:off x="9866071" y="4117669"/>
            <a:ext cx="2277928" cy="1695450"/>
          </a:xfrm>
          <a:prstGeom prst="rect">
            <a:avLst/>
          </a:prstGeom>
        </p:spPr>
      </p:pic>
      <p:sp>
        <p:nvSpPr>
          <p:cNvPr id="38" name="文本框 37">
            <a:extLst>
              <a:ext uri="{FF2B5EF4-FFF2-40B4-BE49-F238E27FC236}">
                <a16:creationId xmlns:a16="http://schemas.microsoft.com/office/drawing/2014/main" id="{B730B60D-7C86-48A3-A76B-0DDA91E91E73}"/>
              </a:ext>
            </a:extLst>
          </p:cNvPr>
          <p:cNvSpPr txBox="1"/>
          <p:nvPr/>
        </p:nvSpPr>
        <p:spPr>
          <a:xfrm>
            <a:off x="542049" y="2035362"/>
            <a:ext cx="10487025" cy="706755"/>
          </a:xfrm>
          <a:prstGeom prst="rect">
            <a:avLst/>
          </a:prstGeom>
          <a:noFill/>
        </p:spPr>
        <p:txBody>
          <a:bodyPr wrap="square" rtlCol="0">
            <a:spAutoFit/>
          </a:bodyPr>
          <a:lstStyle/>
          <a:p>
            <a:r>
              <a:rPr lang="zh-CN" altLang="en-US" sz="2000" dirty="0"/>
              <a:t>0-1损失函数（0-1LF）：预测值和实际值精确相等则“没有损失”为0，否则意味着“完全损失”，为1预测值和实际值精确相等有些过于严格，可以采用两者的差小于某个阈值的方式</a:t>
            </a:r>
            <a:r>
              <a:rPr lang="zh-CN" altLang="en-US" sz="2000" dirty="0">
                <a:solidFill>
                  <a:schemeClr val="bg1"/>
                </a:solidFill>
              </a:rPr>
              <a:t>。</a:t>
            </a:r>
          </a:p>
        </p:txBody>
      </p:sp>
    </p:spTree>
    <p:extLst>
      <p:ext uri="{BB962C8B-B14F-4D97-AF65-F5344CB8AC3E}">
        <p14:creationId xmlns:p14="http://schemas.microsoft.com/office/powerpoint/2010/main" val="437191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down)">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ox(in)">
                                      <p:cBhvr>
                                        <p:cTn id="35" dur="20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wipe(down)">
                                      <p:cBhvr>
                                        <p:cTn id="40" dur="500"/>
                                        <p:tgtEl>
                                          <p:spTgt spid="30"/>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wipe(down)">
                                      <p:cBhvr>
                                        <p:cTn id="45" dur="500"/>
                                        <p:tgtEl>
                                          <p:spTgt spid="29"/>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2"/>
                                        </p:tgtEl>
                                        <p:attrNameLst>
                                          <p:attrName>style.visibility</p:attrName>
                                        </p:attrNameLst>
                                      </p:cBhvr>
                                      <p:to>
                                        <p:strVal val="visible"/>
                                      </p:to>
                                    </p:set>
                                    <p:animEffect transition="in" filter="wipe(down)">
                                      <p:cBhvr>
                                        <p:cTn id="50" dur="500"/>
                                        <p:tgtEl>
                                          <p:spTgt spid="32"/>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4" fill="hold" nodeType="click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down)">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4" fill="hold" grpId="0" nodeType="click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wipe(down)">
                                      <p:cBhvr>
                                        <p:cTn id="60" dur="500"/>
                                        <p:tgtEl>
                                          <p:spTgt spid="33"/>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nodeType="clickEffect">
                                  <p:stCondLst>
                                    <p:cond delay="0"/>
                                  </p:stCondLst>
                                  <p:childTnLst>
                                    <p:set>
                                      <p:cBhvr>
                                        <p:cTn id="64" dur="1" fill="hold">
                                          <p:stCondLst>
                                            <p:cond delay="0"/>
                                          </p:stCondLst>
                                        </p:cTn>
                                        <p:tgtEl>
                                          <p:spTgt spid="36"/>
                                        </p:tgtEl>
                                        <p:attrNameLst>
                                          <p:attrName>style.visibility</p:attrName>
                                        </p:attrNameLst>
                                      </p:cBhvr>
                                      <p:to>
                                        <p:strVal val="visible"/>
                                      </p:to>
                                    </p:set>
                                    <p:animEffect transition="in" filter="wipe(down)">
                                      <p:cBhvr>
                                        <p:cTn id="65" dur="500"/>
                                        <p:tgtEl>
                                          <p:spTgt spid="36"/>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Effect transition="in" filter="wipe(down)">
                                      <p:cBhvr>
                                        <p:cTn id="70" dur="500"/>
                                        <p:tgtEl>
                                          <p:spTgt spid="3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wipe(down)">
                                      <p:cBhvr>
                                        <p:cTn id="75" dur="500"/>
                                        <p:tgtEl>
                                          <p:spTgt spid="37"/>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38"/>
                                        </p:tgtEl>
                                        <p:attrNameLst>
                                          <p:attrName>style.visibility</p:attrName>
                                        </p:attrNameLst>
                                      </p:cBhvr>
                                      <p:to>
                                        <p:strVal val="visible"/>
                                      </p:to>
                                    </p:set>
                                    <p:animEffect transition="in" filter="wipe(down)">
                                      <p:cBhvr>
                                        <p:cTn id="8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30" grpId="0"/>
      <p:bldP spid="30" grpId="1"/>
      <p:bldP spid="32" grpId="0"/>
      <p:bldP spid="32" grpId="1"/>
      <p:bldP spid="33" grpId="0"/>
      <p:bldP spid="33" grpId="1"/>
      <p:bldP spid="34" grpId="0"/>
      <p:bldP spid="34" grpId="1"/>
      <p:bldP spid="38" grpId="0"/>
      <p:bldP spid="38" grpId="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6DD4D41-1933-45B5-9AC6-799D5B540F78}"/>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损失函数</a:t>
            </a:r>
          </a:p>
        </p:txBody>
      </p:sp>
      <p:grpSp>
        <p:nvGrpSpPr>
          <p:cNvPr id="4" name="组合 3">
            <a:extLst>
              <a:ext uri="{FF2B5EF4-FFF2-40B4-BE49-F238E27FC236}">
                <a16:creationId xmlns:a16="http://schemas.microsoft.com/office/drawing/2014/main" id="{5C63D8E1-A44C-4843-8FE3-6069DCE82C06}"/>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50826843-2FDC-4EE8-A208-B2B08313777C}"/>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95BA2420-42A8-4C72-A745-0AAA281C2906}"/>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9061B70D-27AB-44DF-B750-12F75061B8A0}"/>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6BB8B360-E776-402D-A036-E7CD37C1762B}"/>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37B81815-4EC5-4EAD-9A0B-898870273352}"/>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D0580E74-4C3E-49C6-B3C6-5AE278F03BEB}"/>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7EF07F6D-1C64-47AE-B491-B9A16C511439}"/>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5FBFCF0F-9146-4DD3-9E62-8481349F387A}"/>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0041AA3C-9DE2-469D-A7E5-A78F0DD9010E}"/>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CFC5382C-DC80-4E39-8CA8-57DE32E950AD}"/>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6ECBD29D-5777-4901-8C1B-9E66565ADB1A}"/>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1BAD9EB4-2260-471D-BFCB-92F59C1EC551}"/>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8D126FFE-47B6-4483-B5C2-136496C6752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B3FC26F5-BC20-43F7-B173-4AA69E356AEB}"/>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FC835CA3-37ED-4555-B24F-9BFF81FBC140}"/>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58CE3DEA-8DCD-48A3-AFCC-086BF4D806ED}"/>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0283321E-3632-449E-9EA1-04DB212AA394}"/>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86353FF9-300B-448B-A69A-8D3F680F2B46}"/>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FED9EBF0-A221-456A-977B-F553D8101ECC}"/>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0BD054DE-99F6-4877-9C2F-95CBBE4D86A7}"/>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56AE7B6F-0BDE-4761-8331-81B154F75FAF}"/>
              </a:ext>
            </a:extLst>
          </p:cNvPr>
          <p:cNvSpPr txBox="1"/>
          <p:nvPr/>
        </p:nvSpPr>
        <p:spPr>
          <a:xfrm>
            <a:off x="542925" y="923290"/>
            <a:ext cx="10939145" cy="1076325"/>
          </a:xfrm>
          <a:prstGeom prst="rect">
            <a:avLst/>
          </a:prstGeom>
          <a:noFill/>
        </p:spPr>
        <p:txBody>
          <a:bodyPr wrap="square" rtlCol="0">
            <a:spAutoFit/>
          </a:bodyPr>
          <a:lstStyle/>
          <a:p>
            <a:r>
              <a:rPr lang="zh-CN" altLang="en-US" sz="2400" b="1" dirty="0"/>
              <a:t>损失函数（</a:t>
            </a:r>
            <a:r>
              <a:rPr lang="zh-CN" altLang="en-US" sz="2400" b="1" i="1" dirty="0"/>
              <a:t>Loss Function</a:t>
            </a:r>
            <a:r>
              <a:rPr lang="zh-CN" altLang="en-US" sz="2400" b="1" dirty="0"/>
              <a:t>）：</a:t>
            </a:r>
            <a:r>
              <a:rPr lang="zh-CN" altLang="en-US" sz="2000" dirty="0"/>
              <a:t>用来衡量预测结果和真实结果之间的差距，其值越小，代表预测结果和真实结果越一致。通常是一个非负实值函数。通过各种方式缩小损失函数的过程被称作优化。损失函数记做L(Y,f(x))。</a:t>
            </a:r>
          </a:p>
        </p:txBody>
      </p:sp>
      <p:sp>
        <p:nvSpPr>
          <p:cNvPr id="26" name="文本框 25">
            <a:extLst>
              <a:ext uri="{FF2B5EF4-FFF2-40B4-BE49-F238E27FC236}">
                <a16:creationId xmlns:a16="http://schemas.microsoft.com/office/drawing/2014/main" id="{5FCF5E69-D33B-4BB7-99DF-C3499E88E93C}"/>
              </a:ext>
            </a:extLst>
          </p:cNvPr>
          <p:cNvSpPr txBox="1"/>
          <p:nvPr/>
        </p:nvSpPr>
        <p:spPr>
          <a:xfrm>
            <a:off x="495300" y="2270125"/>
            <a:ext cx="11256010" cy="1014730"/>
          </a:xfrm>
          <a:prstGeom prst="rect">
            <a:avLst/>
          </a:prstGeom>
          <a:noFill/>
        </p:spPr>
        <p:txBody>
          <a:bodyPr wrap="square" rtlCol="0">
            <a:spAutoFit/>
          </a:bodyPr>
          <a:lstStyle/>
          <a:p>
            <a:r>
              <a:rPr lang="zh-CN" altLang="en-US" sz="2000" b="1" dirty="0"/>
              <a:t>折叶损失函数（</a:t>
            </a:r>
            <a:r>
              <a:rPr lang="zh-CN" altLang="en-US" sz="2000" b="1" i="1" dirty="0"/>
              <a:t>Hinge LF</a:t>
            </a:r>
            <a:r>
              <a:rPr lang="zh-CN" altLang="en-US" sz="2000" b="1" dirty="0"/>
              <a:t>）</a:t>
            </a:r>
            <a:r>
              <a:rPr lang="zh-CN" altLang="en-US" dirty="0"/>
              <a:t>：</a:t>
            </a:r>
            <a:r>
              <a:rPr lang="zh-CN" altLang="en-US" sz="2000" dirty="0"/>
              <a:t>也称铰链损失，对于判定边界附近的点的惩罚力度较高，常见于SVM</a:t>
            </a:r>
          </a:p>
          <a:p>
            <a:r>
              <a:rPr lang="zh-CN" altLang="en-US" sz="2000" dirty="0"/>
              <a:t>                                                    L(f(x))=max(0,1-f(x))</a:t>
            </a:r>
          </a:p>
          <a:p>
            <a:endParaRPr lang="zh-CN" altLang="en-US" sz="2000" dirty="0">
              <a:solidFill>
                <a:schemeClr val="bg1"/>
              </a:solidFill>
            </a:endParaRPr>
          </a:p>
        </p:txBody>
      </p:sp>
      <p:pic>
        <p:nvPicPr>
          <p:cNvPr id="27" name="图片 26">
            <a:extLst>
              <a:ext uri="{FF2B5EF4-FFF2-40B4-BE49-F238E27FC236}">
                <a16:creationId xmlns:a16="http://schemas.microsoft.com/office/drawing/2014/main" id="{4AA6A57D-78E9-4C11-B195-AB1591298B10}"/>
              </a:ext>
            </a:extLst>
          </p:cNvPr>
          <p:cNvPicPr>
            <a:picLocks noChangeAspect="1"/>
          </p:cNvPicPr>
          <p:nvPr/>
        </p:nvPicPr>
        <p:blipFill>
          <a:blip r:embed="rId2"/>
          <a:stretch>
            <a:fillRect/>
          </a:stretch>
        </p:blipFill>
        <p:spPr>
          <a:xfrm>
            <a:off x="168536" y="3573146"/>
            <a:ext cx="4277034" cy="3094870"/>
          </a:xfrm>
          <a:prstGeom prst="rect">
            <a:avLst/>
          </a:prstGeom>
        </p:spPr>
      </p:pic>
      <p:sp>
        <p:nvSpPr>
          <p:cNvPr id="28" name="文本框 27">
            <a:extLst>
              <a:ext uri="{FF2B5EF4-FFF2-40B4-BE49-F238E27FC236}">
                <a16:creationId xmlns:a16="http://schemas.microsoft.com/office/drawing/2014/main" id="{513EB38F-2552-410F-B712-2F38792EE0CD}"/>
              </a:ext>
            </a:extLst>
          </p:cNvPr>
          <p:cNvSpPr txBox="1"/>
          <p:nvPr/>
        </p:nvSpPr>
        <p:spPr>
          <a:xfrm>
            <a:off x="4843145" y="3655060"/>
            <a:ext cx="6774815" cy="1938020"/>
          </a:xfrm>
          <a:prstGeom prst="rect">
            <a:avLst/>
          </a:prstGeom>
          <a:noFill/>
        </p:spPr>
        <p:txBody>
          <a:bodyPr wrap="square" rtlCol="0">
            <a:spAutoFit/>
          </a:bodyPr>
          <a:lstStyle/>
          <a:p>
            <a:r>
              <a:rPr lang="zh-CN" altLang="en-US" sz="2000" dirty="0"/>
              <a:t>不同的损失函数有不同的特点，适用于不同的场景：</a:t>
            </a:r>
          </a:p>
          <a:p>
            <a:pPr marL="342900" indent="-342900">
              <a:buFont typeface="Wingdings" panose="05000000000000000000" charset="0"/>
              <a:buChar char="l"/>
            </a:pPr>
            <a:r>
              <a:rPr lang="zh-CN" altLang="en-US" sz="2000" dirty="0"/>
              <a:t>0-1：理想状况模型</a:t>
            </a:r>
          </a:p>
          <a:p>
            <a:pPr marL="342900" indent="-342900">
              <a:buFont typeface="Wingdings" panose="05000000000000000000" charset="0"/>
              <a:buChar char="l"/>
            </a:pPr>
            <a:r>
              <a:rPr lang="zh-CN" altLang="en-US" sz="2000" dirty="0"/>
              <a:t>Log：逻辑回归、交叉熵</a:t>
            </a:r>
          </a:p>
          <a:p>
            <a:pPr marL="342900" indent="-342900">
              <a:buFont typeface="Wingdings" panose="05000000000000000000" charset="0"/>
              <a:buChar char="l"/>
            </a:pPr>
            <a:r>
              <a:rPr lang="zh-CN" altLang="en-US" sz="2000" dirty="0"/>
              <a:t>Squared：线性回归</a:t>
            </a:r>
          </a:p>
          <a:p>
            <a:pPr marL="342900" indent="-342900">
              <a:buFont typeface="Wingdings" panose="05000000000000000000" charset="0"/>
              <a:buChar char="l"/>
            </a:pPr>
            <a:r>
              <a:rPr lang="zh-CN" altLang="en-US" sz="2000" dirty="0"/>
              <a:t>Exponential :AdaBoosting</a:t>
            </a:r>
          </a:p>
          <a:p>
            <a:pPr marL="342900" indent="-342900">
              <a:buFont typeface="Wingdings" panose="05000000000000000000" charset="0"/>
              <a:buChar char="l"/>
            </a:pPr>
            <a:r>
              <a:rPr lang="zh-CN" altLang="en-US" sz="2000" dirty="0"/>
              <a:t>Hinge:SVM、soft margin</a:t>
            </a:r>
          </a:p>
        </p:txBody>
      </p:sp>
    </p:spTree>
    <p:extLst>
      <p:ext uri="{BB962C8B-B14F-4D97-AF65-F5344CB8AC3E}">
        <p14:creationId xmlns:p14="http://schemas.microsoft.com/office/powerpoint/2010/main" val="2523676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down)">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wipe(down)">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wipe(down)">
                                      <p:cBhvr>
                                        <p:cTn id="3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8" grpId="0"/>
      <p:bldP spid="28"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E8427E4-4546-4A51-A08D-646C060F1CE0}"/>
              </a:ext>
            </a:extLst>
          </p:cNvPr>
          <p:cNvSpPr txBox="1"/>
          <p:nvPr/>
        </p:nvSpPr>
        <p:spPr>
          <a:xfrm>
            <a:off x="951520" y="208400"/>
            <a:ext cx="4246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经验风险 </a:t>
            </a:r>
            <a:r>
              <a:rPr kumimoji="0" lang="en-US" altLang="zh-CN"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VS </a:t>
            </a: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风险函数</a:t>
            </a:r>
          </a:p>
        </p:txBody>
      </p:sp>
      <p:grpSp>
        <p:nvGrpSpPr>
          <p:cNvPr id="4" name="组合 3">
            <a:extLst>
              <a:ext uri="{FF2B5EF4-FFF2-40B4-BE49-F238E27FC236}">
                <a16:creationId xmlns:a16="http://schemas.microsoft.com/office/drawing/2014/main" id="{38B5F609-FF08-4C68-90DE-24912CFB987E}"/>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176D6D3C-134E-44FA-8F7A-DD0B7C436439}"/>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94D2715D-2DFC-49E9-9223-AE81F31E7BF4}"/>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8C672ED9-7D9C-42AF-AD65-694360A84F2A}"/>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3A926522-A092-482A-8CAC-FB5F0CE2D2E0}"/>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D42F8104-1EB0-4073-9962-13CA18FAD5BC}"/>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5E1DEE17-D356-4315-B899-9779405DBD99}"/>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9B59C10C-B563-4FD9-9F14-01220C861922}"/>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806C01A5-DCF3-448E-A764-9A0DD583E5D8}"/>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B2FE2E07-797B-41AA-8063-C5D6B95F23F7}"/>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BD8C958E-BE65-4FC2-AC04-F2F4D9FE8D5A}"/>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1A9E138E-0656-4D29-9546-61C51AE8D614}"/>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CD47AB72-022E-4B5F-9388-F8C7E04C9D90}"/>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1B2E57FF-0E76-4CF5-86FE-10D613E13A3C}"/>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4CEEF1EC-80F8-41A9-8DCC-B2EF1E3F2E4F}"/>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FB43F7B7-8E02-4774-A2F8-FA669749BC1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8F70F7B9-7813-49C7-9024-8FDFD5D8BA2A}"/>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4CC1559D-0A65-4EB0-9275-320D7E236F2C}"/>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D1743776-FEE2-4504-9E3C-307F32B06D19}"/>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979E6054-B2A3-4595-9990-040DAE3AA4F2}"/>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F7CE5AA2-A0E5-4209-B4E0-A71322AA91A2}"/>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542786BD-7C05-445C-B37A-3D5CBD526745}"/>
              </a:ext>
            </a:extLst>
          </p:cNvPr>
          <p:cNvSpPr txBox="1"/>
          <p:nvPr/>
        </p:nvSpPr>
        <p:spPr>
          <a:xfrm>
            <a:off x="551180" y="1503680"/>
            <a:ext cx="11029950" cy="4740272"/>
          </a:xfrm>
          <a:prstGeom prst="rect">
            <a:avLst/>
          </a:prstGeom>
          <a:noFill/>
        </p:spPr>
        <p:txBody>
          <a:bodyPr wrap="square" rtlCol="0">
            <a:spAutoFit/>
          </a:bodyPr>
          <a:lstStyle/>
          <a:p>
            <a:pPr>
              <a:lnSpc>
                <a:spcPct val="110000"/>
              </a:lnSpc>
            </a:pPr>
            <a:r>
              <a:rPr lang="zh-CN" altLang="en-US" sz="2400" b="1" dirty="0"/>
              <a:t>经验风险（</a:t>
            </a:r>
            <a:r>
              <a:rPr lang="zh-CN" altLang="en-US" sz="2400" b="1" i="1" dirty="0"/>
              <a:t>Ermpirica/Risk</a:t>
            </a:r>
            <a:r>
              <a:rPr lang="zh-CN" altLang="en-US" sz="2400" b="1" dirty="0"/>
              <a:t>）：</a:t>
            </a:r>
            <a:r>
              <a:rPr lang="zh-CN" altLang="en-US" sz="2000" dirty="0"/>
              <a:t>损失函数度量了单个样本的预测结果，要想衡量整个训练集的预测值与真实值的差异，将整个训练集所有记录均进行一次预测，求取损失函数，将所有值累加，即为经验风险。经验风险越小说明模型f（x)对训练集的拟合程度越好。</a:t>
            </a:r>
          </a:p>
          <a:p>
            <a:pPr>
              <a:lnSpc>
                <a:spcPct val="110000"/>
              </a:lnSpc>
            </a:pPr>
            <a:r>
              <a:rPr lang="zh-CN" altLang="en-US" sz="2000" dirty="0"/>
              <a:t>公式为：</a:t>
            </a:r>
          </a:p>
          <a:p>
            <a:pPr>
              <a:lnSpc>
                <a:spcPct val="110000"/>
              </a:lnSpc>
            </a:pPr>
            <a:endParaRPr lang="zh-CN" altLang="en-US" sz="2400" b="1" dirty="0"/>
          </a:p>
          <a:p>
            <a:pPr>
              <a:lnSpc>
                <a:spcPct val="110000"/>
              </a:lnSpc>
            </a:pPr>
            <a:r>
              <a:rPr lang="zh-CN" altLang="en-US" sz="2400" b="1" dirty="0"/>
              <a:t>风险函数（</a:t>
            </a:r>
            <a:r>
              <a:rPr lang="zh-CN" altLang="en-US" sz="2400" b="1" i="1" dirty="0"/>
              <a:t>RiskFunction</a:t>
            </a:r>
            <a:r>
              <a:rPr lang="zh-CN" altLang="en-US" sz="2400" b="1" dirty="0"/>
              <a:t>）：</a:t>
            </a:r>
            <a:r>
              <a:rPr lang="zh-CN" altLang="en-US" sz="2000" dirty="0"/>
              <a:t>又称期望损失、期望风险。所有数据集（包括训练集和预测集，</a:t>
            </a:r>
          </a:p>
          <a:p>
            <a:pPr>
              <a:lnSpc>
                <a:spcPct val="110000"/>
              </a:lnSpc>
            </a:pPr>
            <a:r>
              <a:rPr lang="zh-CN" altLang="en-US" sz="2000" dirty="0"/>
              <a:t>遵循联合分布P(X,Y))的损失函数的期望值。公式为：</a:t>
            </a:r>
          </a:p>
          <a:p>
            <a:pPr>
              <a:lnSpc>
                <a:spcPct val="110000"/>
              </a:lnSpc>
            </a:pPr>
            <a:endParaRPr lang="zh-CN" altLang="en-US" sz="2000" dirty="0"/>
          </a:p>
          <a:p>
            <a:pPr>
              <a:lnSpc>
                <a:spcPct val="110000"/>
              </a:lnSpc>
            </a:pPr>
            <a:r>
              <a:rPr lang="zh-CN" altLang="en-US" sz="2400" b="1" dirty="0"/>
              <a:t>经验风险vs期望风险：</a:t>
            </a:r>
          </a:p>
          <a:p>
            <a:pPr marL="342900" indent="-342900">
              <a:lnSpc>
                <a:spcPct val="110000"/>
              </a:lnSpc>
              <a:buFont typeface="Wingdings" panose="05000000000000000000" charset="0"/>
              <a:buChar char="l"/>
            </a:pPr>
            <a:r>
              <a:rPr lang="zh-CN" altLang="en-US" sz="2000" dirty="0"/>
              <a:t>期望风险是模型对全局（所有数据集）的效果；经验风险是模型对局部（训练集）的效果</a:t>
            </a:r>
          </a:p>
          <a:p>
            <a:pPr marL="342900" indent="-342900">
              <a:lnSpc>
                <a:spcPct val="110000"/>
              </a:lnSpc>
              <a:buFont typeface="Wingdings" panose="05000000000000000000" charset="0"/>
              <a:buChar char="l"/>
            </a:pPr>
            <a:r>
              <a:rPr lang="zh-CN" altLang="en-US" sz="2000" dirty="0"/>
              <a:t>期望风险往往无法计算，即联合分布P（X，Y)通常是未知的；经验风险可以计算</a:t>
            </a:r>
          </a:p>
          <a:p>
            <a:pPr marL="342900" indent="-342900">
              <a:lnSpc>
                <a:spcPct val="110000"/>
              </a:lnSpc>
              <a:buFont typeface="Wingdings" panose="05000000000000000000" charset="0"/>
              <a:buChar char="l"/>
            </a:pPr>
            <a:r>
              <a:rPr lang="zh-CN" altLang="en-US" sz="2000" dirty="0"/>
              <a:t>当训练集足够大时，经验风险可以替代期望风险，即局部最优代替</a:t>
            </a:r>
            <a:r>
              <a:rPr lang="zh-CN" altLang="en-US" sz="2000" dirty="0">
                <a:solidFill>
                  <a:schemeClr val="bg1"/>
                </a:solidFill>
              </a:rPr>
              <a:t>全局最优</a:t>
            </a:r>
          </a:p>
        </p:txBody>
      </p:sp>
      <p:pic>
        <p:nvPicPr>
          <p:cNvPr id="26" name="图片 25">
            <a:extLst>
              <a:ext uri="{FF2B5EF4-FFF2-40B4-BE49-F238E27FC236}">
                <a16:creationId xmlns:a16="http://schemas.microsoft.com/office/drawing/2014/main" id="{DC789D37-9D87-403C-B5D0-05CCCD092BEC}"/>
              </a:ext>
            </a:extLst>
          </p:cNvPr>
          <p:cNvPicPr>
            <a:picLocks noChangeAspect="1"/>
          </p:cNvPicPr>
          <p:nvPr/>
        </p:nvPicPr>
        <p:blipFill>
          <a:blip r:embed="rId2"/>
          <a:stretch>
            <a:fillRect/>
          </a:stretch>
        </p:blipFill>
        <p:spPr>
          <a:xfrm>
            <a:off x="1652905" y="2675890"/>
            <a:ext cx="2601595" cy="598805"/>
          </a:xfrm>
          <a:prstGeom prst="rect">
            <a:avLst/>
          </a:prstGeom>
        </p:spPr>
      </p:pic>
      <p:pic>
        <p:nvPicPr>
          <p:cNvPr id="27" name="图片 26">
            <a:extLst>
              <a:ext uri="{FF2B5EF4-FFF2-40B4-BE49-F238E27FC236}">
                <a16:creationId xmlns:a16="http://schemas.microsoft.com/office/drawing/2014/main" id="{54AFE968-ADEC-4023-BD46-553279C8B9F0}"/>
              </a:ext>
            </a:extLst>
          </p:cNvPr>
          <p:cNvPicPr>
            <a:picLocks noChangeAspect="1"/>
          </p:cNvPicPr>
          <p:nvPr/>
        </p:nvPicPr>
        <p:blipFill>
          <a:blip r:embed="rId3"/>
          <a:stretch>
            <a:fillRect/>
          </a:stretch>
        </p:blipFill>
        <p:spPr>
          <a:xfrm>
            <a:off x="6492875" y="3892550"/>
            <a:ext cx="3865880" cy="535940"/>
          </a:xfrm>
          <a:prstGeom prst="rect">
            <a:avLst/>
          </a:prstGeom>
        </p:spPr>
      </p:pic>
    </p:spTree>
    <p:extLst>
      <p:ext uri="{BB962C8B-B14F-4D97-AF65-F5344CB8AC3E}">
        <p14:creationId xmlns:p14="http://schemas.microsoft.com/office/powerpoint/2010/main" val="156317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linds(horizontal)">
                                      <p:cBhvr>
                                        <p:cTn id="23" dur="500"/>
                                        <p:tgtEl>
                                          <p:spTgt spid="26"/>
                                        </p:tgtEl>
                                      </p:cBhvr>
                                    </p:animEffect>
                                  </p:childTnLst>
                                </p:cTn>
                              </p:par>
                              <p:par>
                                <p:cTn id="24" presetID="3" presetClass="entr" presetSubtype="10" fill="hold" nodeType="withEffect">
                                  <p:stCondLst>
                                    <p:cond delay="0"/>
                                  </p:stCondLst>
                                  <p:childTnLst>
                                    <p:set>
                                      <p:cBhvr>
                                        <p:cTn id="25" dur="1" fill="hold">
                                          <p:stCondLst>
                                            <p:cond delay="0"/>
                                          </p:stCondLst>
                                        </p:cTn>
                                        <p:tgtEl>
                                          <p:spTgt spid="27"/>
                                        </p:tgtEl>
                                        <p:attrNameLst>
                                          <p:attrName>style.visibility</p:attrName>
                                        </p:attrNameLst>
                                      </p:cBhvr>
                                      <p:to>
                                        <p:strVal val="visible"/>
                                      </p:to>
                                    </p:set>
                                    <p:animEffect transition="in" filter="blinds(horizontal)">
                                      <p:cBhvr>
                                        <p:cTn id="2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E2162BE-411E-42AF-8546-1538C6FB51E0}"/>
              </a:ext>
            </a:extLst>
          </p:cNvPr>
          <p:cNvSpPr txBox="1"/>
          <p:nvPr/>
        </p:nvSpPr>
        <p:spPr>
          <a:xfrm>
            <a:off x="951520" y="208400"/>
            <a:ext cx="2621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样本风险问题</a:t>
            </a:r>
          </a:p>
        </p:txBody>
      </p:sp>
      <p:grpSp>
        <p:nvGrpSpPr>
          <p:cNvPr id="4" name="组合 3">
            <a:extLst>
              <a:ext uri="{FF2B5EF4-FFF2-40B4-BE49-F238E27FC236}">
                <a16:creationId xmlns:a16="http://schemas.microsoft.com/office/drawing/2014/main" id="{A54EA4A9-19E4-4C80-8681-FE6090402DC6}"/>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C0B4B5A9-14BC-44C3-9E9C-9B1A064E26DA}"/>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0644E99F-931F-44DC-ADE7-4DFB377BB72E}"/>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84835942-2A39-4E7D-B4F7-D7915FE0F86D}"/>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C6AE6A69-866B-4E53-BC57-A5B76A0D87AD}"/>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5DBD95A5-BAA6-486F-855F-E936A5102186}"/>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87E03FED-3F5B-470A-B934-223AF2F17C8F}"/>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457A962F-73EC-446D-A953-9915178A4F3F}"/>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A371A4F5-DDDC-4AB9-B32F-70BBACDAE056}"/>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5CE0A30F-71B7-48F0-AAC0-35F3FE6DA581}"/>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A701498-1B5C-495A-ACDA-633688DF7313}"/>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EAE61906-5181-4162-B41C-EE245267EF29}"/>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1E954D88-9065-4E3B-8347-AB86AEF84C0F}"/>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1D478366-CB2C-4538-AFC4-74318F6A791C}"/>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FDBC52BB-638D-4033-A045-2D9E95352403}"/>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84DEF272-E606-4C90-800C-31638C8B0058}"/>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012150F3-CC56-42C6-AF39-9827CC791A7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B3352DAD-6577-4CFF-9B3E-C5BFD2216A0B}"/>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DAC32676-BC80-4F08-86DF-CD8637971D71}"/>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9B14D019-4135-49CA-AEF1-54877F00D06F}"/>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74D54E69-0226-4D85-8D69-67BD51248B35}"/>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74567EF1-BA22-4269-B4CC-C2F577AA3FFB}"/>
              </a:ext>
            </a:extLst>
          </p:cNvPr>
          <p:cNvSpPr txBox="1"/>
          <p:nvPr/>
        </p:nvSpPr>
        <p:spPr>
          <a:xfrm>
            <a:off x="799465" y="1059180"/>
            <a:ext cx="10079355" cy="398780"/>
          </a:xfrm>
          <a:prstGeom prst="rect">
            <a:avLst/>
          </a:prstGeom>
          <a:noFill/>
        </p:spPr>
        <p:txBody>
          <a:bodyPr wrap="square" rtlCol="0">
            <a:spAutoFit/>
          </a:bodyPr>
          <a:lstStyle/>
          <a:p>
            <a:r>
              <a:rPr lang="zh-CN" altLang="en-US" sz="2000" dirty="0"/>
              <a:t>在样本较小时，仅关注经验风险，又容易导致过拟和。</a:t>
            </a:r>
          </a:p>
        </p:txBody>
      </p:sp>
      <p:pic>
        <p:nvPicPr>
          <p:cNvPr id="26" name="图片 25">
            <a:extLst>
              <a:ext uri="{FF2B5EF4-FFF2-40B4-BE49-F238E27FC236}">
                <a16:creationId xmlns:a16="http://schemas.microsoft.com/office/drawing/2014/main" id="{3D480A8E-8934-4055-B1F4-0B7BBC078F36}"/>
              </a:ext>
            </a:extLst>
          </p:cNvPr>
          <p:cNvPicPr>
            <a:picLocks noChangeAspect="1"/>
          </p:cNvPicPr>
          <p:nvPr/>
        </p:nvPicPr>
        <p:blipFill>
          <a:blip r:embed="rId2"/>
          <a:stretch>
            <a:fillRect/>
          </a:stretch>
        </p:blipFill>
        <p:spPr>
          <a:xfrm>
            <a:off x="2449195" y="2127250"/>
            <a:ext cx="8856980" cy="2912745"/>
          </a:xfrm>
          <a:prstGeom prst="rect">
            <a:avLst/>
          </a:prstGeom>
        </p:spPr>
      </p:pic>
      <p:pic>
        <p:nvPicPr>
          <p:cNvPr id="27" name="图片 26">
            <a:extLst>
              <a:ext uri="{FF2B5EF4-FFF2-40B4-BE49-F238E27FC236}">
                <a16:creationId xmlns:a16="http://schemas.microsoft.com/office/drawing/2014/main" id="{3EF28573-B420-45AE-ACAC-FBD5EABC082F}"/>
              </a:ext>
            </a:extLst>
          </p:cNvPr>
          <p:cNvPicPr>
            <a:picLocks noChangeAspect="1"/>
          </p:cNvPicPr>
          <p:nvPr/>
        </p:nvPicPr>
        <p:blipFill>
          <a:blip r:embed="rId3"/>
          <a:stretch>
            <a:fillRect/>
          </a:stretch>
        </p:blipFill>
        <p:spPr>
          <a:xfrm>
            <a:off x="819150" y="2127250"/>
            <a:ext cx="1028700" cy="2913380"/>
          </a:xfrm>
          <a:prstGeom prst="rect">
            <a:avLst/>
          </a:prstGeom>
        </p:spPr>
      </p:pic>
    </p:spTree>
    <p:extLst>
      <p:ext uri="{BB962C8B-B14F-4D97-AF65-F5344CB8AC3E}">
        <p14:creationId xmlns:p14="http://schemas.microsoft.com/office/powerpoint/2010/main" val="3285754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D4AEF0E-7584-46BD-9B95-576DF92F3986}"/>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结构</a:t>
            </a:r>
            <a:r>
              <a:rPr kumimoji="0" lang="zh-CN" altLang="en-US" sz="320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风险</a:t>
            </a:r>
          </a:p>
        </p:txBody>
      </p:sp>
      <p:grpSp>
        <p:nvGrpSpPr>
          <p:cNvPr id="4" name="组合 3">
            <a:extLst>
              <a:ext uri="{FF2B5EF4-FFF2-40B4-BE49-F238E27FC236}">
                <a16:creationId xmlns:a16="http://schemas.microsoft.com/office/drawing/2014/main" id="{B6B743CF-674D-4C4C-B5B7-16A02D541750}"/>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B7F5BFD2-2839-4BF6-A608-3F040CE1C75F}"/>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0E8CCE1F-198A-4ED6-8619-330AEA720B2B}"/>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EDEA7251-7014-471E-871A-4CF6BD0ECFBF}"/>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06F24751-3662-4FF7-9C04-AABDBF79FAA6}"/>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CFE569D1-672C-4DDA-9C1B-F5AA26E78FA1}"/>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F8EABB3-1376-4615-BB01-5FFBFBC2284A}"/>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8B659C4C-361C-4812-8D1D-2C360FDED3E1}"/>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87BCFF03-A144-42F4-A7E8-CA9781D27D2B}"/>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9A37985B-7D60-4A62-9B0A-F3B0623D346E}"/>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46DF6E5-D4F2-48BD-8700-C24899F4D7E1}"/>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B3621F78-9B36-4897-80FF-914EB0269A16}"/>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C29E191E-95E3-4237-8E43-577CE9D71782}"/>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69949A69-CAE9-4477-BAF8-8E7956F1F0D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2CDE3605-F0B3-4ECE-8DDC-9FD8CA7CD71A}"/>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D923ED06-D2C5-4B41-81EB-A5621E29FDD6}"/>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A6FA6DBE-1669-4CF5-A89D-C3AE02B66F46}"/>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4BABFD62-1121-4985-957F-2872EE50B3AE}"/>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2BA58D6D-DB3A-41DB-AEA0-BCBA39920592}"/>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DF58D81F-1928-4836-9094-67346F6016BF}"/>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15D659F-341F-430F-A66B-E42C1A45C201}"/>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AD96C9F7-448F-46C8-BDF7-73FB8E2CD3AC}"/>
              </a:ext>
            </a:extLst>
          </p:cNvPr>
          <p:cNvSpPr txBox="1"/>
          <p:nvPr/>
        </p:nvSpPr>
        <p:spPr>
          <a:xfrm>
            <a:off x="819150" y="1445260"/>
            <a:ext cx="10413365" cy="1383665"/>
          </a:xfrm>
          <a:prstGeom prst="rect">
            <a:avLst/>
          </a:prstGeom>
          <a:noFill/>
        </p:spPr>
        <p:txBody>
          <a:bodyPr wrap="square" rtlCol="0">
            <a:spAutoFit/>
          </a:bodyPr>
          <a:lstStyle/>
          <a:p>
            <a:r>
              <a:rPr lang="zh-CN" altLang="en-US" sz="2400" b="1" dirty="0"/>
              <a:t>结构风险（</a:t>
            </a:r>
            <a:r>
              <a:rPr lang="zh-CN" altLang="en-US" sz="2400" b="1" i="1" dirty="0"/>
              <a:t>Structura/ Risk</a:t>
            </a:r>
            <a:r>
              <a:rPr lang="zh-CN" altLang="en-US" sz="2400" b="1" dirty="0"/>
              <a:t>）：</a:t>
            </a:r>
            <a:r>
              <a:rPr lang="zh-CN" altLang="en-US" sz="2000" dirty="0"/>
              <a:t>在经验风险的基础上，增加一个正则化项（Regularizer)或者叫做惩罚项（Pena/ty Term)，公式为：                                          其中入为一个大于0的系数，J（f)表示模型f（x)的复杂度。</a:t>
            </a:r>
          </a:p>
          <a:p>
            <a:endParaRPr lang="zh-CN" altLang="en-US" sz="2000" dirty="0">
              <a:solidFill>
                <a:schemeClr val="bg1"/>
              </a:solidFill>
            </a:endParaRPr>
          </a:p>
        </p:txBody>
      </p:sp>
      <p:pic>
        <p:nvPicPr>
          <p:cNvPr id="26" name="图片 25">
            <a:extLst>
              <a:ext uri="{FF2B5EF4-FFF2-40B4-BE49-F238E27FC236}">
                <a16:creationId xmlns:a16="http://schemas.microsoft.com/office/drawing/2014/main" id="{83E1DE1C-6C92-4E13-B695-2CC8A9172F13}"/>
              </a:ext>
            </a:extLst>
          </p:cNvPr>
          <p:cNvPicPr>
            <a:picLocks noChangeAspect="1"/>
          </p:cNvPicPr>
          <p:nvPr/>
        </p:nvPicPr>
        <p:blipFill>
          <a:blip r:embed="rId2"/>
          <a:stretch>
            <a:fillRect/>
          </a:stretch>
        </p:blipFill>
        <p:spPr>
          <a:xfrm>
            <a:off x="7325174" y="1890394"/>
            <a:ext cx="2781935" cy="493395"/>
          </a:xfrm>
          <a:prstGeom prst="rect">
            <a:avLst/>
          </a:prstGeom>
        </p:spPr>
      </p:pic>
      <p:sp>
        <p:nvSpPr>
          <p:cNvPr id="27" name="文本框 26">
            <a:extLst>
              <a:ext uri="{FF2B5EF4-FFF2-40B4-BE49-F238E27FC236}">
                <a16:creationId xmlns:a16="http://schemas.microsoft.com/office/drawing/2014/main" id="{65EB2CBB-0837-42FF-BD1C-5246764A41E9}"/>
              </a:ext>
            </a:extLst>
          </p:cNvPr>
          <p:cNvSpPr txBox="1"/>
          <p:nvPr/>
        </p:nvSpPr>
        <p:spPr>
          <a:xfrm>
            <a:off x="793115" y="3427730"/>
            <a:ext cx="10074910" cy="2380615"/>
          </a:xfrm>
          <a:prstGeom prst="rect">
            <a:avLst/>
          </a:prstGeom>
          <a:noFill/>
        </p:spPr>
        <p:txBody>
          <a:bodyPr wrap="square" rtlCol="0">
            <a:spAutoFit/>
          </a:bodyPr>
          <a:lstStyle/>
          <a:p>
            <a:pPr>
              <a:lnSpc>
                <a:spcPct val="120000"/>
              </a:lnSpc>
            </a:pPr>
            <a:r>
              <a:rPr lang="zh-CN" altLang="en-US" sz="2400" b="1" dirty="0"/>
              <a:t>结构风险vs经验风险</a:t>
            </a:r>
            <a:r>
              <a:rPr lang="zh-CN" altLang="en-US" sz="2000" dirty="0"/>
              <a:t>：</a:t>
            </a:r>
          </a:p>
          <a:p>
            <a:pPr marL="342900" indent="-342900">
              <a:lnSpc>
                <a:spcPct val="120000"/>
              </a:lnSpc>
              <a:buFont typeface="Wingdings" panose="05000000000000000000" charset="0"/>
              <a:buChar char="l"/>
            </a:pPr>
            <a:r>
              <a:rPr lang="zh-CN" altLang="en-US" sz="2000" dirty="0"/>
              <a:t>经验风险越小，模型决策函数越复杂，其包含的参数越多</a:t>
            </a:r>
          </a:p>
          <a:p>
            <a:pPr marL="342900" indent="-342900">
              <a:lnSpc>
                <a:spcPct val="120000"/>
              </a:lnSpc>
              <a:buFont typeface="Wingdings" panose="05000000000000000000" charset="0"/>
              <a:buChar char="l"/>
            </a:pPr>
            <a:r>
              <a:rPr lang="zh-CN" altLang="en-US" sz="2000" dirty="0"/>
              <a:t>当经验风险函数小到一定程度就出现了过拟合现象</a:t>
            </a:r>
          </a:p>
          <a:p>
            <a:pPr marL="342900" indent="-342900">
              <a:lnSpc>
                <a:spcPct val="120000"/>
              </a:lnSpc>
              <a:buFont typeface="Wingdings" panose="05000000000000000000" charset="0"/>
              <a:buChar char="l"/>
            </a:pPr>
            <a:r>
              <a:rPr lang="zh-CN" altLang="en-US" sz="2000" dirty="0"/>
              <a:t>防止过拟合现象的方式，就要降低决策函数的复杂度，让惩罚项J(f)最小化</a:t>
            </a:r>
          </a:p>
          <a:p>
            <a:pPr marL="342900" indent="-342900">
              <a:lnSpc>
                <a:spcPct val="120000"/>
              </a:lnSpc>
              <a:buFont typeface="Wingdings" panose="05000000000000000000" charset="0"/>
              <a:buChar char="l"/>
            </a:pPr>
            <a:r>
              <a:rPr lang="zh-CN" altLang="en-US" sz="2000" dirty="0"/>
              <a:t>需要同时保证经验风险函数和模型决策函数的复杂度都达到最小化</a:t>
            </a:r>
          </a:p>
          <a:p>
            <a:pPr marL="342900" indent="-342900">
              <a:lnSpc>
                <a:spcPct val="120000"/>
              </a:lnSpc>
              <a:buFont typeface="Wingdings" panose="05000000000000000000" charset="0"/>
              <a:buChar char="l"/>
            </a:pPr>
            <a:r>
              <a:rPr lang="zh-CN" altLang="en-US" sz="2000" dirty="0"/>
              <a:t>把两个式子融合成一个式子得到结构风险函数然后对这个结构风险函数进行最小化</a:t>
            </a:r>
          </a:p>
        </p:txBody>
      </p:sp>
    </p:spTree>
    <p:extLst>
      <p:ext uri="{BB962C8B-B14F-4D97-AF65-F5344CB8AC3E}">
        <p14:creationId xmlns:p14="http://schemas.microsoft.com/office/powerpoint/2010/main" val="714809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linds(horizontal)">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linds(horizontal)">
                                      <p:cBhvr>
                                        <p:cTn id="28"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8EB6A5C-4D95-456C-91D5-547C1FD82966}"/>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正则化项</a:t>
            </a:r>
          </a:p>
        </p:txBody>
      </p:sp>
      <p:grpSp>
        <p:nvGrpSpPr>
          <p:cNvPr id="4" name="组合 3">
            <a:extLst>
              <a:ext uri="{FF2B5EF4-FFF2-40B4-BE49-F238E27FC236}">
                <a16:creationId xmlns:a16="http://schemas.microsoft.com/office/drawing/2014/main" id="{5B8CE857-CCAE-4658-8642-3FA62B1237BE}"/>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60BEAFDA-669F-4B4F-AFF2-9A638E3EEB24}"/>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FB2AB83C-18D6-4426-A96E-B84F33BBF821}"/>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BEC44A90-3E64-462E-8C27-8301D4AC7FAE}"/>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14E6D22A-BA07-446F-8B25-85FB2F845444}"/>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A2E1E486-DA3B-4507-B050-AEE0C5D02B90}"/>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E51124FC-C82D-4B93-8570-6DC8550FC24C}"/>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E869CD01-5B07-4D22-9B10-CFC36D7D920E}"/>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C4EC6D0D-40DA-4CAF-B71C-A89700CDACA3}"/>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756A8703-68A3-4BD4-A9C4-A19B0E547F04}"/>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7A8AB550-5724-4097-8499-DF756AF713D6}"/>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8FB3AD35-E888-4643-86BA-22876E4942A8}"/>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9E310FAB-014F-43E1-97D1-9DA2A333C3DD}"/>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55875A3A-103A-4CE0-A3AA-45C430E6AEE7}"/>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30763273-DC37-4503-ADF6-D66C99E195D6}"/>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5A082D1A-DFD6-45D2-8F58-CB29179914C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D4AC9FFF-5E3B-4B21-9F98-2ED1D4A82F4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10DF286B-39F4-43F0-A8DD-1AD985C5FFD4}"/>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9C216F1D-290A-4FF5-9EE6-F97B2E46F20A}"/>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ABED9ABA-21E1-46C2-A3F0-E4B20FA0856C}"/>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368BD907-15DE-4E13-9746-414D0EDECBB5}"/>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7AD8C2E1-8B65-40FD-A959-0C35C5FF4893}"/>
              </a:ext>
            </a:extLst>
          </p:cNvPr>
          <p:cNvSpPr txBox="1"/>
          <p:nvPr/>
        </p:nvSpPr>
        <p:spPr>
          <a:xfrm>
            <a:off x="837565" y="1209675"/>
            <a:ext cx="10607040" cy="922020"/>
          </a:xfrm>
          <a:prstGeom prst="rect">
            <a:avLst/>
          </a:prstGeom>
          <a:noFill/>
        </p:spPr>
        <p:txBody>
          <a:bodyPr wrap="square" rtlCol="0">
            <a:spAutoFit/>
          </a:bodyPr>
          <a:lstStyle/>
          <a:p>
            <a:pPr>
              <a:lnSpc>
                <a:spcPct val="90000"/>
              </a:lnSpc>
            </a:pPr>
            <a:r>
              <a:rPr lang="zh-CN" altLang="en-US" sz="2000" dirty="0"/>
              <a:t>再看一个例子：已知某数据集有6个特征值，在特征值和结果之间建立联系，去预测末知数据集上的结果。选取绝对值损失函数L（Y,f(x))=lY-f（x)I、惩罚函数项选择                   ，计算结构风险和经验风险</a:t>
            </a:r>
          </a:p>
        </p:txBody>
      </p:sp>
      <p:pic>
        <p:nvPicPr>
          <p:cNvPr id="26" name="图片 25">
            <a:extLst>
              <a:ext uri="{FF2B5EF4-FFF2-40B4-BE49-F238E27FC236}">
                <a16:creationId xmlns:a16="http://schemas.microsoft.com/office/drawing/2014/main" id="{4A31B00F-0D71-4EB2-A3BE-CC53C7472675}"/>
              </a:ext>
            </a:extLst>
          </p:cNvPr>
          <p:cNvPicPr>
            <a:picLocks noChangeAspect="1"/>
          </p:cNvPicPr>
          <p:nvPr/>
        </p:nvPicPr>
        <p:blipFill>
          <a:blip r:embed="rId2"/>
          <a:stretch>
            <a:fillRect/>
          </a:stretch>
        </p:blipFill>
        <p:spPr>
          <a:xfrm>
            <a:off x="9002021" y="1525588"/>
            <a:ext cx="1174115" cy="489585"/>
          </a:xfrm>
          <a:prstGeom prst="rect">
            <a:avLst/>
          </a:prstGeom>
        </p:spPr>
      </p:pic>
      <p:pic>
        <p:nvPicPr>
          <p:cNvPr id="27" name="图片 26">
            <a:extLst>
              <a:ext uri="{FF2B5EF4-FFF2-40B4-BE49-F238E27FC236}">
                <a16:creationId xmlns:a16="http://schemas.microsoft.com/office/drawing/2014/main" id="{8A248C39-EA68-4AA4-9741-35F91AE11F3D}"/>
              </a:ext>
            </a:extLst>
          </p:cNvPr>
          <p:cNvPicPr>
            <a:picLocks noChangeAspect="1"/>
          </p:cNvPicPr>
          <p:nvPr/>
        </p:nvPicPr>
        <p:blipFill>
          <a:blip r:embed="rId3"/>
          <a:stretch>
            <a:fillRect/>
          </a:stretch>
        </p:blipFill>
        <p:spPr>
          <a:xfrm>
            <a:off x="211455" y="2447608"/>
            <a:ext cx="11233150" cy="4261365"/>
          </a:xfrm>
          <a:prstGeom prst="rect">
            <a:avLst/>
          </a:prstGeom>
        </p:spPr>
      </p:pic>
    </p:spTree>
    <p:extLst>
      <p:ext uri="{BB962C8B-B14F-4D97-AF65-F5344CB8AC3E}">
        <p14:creationId xmlns:p14="http://schemas.microsoft.com/office/powerpoint/2010/main" val="3727306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blinds(horizontal)">
                                      <p:cBhvr>
                                        <p:cTn id="25"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270288B-695C-4AB5-AC75-F77255584546}"/>
              </a:ext>
            </a:extLst>
          </p:cNvPr>
          <p:cNvSpPr txBox="1"/>
          <p:nvPr/>
        </p:nvSpPr>
        <p:spPr>
          <a:xfrm>
            <a:off x="951520" y="208400"/>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范函数</a:t>
            </a:r>
          </a:p>
        </p:txBody>
      </p:sp>
      <p:grpSp>
        <p:nvGrpSpPr>
          <p:cNvPr id="4" name="组合 3">
            <a:extLst>
              <a:ext uri="{FF2B5EF4-FFF2-40B4-BE49-F238E27FC236}">
                <a16:creationId xmlns:a16="http://schemas.microsoft.com/office/drawing/2014/main" id="{AEBD6EFE-290A-4EDD-9EFD-BF904AA30D5F}"/>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B65DC24B-646A-4C0B-924D-FFA079540368}"/>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59B24F8A-7AA8-4104-BA4C-959A69AF8EA0}"/>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F12B26A7-E40D-4322-A78D-C6530805C974}"/>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58BC834B-8025-4E54-997D-580278F3374E}"/>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0E889029-E947-4A61-A579-7C1D7DC1313A}"/>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7A1E38F-A925-4CE4-B490-8FE171BA7495}"/>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4F8088FE-0C55-4F3C-B920-350E66254B13}"/>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DDA5D399-3BD7-4BEE-AC36-6D4B026FF5F0}"/>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7A17E008-1D8E-4EA1-85A7-FFF6C1D5BD48}"/>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CAFF94C4-C758-4F30-B98D-F9B32610DC37}"/>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4CD5E341-E56C-49C1-B954-12C95486055F}"/>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B3C8859C-3F7F-4D0C-B638-C5EE64284503}"/>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4A55C7DC-393A-46FB-A66B-738A8E6E376A}"/>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6878C4F3-4B90-4083-B513-C98D1BE3292C}"/>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88C3B740-4045-435C-B034-39DAEA9F07BF}"/>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9E94048C-06D0-44F8-B8F0-C0932A49413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1EEB8C04-23FD-42CF-8584-D12A294D49A8}"/>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D7743152-2814-4E8D-AAB2-961D5148B2BE}"/>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295ACCA8-FCC0-456B-A8C8-A8A10BE8E26E}"/>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2836BAF9-FD7F-4FE1-B79A-F1EFAD1FAB98}"/>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F86931D5-6564-419C-B2B6-225D5F5B8C42}"/>
              </a:ext>
            </a:extLst>
          </p:cNvPr>
          <p:cNvSpPr txBox="1"/>
          <p:nvPr/>
        </p:nvSpPr>
        <p:spPr>
          <a:xfrm>
            <a:off x="800100" y="1259205"/>
            <a:ext cx="10242550" cy="1014730"/>
          </a:xfrm>
          <a:prstGeom prst="rect">
            <a:avLst/>
          </a:prstGeom>
          <a:noFill/>
        </p:spPr>
        <p:txBody>
          <a:bodyPr wrap="square" rtlCol="0">
            <a:spAutoFit/>
          </a:bodyPr>
          <a:lstStyle/>
          <a:p>
            <a:r>
              <a:rPr lang="zh-CN" altLang="en-US" sz="2000" dirty="0"/>
              <a:t>规则化函数y（f）有多种选择，一般地，它是模型复杂度的单调递增函数，模型越复杂，该函数的值就越大，惩罚力度相应的越大。常用模型的参数向量的范数。常用的有零范数、一范数、二范数、迹范数、Frobenius范数和核范数等等。</a:t>
            </a:r>
          </a:p>
        </p:txBody>
      </p:sp>
      <p:pic>
        <p:nvPicPr>
          <p:cNvPr id="26" name="图片 25">
            <a:extLst>
              <a:ext uri="{FF2B5EF4-FFF2-40B4-BE49-F238E27FC236}">
                <a16:creationId xmlns:a16="http://schemas.microsoft.com/office/drawing/2014/main" id="{117BA61B-35BF-49F3-BF8A-1B1841CBBEFC}"/>
              </a:ext>
            </a:extLst>
          </p:cNvPr>
          <p:cNvPicPr>
            <a:picLocks noChangeAspect="1"/>
          </p:cNvPicPr>
          <p:nvPr/>
        </p:nvPicPr>
        <p:blipFill>
          <a:blip r:embed="rId2"/>
          <a:stretch>
            <a:fillRect/>
          </a:stretch>
        </p:blipFill>
        <p:spPr>
          <a:xfrm>
            <a:off x="4631055" y="2418080"/>
            <a:ext cx="3153410" cy="779780"/>
          </a:xfrm>
          <a:prstGeom prst="rect">
            <a:avLst/>
          </a:prstGeom>
        </p:spPr>
      </p:pic>
      <p:sp>
        <p:nvSpPr>
          <p:cNvPr id="27" name="文本框 26">
            <a:extLst>
              <a:ext uri="{FF2B5EF4-FFF2-40B4-BE49-F238E27FC236}">
                <a16:creationId xmlns:a16="http://schemas.microsoft.com/office/drawing/2014/main" id="{68E49782-AB05-4CA7-AC17-50D232F219D1}"/>
              </a:ext>
            </a:extLst>
          </p:cNvPr>
          <p:cNvSpPr txBox="1"/>
          <p:nvPr/>
        </p:nvSpPr>
        <p:spPr>
          <a:xfrm>
            <a:off x="819785" y="3513455"/>
            <a:ext cx="10204450" cy="706755"/>
          </a:xfrm>
          <a:prstGeom prst="rect">
            <a:avLst/>
          </a:prstGeom>
          <a:noFill/>
        </p:spPr>
        <p:txBody>
          <a:bodyPr wrap="square" rtlCol="0">
            <a:spAutoFit/>
          </a:bodyPr>
          <a:lstStyle/>
          <a:p>
            <a:r>
              <a:rPr lang="zh-CN" altLang="en-US" sz="2000" dirty="0"/>
              <a:t>范数（Norm）：是数学中的一种基本概念，它定义在赋泛线性空间中，满足①非负性；②齐次性；③三角不等式等条件的量。常常用来度量向量的长度或者大小。</a:t>
            </a:r>
          </a:p>
        </p:txBody>
      </p:sp>
      <p:pic>
        <p:nvPicPr>
          <p:cNvPr id="28" name="图片 27">
            <a:extLst>
              <a:ext uri="{FF2B5EF4-FFF2-40B4-BE49-F238E27FC236}">
                <a16:creationId xmlns:a16="http://schemas.microsoft.com/office/drawing/2014/main" id="{13650F5E-E8AC-4F87-9457-371DA7B24AD0}"/>
              </a:ext>
            </a:extLst>
          </p:cNvPr>
          <p:cNvPicPr>
            <a:picLocks noChangeAspect="1"/>
          </p:cNvPicPr>
          <p:nvPr/>
        </p:nvPicPr>
        <p:blipFill>
          <a:blip r:embed="rId3"/>
          <a:stretch>
            <a:fillRect/>
          </a:stretch>
        </p:blipFill>
        <p:spPr>
          <a:xfrm>
            <a:off x="1441450" y="4559300"/>
            <a:ext cx="2606040" cy="991870"/>
          </a:xfrm>
          <a:prstGeom prst="rect">
            <a:avLst/>
          </a:prstGeom>
        </p:spPr>
      </p:pic>
      <p:pic>
        <p:nvPicPr>
          <p:cNvPr id="29" name="图片 28">
            <a:extLst>
              <a:ext uri="{FF2B5EF4-FFF2-40B4-BE49-F238E27FC236}">
                <a16:creationId xmlns:a16="http://schemas.microsoft.com/office/drawing/2014/main" id="{12DD4E8F-3ABA-4D7C-BE7E-92E678ADAF4B}"/>
              </a:ext>
            </a:extLst>
          </p:cNvPr>
          <p:cNvPicPr>
            <a:picLocks noChangeAspect="1"/>
          </p:cNvPicPr>
          <p:nvPr/>
        </p:nvPicPr>
        <p:blipFill>
          <a:blip r:embed="rId4"/>
          <a:stretch>
            <a:fillRect/>
          </a:stretch>
        </p:blipFill>
        <p:spPr>
          <a:xfrm>
            <a:off x="4670425" y="4459605"/>
            <a:ext cx="6372225" cy="1656080"/>
          </a:xfrm>
          <a:prstGeom prst="rect">
            <a:avLst/>
          </a:prstGeom>
        </p:spPr>
      </p:pic>
    </p:spTree>
    <p:extLst>
      <p:ext uri="{BB962C8B-B14F-4D97-AF65-F5344CB8AC3E}">
        <p14:creationId xmlns:p14="http://schemas.microsoft.com/office/powerpoint/2010/main" val="1282736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BF6F83C-056D-439B-93DE-2B0A216BB9C6}"/>
              </a:ext>
            </a:extLst>
          </p:cNvPr>
          <p:cNvSpPr txBox="1"/>
          <p:nvPr/>
        </p:nvSpPr>
        <p:spPr>
          <a:xfrm>
            <a:off x="822428" y="367785"/>
            <a:ext cx="2621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样本风险问题</a:t>
            </a:r>
          </a:p>
        </p:txBody>
      </p:sp>
      <p:grpSp>
        <p:nvGrpSpPr>
          <p:cNvPr id="4" name="组合 3">
            <a:extLst>
              <a:ext uri="{FF2B5EF4-FFF2-40B4-BE49-F238E27FC236}">
                <a16:creationId xmlns:a16="http://schemas.microsoft.com/office/drawing/2014/main" id="{E4D36051-9C67-4575-9F83-ABBEC56E3A9C}"/>
              </a:ext>
            </a:extLst>
          </p:cNvPr>
          <p:cNvGrpSpPr/>
          <p:nvPr/>
        </p:nvGrpSpPr>
        <p:grpSpPr>
          <a:xfrm>
            <a:off x="145173" y="382040"/>
            <a:ext cx="563089" cy="556264"/>
            <a:chOff x="318716" y="199386"/>
            <a:chExt cx="608244" cy="600871"/>
          </a:xfrm>
        </p:grpSpPr>
        <p:sp>
          <p:nvSpPr>
            <p:cNvPr id="5" name="任意多边形 1">
              <a:extLst>
                <a:ext uri="{FF2B5EF4-FFF2-40B4-BE49-F238E27FC236}">
                  <a16:creationId xmlns:a16="http://schemas.microsoft.com/office/drawing/2014/main" id="{42B45B34-6298-43E9-BEDE-AC0B7CD11E33}"/>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6C262627-1FF4-4A41-B5BF-51865A7B5E02}"/>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FC34DBFD-CF6D-471E-BCE2-B73EE3E91231}"/>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F27F167B-A4B1-40C9-A53A-0B192F9D647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6403B8FC-C221-42E1-A6F5-C31164621EAA}"/>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274D4711-99CE-49FF-B87F-6739D7B43318}"/>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AC29D8EA-C057-470C-A768-3E07EFF6DB48}"/>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E4050B7A-EABB-4D0D-A3BA-96F0163AD755}"/>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D1FD39A7-E3A5-486B-89FE-3A3F61F8D4C9}"/>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BA878F11-4780-4D2F-9799-D927578F5BC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90E83567-CB11-4A3F-9144-04AC251E0A54}"/>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48DBFE72-3D9D-4F82-B0AC-D22AC4F94FA0}"/>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A569A1DA-AD3B-4E04-84A3-55345532F235}"/>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63EDF158-9E37-4CA0-9CDD-A09ADE826D39}"/>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A37CB7F0-D422-4EDB-AF4A-65B94DE4662F}"/>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675F85E1-FD04-4009-A0B7-A3DDD1C21900}"/>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29133A0F-4690-4409-A494-84543A9FBB5B}"/>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B1D005F-D89C-4E3F-A870-E466C1681B67}"/>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BE7B2A69-1008-42BF-9F5C-409D578C7DA1}"/>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6704B041-11D2-4B8D-96B4-10F58BA173B2}"/>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CC7919FD-482A-4DF3-9DC7-8A2ABA4A295D}"/>
              </a:ext>
            </a:extLst>
          </p:cNvPr>
          <p:cNvSpPr txBox="1"/>
          <p:nvPr/>
        </p:nvSpPr>
        <p:spPr>
          <a:xfrm>
            <a:off x="670373" y="1218565"/>
            <a:ext cx="10079355" cy="398780"/>
          </a:xfrm>
          <a:prstGeom prst="rect">
            <a:avLst/>
          </a:prstGeom>
          <a:noFill/>
        </p:spPr>
        <p:txBody>
          <a:bodyPr wrap="square" rtlCol="0">
            <a:spAutoFit/>
          </a:bodyPr>
          <a:lstStyle/>
          <a:p>
            <a:r>
              <a:rPr lang="zh-CN" altLang="en-US" sz="2000" dirty="0"/>
              <a:t>在样本较小时，仅关注经验风险，又容易导致过拟和。</a:t>
            </a:r>
          </a:p>
        </p:txBody>
      </p:sp>
      <p:pic>
        <p:nvPicPr>
          <p:cNvPr id="26" name="图片 25">
            <a:extLst>
              <a:ext uri="{FF2B5EF4-FFF2-40B4-BE49-F238E27FC236}">
                <a16:creationId xmlns:a16="http://schemas.microsoft.com/office/drawing/2014/main" id="{7FDF8D2F-4A87-46E9-A69C-7B8894689DFA}"/>
              </a:ext>
            </a:extLst>
          </p:cNvPr>
          <p:cNvPicPr>
            <a:picLocks noChangeAspect="1"/>
          </p:cNvPicPr>
          <p:nvPr/>
        </p:nvPicPr>
        <p:blipFill>
          <a:blip r:embed="rId2"/>
          <a:stretch>
            <a:fillRect/>
          </a:stretch>
        </p:blipFill>
        <p:spPr>
          <a:xfrm>
            <a:off x="654498" y="2459355"/>
            <a:ext cx="1091565" cy="2279015"/>
          </a:xfrm>
          <a:prstGeom prst="rect">
            <a:avLst/>
          </a:prstGeom>
        </p:spPr>
      </p:pic>
      <p:pic>
        <p:nvPicPr>
          <p:cNvPr id="27" name="图片 26">
            <a:extLst>
              <a:ext uri="{FF2B5EF4-FFF2-40B4-BE49-F238E27FC236}">
                <a16:creationId xmlns:a16="http://schemas.microsoft.com/office/drawing/2014/main" id="{A06437E5-E1F0-4A79-8CFE-9D09FE0A1F4A}"/>
              </a:ext>
            </a:extLst>
          </p:cNvPr>
          <p:cNvPicPr>
            <a:picLocks noChangeAspect="1"/>
          </p:cNvPicPr>
          <p:nvPr/>
        </p:nvPicPr>
        <p:blipFill>
          <a:blip r:embed="rId3"/>
          <a:stretch>
            <a:fillRect/>
          </a:stretch>
        </p:blipFill>
        <p:spPr>
          <a:xfrm>
            <a:off x="2028638" y="2423795"/>
            <a:ext cx="1620000" cy="1473185"/>
          </a:xfrm>
          <a:prstGeom prst="rect">
            <a:avLst/>
          </a:prstGeom>
        </p:spPr>
      </p:pic>
      <p:pic>
        <p:nvPicPr>
          <p:cNvPr id="28" name="图片 27">
            <a:extLst>
              <a:ext uri="{FF2B5EF4-FFF2-40B4-BE49-F238E27FC236}">
                <a16:creationId xmlns:a16="http://schemas.microsoft.com/office/drawing/2014/main" id="{1C464E50-D4EC-4177-822D-CD1FCE8F163B}"/>
              </a:ext>
            </a:extLst>
          </p:cNvPr>
          <p:cNvPicPr>
            <a:picLocks noChangeAspect="1"/>
          </p:cNvPicPr>
          <p:nvPr/>
        </p:nvPicPr>
        <p:blipFill>
          <a:blip r:embed="rId4"/>
          <a:stretch>
            <a:fillRect/>
          </a:stretch>
        </p:blipFill>
        <p:spPr>
          <a:xfrm>
            <a:off x="3931098" y="2459355"/>
            <a:ext cx="1619885" cy="1438275"/>
          </a:xfrm>
          <a:prstGeom prst="rect">
            <a:avLst/>
          </a:prstGeom>
        </p:spPr>
      </p:pic>
      <p:pic>
        <p:nvPicPr>
          <p:cNvPr id="29" name="图片 28">
            <a:extLst>
              <a:ext uri="{FF2B5EF4-FFF2-40B4-BE49-F238E27FC236}">
                <a16:creationId xmlns:a16="http://schemas.microsoft.com/office/drawing/2014/main" id="{1BE77017-CE80-4669-A22F-5CA0B1393981}"/>
              </a:ext>
            </a:extLst>
          </p:cNvPr>
          <p:cNvPicPr>
            <a:picLocks noChangeAspect="1"/>
          </p:cNvPicPr>
          <p:nvPr/>
        </p:nvPicPr>
        <p:blipFill>
          <a:blip r:embed="rId5"/>
          <a:stretch>
            <a:fillRect/>
          </a:stretch>
        </p:blipFill>
        <p:spPr>
          <a:xfrm>
            <a:off x="5829748" y="2424430"/>
            <a:ext cx="1619885" cy="1472565"/>
          </a:xfrm>
          <a:prstGeom prst="rect">
            <a:avLst/>
          </a:prstGeom>
        </p:spPr>
      </p:pic>
      <p:pic>
        <p:nvPicPr>
          <p:cNvPr id="30" name="图片 29">
            <a:extLst>
              <a:ext uri="{FF2B5EF4-FFF2-40B4-BE49-F238E27FC236}">
                <a16:creationId xmlns:a16="http://schemas.microsoft.com/office/drawing/2014/main" id="{8C785083-4B47-40E3-A375-22ABFE33B1A7}"/>
              </a:ext>
            </a:extLst>
          </p:cNvPr>
          <p:cNvPicPr>
            <a:picLocks noChangeAspect="1"/>
          </p:cNvPicPr>
          <p:nvPr/>
        </p:nvPicPr>
        <p:blipFill>
          <a:blip r:embed="rId6"/>
          <a:stretch>
            <a:fillRect/>
          </a:stretch>
        </p:blipFill>
        <p:spPr>
          <a:xfrm>
            <a:off x="7729033" y="2424430"/>
            <a:ext cx="1619885" cy="1485900"/>
          </a:xfrm>
          <a:prstGeom prst="rect">
            <a:avLst/>
          </a:prstGeom>
        </p:spPr>
      </p:pic>
      <p:pic>
        <p:nvPicPr>
          <p:cNvPr id="31" name="图片 30">
            <a:extLst>
              <a:ext uri="{FF2B5EF4-FFF2-40B4-BE49-F238E27FC236}">
                <a16:creationId xmlns:a16="http://schemas.microsoft.com/office/drawing/2014/main" id="{20FD9CB7-C390-4407-827B-A4A32264C45E}"/>
              </a:ext>
            </a:extLst>
          </p:cNvPr>
          <p:cNvPicPr>
            <a:picLocks noChangeAspect="1"/>
          </p:cNvPicPr>
          <p:nvPr/>
        </p:nvPicPr>
        <p:blipFill>
          <a:blip r:embed="rId7"/>
          <a:stretch>
            <a:fillRect/>
          </a:stretch>
        </p:blipFill>
        <p:spPr>
          <a:xfrm>
            <a:off x="9614983" y="2438400"/>
            <a:ext cx="1619885" cy="1471930"/>
          </a:xfrm>
          <a:prstGeom prst="rect">
            <a:avLst/>
          </a:prstGeom>
        </p:spPr>
      </p:pic>
      <p:sp>
        <p:nvSpPr>
          <p:cNvPr id="32" name="文本框 31">
            <a:extLst>
              <a:ext uri="{FF2B5EF4-FFF2-40B4-BE49-F238E27FC236}">
                <a16:creationId xmlns:a16="http://schemas.microsoft.com/office/drawing/2014/main" id="{A7F44D95-FFE4-4F69-A3BD-826F22FB6162}"/>
              </a:ext>
            </a:extLst>
          </p:cNvPr>
          <p:cNvSpPr txBox="1"/>
          <p:nvPr/>
        </p:nvSpPr>
        <p:spPr>
          <a:xfrm>
            <a:off x="2415353" y="4001770"/>
            <a:ext cx="1328420" cy="368300"/>
          </a:xfrm>
          <a:prstGeom prst="rect">
            <a:avLst/>
          </a:prstGeom>
          <a:noFill/>
        </p:spPr>
        <p:txBody>
          <a:bodyPr wrap="square" rtlCol="0">
            <a:spAutoFit/>
          </a:bodyPr>
          <a:lstStyle/>
          <a:p>
            <a:r>
              <a:rPr lang="zh-CN" altLang="en-US">
                <a:solidFill>
                  <a:schemeClr val="bg1"/>
                </a:solidFill>
              </a:rPr>
              <a:t>样本点</a:t>
            </a:r>
          </a:p>
        </p:txBody>
      </p:sp>
      <p:sp>
        <p:nvSpPr>
          <p:cNvPr id="33" name="文本框 32">
            <a:extLst>
              <a:ext uri="{FF2B5EF4-FFF2-40B4-BE49-F238E27FC236}">
                <a16:creationId xmlns:a16="http://schemas.microsoft.com/office/drawing/2014/main" id="{66B7FFB1-ACBD-46D4-8E40-465F2E7FC885}"/>
              </a:ext>
            </a:extLst>
          </p:cNvPr>
          <p:cNvSpPr txBox="1"/>
          <p:nvPr/>
        </p:nvSpPr>
        <p:spPr>
          <a:xfrm>
            <a:off x="5850068" y="4001770"/>
            <a:ext cx="1599565" cy="368300"/>
          </a:xfrm>
          <a:prstGeom prst="rect">
            <a:avLst/>
          </a:prstGeom>
          <a:noFill/>
        </p:spPr>
        <p:txBody>
          <a:bodyPr wrap="square" rtlCol="0">
            <a:spAutoFit/>
          </a:bodyPr>
          <a:lstStyle/>
          <a:p>
            <a:r>
              <a:rPr lang="zh-CN" altLang="en-US">
                <a:solidFill>
                  <a:schemeClr val="bg1"/>
                </a:solidFill>
              </a:rPr>
              <a:t>二次模拟拟合</a:t>
            </a:r>
          </a:p>
        </p:txBody>
      </p:sp>
      <p:sp>
        <p:nvSpPr>
          <p:cNvPr id="34" name="文本框 33">
            <a:extLst>
              <a:ext uri="{FF2B5EF4-FFF2-40B4-BE49-F238E27FC236}">
                <a16:creationId xmlns:a16="http://schemas.microsoft.com/office/drawing/2014/main" id="{BD81C110-61C7-4B32-8E3C-E7DE898DC1F6}"/>
              </a:ext>
            </a:extLst>
          </p:cNvPr>
          <p:cNvSpPr txBox="1"/>
          <p:nvPr/>
        </p:nvSpPr>
        <p:spPr>
          <a:xfrm>
            <a:off x="7749353" y="4001770"/>
            <a:ext cx="1599565" cy="368300"/>
          </a:xfrm>
          <a:prstGeom prst="rect">
            <a:avLst/>
          </a:prstGeom>
          <a:noFill/>
        </p:spPr>
        <p:txBody>
          <a:bodyPr wrap="square" rtlCol="0">
            <a:spAutoFit/>
          </a:bodyPr>
          <a:lstStyle/>
          <a:p>
            <a:r>
              <a:rPr lang="zh-CN" altLang="en-US">
                <a:solidFill>
                  <a:schemeClr val="bg1"/>
                </a:solidFill>
              </a:rPr>
              <a:t>四次模拟拟合</a:t>
            </a:r>
          </a:p>
        </p:txBody>
      </p:sp>
      <p:sp>
        <p:nvSpPr>
          <p:cNvPr id="35" name="文本框 34">
            <a:extLst>
              <a:ext uri="{FF2B5EF4-FFF2-40B4-BE49-F238E27FC236}">
                <a16:creationId xmlns:a16="http://schemas.microsoft.com/office/drawing/2014/main" id="{C2488DAB-3384-4919-A52A-8380B1EC00B5}"/>
              </a:ext>
            </a:extLst>
          </p:cNvPr>
          <p:cNvSpPr txBox="1"/>
          <p:nvPr/>
        </p:nvSpPr>
        <p:spPr>
          <a:xfrm>
            <a:off x="9635303" y="4001770"/>
            <a:ext cx="1599565" cy="368300"/>
          </a:xfrm>
          <a:prstGeom prst="rect">
            <a:avLst/>
          </a:prstGeom>
          <a:noFill/>
        </p:spPr>
        <p:txBody>
          <a:bodyPr wrap="square" rtlCol="0">
            <a:spAutoFit/>
          </a:bodyPr>
          <a:lstStyle/>
          <a:p>
            <a:r>
              <a:rPr lang="zh-CN" altLang="en-US">
                <a:solidFill>
                  <a:schemeClr val="bg1"/>
                </a:solidFill>
              </a:rPr>
              <a:t>六次模拟拟合</a:t>
            </a:r>
          </a:p>
        </p:txBody>
      </p:sp>
      <p:sp>
        <p:nvSpPr>
          <p:cNvPr id="36" name="文本框 35">
            <a:extLst>
              <a:ext uri="{FF2B5EF4-FFF2-40B4-BE49-F238E27FC236}">
                <a16:creationId xmlns:a16="http://schemas.microsoft.com/office/drawing/2014/main" id="{A4E36576-AE6D-4B2B-B4BE-74CA93872866}"/>
              </a:ext>
            </a:extLst>
          </p:cNvPr>
          <p:cNvSpPr txBox="1"/>
          <p:nvPr/>
        </p:nvSpPr>
        <p:spPr>
          <a:xfrm>
            <a:off x="2316928" y="4627880"/>
            <a:ext cx="8917940" cy="1568450"/>
          </a:xfrm>
          <a:prstGeom prst="rect">
            <a:avLst/>
          </a:prstGeom>
          <a:noFill/>
        </p:spPr>
        <p:txBody>
          <a:bodyPr wrap="square" rtlCol="0">
            <a:spAutoFit/>
          </a:bodyPr>
          <a:lstStyle/>
          <a:p>
            <a:pPr>
              <a:lnSpc>
                <a:spcPct val="120000"/>
              </a:lnSpc>
            </a:pPr>
            <a:r>
              <a:rPr lang="zh-CN" altLang="en-US" sz="2000" dirty="0"/>
              <a:t>一次模型：y=1.0429x+0.2571</a:t>
            </a:r>
          </a:p>
          <a:p>
            <a:pPr>
              <a:lnSpc>
                <a:spcPct val="120000"/>
              </a:lnSpc>
            </a:pPr>
            <a:r>
              <a:rPr lang="zh-CN" altLang="en-US" sz="2000" dirty="0"/>
              <a:t>二次模型：y=-0.0524</a:t>
            </a:r>
            <a:r>
              <a:rPr lang="en-US" altLang="zh-CN" sz="2000" dirty="0"/>
              <a:t>x</a:t>
            </a:r>
            <a:r>
              <a:rPr lang="en-US" altLang="zh-CN" sz="2000" baseline="30000" dirty="0"/>
              <a:t>2</a:t>
            </a:r>
            <a:r>
              <a:rPr lang="zh-CN" altLang="en-US" sz="2000" dirty="0"/>
              <a:t>+1.4619x-0.3714</a:t>
            </a:r>
          </a:p>
          <a:p>
            <a:pPr>
              <a:lnSpc>
                <a:spcPct val="120000"/>
              </a:lnSpc>
            </a:pPr>
            <a:r>
              <a:rPr lang="zh-CN" altLang="en-US" sz="2000" dirty="0"/>
              <a:t>四次模型：y=0.0886x</a:t>
            </a:r>
            <a:r>
              <a:rPr lang="zh-CN" altLang="en-US" sz="2000" baseline="30000" dirty="0"/>
              <a:t>4</a:t>
            </a:r>
            <a:r>
              <a:rPr lang="zh-CN" altLang="en-US" sz="2000" dirty="0"/>
              <a:t>-1.3904x</a:t>
            </a:r>
            <a:r>
              <a:rPr lang="zh-CN" altLang="en-US" sz="2000" baseline="30000" dirty="0"/>
              <a:t>3</a:t>
            </a:r>
            <a:r>
              <a:rPr lang="zh-CN" altLang="en-US" sz="2000" dirty="0"/>
              <a:t>+7.275x</a:t>
            </a:r>
            <a:r>
              <a:rPr lang="zh-CN" altLang="en-US" sz="2000" baseline="30000" dirty="0"/>
              <a:t>2</a:t>
            </a:r>
            <a:r>
              <a:rPr lang="zh-CN" altLang="en-US" sz="2000" dirty="0"/>
              <a:t>-13.303x+8.6571</a:t>
            </a:r>
          </a:p>
          <a:p>
            <a:pPr>
              <a:lnSpc>
                <a:spcPct val="120000"/>
              </a:lnSpc>
            </a:pPr>
            <a:r>
              <a:rPr lang="zh-CN" altLang="en-US" sz="2000" dirty="0"/>
              <a:t>六次模型：y=-0.0289x</a:t>
            </a:r>
            <a:r>
              <a:rPr lang="zh-CN" altLang="en-US" sz="2000" baseline="30000" dirty="0"/>
              <a:t>6</a:t>
            </a:r>
            <a:r>
              <a:rPr lang="zh-CN" altLang="en-US" sz="2000" dirty="0"/>
              <a:t>+0.73x</a:t>
            </a:r>
            <a:r>
              <a:rPr lang="zh-CN" altLang="en-US" sz="2000" baseline="30000" dirty="0"/>
              <a:t>5</a:t>
            </a:r>
            <a:r>
              <a:rPr lang="zh-CN" altLang="en-US" sz="2000" dirty="0"/>
              <a:t>-7.1972x</a:t>
            </a:r>
            <a:r>
              <a:rPr lang="zh-CN" altLang="en-US" sz="2000" baseline="30000" dirty="0"/>
              <a:t>4</a:t>
            </a:r>
            <a:r>
              <a:rPr lang="zh-CN" altLang="en-US" sz="2000" dirty="0"/>
              <a:t>+34.933x</a:t>
            </a:r>
            <a:r>
              <a:rPr lang="zh-CN" altLang="en-US" sz="2000" baseline="30000" dirty="0"/>
              <a:t>3</a:t>
            </a:r>
            <a:r>
              <a:rPr lang="zh-CN" altLang="en-US" sz="2000" dirty="0"/>
              <a:t>-86.574x</a:t>
            </a:r>
            <a:r>
              <a:rPr lang="zh-CN" altLang="en-US" sz="2000" baseline="30000" dirty="0"/>
              <a:t>2</a:t>
            </a:r>
            <a:r>
              <a:rPr lang="zh-CN" altLang="en-US" sz="2000" dirty="0"/>
              <a:t>+103.14x-43.8</a:t>
            </a:r>
          </a:p>
        </p:txBody>
      </p:sp>
      <p:sp>
        <p:nvSpPr>
          <p:cNvPr id="37" name="文本框 36">
            <a:extLst>
              <a:ext uri="{FF2B5EF4-FFF2-40B4-BE49-F238E27FC236}">
                <a16:creationId xmlns:a16="http://schemas.microsoft.com/office/drawing/2014/main" id="{0C4EE94A-9C15-4EA6-BB43-3B752DF07776}"/>
              </a:ext>
            </a:extLst>
          </p:cNvPr>
          <p:cNvSpPr txBox="1"/>
          <p:nvPr/>
        </p:nvSpPr>
        <p:spPr>
          <a:xfrm>
            <a:off x="3242758" y="6397625"/>
            <a:ext cx="4934585" cy="460375"/>
          </a:xfrm>
          <a:prstGeom prst="rect">
            <a:avLst/>
          </a:prstGeom>
          <a:noFill/>
        </p:spPr>
        <p:txBody>
          <a:bodyPr wrap="square" rtlCol="0">
            <a:spAutoFit/>
          </a:bodyPr>
          <a:lstStyle/>
          <a:p>
            <a:r>
              <a:rPr lang="zh-CN" altLang="en-US" sz="2400" b="1" dirty="0"/>
              <a:t>经验风险低，模型就一定好吗？</a:t>
            </a:r>
          </a:p>
        </p:txBody>
      </p:sp>
      <p:sp>
        <p:nvSpPr>
          <p:cNvPr id="38" name="文本框 37">
            <a:extLst>
              <a:ext uri="{FF2B5EF4-FFF2-40B4-BE49-F238E27FC236}">
                <a16:creationId xmlns:a16="http://schemas.microsoft.com/office/drawing/2014/main" id="{04A4A3F1-A752-4A35-A497-2F479181C541}"/>
              </a:ext>
            </a:extLst>
          </p:cNvPr>
          <p:cNvSpPr txBox="1"/>
          <p:nvPr/>
        </p:nvSpPr>
        <p:spPr>
          <a:xfrm>
            <a:off x="4046668" y="4001770"/>
            <a:ext cx="1599565" cy="368300"/>
          </a:xfrm>
          <a:prstGeom prst="rect">
            <a:avLst/>
          </a:prstGeom>
          <a:noFill/>
        </p:spPr>
        <p:txBody>
          <a:bodyPr wrap="square" rtlCol="0">
            <a:spAutoFit/>
          </a:bodyPr>
          <a:lstStyle/>
          <a:p>
            <a:r>
              <a:rPr lang="zh-CN" altLang="en-US">
                <a:solidFill>
                  <a:schemeClr val="bg1"/>
                </a:solidFill>
              </a:rPr>
              <a:t>一次模拟拟合</a:t>
            </a:r>
          </a:p>
        </p:txBody>
      </p:sp>
    </p:spTree>
    <p:extLst>
      <p:ext uri="{BB962C8B-B14F-4D97-AF65-F5344CB8AC3E}">
        <p14:creationId xmlns:p14="http://schemas.microsoft.com/office/powerpoint/2010/main" val="35769012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down)">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linds(horizontal)">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linds(horizontal)">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blinds(horizontal)">
                                      <p:cBhvr>
                                        <p:cTn id="45" dur="500"/>
                                        <p:tgtEl>
                                          <p:spTgt spid="3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31"/>
                                        </p:tgtEl>
                                        <p:attrNameLst>
                                          <p:attrName>style.visibility</p:attrName>
                                        </p:attrNameLst>
                                      </p:cBhvr>
                                      <p:to>
                                        <p:strVal val="visible"/>
                                      </p:to>
                                    </p:set>
                                    <p:animEffect transition="in" filter="blinds(horizontal)">
                                      <p:cBhvr>
                                        <p:cTn id="50" dur="500"/>
                                        <p:tgtEl>
                                          <p:spTgt spid="31"/>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32"/>
                                        </p:tgtEl>
                                        <p:attrNameLst>
                                          <p:attrName>style.visibility</p:attrName>
                                        </p:attrNameLst>
                                      </p:cBhvr>
                                      <p:to>
                                        <p:strVal val="visible"/>
                                      </p:to>
                                    </p:set>
                                    <p:animEffect transition="in" filter="blinds(horizontal)">
                                      <p:cBhvr>
                                        <p:cTn id="55" dur="500"/>
                                        <p:tgtEl>
                                          <p:spTgt spid="32"/>
                                        </p:tgtEl>
                                      </p:cBhvr>
                                    </p:animEffect>
                                  </p:childTnLst>
                                </p:cTn>
                              </p:par>
                              <p:par>
                                <p:cTn id="56" presetID="3" presetClass="entr" presetSubtype="10" fill="hold" grpId="0"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blinds(horizontal)">
                                      <p:cBhvr>
                                        <p:cTn id="58" dur="500"/>
                                        <p:tgtEl>
                                          <p:spTgt spid="33"/>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blinds(horizontal)">
                                      <p:cBhvr>
                                        <p:cTn id="61" dur="500"/>
                                        <p:tgtEl>
                                          <p:spTgt spid="34"/>
                                        </p:tgtEl>
                                      </p:cBhvr>
                                    </p:animEffect>
                                  </p:childTnLst>
                                </p:cTn>
                              </p:par>
                              <p:par>
                                <p:cTn id="62" presetID="3" presetClass="entr" presetSubtype="10"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blinds(horizontal)">
                                      <p:cBhvr>
                                        <p:cTn id="64" dur="500"/>
                                        <p:tgtEl>
                                          <p:spTgt spid="35"/>
                                        </p:tgtEl>
                                      </p:cBhvr>
                                    </p:animEffect>
                                  </p:childTnLst>
                                </p:cTn>
                              </p:par>
                              <p:par>
                                <p:cTn id="65" presetID="3" presetClass="entr" presetSubtype="10" fill="hold" grpId="0" nodeType="with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blinds(horizontal)">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36"/>
                                        </p:tgtEl>
                                        <p:attrNameLst>
                                          <p:attrName>style.visibility</p:attrName>
                                        </p:attrNameLst>
                                      </p:cBhvr>
                                      <p:to>
                                        <p:strVal val="visible"/>
                                      </p:to>
                                    </p:set>
                                    <p:animEffect transition="in" filter="blinds(horizontal)">
                                      <p:cBhvr>
                                        <p:cTn id="72" dur="500"/>
                                        <p:tgtEl>
                                          <p:spTgt spid="36"/>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blinds(horizontal)">
                                      <p:cBhvr>
                                        <p:cTn id="7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32" grpId="0"/>
      <p:bldP spid="32" grpId="1"/>
      <p:bldP spid="33" grpId="0"/>
      <p:bldP spid="33" grpId="1"/>
      <p:bldP spid="34" grpId="0"/>
      <p:bldP spid="34" grpId="1"/>
      <p:bldP spid="35" grpId="0"/>
      <p:bldP spid="35" grpId="1"/>
      <p:bldP spid="36" grpId="0"/>
      <p:bldP spid="36" grpId="1"/>
      <p:bldP spid="37" grpId="0"/>
      <p:bldP spid="37" grpId="1"/>
      <p:bldP spid="38" grpId="0"/>
      <p:bldP spid="38" grpId="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9BBCB10-8303-4A56-A210-2D32ABBFD617}"/>
              </a:ext>
            </a:extLst>
          </p:cNvPr>
          <p:cNvSpPr txBox="1"/>
          <p:nvPr/>
        </p:nvSpPr>
        <p:spPr>
          <a:xfrm>
            <a:off x="951520" y="208400"/>
            <a:ext cx="1625766"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L</a:t>
            </a: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范函数</a:t>
            </a:r>
          </a:p>
        </p:txBody>
      </p:sp>
      <p:grpSp>
        <p:nvGrpSpPr>
          <p:cNvPr id="4" name="组合 3">
            <a:extLst>
              <a:ext uri="{FF2B5EF4-FFF2-40B4-BE49-F238E27FC236}">
                <a16:creationId xmlns:a16="http://schemas.microsoft.com/office/drawing/2014/main" id="{8CB9E8E0-BF80-402F-97B6-CF0F0D7103C8}"/>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7DA2432F-B8D3-4543-A5FC-95A3CB1CB0B7}"/>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42D89CCC-CBAC-4331-8B4F-F6ADD6AFA72E}"/>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0B38D9B5-1B80-4ADF-B5B7-091666E6DBC2}"/>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B6DC3A7F-8BE1-4A76-A956-CCCE6D442EB5}"/>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7B849EAB-8D03-4176-BB97-8B6EF9E62557}"/>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CA6BE0BF-D257-4B45-97C6-AB61CA0C7F72}"/>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6760E3A2-367C-42D7-A7D9-9A71BE50C3DE}"/>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9181CDA-5D2A-400B-95F5-77D3BF2850FA}"/>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09B87D94-E45D-4DA4-BFB5-4CA73A2EA209}"/>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BD7F7ACC-CE66-409E-9C50-87F8C8BA6440}"/>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0535E34E-9EBB-4C32-AD2E-BA711E582B2D}"/>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2D0E7183-B7B4-4BDD-B992-3D71B1496FA2}"/>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654424C9-D32F-4757-87DF-E678716DEC84}"/>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145253F9-83B4-4D25-B92C-88BBE11058F1}"/>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896F9E20-FD77-4FC5-8163-89631130D554}"/>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29C57B4F-0786-4BC1-BA49-BA90B114D03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9DD4F2FF-5C51-4E36-A731-200CA9F5D5A1}"/>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753548CF-FC2D-4556-97ED-7626A99ED8A9}"/>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7B622AA0-9602-49BA-817F-83FED0D144E9}"/>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7396CCDC-FAE5-4605-BC74-956A32E7802A}"/>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4EDCA208-EE25-4938-94A1-E17107E7527F}"/>
              </a:ext>
            </a:extLst>
          </p:cNvPr>
          <p:cNvSpPr txBox="1"/>
          <p:nvPr/>
        </p:nvSpPr>
        <p:spPr>
          <a:xfrm>
            <a:off x="584618" y="1410335"/>
            <a:ext cx="10844748" cy="1323439"/>
          </a:xfrm>
          <a:prstGeom prst="rect">
            <a:avLst/>
          </a:prstGeom>
          <a:noFill/>
        </p:spPr>
        <p:txBody>
          <a:bodyPr wrap="square" rtlCol="0">
            <a:spAutoFit/>
          </a:bodyPr>
          <a:lstStyle/>
          <a:p>
            <a:r>
              <a:rPr lang="en-US" altLang="zh-CN" sz="2000" dirty="0"/>
              <a:t>L</a:t>
            </a:r>
            <a:r>
              <a:rPr lang="zh-CN" altLang="en-US" sz="2000" dirty="0"/>
              <a:t>0范数：非O的元素的个数。使用L0范数，期望参数大部分为0，即让参数是稀疏的。</a:t>
            </a:r>
          </a:p>
          <a:p>
            <a:r>
              <a:rPr lang="zh-CN" altLang="en-US" sz="2000" dirty="0"/>
              <a:t>L1范数：各个元素的绝对值之和，使用L1范数，会使参数稀疏。L1也被称为稀疏规则算子。</a:t>
            </a:r>
          </a:p>
          <a:p>
            <a:r>
              <a:rPr lang="zh-CN" altLang="en-US" sz="2000" dirty="0"/>
              <a:t>L2范数：各元素的平方和求平方根，使得每个元素都很小，但不会等于0，而是接近0。</a:t>
            </a:r>
          </a:p>
          <a:p>
            <a:r>
              <a:rPr lang="zh-CN" altLang="en-US" sz="2000" dirty="0">
                <a:solidFill>
                  <a:schemeClr val="bg1"/>
                </a:solidFill>
              </a:rPr>
              <a:t>L</a:t>
            </a:r>
            <a:endParaRPr lang="zh-CN" altLang="en-US" sz="2000" dirty="0"/>
          </a:p>
        </p:txBody>
      </p:sp>
      <p:sp>
        <p:nvSpPr>
          <p:cNvPr id="26" name="文本框 25">
            <a:extLst>
              <a:ext uri="{FF2B5EF4-FFF2-40B4-BE49-F238E27FC236}">
                <a16:creationId xmlns:a16="http://schemas.microsoft.com/office/drawing/2014/main" id="{173EB68E-2E7D-4383-BA9B-7D09079EFB1E}"/>
              </a:ext>
            </a:extLst>
          </p:cNvPr>
          <p:cNvSpPr txBox="1"/>
          <p:nvPr/>
        </p:nvSpPr>
        <p:spPr>
          <a:xfrm>
            <a:off x="3148594" y="2385218"/>
            <a:ext cx="5179695" cy="368300"/>
          </a:xfrm>
          <a:prstGeom prst="rect">
            <a:avLst/>
          </a:prstGeom>
          <a:noFill/>
        </p:spPr>
        <p:txBody>
          <a:bodyPr wrap="square" rtlCol="0">
            <a:spAutoFit/>
          </a:bodyPr>
          <a:lstStyle/>
          <a:p>
            <a:r>
              <a:rPr lang="zh-CN" altLang="en-US" dirty="0"/>
              <a:t>min(Remp +λJ(f))&lt;==&gt; min(Remp)    s.t.λJ(f)≤η</a:t>
            </a:r>
          </a:p>
        </p:txBody>
      </p:sp>
      <p:pic>
        <p:nvPicPr>
          <p:cNvPr id="27" name="图片 26">
            <a:extLst>
              <a:ext uri="{FF2B5EF4-FFF2-40B4-BE49-F238E27FC236}">
                <a16:creationId xmlns:a16="http://schemas.microsoft.com/office/drawing/2014/main" id="{A14A01BD-075B-4259-8F83-E88D783B91C7}"/>
              </a:ext>
            </a:extLst>
          </p:cNvPr>
          <p:cNvPicPr>
            <a:picLocks noChangeAspect="1"/>
          </p:cNvPicPr>
          <p:nvPr/>
        </p:nvPicPr>
        <p:blipFill>
          <a:blip r:embed="rId2"/>
          <a:stretch>
            <a:fillRect/>
          </a:stretch>
        </p:blipFill>
        <p:spPr>
          <a:xfrm>
            <a:off x="8027582" y="4576576"/>
            <a:ext cx="1924492" cy="2132966"/>
          </a:xfrm>
          <a:prstGeom prst="rect">
            <a:avLst/>
          </a:prstGeom>
        </p:spPr>
      </p:pic>
      <p:pic>
        <p:nvPicPr>
          <p:cNvPr id="28" name="图片 27">
            <a:extLst>
              <a:ext uri="{FF2B5EF4-FFF2-40B4-BE49-F238E27FC236}">
                <a16:creationId xmlns:a16="http://schemas.microsoft.com/office/drawing/2014/main" id="{540102B7-E9D2-4589-8892-3487BB9098C1}"/>
              </a:ext>
            </a:extLst>
          </p:cNvPr>
          <p:cNvPicPr>
            <a:picLocks noChangeAspect="1"/>
          </p:cNvPicPr>
          <p:nvPr/>
        </p:nvPicPr>
        <p:blipFill>
          <a:blip r:embed="rId3"/>
          <a:stretch>
            <a:fillRect/>
          </a:stretch>
        </p:blipFill>
        <p:spPr>
          <a:xfrm>
            <a:off x="2072862" y="4596320"/>
            <a:ext cx="1834611" cy="2132965"/>
          </a:xfrm>
          <a:prstGeom prst="rect">
            <a:avLst/>
          </a:prstGeom>
        </p:spPr>
      </p:pic>
      <p:pic>
        <p:nvPicPr>
          <p:cNvPr id="29" name="图片 28">
            <a:extLst>
              <a:ext uri="{FF2B5EF4-FFF2-40B4-BE49-F238E27FC236}">
                <a16:creationId xmlns:a16="http://schemas.microsoft.com/office/drawing/2014/main" id="{5ED38790-5CFE-4810-BE4D-1CE2B7B01BF3}"/>
              </a:ext>
            </a:extLst>
          </p:cNvPr>
          <p:cNvPicPr>
            <a:picLocks noChangeAspect="1"/>
          </p:cNvPicPr>
          <p:nvPr/>
        </p:nvPicPr>
        <p:blipFill>
          <a:blip r:embed="rId4"/>
          <a:stretch>
            <a:fillRect/>
          </a:stretch>
        </p:blipFill>
        <p:spPr>
          <a:xfrm>
            <a:off x="6096000" y="2909441"/>
            <a:ext cx="5179695" cy="1660525"/>
          </a:xfrm>
          <a:prstGeom prst="rect">
            <a:avLst/>
          </a:prstGeom>
        </p:spPr>
      </p:pic>
      <p:pic>
        <p:nvPicPr>
          <p:cNvPr id="30" name="图片 29">
            <a:extLst>
              <a:ext uri="{FF2B5EF4-FFF2-40B4-BE49-F238E27FC236}">
                <a16:creationId xmlns:a16="http://schemas.microsoft.com/office/drawing/2014/main" id="{D4B1DD55-D865-4B53-B785-C4DBF8E59954}"/>
              </a:ext>
            </a:extLst>
          </p:cNvPr>
          <p:cNvPicPr>
            <a:picLocks noChangeAspect="1"/>
          </p:cNvPicPr>
          <p:nvPr/>
        </p:nvPicPr>
        <p:blipFill>
          <a:blip r:embed="rId5"/>
          <a:stretch>
            <a:fillRect/>
          </a:stretch>
        </p:blipFill>
        <p:spPr>
          <a:xfrm>
            <a:off x="602520" y="2916051"/>
            <a:ext cx="4613910" cy="1660525"/>
          </a:xfrm>
          <a:prstGeom prst="rect">
            <a:avLst/>
          </a:prstGeom>
        </p:spPr>
      </p:pic>
    </p:spTree>
    <p:extLst>
      <p:ext uri="{BB962C8B-B14F-4D97-AF65-F5344CB8AC3E}">
        <p14:creationId xmlns:p14="http://schemas.microsoft.com/office/powerpoint/2010/main" val="38320194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par>
                                <p:cTn id="26" presetID="3" presetClass="entr" presetSubtype="1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linds(horizontal)">
                                      <p:cBhvr>
                                        <p:cTn id="28" dur="500"/>
                                        <p:tgtEl>
                                          <p:spTgt spid="27"/>
                                        </p:tgtEl>
                                      </p:cBhvr>
                                    </p:animEffect>
                                  </p:childTnLst>
                                </p:cTn>
                              </p:par>
                              <p:par>
                                <p:cTn id="29" presetID="3" presetClass="entr" presetSubtype="10" fill="hold" nodeType="with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blinds(horizontal)">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blinds(horizontal)">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linds(horizontal)">
                                      <p:cBhvr>
                                        <p:cTn id="4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
            <a:extLst>
              <a:ext uri="{FF2B5EF4-FFF2-40B4-BE49-F238E27FC236}">
                <a16:creationId xmlns:a16="http://schemas.microsoft.com/office/drawing/2014/main" id="{4327353C-F83E-0894-EA63-ED987BD0CD33}"/>
              </a:ext>
            </a:extLst>
          </p:cNvPr>
          <p:cNvSpPr/>
          <p:nvPr/>
        </p:nvSpPr>
        <p:spPr>
          <a:xfrm>
            <a:off x="1758087" y="2539533"/>
            <a:ext cx="3693160" cy="769620"/>
          </a:xfrm>
          <a:prstGeom prst="roundRect">
            <a:avLst/>
          </a:prstGeom>
          <a:solidFill>
            <a:schemeClr val="accent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solidFill>
                  <a:schemeClr val="tx1"/>
                </a:solidFill>
                <a:latin typeface="微软雅黑" panose="020B0503020204020204" pitchFamily="34" charset="-122"/>
                <a:ea typeface="微软雅黑" panose="020B0503020204020204" pitchFamily="34" charset="-122"/>
                <a:sym typeface="+mn-ea"/>
              </a:rPr>
              <a:t>数据预处理</a:t>
            </a:r>
          </a:p>
        </p:txBody>
      </p:sp>
      <p:sp>
        <p:nvSpPr>
          <p:cNvPr id="5" name="圆角矩形 11">
            <a:extLst>
              <a:ext uri="{FF2B5EF4-FFF2-40B4-BE49-F238E27FC236}">
                <a16:creationId xmlns:a16="http://schemas.microsoft.com/office/drawing/2014/main" id="{271A6EC5-C869-03A8-BD76-A0310C81A26B}"/>
              </a:ext>
            </a:extLst>
          </p:cNvPr>
          <p:cNvSpPr/>
          <p:nvPr/>
        </p:nvSpPr>
        <p:spPr>
          <a:xfrm>
            <a:off x="1758087" y="3786038"/>
            <a:ext cx="3693160" cy="769620"/>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solidFill>
                  <a:schemeClr val="tx1"/>
                </a:solidFill>
                <a:latin typeface="微软雅黑" panose="020B0503020204020204" pitchFamily="34" charset="-122"/>
                <a:ea typeface="微软雅黑" panose="020B0503020204020204" pitchFamily="34" charset="-122"/>
                <a:sym typeface="+mn-ea"/>
              </a:rPr>
              <a:t>特征工程</a:t>
            </a:r>
          </a:p>
        </p:txBody>
      </p:sp>
      <p:sp>
        <p:nvSpPr>
          <p:cNvPr id="6" name="下箭头 2">
            <a:extLst>
              <a:ext uri="{FF2B5EF4-FFF2-40B4-BE49-F238E27FC236}">
                <a16:creationId xmlns:a16="http://schemas.microsoft.com/office/drawing/2014/main" id="{6F7E46BC-E580-F479-C933-27AD3374777D}"/>
              </a:ext>
            </a:extLst>
          </p:cNvPr>
          <p:cNvSpPr/>
          <p:nvPr/>
        </p:nvSpPr>
        <p:spPr>
          <a:xfrm>
            <a:off x="3405277" y="3378368"/>
            <a:ext cx="393700" cy="379095"/>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D5D871CB-C841-2BD5-1E91-0406272E0E4F}"/>
              </a:ext>
            </a:extLst>
          </p:cNvPr>
          <p:cNvSpPr txBox="1"/>
          <p:nvPr/>
        </p:nvSpPr>
        <p:spPr>
          <a:xfrm>
            <a:off x="5788432" y="2740193"/>
            <a:ext cx="3383280" cy="368300"/>
          </a:xfrm>
          <a:prstGeom prst="rect">
            <a:avLst/>
          </a:prstGeom>
          <a:noFill/>
        </p:spPr>
        <p:txBody>
          <a:bodyPr wrap="none" rtlCol="0" anchor="t">
            <a:spAutoFit/>
          </a:bodyPr>
          <a:lstStyle/>
          <a:p>
            <a:r>
              <a:rPr lang="zh-CN" altLang="en-US" dirty="0">
                <a:latin typeface="微软雅黑" panose="020B0503020204020204" pitchFamily="34" charset="-122"/>
                <a:ea typeface="微软雅黑" panose="020B0503020204020204" pitchFamily="34" charset="-122"/>
                <a:sym typeface="+mn-ea"/>
              </a:rPr>
              <a:t>数据清洗、数据集成、数据采样</a:t>
            </a:r>
          </a:p>
        </p:txBody>
      </p:sp>
      <p:sp>
        <p:nvSpPr>
          <p:cNvPr id="8" name="文本框 7">
            <a:extLst>
              <a:ext uri="{FF2B5EF4-FFF2-40B4-BE49-F238E27FC236}">
                <a16:creationId xmlns:a16="http://schemas.microsoft.com/office/drawing/2014/main" id="{312F62B0-AF34-5A19-310D-BDCAAC029AD8}"/>
              </a:ext>
            </a:extLst>
          </p:cNvPr>
          <p:cNvSpPr txBox="1"/>
          <p:nvPr/>
        </p:nvSpPr>
        <p:spPr>
          <a:xfrm>
            <a:off x="5790337" y="3986698"/>
            <a:ext cx="4297680" cy="368300"/>
          </a:xfrm>
          <a:prstGeom prst="rect">
            <a:avLst/>
          </a:prstGeom>
          <a:noFill/>
        </p:spPr>
        <p:txBody>
          <a:bodyPr wrap="none" rtlCol="0" anchor="t">
            <a:spAutoFit/>
          </a:bodyPr>
          <a:lstStyle/>
          <a:p>
            <a:pPr algn="l"/>
            <a:r>
              <a:rPr lang="zh-CN" altLang="en-US" dirty="0">
                <a:latin typeface="微软雅黑" panose="020B0503020204020204" pitchFamily="34" charset="-122"/>
                <a:ea typeface="微软雅黑" panose="020B0503020204020204" pitchFamily="34" charset="-122"/>
                <a:sym typeface="+mn-ea"/>
              </a:rPr>
              <a:t>特征编码、特征选择、特征降维、规范化</a:t>
            </a:r>
          </a:p>
        </p:txBody>
      </p:sp>
      <p:sp>
        <p:nvSpPr>
          <p:cNvPr id="10" name="文本框 9">
            <a:extLst>
              <a:ext uri="{FF2B5EF4-FFF2-40B4-BE49-F238E27FC236}">
                <a16:creationId xmlns:a16="http://schemas.microsoft.com/office/drawing/2014/main" id="{956FD777-7FD7-3D0A-70C8-3B3F7EB1FD06}"/>
              </a:ext>
            </a:extLst>
          </p:cNvPr>
          <p:cNvSpPr txBox="1"/>
          <p:nvPr/>
        </p:nvSpPr>
        <p:spPr>
          <a:xfrm>
            <a:off x="9764" y="250340"/>
            <a:ext cx="5743854" cy="646331"/>
          </a:xfrm>
          <a:prstGeom prst="rect">
            <a:avLst/>
          </a:prstGeom>
          <a:noFill/>
        </p:spPr>
        <p:txBody>
          <a:bodyPr wrap="square">
            <a:spAutoFit/>
          </a:bodyPr>
          <a:lstStyle/>
          <a:p>
            <a:pPr algn="ctr"/>
            <a:r>
              <a:rPr lang="zh-CN" altLang="zh-CN" sz="3600" dirty="0">
                <a:solidFill>
                  <a:schemeClr val="tx1"/>
                </a:solidFill>
                <a:latin typeface="微软雅黑" panose="020B0503020204020204" pitchFamily="34" charset="-122"/>
                <a:ea typeface="微软雅黑" panose="020B0503020204020204" pitchFamily="34" charset="-122"/>
              </a:rPr>
              <a:t>数据预处理与特征工程</a:t>
            </a:r>
            <a:endParaRPr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93546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E5E5C9-A0FE-0C49-2BAA-935273FE021E}"/>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CFC4EF27-5C39-4BC3-D78E-A862AA97A6C8}"/>
              </a:ext>
            </a:extLst>
          </p:cNvPr>
          <p:cNvSpPr/>
          <p:nvPr/>
        </p:nvSpPr>
        <p:spPr>
          <a:xfrm>
            <a:off x="1496945" y="400051"/>
            <a:ext cx="2253034" cy="645160"/>
          </a:xfrm>
          <a:prstGeom prst="rect">
            <a:avLst/>
          </a:prstGeom>
        </p:spPr>
        <p:txBody>
          <a:bodyPr wrap="square">
            <a:spAutoFit/>
          </a:bodyPr>
          <a:lstStyle/>
          <a:p>
            <a:endParaRPr kumimoji="1" lang="en-US" altLang="zh-CN" sz="3600" b="1"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CBC3EFAF-3F79-A919-1804-9754CFECD39F}"/>
              </a:ext>
            </a:extLst>
          </p:cNvPr>
          <p:cNvSpPr/>
          <p:nvPr/>
        </p:nvSpPr>
        <p:spPr>
          <a:xfrm>
            <a:off x="91439" y="1428750"/>
            <a:ext cx="11873033" cy="82994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latin typeface="微软雅黑" panose="020B0503020204020204" pitchFamily="34" charset="-122"/>
                <a:ea typeface="微软雅黑" panose="020B0503020204020204" pitchFamily="34" charset="-122"/>
              </a:rPr>
              <a:t>对各种脏数据进行对应方式的处理，得到标准、干净、连续的数据，提供给数据统计、数据挖掘等使用。</a:t>
            </a:r>
          </a:p>
        </p:txBody>
      </p:sp>
      <p:sp>
        <p:nvSpPr>
          <p:cNvPr id="5" name="矩形 4">
            <a:extLst>
              <a:ext uri="{FF2B5EF4-FFF2-40B4-BE49-F238E27FC236}">
                <a16:creationId xmlns:a16="http://schemas.microsoft.com/office/drawing/2014/main" id="{00332C46-64A3-CAE1-5EDE-FCD7F957FDE2}"/>
              </a:ext>
            </a:extLst>
          </p:cNvPr>
          <p:cNvSpPr/>
          <p:nvPr/>
        </p:nvSpPr>
        <p:spPr>
          <a:xfrm>
            <a:off x="1433151" y="400051"/>
            <a:ext cx="2253034"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数据清洗</a:t>
            </a:r>
          </a:p>
        </p:txBody>
      </p:sp>
      <p:sp>
        <p:nvSpPr>
          <p:cNvPr id="6" name="矩形 5">
            <a:extLst>
              <a:ext uri="{FF2B5EF4-FFF2-40B4-BE49-F238E27FC236}">
                <a16:creationId xmlns:a16="http://schemas.microsoft.com/office/drawing/2014/main" id="{ACE20DF6-EE67-2275-26E0-1586E96329E0}"/>
              </a:ext>
            </a:extLst>
          </p:cNvPr>
          <p:cNvSpPr/>
          <p:nvPr/>
        </p:nvSpPr>
        <p:spPr>
          <a:xfrm>
            <a:off x="445860" y="2258695"/>
            <a:ext cx="4891405" cy="46037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solidFill>
                  <a:srgbClr val="CC0099"/>
                </a:solidFill>
                <a:latin typeface="微软雅黑" panose="020B0503020204020204" pitchFamily="34" charset="-122"/>
                <a:ea typeface="微软雅黑" panose="020B0503020204020204" pitchFamily="34" charset="-122"/>
              </a:rPr>
              <a:t>数据的完整性</a:t>
            </a:r>
          </a:p>
        </p:txBody>
      </p:sp>
      <p:sp>
        <p:nvSpPr>
          <p:cNvPr id="7" name="矩形 6">
            <a:extLst>
              <a:ext uri="{FF2B5EF4-FFF2-40B4-BE49-F238E27FC236}">
                <a16:creationId xmlns:a16="http://schemas.microsoft.com/office/drawing/2014/main" id="{3DDAF0F6-F579-452A-48D7-354BEFBBCA66}"/>
              </a:ext>
            </a:extLst>
          </p:cNvPr>
          <p:cNvSpPr/>
          <p:nvPr/>
        </p:nvSpPr>
        <p:spPr>
          <a:xfrm>
            <a:off x="5963057" y="2258695"/>
            <a:ext cx="4891405" cy="46037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solidFill>
                  <a:srgbClr val="CC0099"/>
                </a:solidFill>
                <a:latin typeface="微软雅黑" panose="020B0503020204020204" pitchFamily="34" charset="-122"/>
                <a:ea typeface="微软雅黑" panose="020B0503020204020204" pitchFamily="34" charset="-122"/>
              </a:rPr>
              <a:t>数据的唯一性</a:t>
            </a:r>
            <a:endParaRPr lang="zh-CN" altLang="en-US" sz="2400" dirty="0">
              <a:solidFill>
                <a:srgbClr val="CC0099"/>
              </a:solidFill>
              <a:latin typeface="微软雅黑" panose="020B0503020204020204" pitchFamily="34" charset="-122"/>
              <a:ea typeface="微软雅黑" panose="020B0503020204020204" pitchFamily="34" charset="-122"/>
              <a:sym typeface="+mn-ea"/>
            </a:endParaRPr>
          </a:p>
        </p:txBody>
      </p:sp>
      <p:sp>
        <p:nvSpPr>
          <p:cNvPr id="8" name="矩形 7">
            <a:extLst>
              <a:ext uri="{FF2B5EF4-FFF2-40B4-BE49-F238E27FC236}">
                <a16:creationId xmlns:a16="http://schemas.microsoft.com/office/drawing/2014/main" id="{D426EBE0-E650-10DE-1EB4-9E9D5E7C3A85}"/>
              </a:ext>
            </a:extLst>
          </p:cNvPr>
          <p:cNvSpPr/>
          <p:nvPr/>
        </p:nvSpPr>
        <p:spPr>
          <a:xfrm>
            <a:off x="5963057" y="4196715"/>
            <a:ext cx="4891405" cy="46037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solidFill>
                  <a:srgbClr val="CC0099"/>
                </a:solidFill>
                <a:latin typeface="微软雅黑" panose="020B0503020204020204" pitchFamily="34" charset="-122"/>
                <a:ea typeface="微软雅黑" panose="020B0503020204020204" pitchFamily="34" charset="-122"/>
              </a:rPr>
              <a:t>数据的权威性</a:t>
            </a:r>
            <a:endParaRPr lang="zh-CN" altLang="en-US"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3A6B309F-00D0-527F-797B-446DAAD6B70C}"/>
              </a:ext>
            </a:extLst>
          </p:cNvPr>
          <p:cNvSpPr/>
          <p:nvPr/>
        </p:nvSpPr>
        <p:spPr>
          <a:xfrm>
            <a:off x="358865" y="3736340"/>
            <a:ext cx="5455285" cy="46037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solidFill>
                  <a:srgbClr val="CC0099"/>
                </a:solidFill>
                <a:latin typeface="微软雅黑" panose="020B0503020204020204" pitchFamily="34" charset="-122"/>
                <a:ea typeface="微软雅黑" panose="020B0503020204020204" pitchFamily="34" charset="-122"/>
              </a:rPr>
              <a:t>数据的合法性</a:t>
            </a:r>
          </a:p>
        </p:txBody>
      </p:sp>
      <p:sp>
        <p:nvSpPr>
          <p:cNvPr id="10" name="矩形 9">
            <a:extLst>
              <a:ext uri="{FF2B5EF4-FFF2-40B4-BE49-F238E27FC236}">
                <a16:creationId xmlns:a16="http://schemas.microsoft.com/office/drawing/2014/main" id="{D513D37E-9AF9-AFA6-F34F-4F0327CFFD16}"/>
              </a:ext>
            </a:extLst>
          </p:cNvPr>
          <p:cNvSpPr/>
          <p:nvPr/>
        </p:nvSpPr>
        <p:spPr>
          <a:xfrm>
            <a:off x="445860" y="5447665"/>
            <a:ext cx="10550525" cy="1106805"/>
          </a:xfrm>
          <a:prstGeom prst="rect">
            <a:avLst/>
          </a:prstGeom>
        </p:spPr>
        <p:txBody>
          <a:bodyPr wrap="square">
            <a:spAutoFit/>
          </a:bodyPr>
          <a:lstStyle/>
          <a:p>
            <a:pPr marL="342900" indent="-342900" fontAlgn="auto">
              <a:lnSpc>
                <a:spcPct val="100000"/>
              </a:lnSpc>
              <a:buFont typeface="Wingdings" panose="05000000000000000000" charset="0"/>
              <a:buChar char=""/>
            </a:pPr>
            <a:r>
              <a:rPr lang="zh-CN" altLang="en-US" sz="2400" dirty="0">
                <a:solidFill>
                  <a:srgbClr val="CC0099"/>
                </a:solidFill>
                <a:latin typeface="微软雅黑" panose="020B0503020204020204" pitchFamily="34" charset="-122"/>
                <a:ea typeface="微软雅黑" panose="020B0503020204020204" pitchFamily="34" charset="-122"/>
              </a:rPr>
              <a:t>数据的一致性</a:t>
            </a:r>
            <a:endParaRPr lang="zh-CN" altLang="en-US" sz="2400" dirty="0">
              <a:latin typeface="微软雅黑" panose="020B0503020204020204" pitchFamily="34" charset="-122"/>
              <a:ea typeface="微软雅黑" panose="020B0503020204020204" pitchFamily="34" charset="-122"/>
            </a:endParaRPr>
          </a:p>
          <a:p>
            <a:pPr indent="0" fontAlgn="auto">
              <a:lnSpc>
                <a:spcPct val="100000"/>
              </a:lnSpc>
              <a:buFont typeface="Wingdings" panose="05000000000000000000" charset="0"/>
              <a:buNone/>
            </a:pPr>
            <a:r>
              <a:rPr lang="zh-CN" altLang="en-US" sz="2400"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例如不同来源的不同指标，实际内涵是一样的，或是同一指标内涵不一致；</a:t>
            </a:r>
          </a:p>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rPr>
              <a:t>      解决方法：建立数据体系，包含但不限于指标体系、维度、单位、频度等</a:t>
            </a:r>
          </a:p>
        </p:txBody>
      </p:sp>
      <p:sp>
        <p:nvSpPr>
          <p:cNvPr id="11" name="文本框 10">
            <a:extLst>
              <a:ext uri="{FF2B5EF4-FFF2-40B4-BE49-F238E27FC236}">
                <a16:creationId xmlns:a16="http://schemas.microsoft.com/office/drawing/2014/main" id="{92351367-118C-521C-E998-36174D321C6F}"/>
              </a:ext>
            </a:extLst>
          </p:cNvPr>
          <p:cNvSpPr txBox="1"/>
          <p:nvPr/>
        </p:nvSpPr>
        <p:spPr>
          <a:xfrm>
            <a:off x="626834" y="4196715"/>
            <a:ext cx="5064851" cy="1198880"/>
          </a:xfrm>
          <a:prstGeom prst="rect">
            <a:avLst/>
          </a:prstGeom>
          <a:noFill/>
        </p:spPr>
        <p:txBody>
          <a:bodyPr wrap="square" rtlCol="0" anchor="t">
            <a:spAutoFit/>
          </a:bodyPr>
          <a:lstStyle/>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例如获取数据与常识不符，年龄大于</a:t>
            </a:r>
            <a:r>
              <a:rPr lang="en-US" altLang="zh-CN" dirty="0">
                <a:latin typeface="微软雅黑" panose="020B0503020204020204" pitchFamily="34" charset="-122"/>
                <a:ea typeface="微软雅黑" panose="020B0503020204020204" pitchFamily="34" charset="-122"/>
                <a:sym typeface="+mn-ea"/>
              </a:rPr>
              <a:t>150</a:t>
            </a:r>
            <a:r>
              <a:rPr lang="zh-CN" altLang="en-US" dirty="0">
                <a:latin typeface="微软雅黑" panose="020B0503020204020204" pitchFamily="34" charset="-122"/>
                <a:ea typeface="微软雅黑" panose="020B0503020204020204" pitchFamily="34" charset="-122"/>
                <a:sym typeface="+mn-ea"/>
              </a:rPr>
              <a:t>岁；解决方法：</a:t>
            </a:r>
            <a:r>
              <a:rPr lang="zh-CN" altLang="en-US" b="1" dirty="0">
                <a:latin typeface="微软雅黑" panose="020B0503020204020204" pitchFamily="34" charset="-122"/>
                <a:ea typeface="微软雅黑" panose="020B0503020204020204" pitchFamily="34" charset="-122"/>
                <a:sym typeface="+mn-ea"/>
              </a:rPr>
              <a:t>设置字段内容</a:t>
            </a:r>
            <a:r>
              <a:rPr lang="zh-CN" altLang="en-US" dirty="0">
                <a:latin typeface="微软雅黑" panose="020B0503020204020204" pitchFamily="34" charset="-122"/>
                <a:ea typeface="微软雅黑" panose="020B0503020204020204" pitchFamily="34" charset="-122"/>
                <a:sym typeface="+mn-ea"/>
              </a:rPr>
              <a:t>（日期字段格式为 “2010-10-10”）；</a:t>
            </a:r>
            <a:r>
              <a:rPr lang="zh-CN" altLang="en-US" b="1" dirty="0">
                <a:latin typeface="微软雅黑" panose="020B0503020204020204" pitchFamily="34" charset="-122"/>
                <a:ea typeface="微软雅黑" panose="020B0503020204020204" pitchFamily="34" charset="-122"/>
                <a:sym typeface="+mn-ea"/>
              </a:rPr>
              <a:t>类型的合法规则</a:t>
            </a:r>
            <a:r>
              <a:rPr lang="zh-CN" altLang="en-US" dirty="0">
                <a:latin typeface="微软雅黑" panose="020B0503020204020204" pitchFamily="34" charset="-122"/>
                <a:ea typeface="微软雅黑" panose="020B0503020204020204" pitchFamily="34" charset="-122"/>
                <a:sym typeface="+mn-ea"/>
              </a:rPr>
              <a:t>（性别 in </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男、 女、未知</a:t>
            </a:r>
            <a:r>
              <a:rPr lang="en-US" altLang="zh-CN" dirty="0">
                <a:latin typeface="微软雅黑" panose="020B0503020204020204" pitchFamily="34" charset="-122"/>
                <a:ea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sym typeface="+mn-ea"/>
              </a:rPr>
              <a:t>）</a:t>
            </a:r>
            <a:endParaRPr lang="zh-CN" altLang="en-US" dirty="0"/>
          </a:p>
        </p:txBody>
      </p:sp>
      <p:sp>
        <p:nvSpPr>
          <p:cNvPr id="12" name="文本框 11">
            <a:extLst>
              <a:ext uri="{FF2B5EF4-FFF2-40B4-BE49-F238E27FC236}">
                <a16:creationId xmlns:a16="http://schemas.microsoft.com/office/drawing/2014/main" id="{CB123BC1-7C2F-473A-B710-BED43956EA26}"/>
              </a:ext>
            </a:extLst>
          </p:cNvPr>
          <p:cNvSpPr txBox="1"/>
          <p:nvPr/>
        </p:nvSpPr>
        <p:spPr>
          <a:xfrm>
            <a:off x="6139587" y="4657090"/>
            <a:ext cx="5528672" cy="922020"/>
          </a:xfrm>
          <a:prstGeom prst="rect">
            <a:avLst/>
          </a:prstGeom>
          <a:noFill/>
        </p:spPr>
        <p:txBody>
          <a:bodyPr wrap="square" rtlCol="0" anchor="t">
            <a:spAutoFit/>
          </a:bodyPr>
          <a:lstStyle/>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例如出现多个来源的数据，且数值不一样；解决方法：为不同渠道设置权威级别，如：在家里，首先得相信媳妇说的。。。</a:t>
            </a:r>
          </a:p>
        </p:txBody>
      </p:sp>
      <p:sp>
        <p:nvSpPr>
          <p:cNvPr id="13" name="文本框 12">
            <a:extLst>
              <a:ext uri="{FF2B5EF4-FFF2-40B4-BE49-F238E27FC236}">
                <a16:creationId xmlns:a16="http://schemas.microsoft.com/office/drawing/2014/main" id="{924ECD27-F606-6072-1950-F87331563126}"/>
              </a:ext>
            </a:extLst>
          </p:cNvPr>
          <p:cNvSpPr txBox="1"/>
          <p:nvPr/>
        </p:nvSpPr>
        <p:spPr>
          <a:xfrm>
            <a:off x="685255" y="2719070"/>
            <a:ext cx="5006431" cy="922020"/>
          </a:xfrm>
          <a:prstGeom prst="rect">
            <a:avLst/>
          </a:prstGeom>
          <a:noFill/>
        </p:spPr>
        <p:txBody>
          <a:bodyPr wrap="square" rtlCol="0" anchor="t">
            <a:spAutoFit/>
          </a:bodyPr>
          <a:lstStyle/>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例如人的属性中缺少性别、籍贯、年龄等；</a:t>
            </a:r>
            <a:endParaRPr lang="zh-CN" altLang="en-US" dirty="0">
              <a:latin typeface="微软雅黑" panose="020B0503020204020204" pitchFamily="34" charset="-122"/>
              <a:ea typeface="微软雅黑" panose="020B0503020204020204" pitchFamily="34" charset="-122"/>
            </a:endParaRPr>
          </a:p>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解决方法：信息补全（使用身份证件号码推算性别、籍贯、出生日期、年龄等）；剔除；</a:t>
            </a:r>
          </a:p>
        </p:txBody>
      </p:sp>
      <p:sp>
        <p:nvSpPr>
          <p:cNvPr id="14" name="文本框 13">
            <a:extLst>
              <a:ext uri="{FF2B5EF4-FFF2-40B4-BE49-F238E27FC236}">
                <a16:creationId xmlns:a16="http://schemas.microsoft.com/office/drawing/2014/main" id="{A5517E08-D702-CB0C-24CB-FB7E52A4A279}"/>
              </a:ext>
            </a:extLst>
          </p:cNvPr>
          <p:cNvSpPr txBox="1"/>
          <p:nvPr/>
        </p:nvSpPr>
        <p:spPr>
          <a:xfrm>
            <a:off x="6139587" y="2719070"/>
            <a:ext cx="5528672" cy="1198880"/>
          </a:xfrm>
          <a:prstGeom prst="rect">
            <a:avLst/>
          </a:prstGeom>
          <a:noFill/>
        </p:spPr>
        <p:txBody>
          <a:bodyPr wrap="square" rtlCol="0" anchor="t">
            <a:spAutoFit/>
          </a:bodyPr>
          <a:lstStyle/>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例如不同来源的数据出现重复的情况等；</a:t>
            </a:r>
          </a:p>
          <a:p>
            <a:pPr indent="0" fontAlgn="auto">
              <a:lnSpc>
                <a:spcPct val="100000"/>
              </a:lnSpc>
              <a:buFont typeface="Wingdings" panose="05000000000000000000" charset="0"/>
              <a:buNone/>
            </a:pPr>
            <a:r>
              <a:rPr lang="zh-CN" altLang="en-US" dirty="0">
                <a:latin typeface="微软雅黑" panose="020B0503020204020204" pitchFamily="34" charset="-122"/>
                <a:ea typeface="微软雅黑" panose="020B0503020204020204" pitchFamily="34" charset="-122"/>
                <a:sym typeface="+mn-ea"/>
              </a:rPr>
              <a:t>解决方法：按主键去重（用sql或者excel“去除重复记录”） </a:t>
            </a:r>
            <a:r>
              <a:rPr lang="en-US" altLang="zh-CN" dirty="0">
                <a:latin typeface="微软雅黑" panose="020B0503020204020204" pitchFamily="34" charset="-122"/>
                <a:ea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sym typeface="+mn-ea"/>
              </a:rPr>
              <a:t>按规则去重（如不同渠道来的客户数据，可以通过相同的关键信息进行匹配，合并去重）</a:t>
            </a:r>
            <a:endParaRPr lang="zh-CN" altLang="en-US" dirty="0"/>
          </a:p>
        </p:txBody>
      </p:sp>
      <p:sp>
        <p:nvSpPr>
          <p:cNvPr id="15" name="矩形 14">
            <a:extLst>
              <a:ext uri="{FF2B5EF4-FFF2-40B4-BE49-F238E27FC236}">
                <a16:creationId xmlns:a16="http://schemas.microsoft.com/office/drawing/2014/main" id="{719D43AD-0B64-C3CD-F8BD-ABA795830D0A}"/>
              </a:ext>
            </a:extLst>
          </p:cNvPr>
          <p:cNvSpPr/>
          <p:nvPr/>
        </p:nvSpPr>
        <p:spPr>
          <a:xfrm>
            <a:off x="9756727" y="5718810"/>
            <a:ext cx="893583" cy="323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516462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P spid="11" grpId="0"/>
      <p:bldP spid="12" grpId="0"/>
      <p:bldP spid="13" grpId="0"/>
      <p:bldP spid="1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0F474-174B-E31E-1361-B39126CEA3F3}"/>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75C5CD7A-7BEE-AD8E-E39F-8ED0F7024582}"/>
              </a:ext>
            </a:extLst>
          </p:cNvPr>
          <p:cNvSpPr/>
          <p:nvPr/>
        </p:nvSpPr>
        <p:spPr>
          <a:xfrm>
            <a:off x="1433195" y="400050"/>
            <a:ext cx="4135755"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数据采样</a:t>
            </a:r>
          </a:p>
        </p:txBody>
      </p:sp>
      <p:sp>
        <p:nvSpPr>
          <p:cNvPr id="4" name="矩形 3">
            <a:extLst>
              <a:ext uri="{FF2B5EF4-FFF2-40B4-BE49-F238E27FC236}">
                <a16:creationId xmlns:a16="http://schemas.microsoft.com/office/drawing/2014/main" id="{C2857BFA-743F-3164-3F42-8BAECB89B4A5}"/>
              </a:ext>
            </a:extLst>
          </p:cNvPr>
          <p:cNvSpPr/>
          <p:nvPr/>
        </p:nvSpPr>
        <p:spPr>
          <a:xfrm>
            <a:off x="238498" y="1449070"/>
            <a:ext cx="5204974" cy="491490"/>
          </a:xfrm>
          <a:prstGeom prst="rect">
            <a:avLst/>
          </a:prstGeom>
        </p:spPr>
        <p:txBody>
          <a:bodyPr wrap="square">
            <a:spAutoFit/>
          </a:bodyPr>
          <a:lstStyle/>
          <a:p>
            <a:pPr marL="342900" indent="-342900" algn="l" fontAlgn="auto">
              <a:lnSpc>
                <a:spcPct val="100000"/>
              </a:lnSpc>
              <a:spcAft>
                <a:spcPts val="1000"/>
              </a:spcAft>
              <a:buFont typeface="Wingdings" panose="05000000000000000000" charset="0"/>
              <a:buChar char=""/>
            </a:pPr>
            <a:r>
              <a:rPr lang="zh-CN" altLang="en-US" sz="2600" b="1" dirty="0">
                <a:solidFill>
                  <a:srgbClr val="CC0099"/>
                </a:solidFill>
                <a:latin typeface="微软雅黑" panose="020B0503020204020204" pitchFamily="34" charset="-122"/>
                <a:ea typeface="微软雅黑" panose="020B0503020204020204" pitchFamily="34" charset="-122"/>
              </a:rPr>
              <a:t>数据不平衡（imbalance）</a:t>
            </a:r>
          </a:p>
        </p:txBody>
      </p:sp>
      <p:sp>
        <p:nvSpPr>
          <p:cNvPr id="5" name="云形标注 8">
            <a:extLst>
              <a:ext uri="{FF2B5EF4-FFF2-40B4-BE49-F238E27FC236}">
                <a16:creationId xmlns:a16="http://schemas.microsoft.com/office/drawing/2014/main" id="{88A81C95-7541-1593-12B4-125B8557CB2C}"/>
              </a:ext>
            </a:extLst>
          </p:cNvPr>
          <p:cNvSpPr/>
          <p:nvPr/>
        </p:nvSpPr>
        <p:spPr>
          <a:xfrm flipV="1">
            <a:off x="2017395" y="5098386"/>
            <a:ext cx="4748530" cy="1404620"/>
          </a:xfrm>
          <a:prstGeom prst="cloudCallout">
            <a:avLst>
              <a:gd name="adj1" fmla="val -24177"/>
              <a:gd name="adj2" fmla="val 78842"/>
            </a:avLst>
          </a:prstGeom>
          <a:solidFill>
            <a:schemeClr val="accent2">
              <a:lumMod val="20000"/>
              <a:lumOff val="8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2000" dirty="0">
              <a:solidFill>
                <a:schemeClr val="tx1"/>
              </a:solidFill>
            </a:endParaRPr>
          </a:p>
        </p:txBody>
      </p:sp>
      <p:sp>
        <p:nvSpPr>
          <p:cNvPr id="6" name="文本框 5">
            <a:extLst>
              <a:ext uri="{FF2B5EF4-FFF2-40B4-BE49-F238E27FC236}">
                <a16:creationId xmlns:a16="http://schemas.microsoft.com/office/drawing/2014/main" id="{D309249A-23C6-F811-A611-0CA872695FFD}"/>
              </a:ext>
            </a:extLst>
          </p:cNvPr>
          <p:cNvSpPr txBox="1"/>
          <p:nvPr/>
        </p:nvSpPr>
        <p:spPr>
          <a:xfrm>
            <a:off x="2472690" y="5327621"/>
            <a:ext cx="3693160" cy="1014730"/>
          </a:xfrm>
          <a:prstGeom prst="rect">
            <a:avLst/>
          </a:prstGeom>
          <a:noFill/>
        </p:spPr>
        <p:txBody>
          <a:bodyPr wrap="square" rtlCol="0" anchor="t">
            <a:spAutoFit/>
          </a:bodyPr>
          <a:lstStyle/>
          <a:p>
            <a:pPr algn="ctr"/>
            <a:r>
              <a:rPr kumimoji="1" lang="zh-CN" altLang="en-US" sz="2000" dirty="0">
                <a:latin typeface="微软雅黑" panose="020B0503020204020204" pitchFamily="34" charset="-122"/>
                <a:ea typeface="微软雅黑" panose="020B0503020204020204" pitchFamily="34" charset="-122"/>
                <a:sym typeface="+mn-ea"/>
              </a:rPr>
              <a:t>面临</a:t>
            </a:r>
            <a:r>
              <a:rPr kumimoji="1" lang="zh-CN" altLang="en-US" sz="2000" b="1" dirty="0">
                <a:latin typeface="微软雅黑" panose="020B0503020204020204" pitchFamily="34" charset="-122"/>
                <a:ea typeface="微软雅黑" panose="020B0503020204020204" pitchFamily="34" charset="-122"/>
                <a:sym typeface="+mn-ea"/>
              </a:rPr>
              <a:t>不平衡数据集</a:t>
            </a:r>
            <a:r>
              <a:rPr kumimoji="1" lang="zh-CN" altLang="en-US" sz="2000" dirty="0">
                <a:latin typeface="微软雅黑" panose="020B0503020204020204" pitchFamily="34" charset="-122"/>
                <a:ea typeface="微软雅黑" panose="020B0503020204020204" pitchFamily="34" charset="-122"/>
                <a:sym typeface="+mn-ea"/>
              </a:rPr>
              <a:t>的时候，传统的机器学习模型的评价方法不能精确地衡量模型的性能</a:t>
            </a:r>
          </a:p>
        </p:txBody>
      </p:sp>
      <p:sp>
        <p:nvSpPr>
          <p:cNvPr id="7" name="文本框 6">
            <a:extLst>
              <a:ext uri="{FF2B5EF4-FFF2-40B4-BE49-F238E27FC236}">
                <a16:creationId xmlns:a16="http://schemas.microsoft.com/office/drawing/2014/main" id="{BF28353F-3183-57DE-0F21-46AD42C67AF1}"/>
              </a:ext>
            </a:extLst>
          </p:cNvPr>
          <p:cNvSpPr txBox="1"/>
          <p:nvPr/>
        </p:nvSpPr>
        <p:spPr>
          <a:xfrm>
            <a:off x="6421187" y="1449070"/>
            <a:ext cx="5102860" cy="3506088"/>
          </a:xfrm>
          <a:prstGeom prst="rect">
            <a:avLst/>
          </a:prstGeom>
          <a:noFill/>
        </p:spPr>
        <p:txBody>
          <a:bodyPr wrap="square" rtlCol="0" anchor="t">
            <a:spAutoFit/>
          </a:bodyPr>
          <a:lstStyle/>
          <a:p>
            <a:pPr marL="342900" indent="-342900" fontAlgn="auto">
              <a:lnSpc>
                <a:spcPct val="100000"/>
              </a:lnSpc>
              <a:spcAft>
                <a:spcPts val="1000"/>
              </a:spcAft>
              <a:buFont typeface="Wingdings" panose="05000000000000000000" charset="0"/>
              <a:buChar char=""/>
            </a:pPr>
            <a:r>
              <a:rPr lang="zh-CN" altLang="en-US" sz="2600" b="1" dirty="0">
                <a:solidFill>
                  <a:srgbClr val="CC0099"/>
                </a:solidFill>
                <a:latin typeface="微软雅黑" panose="020B0503020204020204" pitchFamily="34" charset="-122"/>
                <a:ea typeface="微软雅黑" panose="020B0503020204020204" pitchFamily="34" charset="-122"/>
                <a:sym typeface="+mn-ea"/>
              </a:rPr>
              <a:t>解决方法</a:t>
            </a:r>
            <a:endParaRPr lang="zh-CN" altLang="en-US" dirty="0">
              <a:latin typeface="微软雅黑" panose="020B0503020204020204" pitchFamily="34" charset="-122"/>
              <a:ea typeface="微软雅黑" panose="020B0503020204020204" pitchFamily="34" charset="-122"/>
              <a:sym typeface="+mn-ea"/>
            </a:endParaRPr>
          </a:p>
          <a:p>
            <a:pPr marL="342900" indent="-342900" fontAlgn="auto">
              <a:lnSpc>
                <a:spcPct val="125000"/>
              </a:lnSpc>
              <a:buFont typeface="Wingdings" panose="05000000000000000000" charset="0"/>
              <a:buChar char=""/>
            </a:pPr>
            <a:r>
              <a:rPr lang="zh-CN" altLang="en-US" sz="2000" b="1" dirty="0">
                <a:solidFill>
                  <a:srgbClr val="00B0F0"/>
                </a:solidFill>
                <a:latin typeface="微软雅黑" panose="020B0503020204020204" pitchFamily="34" charset="-122"/>
                <a:ea typeface="微软雅黑" panose="020B0503020204020204" pitchFamily="34" charset="-122"/>
                <a:sym typeface="+mn-ea"/>
              </a:rPr>
              <a:t>过采样</a:t>
            </a:r>
            <a:r>
              <a:rPr lang="zh-CN" altLang="en-US" sz="2000" dirty="0">
                <a:latin typeface="微软雅黑" panose="020B0503020204020204" pitchFamily="34" charset="-122"/>
                <a:ea typeface="微软雅黑" panose="020B0503020204020204" pitchFamily="34" charset="-122"/>
                <a:sym typeface="+mn-ea"/>
              </a:rPr>
              <a:t>（Over-Sampling）</a:t>
            </a:r>
          </a:p>
          <a:p>
            <a:pPr indent="0" fontAlgn="auto">
              <a:lnSpc>
                <a:spcPct val="125000"/>
              </a:lnSpc>
              <a:buFont typeface="Wingdings" panose="05000000000000000000" charset="0"/>
              <a:buNone/>
            </a:pPr>
            <a:r>
              <a:rPr lang="zh-CN" altLang="en-US" sz="2000" dirty="0">
                <a:latin typeface="微软雅黑" panose="020B0503020204020204" pitchFamily="34" charset="-122"/>
                <a:ea typeface="微软雅黑" panose="020B0503020204020204" pitchFamily="34" charset="-122"/>
                <a:sym typeface="+mn-ea"/>
              </a:rPr>
              <a:t>     通过随机复制少数类来增加其中的实例数量，从而可增加样本中少数类的代表性。</a:t>
            </a:r>
          </a:p>
          <a:p>
            <a:pPr marL="342900" indent="-342900" fontAlgn="auto">
              <a:lnSpc>
                <a:spcPct val="125000"/>
              </a:lnSpc>
              <a:spcBef>
                <a:spcPts val="1000"/>
              </a:spcBef>
              <a:buFont typeface="Wingdings" panose="05000000000000000000" charset="0"/>
              <a:buChar char=""/>
            </a:pPr>
            <a:r>
              <a:rPr lang="zh-CN" altLang="en-US" sz="2000" b="1" dirty="0">
                <a:solidFill>
                  <a:srgbClr val="00B0F0"/>
                </a:solidFill>
                <a:latin typeface="微软雅黑" panose="020B0503020204020204" pitchFamily="34" charset="-122"/>
                <a:ea typeface="微软雅黑" panose="020B0503020204020204" pitchFamily="34" charset="-122"/>
                <a:sym typeface="+mn-ea"/>
              </a:rPr>
              <a:t>欠采样</a:t>
            </a:r>
            <a:r>
              <a:rPr lang="zh-CN" altLang="en-US" sz="2000" dirty="0">
                <a:latin typeface="微软雅黑" panose="020B0503020204020204" pitchFamily="34" charset="-122"/>
                <a:ea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sym typeface="+mn-ea"/>
              </a:rPr>
              <a:t>Under</a:t>
            </a:r>
            <a:r>
              <a:rPr lang="zh-CN" altLang="en-US" sz="2000" dirty="0">
                <a:latin typeface="微软雅黑" panose="020B0503020204020204" pitchFamily="34" charset="-122"/>
                <a:ea typeface="微软雅黑" panose="020B0503020204020204" pitchFamily="34" charset="-122"/>
                <a:sym typeface="+mn-ea"/>
              </a:rPr>
              <a:t>-Sampling）</a:t>
            </a:r>
          </a:p>
          <a:p>
            <a:pPr indent="0" fontAlgn="auto">
              <a:lnSpc>
                <a:spcPct val="125000"/>
              </a:lnSpc>
              <a:spcBef>
                <a:spcPts val="500"/>
              </a:spcBef>
              <a:buFont typeface="Wingdings" panose="05000000000000000000" charset="0"/>
              <a:buNone/>
            </a:pPr>
            <a:r>
              <a:rPr lang="zh-CN" altLang="en-US" sz="2000" dirty="0">
                <a:latin typeface="微软雅黑" panose="020B0503020204020204" pitchFamily="34" charset="-122"/>
                <a:ea typeface="微软雅黑" panose="020B0503020204020204" pitchFamily="34" charset="-122"/>
                <a:sym typeface="+mn-ea"/>
              </a:rPr>
              <a:t>    通过随机地消除占多数的类的样本来平衡类分布；直到多数类和少数类的实例实现平衡。</a:t>
            </a:r>
          </a:p>
        </p:txBody>
      </p:sp>
      <p:sp>
        <p:nvSpPr>
          <p:cNvPr id="8" name="文本框 7">
            <a:extLst>
              <a:ext uri="{FF2B5EF4-FFF2-40B4-BE49-F238E27FC236}">
                <a16:creationId xmlns:a16="http://schemas.microsoft.com/office/drawing/2014/main" id="{BAE1AA12-30F2-2D1C-8F3C-1BB4B0964A8C}"/>
              </a:ext>
            </a:extLst>
          </p:cNvPr>
          <p:cNvSpPr txBox="1"/>
          <p:nvPr/>
        </p:nvSpPr>
        <p:spPr>
          <a:xfrm>
            <a:off x="493835" y="1940560"/>
            <a:ext cx="5672015" cy="2785378"/>
          </a:xfrm>
          <a:prstGeom prst="rect">
            <a:avLst/>
          </a:prstGeom>
          <a:noFill/>
        </p:spPr>
        <p:txBody>
          <a:bodyPr wrap="square" rtlCol="0" anchor="t">
            <a:spAutoFit/>
          </a:bodyPr>
          <a:lstStyle/>
          <a:p>
            <a:pPr marL="342900" indent="-342900">
              <a:lnSpc>
                <a:spcPct val="125000"/>
              </a:lnSpc>
              <a:buFont typeface="Wingdings" panose="05000000000000000000" charset="0"/>
              <a:buChar char=""/>
            </a:pPr>
            <a:r>
              <a:rPr lang="zh-CN" altLang="en-US" sz="2000" b="1" dirty="0">
                <a:solidFill>
                  <a:srgbClr val="00B0F0"/>
                </a:solidFill>
                <a:latin typeface="微软雅黑" panose="020B0503020204020204" pitchFamily="34" charset="-122"/>
                <a:ea typeface="微软雅黑" panose="020B0503020204020204" pitchFamily="34" charset="-122"/>
                <a:sym typeface="+mn-ea"/>
              </a:rPr>
              <a:t>指数据集的类别分布不均。</a:t>
            </a:r>
            <a:r>
              <a:rPr lang="zh-CN" altLang="en-US" sz="2000" dirty="0">
                <a:latin typeface="微软雅黑" panose="020B0503020204020204" pitchFamily="34" charset="-122"/>
                <a:ea typeface="微软雅黑" panose="020B0503020204020204" pitchFamily="34" charset="-122"/>
                <a:sym typeface="+mn-ea"/>
              </a:rPr>
              <a:t>比如说一个二分类问题，100个训练样本，比较理想的情况是正类、负类样本的数量相差不多；而如果正类样本有99个、负类样本仅</a:t>
            </a:r>
            <a:r>
              <a:rPr lang="en-US" altLang="zh-CN" sz="2000" dirty="0">
                <a:latin typeface="微软雅黑" panose="020B0503020204020204" pitchFamily="34" charset="-122"/>
                <a:ea typeface="微软雅黑" panose="020B0503020204020204" pitchFamily="34" charset="-122"/>
                <a:sym typeface="+mn-ea"/>
              </a:rPr>
              <a:t>1</a:t>
            </a:r>
            <a:r>
              <a:rPr lang="zh-CN" altLang="en-US" sz="2000" dirty="0">
                <a:latin typeface="微软雅黑" panose="020B0503020204020204" pitchFamily="34" charset="-122"/>
                <a:ea typeface="微软雅黑" panose="020B0503020204020204" pitchFamily="34" charset="-122"/>
                <a:sym typeface="+mn-ea"/>
              </a:rPr>
              <a:t>个，就意味着存在类不平衡。</a:t>
            </a:r>
          </a:p>
          <a:p>
            <a:pPr marL="342900" indent="-342900">
              <a:lnSpc>
                <a:spcPct val="125000"/>
              </a:lnSpc>
              <a:buFont typeface="Wingdings" panose="05000000000000000000" charset="0"/>
              <a:buChar char=""/>
            </a:pPr>
            <a:r>
              <a:rPr lang="zh-CN" altLang="en-US" sz="2000" dirty="0">
                <a:latin typeface="微软雅黑" panose="020B0503020204020204" pitchFamily="34" charset="-122"/>
                <a:ea typeface="微软雅黑" panose="020B0503020204020204" pitchFamily="34" charset="-122"/>
                <a:sym typeface="+mn-ea"/>
              </a:rPr>
              <a:t>此时预测时就算全部为正，准确率也可以达到99%，这并</a:t>
            </a:r>
            <a:r>
              <a:rPr lang="zh-CN" altLang="en-US" sz="2000" b="1" dirty="0">
                <a:solidFill>
                  <a:srgbClr val="00B0F0"/>
                </a:solidFill>
                <a:latin typeface="微软雅黑" panose="020B0503020204020204" pitchFamily="34" charset="-122"/>
                <a:ea typeface="微软雅黑" panose="020B0503020204020204" pitchFamily="34" charset="-122"/>
                <a:sym typeface="+mn-ea"/>
              </a:rPr>
              <a:t>不能反映模型的好坏。</a:t>
            </a:r>
          </a:p>
        </p:txBody>
      </p:sp>
      <p:sp>
        <p:nvSpPr>
          <p:cNvPr id="9" name="矩形 8">
            <a:extLst>
              <a:ext uri="{FF2B5EF4-FFF2-40B4-BE49-F238E27FC236}">
                <a16:creationId xmlns:a16="http://schemas.microsoft.com/office/drawing/2014/main" id="{40CF1635-FD7D-AF2F-3AAB-E8673626460F}"/>
              </a:ext>
            </a:extLst>
          </p:cNvPr>
          <p:cNvSpPr/>
          <p:nvPr/>
        </p:nvSpPr>
        <p:spPr>
          <a:xfrm>
            <a:off x="8440831" y="6039834"/>
            <a:ext cx="893583" cy="323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112660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P spid="7" grpId="0"/>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1">
            <a:extLst>
              <a:ext uri="{FF2B5EF4-FFF2-40B4-BE49-F238E27FC236}">
                <a16:creationId xmlns:a16="http://schemas.microsoft.com/office/drawing/2014/main" id="{6B655C20-0D6D-1C9D-58B9-B0AC5BC75DF9}"/>
              </a:ext>
            </a:extLst>
          </p:cNvPr>
          <p:cNvSpPr/>
          <p:nvPr/>
        </p:nvSpPr>
        <p:spPr>
          <a:xfrm>
            <a:off x="1896110" y="2643054"/>
            <a:ext cx="3693160" cy="769620"/>
          </a:xfrm>
          <a:prstGeom prst="roundRect">
            <a:avLst/>
          </a:prstGeom>
          <a:no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solidFill>
                  <a:schemeClr val="tx1"/>
                </a:solidFill>
                <a:latin typeface="微软雅黑" panose="020B0503020204020204" pitchFamily="34" charset="-122"/>
                <a:ea typeface="微软雅黑" panose="020B0503020204020204" pitchFamily="34" charset="-122"/>
                <a:sym typeface="+mn-ea"/>
              </a:rPr>
              <a:t>数据预处理</a:t>
            </a:r>
          </a:p>
        </p:txBody>
      </p:sp>
      <p:sp>
        <p:nvSpPr>
          <p:cNvPr id="5" name="圆角矩形 11">
            <a:extLst>
              <a:ext uri="{FF2B5EF4-FFF2-40B4-BE49-F238E27FC236}">
                <a16:creationId xmlns:a16="http://schemas.microsoft.com/office/drawing/2014/main" id="{685443CE-E190-0699-0185-B048D5A92D92}"/>
              </a:ext>
            </a:extLst>
          </p:cNvPr>
          <p:cNvSpPr/>
          <p:nvPr/>
        </p:nvSpPr>
        <p:spPr>
          <a:xfrm>
            <a:off x="1896110" y="3889559"/>
            <a:ext cx="3693160" cy="769620"/>
          </a:xfrm>
          <a:prstGeom prst="roundRect">
            <a:avLst/>
          </a:prstGeom>
          <a:solidFill>
            <a:schemeClr val="accent2">
              <a:lumMod val="60000"/>
              <a:lumOff val="40000"/>
            </a:schemeClr>
          </a:solidFill>
          <a:ln w="28575">
            <a:solidFill>
              <a:schemeClr val="tx1">
                <a:lumMod val="95000"/>
                <a:lumOff val="5000"/>
              </a:schemeClr>
            </a:solidFill>
          </a:ln>
        </p:spPr>
        <p:style>
          <a:lnRef idx="0">
            <a:schemeClr val="accent2"/>
          </a:lnRef>
          <a:fillRef idx="3">
            <a:schemeClr val="accent2"/>
          </a:fillRef>
          <a:effectRef idx="3">
            <a:schemeClr val="accent2"/>
          </a:effectRef>
          <a:fontRef idx="minor">
            <a:schemeClr val="lt1"/>
          </a:fontRef>
        </p:style>
        <p:txBody>
          <a:bodyPr vertOverflow="overflow" horzOverflow="overflow" vert="horz" wrap="square" numCol="1" spcCol="0" rtlCol="0" fromWordArt="0" anchor="ctr" anchorCtr="0" forceAA="0" compatLnSpc="1">
            <a:noAutofit/>
          </a:bodyPr>
          <a:lstStyle/>
          <a:p>
            <a:pPr lvl="0" algn="ctr"/>
            <a:r>
              <a:rPr lang="zh-CN" altLang="en-US" sz="2800" dirty="0">
                <a:solidFill>
                  <a:schemeClr val="tx1"/>
                </a:solidFill>
                <a:latin typeface="微软雅黑" panose="020B0503020204020204" pitchFamily="34" charset="-122"/>
                <a:ea typeface="微软雅黑" panose="020B0503020204020204" pitchFamily="34" charset="-122"/>
                <a:sym typeface="+mn-ea"/>
              </a:rPr>
              <a:t>特征工程</a:t>
            </a:r>
          </a:p>
        </p:txBody>
      </p:sp>
      <p:sp>
        <p:nvSpPr>
          <p:cNvPr id="6" name="下箭头 2">
            <a:extLst>
              <a:ext uri="{FF2B5EF4-FFF2-40B4-BE49-F238E27FC236}">
                <a16:creationId xmlns:a16="http://schemas.microsoft.com/office/drawing/2014/main" id="{3F862139-3D75-C330-A86D-3F4E6C2CD5B4}"/>
              </a:ext>
            </a:extLst>
          </p:cNvPr>
          <p:cNvSpPr/>
          <p:nvPr/>
        </p:nvSpPr>
        <p:spPr>
          <a:xfrm>
            <a:off x="3543300" y="3481889"/>
            <a:ext cx="393700" cy="379095"/>
          </a:xfrm>
          <a:prstGeom prst="down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13274203-B541-A7FD-36B1-7193FA876534}"/>
              </a:ext>
            </a:extLst>
          </p:cNvPr>
          <p:cNvSpPr txBox="1"/>
          <p:nvPr/>
        </p:nvSpPr>
        <p:spPr>
          <a:xfrm>
            <a:off x="5926455" y="2843714"/>
            <a:ext cx="3611880" cy="368300"/>
          </a:xfrm>
          <a:prstGeom prst="rect">
            <a:avLst/>
          </a:prstGeom>
          <a:noFill/>
        </p:spPr>
        <p:txBody>
          <a:bodyPr wrap="none" rtlCol="0" anchor="t">
            <a:spAutoFit/>
          </a:bodyPr>
          <a:lstStyle/>
          <a:p>
            <a:r>
              <a:rPr lang="zh-CN" altLang="en-US" dirty="0">
                <a:latin typeface="微软雅黑" panose="020B0503020204020204" pitchFamily="34" charset="-122"/>
                <a:ea typeface="微软雅黑" panose="020B0503020204020204" pitchFamily="34" charset="-122"/>
                <a:sym typeface="+mn-ea"/>
              </a:rPr>
              <a:t>数据清洗、数据采样、数据集拆分</a:t>
            </a:r>
          </a:p>
        </p:txBody>
      </p:sp>
      <p:sp>
        <p:nvSpPr>
          <p:cNvPr id="8" name="文本框 7">
            <a:extLst>
              <a:ext uri="{FF2B5EF4-FFF2-40B4-BE49-F238E27FC236}">
                <a16:creationId xmlns:a16="http://schemas.microsoft.com/office/drawing/2014/main" id="{A1C7D6DE-185D-27C3-6D2B-15E66A019CCE}"/>
              </a:ext>
            </a:extLst>
          </p:cNvPr>
          <p:cNvSpPr txBox="1"/>
          <p:nvPr/>
        </p:nvSpPr>
        <p:spPr>
          <a:xfrm>
            <a:off x="5928360" y="4090219"/>
            <a:ext cx="4339650" cy="369332"/>
          </a:xfrm>
          <a:prstGeom prst="rect">
            <a:avLst/>
          </a:prstGeom>
          <a:noFill/>
        </p:spPr>
        <p:txBody>
          <a:bodyPr wrap="none" rtlCol="0" anchor="t">
            <a:spAutoFit/>
          </a:bodyPr>
          <a:lstStyle/>
          <a:p>
            <a:r>
              <a:rPr lang="zh-CN" altLang="en-US" dirty="0">
                <a:latin typeface="微软雅黑" panose="020B0503020204020204" pitchFamily="34" charset="-122"/>
                <a:ea typeface="微软雅黑" panose="020B0503020204020204" pitchFamily="34" charset="-122"/>
                <a:sym typeface="+mn-ea"/>
              </a:rPr>
              <a:t>特征选择、特征降维、特征编码、规范化</a:t>
            </a:r>
          </a:p>
        </p:txBody>
      </p:sp>
      <p:sp>
        <p:nvSpPr>
          <p:cNvPr id="9" name="文本框 8">
            <a:extLst>
              <a:ext uri="{FF2B5EF4-FFF2-40B4-BE49-F238E27FC236}">
                <a16:creationId xmlns:a16="http://schemas.microsoft.com/office/drawing/2014/main" id="{1A02F281-5880-F264-B6A1-EB022CDAE693}"/>
              </a:ext>
            </a:extLst>
          </p:cNvPr>
          <p:cNvSpPr txBox="1"/>
          <p:nvPr/>
        </p:nvSpPr>
        <p:spPr>
          <a:xfrm>
            <a:off x="-154584" y="241462"/>
            <a:ext cx="5743854" cy="646331"/>
          </a:xfrm>
          <a:prstGeom prst="rect">
            <a:avLst/>
          </a:prstGeom>
          <a:noFill/>
        </p:spPr>
        <p:txBody>
          <a:bodyPr wrap="square">
            <a:spAutoFit/>
          </a:bodyPr>
          <a:lstStyle/>
          <a:p>
            <a:pPr algn="ctr"/>
            <a:r>
              <a:rPr lang="zh-CN" altLang="zh-CN" sz="3600" dirty="0">
                <a:solidFill>
                  <a:schemeClr val="tx1"/>
                </a:solidFill>
                <a:latin typeface="微软雅黑" panose="020B0503020204020204" pitchFamily="34" charset="-122"/>
                <a:ea typeface="微软雅黑" panose="020B0503020204020204" pitchFamily="34" charset="-122"/>
              </a:rPr>
              <a:t>数据预处理与特征工程</a:t>
            </a:r>
            <a:endParaRPr lang="zh-CN" altLang="en-US" sz="3600"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871797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3597F453-1C61-258A-9589-B351278CA170}"/>
              </a:ext>
            </a:extLst>
          </p:cNvPr>
          <p:cNvSpPr/>
          <p:nvPr/>
        </p:nvSpPr>
        <p:spPr>
          <a:xfrm>
            <a:off x="603732" y="352801"/>
            <a:ext cx="3003220"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特征选择</a:t>
            </a:r>
          </a:p>
        </p:txBody>
      </p:sp>
      <p:grpSp>
        <p:nvGrpSpPr>
          <p:cNvPr id="4" name="组合 3">
            <a:extLst>
              <a:ext uri="{FF2B5EF4-FFF2-40B4-BE49-F238E27FC236}">
                <a16:creationId xmlns:a16="http://schemas.microsoft.com/office/drawing/2014/main" id="{24BB3DF5-8EE3-0476-F4D3-7F6A6950171F}"/>
              </a:ext>
            </a:extLst>
          </p:cNvPr>
          <p:cNvGrpSpPr/>
          <p:nvPr/>
        </p:nvGrpSpPr>
        <p:grpSpPr>
          <a:xfrm>
            <a:off x="1970557" y="1382019"/>
            <a:ext cx="4548530" cy="1059099"/>
            <a:chOff x="440" y="2920"/>
            <a:chExt cx="7026" cy="1558"/>
          </a:xfrm>
        </p:grpSpPr>
        <p:grpSp>
          <p:nvGrpSpPr>
            <p:cNvPr id="5" name="组合 4">
              <a:extLst>
                <a:ext uri="{FF2B5EF4-FFF2-40B4-BE49-F238E27FC236}">
                  <a16:creationId xmlns:a16="http://schemas.microsoft.com/office/drawing/2014/main" id="{DD8F8D32-FECB-818A-C1D4-F537F43B63F8}"/>
                </a:ext>
              </a:extLst>
            </p:cNvPr>
            <p:cNvGrpSpPr/>
            <p:nvPr/>
          </p:nvGrpSpPr>
          <p:grpSpPr>
            <a:xfrm>
              <a:off x="816" y="3487"/>
              <a:ext cx="6650" cy="991"/>
              <a:chOff x="816" y="3487"/>
              <a:chExt cx="6650" cy="991"/>
            </a:xfrm>
          </p:grpSpPr>
          <p:pic>
            <p:nvPicPr>
              <p:cNvPr id="7" name="图片 6">
                <a:extLst>
                  <a:ext uri="{FF2B5EF4-FFF2-40B4-BE49-F238E27FC236}">
                    <a16:creationId xmlns:a16="http://schemas.microsoft.com/office/drawing/2014/main" id="{6E6B1ABC-0C15-F221-21F6-45BF36E68BC3}"/>
                  </a:ext>
                </a:extLst>
              </p:cNvPr>
              <p:cNvPicPr>
                <a:picLocks noChangeAspect="1"/>
              </p:cNvPicPr>
              <p:nvPr/>
            </p:nvPicPr>
            <p:blipFill>
              <a:blip r:embed="rId2"/>
              <a:stretch>
                <a:fillRect/>
              </a:stretch>
            </p:blipFill>
            <p:spPr>
              <a:xfrm>
                <a:off x="816" y="3487"/>
                <a:ext cx="6449" cy="517"/>
              </a:xfrm>
              <a:prstGeom prst="rect">
                <a:avLst/>
              </a:prstGeom>
            </p:spPr>
          </p:pic>
          <p:pic>
            <p:nvPicPr>
              <p:cNvPr id="8" name="图片 7">
                <a:extLst>
                  <a:ext uri="{FF2B5EF4-FFF2-40B4-BE49-F238E27FC236}">
                    <a16:creationId xmlns:a16="http://schemas.microsoft.com/office/drawing/2014/main" id="{771C3935-22B9-09EE-E9FE-6AEC85A5C403}"/>
                  </a:ext>
                </a:extLst>
              </p:cNvPr>
              <p:cNvPicPr>
                <a:picLocks noChangeAspect="1"/>
              </p:cNvPicPr>
              <p:nvPr/>
            </p:nvPicPr>
            <p:blipFill>
              <a:blip r:embed="rId3" cstate="print"/>
              <a:stretch>
                <a:fillRect/>
              </a:stretch>
            </p:blipFill>
            <p:spPr>
              <a:xfrm>
                <a:off x="2505" y="4037"/>
                <a:ext cx="4961" cy="441"/>
              </a:xfrm>
              <a:prstGeom prst="rect">
                <a:avLst/>
              </a:prstGeom>
            </p:spPr>
          </p:pic>
        </p:grpSp>
        <p:pic>
          <p:nvPicPr>
            <p:cNvPr id="6" name="图片 5">
              <a:extLst>
                <a:ext uri="{FF2B5EF4-FFF2-40B4-BE49-F238E27FC236}">
                  <a16:creationId xmlns:a16="http://schemas.microsoft.com/office/drawing/2014/main" id="{B161361C-AEBB-CCE8-BACA-AF2D679800CB}"/>
                </a:ext>
              </a:extLst>
            </p:cNvPr>
            <p:cNvPicPr>
              <a:picLocks noChangeAspect="1"/>
            </p:cNvPicPr>
            <p:nvPr/>
          </p:nvPicPr>
          <p:blipFill>
            <a:blip r:embed="rId4"/>
            <a:stretch>
              <a:fillRect/>
            </a:stretch>
          </p:blipFill>
          <p:spPr>
            <a:xfrm>
              <a:off x="440" y="2920"/>
              <a:ext cx="5501" cy="492"/>
            </a:xfrm>
            <a:prstGeom prst="rect">
              <a:avLst/>
            </a:prstGeom>
          </p:spPr>
        </p:pic>
      </p:grpSp>
      <p:grpSp>
        <p:nvGrpSpPr>
          <p:cNvPr id="9" name="组合 8">
            <a:extLst>
              <a:ext uri="{FF2B5EF4-FFF2-40B4-BE49-F238E27FC236}">
                <a16:creationId xmlns:a16="http://schemas.microsoft.com/office/drawing/2014/main" id="{661A4C95-3EBA-5E15-61B7-88F66ACB2872}"/>
              </a:ext>
            </a:extLst>
          </p:cNvPr>
          <p:cNvGrpSpPr/>
          <p:nvPr/>
        </p:nvGrpSpPr>
        <p:grpSpPr>
          <a:xfrm>
            <a:off x="6629552" y="1336299"/>
            <a:ext cx="4290060" cy="1161415"/>
            <a:chOff x="9781" y="2614"/>
            <a:chExt cx="6756" cy="1829"/>
          </a:xfrm>
        </p:grpSpPr>
        <p:pic>
          <p:nvPicPr>
            <p:cNvPr id="10" name="图片 9">
              <a:extLst>
                <a:ext uri="{FF2B5EF4-FFF2-40B4-BE49-F238E27FC236}">
                  <a16:creationId xmlns:a16="http://schemas.microsoft.com/office/drawing/2014/main" id="{36B958B4-5DA4-0AEB-6ECB-AAA98C3928D4}"/>
                </a:ext>
              </a:extLst>
            </p:cNvPr>
            <p:cNvPicPr>
              <a:picLocks noChangeAspect="1"/>
            </p:cNvPicPr>
            <p:nvPr/>
          </p:nvPicPr>
          <p:blipFill>
            <a:blip r:embed="rId5" cstate="print"/>
            <a:stretch>
              <a:fillRect/>
            </a:stretch>
          </p:blipFill>
          <p:spPr>
            <a:xfrm>
              <a:off x="10186" y="3081"/>
              <a:ext cx="6351" cy="1362"/>
            </a:xfrm>
            <a:prstGeom prst="rect">
              <a:avLst/>
            </a:prstGeom>
          </p:spPr>
        </p:pic>
        <p:pic>
          <p:nvPicPr>
            <p:cNvPr id="11" name="图片 10">
              <a:extLst>
                <a:ext uri="{FF2B5EF4-FFF2-40B4-BE49-F238E27FC236}">
                  <a16:creationId xmlns:a16="http://schemas.microsoft.com/office/drawing/2014/main" id="{DD2E1252-D5B4-AC3B-BE8D-72ABDA6F5DA4}"/>
                </a:ext>
              </a:extLst>
            </p:cNvPr>
            <p:cNvPicPr>
              <a:picLocks noChangeAspect="1"/>
            </p:cNvPicPr>
            <p:nvPr/>
          </p:nvPicPr>
          <p:blipFill>
            <a:blip r:embed="rId6"/>
            <a:stretch>
              <a:fillRect/>
            </a:stretch>
          </p:blipFill>
          <p:spPr>
            <a:xfrm>
              <a:off x="9781" y="2614"/>
              <a:ext cx="5045" cy="494"/>
            </a:xfrm>
            <a:prstGeom prst="rect">
              <a:avLst/>
            </a:prstGeom>
          </p:spPr>
        </p:pic>
      </p:grpSp>
      <p:sp>
        <p:nvSpPr>
          <p:cNvPr id="12" name="文本框 11">
            <a:extLst>
              <a:ext uri="{FF2B5EF4-FFF2-40B4-BE49-F238E27FC236}">
                <a16:creationId xmlns:a16="http://schemas.microsoft.com/office/drawing/2014/main" id="{B24A5F5A-3BA8-52DD-CD5E-FE21D85F9DAD}"/>
              </a:ext>
            </a:extLst>
          </p:cNvPr>
          <p:cNvSpPr txBox="1"/>
          <p:nvPr/>
        </p:nvSpPr>
        <p:spPr>
          <a:xfrm>
            <a:off x="374802" y="3046273"/>
            <a:ext cx="4360545" cy="1045210"/>
          </a:xfrm>
          <a:prstGeom prst="rect">
            <a:avLst/>
          </a:prstGeom>
          <a:noFill/>
        </p:spPr>
        <p:txBody>
          <a:bodyPr wrap="square" rtlCol="0" anchor="t">
            <a:spAutoFit/>
          </a:bodyPr>
          <a:lstStyle/>
          <a:p>
            <a:pPr marL="342900" indent="-342900">
              <a:buFont typeface="Wingdings" panose="05000000000000000000" charset="0"/>
              <a:buChar char=""/>
            </a:pPr>
            <a:r>
              <a:rPr lang="zh-CN" sz="2200" b="1" dirty="0">
                <a:solidFill>
                  <a:schemeClr val="accent2">
                    <a:lumMod val="75000"/>
                  </a:schemeClr>
                </a:solidFill>
                <a:latin typeface="微软雅黑" panose="020B0503020204020204" pitchFamily="34" charset="-122"/>
                <a:ea typeface="微软雅黑" panose="020B0503020204020204" pitchFamily="34" charset="-122"/>
              </a:rPr>
              <a:t>过滤法</a:t>
            </a:r>
            <a:r>
              <a:rPr lang="en-US" altLang="zh-CN" sz="2200" b="1" dirty="0">
                <a:solidFill>
                  <a:schemeClr val="accent2">
                    <a:lumMod val="75000"/>
                  </a:schemeClr>
                </a:solidFill>
                <a:latin typeface="微软雅黑" panose="020B0503020204020204" pitchFamily="34" charset="-122"/>
                <a:ea typeface="微软雅黑" panose="020B0503020204020204" pitchFamily="34" charset="-122"/>
              </a:rPr>
              <a:t>(</a:t>
            </a:r>
            <a:r>
              <a:rPr lang="zh-CN" sz="2200" b="1" dirty="0">
                <a:solidFill>
                  <a:schemeClr val="accent2">
                    <a:lumMod val="75000"/>
                  </a:schemeClr>
                </a:solidFill>
                <a:latin typeface="微软雅黑" panose="020B0503020204020204" pitchFamily="34" charset="-122"/>
                <a:ea typeface="微软雅黑" panose="020B0503020204020204" pitchFamily="34" charset="-122"/>
              </a:rPr>
              <a:t>Filter</a:t>
            </a:r>
            <a:r>
              <a:rPr lang="en-US" altLang="zh-CN" sz="2200" b="1" dirty="0">
                <a:solidFill>
                  <a:schemeClr val="accent2">
                    <a:lumMod val="75000"/>
                  </a:schemeClr>
                </a:solidFill>
                <a:latin typeface="微软雅黑" panose="020B0503020204020204" pitchFamily="34" charset="-122"/>
                <a:ea typeface="微软雅黑" panose="020B0503020204020204" pitchFamily="34" charset="-122"/>
              </a:rPr>
              <a:t>)</a:t>
            </a:r>
            <a:endParaRPr lang="en-US" altLang="zh-CN" sz="22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000" dirty="0">
                <a:latin typeface="微软雅黑" panose="020B0503020204020204" pitchFamily="34" charset="-122"/>
                <a:ea typeface="微软雅黑" panose="020B0503020204020204" pitchFamily="34" charset="-122"/>
              </a:rPr>
              <a:t>     按照发散性或相关性对各特征进行评分，设定阈值完成特征选择。</a:t>
            </a:r>
          </a:p>
        </p:txBody>
      </p:sp>
      <p:sp>
        <p:nvSpPr>
          <p:cNvPr id="13" name="文本框 12">
            <a:extLst>
              <a:ext uri="{FF2B5EF4-FFF2-40B4-BE49-F238E27FC236}">
                <a16:creationId xmlns:a16="http://schemas.microsoft.com/office/drawing/2014/main" id="{A530A808-112C-9EB5-22B6-6E73BDAA294A}"/>
              </a:ext>
            </a:extLst>
          </p:cNvPr>
          <p:cNvSpPr txBox="1"/>
          <p:nvPr/>
        </p:nvSpPr>
        <p:spPr>
          <a:xfrm>
            <a:off x="374802" y="4106804"/>
            <a:ext cx="4147185" cy="1753235"/>
          </a:xfrm>
          <a:prstGeom prst="rect">
            <a:avLst/>
          </a:prstGeom>
          <a:noFill/>
        </p:spPr>
        <p:txBody>
          <a:bodyPr wrap="square" rtlCol="0" anchor="t">
            <a:spAutoFit/>
          </a:bodyPr>
          <a:lstStyle/>
          <a:p>
            <a:pPr marL="285750" indent="-285750">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互信息：指两个随机变量之间的关联程度，即给定一个随机变量后，另一个随机变量的确定性；因而互信息取值最小为0，意味着给定一个随机变量对确定一另一个随机变量没有关系，越大表示另一个变量的确定性越高。</a:t>
            </a:r>
          </a:p>
        </p:txBody>
      </p:sp>
      <p:pic>
        <p:nvPicPr>
          <p:cNvPr id="14" name="图片 13">
            <a:extLst>
              <a:ext uri="{FF2B5EF4-FFF2-40B4-BE49-F238E27FC236}">
                <a16:creationId xmlns:a16="http://schemas.microsoft.com/office/drawing/2014/main" id="{7AEA58AF-AEFF-9B64-C011-7105DADD552F}"/>
              </a:ext>
            </a:extLst>
          </p:cNvPr>
          <p:cNvPicPr>
            <a:picLocks noChangeAspect="1"/>
          </p:cNvPicPr>
          <p:nvPr/>
        </p:nvPicPr>
        <p:blipFill>
          <a:blip r:embed="rId7"/>
          <a:stretch>
            <a:fillRect/>
          </a:stretch>
        </p:blipFill>
        <p:spPr>
          <a:xfrm>
            <a:off x="784377" y="5854959"/>
            <a:ext cx="3318510" cy="586105"/>
          </a:xfrm>
          <a:prstGeom prst="rect">
            <a:avLst/>
          </a:prstGeom>
        </p:spPr>
      </p:pic>
      <p:sp>
        <p:nvSpPr>
          <p:cNvPr id="15" name="文本框 14">
            <a:extLst>
              <a:ext uri="{FF2B5EF4-FFF2-40B4-BE49-F238E27FC236}">
                <a16:creationId xmlns:a16="http://schemas.microsoft.com/office/drawing/2014/main" id="{167DCC20-013B-F3E2-56CD-89CD053D2073}"/>
              </a:ext>
            </a:extLst>
          </p:cNvPr>
          <p:cNvSpPr txBox="1"/>
          <p:nvPr/>
        </p:nvSpPr>
        <p:spPr>
          <a:xfrm>
            <a:off x="416077" y="1538864"/>
            <a:ext cx="1554480" cy="1198880"/>
          </a:xfrm>
          <a:prstGeom prst="rect">
            <a:avLst/>
          </a:prstGeom>
          <a:ln w="38100">
            <a:solidFill>
              <a:srgbClr val="FF0000"/>
            </a:solidFill>
          </a:ln>
        </p:spPr>
        <p:style>
          <a:lnRef idx="2">
            <a:schemeClr val="accent2"/>
          </a:lnRef>
          <a:fillRef idx="1">
            <a:schemeClr val="lt1"/>
          </a:fillRef>
          <a:effectRef idx="0">
            <a:schemeClr val="accent2"/>
          </a:effectRef>
          <a:fontRef idx="minor">
            <a:schemeClr val="dk1"/>
          </a:fontRef>
        </p:style>
        <p:txBody>
          <a:bodyPr wrap="square" rtlCol="0" anchor="t">
            <a:spAutoFit/>
          </a:bodyPr>
          <a:lstStyle/>
          <a:p>
            <a:pPr indent="0">
              <a:buFont typeface="Wingdings" panose="05000000000000000000" charset="0"/>
              <a:buNone/>
            </a:pPr>
            <a:r>
              <a:rPr lang="en-US" altLang="zh-CN" sz="2400" b="1" dirty="0">
                <a:solidFill>
                  <a:srgbClr val="CC0099"/>
                </a:solidFill>
                <a:latin typeface="微软雅黑" panose="020B0503020204020204" pitchFamily="34" charset="-122"/>
                <a:ea typeface="微软雅黑" panose="020B0503020204020204" pitchFamily="34" charset="-122"/>
              </a:rPr>
              <a:t>    </a:t>
            </a:r>
            <a:r>
              <a:rPr lang="zh-CN" sz="2400" b="1" dirty="0">
                <a:solidFill>
                  <a:srgbClr val="CC0099"/>
                </a:solidFill>
                <a:latin typeface="微软雅黑" panose="020B0503020204020204" pitchFamily="34" charset="-122"/>
                <a:ea typeface="微软雅黑" panose="020B0503020204020204" pitchFamily="34" charset="-122"/>
              </a:rPr>
              <a:t>这些属性特征都有用吗？</a:t>
            </a:r>
          </a:p>
        </p:txBody>
      </p:sp>
      <p:sp>
        <p:nvSpPr>
          <p:cNvPr id="16" name="五角星 4">
            <a:extLst>
              <a:ext uri="{FF2B5EF4-FFF2-40B4-BE49-F238E27FC236}">
                <a16:creationId xmlns:a16="http://schemas.microsoft.com/office/drawing/2014/main" id="{7C956D07-CD5B-942F-7B1E-013E345CDFFA}"/>
              </a:ext>
            </a:extLst>
          </p:cNvPr>
          <p:cNvSpPr/>
          <p:nvPr/>
        </p:nvSpPr>
        <p:spPr>
          <a:xfrm>
            <a:off x="453094" y="1513283"/>
            <a:ext cx="419735" cy="429895"/>
          </a:xfrm>
          <a:prstGeom prst="star5">
            <a:avLst/>
          </a:prstGeom>
          <a:solidFill>
            <a:srgbClr val="FF33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7" name="图片 16">
            <a:extLst>
              <a:ext uri="{FF2B5EF4-FFF2-40B4-BE49-F238E27FC236}">
                <a16:creationId xmlns:a16="http://schemas.microsoft.com/office/drawing/2014/main" id="{C97898FD-0B61-F73F-1C23-F9C36F543596}"/>
              </a:ext>
            </a:extLst>
          </p:cNvPr>
          <p:cNvPicPr>
            <a:picLocks noChangeAspect="1"/>
          </p:cNvPicPr>
          <p:nvPr/>
        </p:nvPicPr>
        <p:blipFill>
          <a:blip r:embed="rId8" cstate="print"/>
          <a:stretch>
            <a:fillRect/>
          </a:stretch>
        </p:blipFill>
        <p:spPr>
          <a:xfrm>
            <a:off x="3704107" y="2600584"/>
            <a:ext cx="5289550" cy="378460"/>
          </a:xfrm>
          <a:prstGeom prst="rect">
            <a:avLst/>
          </a:prstGeom>
        </p:spPr>
      </p:pic>
      <p:sp>
        <p:nvSpPr>
          <p:cNvPr id="18" name="文本框 17">
            <a:extLst>
              <a:ext uri="{FF2B5EF4-FFF2-40B4-BE49-F238E27FC236}">
                <a16:creationId xmlns:a16="http://schemas.microsoft.com/office/drawing/2014/main" id="{69EA5FF2-5FD5-A50C-5742-7A4EB35B0BE7}"/>
              </a:ext>
            </a:extLst>
          </p:cNvPr>
          <p:cNvSpPr txBox="1"/>
          <p:nvPr/>
        </p:nvSpPr>
        <p:spPr>
          <a:xfrm>
            <a:off x="2507132" y="2610744"/>
            <a:ext cx="1099820" cy="368300"/>
          </a:xfrm>
          <a:prstGeom prst="rect">
            <a:avLst/>
          </a:prstGeom>
          <a:noFill/>
        </p:spPr>
        <p:txBody>
          <a:bodyPr wrap="none" rtlCol="0" anchor="t">
            <a:spAutoFit/>
          </a:bodyPr>
          <a:lstStyle/>
          <a:p>
            <a:r>
              <a:rPr lang="zh-CN" b="1" dirty="0">
                <a:solidFill>
                  <a:srgbClr val="0432FF"/>
                </a:solidFill>
                <a:latin typeface="微软雅黑" panose="020B0503020204020204" pitchFamily="34" charset="-122"/>
                <a:ea typeface="微软雅黑" panose="020B0503020204020204" pitchFamily="34" charset="-122"/>
                <a:sym typeface="+mn-ea"/>
              </a:rPr>
              <a:t>特征选择</a:t>
            </a:r>
          </a:p>
        </p:txBody>
      </p:sp>
      <p:sp>
        <p:nvSpPr>
          <p:cNvPr id="19" name="文本框 18">
            <a:extLst>
              <a:ext uri="{FF2B5EF4-FFF2-40B4-BE49-F238E27FC236}">
                <a16:creationId xmlns:a16="http://schemas.microsoft.com/office/drawing/2014/main" id="{4058A1AF-718E-F306-55AA-6653CED3BABB}"/>
              </a:ext>
            </a:extLst>
          </p:cNvPr>
          <p:cNvSpPr txBox="1"/>
          <p:nvPr/>
        </p:nvSpPr>
        <p:spPr>
          <a:xfrm>
            <a:off x="4744237" y="3153034"/>
            <a:ext cx="3554095" cy="1045210"/>
          </a:xfrm>
          <a:prstGeom prst="rect">
            <a:avLst/>
          </a:prstGeom>
          <a:noFill/>
        </p:spPr>
        <p:txBody>
          <a:bodyPr wrap="square" rtlCol="0" anchor="t">
            <a:spAutoFit/>
          </a:bodyPr>
          <a:lstStyle/>
          <a:p>
            <a:pPr marL="342900" indent="-342900">
              <a:buFont typeface="Wingdings" panose="05000000000000000000" charset="0"/>
              <a:buChar char=""/>
            </a:pPr>
            <a:r>
              <a:rPr lang="zh-CN" sz="2200" b="1" dirty="0">
                <a:solidFill>
                  <a:schemeClr val="accent2">
                    <a:lumMod val="75000"/>
                  </a:schemeClr>
                </a:solidFill>
                <a:latin typeface="微软雅黑" panose="020B0503020204020204" pitchFamily="34" charset="-122"/>
                <a:ea typeface="微软雅黑" panose="020B0503020204020204" pitchFamily="34" charset="-122"/>
              </a:rPr>
              <a:t>包裹法(Wrapper)：</a:t>
            </a:r>
            <a:endParaRPr lang="zh-CN" sz="22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000" dirty="0">
                <a:latin typeface="微软雅黑" panose="020B0503020204020204" pitchFamily="34" charset="-122"/>
                <a:ea typeface="微软雅黑" panose="020B0503020204020204" pitchFamily="34" charset="-122"/>
              </a:rPr>
              <a:t>      选定特定算法，然后通过不断的启发式方法来搜索特征。</a:t>
            </a:r>
          </a:p>
        </p:txBody>
      </p:sp>
      <p:pic>
        <p:nvPicPr>
          <p:cNvPr id="20" name="图片 19">
            <a:extLst>
              <a:ext uri="{FF2B5EF4-FFF2-40B4-BE49-F238E27FC236}">
                <a16:creationId xmlns:a16="http://schemas.microsoft.com/office/drawing/2014/main" id="{0FBC5E9E-89E4-300A-1927-EACB0F1709E7}"/>
              </a:ext>
            </a:extLst>
          </p:cNvPr>
          <p:cNvPicPr>
            <a:picLocks noChangeAspect="1"/>
          </p:cNvPicPr>
          <p:nvPr/>
        </p:nvPicPr>
        <p:blipFill>
          <a:blip r:embed="rId9" cstate="print"/>
          <a:stretch>
            <a:fillRect/>
          </a:stretch>
        </p:blipFill>
        <p:spPr>
          <a:xfrm>
            <a:off x="8246262" y="3030479"/>
            <a:ext cx="3335655" cy="1355725"/>
          </a:xfrm>
          <a:prstGeom prst="rect">
            <a:avLst/>
          </a:prstGeom>
        </p:spPr>
      </p:pic>
      <p:sp>
        <p:nvSpPr>
          <p:cNvPr id="21" name="文本框 20">
            <a:extLst>
              <a:ext uri="{FF2B5EF4-FFF2-40B4-BE49-F238E27FC236}">
                <a16:creationId xmlns:a16="http://schemas.microsoft.com/office/drawing/2014/main" id="{F89B5E7E-9E26-3DD8-629A-6C119020E5F3}"/>
              </a:ext>
            </a:extLst>
          </p:cNvPr>
          <p:cNvSpPr txBox="1"/>
          <p:nvPr/>
        </p:nvSpPr>
        <p:spPr>
          <a:xfrm>
            <a:off x="4744237" y="4335404"/>
            <a:ext cx="3554095" cy="2122805"/>
          </a:xfrm>
          <a:prstGeom prst="rect">
            <a:avLst/>
          </a:prstGeom>
          <a:noFill/>
        </p:spPr>
        <p:txBody>
          <a:bodyPr wrap="square" rtlCol="0" anchor="t">
            <a:spAutoFit/>
          </a:bodyPr>
          <a:lstStyle/>
          <a:p>
            <a:pPr marL="342900" indent="-342900">
              <a:buFont typeface="Wingdings" panose="05000000000000000000" charset="0"/>
              <a:buChar char=""/>
            </a:pPr>
            <a:r>
              <a:rPr lang="zh-CN" sz="2200" b="1" dirty="0">
                <a:solidFill>
                  <a:schemeClr val="accent2">
                    <a:lumMod val="75000"/>
                  </a:schemeClr>
                </a:solidFill>
                <a:latin typeface="微软雅黑" panose="020B0503020204020204" pitchFamily="34" charset="-122"/>
                <a:ea typeface="微软雅黑" panose="020B0503020204020204" pitchFamily="34" charset="-122"/>
              </a:rPr>
              <a:t>嵌入法(Embedded)：</a:t>
            </a:r>
            <a:endParaRPr lang="zh-CN" sz="22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000" dirty="0">
                <a:latin typeface="微软雅黑" panose="020B0503020204020204" pitchFamily="34" charset="-122"/>
                <a:ea typeface="微软雅黑" panose="020B0503020204020204" pitchFamily="34" charset="-122"/>
              </a:rPr>
              <a:t>      </a:t>
            </a:r>
            <a:r>
              <a:rPr lang="zh-CN" dirty="0">
                <a:latin typeface="微软雅黑" panose="020B0503020204020204" pitchFamily="34" charset="-122"/>
                <a:ea typeface="微软雅黑" panose="020B0503020204020204" pitchFamily="34" charset="-122"/>
              </a:rPr>
              <a:t>利用正则化的思想，将部分特征属性的权重调整到0，则这个特性相当于就是被舍弃了。常见的正则有L1的Lasso,L2的Ridge，还有一种综合L1和L2的这两个方法的Elastic Net方法。</a:t>
            </a:r>
            <a:endParaRPr lang="zh-CN" sz="2000" dirty="0">
              <a:latin typeface="微软雅黑" panose="020B0503020204020204" pitchFamily="34" charset="-122"/>
              <a:ea typeface="微软雅黑" panose="020B0503020204020204" pitchFamily="34" charset="-122"/>
            </a:endParaRPr>
          </a:p>
        </p:txBody>
      </p:sp>
      <p:pic>
        <p:nvPicPr>
          <p:cNvPr id="22" name="图片 21">
            <a:extLst>
              <a:ext uri="{FF2B5EF4-FFF2-40B4-BE49-F238E27FC236}">
                <a16:creationId xmlns:a16="http://schemas.microsoft.com/office/drawing/2014/main" id="{DC36B1BE-2FFE-71F7-190F-75E985F1D6E0}"/>
              </a:ext>
            </a:extLst>
          </p:cNvPr>
          <p:cNvPicPr>
            <a:picLocks noChangeAspect="1"/>
          </p:cNvPicPr>
          <p:nvPr/>
        </p:nvPicPr>
        <p:blipFill>
          <a:blip r:embed="rId10"/>
          <a:stretch>
            <a:fillRect/>
          </a:stretch>
        </p:blipFill>
        <p:spPr>
          <a:xfrm>
            <a:off x="8238642" y="4700529"/>
            <a:ext cx="3314065" cy="1689100"/>
          </a:xfrm>
          <a:prstGeom prst="rect">
            <a:avLst/>
          </a:prstGeom>
        </p:spPr>
      </p:pic>
    </p:spTree>
    <p:extLst>
      <p:ext uri="{BB962C8B-B14F-4D97-AF65-F5344CB8AC3E}">
        <p14:creationId xmlns:p14="http://schemas.microsoft.com/office/powerpoint/2010/main" val="3087916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5" grpId="0" animBg="1"/>
      <p:bldP spid="16" grpId="0" animBg="1"/>
      <p:bldP spid="18" grpId="0"/>
      <p:bldP spid="19" grpId="0"/>
      <p:bldP spid="2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908BBC4E-DCF8-D45A-177C-4F4D068E79D1}"/>
              </a:ext>
            </a:extLst>
          </p:cNvPr>
          <p:cNvSpPr txBox="1"/>
          <p:nvPr/>
        </p:nvSpPr>
        <p:spPr>
          <a:xfrm>
            <a:off x="483450" y="1542037"/>
            <a:ext cx="4124061" cy="2000548"/>
          </a:xfrm>
          <a:prstGeom prst="rect">
            <a:avLst/>
          </a:prstGeom>
          <a:noFill/>
        </p:spPr>
        <p:txBody>
          <a:bodyPr wrap="square">
            <a:spAutoFit/>
          </a:bodyPr>
          <a:lstStyle/>
          <a:p>
            <a:pPr algn="l"/>
            <a:r>
              <a:rPr lang="zh-CN" altLang="en-US" sz="2200" b="1" dirty="0">
                <a:solidFill>
                  <a:schemeClr val="accent2">
                    <a:lumMod val="75000"/>
                  </a:schemeClr>
                </a:solidFill>
                <a:latin typeface="微软雅黑" panose="020B0503020204020204" pitchFamily="34" charset="-122"/>
                <a:ea typeface="微软雅黑" panose="020B0503020204020204" pitchFamily="34" charset="-122"/>
              </a:rPr>
              <a:t>基于信息增益的特征选择</a:t>
            </a:r>
            <a:endParaRPr lang="en-US" altLang="zh-CN" sz="2200" b="1" dirty="0">
              <a:solidFill>
                <a:schemeClr val="accent2">
                  <a:lumMod val="75000"/>
                </a:schemeClr>
              </a:solidFill>
              <a:latin typeface="微软雅黑" panose="020B0503020204020204" pitchFamily="34" charset="-122"/>
              <a:ea typeface="微软雅黑" panose="020B0503020204020204" pitchFamily="34" charset="-122"/>
            </a:endParaRPr>
          </a:p>
          <a:p>
            <a:pPr algn="l"/>
            <a:r>
              <a:rPr lang="en-US" altLang="zh-CN" sz="2400" b="0" i="0" dirty="0">
                <a:solidFill>
                  <a:srgbClr val="2C3E50"/>
                </a:solidFill>
                <a:effectLst/>
                <a:latin typeface="PingFangMedium"/>
              </a:rPr>
              <a:t>(Information gain-based feature selection)</a:t>
            </a:r>
            <a:endParaRPr lang="en-US" altLang="zh-CN" sz="2200" b="1" dirty="0">
              <a:solidFill>
                <a:schemeClr val="accent2">
                  <a:lumMod val="75000"/>
                </a:schemeClr>
              </a:solidFill>
              <a:latin typeface="微软雅黑" panose="020B0503020204020204" pitchFamily="34" charset="-122"/>
              <a:ea typeface="微软雅黑" panose="020B0503020204020204" pitchFamily="34" charset="-122"/>
            </a:endParaRPr>
          </a:p>
          <a:p>
            <a:pPr algn="l"/>
            <a:r>
              <a:rPr lang="zh-CN" altLang="en-US" b="0" i="0" dirty="0">
                <a:solidFill>
                  <a:srgbClr val="2C3E50"/>
                </a:solidFill>
                <a:effectLst/>
                <a:latin typeface="PingFangMedium"/>
              </a:rPr>
              <a:t>使用信息熵或基尼指数等度量衡量特征对目标变量的贡献，选择具有最高信息增益的特征。例如，决策树算法</a:t>
            </a:r>
          </a:p>
        </p:txBody>
      </p:sp>
      <p:sp>
        <p:nvSpPr>
          <p:cNvPr id="7" name="矩形 6">
            <a:extLst>
              <a:ext uri="{FF2B5EF4-FFF2-40B4-BE49-F238E27FC236}">
                <a16:creationId xmlns:a16="http://schemas.microsoft.com/office/drawing/2014/main" id="{4BCA4E82-D09C-E46B-357A-8E45FF7F6DFE}"/>
              </a:ext>
            </a:extLst>
          </p:cNvPr>
          <p:cNvSpPr/>
          <p:nvPr/>
        </p:nvSpPr>
        <p:spPr>
          <a:xfrm>
            <a:off x="603732" y="352801"/>
            <a:ext cx="3003220"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特征选择</a:t>
            </a:r>
          </a:p>
        </p:txBody>
      </p:sp>
    </p:spTree>
    <p:extLst>
      <p:ext uri="{BB962C8B-B14F-4D97-AF65-F5344CB8AC3E}">
        <p14:creationId xmlns:p14="http://schemas.microsoft.com/office/powerpoint/2010/main" val="24797312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0929EB-3C46-A1EC-4A15-EEDFDAB16E13}"/>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6986EEB5-FE87-FA9F-04A3-B305D68D335E}"/>
              </a:ext>
            </a:extLst>
          </p:cNvPr>
          <p:cNvSpPr/>
          <p:nvPr/>
        </p:nvSpPr>
        <p:spPr>
          <a:xfrm>
            <a:off x="132459" y="1339324"/>
            <a:ext cx="11832014" cy="1092607"/>
          </a:xfrm>
          <a:prstGeom prst="rect">
            <a:avLst/>
          </a:prstGeom>
        </p:spPr>
        <p:txBody>
          <a:bodyPr wrap="square">
            <a:spAutoFit/>
          </a:bodyPr>
          <a:lstStyle/>
          <a:p>
            <a:pPr indent="457200" fontAlgn="auto">
              <a:lnSpc>
                <a:spcPct val="125000"/>
              </a:lnSpc>
            </a:pPr>
            <a:r>
              <a:rPr sz="2600" dirty="0">
                <a:latin typeface="微软雅黑" panose="020B0503020204020204" pitchFamily="34" charset="-122"/>
                <a:ea typeface="微软雅黑" panose="020B0503020204020204" pitchFamily="34" charset="-122"/>
              </a:rPr>
              <a:t>特征选择完成后</a:t>
            </a:r>
            <a:r>
              <a:rPr lang="zh-CN" sz="2600" dirty="0">
                <a:latin typeface="微软雅黑" panose="020B0503020204020204" pitchFamily="34" charset="-122"/>
                <a:ea typeface="微软雅黑" panose="020B0503020204020204" pitchFamily="34" charset="-122"/>
              </a:rPr>
              <a:t>，</a:t>
            </a:r>
            <a:r>
              <a:rPr sz="2600" dirty="0">
                <a:latin typeface="微软雅黑" panose="020B0503020204020204" pitchFamily="34" charset="-122"/>
                <a:ea typeface="微软雅黑" panose="020B0503020204020204" pitchFamily="34" charset="-122"/>
              </a:rPr>
              <a:t>可能由于特征矩阵过大，导致计算量大</a:t>
            </a:r>
            <a:r>
              <a:rPr lang="zh-CN" sz="2600" dirty="0">
                <a:latin typeface="微软雅黑" panose="020B0503020204020204" pitchFamily="34" charset="-122"/>
                <a:ea typeface="微软雅黑" panose="020B0503020204020204" pitchFamily="34" charset="-122"/>
              </a:rPr>
              <a:t>、</a:t>
            </a:r>
            <a:r>
              <a:rPr sz="2600" dirty="0">
                <a:latin typeface="微软雅黑" panose="020B0503020204020204" pitchFamily="34" charset="-122"/>
                <a:ea typeface="微软雅黑" panose="020B0503020204020204" pitchFamily="34" charset="-122"/>
              </a:rPr>
              <a:t>训练时间长</a:t>
            </a:r>
            <a:r>
              <a:rPr lang="zh-CN" sz="2600" dirty="0">
                <a:latin typeface="微软雅黑" panose="020B0503020204020204" pitchFamily="34" charset="-122"/>
                <a:ea typeface="微软雅黑" panose="020B0503020204020204" pitchFamily="34" charset="-122"/>
              </a:rPr>
              <a:t>，</a:t>
            </a:r>
            <a:r>
              <a:rPr sz="2600" dirty="0">
                <a:latin typeface="微软雅黑" panose="020B0503020204020204" pitchFamily="34" charset="-122"/>
                <a:ea typeface="微软雅黑" panose="020B0503020204020204" pitchFamily="34" charset="-122"/>
              </a:rPr>
              <a:t>因此</a:t>
            </a:r>
            <a:r>
              <a:rPr sz="2600" b="1" dirty="0">
                <a:solidFill>
                  <a:srgbClr val="FF0000"/>
                </a:solidFill>
                <a:latin typeface="微软雅黑" panose="020B0503020204020204" pitchFamily="34" charset="-122"/>
                <a:ea typeface="微软雅黑" panose="020B0503020204020204" pitchFamily="34" charset="-122"/>
              </a:rPr>
              <a:t>降低特征矩阵维度</a:t>
            </a:r>
            <a:r>
              <a:rPr sz="2600" dirty="0">
                <a:latin typeface="微软雅黑" panose="020B0503020204020204" pitchFamily="34" charset="-122"/>
                <a:ea typeface="微软雅黑" panose="020B0503020204020204" pitchFamily="34" charset="-122"/>
              </a:rPr>
              <a:t>也是必不可少的。</a:t>
            </a:r>
          </a:p>
        </p:txBody>
      </p:sp>
      <p:sp>
        <p:nvSpPr>
          <p:cNvPr id="4" name="矩形 3">
            <a:extLst>
              <a:ext uri="{FF2B5EF4-FFF2-40B4-BE49-F238E27FC236}">
                <a16:creationId xmlns:a16="http://schemas.microsoft.com/office/drawing/2014/main" id="{7D0E787C-A6C2-410F-D963-B9654AF392E9}"/>
              </a:ext>
            </a:extLst>
          </p:cNvPr>
          <p:cNvSpPr/>
          <p:nvPr/>
        </p:nvSpPr>
        <p:spPr>
          <a:xfrm>
            <a:off x="1433151" y="400051"/>
            <a:ext cx="3183049" cy="645160"/>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特征降维</a:t>
            </a:r>
          </a:p>
        </p:txBody>
      </p:sp>
      <p:sp>
        <p:nvSpPr>
          <p:cNvPr id="5" name="文本框 4">
            <a:extLst>
              <a:ext uri="{FF2B5EF4-FFF2-40B4-BE49-F238E27FC236}">
                <a16:creationId xmlns:a16="http://schemas.microsoft.com/office/drawing/2014/main" id="{7E1243C5-986A-7285-448F-95714AD37BA4}"/>
              </a:ext>
            </a:extLst>
          </p:cNvPr>
          <p:cNvSpPr txBox="1"/>
          <p:nvPr/>
        </p:nvSpPr>
        <p:spPr>
          <a:xfrm>
            <a:off x="1000711" y="2449449"/>
            <a:ext cx="4783455" cy="1692771"/>
          </a:xfrm>
          <a:prstGeom prst="rect">
            <a:avLst/>
          </a:prstGeom>
          <a:noFill/>
        </p:spPr>
        <p:txBody>
          <a:bodyPr wrap="square" rtlCol="0" anchor="t">
            <a:spAutoFit/>
          </a:bodyPr>
          <a:lstStyle/>
          <a:p>
            <a:pPr marL="342900" indent="-342900">
              <a:buFont typeface="Wingdings" panose="05000000000000000000" charset="0"/>
              <a:buChar char=""/>
            </a:pPr>
            <a:r>
              <a:rPr lang="zh-CN" altLang="en-US" sz="2400" b="1" dirty="0">
                <a:solidFill>
                  <a:srgbClr val="0070C0"/>
                </a:solidFill>
                <a:latin typeface="微软雅黑" panose="020B0503020204020204" pitchFamily="34" charset="-122"/>
                <a:ea typeface="微软雅黑" panose="020B0503020204020204" pitchFamily="34" charset="-122"/>
              </a:rPr>
              <a:t>主成分分析</a:t>
            </a:r>
            <a:r>
              <a:rPr lang="en-US" altLang="zh-CN" sz="2400" b="1" dirty="0">
                <a:solidFill>
                  <a:srgbClr val="0070C0"/>
                </a:solidFill>
                <a:latin typeface="微软雅黑" panose="020B0503020204020204" pitchFamily="34" charset="-122"/>
                <a:ea typeface="微软雅黑" panose="020B0503020204020204" pitchFamily="34" charset="-122"/>
              </a:rPr>
              <a:t>(PCA)</a:t>
            </a:r>
            <a:endParaRPr lang="en-US" altLang="zh-CN" sz="2400" b="1" dirty="0">
              <a:latin typeface="微软雅黑" panose="020B0503020204020204" pitchFamily="34" charset="-122"/>
              <a:ea typeface="微软雅黑" panose="020B0503020204020204" pitchFamily="34" charset="-122"/>
            </a:endParaRPr>
          </a:p>
          <a:p>
            <a:pPr indent="0">
              <a:lnSpc>
                <a:spcPct val="125000"/>
              </a:lnSpc>
              <a:buFont typeface="Wingdings" panose="05000000000000000000" charset="0"/>
              <a:buNone/>
            </a:pPr>
            <a:r>
              <a:rPr lang="zh-CN" sz="2400" dirty="0">
                <a:latin typeface="微软雅黑" panose="020B0503020204020204" pitchFamily="34" charset="-122"/>
                <a:ea typeface="微软雅黑" panose="020B0503020204020204" pitchFamily="34" charset="-122"/>
              </a:rPr>
              <a:t>    </a:t>
            </a:r>
            <a:r>
              <a:rPr sz="2000" dirty="0" err="1">
                <a:latin typeface="微软雅黑" panose="020B0503020204020204" pitchFamily="34" charset="-122"/>
                <a:ea typeface="微软雅黑" panose="020B0503020204020204" pitchFamily="34" charset="-122"/>
                <a:sym typeface="+mn-ea"/>
              </a:rPr>
              <a:t>将原始特征空间映射到彼此正交的特征向量空间，在非满秩的情况</a:t>
            </a:r>
            <a:r>
              <a:rPr lang="zh-CN" sz="2000" dirty="0">
                <a:latin typeface="微软雅黑" panose="020B0503020204020204" pitchFamily="34" charset="-122"/>
                <a:ea typeface="微软雅黑" panose="020B0503020204020204" pitchFamily="34" charset="-122"/>
                <a:sym typeface="+mn-ea"/>
              </a:rPr>
              <a:t>下使</a:t>
            </a:r>
            <a:r>
              <a:rPr sz="2000" dirty="0" err="1">
                <a:latin typeface="微软雅黑" panose="020B0503020204020204" pitchFamily="34" charset="-122"/>
                <a:ea typeface="微软雅黑" panose="020B0503020204020204" pitchFamily="34" charset="-122"/>
                <a:sym typeface="+mn-ea"/>
              </a:rPr>
              <a:t>用SVD分解来构建特征向量</a:t>
            </a:r>
            <a:r>
              <a:rPr lang="zh-CN" sz="2000" dirty="0">
                <a:latin typeface="微软雅黑" panose="020B0503020204020204" pitchFamily="34" charset="-122"/>
                <a:ea typeface="微软雅黑" panose="020B0503020204020204" pitchFamily="34" charset="-122"/>
                <a:sym typeface="+mn-ea"/>
              </a:rPr>
              <a:t>。</a:t>
            </a:r>
          </a:p>
        </p:txBody>
      </p:sp>
      <p:pic>
        <p:nvPicPr>
          <p:cNvPr id="6" name="图片 5">
            <a:extLst>
              <a:ext uri="{FF2B5EF4-FFF2-40B4-BE49-F238E27FC236}">
                <a16:creationId xmlns:a16="http://schemas.microsoft.com/office/drawing/2014/main" id="{E246671C-F3E1-1EDA-F495-302AC7AEF03B}"/>
              </a:ext>
            </a:extLst>
          </p:cNvPr>
          <p:cNvPicPr>
            <a:picLocks noChangeAspect="1"/>
          </p:cNvPicPr>
          <p:nvPr/>
        </p:nvPicPr>
        <p:blipFill>
          <a:blip r:embed="rId2"/>
          <a:stretch>
            <a:fillRect/>
          </a:stretch>
        </p:blipFill>
        <p:spPr>
          <a:xfrm>
            <a:off x="1959639" y="4159738"/>
            <a:ext cx="2520950" cy="2288540"/>
          </a:xfrm>
          <a:prstGeom prst="rect">
            <a:avLst/>
          </a:prstGeom>
        </p:spPr>
      </p:pic>
      <p:sp>
        <p:nvSpPr>
          <p:cNvPr id="7" name="文本框 6">
            <a:extLst>
              <a:ext uri="{FF2B5EF4-FFF2-40B4-BE49-F238E27FC236}">
                <a16:creationId xmlns:a16="http://schemas.microsoft.com/office/drawing/2014/main" id="{39E611F6-4CDD-57CE-E5B9-E13E17E4FBBB}"/>
              </a:ext>
            </a:extLst>
          </p:cNvPr>
          <p:cNvSpPr txBox="1"/>
          <p:nvPr/>
        </p:nvSpPr>
        <p:spPr>
          <a:xfrm>
            <a:off x="6102936" y="2483739"/>
            <a:ext cx="4941570" cy="1657633"/>
          </a:xfrm>
          <a:prstGeom prst="rect">
            <a:avLst/>
          </a:prstGeom>
          <a:noFill/>
        </p:spPr>
        <p:txBody>
          <a:bodyPr wrap="square" rtlCol="0" anchor="t">
            <a:spAutoFit/>
          </a:bodyPr>
          <a:lstStyle/>
          <a:p>
            <a:pPr marL="342900" indent="-342900">
              <a:buFont typeface="Wingdings" panose="05000000000000000000" charset="0"/>
              <a:buChar char=""/>
            </a:pPr>
            <a:r>
              <a:rPr lang="zh-CN" altLang="en-US" sz="2400" b="1" dirty="0">
                <a:solidFill>
                  <a:srgbClr val="0070C0"/>
                </a:solidFill>
                <a:latin typeface="微软雅黑" panose="020B0503020204020204" pitchFamily="34" charset="-122"/>
                <a:ea typeface="微软雅黑" panose="020B0503020204020204" pitchFamily="34" charset="-122"/>
              </a:rPr>
              <a:t>线性判别分析</a:t>
            </a:r>
            <a:r>
              <a:rPr lang="en-US" altLang="zh-CN" sz="2400" b="1" dirty="0">
                <a:solidFill>
                  <a:srgbClr val="0070C0"/>
                </a:solidFill>
                <a:latin typeface="微软雅黑" panose="020B0503020204020204" pitchFamily="34" charset="-122"/>
                <a:ea typeface="微软雅黑" panose="020B0503020204020204" pitchFamily="34" charset="-122"/>
              </a:rPr>
              <a:t>(LDA)</a:t>
            </a:r>
            <a:endParaRPr lang="en-US" altLang="zh-CN" sz="2400" b="1" dirty="0">
              <a:latin typeface="微软雅黑" panose="020B0503020204020204" pitchFamily="34" charset="-122"/>
              <a:ea typeface="微软雅黑" panose="020B0503020204020204" pitchFamily="34" charset="-122"/>
            </a:endParaRPr>
          </a:p>
          <a:p>
            <a:pPr indent="0">
              <a:lnSpc>
                <a:spcPct val="125000"/>
              </a:lnSpc>
              <a:buFont typeface="Wingdings" panose="05000000000000000000" charset="0"/>
              <a:buNone/>
            </a:pPr>
            <a:r>
              <a:rPr lang="zh-CN" sz="2400" dirty="0">
                <a:latin typeface="微软雅黑" panose="020B0503020204020204" pitchFamily="34" charset="-122"/>
                <a:ea typeface="微软雅黑" panose="020B0503020204020204" pitchFamily="34" charset="-122"/>
              </a:rPr>
              <a:t>     </a:t>
            </a:r>
            <a:r>
              <a:rPr sz="2000" dirty="0" err="1">
                <a:latin typeface="微软雅黑" panose="020B0503020204020204" pitchFamily="34" charset="-122"/>
                <a:ea typeface="微软雅黑" panose="020B0503020204020204" pitchFamily="34" charset="-122"/>
                <a:sym typeface="+mn-ea"/>
              </a:rPr>
              <a:t>给出一个标注了类别的数据集，投影到了一条直线之后，能够使得点尽量的按类别区分开</a:t>
            </a:r>
            <a:r>
              <a:rPr lang="zh-CN" sz="2000" dirty="0">
                <a:latin typeface="微软雅黑" panose="020B0503020204020204" pitchFamily="34" charset="-122"/>
                <a:ea typeface="微软雅黑" panose="020B0503020204020204" pitchFamily="34" charset="-122"/>
                <a:sym typeface="+mn-ea"/>
              </a:rPr>
              <a:t>。</a:t>
            </a:r>
          </a:p>
        </p:txBody>
      </p:sp>
      <p:pic>
        <p:nvPicPr>
          <p:cNvPr id="8" name="图片 7">
            <a:extLst>
              <a:ext uri="{FF2B5EF4-FFF2-40B4-BE49-F238E27FC236}">
                <a16:creationId xmlns:a16="http://schemas.microsoft.com/office/drawing/2014/main" id="{11925BA8-4A23-FA12-017A-6F2B9F2E1224}"/>
              </a:ext>
            </a:extLst>
          </p:cNvPr>
          <p:cNvPicPr>
            <a:picLocks noChangeAspect="1"/>
          </p:cNvPicPr>
          <p:nvPr/>
        </p:nvPicPr>
        <p:blipFill>
          <a:blip r:embed="rId3"/>
          <a:stretch>
            <a:fillRect/>
          </a:stretch>
        </p:blipFill>
        <p:spPr>
          <a:xfrm>
            <a:off x="7717756" y="3927328"/>
            <a:ext cx="2602230" cy="2520950"/>
          </a:xfrm>
          <a:prstGeom prst="rect">
            <a:avLst/>
          </a:prstGeom>
        </p:spPr>
      </p:pic>
    </p:spTree>
    <p:extLst>
      <p:ext uri="{BB962C8B-B14F-4D97-AF65-F5344CB8AC3E}">
        <p14:creationId xmlns:p14="http://schemas.microsoft.com/office/powerpoint/2010/main" val="31201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8E1A52D-134B-AEB7-085B-41BFC72C60BD}"/>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0008C0C0-7E1B-8624-B364-242319D391D8}"/>
              </a:ext>
            </a:extLst>
          </p:cNvPr>
          <p:cNvSpPr/>
          <p:nvPr/>
        </p:nvSpPr>
        <p:spPr>
          <a:xfrm>
            <a:off x="10291893" y="5876387"/>
            <a:ext cx="893583" cy="323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C2F670D-CF79-2F03-A9A4-4021796CD78C}"/>
              </a:ext>
            </a:extLst>
          </p:cNvPr>
          <p:cNvSpPr/>
          <p:nvPr/>
        </p:nvSpPr>
        <p:spPr>
          <a:xfrm>
            <a:off x="1454417" y="400051"/>
            <a:ext cx="2253034"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特征编码</a:t>
            </a:r>
          </a:p>
        </p:txBody>
      </p:sp>
      <p:sp>
        <p:nvSpPr>
          <p:cNvPr id="5" name="矩形 4">
            <a:extLst>
              <a:ext uri="{FF2B5EF4-FFF2-40B4-BE49-F238E27FC236}">
                <a16:creationId xmlns:a16="http://schemas.microsoft.com/office/drawing/2014/main" id="{3E304583-8F49-DAA9-5A82-0CD80C74AB03}"/>
              </a:ext>
            </a:extLst>
          </p:cNvPr>
          <p:cNvSpPr/>
          <p:nvPr/>
        </p:nvSpPr>
        <p:spPr>
          <a:xfrm>
            <a:off x="175510" y="1320952"/>
            <a:ext cx="11608659" cy="973472"/>
          </a:xfrm>
          <a:prstGeom prst="rect">
            <a:avLst/>
          </a:prstGeom>
        </p:spPr>
        <p:txBody>
          <a:bodyPr wrap="square">
            <a:spAutoFit/>
          </a:bodyPr>
          <a:lstStyle/>
          <a:p>
            <a:pPr indent="540000" fontAlgn="auto">
              <a:lnSpc>
                <a:spcPct val="125000"/>
              </a:lnSpc>
            </a:pPr>
            <a:r>
              <a:rPr lang="zh-CN" sz="2400" dirty="0">
                <a:latin typeface="微软雅黑" panose="020B0503020204020204" pitchFamily="34" charset="-122"/>
                <a:ea typeface="微软雅黑" panose="020B0503020204020204" pitchFamily="34" charset="-122"/>
              </a:rPr>
              <a:t>数据集中</a:t>
            </a:r>
            <a:r>
              <a:rPr sz="2400" dirty="0">
                <a:latin typeface="微软雅黑" panose="020B0503020204020204" pitchFamily="34" charset="-122"/>
                <a:ea typeface="微软雅黑" panose="020B0503020204020204" pitchFamily="34" charset="-122"/>
              </a:rPr>
              <a:t>经常会</a:t>
            </a:r>
            <a:r>
              <a:rPr lang="zh-CN" sz="2400" dirty="0">
                <a:latin typeface="微软雅黑" panose="020B0503020204020204" pitchFamily="34" charset="-122"/>
                <a:ea typeface="微软雅黑" panose="020B0503020204020204" pitchFamily="34" charset="-122"/>
              </a:rPr>
              <a:t>出现</a:t>
            </a:r>
            <a:r>
              <a:rPr sz="2400" dirty="0">
                <a:latin typeface="微软雅黑" panose="020B0503020204020204" pitchFamily="34" charset="-122"/>
                <a:ea typeface="微软雅黑" panose="020B0503020204020204" pitchFamily="34" charset="-122"/>
              </a:rPr>
              <a:t>字符串信息，例如男女</a:t>
            </a:r>
            <a:r>
              <a:rPr lang="zh-CN" sz="2400" dirty="0">
                <a:latin typeface="微软雅黑" panose="020B0503020204020204" pitchFamily="34" charset="-122"/>
                <a:ea typeface="微软雅黑" panose="020B0503020204020204" pitchFamily="34" charset="-122"/>
              </a:rPr>
              <a:t>、</a:t>
            </a:r>
            <a:r>
              <a:rPr sz="2400" dirty="0">
                <a:latin typeface="微软雅黑" panose="020B0503020204020204" pitchFamily="34" charset="-122"/>
                <a:ea typeface="微软雅黑" panose="020B0503020204020204" pitchFamily="34" charset="-122"/>
              </a:rPr>
              <a:t>高中低等，这类信息不能直接用于算法计算，需要将</a:t>
            </a:r>
            <a:r>
              <a:rPr lang="zh-CN" sz="2400" dirty="0">
                <a:latin typeface="微软雅黑" panose="020B0503020204020204" pitchFamily="34" charset="-122"/>
                <a:ea typeface="微软雅黑" panose="020B0503020204020204" pitchFamily="34" charset="-122"/>
              </a:rPr>
              <a:t>这些</a:t>
            </a:r>
            <a:r>
              <a:rPr sz="2400" b="1" dirty="0">
                <a:solidFill>
                  <a:schemeClr val="accent2">
                    <a:lumMod val="75000"/>
                  </a:schemeClr>
                </a:solidFill>
                <a:latin typeface="微软雅黑" panose="020B0503020204020204" pitchFamily="34" charset="-122"/>
                <a:ea typeface="微软雅黑" panose="020B0503020204020204" pitchFamily="34" charset="-122"/>
              </a:rPr>
              <a:t>数据转化为数值形式</a:t>
            </a:r>
            <a:r>
              <a:rPr sz="2400" dirty="0">
                <a:latin typeface="微软雅黑" panose="020B0503020204020204" pitchFamily="34" charset="-122"/>
                <a:ea typeface="微软雅黑" panose="020B0503020204020204" pitchFamily="34" charset="-122"/>
              </a:rPr>
              <a:t>进行编码，便于后期</a:t>
            </a:r>
            <a:r>
              <a:rPr lang="zh-CN" sz="2400" dirty="0">
                <a:latin typeface="微软雅黑" panose="020B0503020204020204" pitchFamily="34" charset="-122"/>
                <a:ea typeface="微软雅黑" panose="020B0503020204020204" pitchFamily="34" charset="-122"/>
              </a:rPr>
              <a:t>进行建模</a:t>
            </a:r>
            <a:r>
              <a:rPr lang="zh-CN" altLang="en-US" sz="2400" dirty="0">
                <a:latin typeface="微软雅黑" panose="020B0503020204020204" pitchFamily="34" charset="-122"/>
                <a:ea typeface="微软雅黑" panose="020B0503020204020204" pitchFamily="34" charset="-122"/>
              </a:rPr>
              <a:t>。</a:t>
            </a:r>
          </a:p>
        </p:txBody>
      </p:sp>
      <p:sp>
        <p:nvSpPr>
          <p:cNvPr id="6" name="文本框 5">
            <a:extLst>
              <a:ext uri="{FF2B5EF4-FFF2-40B4-BE49-F238E27FC236}">
                <a16:creationId xmlns:a16="http://schemas.microsoft.com/office/drawing/2014/main" id="{0052BDD3-5885-82A5-8DE0-47842F61D2BD}"/>
              </a:ext>
            </a:extLst>
          </p:cNvPr>
          <p:cNvSpPr txBox="1"/>
          <p:nvPr/>
        </p:nvSpPr>
        <p:spPr>
          <a:xfrm>
            <a:off x="704483" y="4138726"/>
            <a:ext cx="5186045" cy="430887"/>
          </a:xfrm>
          <a:prstGeom prst="rect">
            <a:avLst/>
          </a:prstGeom>
          <a:noFill/>
        </p:spPr>
        <p:txBody>
          <a:bodyPr wrap="square" rtlCol="0" anchor="t">
            <a:spAutoFit/>
          </a:bodyPr>
          <a:lstStyle/>
          <a:p>
            <a:pPr marL="342900" indent="-342900">
              <a:buFont typeface="Wingdings" panose="05000000000000000000" charset="0"/>
              <a:buChar char=""/>
            </a:pPr>
            <a:r>
              <a:rPr lang="zh-CN" sz="2200" b="1" dirty="0">
                <a:solidFill>
                  <a:srgbClr val="0432FF"/>
                </a:solidFill>
                <a:latin typeface="微软雅黑" panose="020B0503020204020204" pitchFamily="34" charset="-122"/>
                <a:ea typeface="微软雅黑" panose="020B0503020204020204" pitchFamily="34" charset="-122"/>
              </a:rPr>
              <a:t>one-hot编码：</a:t>
            </a:r>
            <a:endParaRPr lang="zh-CN" sz="20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62D4FB35-6C73-CA0F-DE2B-5BAA980F01C8}"/>
              </a:ext>
            </a:extLst>
          </p:cNvPr>
          <p:cNvPicPr>
            <a:picLocks noChangeAspect="1"/>
          </p:cNvPicPr>
          <p:nvPr/>
        </p:nvPicPr>
        <p:blipFill>
          <a:blip r:embed="rId2"/>
          <a:stretch>
            <a:fillRect/>
          </a:stretch>
        </p:blipFill>
        <p:spPr>
          <a:xfrm>
            <a:off x="1565226" y="2451040"/>
            <a:ext cx="8484235" cy="1460500"/>
          </a:xfrm>
          <a:prstGeom prst="rect">
            <a:avLst/>
          </a:prstGeom>
        </p:spPr>
      </p:pic>
      <p:sp>
        <p:nvSpPr>
          <p:cNvPr id="8" name="圆角矩形 19">
            <a:extLst>
              <a:ext uri="{FF2B5EF4-FFF2-40B4-BE49-F238E27FC236}">
                <a16:creationId xmlns:a16="http://schemas.microsoft.com/office/drawing/2014/main" id="{F5237D9C-EDB6-CEFE-9A1F-9D92E3CCF6FA}"/>
              </a:ext>
            </a:extLst>
          </p:cNvPr>
          <p:cNvSpPr/>
          <p:nvPr/>
        </p:nvSpPr>
        <p:spPr>
          <a:xfrm>
            <a:off x="3297506" y="2408017"/>
            <a:ext cx="631190" cy="1477010"/>
          </a:xfrm>
          <a:prstGeom prst="roundRect">
            <a:avLst/>
          </a:prstGeom>
          <a:noFill/>
          <a:ln w="28575">
            <a:solidFill>
              <a:srgbClr val="FF33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20">
            <a:extLst>
              <a:ext uri="{FF2B5EF4-FFF2-40B4-BE49-F238E27FC236}">
                <a16:creationId xmlns:a16="http://schemas.microsoft.com/office/drawing/2014/main" id="{AD14CDB7-C996-F6C3-CB4C-423DC368668B}"/>
              </a:ext>
            </a:extLst>
          </p:cNvPr>
          <p:cNvSpPr/>
          <p:nvPr/>
        </p:nvSpPr>
        <p:spPr>
          <a:xfrm>
            <a:off x="8375601" y="2408017"/>
            <a:ext cx="842010" cy="1477010"/>
          </a:xfrm>
          <a:prstGeom prst="roundRect">
            <a:avLst/>
          </a:prstGeom>
          <a:noFill/>
          <a:ln w="28575">
            <a:solidFill>
              <a:srgbClr val="FF33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A66A62D4-2B66-F41B-DC8F-5F4B214B2FF7}"/>
              </a:ext>
            </a:extLst>
          </p:cNvPr>
          <p:cNvSpPr txBox="1"/>
          <p:nvPr/>
        </p:nvSpPr>
        <p:spPr>
          <a:xfrm>
            <a:off x="871805" y="4649144"/>
            <a:ext cx="4851400" cy="1823576"/>
          </a:xfrm>
          <a:prstGeom prst="rect">
            <a:avLst/>
          </a:prstGeom>
          <a:noFill/>
        </p:spPr>
        <p:txBody>
          <a:bodyPr wrap="square" rtlCol="0" anchor="t">
            <a:spAutoFit/>
          </a:bodyPr>
          <a:lstStyle/>
          <a:p>
            <a:pPr marL="285750" indent="-285750">
              <a:lnSpc>
                <a:spcPct val="125000"/>
              </a:lnSpc>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图中的Elevator和Renovation都是定类型数据。除去缺失值，Elevator分类有电梯和无电梯两种，因此可用</a:t>
            </a:r>
            <a:r>
              <a:rPr lang="en-US" altLang="zh-CN" dirty="0">
                <a:latin typeface="微软雅黑" panose="020B0503020204020204" pitchFamily="34" charset="-122"/>
                <a:ea typeface="微软雅黑" panose="020B0503020204020204" pitchFamily="34" charset="-122"/>
                <a:sym typeface="+mn-ea"/>
              </a:rPr>
              <a:t>01</a:t>
            </a:r>
            <a:r>
              <a:rPr lang="zh-CN" altLang="en-US" dirty="0">
                <a:latin typeface="微软雅黑" panose="020B0503020204020204" pitchFamily="34" charset="-122"/>
                <a:ea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sym typeface="+mn-ea"/>
              </a:rPr>
              <a:t>表示</a:t>
            </a:r>
            <a:r>
              <a:rPr lang="zh-CN" dirty="0">
                <a:latin typeface="微软雅黑" panose="020B0503020204020204" pitchFamily="34" charset="-122"/>
                <a:ea typeface="微软雅黑" panose="020B0503020204020204" pitchFamily="34" charset="-122"/>
                <a:sym typeface="+mn-ea"/>
              </a:rPr>
              <a:t>。</a:t>
            </a:r>
          </a:p>
          <a:p>
            <a:pPr marL="285750" indent="-285750">
              <a:lnSpc>
                <a:spcPct val="125000"/>
              </a:lnSpc>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Renovation分为有精装，简装，毛坯和其它四种，可用</a:t>
            </a:r>
            <a:r>
              <a:rPr lang="en-US" altLang="zh-CN" dirty="0">
                <a:latin typeface="微软雅黑" panose="020B0503020204020204" pitchFamily="34" charset="-122"/>
                <a:ea typeface="微软雅黑" panose="020B0503020204020204" pitchFamily="34" charset="-122"/>
                <a:sym typeface="+mn-ea"/>
              </a:rPr>
              <a:t>0001/0010/0100/1000</a:t>
            </a:r>
            <a:r>
              <a:rPr lang="zh-CN" altLang="en-US" dirty="0">
                <a:latin typeface="微软雅黑" panose="020B0503020204020204" pitchFamily="34" charset="-122"/>
                <a:ea typeface="微软雅黑" panose="020B0503020204020204" pitchFamily="34" charset="-122"/>
                <a:sym typeface="+mn-ea"/>
              </a:rPr>
              <a:t>表示</a:t>
            </a:r>
            <a:r>
              <a:rPr lang="zh-CN" dirty="0">
                <a:latin typeface="微软雅黑" panose="020B0503020204020204" pitchFamily="34" charset="-122"/>
                <a:ea typeface="微软雅黑" panose="020B0503020204020204" pitchFamily="34" charset="-122"/>
                <a:sym typeface="+mn-ea"/>
              </a:rPr>
              <a:t>。</a:t>
            </a:r>
            <a:endParaRPr lang="zh-CN" altLang="en-US" dirty="0"/>
          </a:p>
        </p:txBody>
      </p:sp>
      <p:pic>
        <p:nvPicPr>
          <p:cNvPr id="11" name="图片 10">
            <a:extLst>
              <a:ext uri="{FF2B5EF4-FFF2-40B4-BE49-F238E27FC236}">
                <a16:creationId xmlns:a16="http://schemas.microsoft.com/office/drawing/2014/main" id="{2135E3D7-3C3C-2130-75AC-A8CBFE38FF01}"/>
              </a:ext>
            </a:extLst>
          </p:cNvPr>
          <p:cNvPicPr>
            <a:picLocks noChangeAspect="1"/>
          </p:cNvPicPr>
          <p:nvPr/>
        </p:nvPicPr>
        <p:blipFill>
          <a:blip r:embed="rId3"/>
          <a:stretch>
            <a:fillRect/>
          </a:stretch>
        </p:blipFill>
        <p:spPr>
          <a:xfrm>
            <a:off x="6082322" y="3983452"/>
            <a:ext cx="3830707" cy="2489268"/>
          </a:xfrm>
          <a:prstGeom prst="rect">
            <a:avLst/>
          </a:prstGeom>
        </p:spPr>
      </p:pic>
    </p:spTree>
    <p:extLst>
      <p:ext uri="{BB962C8B-B14F-4D97-AF65-F5344CB8AC3E}">
        <p14:creationId xmlns:p14="http://schemas.microsoft.com/office/powerpoint/2010/main" val="748032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9"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4EB63A-FEBF-D040-61AB-387058E58952}"/>
              </a:ext>
            </a:extLst>
          </p:cNvPr>
          <p:cNvSpPr>
            <a:spLocks noGrp="1"/>
          </p:cNvSpPr>
          <p:nvPr>
            <p:ph type="title"/>
          </p:nvPr>
        </p:nvSpPr>
        <p:spPr/>
        <p:txBody>
          <a:bodyPr>
            <a:normAutofit fontScale="90000"/>
          </a:bodyPr>
          <a:lstStyle/>
          <a:p>
            <a:endParaRPr lang="zh-CN" altLang="en-US" dirty="0"/>
          </a:p>
        </p:txBody>
      </p:sp>
      <p:sp>
        <p:nvSpPr>
          <p:cNvPr id="3" name="矩形 2">
            <a:extLst>
              <a:ext uri="{FF2B5EF4-FFF2-40B4-BE49-F238E27FC236}">
                <a16:creationId xmlns:a16="http://schemas.microsoft.com/office/drawing/2014/main" id="{36FA796C-BCE0-9402-4CFF-788057E5D81D}"/>
              </a:ext>
            </a:extLst>
          </p:cNvPr>
          <p:cNvSpPr/>
          <p:nvPr/>
        </p:nvSpPr>
        <p:spPr>
          <a:xfrm>
            <a:off x="10181084" y="5832694"/>
            <a:ext cx="893583" cy="323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80A794C-D8FD-F03C-BD1C-32DFF7D5DE2D}"/>
              </a:ext>
            </a:extLst>
          </p:cNvPr>
          <p:cNvSpPr/>
          <p:nvPr/>
        </p:nvSpPr>
        <p:spPr>
          <a:xfrm>
            <a:off x="1454417" y="400051"/>
            <a:ext cx="2253034" cy="645160"/>
          </a:xfrm>
          <a:prstGeom prst="rect">
            <a:avLst/>
          </a:prstGeom>
        </p:spPr>
        <p:txBody>
          <a:bodyPr wrap="square">
            <a:spAutoFit/>
          </a:bodyPr>
          <a:lstStyle/>
          <a:p>
            <a:r>
              <a:rPr kumimoji="1" lang="zh-CN" altLang="en-US" sz="3600" b="1" dirty="0">
                <a:latin typeface="微软雅黑" panose="020B0503020204020204" pitchFamily="34" charset="-122"/>
                <a:ea typeface="微软雅黑" panose="020B0503020204020204" pitchFamily="34" charset="-122"/>
              </a:rPr>
              <a:t>特征编码</a:t>
            </a:r>
          </a:p>
        </p:txBody>
      </p:sp>
      <p:sp>
        <p:nvSpPr>
          <p:cNvPr id="5" name="文本框 4">
            <a:extLst>
              <a:ext uri="{FF2B5EF4-FFF2-40B4-BE49-F238E27FC236}">
                <a16:creationId xmlns:a16="http://schemas.microsoft.com/office/drawing/2014/main" id="{C2082A6A-33B9-6C40-0D91-E78D6E29B78C}"/>
              </a:ext>
            </a:extLst>
          </p:cNvPr>
          <p:cNvSpPr txBox="1"/>
          <p:nvPr/>
        </p:nvSpPr>
        <p:spPr>
          <a:xfrm>
            <a:off x="909269" y="3800261"/>
            <a:ext cx="5186045" cy="430887"/>
          </a:xfrm>
          <a:prstGeom prst="rect">
            <a:avLst/>
          </a:prstGeom>
          <a:noFill/>
        </p:spPr>
        <p:txBody>
          <a:bodyPr wrap="square" rtlCol="0" anchor="t">
            <a:spAutoFit/>
          </a:bodyPr>
          <a:lstStyle/>
          <a:p>
            <a:pPr marL="342900" indent="-342900">
              <a:buFont typeface="Wingdings" panose="05000000000000000000" charset="0"/>
              <a:buChar char=""/>
            </a:pPr>
            <a:r>
              <a:rPr lang="zh-CN" sz="2200" b="1" dirty="0">
                <a:solidFill>
                  <a:srgbClr val="0432FF"/>
                </a:solidFill>
                <a:latin typeface="微软雅黑" panose="020B0503020204020204" pitchFamily="34" charset="-122"/>
                <a:ea typeface="微软雅黑" panose="020B0503020204020204" pitchFamily="34" charset="-122"/>
              </a:rPr>
              <a:t>one-hot编码：</a:t>
            </a:r>
            <a:endParaRPr lang="zh-CN" sz="2000" dirty="0">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CD1E49F-F3F0-4FC8-740E-83CFD1C89F76}"/>
              </a:ext>
            </a:extLst>
          </p:cNvPr>
          <p:cNvPicPr>
            <a:picLocks noChangeAspect="1"/>
          </p:cNvPicPr>
          <p:nvPr/>
        </p:nvPicPr>
        <p:blipFill>
          <a:blip r:embed="rId2"/>
          <a:stretch>
            <a:fillRect/>
          </a:stretch>
        </p:blipFill>
        <p:spPr>
          <a:xfrm>
            <a:off x="1454417" y="2180751"/>
            <a:ext cx="8484235" cy="1460500"/>
          </a:xfrm>
          <a:prstGeom prst="rect">
            <a:avLst/>
          </a:prstGeom>
        </p:spPr>
      </p:pic>
      <p:sp>
        <p:nvSpPr>
          <p:cNvPr id="7" name="圆角矩形 19">
            <a:extLst>
              <a:ext uri="{FF2B5EF4-FFF2-40B4-BE49-F238E27FC236}">
                <a16:creationId xmlns:a16="http://schemas.microsoft.com/office/drawing/2014/main" id="{D5426308-291B-53D5-EB25-A51226A763A2}"/>
              </a:ext>
            </a:extLst>
          </p:cNvPr>
          <p:cNvSpPr/>
          <p:nvPr/>
        </p:nvSpPr>
        <p:spPr>
          <a:xfrm>
            <a:off x="3186697" y="2185906"/>
            <a:ext cx="631190" cy="1477010"/>
          </a:xfrm>
          <a:prstGeom prst="roundRect">
            <a:avLst/>
          </a:prstGeom>
          <a:noFill/>
          <a:ln w="28575">
            <a:solidFill>
              <a:srgbClr val="FF33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20">
            <a:extLst>
              <a:ext uri="{FF2B5EF4-FFF2-40B4-BE49-F238E27FC236}">
                <a16:creationId xmlns:a16="http://schemas.microsoft.com/office/drawing/2014/main" id="{06997AF3-9402-9A50-E397-2EB9BA67439F}"/>
              </a:ext>
            </a:extLst>
          </p:cNvPr>
          <p:cNvSpPr/>
          <p:nvPr/>
        </p:nvSpPr>
        <p:spPr>
          <a:xfrm>
            <a:off x="8264792" y="2174755"/>
            <a:ext cx="842010" cy="1477010"/>
          </a:xfrm>
          <a:prstGeom prst="roundRect">
            <a:avLst/>
          </a:prstGeom>
          <a:noFill/>
          <a:ln w="28575">
            <a:solidFill>
              <a:srgbClr val="FF3300"/>
            </a:solidFill>
            <a:prstDash val="solid"/>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BFE5B4CC-AA13-6B0A-F97F-3DBF0B0363C5}"/>
              </a:ext>
            </a:extLst>
          </p:cNvPr>
          <p:cNvSpPr txBox="1"/>
          <p:nvPr/>
        </p:nvSpPr>
        <p:spPr>
          <a:xfrm>
            <a:off x="5968682" y="3774678"/>
            <a:ext cx="5287645" cy="1219565"/>
          </a:xfrm>
          <a:prstGeom prst="rect">
            <a:avLst/>
          </a:prstGeom>
          <a:noFill/>
        </p:spPr>
        <p:txBody>
          <a:bodyPr wrap="square" rtlCol="0" anchor="t">
            <a:spAutoFit/>
          </a:bodyPr>
          <a:lstStyle/>
          <a:p>
            <a:pPr marL="342900" indent="-342900">
              <a:lnSpc>
                <a:spcPct val="125000"/>
              </a:lnSpc>
              <a:buFont typeface="Wingdings" panose="05000000000000000000" charset="0"/>
              <a:buChar char=""/>
            </a:pPr>
            <a:r>
              <a:rPr lang="zh-CN" sz="2200" b="1" dirty="0">
                <a:solidFill>
                  <a:srgbClr val="0432FF"/>
                </a:solidFill>
                <a:latin typeface="微软雅黑" panose="020B0503020204020204" pitchFamily="34" charset="-122"/>
                <a:ea typeface="微软雅黑" panose="020B0503020204020204" pitchFamily="34" charset="-122"/>
                <a:sym typeface="+mn-ea"/>
              </a:rPr>
              <a:t>语义编码：</a:t>
            </a:r>
            <a:r>
              <a:rPr lang="en-US" altLang="zh-CN" sz="2000" dirty="0">
                <a:latin typeface="微软雅黑" panose="020B0503020204020204" pitchFamily="34" charset="-122"/>
                <a:ea typeface="微软雅黑" panose="020B0503020204020204" pitchFamily="34" charset="-122"/>
                <a:sym typeface="+mn-ea"/>
              </a:rPr>
              <a:t>one-hot</a:t>
            </a:r>
            <a:r>
              <a:rPr lang="zh-CN" altLang="en-US" sz="2000" dirty="0">
                <a:latin typeface="微软雅黑" panose="020B0503020204020204" pitchFamily="34" charset="-122"/>
                <a:ea typeface="微软雅黑" panose="020B0503020204020204" pitchFamily="34" charset="-122"/>
                <a:sym typeface="+mn-ea"/>
              </a:rPr>
              <a:t>编码无法体现数据间的</a:t>
            </a:r>
            <a:r>
              <a:rPr lang="zh-CN" altLang="en-US" sz="2000" b="1" dirty="0">
                <a:latin typeface="微软雅黑" panose="020B0503020204020204" pitchFamily="34" charset="-122"/>
                <a:ea typeface="微软雅黑" panose="020B0503020204020204" pitchFamily="34" charset="-122"/>
                <a:sym typeface="+mn-ea"/>
              </a:rPr>
              <a:t>语义关系</a:t>
            </a:r>
            <a:r>
              <a:rPr lang="zh-CN" altLang="en-US" sz="2000" dirty="0">
                <a:latin typeface="微软雅黑" panose="020B0503020204020204" pitchFamily="34" charset="-122"/>
                <a:ea typeface="微软雅黑" panose="020B0503020204020204" pitchFamily="34" charset="-122"/>
                <a:sym typeface="+mn-ea"/>
              </a:rPr>
              <a:t>，</a:t>
            </a:r>
            <a:r>
              <a:rPr lang="zh-CN" dirty="0">
                <a:latin typeface="微软雅黑" panose="020B0503020204020204" pitchFamily="34" charset="-122"/>
                <a:ea typeface="微软雅黑" panose="020B0503020204020204" pitchFamily="34" charset="-122"/>
                <a:sym typeface="+mn-ea"/>
              </a:rPr>
              <a:t>对于一些有关联的文本信息来说，无法真正体现出数据关联。</a:t>
            </a:r>
            <a:endParaRPr lang="zh-CN" altLang="en-US" dirty="0"/>
          </a:p>
        </p:txBody>
      </p:sp>
      <p:sp>
        <p:nvSpPr>
          <p:cNvPr id="10" name="文本框 9">
            <a:extLst>
              <a:ext uri="{FF2B5EF4-FFF2-40B4-BE49-F238E27FC236}">
                <a16:creationId xmlns:a16="http://schemas.microsoft.com/office/drawing/2014/main" id="{7BAD7B74-017A-41A6-4062-1BB22B1F71CB}"/>
              </a:ext>
            </a:extLst>
          </p:cNvPr>
          <p:cNvSpPr txBox="1"/>
          <p:nvPr/>
        </p:nvSpPr>
        <p:spPr>
          <a:xfrm>
            <a:off x="968024" y="4289963"/>
            <a:ext cx="4851400" cy="1754326"/>
          </a:xfrm>
          <a:prstGeom prst="rect">
            <a:avLst/>
          </a:prstGeom>
          <a:noFill/>
        </p:spPr>
        <p:txBody>
          <a:bodyPr wrap="square" rtlCol="0" anchor="t">
            <a:spAutoFit/>
          </a:bodyPr>
          <a:lstStyle/>
          <a:p>
            <a:pPr marL="285750" indent="-285750">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图中的Elevator和Renovation都是定类型数据。除去缺失值，Elevator分类有电梯和无电梯两种，因此可用</a:t>
            </a:r>
            <a:r>
              <a:rPr lang="en-US" altLang="zh-CN" dirty="0">
                <a:latin typeface="微软雅黑" panose="020B0503020204020204" pitchFamily="34" charset="-122"/>
                <a:ea typeface="微软雅黑" panose="020B0503020204020204" pitchFamily="34" charset="-122"/>
                <a:sym typeface="+mn-ea"/>
              </a:rPr>
              <a:t>01</a:t>
            </a:r>
            <a:r>
              <a:rPr lang="zh-CN" altLang="en-US" dirty="0">
                <a:latin typeface="微软雅黑" panose="020B0503020204020204" pitchFamily="34" charset="-122"/>
                <a:ea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sym typeface="+mn-ea"/>
              </a:rPr>
              <a:t>10</a:t>
            </a:r>
            <a:r>
              <a:rPr lang="zh-CN" altLang="en-US" dirty="0">
                <a:latin typeface="微软雅黑" panose="020B0503020204020204" pitchFamily="34" charset="-122"/>
                <a:ea typeface="微软雅黑" panose="020B0503020204020204" pitchFamily="34" charset="-122"/>
                <a:sym typeface="+mn-ea"/>
              </a:rPr>
              <a:t>表示</a:t>
            </a:r>
            <a:r>
              <a:rPr lang="zh-CN" dirty="0">
                <a:latin typeface="微软雅黑" panose="020B0503020204020204" pitchFamily="34" charset="-122"/>
                <a:ea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endParaRPr lang="zh-CN"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Renovation分为有精装，简装，毛坯和其它四种，可用</a:t>
            </a:r>
            <a:r>
              <a:rPr lang="en-US" altLang="zh-CN" dirty="0">
                <a:latin typeface="微软雅黑" panose="020B0503020204020204" pitchFamily="34" charset="-122"/>
                <a:ea typeface="微软雅黑" panose="020B0503020204020204" pitchFamily="34" charset="-122"/>
                <a:sym typeface="+mn-ea"/>
              </a:rPr>
              <a:t>0001/0010/0100/1000</a:t>
            </a:r>
            <a:r>
              <a:rPr lang="zh-CN" altLang="en-US" dirty="0">
                <a:latin typeface="微软雅黑" panose="020B0503020204020204" pitchFamily="34" charset="-122"/>
                <a:ea typeface="微软雅黑" panose="020B0503020204020204" pitchFamily="34" charset="-122"/>
                <a:sym typeface="+mn-ea"/>
              </a:rPr>
              <a:t>表示</a:t>
            </a:r>
            <a:r>
              <a:rPr lang="zh-CN" dirty="0">
                <a:latin typeface="微软雅黑" panose="020B0503020204020204" pitchFamily="34" charset="-122"/>
                <a:ea typeface="微软雅黑" panose="020B0503020204020204" pitchFamily="34" charset="-122"/>
                <a:sym typeface="+mn-ea"/>
              </a:rPr>
              <a:t>。</a:t>
            </a:r>
            <a:endParaRPr lang="zh-CN" altLang="en-US" dirty="0"/>
          </a:p>
        </p:txBody>
      </p:sp>
      <p:sp>
        <p:nvSpPr>
          <p:cNvPr id="11" name="文本框 10">
            <a:extLst>
              <a:ext uri="{FF2B5EF4-FFF2-40B4-BE49-F238E27FC236}">
                <a16:creationId xmlns:a16="http://schemas.microsoft.com/office/drawing/2014/main" id="{F6A2A527-F49A-73D4-42CE-60D4A83B4720}"/>
              </a:ext>
            </a:extLst>
          </p:cNvPr>
          <p:cNvSpPr txBox="1"/>
          <p:nvPr/>
        </p:nvSpPr>
        <p:spPr>
          <a:xfrm>
            <a:off x="6353175" y="5071915"/>
            <a:ext cx="5060950" cy="1477328"/>
          </a:xfrm>
          <a:prstGeom prst="rect">
            <a:avLst/>
          </a:prstGeom>
          <a:noFill/>
        </p:spPr>
        <p:txBody>
          <a:bodyPr wrap="square" rtlCol="0" anchor="t">
            <a:spAutoFit/>
          </a:bodyPr>
          <a:lstStyle/>
          <a:p>
            <a:pPr marL="285750" indent="-285750">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对于这一类信息通常采用词嵌入（word embedding）的方式是比较好的选择。</a:t>
            </a:r>
            <a:endParaRPr lang="en-US" altLang="zh-CN"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endParaRPr lang="en-US" altLang="zh-CN" dirty="0">
              <a:latin typeface="微软雅黑" panose="020B0503020204020204" pitchFamily="34" charset="-122"/>
              <a:ea typeface="微软雅黑" panose="020B0503020204020204" pitchFamily="34" charset="-122"/>
              <a:sym typeface="+mn-ea"/>
            </a:endParaRPr>
          </a:p>
          <a:p>
            <a:pPr marL="285750" indent="-285750">
              <a:buFont typeface="Wingdings" panose="05000000000000000000" charset="0"/>
              <a:buChar char=""/>
            </a:pPr>
            <a:r>
              <a:rPr lang="zh-CN" dirty="0">
                <a:latin typeface="微软雅黑" panose="020B0503020204020204" pitchFamily="34" charset="-122"/>
                <a:ea typeface="微软雅黑" panose="020B0503020204020204" pitchFamily="34" charset="-122"/>
                <a:sym typeface="+mn-ea"/>
              </a:rPr>
              <a:t>目前在这一领域比较好的方法是基于google的word2vec方法。</a:t>
            </a:r>
            <a:endParaRPr lang="zh-CN" altLang="en-US" dirty="0"/>
          </a:p>
        </p:txBody>
      </p:sp>
      <p:pic>
        <p:nvPicPr>
          <p:cNvPr id="12" name="图片 11">
            <a:extLst>
              <a:ext uri="{FF2B5EF4-FFF2-40B4-BE49-F238E27FC236}">
                <a16:creationId xmlns:a16="http://schemas.microsoft.com/office/drawing/2014/main" id="{340C40A5-8CAC-DE8C-71DD-E7223B3F161C}"/>
              </a:ext>
            </a:extLst>
          </p:cNvPr>
          <p:cNvPicPr>
            <a:picLocks noChangeAspect="1"/>
          </p:cNvPicPr>
          <p:nvPr/>
        </p:nvPicPr>
        <p:blipFill>
          <a:blip r:embed="rId3"/>
          <a:stretch>
            <a:fillRect/>
          </a:stretch>
        </p:blipFill>
        <p:spPr>
          <a:xfrm>
            <a:off x="1084262" y="3027170"/>
            <a:ext cx="4709428" cy="3011357"/>
          </a:xfrm>
          <a:prstGeom prst="rect">
            <a:avLst/>
          </a:prstGeom>
        </p:spPr>
      </p:pic>
      <p:pic>
        <p:nvPicPr>
          <p:cNvPr id="13" name="图片 12">
            <a:extLst>
              <a:ext uri="{FF2B5EF4-FFF2-40B4-BE49-F238E27FC236}">
                <a16:creationId xmlns:a16="http://schemas.microsoft.com/office/drawing/2014/main" id="{6B5A0225-47B8-D4FB-B78E-2F7B2359764E}"/>
              </a:ext>
            </a:extLst>
          </p:cNvPr>
          <p:cNvPicPr>
            <a:picLocks noChangeAspect="1"/>
          </p:cNvPicPr>
          <p:nvPr/>
        </p:nvPicPr>
        <p:blipFill>
          <a:blip r:embed="rId4"/>
          <a:stretch>
            <a:fillRect/>
          </a:stretch>
        </p:blipFill>
        <p:spPr>
          <a:xfrm>
            <a:off x="1203686" y="5966232"/>
            <a:ext cx="4380076" cy="549921"/>
          </a:xfrm>
          <a:prstGeom prst="rect">
            <a:avLst/>
          </a:prstGeom>
        </p:spPr>
      </p:pic>
      <p:sp>
        <p:nvSpPr>
          <p:cNvPr id="14" name="矩形 13">
            <a:extLst>
              <a:ext uri="{FF2B5EF4-FFF2-40B4-BE49-F238E27FC236}">
                <a16:creationId xmlns:a16="http://schemas.microsoft.com/office/drawing/2014/main" id="{9F4BF86F-77CB-51D9-9731-C2C903FEB8BD}"/>
              </a:ext>
            </a:extLst>
          </p:cNvPr>
          <p:cNvSpPr/>
          <p:nvPr/>
        </p:nvSpPr>
        <p:spPr>
          <a:xfrm>
            <a:off x="175510" y="1097930"/>
            <a:ext cx="11608659" cy="973472"/>
          </a:xfrm>
          <a:prstGeom prst="rect">
            <a:avLst/>
          </a:prstGeom>
        </p:spPr>
        <p:txBody>
          <a:bodyPr wrap="square">
            <a:spAutoFit/>
          </a:bodyPr>
          <a:lstStyle/>
          <a:p>
            <a:pPr indent="540000" fontAlgn="auto">
              <a:lnSpc>
                <a:spcPct val="125000"/>
              </a:lnSpc>
            </a:pPr>
            <a:r>
              <a:rPr lang="zh-CN" sz="2400" dirty="0">
                <a:latin typeface="微软雅黑" panose="020B0503020204020204" pitchFamily="34" charset="-122"/>
                <a:ea typeface="微软雅黑" panose="020B0503020204020204" pitchFamily="34" charset="-122"/>
              </a:rPr>
              <a:t>数据集中</a:t>
            </a:r>
            <a:r>
              <a:rPr sz="2400" dirty="0">
                <a:latin typeface="微软雅黑" panose="020B0503020204020204" pitchFamily="34" charset="-122"/>
                <a:ea typeface="微软雅黑" panose="020B0503020204020204" pitchFamily="34" charset="-122"/>
              </a:rPr>
              <a:t>经常会</a:t>
            </a:r>
            <a:r>
              <a:rPr lang="zh-CN" sz="2400" dirty="0">
                <a:latin typeface="微软雅黑" panose="020B0503020204020204" pitchFamily="34" charset="-122"/>
                <a:ea typeface="微软雅黑" panose="020B0503020204020204" pitchFamily="34" charset="-122"/>
              </a:rPr>
              <a:t>出现</a:t>
            </a:r>
            <a:r>
              <a:rPr sz="2400" dirty="0">
                <a:latin typeface="微软雅黑" panose="020B0503020204020204" pitchFamily="34" charset="-122"/>
                <a:ea typeface="微软雅黑" panose="020B0503020204020204" pitchFamily="34" charset="-122"/>
              </a:rPr>
              <a:t>字符串信息，例如男女</a:t>
            </a:r>
            <a:r>
              <a:rPr lang="zh-CN" sz="2400" dirty="0">
                <a:latin typeface="微软雅黑" panose="020B0503020204020204" pitchFamily="34" charset="-122"/>
                <a:ea typeface="微软雅黑" panose="020B0503020204020204" pitchFamily="34" charset="-122"/>
              </a:rPr>
              <a:t>、</a:t>
            </a:r>
            <a:r>
              <a:rPr sz="2400" dirty="0">
                <a:latin typeface="微软雅黑" panose="020B0503020204020204" pitchFamily="34" charset="-122"/>
                <a:ea typeface="微软雅黑" panose="020B0503020204020204" pitchFamily="34" charset="-122"/>
              </a:rPr>
              <a:t>高中低等，这类信息不能直接用于算法计算，需要将</a:t>
            </a:r>
            <a:r>
              <a:rPr lang="zh-CN" sz="2400" dirty="0">
                <a:latin typeface="微软雅黑" panose="020B0503020204020204" pitchFamily="34" charset="-122"/>
                <a:ea typeface="微软雅黑" panose="020B0503020204020204" pitchFamily="34" charset="-122"/>
              </a:rPr>
              <a:t>这些</a:t>
            </a:r>
            <a:r>
              <a:rPr sz="2400" b="1" dirty="0">
                <a:solidFill>
                  <a:schemeClr val="accent2">
                    <a:lumMod val="75000"/>
                  </a:schemeClr>
                </a:solidFill>
                <a:latin typeface="微软雅黑" panose="020B0503020204020204" pitchFamily="34" charset="-122"/>
                <a:ea typeface="微软雅黑" panose="020B0503020204020204" pitchFamily="34" charset="-122"/>
              </a:rPr>
              <a:t>数据转化为数值形式</a:t>
            </a:r>
            <a:r>
              <a:rPr sz="2400" dirty="0">
                <a:latin typeface="微软雅黑" panose="020B0503020204020204" pitchFamily="34" charset="-122"/>
                <a:ea typeface="微软雅黑" panose="020B0503020204020204" pitchFamily="34" charset="-122"/>
              </a:rPr>
              <a:t>进行编码，便于后期</a:t>
            </a:r>
            <a:r>
              <a:rPr lang="zh-CN" sz="2400" dirty="0">
                <a:latin typeface="微软雅黑" panose="020B0503020204020204" pitchFamily="34" charset="-122"/>
                <a:ea typeface="微软雅黑" panose="020B0503020204020204" pitchFamily="34" charset="-122"/>
              </a:rPr>
              <a:t>进行建模</a:t>
            </a:r>
            <a:r>
              <a:rPr lang="zh-CN" altLang="en-US" sz="2400"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825447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A7FB4-C12D-089E-B978-9004C417532A}"/>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7A4C7BD6-0BA4-C828-A630-63E63E1360B1}"/>
              </a:ext>
            </a:extLst>
          </p:cNvPr>
          <p:cNvSpPr/>
          <p:nvPr/>
        </p:nvSpPr>
        <p:spPr>
          <a:xfrm>
            <a:off x="183975" y="1317812"/>
            <a:ext cx="11574436" cy="1592744"/>
          </a:xfrm>
          <a:prstGeom prst="rect">
            <a:avLst/>
          </a:prstGeom>
        </p:spPr>
        <p:txBody>
          <a:bodyPr wrap="square">
            <a:spAutoFit/>
          </a:bodyPr>
          <a:lstStyle/>
          <a:p>
            <a:pPr indent="540000" fontAlgn="auto">
              <a:lnSpc>
                <a:spcPct val="125000"/>
              </a:lnSpc>
            </a:pPr>
            <a:r>
              <a:rPr sz="2600" dirty="0">
                <a:latin typeface="微软雅黑" panose="020B0503020204020204" pitchFamily="34" charset="-122"/>
                <a:ea typeface="微软雅黑" panose="020B0503020204020204" pitchFamily="34" charset="-122"/>
              </a:rPr>
              <a:t>不同属性具有不同量级时</a:t>
            </a:r>
            <a:r>
              <a:rPr lang="zh-CN" sz="2600" dirty="0">
                <a:latin typeface="微软雅黑" panose="020B0503020204020204" pitchFamily="34" charset="-122"/>
                <a:ea typeface="微软雅黑" panose="020B0503020204020204" pitchFamily="34" charset="-122"/>
              </a:rPr>
              <a:t>会导致</a:t>
            </a:r>
            <a:r>
              <a:rPr sz="2600" dirty="0">
                <a:latin typeface="微软雅黑" panose="020B0503020204020204" pitchFamily="34" charset="-122"/>
                <a:ea typeface="微软雅黑" panose="020B0503020204020204" pitchFamily="34" charset="-122"/>
              </a:rPr>
              <a:t>：①数量级的差异将导致量级较大的属性占据主导地位；②数量级的差异将导致迭代收敛速度减慢；③依赖于样本距离的算法对于数据的数量级非常敏感。</a:t>
            </a:r>
          </a:p>
        </p:txBody>
      </p:sp>
      <p:sp>
        <p:nvSpPr>
          <p:cNvPr id="4" name="矩形 3">
            <a:extLst>
              <a:ext uri="{FF2B5EF4-FFF2-40B4-BE49-F238E27FC236}">
                <a16:creationId xmlns:a16="http://schemas.microsoft.com/office/drawing/2014/main" id="{D0D15F93-EBF0-C3EA-5596-645D089997DB}"/>
              </a:ext>
            </a:extLst>
          </p:cNvPr>
          <p:cNvSpPr/>
          <p:nvPr/>
        </p:nvSpPr>
        <p:spPr>
          <a:xfrm>
            <a:off x="1467441" y="400051"/>
            <a:ext cx="3183049" cy="645160"/>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规范化</a:t>
            </a:r>
          </a:p>
        </p:txBody>
      </p:sp>
      <p:sp>
        <p:nvSpPr>
          <p:cNvPr id="5" name="文本框 4">
            <a:extLst>
              <a:ext uri="{FF2B5EF4-FFF2-40B4-BE49-F238E27FC236}">
                <a16:creationId xmlns:a16="http://schemas.microsoft.com/office/drawing/2014/main" id="{A380FD9B-5085-31E8-36CD-C973BDC89A9B}"/>
              </a:ext>
            </a:extLst>
          </p:cNvPr>
          <p:cNvSpPr txBox="1"/>
          <p:nvPr/>
        </p:nvSpPr>
        <p:spPr>
          <a:xfrm>
            <a:off x="971387" y="2987760"/>
            <a:ext cx="4783455" cy="1568450"/>
          </a:xfrm>
          <a:prstGeom prst="rect">
            <a:avLst/>
          </a:prstGeom>
          <a:noFill/>
        </p:spPr>
        <p:txBody>
          <a:bodyPr wrap="square" rtlCol="0" anchor="t">
            <a:spAutoFit/>
          </a:bodyPr>
          <a:lstStyle/>
          <a:p>
            <a:pPr marL="342900" indent="-342900">
              <a:buFont typeface="Wingdings" panose="05000000000000000000" charset="0"/>
              <a:buChar char=""/>
            </a:pPr>
            <a:r>
              <a:rPr lang="zh-CN" altLang="en-US" sz="2400" b="1" dirty="0">
                <a:solidFill>
                  <a:srgbClr val="009900"/>
                </a:solidFill>
                <a:latin typeface="微软雅黑" panose="020B0503020204020204" pitchFamily="34" charset="-122"/>
                <a:ea typeface="微软雅黑" panose="020B0503020204020204" pitchFamily="34" charset="-122"/>
              </a:rPr>
              <a:t>标准化</a:t>
            </a:r>
            <a:endParaRPr lang="en-US" altLang="zh-CN" sz="24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400" dirty="0">
                <a:latin typeface="微软雅黑" panose="020B0503020204020204" pitchFamily="34" charset="-122"/>
                <a:ea typeface="微软雅黑" panose="020B0503020204020204" pitchFamily="34" charset="-122"/>
              </a:rPr>
              <a:t>    通过减去均值然后除以方差（或标准差），</a:t>
            </a:r>
            <a:r>
              <a:rPr sz="2400" dirty="0" err="1">
                <a:latin typeface="微软雅黑" panose="020B0503020204020204" pitchFamily="34" charset="-122"/>
                <a:ea typeface="微软雅黑" panose="020B0503020204020204" pitchFamily="34" charset="-122"/>
                <a:sym typeface="+mn-ea"/>
              </a:rPr>
              <a:t>将数据按比例缩放，使之落入一个小的特定区间</a:t>
            </a:r>
            <a:r>
              <a:rPr lang="zh-CN" sz="2400" dirty="0">
                <a:latin typeface="微软雅黑" panose="020B0503020204020204" pitchFamily="34" charset="-122"/>
                <a:ea typeface="微软雅黑" panose="020B0503020204020204" pitchFamily="34" charset="-122"/>
                <a:sym typeface="+mn-ea"/>
              </a:rPr>
              <a:t>。</a:t>
            </a:r>
          </a:p>
        </p:txBody>
      </p:sp>
      <p:sp>
        <p:nvSpPr>
          <p:cNvPr id="6" name="文本框 5">
            <a:extLst>
              <a:ext uri="{FF2B5EF4-FFF2-40B4-BE49-F238E27FC236}">
                <a16:creationId xmlns:a16="http://schemas.microsoft.com/office/drawing/2014/main" id="{4324CEBD-50A4-AFFF-D092-9B9003B9BF5B}"/>
              </a:ext>
            </a:extLst>
          </p:cNvPr>
          <p:cNvSpPr txBox="1"/>
          <p:nvPr/>
        </p:nvSpPr>
        <p:spPr>
          <a:xfrm>
            <a:off x="6073612" y="3022050"/>
            <a:ext cx="4941570" cy="1198880"/>
          </a:xfrm>
          <a:prstGeom prst="rect">
            <a:avLst/>
          </a:prstGeom>
          <a:noFill/>
        </p:spPr>
        <p:txBody>
          <a:bodyPr wrap="square" rtlCol="0" anchor="t">
            <a:spAutoFit/>
          </a:bodyPr>
          <a:lstStyle/>
          <a:p>
            <a:pPr marL="342900" indent="-342900">
              <a:buFont typeface="Wingdings" panose="05000000000000000000" charset="0"/>
              <a:buChar char=""/>
            </a:pPr>
            <a:r>
              <a:rPr lang="zh-CN" altLang="en-US" sz="2400" b="1" dirty="0">
                <a:solidFill>
                  <a:srgbClr val="009900"/>
                </a:solidFill>
                <a:latin typeface="微软雅黑" panose="020B0503020204020204" pitchFamily="34" charset="-122"/>
                <a:ea typeface="微软雅黑" panose="020B0503020204020204" pitchFamily="34" charset="-122"/>
              </a:rPr>
              <a:t>区间缩放</a:t>
            </a:r>
            <a:endParaRPr lang="en-US" altLang="zh-CN" sz="24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400" dirty="0">
                <a:latin typeface="微软雅黑" panose="020B0503020204020204" pitchFamily="34" charset="-122"/>
                <a:ea typeface="微软雅黑" panose="020B0503020204020204" pitchFamily="34" charset="-122"/>
              </a:rPr>
              <a:t>     </a:t>
            </a:r>
            <a:r>
              <a:rPr sz="2400" dirty="0">
                <a:latin typeface="微软雅黑" panose="020B0503020204020204" pitchFamily="34" charset="-122"/>
                <a:ea typeface="微软雅黑" panose="020B0503020204020204" pitchFamily="34" charset="-122"/>
                <a:sym typeface="+mn-ea"/>
              </a:rPr>
              <a:t>将属性缩放到一个指定的最大和最小值（通常是1-0）之间</a:t>
            </a:r>
            <a:r>
              <a:rPr lang="zh-CN" sz="2400" dirty="0">
                <a:latin typeface="微软雅黑" panose="020B0503020204020204" pitchFamily="34" charset="-122"/>
                <a:ea typeface="微软雅黑" panose="020B0503020204020204" pitchFamily="34" charset="-122"/>
                <a:sym typeface="+mn-ea"/>
              </a:rPr>
              <a:t>。</a:t>
            </a:r>
          </a:p>
        </p:txBody>
      </p:sp>
      <p:sp>
        <p:nvSpPr>
          <p:cNvPr id="7" name="文本框 6">
            <a:extLst>
              <a:ext uri="{FF2B5EF4-FFF2-40B4-BE49-F238E27FC236}">
                <a16:creationId xmlns:a16="http://schemas.microsoft.com/office/drawing/2014/main" id="{ECD4AF6B-ED59-68CC-E9B6-37B6CD3EA5D9}"/>
              </a:ext>
            </a:extLst>
          </p:cNvPr>
          <p:cNvSpPr txBox="1"/>
          <p:nvPr/>
        </p:nvSpPr>
        <p:spPr>
          <a:xfrm>
            <a:off x="6733377" y="4169495"/>
            <a:ext cx="3702050" cy="521970"/>
          </a:xfrm>
          <a:prstGeom prst="rect">
            <a:avLst/>
          </a:prstGeom>
          <a:noFill/>
        </p:spPr>
        <p:txBody>
          <a:bodyPr wrap="square" rtlCol="0" anchor="t">
            <a:spAutoFit/>
          </a:bodyPr>
          <a:lstStyle/>
          <a:p>
            <a:r>
              <a:rPr lang="zh-CN" altLang="en-US" sz="2800" dirty="0"/>
              <a:t>x = (x-min)/(max-min)</a:t>
            </a:r>
          </a:p>
        </p:txBody>
      </p:sp>
      <p:sp>
        <p:nvSpPr>
          <p:cNvPr id="8" name="文本框 7">
            <a:extLst>
              <a:ext uri="{FF2B5EF4-FFF2-40B4-BE49-F238E27FC236}">
                <a16:creationId xmlns:a16="http://schemas.microsoft.com/office/drawing/2014/main" id="{DAE45767-050A-BC6F-5C90-D29EF55CA671}"/>
              </a:ext>
            </a:extLst>
          </p:cNvPr>
          <p:cNvSpPr txBox="1"/>
          <p:nvPr/>
        </p:nvSpPr>
        <p:spPr>
          <a:xfrm>
            <a:off x="1680682" y="4556210"/>
            <a:ext cx="2540000" cy="521970"/>
          </a:xfrm>
          <a:prstGeom prst="rect">
            <a:avLst/>
          </a:prstGeom>
          <a:noFill/>
        </p:spPr>
        <p:txBody>
          <a:bodyPr wrap="square" rtlCol="0" anchor="t">
            <a:spAutoFit/>
          </a:bodyPr>
          <a:lstStyle/>
          <a:p>
            <a:r>
              <a:rPr lang="zh-CN" altLang="en-US" sz="2800"/>
              <a:t>x =(x - 𝜇  ) / 𝜎</a:t>
            </a:r>
          </a:p>
        </p:txBody>
      </p:sp>
      <p:sp>
        <p:nvSpPr>
          <p:cNvPr id="9" name="文本框 8">
            <a:extLst>
              <a:ext uri="{FF2B5EF4-FFF2-40B4-BE49-F238E27FC236}">
                <a16:creationId xmlns:a16="http://schemas.microsoft.com/office/drawing/2014/main" id="{8BBBBF1A-588E-573C-CA9B-FE7E2F86F15B}"/>
              </a:ext>
            </a:extLst>
          </p:cNvPr>
          <p:cNvSpPr txBox="1"/>
          <p:nvPr/>
        </p:nvSpPr>
        <p:spPr>
          <a:xfrm>
            <a:off x="989802" y="5078180"/>
            <a:ext cx="4765040" cy="829945"/>
          </a:xfrm>
          <a:prstGeom prst="rect">
            <a:avLst/>
          </a:prstGeom>
          <a:noFill/>
        </p:spPr>
        <p:txBody>
          <a:bodyPr wrap="square" rtlCol="0" anchor="t">
            <a:spAutoFit/>
          </a:bodyPr>
          <a:lstStyle/>
          <a:p>
            <a:r>
              <a:rPr sz="2400">
                <a:latin typeface="微软雅黑" panose="020B0503020204020204" pitchFamily="34" charset="-122"/>
                <a:ea typeface="微软雅黑" panose="020B0503020204020204" pitchFamily="34" charset="-122"/>
              </a:rPr>
              <a:t>适用于：如果数据的分布本身就服从正态分布，就可以用这个方法。</a:t>
            </a:r>
          </a:p>
        </p:txBody>
      </p:sp>
      <p:sp>
        <p:nvSpPr>
          <p:cNvPr id="10" name="文本框 9">
            <a:extLst>
              <a:ext uri="{FF2B5EF4-FFF2-40B4-BE49-F238E27FC236}">
                <a16:creationId xmlns:a16="http://schemas.microsoft.com/office/drawing/2014/main" id="{9D15EAAB-4951-7228-9374-FBF436C79F02}"/>
              </a:ext>
            </a:extLst>
          </p:cNvPr>
          <p:cNvSpPr txBox="1"/>
          <p:nvPr/>
        </p:nvSpPr>
        <p:spPr>
          <a:xfrm>
            <a:off x="6073612" y="4691465"/>
            <a:ext cx="4941570" cy="829945"/>
          </a:xfrm>
          <a:prstGeom prst="rect">
            <a:avLst/>
          </a:prstGeom>
          <a:noFill/>
        </p:spPr>
        <p:txBody>
          <a:bodyPr wrap="square" rtlCol="0" anchor="t">
            <a:spAutoFit/>
          </a:bodyPr>
          <a:lstStyle/>
          <a:p>
            <a:pPr marL="342900" indent="-342900">
              <a:buFont typeface="Wingdings" panose="05000000000000000000" charset="0"/>
              <a:buChar char=""/>
            </a:pPr>
            <a:r>
              <a:rPr lang="zh-CN" altLang="en-US" sz="2400" b="1" dirty="0">
                <a:solidFill>
                  <a:srgbClr val="009900"/>
                </a:solidFill>
                <a:latin typeface="微软雅黑" panose="020B0503020204020204" pitchFamily="34" charset="-122"/>
                <a:ea typeface="微软雅黑" panose="020B0503020204020204" pitchFamily="34" charset="-122"/>
              </a:rPr>
              <a:t>归一化</a:t>
            </a:r>
            <a:endParaRPr lang="en-US" altLang="zh-CN" sz="2400" b="1" dirty="0">
              <a:latin typeface="微软雅黑" panose="020B0503020204020204" pitchFamily="34" charset="-122"/>
              <a:ea typeface="微软雅黑" panose="020B0503020204020204" pitchFamily="34" charset="-122"/>
            </a:endParaRPr>
          </a:p>
          <a:p>
            <a:pPr indent="0">
              <a:buFont typeface="Wingdings" panose="05000000000000000000" charset="0"/>
              <a:buNone/>
            </a:pPr>
            <a:r>
              <a:rPr lang="zh-CN" sz="2400" dirty="0">
                <a:latin typeface="微软雅黑" panose="020B0503020204020204" pitchFamily="34" charset="-122"/>
                <a:ea typeface="微软雅黑" panose="020B0503020204020204" pitchFamily="34" charset="-122"/>
              </a:rPr>
              <a:t>     </a:t>
            </a:r>
            <a:r>
              <a:rPr sz="2400" dirty="0">
                <a:latin typeface="微软雅黑" panose="020B0503020204020204" pitchFamily="34" charset="-122"/>
                <a:ea typeface="微软雅黑" panose="020B0503020204020204" pitchFamily="34" charset="-122"/>
                <a:sym typeface="+mn-ea"/>
              </a:rPr>
              <a:t>将</a:t>
            </a:r>
            <a:r>
              <a:rPr lang="zh-CN" sz="2400" dirty="0">
                <a:latin typeface="微软雅黑" panose="020B0503020204020204" pitchFamily="34" charset="-122"/>
                <a:ea typeface="微软雅黑" panose="020B0503020204020204" pitchFamily="34" charset="-122"/>
                <a:sym typeface="+mn-ea"/>
              </a:rPr>
              <a:t>某一属性特征的模长转化成</a:t>
            </a:r>
            <a:r>
              <a:rPr lang="en-US" altLang="zh-CN" sz="2400" dirty="0">
                <a:latin typeface="微软雅黑" panose="020B0503020204020204" pitchFamily="34" charset="-122"/>
                <a:ea typeface="微软雅黑" panose="020B0503020204020204" pitchFamily="34" charset="-122"/>
                <a:sym typeface="+mn-ea"/>
              </a:rPr>
              <a:t>1</a:t>
            </a:r>
            <a:r>
              <a:rPr lang="zh-CN" sz="2400" dirty="0">
                <a:latin typeface="微软雅黑" panose="020B0503020204020204" pitchFamily="34" charset="-122"/>
                <a:ea typeface="微软雅黑" panose="020B0503020204020204" pitchFamily="34" charset="-122"/>
                <a:sym typeface="+mn-ea"/>
              </a:rPr>
              <a:t>。</a:t>
            </a:r>
          </a:p>
        </p:txBody>
      </p:sp>
      <p:pic>
        <p:nvPicPr>
          <p:cNvPr id="11" name="图片 10">
            <a:extLst>
              <a:ext uri="{FF2B5EF4-FFF2-40B4-BE49-F238E27FC236}">
                <a16:creationId xmlns:a16="http://schemas.microsoft.com/office/drawing/2014/main" id="{A2FADDE8-1FBF-4383-6679-221C6F2D185B}"/>
              </a:ext>
            </a:extLst>
          </p:cNvPr>
          <p:cNvPicPr>
            <a:picLocks noChangeAspect="1"/>
          </p:cNvPicPr>
          <p:nvPr/>
        </p:nvPicPr>
        <p:blipFill>
          <a:blip r:embed="rId2"/>
          <a:stretch>
            <a:fillRect/>
          </a:stretch>
        </p:blipFill>
        <p:spPr>
          <a:xfrm>
            <a:off x="6986742" y="5435685"/>
            <a:ext cx="1826895" cy="978535"/>
          </a:xfrm>
          <a:prstGeom prst="rect">
            <a:avLst/>
          </a:prstGeom>
        </p:spPr>
      </p:pic>
    </p:spTree>
    <p:extLst>
      <p:ext uri="{BB962C8B-B14F-4D97-AF65-F5344CB8AC3E}">
        <p14:creationId xmlns:p14="http://schemas.microsoft.com/office/powerpoint/2010/main" val="47171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P spid="8" grpId="0"/>
      <p:bldP spid="9"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25B4E9-90E9-4C6F-B7B4-E82DACD4DABA}"/>
              </a:ext>
            </a:extLst>
          </p:cNvPr>
          <p:cNvSpPr>
            <a:spLocks noGrp="1"/>
          </p:cNvSpPr>
          <p:nvPr>
            <p:ph type="title"/>
          </p:nvPr>
        </p:nvSpPr>
        <p:spPr>
          <a:xfrm>
            <a:off x="875344" y="280629"/>
            <a:ext cx="5143715" cy="1090679"/>
          </a:xfrm>
        </p:spPr>
        <p:txBody>
          <a:bodyPr>
            <a:normAutofit/>
          </a:bodyPr>
          <a:lstStyle/>
          <a:p>
            <a:r>
              <a:rPr kumimoji="0" lang="zh-CN" altLang="en-US" sz="3600" b="0" i="0" u="none" strike="noStrike" kern="1200" cap="none" spc="0" normalizeH="0" baseline="0" noProof="0" dirty="0">
                <a:ln>
                  <a:noFill/>
                </a:ln>
                <a:solidFill>
                  <a:schemeClr val="tx1"/>
                </a:solidFill>
                <a:effectLst/>
                <a:uLnTx/>
                <a:uFillTx/>
                <a:latin typeface="苹方 中等" panose="020B0400000000000000" pitchFamily="34" charset="-122"/>
                <a:ea typeface="苹方 中等" panose="020B0400000000000000" pitchFamily="34" charset="-122"/>
                <a:cs typeface="+mn-cs"/>
              </a:rPr>
              <a:t>模拟的评估方法与选择</a:t>
            </a:r>
            <a:br>
              <a:rPr kumimoji="0" lang="zh-CN" altLang="en-US" sz="2400" b="0" i="0" u="none" strike="noStrike" kern="1200" cap="none" spc="0" normalizeH="0" baseline="0" noProof="0" dirty="0">
                <a:ln>
                  <a:noFill/>
                </a:ln>
                <a:solidFill>
                  <a:schemeClr val="tx1"/>
                </a:solidFill>
                <a:effectLst/>
                <a:uLnTx/>
                <a:uFillTx/>
                <a:latin typeface="苹方 中等" panose="020B0400000000000000" pitchFamily="34" charset="-122"/>
                <a:ea typeface="苹方 中等" panose="020B0400000000000000" pitchFamily="34" charset="-122"/>
                <a:cs typeface="+mn-cs"/>
              </a:rPr>
            </a:br>
            <a:endParaRPr lang="zh-CN" altLang="en-US" dirty="0">
              <a:solidFill>
                <a:schemeClr val="tx1"/>
              </a:solidFill>
            </a:endParaRPr>
          </a:p>
        </p:txBody>
      </p:sp>
      <p:sp>
        <p:nvSpPr>
          <p:cNvPr id="3" name="文本框 2">
            <a:extLst>
              <a:ext uri="{FF2B5EF4-FFF2-40B4-BE49-F238E27FC236}">
                <a16:creationId xmlns:a16="http://schemas.microsoft.com/office/drawing/2014/main" id="{C03C383E-4050-45C6-9852-47B81BD08328}"/>
              </a:ext>
            </a:extLst>
          </p:cNvPr>
          <p:cNvSpPr txBox="1"/>
          <p:nvPr/>
        </p:nvSpPr>
        <p:spPr>
          <a:xfrm>
            <a:off x="1531721" y="139766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评估思路</a:t>
            </a:r>
          </a:p>
        </p:txBody>
      </p:sp>
      <p:grpSp>
        <p:nvGrpSpPr>
          <p:cNvPr id="4" name="组合 3">
            <a:extLst>
              <a:ext uri="{FF2B5EF4-FFF2-40B4-BE49-F238E27FC236}">
                <a16:creationId xmlns:a16="http://schemas.microsoft.com/office/drawing/2014/main" id="{36E3093A-63D9-47B9-A1E2-93B23C46AF72}"/>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E065E267-B48D-4D9D-9859-7A8FC7B96EB2}"/>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8C9E333C-C265-4F68-B994-411B9DD14577}"/>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A073575C-C1CC-44EB-A0C1-E477F9865F82}"/>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D927F97B-E3BF-4FD9-A991-DB227C855C34}"/>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B182540F-CCBD-45D7-8141-6C1A53AA4BA7}"/>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E9297F27-8C14-4AFD-BB9E-322475DEC6B9}"/>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F420BBAD-2A1A-4270-AD4F-179126404084}"/>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21D7C286-9BFD-4103-A31F-974C760800E7}"/>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92CB3962-EECD-41BB-92E0-53984A1CFE66}"/>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48CDD31C-A8D7-463F-B8D3-B82BA0950DC0}"/>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A57FCE05-2025-4BCE-9A18-E2982A8603A1}"/>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9904300D-A979-404D-A0D6-A0D0E2E928A9}"/>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71CE2B81-2393-4888-906B-128AC0CA997E}"/>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1FD19376-A43E-4D80-B68F-DC54845FD386}"/>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67126285-9E80-4950-AB1F-E67F6A5CA3D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37F172BA-5B4A-4A72-9CA5-6944AC839DCF}"/>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633B8E6D-7F1A-49E4-B4F1-D0DC473791D1}"/>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58F5D3D0-3266-41FB-8F15-D034F348A37A}"/>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63E9BAA7-46A0-460C-8A8C-9EEC010F1CE1}"/>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E3FBED1-7439-477E-9136-DBD933803274}"/>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73D90F0A-6E1B-47A0-93B6-B6D11CF8FAF9}"/>
              </a:ext>
            </a:extLst>
          </p:cNvPr>
          <p:cNvSpPr txBox="1"/>
          <p:nvPr/>
        </p:nvSpPr>
        <p:spPr>
          <a:xfrm>
            <a:off x="783683" y="2057743"/>
            <a:ext cx="10691495" cy="829945"/>
          </a:xfrm>
          <a:prstGeom prst="rect">
            <a:avLst/>
          </a:prstGeom>
          <a:noFill/>
        </p:spPr>
        <p:txBody>
          <a:bodyPr wrap="square" rtlCol="0">
            <a:spAutoFit/>
          </a:bodyPr>
          <a:lstStyle/>
          <a:p>
            <a:pPr>
              <a:lnSpc>
                <a:spcPct val="120000"/>
              </a:lnSpc>
            </a:pPr>
            <a:r>
              <a:rPr lang="zh-CN" altLang="en-US" sz="2000" dirty="0"/>
              <a:t>通过实验测试，对模型的泛化误差进行评估，选出泛化误差最小的模型。待测数据集全集未</a:t>
            </a:r>
          </a:p>
          <a:p>
            <a:pPr>
              <a:lnSpc>
                <a:spcPct val="120000"/>
              </a:lnSpc>
            </a:pPr>
            <a:r>
              <a:rPr lang="zh-CN" altLang="en-US" sz="2000" dirty="0"/>
              <a:t>知，使用测试集进行泛化测试，测试误差（Testing Error）即为泛化误差的近似。</a:t>
            </a:r>
          </a:p>
        </p:txBody>
      </p:sp>
      <p:sp>
        <p:nvSpPr>
          <p:cNvPr id="26" name="矩形 25">
            <a:extLst>
              <a:ext uri="{FF2B5EF4-FFF2-40B4-BE49-F238E27FC236}">
                <a16:creationId xmlns:a16="http://schemas.microsoft.com/office/drawing/2014/main" id="{31F13DDA-9524-4C8E-A4F2-59A69F566960}"/>
              </a:ext>
            </a:extLst>
          </p:cNvPr>
          <p:cNvSpPr/>
          <p:nvPr/>
        </p:nvSpPr>
        <p:spPr>
          <a:xfrm>
            <a:off x="6819265" y="2904490"/>
            <a:ext cx="2026920" cy="2393950"/>
          </a:xfrm>
          <a:prstGeom prst="rect">
            <a:avLst/>
          </a:prstGeom>
          <a:pattFill prst="pct5">
            <a:fgClr>
              <a:schemeClr val="accent1"/>
            </a:fgClr>
            <a:bgClr>
              <a:schemeClr val="bg1"/>
            </a:bgClr>
          </a:patt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a:extLst>
              <a:ext uri="{FF2B5EF4-FFF2-40B4-BE49-F238E27FC236}">
                <a16:creationId xmlns:a16="http://schemas.microsoft.com/office/drawing/2014/main" id="{693956FA-3454-458C-BBF3-8980932FC1D3}"/>
              </a:ext>
            </a:extLst>
          </p:cNvPr>
          <p:cNvSpPr/>
          <p:nvPr/>
        </p:nvSpPr>
        <p:spPr>
          <a:xfrm>
            <a:off x="2555875" y="2904490"/>
            <a:ext cx="2026920" cy="2393950"/>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右箭头 6">
            <a:extLst>
              <a:ext uri="{FF2B5EF4-FFF2-40B4-BE49-F238E27FC236}">
                <a16:creationId xmlns:a16="http://schemas.microsoft.com/office/drawing/2014/main" id="{E458B730-CC75-44E9-85C3-05AB27C43825}"/>
              </a:ext>
            </a:extLst>
          </p:cNvPr>
          <p:cNvSpPr/>
          <p:nvPr/>
        </p:nvSpPr>
        <p:spPr>
          <a:xfrm>
            <a:off x="4918710" y="3715385"/>
            <a:ext cx="1403350" cy="754380"/>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C59B34EF-7973-44D6-8F34-3F71605D7779}"/>
              </a:ext>
            </a:extLst>
          </p:cNvPr>
          <p:cNvSpPr txBox="1"/>
          <p:nvPr/>
        </p:nvSpPr>
        <p:spPr>
          <a:xfrm>
            <a:off x="2654935" y="5616575"/>
            <a:ext cx="1826260" cy="368300"/>
          </a:xfrm>
          <a:prstGeom prst="rect">
            <a:avLst/>
          </a:prstGeom>
          <a:noFill/>
        </p:spPr>
        <p:txBody>
          <a:bodyPr wrap="square" rtlCol="0">
            <a:spAutoFit/>
          </a:bodyPr>
          <a:lstStyle/>
          <a:p>
            <a:r>
              <a:rPr lang="en-US" altLang="zh-CN">
                <a:solidFill>
                  <a:schemeClr val="bg1"/>
                </a:solidFill>
              </a:rPr>
              <a:t>      </a:t>
            </a:r>
            <a:r>
              <a:rPr lang="zh-CN" altLang="en-US">
                <a:solidFill>
                  <a:schemeClr val="bg1"/>
                </a:solidFill>
              </a:rPr>
              <a:t>已知数据</a:t>
            </a:r>
          </a:p>
        </p:txBody>
      </p:sp>
      <p:sp>
        <p:nvSpPr>
          <p:cNvPr id="30" name="文本框 29">
            <a:extLst>
              <a:ext uri="{FF2B5EF4-FFF2-40B4-BE49-F238E27FC236}">
                <a16:creationId xmlns:a16="http://schemas.microsoft.com/office/drawing/2014/main" id="{491BB424-5528-4A82-8AAF-AB6A69F22DF6}"/>
              </a:ext>
            </a:extLst>
          </p:cNvPr>
          <p:cNvSpPr txBox="1"/>
          <p:nvPr/>
        </p:nvSpPr>
        <p:spPr>
          <a:xfrm>
            <a:off x="9430385" y="3244850"/>
            <a:ext cx="1297940" cy="368300"/>
          </a:xfrm>
          <a:prstGeom prst="rect">
            <a:avLst/>
          </a:prstGeom>
          <a:noFill/>
        </p:spPr>
        <p:txBody>
          <a:bodyPr wrap="square" rtlCol="0">
            <a:spAutoFit/>
          </a:bodyPr>
          <a:lstStyle/>
          <a:p>
            <a:r>
              <a:rPr lang="zh-CN" altLang="en-US" dirty="0"/>
              <a:t>用于训练</a:t>
            </a:r>
          </a:p>
        </p:txBody>
      </p:sp>
      <p:sp>
        <p:nvSpPr>
          <p:cNvPr id="31" name="文本框 30">
            <a:extLst>
              <a:ext uri="{FF2B5EF4-FFF2-40B4-BE49-F238E27FC236}">
                <a16:creationId xmlns:a16="http://schemas.microsoft.com/office/drawing/2014/main" id="{E6D8352C-2D2D-4E5E-964E-68D75D3E1B21}"/>
              </a:ext>
            </a:extLst>
          </p:cNvPr>
          <p:cNvSpPr txBox="1"/>
          <p:nvPr/>
        </p:nvSpPr>
        <p:spPr>
          <a:xfrm>
            <a:off x="9430385" y="4930140"/>
            <a:ext cx="1297940" cy="368300"/>
          </a:xfrm>
          <a:prstGeom prst="rect">
            <a:avLst/>
          </a:prstGeom>
          <a:noFill/>
        </p:spPr>
        <p:txBody>
          <a:bodyPr wrap="square" rtlCol="0">
            <a:spAutoFit/>
          </a:bodyPr>
          <a:lstStyle/>
          <a:p>
            <a:r>
              <a:rPr lang="zh-CN" altLang="en-US" dirty="0"/>
              <a:t>用于测试</a:t>
            </a:r>
          </a:p>
        </p:txBody>
      </p:sp>
      <p:cxnSp>
        <p:nvCxnSpPr>
          <p:cNvPr id="32" name="直接连接符 31">
            <a:extLst>
              <a:ext uri="{FF2B5EF4-FFF2-40B4-BE49-F238E27FC236}">
                <a16:creationId xmlns:a16="http://schemas.microsoft.com/office/drawing/2014/main" id="{505165F6-E9D0-4F73-9273-06DB33CCD6E9}"/>
              </a:ext>
            </a:extLst>
          </p:cNvPr>
          <p:cNvCxnSpPr/>
          <p:nvPr/>
        </p:nvCxnSpPr>
        <p:spPr>
          <a:xfrm flipV="1">
            <a:off x="6819265" y="4786630"/>
            <a:ext cx="2066925" cy="1524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8A0A772C-4336-4B4D-8E38-80133DE4DF3A}"/>
              </a:ext>
            </a:extLst>
          </p:cNvPr>
          <p:cNvSpPr txBox="1"/>
          <p:nvPr/>
        </p:nvSpPr>
        <p:spPr>
          <a:xfrm>
            <a:off x="4429760" y="5984875"/>
            <a:ext cx="3439795" cy="645160"/>
          </a:xfrm>
          <a:prstGeom prst="rect">
            <a:avLst/>
          </a:prstGeom>
          <a:noFill/>
        </p:spPr>
        <p:txBody>
          <a:bodyPr wrap="square" rtlCol="0">
            <a:spAutoFit/>
          </a:bodyPr>
          <a:lstStyle/>
          <a:p>
            <a:pPr marL="285750" indent="-285750">
              <a:buFont typeface="Wingdings" panose="05000000000000000000" charset="0"/>
              <a:buChar char="Ø"/>
            </a:pPr>
            <a:r>
              <a:rPr lang="zh-CN" altLang="en-US" dirty="0"/>
              <a:t>测试集和训练集尽可能互斥</a:t>
            </a:r>
          </a:p>
          <a:p>
            <a:pPr marL="285750" indent="-285750">
              <a:buFont typeface="Wingdings" panose="05000000000000000000" charset="0"/>
              <a:buChar char="Ø"/>
            </a:pPr>
            <a:r>
              <a:rPr lang="zh-CN" altLang="en-US" dirty="0"/>
              <a:t>测试集和训练集独立同分布</a:t>
            </a:r>
          </a:p>
        </p:txBody>
      </p:sp>
    </p:spTree>
    <p:extLst>
      <p:ext uri="{BB962C8B-B14F-4D97-AF65-F5344CB8AC3E}">
        <p14:creationId xmlns:p14="http://schemas.microsoft.com/office/powerpoint/2010/main" val="2398954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blinds(horizontal)">
                                      <p:cBhvr>
                                        <p:cTn id="31" dur="500"/>
                                        <p:tgtEl>
                                          <p:spTgt spid="28"/>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26"/>
                                        </p:tgtEl>
                                        <p:attrNameLst>
                                          <p:attrName>style.visibility</p:attrName>
                                        </p:attrNameLst>
                                      </p:cBhvr>
                                      <p:to>
                                        <p:strVal val="visible"/>
                                      </p:to>
                                    </p:set>
                                    <p:animEffect transition="in" filter="blinds(horizontal)">
                                      <p:cBhvr>
                                        <p:cTn id="36" dur="500"/>
                                        <p:tgtEl>
                                          <p:spTgt spid="26"/>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blinds(horizontal)">
                                      <p:cBhvr>
                                        <p:cTn id="39" dur="500"/>
                                        <p:tgtEl>
                                          <p:spTgt spid="30"/>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linds(horizontal)">
                                      <p:cBhvr>
                                        <p:cTn id="42" dur="500"/>
                                        <p:tgtEl>
                                          <p:spTgt spid="31"/>
                                        </p:tgtEl>
                                      </p:cBhvr>
                                    </p:animEffect>
                                  </p:childTnLst>
                                </p:cTn>
                              </p:par>
                              <p:par>
                                <p:cTn id="43" presetID="3" presetClass="entr" presetSubtype="10" fill="hold"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blinds(horizontal)">
                                      <p:cBhvr>
                                        <p:cTn id="45" dur="500"/>
                                        <p:tgtEl>
                                          <p:spTgt spid="32"/>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33"/>
                                        </p:tgtEl>
                                        <p:attrNameLst>
                                          <p:attrName>style.visibility</p:attrName>
                                        </p:attrNameLst>
                                      </p:cBhvr>
                                      <p:to>
                                        <p:strVal val="visible"/>
                                      </p:to>
                                    </p:set>
                                    <p:animEffect transition="in" filter="blinds(horizontal)">
                                      <p:cBhvr>
                                        <p:cTn id="50"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animBg="1"/>
      <p:bldP spid="26" grpId="1" animBg="1"/>
      <p:bldP spid="27" grpId="0" animBg="1"/>
      <p:bldP spid="27" grpId="1" animBg="1"/>
      <p:bldP spid="28" grpId="0" animBg="1"/>
      <p:bldP spid="28" grpId="1" animBg="1"/>
      <p:bldP spid="29" grpId="0"/>
      <p:bldP spid="29" grpId="1"/>
      <p:bldP spid="30" grpId="0"/>
      <p:bldP spid="30" grpId="1"/>
      <p:bldP spid="31" grpId="0"/>
      <p:bldP spid="31" grpId="1"/>
      <p:bldP spid="33" grpId="0"/>
      <p:bldP spid="33" grpId="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13B3C35-E4E4-495A-B88D-E58C3BE80175}"/>
              </a:ext>
            </a:extLst>
          </p:cNvPr>
          <p:cNvSpPr txBox="1"/>
          <p:nvPr/>
        </p:nvSpPr>
        <p:spPr>
          <a:xfrm>
            <a:off x="951520" y="208400"/>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留出法</a:t>
            </a:r>
          </a:p>
        </p:txBody>
      </p:sp>
      <p:grpSp>
        <p:nvGrpSpPr>
          <p:cNvPr id="4" name="组合 3">
            <a:extLst>
              <a:ext uri="{FF2B5EF4-FFF2-40B4-BE49-F238E27FC236}">
                <a16:creationId xmlns:a16="http://schemas.microsoft.com/office/drawing/2014/main" id="{D1BEE45B-4066-42BD-830F-7D5A87E61F56}"/>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E64BF5E0-955A-4347-ACC3-F6678BE0F630}"/>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1BFC8BE4-470F-4E6F-BE4A-F1A539316441}"/>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8D2BFB41-4C9B-4302-99D7-F4C02AE72852}"/>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956B5587-C155-4C23-B28A-2F3817D3A39A}"/>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782C8693-6FF0-4225-BFD6-502FDF9B2D0F}"/>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EFEC44F5-CF3C-4C8E-B8C3-69808665C029}"/>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350B4250-2EE7-43DA-A744-E9BCDB80922D}"/>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078B50B-3655-4AC6-A6CE-F291F8410B54}"/>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BBE72C43-FE88-41FE-A6DC-EEDD73F4F210}"/>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FAABA78C-8D32-48F2-B178-8312C4934E05}"/>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312C8FEC-F4EC-4E63-8E03-72CC29DC5953}"/>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9A911F48-4666-4F84-A9B8-E3F5839BD3AA}"/>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90C68F9B-BC7E-4B4F-8EE3-022778ED4826}"/>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194DC083-6AD3-4A27-A8F6-D7BE7F565F41}"/>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7C11D47F-3D61-4F35-A2F1-BC87BB1DA88A}"/>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21FCC50F-B3E2-4C0E-9483-8AEF3D838836}"/>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DDAC351C-95EA-4D8B-A02E-8661C88E6D47}"/>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890817B0-9C54-4C49-848A-30D2BD1004BF}"/>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C9418F1E-F76E-4FDE-8321-11D31B1382B7}"/>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815732E2-A4F4-49B7-B824-3D4016AFA35B}"/>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F2647F21-0750-496C-A8EB-A4A592B6F53C}"/>
              </a:ext>
            </a:extLst>
          </p:cNvPr>
          <p:cNvSpPr txBox="1"/>
          <p:nvPr/>
        </p:nvSpPr>
        <p:spPr>
          <a:xfrm>
            <a:off x="951520" y="891342"/>
            <a:ext cx="9913620" cy="1076325"/>
          </a:xfrm>
          <a:prstGeom prst="rect">
            <a:avLst/>
          </a:prstGeom>
          <a:noFill/>
        </p:spPr>
        <p:txBody>
          <a:bodyPr wrap="square" rtlCol="0">
            <a:spAutoFit/>
          </a:bodyPr>
          <a:lstStyle/>
          <a:p>
            <a:r>
              <a:rPr lang="zh-CN" altLang="en-US" sz="2400" b="1" dirty="0"/>
              <a:t>留出法（</a:t>
            </a:r>
            <a:r>
              <a:rPr lang="zh-CN" altLang="en-US" sz="2400" b="1" i="1" dirty="0"/>
              <a:t>Hold-out</a:t>
            </a:r>
            <a:r>
              <a:rPr lang="zh-CN" altLang="en-US" sz="2400" b="1" dirty="0"/>
              <a:t>）：</a:t>
            </a:r>
            <a:r>
              <a:rPr lang="zh-CN" altLang="en-US" sz="2000" dirty="0"/>
              <a:t>将已知数据集分成两个互斥的部分，其中一部分用来训练模型，另一部分用来测试模型，评估其误差，作为泛化误差的估计。</a:t>
            </a:r>
          </a:p>
          <a:p>
            <a:endParaRPr lang="zh-CN" altLang="en-US" sz="2000" dirty="0">
              <a:solidFill>
                <a:schemeClr val="bg1"/>
              </a:solidFill>
            </a:endParaRPr>
          </a:p>
        </p:txBody>
      </p:sp>
      <p:sp>
        <p:nvSpPr>
          <p:cNvPr id="26" name="文本框 25">
            <a:extLst>
              <a:ext uri="{FF2B5EF4-FFF2-40B4-BE49-F238E27FC236}">
                <a16:creationId xmlns:a16="http://schemas.microsoft.com/office/drawing/2014/main" id="{A4783276-2441-4E36-BE91-F537DEEE9BE3}"/>
              </a:ext>
            </a:extLst>
          </p:cNvPr>
          <p:cNvSpPr txBox="1"/>
          <p:nvPr/>
        </p:nvSpPr>
        <p:spPr>
          <a:xfrm>
            <a:off x="1139190" y="2356485"/>
            <a:ext cx="10094595" cy="398780"/>
          </a:xfrm>
          <a:prstGeom prst="rect">
            <a:avLst/>
          </a:prstGeom>
          <a:noFill/>
        </p:spPr>
        <p:txBody>
          <a:bodyPr wrap="square" rtlCol="0">
            <a:spAutoFit/>
          </a:bodyPr>
          <a:lstStyle/>
          <a:p>
            <a:pPr marL="342900" indent="-342900">
              <a:buFont typeface="Wingdings" panose="05000000000000000000" charset="0"/>
              <a:buChar char="n"/>
            </a:pPr>
            <a:r>
              <a:rPr lang="zh-CN" altLang="en-US" sz="2000">
                <a:solidFill>
                  <a:schemeClr val="bg1"/>
                </a:solidFill>
              </a:rPr>
              <a:t>两个数据集的划分要尽可能保持数据分布一致性，避免因数据划分过程引入为的偏差</a:t>
            </a:r>
          </a:p>
        </p:txBody>
      </p:sp>
      <p:pic>
        <p:nvPicPr>
          <p:cNvPr id="27" name="图片 26">
            <a:extLst>
              <a:ext uri="{FF2B5EF4-FFF2-40B4-BE49-F238E27FC236}">
                <a16:creationId xmlns:a16="http://schemas.microsoft.com/office/drawing/2014/main" id="{D0011AAF-0292-43C1-AAAD-EC873F977C83}"/>
              </a:ext>
            </a:extLst>
          </p:cNvPr>
          <p:cNvPicPr>
            <a:picLocks noChangeAspect="1"/>
          </p:cNvPicPr>
          <p:nvPr/>
        </p:nvPicPr>
        <p:blipFill>
          <a:blip r:embed="rId2"/>
          <a:stretch>
            <a:fillRect/>
          </a:stretch>
        </p:blipFill>
        <p:spPr>
          <a:xfrm>
            <a:off x="2024380" y="3392805"/>
            <a:ext cx="2359025" cy="2153920"/>
          </a:xfrm>
          <a:prstGeom prst="rect">
            <a:avLst/>
          </a:prstGeom>
        </p:spPr>
      </p:pic>
      <p:sp>
        <p:nvSpPr>
          <p:cNvPr id="28" name="右箭头 5">
            <a:extLst>
              <a:ext uri="{FF2B5EF4-FFF2-40B4-BE49-F238E27FC236}">
                <a16:creationId xmlns:a16="http://schemas.microsoft.com/office/drawing/2014/main" id="{10078F01-394C-444E-A62F-F766AB0CBFBA}"/>
              </a:ext>
            </a:extLst>
          </p:cNvPr>
          <p:cNvSpPr/>
          <p:nvPr/>
        </p:nvSpPr>
        <p:spPr>
          <a:xfrm>
            <a:off x="4994275" y="3896360"/>
            <a:ext cx="1856105" cy="815975"/>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a:extLst>
              <a:ext uri="{FF2B5EF4-FFF2-40B4-BE49-F238E27FC236}">
                <a16:creationId xmlns:a16="http://schemas.microsoft.com/office/drawing/2014/main" id="{CC1E865F-00F4-45BD-9BFD-3D72307C3EB1}"/>
              </a:ext>
            </a:extLst>
          </p:cNvPr>
          <p:cNvPicPr>
            <a:picLocks noChangeAspect="1"/>
          </p:cNvPicPr>
          <p:nvPr/>
        </p:nvPicPr>
        <p:blipFill>
          <a:blip r:embed="rId3"/>
          <a:stretch>
            <a:fillRect/>
          </a:stretch>
        </p:blipFill>
        <p:spPr>
          <a:xfrm>
            <a:off x="7663180" y="3392805"/>
            <a:ext cx="2278380" cy="1026795"/>
          </a:xfrm>
          <a:prstGeom prst="rect">
            <a:avLst/>
          </a:prstGeom>
        </p:spPr>
      </p:pic>
      <p:pic>
        <p:nvPicPr>
          <p:cNvPr id="30" name="图片 29">
            <a:extLst>
              <a:ext uri="{FF2B5EF4-FFF2-40B4-BE49-F238E27FC236}">
                <a16:creationId xmlns:a16="http://schemas.microsoft.com/office/drawing/2014/main" id="{396267CF-043E-4DC8-A315-EEB6BBAEDBBB}"/>
              </a:ext>
            </a:extLst>
          </p:cNvPr>
          <p:cNvPicPr>
            <a:picLocks noChangeAspect="1"/>
          </p:cNvPicPr>
          <p:nvPr/>
        </p:nvPicPr>
        <p:blipFill>
          <a:blip r:embed="rId4"/>
          <a:stretch>
            <a:fillRect/>
          </a:stretch>
        </p:blipFill>
        <p:spPr>
          <a:xfrm>
            <a:off x="7663180" y="4585970"/>
            <a:ext cx="2277745" cy="1077595"/>
          </a:xfrm>
          <a:prstGeom prst="rect">
            <a:avLst/>
          </a:prstGeom>
        </p:spPr>
      </p:pic>
      <p:sp>
        <p:nvSpPr>
          <p:cNvPr id="31" name="文本框 30">
            <a:extLst>
              <a:ext uri="{FF2B5EF4-FFF2-40B4-BE49-F238E27FC236}">
                <a16:creationId xmlns:a16="http://schemas.microsoft.com/office/drawing/2014/main" id="{1377FA4C-645E-4661-9833-91EA51110A3F}"/>
              </a:ext>
            </a:extLst>
          </p:cNvPr>
          <p:cNvSpPr txBox="1"/>
          <p:nvPr/>
        </p:nvSpPr>
        <p:spPr>
          <a:xfrm>
            <a:off x="2851150" y="6083935"/>
            <a:ext cx="7090410" cy="368300"/>
          </a:xfrm>
          <a:prstGeom prst="rect">
            <a:avLst/>
          </a:prstGeom>
          <a:noFill/>
        </p:spPr>
        <p:txBody>
          <a:bodyPr wrap="square" rtlCol="0">
            <a:spAutoFit/>
          </a:bodyPr>
          <a:lstStyle/>
          <a:p>
            <a:r>
              <a:rPr lang="zh-CN" altLang="en-US" dirty="0"/>
              <a:t>保持样本的类别比例相似，即采用分层采样（Stratified Sampleing）</a:t>
            </a:r>
          </a:p>
        </p:txBody>
      </p:sp>
      <p:sp>
        <p:nvSpPr>
          <p:cNvPr id="32" name="文本框 31">
            <a:extLst>
              <a:ext uri="{FF2B5EF4-FFF2-40B4-BE49-F238E27FC236}">
                <a16:creationId xmlns:a16="http://schemas.microsoft.com/office/drawing/2014/main" id="{CC86F4C8-23CD-4C84-8C66-C02B72AB87F9}"/>
              </a:ext>
            </a:extLst>
          </p:cNvPr>
          <p:cNvSpPr txBox="1"/>
          <p:nvPr/>
        </p:nvSpPr>
        <p:spPr>
          <a:xfrm>
            <a:off x="1139190" y="2356485"/>
            <a:ext cx="10094595" cy="2491740"/>
          </a:xfrm>
          <a:prstGeom prst="rect">
            <a:avLst/>
          </a:prstGeom>
          <a:noFill/>
        </p:spPr>
        <p:txBody>
          <a:bodyPr wrap="square" rtlCol="0">
            <a:spAutoFit/>
          </a:bodyPr>
          <a:lstStyle/>
          <a:p>
            <a:pPr marL="342900" indent="-342900">
              <a:lnSpc>
                <a:spcPct val="130000"/>
              </a:lnSpc>
              <a:buFont typeface="Wingdings" panose="05000000000000000000" charset="0"/>
              <a:buChar char="u"/>
            </a:pPr>
            <a:r>
              <a:rPr lang="zh-CN" altLang="en-US" sz="2000" dirty="0"/>
              <a:t>两个数据集的划分要尽可能保持数据分布一致性，避免因数据划分过程引入为的偏差</a:t>
            </a:r>
          </a:p>
          <a:p>
            <a:pPr marL="342900" indent="-342900">
              <a:lnSpc>
                <a:spcPct val="130000"/>
              </a:lnSpc>
              <a:buFont typeface="Wingdings" panose="05000000000000000000" charset="0"/>
              <a:buChar char="u"/>
            </a:pPr>
            <a:r>
              <a:rPr lang="zh-CN" altLang="en-US" sz="2000" dirty="0"/>
              <a:t>数据分割存在多种形式会导致不同的训练集、测试集划分，单次留出法结果往往存在偶然性，其稳定性较差，通常会进行若干次随机划分、重复实验评估取平均值作为评估结果</a:t>
            </a:r>
          </a:p>
          <a:p>
            <a:pPr marL="342900" indent="-342900">
              <a:lnSpc>
                <a:spcPct val="130000"/>
              </a:lnSpc>
              <a:buFont typeface="Wingdings" panose="05000000000000000000" charset="0"/>
              <a:buChar char="u"/>
            </a:pPr>
            <a:r>
              <a:rPr lang="zh-CN" altLang="en-US" sz="2000" dirty="0"/>
              <a:t>数据集拆分成两部分，每部分的规模设置会影响评估结果，测试、训练的比例通常为7:3、8:2等</a:t>
            </a:r>
          </a:p>
        </p:txBody>
      </p:sp>
    </p:spTree>
    <p:extLst>
      <p:ext uri="{BB962C8B-B14F-4D97-AF65-F5344CB8AC3E}">
        <p14:creationId xmlns:p14="http://schemas.microsoft.com/office/powerpoint/2010/main" val="1376513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blinds(horizontal)">
                                      <p:cBhvr>
                                        <p:cTn id="33" dur="500"/>
                                        <p:tgtEl>
                                          <p:spTgt spid="28"/>
                                        </p:tgtEl>
                                      </p:cBhvr>
                                    </p:animEffect>
                                  </p:childTnLst>
                                </p:cTn>
                              </p:par>
                              <p:par>
                                <p:cTn id="34" presetID="3" presetClass="entr" presetSubtype="10" fill="hold" nodeType="with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blinds(horizontal)">
                                      <p:cBhvr>
                                        <p:cTn id="36" dur="500"/>
                                        <p:tgtEl>
                                          <p:spTgt spid="29"/>
                                        </p:tgtEl>
                                      </p:cBhvr>
                                    </p:animEffect>
                                  </p:childTnLst>
                                </p:cTn>
                              </p:par>
                              <p:par>
                                <p:cTn id="37" presetID="3" presetClass="entr" presetSubtype="10" fill="hold"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blinds(horizontal)">
                                      <p:cBhvr>
                                        <p:cTn id="39" dur="500"/>
                                        <p:tgtEl>
                                          <p:spTgt spid="3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blinds(horizontal)">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xit" presetSubtype="4" fill="hold" grpId="2" nodeType="clickEffect">
                                  <p:stCondLst>
                                    <p:cond delay="0"/>
                                  </p:stCondLst>
                                  <p:childTnLst>
                                    <p:animEffect transition="out" filter="wipe(down)">
                                      <p:cBhvr>
                                        <p:cTn id="48" dur="500"/>
                                        <p:tgtEl>
                                          <p:spTgt spid="26"/>
                                        </p:tgtEl>
                                      </p:cBhvr>
                                    </p:animEffect>
                                    <p:set>
                                      <p:cBhvr>
                                        <p:cTn id="49" dur="1" fill="hold">
                                          <p:stCondLst>
                                            <p:cond delay="499"/>
                                          </p:stCondLst>
                                        </p:cTn>
                                        <p:tgtEl>
                                          <p:spTgt spid="26"/>
                                        </p:tgtEl>
                                        <p:attrNameLst>
                                          <p:attrName>style.visibility</p:attrName>
                                        </p:attrNameLst>
                                      </p:cBhvr>
                                      <p:to>
                                        <p:strVal val="hidden"/>
                                      </p:to>
                                    </p:set>
                                  </p:childTnLst>
                                </p:cTn>
                              </p:par>
                              <p:par>
                                <p:cTn id="50" presetID="22" presetClass="exit" presetSubtype="4" fill="hold" nodeType="withEffect">
                                  <p:stCondLst>
                                    <p:cond delay="0"/>
                                  </p:stCondLst>
                                  <p:childTnLst>
                                    <p:animEffect transition="out" filter="wipe(down)">
                                      <p:cBhvr>
                                        <p:cTn id="51" dur="500"/>
                                        <p:tgtEl>
                                          <p:spTgt spid="27"/>
                                        </p:tgtEl>
                                      </p:cBhvr>
                                    </p:animEffect>
                                    <p:set>
                                      <p:cBhvr>
                                        <p:cTn id="52" dur="1" fill="hold">
                                          <p:stCondLst>
                                            <p:cond delay="499"/>
                                          </p:stCondLst>
                                        </p:cTn>
                                        <p:tgtEl>
                                          <p:spTgt spid="27"/>
                                        </p:tgtEl>
                                        <p:attrNameLst>
                                          <p:attrName>style.visibility</p:attrName>
                                        </p:attrNameLst>
                                      </p:cBhvr>
                                      <p:to>
                                        <p:strVal val="hidden"/>
                                      </p:to>
                                    </p:set>
                                  </p:childTnLst>
                                </p:cTn>
                              </p:par>
                              <p:par>
                                <p:cTn id="53" presetID="22" presetClass="exit" presetSubtype="4" fill="hold" grpId="2" nodeType="withEffect">
                                  <p:stCondLst>
                                    <p:cond delay="0"/>
                                  </p:stCondLst>
                                  <p:childTnLst>
                                    <p:animEffect transition="out" filter="wipe(down)">
                                      <p:cBhvr>
                                        <p:cTn id="54" dur="500"/>
                                        <p:tgtEl>
                                          <p:spTgt spid="28"/>
                                        </p:tgtEl>
                                      </p:cBhvr>
                                    </p:animEffect>
                                    <p:set>
                                      <p:cBhvr>
                                        <p:cTn id="55" dur="1" fill="hold">
                                          <p:stCondLst>
                                            <p:cond delay="499"/>
                                          </p:stCondLst>
                                        </p:cTn>
                                        <p:tgtEl>
                                          <p:spTgt spid="28"/>
                                        </p:tgtEl>
                                        <p:attrNameLst>
                                          <p:attrName>style.visibility</p:attrName>
                                        </p:attrNameLst>
                                      </p:cBhvr>
                                      <p:to>
                                        <p:strVal val="hidden"/>
                                      </p:to>
                                    </p:set>
                                  </p:childTnLst>
                                </p:cTn>
                              </p:par>
                              <p:par>
                                <p:cTn id="56" presetID="22" presetClass="exit" presetSubtype="4" fill="hold" nodeType="withEffect">
                                  <p:stCondLst>
                                    <p:cond delay="0"/>
                                  </p:stCondLst>
                                  <p:childTnLst>
                                    <p:animEffect transition="out" filter="wipe(down)">
                                      <p:cBhvr>
                                        <p:cTn id="57" dur="500"/>
                                        <p:tgtEl>
                                          <p:spTgt spid="29"/>
                                        </p:tgtEl>
                                      </p:cBhvr>
                                    </p:animEffect>
                                    <p:set>
                                      <p:cBhvr>
                                        <p:cTn id="58" dur="1" fill="hold">
                                          <p:stCondLst>
                                            <p:cond delay="499"/>
                                          </p:stCondLst>
                                        </p:cTn>
                                        <p:tgtEl>
                                          <p:spTgt spid="29"/>
                                        </p:tgtEl>
                                        <p:attrNameLst>
                                          <p:attrName>style.visibility</p:attrName>
                                        </p:attrNameLst>
                                      </p:cBhvr>
                                      <p:to>
                                        <p:strVal val="hidden"/>
                                      </p:to>
                                    </p:set>
                                  </p:childTnLst>
                                </p:cTn>
                              </p:par>
                              <p:par>
                                <p:cTn id="59" presetID="22" presetClass="exit" presetSubtype="4" fill="hold" nodeType="withEffect">
                                  <p:stCondLst>
                                    <p:cond delay="0"/>
                                  </p:stCondLst>
                                  <p:childTnLst>
                                    <p:animEffect transition="out" filter="wipe(down)">
                                      <p:cBhvr>
                                        <p:cTn id="60" dur="500"/>
                                        <p:tgtEl>
                                          <p:spTgt spid="30"/>
                                        </p:tgtEl>
                                      </p:cBhvr>
                                    </p:animEffect>
                                    <p:set>
                                      <p:cBhvr>
                                        <p:cTn id="61" dur="1" fill="hold">
                                          <p:stCondLst>
                                            <p:cond delay="499"/>
                                          </p:stCondLst>
                                        </p:cTn>
                                        <p:tgtEl>
                                          <p:spTgt spid="30"/>
                                        </p:tgtEl>
                                        <p:attrNameLst>
                                          <p:attrName>style.visibility</p:attrName>
                                        </p:attrNameLst>
                                      </p:cBhvr>
                                      <p:to>
                                        <p:strVal val="hidden"/>
                                      </p:to>
                                    </p:set>
                                  </p:childTnLst>
                                </p:cTn>
                              </p:par>
                              <p:par>
                                <p:cTn id="62" presetID="22" presetClass="exit" presetSubtype="4" fill="hold" grpId="2" nodeType="withEffect">
                                  <p:stCondLst>
                                    <p:cond delay="0"/>
                                  </p:stCondLst>
                                  <p:childTnLst>
                                    <p:animEffect transition="out" filter="wipe(down)">
                                      <p:cBhvr>
                                        <p:cTn id="63" dur="500"/>
                                        <p:tgtEl>
                                          <p:spTgt spid="31"/>
                                        </p:tgtEl>
                                      </p:cBhvr>
                                    </p:animEffect>
                                    <p:set>
                                      <p:cBhvr>
                                        <p:cTn id="64" dur="1" fill="hold">
                                          <p:stCondLst>
                                            <p:cond delay="499"/>
                                          </p:stCondLst>
                                        </p:cTn>
                                        <p:tgtEl>
                                          <p:spTgt spid="31"/>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blinds(horizontal)">
                                      <p:cBhvr>
                                        <p:cTn id="6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6" grpId="2"/>
      <p:bldP spid="28" grpId="0" animBg="1"/>
      <p:bldP spid="28" grpId="1" animBg="1"/>
      <p:bldP spid="28" grpId="2" animBg="1"/>
      <p:bldP spid="31" grpId="0"/>
      <p:bldP spid="31" grpId="1"/>
      <p:bldP spid="31" grpId="2"/>
      <p:bldP spid="3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3454FB3-F5A9-4095-A5BA-9AC10B06AB19}"/>
              </a:ext>
            </a:extLst>
          </p:cNvPr>
          <p:cNvSpPr txBox="1"/>
          <p:nvPr/>
        </p:nvSpPr>
        <p:spPr>
          <a:xfrm>
            <a:off x="951520" y="208400"/>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交叉验证法</a:t>
            </a:r>
          </a:p>
        </p:txBody>
      </p:sp>
      <p:grpSp>
        <p:nvGrpSpPr>
          <p:cNvPr id="4" name="组合 3">
            <a:extLst>
              <a:ext uri="{FF2B5EF4-FFF2-40B4-BE49-F238E27FC236}">
                <a16:creationId xmlns:a16="http://schemas.microsoft.com/office/drawing/2014/main" id="{E6D3AA25-41E2-4C92-B667-0F3D64891CA9}"/>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504B479E-6B7D-40FD-9DEB-095B0184744E}"/>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E498DE7B-83CC-49C6-BB52-B0639638361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1358B6F4-D157-49AA-AEB1-E9D50759058A}"/>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11140FF1-469E-4800-BA7B-14D5207FD456}"/>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04E12F4B-0859-4208-A1F5-A9CAAFF121F2}"/>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A5D1C043-CA48-463D-A427-47B745440173}"/>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0B7E62B2-5D5C-4882-89BB-0302A6FA3611}"/>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1F855DF-5F0A-4E6F-85C4-24010B9BEF49}"/>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E3B7A221-5A6F-4B35-BF5E-0900A9526308}"/>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07AA0463-F751-4BB6-926F-55E10C3E2568}"/>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00DA51E0-1B0E-4FFC-977C-9C63A2B8231B}"/>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16C0A11-3381-41A4-A591-E737F08F04AE}"/>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FB6C3259-6C08-451B-BFC6-2EE75F0B9422}"/>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A442A411-925A-44D7-BE03-435BF0C86D2E}"/>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49AD395C-6A38-4FC7-8882-16EE44FE050D}"/>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78A68EBF-7070-4C4F-9384-D579BF321932}"/>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9695F25F-DF09-418C-A50D-9D9EC54EE35F}"/>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0EB89787-B21D-4168-8425-CDF596C1D0F0}"/>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7D863658-9990-420E-A461-CC112C46666E}"/>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8819A7CA-ADE3-466D-B784-10293BA654F3}"/>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B5290967-DFCA-4130-BA8E-B49EE3C32687}"/>
              </a:ext>
            </a:extLst>
          </p:cNvPr>
          <p:cNvSpPr txBox="1"/>
          <p:nvPr/>
        </p:nvSpPr>
        <p:spPr>
          <a:xfrm>
            <a:off x="870902" y="1301750"/>
            <a:ext cx="10450195" cy="1771015"/>
          </a:xfrm>
          <a:prstGeom prst="rect">
            <a:avLst/>
          </a:prstGeom>
          <a:noFill/>
        </p:spPr>
        <p:txBody>
          <a:bodyPr wrap="square" rtlCol="0">
            <a:spAutoFit/>
          </a:bodyPr>
          <a:lstStyle/>
          <a:p>
            <a:pPr>
              <a:lnSpc>
                <a:spcPct val="130000"/>
              </a:lnSpc>
            </a:pPr>
            <a:r>
              <a:rPr lang="zh-CN" altLang="en-US" sz="2400" b="1" dirty="0"/>
              <a:t>交叉验证法（</a:t>
            </a:r>
            <a:r>
              <a:rPr lang="zh-CN" altLang="en-US" sz="2400" b="1" i="1" dirty="0"/>
              <a:t>Cross Validation</a:t>
            </a:r>
            <a:r>
              <a:rPr lang="zh-CN" altLang="en-US" sz="2400" b="1" dirty="0"/>
              <a:t>）：</a:t>
            </a:r>
            <a:r>
              <a:rPr lang="zh-CN" altLang="en-US" sz="2000" dirty="0"/>
              <a:t>将数据集划分k个大小相似的互斥的数据子集，子集数据尽可能保证数据分布的一致性（分层采样），每次从中选取一个数据集作为测试集，其余用作训练集，可以进行k次训练和测试，得到评估均值。该验证方法也称作k折交叉验证</a:t>
            </a:r>
          </a:p>
          <a:p>
            <a:pPr>
              <a:lnSpc>
                <a:spcPct val="130000"/>
              </a:lnSpc>
            </a:pPr>
            <a:r>
              <a:rPr lang="zh-CN" altLang="en-US" sz="2000" dirty="0"/>
              <a:t>（k-foldCross Validation)。使用不同的划分，重复p次，称为p次k折交叉验证。</a:t>
            </a:r>
          </a:p>
        </p:txBody>
      </p:sp>
      <p:graphicFrame>
        <p:nvGraphicFramePr>
          <p:cNvPr id="29" name="表格 28">
            <a:extLst>
              <a:ext uri="{FF2B5EF4-FFF2-40B4-BE49-F238E27FC236}">
                <a16:creationId xmlns:a16="http://schemas.microsoft.com/office/drawing/2014/main" id="{E59EF816-FB33-4A41-91F6-6B8FE3F1A802}"/>
              </a:ext>
            </a:extLst>
          </p:cNvPr>
          <p:cNvGraphicFramePr/>
          <p:nvPr/>
        </p:nvGraphicFramePr>
        <p:xfrm>
          <a:off x="1667510" y="4869180"/>
          <a:ext cx="4577715" cy="381000"/>
        </p:xfrm>
        <a:graphic>
          <a:graphicData uri="http://schemas.openxmlformats.org/drawingml/2006/table">
            <a:tbl>
              <a:tblPr firstRow="1" bandRow="1">
                <a:tableStyleId>{5C22544A-7EE6-4342-B048-85BDC9FD1C3A}</a:tableStyleId>
              </a:tblPr>
              <a:tblGrid>
                <a:gridCol w="508635">
                  <a:extLst>
                    <a:ext uri="{9D8B030D-6E8A-4147-A177-3AD203B41FA5}">
                      <a16:colId xmlns:a16="http://schemas.microsoft.com/office/drawing/2014/main" val="20000"/>
                    </a:ext>
                  </a:extLst>
                </a:gridCol>
                <a:gridCol w="508635">
                  <a:extLst>
                    <a:ext uri="{9D8B030D-6E8A-4147-A177-3AD203B41FA5}">
                      <a16:colId xmlns:a16="http://schemas.microsoft.com/office/drawing/2014/main" val="20001"/>
                    </a:ext>
                  </a:extLst>
                </a:gridCol>
                <a:gridCol w="508635">
                  <a:extLst>
                    <a:ext uri="{9D8B030D-6E8A-4147-A177-3AD203B41FA5}">
                      <a16:colId xmlns:a16="http://schemas.microsoft.com/office/drawing/2014/main" val="20002"/>
                    </a:ext>
                  </a:extLst>
                </a:gridCol>
                <a:gridCol w="508635">
                  <a:extLst>
                    <a:ext uri="{9D8B030D-6E8A-4147-A177-3AD203B41FA5}">
                      <a16:colId xmlns:a16="http://schemas.microsoft.com/office/drawing/2014/main" val="20003"/>
                    </a:ext>
                  </a:extLst>
                </a:gridCol>
                <a:gridCol w="508635">
                  <a:extLst>
                    <a:ext uri="{9D8B030D-6E8A-4147-A177-3AD203B41FA5}">
                      <a16:colId xmlns:a16="http://schemas.microsoft.com/office/drawing/2014/main" val="20004"/>
                    </a:ext>
                  </a:extLst>
                </a:gridCol>
                <a:gridCol w="508635">
                  <a:extLst>
                    <a:ext uri="{9D8B030D-6E8A-4147-A177-3AD203B41FA5}">
                      <a16:colId xmlns:a16="http://schemas.microsoft.com/office/drawing/2014/main" val="20005"/>
                    </a:ext>
                  </a:extLst>
                </a:gridCol>
                <a:gridCol w="508635">
                  <a:extLst>
                    <a:ext uri="{9D8B030D-6E8A-4147-A177-3AD203B41FA5}">
                      <a16:colId xmlns:a16="http://schemas.microsoft.com/office/drawing/2014/main" val="20006"/>
                    </a:ext>
                  </a:extLst>
                </a:gridCol>
                <a:gridCol w="508635">
                  <a:extLst>
                    <a:ext uri="{9D8B030D-6E8A-4147-A177-3AD203B41FA5}">
                      <a16:colId xmlns:a16="http://schemas.microsoft.com/office/drawing/2014/main" val="20007"/>
                    </a:ext>
                  </a:extLst>
                </a:gridCol>
                <a:gridCol w="508635">
                  <a:extLst>
                    <a:ext uri="{9D8B030D-6E8A-4147-A177-3AD203B41FA5}">
                      <a16:colId xmlns:a16="http://schemas.microsoft.com/office/drawing/2014/main" val="20008"/>
                    </a:ext>
                  </a:extLst>
                </a:gridCol>
              </a:tblGrid>
              <a:tr h="381000">
                <a:tc>
                  <a:txBody>
                    <a:bodyPr/>
                    <a:lstStyle/>
                    <a:p>
                      <a:pPr>
                        <a:buNone/>
                      </a:pPr>
                      <a:r>
                        <a:rPr lang="en-US" altLang="zh-CN"/>
                        <a:t>D1</a:t>
                      </a:r>
                    </a:p>
                  </a:txBody>
                  <a:tcPr>
                    <a:noFill/>
                  </a:tcPr>
                </a:tc>
                <a:tc>
                  <a:txBody>
                    <a:bodyPr/>
                    <a:lstStyle/>
                    <a:p>
                      <a:pPr>
                        <a:buNone/>
                      </a:pPr>
                      <a:r>
                        <a:rPr lang="en-US" altLang="zh-CN"/>
                        <a:t>D2</a:t>
                      </a:r>
                    </a:p>
                  </a:txBody>
                  <a:tcPr>
                    <a:noFill/>
                  </a:tcPr>
                </a:tc>
                <a:tc>
                  <a:txBody>
                    <a:bodyPr/>
                    <a:lstStyle/>
                    <a:p>
                      <a:pPr>
                        <a:buNone/>
                      </a:pPr>
                      <a:r>
                        <a:rPr lang="en-US" altLang="zh-CN"/>
                        <a:t>D3</a:t>
                      </a:r>
                    </a:p>
                  </a:txBody>
                  <a:tcPr>
                    <a:noFill/>
                  </a:tcPr>
                </a:tc>
                <a:tc>
                  <a:txBody>
                    <a:bodyPr/>
                    <a:lstStyle/>
                    <a:p>
                      <a:pPr>
                        <a:buNone/>
                      </a:pPr>
                      <a:r>
                        <a:rPr lang="en-US" altLang="zh-CN"/>
                        <a:t>D4</a:t>
                      </a:r>
                    </a:p>
                  </a:txBody>
                  <a:tcPr>
                    <a:noFill/>
                  </a:tcPr>
                </a:tc>
                <a:tc>
                  <a:txBody>
                    <a:bodyPr/>
                    <a:lstStyle/>
                    <a:p>
                      <a:pPr>
                        <a:buNone/>
                      </a:pPr>
                      <a:r>
                        <a:rPr lang="en-US" altLang="zh-CN"/>
                        <a:t>D5</a:t>
                      </a:r>
                    </a:p>
                  </a:txBody>
                  <a:tcPr>
                    <a:noFill/>
                  </a:tcPr>
                </a:tc>
                <a:tc>
                  <a:txBody>
                    <a:bodyPr/>
                    <a:lstStyle/>
                    <a:p>
                      <a:pPr>
                        <a:buNone/>
                      </a:pPr>
                      <a:r>
                        <a:rPr lang="en-US" altLang="zh-CN"/>
                        <a:t>D6</a:t>
                      </a:r>
                    </a:p>
                  </a:txBody>
                  <a:tcPr>
                    <a:noFill/>
                  </a:tcPr>
                </a:tc>
                <a:tc>
                  <a:txBody>
                    <a:bodyPr/>
                    <a:lstStyle/>
                    <a:p>
                      <a:pPr>
                        <a:buNone/>
                      </a:pPr>
                      <a:r>
                        <a:rPr lang="en-US" altLang="zh-CN"/>
                        <a:t>D7</a:t>
                      </a:r>
                    </a:p>
                  </a:txBody>
                  <a:tcPr>
                    <a:noFill/>
                  </a:tcPr>
                </a:tc>
                <a:tc>
                  <a:txBody>
                    <a:bodyPr/>
                    <a:lstStyle/>
                    <a:p>
                      <a:pPr>
                        <a:buNone/>
                      </a:pPr>
                      <a:r>
                        <a:rPr lang="en-US" altLang="zh-CN"/>
                        <a:t>D8</a:t>
                      </a:r>
                    </a:p>
                  </a:txBody>
                  <a:tcPr>
                    <a:noFill/>
                  </a:tcPr>
                </a:tc>
                <a:tc>
                  <a:txBody>
                    <a:bodyPr/>
                    <a:lstStyle/>
                    <a:p>
                      <a:pPr>
                        <a:buNone/>
                      </a:pPr>
                      <a:r>
                        <a:rPr lang="en-US" altLang="zh-CN" sz="1400"/>
                        <a:t>D10</a:t>
                      </a:r>
                    </a:p>
                  </a:txBody>
                  <a:tcPr>
                    <a:noFill/>
                  </a:tcPr>
                </a:tc>
                <a:extLst>
                  <a:ext uri="{0D108BD9-81ED-4DB2-BD59-A6C34878D82A}">
                    <a16:rowId xmlns:a16="http://schemas.microsoft.com/office/drawing/2014/main" val="10000"/>
                  </a:ext>
                </a:extLst>
              </a:tr>
            </a:tbl>
          </a:graphicData>
        </a:graphic>
      </p:graphicFrame>
      <p:graphicFrame>
        <p:nvGraphicFramePr>
          <p:cNvPr id="30" name="表格 29">
            <a:extLst>
              <a:ext uri="{FF2B5EF4-FFF2-40B4-BE49-F238E27FC236}">
                <a16:creationId xmlns:a16="http://schemas.microsoft.com/office/drawing/2014/main" id="{1202C032-5C39-4CC5-874A-9276F899B086}"/>
              </a:ext>
            </a:extLst>
          </p:cNvPr>
          <p:cNvGraphicFramePr/>
          <p:nvPr/>
        </p:nvGraphicFramePr>
        <p:xfrm>
          <a:off x="1667510" y="5866765"/>
          <a:ext cx="4577715" cy="381000"/>
        </p:xfrm>
        <a:graphic>
          <a:graphicData uri="http://schemas.openxmlformats.org/drawingml/2006/table">
            <a:tbl>
              <a:tblPr firstRow="1" bandRow="1">
                <a:tableStyleId>{5C22544A-7EE6-4342-B048-85BDC9FD1C3A}</a:tableStyleId>
              </a:tblPr>
              <a:tblGrid>
                <a:gridCol w="508635">
                  <a:extLst>
                    <a:ext uri="{9D8B030D-6E8A-4147-A177-3AD203B41FA5}">
                      <a16:colId xmlns:a16="http://schemas.microsoft.com/office/drawing/2014/main" val="20000"/>
                    </a:ext>
                  </a:extLst>
                </a:gridCol>
                <a:gridCol w="508635">
                  <a:extLst>
                    <a:ext uri="{9D8B030D-6E8A-4147-A177-3AD203B41FA5}">
                      <a16:colId xmlns:a16="http://schemas.microsoft.com/office/drawing/2014/main" val="20001"/>
                    </a:ext>
                  </a:extLst>
                </a:gridCol>
                <a:gridCol w="508635">
                  <a:extLst>
                    <a:ext uri="{9D8B030D-6E8A-4147-A177-3AD203B41FA5}">
                      <a16:colId xmlns:a16="http://schemas.microsoft.com/office/drawing/2014/main" val="20002"/>
                    </a:ext>
                  </a:extLst>
                </a:gridCol>
                <a:gridCol w="508635">
                  <a:extLst>
                    <a:ext uri="{9D8B030D-6E8A-4147-A177-3AD203B41FA5}">
                      <a16:colId xmlns:a16="http://schemas.microsoft.com/office/drawing/2014/main" val="20003"/>
                    </a:ext>
                  </a:extLst>
                </a:gridCol>
                <a:gridCol w="508635">
                  <a:extLst>
                    <a:ext uri="{9D8B030D-6E8A-4147-A177-3AD203B41FA5}">
                      <a16:colId xmlns:a16="http://schemas.microsoft.com/office/drawing/2014/main" val="20004"/>
                    </a:ext>
                  </a:extLst>
                </a:gridCol>
                <a:gridCol w="508635">
                  <a:extLst>
                    <a:ext uri="{9D8B030D-6E8A-4147-A177-3AD203B41FA5}">
                      <a16:colId xmlns:a16="http://schemas.microsoft.com/office/drawing/2014/main" val="20005"/>
                    </a:ext>
                  </a:extLst>
                </a:gridCol>
                <a:gridCol w="508635">
                  <a:extLst>
                    <a:ext uri="{9D8B030D-6E8A-4147-A177-3AD203B41FA5}">
                      <a16:colId xmlns:a16="http://schemas.microsoft.com/office/drawing/2014/main" val="20006"/>
                    </a:ext>
                  </a:extLst>
                </a:gridCol>
                <a:gridCol w="508635">
                  <a:extLst>
                    <a:ext uri="{9D8B030D-6E8A-4147-A177-3AD203B41FA5}">
                      <a16:colId xmlns:a16="http://schemas.microsoft.com/office/drawing/2014/main" val="20007"/>
                    </a:ext>
                  </a:extLst>
                </a:gridCol>
                <a:gridCol w="508635">
                  <a:extLst>
                    <a:ext uri="{9D8B030D-6E8A-4147-A177-3AD203B41FA5}">
                      <a16:colId xmlns:a16="http://schemas.microsoft.com/office/drawing/2014/main" val="20008"/>
                    </a:ext>
                  </a:extLst>
                </a:gridCol>
              </a:tblGrid>
              <a:tr h="381000">
                <a:tc>
                  <a:txBody>
                    <a:bodyPr/>
                    <a:lstStyle/>
                    <a:p>
                      <a:pPr>
                        <a:buNone/>
                      </a:pPr>
                      <a:r>
                        <a:rPr lang="en-US" altLang="zh-CN" sz="1400"/>
                        <a:t>D10</a:t>
                      </a:r>
                    </a:p>
                  </a:txBody>
                  <a:tcPr>
                    <a:noFill/>
                  </a:tcPr>
                </a:tc>
                <a:tc>
                  <a:txBody>
                    <a:bodyPr/>
                    <a:lstStyle/>
                    <a:p>
                      <a:pPr>
                        <a:buNone/>
                      </a:pPr>
                      <a:r>
                        <a:rPr lang="en-US" altLang="zh-CN"/>
                        <a:t>D2</a:t>
                      </a:r>
                    </a:p>
                  </a:txBody>
                  <a:tcPr>
                    <a:noFill/>
                  </a:tcPr>
                </a:tc>
                <a:tc>
                  <a:txBody>
                    <a:bodyPr/>
                    <a:lstStyle/>
                    <a:p>
                      <a:pPr>
                        <a:buNone/>
                      </a:pPr>
                      <a:r>
                        <a:rPr lang="en-US" altLang="zh-CN"/>
                        <a:t>D3</a:t>
                      </a:r>
                    </a:p>
                  </a:txBody>
                  <a:tcPr>
                    <a:noFill/>
                  </a:tcPr>
                </a:tc>
                <a:tc>
                  <a:txBody>
                    <a:bodyPr/>
                    <a:lstStyle/>
                    <a:p>
                      <a:pPr>
                        <a:buNone/>
                      </a:pPr>
                      <a:r>
                        <a:rPr lang="en-US" altLang="zh-CN"/>
                        <a:t>D4</a:t>
                      </a:r>
                    </a:p>
                  </a:txBody>
                  <a:tcPr>
                    <a:noFill/>
                  </a:tcPr>
                </a:tc>
                <a:tc>
                  <a:txBody>
                    <a:bodyPr/>
                    <a:lstStyle/>
                    <a:p>
                      <a:pPr>
                        <a:buNone/>
                      </a:pPr>
                      <a:r>
                        <a:rPr lang="en-US" altLang="zh-CN"/>
                        <a:t>D5</a:t>
                      </a:r>
                    </a:p>
                  </a:txBody>
                  <a:tcPr>
                    <a:noFill/>
                  </a:tcPr>
                </a:tc>
                <a:tc>
                  <a:txBody>
                    <a:bodyPr/>
                    <a:lstStyle/>
                    <a:p>
                      <a:pPr>
                        <a:buNone/>
                      </a:pPr>
                      <a:r>
                        <a:rPr lang="en-US" altLang="zh-CN"/>
                        <a:t>D6</a:t>
                      </a:r>
                    </a:p>
                  </a:txBody>
                  <a:tcPr>
                    <a:noFill/>
                  </a:tcPr>
                </a:tc>
                <a:tc>
                  <a:txBody>
                    <a:bodyPr/>
                    <a:lstStyle/>
                    <a:p>
                      <a:pPr>
                        <a:buNone/>
                      </a:pPr>
                      <a:r>
                        <a:rPr lang="en-US" altLang="zh-CN"/>
                        <a:t>D7</a:t>
                      </a:r>
                    </a:p>
                  </a:txBody>
                  <a:tcPr>
                    <a:noFill/>
                  </a:tcPr>
                </a:tc>
                <a:tc>
                  <a:txBody>
                    <a:bodyPr/>
                    <a:lstStyle/>
                    <a:p>
                      <a:pPr>
                        <a:buNone/>
                      </a:pPr>
                      <a:r>
                        <a:rPr lang="en-US" altLang="zh-CN"/>
                        <a:t>D8</a:t>
                      </a:r>
                    </a:p>
                  </a:txBody>
                  <a:tcPr>
                    <a:noFill/>
                  </a:tcPr>
                </a:tc>
                <a:tc>
                  <a:txBody>
                    <a:bodyPr/>
                    <a:lstStyle/>
                    <a:p>
                      <a:pPr>
                        <a:buNone/>
                      </a:pPr>
                      <a:r>
                        <a:rPr lang="en-US" altLang="zh-CN"/>
                        <a:t>D9</a:t>
                      </a:r>
                    </a:p>
                  </a:txBody>
                  <a:tcPr>
                    <a:noFill/>
                  </a:tcPr>
                </a:tc>
                <a:extLst>
                  <a:ext uri="{0D108BD9-81ED-4DB2-BD59-A6C34878D82A}">
                    <a16:rowId xmlns:a16="http://schemas.microsoft.com/office/drawing/2014/main" val="10000"/>
                  </a:ext>
                </a:extLst>
              </a:tr>
            </a:tbl>
          </a:graphicData>
        </a:graphic>
      </p:graphicFrame>
      <p:cxnSp>
        <p:nvCxnSpPr>
          <p:cNvPr id="34" name="直接箭头连接符 33">
            <a:extLst>
              <a:ext uri="{FF2B5EF4-FFF2-40B4-BE49-F238E27FC236}">
                <a16:creationId xmlns:a16="http://schemas.microsoft.com/office/drawing/2014/main" id="{EF56FF28-971E-4F11-9F06-018AC297E576}"/>
              </a:ext>
            </a:extLst>
          </p:cNvPr>
          <p:cNvCxnSpPr/>
          <p:nvPr/>
        </p:nvCxnSpPr>
        <p:spPr>
          <a:xfrm flipV="1">
            <a:off x="8517890" y="4552950"/>
            <a:ext cx="1076960" cy="15875"/>
          </a:xfrm>
          <a:prstGeom prst="straightConnector1">
            <a:avLst/>
          </a:prstGeom>
          <a:ln w="317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59B15CED-CF62-4233-B4CF-5E59D32D105B}"/>
              </a:ext>
            </a:extLst>
          </p:cNvPr>
          <p:cNvCxnSpPr/>
          <p:nvPr/>
        </p:nvCxnSpPr>
        <p:spPr>
          <a:xfrm flipV="1">
            <a:off x="8517890" y="5090795"/>
            <a:ext cx="1076960" cy="15875"/>
          </a:xfrm>
          <a:prstGeom prst="straightConnector1">
            <a:avLst/>
          </a:prstGeom>
          <a:ln w="31750">
            <a:solidFill>
              <a:schemeClr val="bg1"/>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6320C411-F402-4B06-9667-CC7BD83E2734}"/>
              </a:ext>
            </a:extLst>
          </p:cNvPr>
          <p:cNvCxnSpPr/>
          <p:nvPr/>
        </p:nvCxnSpPr>
        <p:spPr>
          <a:xfrm flipV="1">
            <a:off x="8517890" y="6088380"/>
            <a:ext cx="1076960" cy="15875"/>
          </a:xfrm>
          <a:prstGeom prst="straightConnector1">
            <a:avLst/>
          </a:prstGeom>
          <a:ln w="31750">
            <a:solidFill>
              <a:schemeClr val="bg1"/>
            </a:solidFill>
            <a:tailEnd type="arrow"/>
          </a:ln>
        </p:spPr>
        <p:style>
          <a:lnRef idx="1">
            <a:schemeClr val="accent1"/>
          </a:lnRef>
          <a:fillRef idx="0">
            <a:schemeClr val="accent1"/>
          </a:fillRef>
          <a:effectRef idx="0">
            <a:schemeClr val="accent1"/>
          </a:effectRef>
          <a:fontRef idx="minor">
            <a:schemeClr val="tx1"/>
          </a:fontRef>
        </p:style>
      </p:cxnSp>
      <p:pic>
        <p:nvPicPr>
          <p:cNvPr id="42" name="图片 41">
            <a:extLst>
              <a:ext uri="{FF2B5EF4-FFF2-40B4-BE49-F238E27FC236}">
                <a16:creationId xmlns:a16="http://schemas.microsoft.com/office/drawing/2014/main" id="{C1121B4B-A140-4ABE-B1BF-6D17663156F8}"/>
              </a:ext>
            </a:extLst>
          </p:cNvPr>
          <p:cNvPicPr>
            <a:picLocks noChangeAspect="1"/>
          </p:cNvPicPr>
          <p:nvPr/>
        </p:nvPicPr>
        <p:blipFill>
          <a:blip r:embed="rId2"/>
          <a:stretch>
            <a:fillRect/>
          </a:stretch>
        </p:blipFill>
        <p:spPr>
          <a:xfrm>
            <a:off x="1038505" y="3290570"/>
            <a:ext cx="9039225" cy="3124200"/>
          </a:xfrm>
          <a:prstGeom prst="rect">
            <a:avLst/>
          </a:prstGeom>
        </p:spPr>
      </p:pic>
    </p:spTree>
    <p:extLst>
      <p:ext uri="{BB962C8B-B14F-4D97-AF65-F5344CB8AC3E}">
        <p14:creationId xmlns:p14="http://schemas.microsoft.com/office/powerpoint/2010/main" val="3274043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animEffect transition="in" filter="blinds(horizontal)">
                                      <p:cBhvr>
                                        <p:cTn id="25" dur="500"/>
                                        <p:tgtEl>
                                          <p:spTgt spid="34"/>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9"/>
                                        </p:tgtEl>
                                        <p:attrNameLst>
                                          <p:attrName>style.visibility</p:attrName>
                                        </p:attrNameLst>
                                      </p:cBhvr>
                                      <p:to>
                                        <p:strVal val="visible"/>
                                      </p:to>
                                    </p:set>
                                    <p:animEffect transition="in" filter="blinds(horizontal)">
                                      <p:cBhvr>
                                        <p:cTn id="30" dur="5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blinds(horizontal)">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30"/>
                                        </p:tgtEl>
                                        <p:attrNameLst>
                                          <p:attrName>style.visibility</p:attrName>
                                        </p:attrNameLst>
                                      </p:cBhvr>
                                      <p:to>
                                        <p:strVal val="visible"/>
                                      </p:to>
                                    </p:set>
                                    <p:animEffect transition="in" filter="blinds(horizontal)">
                                      <p:cBhvr>
                                        <p:cTn id="40" dur="500"/>
                                        <p:tgtEl>
                                          <p:spTgt spid="30"/>
                                        </p:tgtEl>
                                      </p:cBhvr>
                                    </p:animEffect>
                                  </p:childTnLst>
                                </p:cTn>
                              </p:par>
                              <p:par>
                                <p:cTn id="41" presetID="3" presetClass="entr" presetSubtype="1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Effect transition="in" filter="blinds(horizontal)">
                                      <p:cBhvr>
                                        <p:cTn id="43"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6CB4895A-4577-4B4F-8531-2064685D4B8E}"/>
              </a:ext>
            </a:extLst>
          </p:cNvPr>
          <p:cNvSpPr txBox="1"/>
          <p:nvPr/>
        </p:nvSpPr>
        <p:spPr>
          <a:xfrm>
            <a:off x="951520" y="208400"/>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留一法</a:t>
            </a:r>
          </a:p>
        </p:txBody>
      </p:sp>
      <p:grpSp>
        <p:nvGrpSpPr>
          <p:cNvPr id="6" name="组合 5">
            <a:extLst>
              <a:ext uri="{FF2B5EF4-FFF2-40B4-BE49-F238E27FC236}">
                <a16:creationId xmlns:a16="http://schemas.microsoft.com/office/drawing/2014/main" id="{9D0D3BA8-A048-4F0A-9C4E-D0111F84E853}"/>
              </a:ext>
            </a:extLst>
          </p:cNvPr>
          <p:cNvGrpSpPr/>
          <p:nvPr/>
        </p:nvGrpSpPr>
        <p:grpSpPr>
          <a:xfrm>
            <a:off x="274265" y="222655"/>
            <a:ext cx="563089" cy="556264"/>
            <a:chOff x="318716" y="199386"/>
            <a:chExt cx="608244" cy="600871"/>
          </a:xfrm>
        </p:grpSpPr>
        <p:sp>
          <p:nvSpPr>
            <p:cNvPr id="7" name="任意多边形 1">
              <a:extLst>
                <a:ext uri="{FF2B5EF4-FFF2-40B4-BE49-F238E27FC236}">
                  <a16:creationId xmlns:a16="http://schemas.microsoft.com/office/drawing/2014/main" id="{94485DE0-2CCC-469B-9328-5B44E85B9A77}"/>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任意多边形 2">
              <a:extLst>
                <a:ext uri="{FF2B5EF4-FFF2-40B4-BE49-F238E27FC236}">
                  <a16:creationId xmlns:a16="http://schemas.microsoft.com/office/drawing/2014/main" id="{C3998CD2-C67C-48F8-A65A-99852B7C2521}"/>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B3B83E04-AEE5-46A8-82E6-638BCA3834FA}"/>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33C4FDC2-BFF8-441B-AD4C-CA084DB9F64E}"/>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83AD44B9-ECB8-419E-B99E-E73B80DF042D}"/>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B7587634-7E52-4C54-B1D1-5069D4EC40CB}"/>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FB94DE5F-4BAF-48CF-8B37-0B97107FA6FB}"/>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2AFD12A2-E5FC-4E90-A86D-D853177654AC}"/>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D3779D0A-C193-4DE7-A609-8AB3CAD26E89}"/>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95A92B04-A90B-42EA-866D-63A0DF907A31}"/>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1FF8BFDB-B675-414B-A29E-F5382F90A5C0}"/>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EB22A7F3-AE55-4559-A75A-444144EFB01C}"/>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椭圆 18">
              <a:extLst>
                <a:ext uri="{FF2B5EF4-FFF2-40B4-BE49-F238E27FC236}">
                  <a16:creationId xmlns:a16="http://schemas.microsoft.com/office/drawing/2014/main" id="{9CB89442-2DB2-4F32-AB68-EF34A5B451CE}"/>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a:extLst>
                <a:ext uri="{FF2B5EF4-FFF2-40B4-BE49-F238E27FC236}">
                  <a16:creationId xmlns:a16="http://schemas.microsoft.com/office/drawing/2014/main" id="{79C102ED-6CDA-4C7E-978B-7E0615932F53}"/>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0F46A763-C75C-4DD1-B0EC-07D74558433F}"/>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36775B0-357A-4CE1-9210-923911DA195F}"/>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1BF28270-BEAE-4637-AE50-DF488F302439}"/>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342AB474-5235-45A3-8AA1-0FD6693FB686}"/>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任意多边形: 形状 24">
              <a:extLst>
                <a:ext uri="{FF2B5EF4-FFF2-40B4-BE49-F238E27FC236}">
                  <a16:creationId xmlns:a16="http://schemas.microsoft.com/office/drawing/2014/main" id="{32E7D486-1DD4-4A01-87CF-E677D41F0189}"/>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任意多边形: 形状 25">
              <a:extLst>
                <a:ext uri="{FF2B5EF4-FFF2-40B4-BE49-F238E27FC236}">
                  <a16:creationId xmlns:a16="http://schemas.microsoft.com/office/drawing/2014/main" id="{3FC4F0BB-DA83-4B98-914A-5748240848C7}"/>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7" name="文本框 26">
            <a:extLst>
              <a:ext uri="{FF2B5EF4-FFF2-40B4-BE49-F238E27FC236}">
                <a16:creationId xmlns:a16="http://schemas.microsoft.com/office/drawing/2014/main" id="{B7906DE1-76D9-4E31-B1A7-F83C7BA4EF89}"/>
              </a:ext>
            </a:extLst>
          </p:cNvPr>
          <p:cNvSpPr txBox="1"/>
          <p:nvPr/>
        </p:nvSpPr>
        <p:spPr>
          <a:xfrm>
            <a:off x="982345" y="1227455"/>
            <a:ext cx="10227945" cy="1642110"/>
          </a:xfrm>
          <a:prstGeom prst="rect">
            <a:avLst/>
          </a:prstGeom>
          <a:noFill/>
        </p:spPr>
        <p:txBody>
          <a:bodyPr wrap="square" rtlCol="0">
            <a:spAutoFit/>
          </a:bodyPr>
          <a:lstStyle/>
          <a:p>
            <a:pPr>
              <a:lnSpc>
                <a:spcPct val="120000"/>
              </a:lnSpc>
            </a:pPr>
            <a:r>
              <a:rPr lang="zh-CN" altLang="en-US" sz="2400" b="1" dirty="0"/>
              <a:t>留一法（</a:t>
            </a:r>
            <a:r>
              <a:rPr lang="zh-CN" altLang="en-US" sz="2400" b="1" i="1" dirty="0"/>
              <a:t>Leave-One-Out,LOO</a:t>
            </a:r>
            <a:r>
              <a:rPr lang="zh-CN" altLang="en-US" sz="2400" b="1" dirty="0"/>
              <a:t>）：</a:t>
            </a:r>
            <a:r>
              <a:rPr lang="zh-CN" altLang="en-US" sz="2000" dirty="0"/>
              <a:t>是k折交叉验证的特殊形式，将数据集分成两个，其中一个数据集记录条数为1，作为测试集使用，其余记录作为训练集训练模型。训练出的模型和使用全部数据集训练得到的模型接近，其评估结果比较准确。缺点是当数据集较大时，训练次数和计算规模较大。</a:t>
            </a:r>
          </a:p>
        </p:txBody>
      </p:sp>
      <p:sp>
        <p:nvSpPr>
          <p:cNvPr id="28" name="矩形 27">
            <a:extLst>
              <a:ext uri="{FF2B5EF4-FFF2-40B4-BE49-F238E27FC236}">
                <a16:creationId xmlns:a16="http://schemas.microsoft.com/office/drawing/2014/main" id="{A2E8F2D6-B3A2-4E9B-A984-D0D579563066}"/>
              </a:ext>
            </a:extLst>
          </p:cNvPr>
          <p:cNvSpPr/>
          <p:nvPr/>
        </p:nvSpPr>
        <p:spPr>
          <a:xfrm>
            <a:off x="3277235" y="3500120"/>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id="{42C7D5A4-42A7-45E6-84AF-3CC8BBB35AD4}"/>
              </a:ext>
            </a:extLst>
          </p:cNvPr>
          <p:cNvSpPr/>
          <p:nvPr/>
        </p:nvSpPr>
        <p:spPr>
          <a:xfrm>
            <a:off x="3277235" y="3896360"/>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id="{C15B4813-B338-4885-8259-D999CBF5C44B}"/>
              </a:ext>
            </a:extLst>
          </p:cNvPr>
          <p:cNvSpPr/>
          <p:nvPr/>
        </p:nvSpPr>
        <p:spPr>
          <a:xfrm>
            <a:off x="3277235" y="4324350"/>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id="{F3A0C5B3-7FF5-4FA7-9121-466427D8E4B2}"/>
              </a:ext>
            </a:extLst>
          </p:cNvPr>
          <p:cNvSpPr/>
          <p:nvPr/>
        </p:nvSpPr>
        <p:spPr>
          <a:xfrm>
            <a:off x="3277235" y="4768215"/>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1984E75B-F71C-495D-B6CC-0DF331445304}"/>
              </a:ext>
            </a:extLst>
          </p:cNvPr>
          <p:cNvSpPr/>
          <p:nvPr/>
        </p:nvSpPr>
        <p:spPr>
          <a:xfrm>
            <a:off x="3277235" y="5211445"/>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29DE04B5-E649-4E26-A92D-5755F5F11AD0}"/>
              </a:ext>
            </a:extLst>
          </p:cNvPr>
          <p:cNvSpPr/>
          <p:nvPr/>
        </p:nvSpPr>
        <p:spPr>
          <a:xfrm>
            <a:off x="3277235" y="5654675"/>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a:extLst>
              <a:ext uri="{FF2B5EF4-FFF2-40B4-BE49-F238E27FC236}">
                <a16:creationId xmlns:a16="http://schemas.microsoft.com/office/drawing/2014/main" id="{F9279632-9914-4E7F-BB19-0AA2C5186F5D}"/>
              </a:ext>
            </a:extLst>
          </p:cNvPr>
          <p:cNvSpPr/>
          <p:nvPr/>
        </p:nvSpPr>
        <p:spPr>
          <a:xfrm>
            <a:off x="3277870" y="6113780"/>
            <a:ext cx="5636895" cy="300990"/>
          </a:xfrm>
          <a:prstGeom prst="rect">
            <a:avLst/>
          </a:prstGeom>
          <a:noFill/>
          <a:ln w="31750" cmpd="sng">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33012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8" presetClass="emph" presetSubtype="0" fill="hold" nodeType="withEffect">
                                  <p:stCondLst>
                                    <p:cond delay="250"/>
                                  </p:stCondLst>
                                  <p:childTnLst>
                                    <p:animRot by="-21600000">
                                      <p:cBhvr>
                                        <p:cTn id="12" dur="2000" fill="hold"/>
                                        <p:tgtEl>
                                          <p:spTgt spid="6"/>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8"/>
                                        </p:tgtEl>
                                        <p:attrNameLst>
                                          <p:attrName>style.visibility</p:attrName>
                                        </p:attrNameLst>
                                      </p:cBhvr>
                                      <p:to>
                                        <p:strVal val="visible"/>
                                      </p:to>
                                    </p:set>
                                    <p:animEffect transition="in" filter="blinds(horizontal)">
                                      <p:cBhvr>
                                        <p:cTn id="20" dur="500"/>
                                        <p:tgtEl>
                                          <p:spTgt spid="28"/>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linds(horizontal)">
                                      <p:cBhvr>
                                        <p:cTn id="23" dur="500"/>
                                        <p:tgtEl>
                                          <p:spTgt spid="2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blinds(horizontal)">
                                      <p:cBhvr>
                                        <p:cTn id="26" dur="500"/>
                                        <p:tgtEl>
                                          <p:spTgt spid="29"/>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blinds(horizontal)">
                                      <p:cBhvr>
                                        <p:cTn id="29" dur="500"/>
                                        <p:tgtEl>
                                          <p:spTgt spid="3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linds(horizontal)">
                                      <p:cBhvr>
                                        <p:cTn id="32" dur="500"/>
                                        <p:tgtEl>
                                          <p:spTgt spid="3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blinds(horizontal)">
                                      <p:cBhvr>
                                        <p:cTn id="35" dur="500"/>
                                        <p:tgtEl>
                                          <p:spTgt spid="32"/>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33"/>
                                        </p:tgtEl>
                                        <p:attrNameLst>
                                          <p:attrName>style.visibility</p:attrName>
                                        </p:attrNameLst>
                                      </p:cBhvr>
                                      <p:to>
                                        <p:strVal val="visible"/>
                                      </p:to>
                                    </p:set>
                                    <p:animEffect transition="in" filter="blinds(horizontal)">
                                      <p:cBhvr>
                                        <p:cTn id="38" dur="500"/>
                                        <p:tgtEl>
                                          <p:spTgt spid="3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animEffect transition="in" filter="blinds(horizontal)">
                                      <p:cBhvr>
                                        <p:cTn id="41" dur="500"/>
                                        <p:tgtEl>
                                          <p:spTgt spid="34"/>
                                        </p:tgtEl>
                                      </p:cBhvr>
                                    </p:animEffect>
                                  </p:childTnLst>
                                </p:cTn>
                              </p:par>
                            </p:childTnLst>
                          </p:cTn>
                        </p:par>
                      </p:childTnLst>
                    </p:cTn>
                  </p:par>
                  <p:par>
                    <p:cTn id="42" fill="hold">
                      <p:stCondLst>
                        <p:cond delay="indefinite"/>
                      </p:stCondLst>
                      <p:childTnLst>
                        <p:par>
                          <p:cTn id="43" fill="hold">
                            <p:stCondLst>
                              <p:cond delay="0"/>
                            </p:stCondLst>
                            <p:childTnLst>
                              <p:par>
                                <p:cTn id="44" presetID="0" presetClass="path" presetSubtype="0" accel="50000" decel="50000" fill="hold" grpId="2" nodeType="clickEffect">
                                  <p:stCondLst>
                                    <p:cond delay="0"/>
                                  </p:stCondLst>
                                  <p:childTnLst>
                                    <p:animMotion origin="layout" path="M 0.231250 -0.002407 L 0.266302 0.000000 " pathEditMode="relative" rAng="0" ptsTypes="">
                                      <p:cBhvr>
                                        <p:cTn id="45" dur="2000" fill="hold"/>
                                        <p:tgtEl>
                                          <p:spTgt spid="29"/>
                                        </p:tgtEl>
                                        <p:attrNameLst>
                                          <p:attrName>ppt_x</p:attrName>
                                          <p:attrName>ppt_y</p:attrName>
                                        </p:attrNameLst>
                                      </p:cBhvr>
                                      <p:rCtr x="2500" y="-1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7" grpId="0"/>
      <p:bldP spid="27" grpId="1"/>
      <p:bldP spid="28" grpId="0" animBg="1"/>
      <p:bldP spid="28" grpId="1" animBg="1"/>
      <p:bldP spid="29" grpId="0" animBg="1"/>
      <p:bldP spid="29" grpId="1" animBg="1"/>
      <p:bldP spid="29" grpId="2" animBg="1"/>
      <p:bldP spid="30" grpId="0" animBg="1"/>
      <p:bldP spid="30" grpId="1" animBg="1"/>
      <p:bldP spid="31" grpId="0" animBg="1"/>
      <p:bldP spid="31" grpId="1" animBg="1"/>
      <p:bldP spid="32" grpId="0" animBg="1"/>
      <p:bldP spid="32" grpId="1" animBg="1"/>
      <p:bldP spid="33" grpId="0" animBg="1"/>
      <p:bldP spid="33" grpId="1" animBg="1"/>
      <p:bldP spid="34" grpId="0" animBg="1"/>
      <p:bldP spid="34"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B05DEA4-5250-422F-AD44-85928AFE2BF8}"/>
              </a:ext>
            </a:extLst>
          </p:cNvPr>
          <p:cNvSpPr txBox="1"/>
          <p:nvPr/>
        </p:nvSpPr>
        <p:spPr>
          <a:xfrm>
            <a:off x="951520" y="208400"/>
            <a:ext cx="1402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自助法</a:t>
            </a:r>
          </a:p>
        </p:txBody>
      </p:sp>
      <p:grpSp>
        <p:nvGrpSpPr>
          <p:cNvPr id="4" name="组合 3">
            <a:extLst>
              <a:ext uri="{FF2B5EF4-FFF2-40B4-BE49-F238E27FC236}">
                <a16:creationId xmlns:a16="http://schemas.microsoft.com/office/drawing/2014/main" id="{3384FA82-E423-4714-9FFB-E531390DF35E}"/>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8C9DC866-2812-4C5A-8498-E0EB3371BD79}"/>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4C051C99-274D-4F6B-ABEF-0A814E1DC63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1B812469-9097-4554-B316-28D1C0094260}"/>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893D2D5A-5EFF-4809-A866-3D01FABD70D9}"/>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B545E901-D015-42CF-9DB5-F78949D5AC5F}"/>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7B3314AA-0013-460E-B925-84F6B398C2B6}"/>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A963A870-A2B8-4E50-90A5-57A78726B11C}"/>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AE4D2C36-F561-477B-BF62-AFCB3AA7A654}"/>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F5215738-625E-4CA9-9B0B-EB7B6007B5D3}"/>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8B4BE640-55A1-455D-A928-D20FD577236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A9F7AC7A-55A3-494A-A898-1F0E5FF62D5B}"/>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A5D721DA-392E-43ED-8C40-41A4BF40545F}"/>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6183F604-8D14-460B-B46A-CE2D9D25F66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8755877F-1753-47F3-BFC8-D611C09A2155}"/>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776CC7A0-1C14-4C11-B2BC-333168E24698}"/>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CAB19671-CBED-4B58-A689-98EB8867BB7C}"/>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AAC171C2-962E-4A49-A533-1289905FD091}"/>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803AC975-0BC3-4084-B15A-5701210441E3}"/>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01C4ABC5-4BC7-43FC-B4FD-A08CC0D1AEA5}"/>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DB72EF70-B4B9-4D54-984B-3E6D96210928}"/>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35CD0E15-5671-442F-A047-A497061E0237}"/>
              </a:ext>
            </a:extLst>
          </p:cNvPr>
          <p:cNvSpPr txBox="1"/>
          <p:nvPr/>
        </p:nvSpPr>
        <p:spPr>
          <a:xfrm>
            <a:off x="894080" y="1345565"/>
            <a:ext cx="10403840" cy="1273175"/>
          </a:xfrm>
          <a:prstGeom prst="rect">
            <a:avLst/>
          </a:prstGeom>
          <a:noFill/>
        </p:spPr>
        <p:txBody>
          <a:bodyPr wrap="square" rtlCol="0">
            <a:spAutoFit/>
          </a:bodyPr>
          <a:lstStyle/>
          <a:p>
            <a:pPr>
              <a:lnSpc>
                <a:spcPct val="120000"/>
              </a:lnSpc>
            </a:pPr>
            <a:r>
              <a:rPr lang="zh-CN" altLang="en-US" sz="2400" b="1" dirty="0"/>
              <a:t>自助法（</a:t>
            </a:r>
            <a:r>
              <a:rPr lang="zh-CN" altLang="en-US" sz="2400" b="1" i="1" dirty="0"/>
              <a:t>Bootstrapping</a:t>
            </a:r>
            <a:r>
              <a:rPr lang="zh-CN" altLang="en-US" sz="2400" b="1" dirty="0"/>
              <a:t>）：</a:t>
            </a:r>
            <a:r>
              <a:rPr lang="zh-CN" altLang="en-US" sz="2000" dirty="0"/>
              <a:t>是一种产生样本的抽样方法，其实质是有放回的随机抽样。即从已知数据集中随机抽取一条记录，然后将该记录放入测试集同时放回原数据集，继续下一次抽样，直到测试集中的数据条数满足要求。</a:t>
            </a:r>
          </a:p>
        </p:txBody>
      </p:sp>
      <p:sp>
        <p:nvSpPr>
          <p:cNvPr id="26" name="文本框 25">
            <a:extLst>
              <a:ext uri="{FF2B5EF4-FFF2-40B4-BE49-F238E27FC236}">
                <a16:creationId xmlns:a16="http://schemas.microsoft.com/office/drawing/2014/main" id="{183591A6-5DC0-443D-9915-EF1E4D19D6C0}"/>
              </a:ext>
            </a:extLst>
          </p:cNvPr>
          <p:cNvSpPr txBox="1"/>
          <p:nvPr/>
        </p:nvSpPr>
        <p:spPr>
          <a:xfrm>
            <a:off x="1481455" y="2618740"/>
            <a:ext cx="9816465" cy="768350"/>
          </a:xfrm>
          <a:prstGeom prst="rect">
            <a:avLst/>
          </a:prstGeom>
          <a:noFill/>
        </p:spPr>
        <p:txBody>
          <a:bodyPr wrap="square" rtlCol="0">
            <a:spAutoFit/>
          </a:bodyPr>
          <a:lstStyle/>
          <a:p>
            <a:pPr>
              <a:lnSpc>
                <a:spcPct val="110000"/>
              </a:lnSpc>
            </a:pPr>
            <a:r>
              <a:rPr lang="zh-CN" altLang="en-US" sz="2000" dirty="0"/>
              <a:t>假设已知数据集D含有n条，采用自助法得到一个记录条数为n的测试集T。D中的一些数据会在T中出现多次，还有一些数据不会出现。</a:t>
            </a:r>
          </a:p>
        </p:txBody>
      </p:sp>
      <p:sp>
        <p:nvSpPr>
          <p:cNvPr id="27" name="文本框 26">
            <a:extLst>
              <a:ext uri="{FF2B5EF4-FFF2-40B4-BE49-F238E27FC236}">
                <a16:creationId xmlns:a16="http://schemas.microsoft.com/office/drawing/2014/main" id="{03520537-1FF7-4BB5-A25D-D2FA476B36F6}"/>
              </a:ext>
            </a:extLst>
          </p:cNvPr>
          <p:cNvSpPr txBox="1"/>
          <p:nvPr/>
        </p:nvSpPr>
        <p:spPr>
          <a:xfrm>
            <a:off x="2035175" y="3598545"/>
            <a:ext cx="9262745" cy="1106805"/>
          </a:xfrm>
          <a:prstGeom prst="rect">
            <a:avLst/>
          </a:prstGeom>
          <a:noFill/>
        </p:spPr>
        <p:txBody>
          <a:bodyPr wrap="square" rtlCol="0">
            <a:spAutoFit/>
          </a:bodyPr>
          <a:lstStyle/>
          <a:p>
            <a:pPr>
              <a:lnSpc>
                <a:spcPct val="110000"/>
              </a:lnSpc>
            </a:pPr>
            <a:r>
              <a:rPr lang="zh-CN" altLang="en-US" sz="2000" dirty="0"/>
              <a:t>估算一下经过n次有放回采样后，大概多少记录未被选中：</a:t>
            </a:r>
          </a:p>
          <a:p>
            <a:pPr>
              <a:lnSpc>
                <a:spcPct val="110000"/>
              </a:lnSpc>
            </a:pPr>
            <a:r>
              <a:rPr lang="zh-CN" altLang="en-US" sz="2000" dirty="0"/>
              <a:t>某一次具体的采样，一条数据被选中的概率为1/n，未被选中的概率为：1-1/n</a:t>
            </a:r>
          </a:p>
          <a:p>
            <a:pPr>
              <a:lnSpc>
                <a:spcPct val="110000"/>
              </a:lnSpc>
            </a:pPr>
            <a:r>
              <a:rPr lang="zh-CN" altLang="en-US" sz="2000" dirty="0"/>
              <a:t>连续n次采样均未被选中的概率为：（1-1/n）</a:t>
            </a:r>
            <a:r>
              <a:rPr lang="zh-CN" altLang="en-US" sz="2000" baseline="30000" dirty="0"/>
              <a:t>n</a:t>
            </a:r>
            <a:r>
              <a:rPr lang="zh-CN" altLang="en-US" sz="2000" dirty="0"/>
              <a:t>，取极限：</a:t>
            </a:r>
          </a:p>
        </p:txBody>
      </p:sp>
      <p:pic>
        <p:nvPicPr>
          <p:cNvPr id="28" name="图片 27">
            <a:extLst>
              <a:ext uri="{FF2B5EF4-FFF2-40B4-BE49-F238E27FC236}">
                <a16:creationId xmlns:a16="http://schemas.microsoft.com/office/drawing/2014/main" id="{0DE74588-AA33-47BB-ABBD-3E1E0FF2C3AC}"/>
              </a:ext>
            </a:extLst>
          </p:cNvPr>
          <p:cNvPicPr>
            <a:picLocks noChangeAspect="1"/>
          </p:cNvPicPr>
          <p:nvPr/>
        </p:nvPicPr>
        <p:blipFill>
          <a:blip r:embed="rId2"/>
          <a:stretch>
            <a:fillRect/>
          </a:stretch>
        </p:blipFill>
        <p:spPr>
          <a:xfrm>
            <a:off x="8634730" y="4372610"/>
            <a:ext cx="2835275" cy="554355"/>
          </a:xfrm>
          <a:prstGeom prst="rect">
            <a:avLst/>
          </a:prstGeom>
        </p:spPr>
      </p:pic>
      <p:sp>
        <p:nvSpPr>
          <p:cNvPr id="29" name="文本框 28">
            <a:extLst>
              <a:ext uri="{FF2B5EF4-FFF2-40B4-BE49-F238E27FC236}">
                <a16:creationId xmlns:a16="http://schemas.microsoft.com/office/drawing/2014/main" id="{9F1844A2-B104-480B-9DAB-52FEC5681613}"/>
              </a:ext>
            </a:extLst>
          </p:cNvPr>
          <p:cNvSpPr txBox="1"/>
          <p:nvPr/>
        </p:nvSpPr>
        <p:spPr>
          <a:xfrm>
            <a:off x="1481455" y="4926965"/>
            <a:ext cx="9721850" cy="835660"/>
          </a:xfrm>
          <a:prstGeom prst="rect">
            <a:avLst/>
          </a:prstGeom>
          <a:noFill/>
        </p:spPr>
        <p:txBody>
          <a:bodyPr wrap="square" rtlCol="0">
            <a:spAutoFit/>
          </a:bodyPr>
          <a:lstStyle/>
          <a:p>
            <a:pPr>
              <a:lnSpc>
                <a:spcPct val="110000"/>
              </a:lnSpc>
            </a:pPr>
            <a:r>
              <a:rPr lang="zh-CN" altLang="en-US" sz="2000" dirty="0"/>
              <a:t>通过有放回的抽样获得的训练集去训练模型，不在训练集中的数据（总数量的1/3强）去用于测试，这样的测试结果被称作</a:t>
            </a:r>
            <a:r>
              <a:rPr lang="zh-CN" altLang="en-US" sz="2400" b="1" dirty="0"/>
              <a:t>包外估计</a:t>
            </a:r>
            <a:r>
              <a:rPr lang="zh-CN" altLang="en-US" sz="2000" dirty="0"/>
              <a:t>（Out-of-Bag Estimate，OOB）</a:t>
            </a:r>
          </a:p>
        </p:txBody>
      </p:sp>
    </p:spTree>
    <p:extLst>
      <p:ext uri="{BB962C8B-B14F-4D97-AF65-F5344CB8AC3E}">
        <p14:creationId xmlns:p14="http://schemas.microsoft.com/office/powerpoint/2010/main" val="287639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par>
                                <p:cTn id="31" presetID="3" presetClass="entr" presetSubtype="10" fill="hold" nodeType="with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blinds(horizontal)">
                                      <p:cBhvr>
                                        <p:cTn id="33" dur="500"/>
                                        <p:tgtEl>
                                          <p:spTgt spid="28"/>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blinds(horizontal)">
                                      <p:cBhvr>
                                        <p:cTn id="3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P spid="29" grpId="0"/>
      <p:bldP spid="29" grpId="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85AD5DB-6B66-4C4B-A7F0-5ADD08FD85C9}"/>
              </a:ext>
            </a:extLst>
          </p:cNvPr>
          <p:cNvSpPr txBox="1"/>
          <p:nvPr/>
        </p:nvSpPr>
        <p:spPr>
          <a:xfrm>
            <a:off x="951520" y="208400"/>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几种方法的使用场景</a:t>
            </a:r>
          </a:p>
        </p:txBody>
      </p:sp>
      <p:grpSp>
        <p:nvGrpSpPr>
          <p:cNvPr id="4" name="组合 3">
            <a:extLst>
              <a:ext uri="{FF2B5EF4-FFF2-40B4-BE49-F238E27FC236}">
                <a16:creationId xmlns:a16="http://schemas.microsoft.com/office/drawing/2014/main" id="{89315AC4-7CA0-40A3-931D-84F75736C103}"/>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979E5837-BF82-48BE-A404-AA743623DF54}"/>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B571A22E-D559-4D66-974F-3D5CCD13A06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6A925DC0-C39E-4B8B-87DA-026C1AFB5205}"/>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09D27F31-6B07-4A05-BC38-5E12B03F0397}"/>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C2A13647-0FAD-4963-B918-BBAFE1D5898A}"/>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9883F8B1-6487-4227-B67C-600BA6A8E8B3}"/>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876C9EBA-B837-45C1-9309-31EBF40BA4C5}"/>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1E5D041B-EE70-4133-99D1-1BA9205DA236}"/>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2D9A7DC1-D457-4408-934F-8156E4708C3C}"/>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BA15358-1883-4143-A9F0-FDD37796DC9B}"/>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C3B5CD66-0CED-4E2B-84D0-050A9C96E493}"/>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51C2DC54-9A19-4559-BD35-07808CE28591}"/>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B4E104AF-4154-4463-8ECA-78434B756D21}"/>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71B5AA24-7E2F-4456-87DE-44806A5EAAD0}"/>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96011122-279B-4696-B1FB-7FEA473CF51B}"/>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EBDC3678-A102-4DEC-B544-88A3C2C10706}"/>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F50D7519-8EEF-4809-9968-6C1E0FA2272B}"/>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8C3B93E9-12C7-450D-82B1-8965BBC0FA9E}"/>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4B33A012-501A-4310-B3B3-70AC8DF240A7}"/>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36199965-A4F5-48EF-8195-3DC5E102136A}"/>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715FB259-B014-421D-9DDF-BD736000AD5D}"/>
              </a:ext>
            </a:extLst>
          </p:cNvPr>
          <p:cNvSpPr txBox="1"/>
          <p:nvPr/>
        </p:nvSpPr>
        <p:spPr>
          <a:xfrm>
            <a:off x="837565" y="1639570"/>
            <a:ext cx="7077075" cy="4276725"/>
          </a:xfrm>
          <a:prstGeom prst="rect">
            <a:avLst/>
          </a:prstGeom>
          <a:noFill/>
        </p:spPr>
        <p:txBody>
          <a:bodyPr wrap="square" rtlCol="0">
            <a:spAutoFit/>
          </a:bodyPr>
          <a:lstStyle/>
          <a:p>
            <a:r>
              <a:rPr lang="zh-CN" altLang="en-US" sz="2800" b="1" dirty="0"/>
              <a:t>留出法：</a:t>
            </a:r>
          </a:p>
          <a:p>
            <a:pPr marL="342900" indent="-342900">
              <a:buFont typeface="Wingdings" panose="05000000000000000000" charset="0"/>
              <a:buChar char="n"/>
            </a:pPr>
            <a:r>
              <a:rPr lang="zh-CN" altLang="en-US" sz="2400" dirty="0"/>
              <a:t>实现简单、方便，在一定程度上能评估泛化误差</a:t>
            </a:r>
          </a:p>
          <a:p>
            <a:pPr marL="342900" indent="-342900">
              <a:buFont typeface="Wingdings" panose="05000000000000000000" charset="0"/>
              <a:buChar char="n"/>
            </a:pPr>
            <a:r>
              <a:rPr lang="zh-CN" altLang="en-US" sz="2400" dirty="0"/>
              <a:t>测试集和训练集分开，缓解了过拟合</a:t>
            </a:r>
          </a:p>
          <a:p>
            <a:pPr marL="342900" indent="-342900">
              <a:buFont typeface="Wingdings" panose="05000000000000000000" charset="0"/>
              <a:buChar char="p"/>
            </a:pPr>
            <a:r>
              <a:rPr lang="zh-CN" altLang="en-US" sz="2400" dirty="0"/>
              <a:t>一次划分，评估结果偶然性大</a:t>
            </a:r>
          </a:p>
          <a:p>
            <a:pPr marL="342900" indent="-342900">
              <a:buFont typeface="Wingdings" panose="05000000000000000000" charset="0"/>
              <a:buChar char="p"/>
            </a:pPr>
            <a:r>
              <a:rPr lang="zh-CN" altLang="en-US" sz="2400" dirty="0"/>
              <a:t>数据被拆分后，用于训练、测试的数据更少了</a:t>
            </a:r>
          </a:p>
          <a:p>
            <a:pPr marL="342900" indent="-342900"/>
            <a:endParaRPr lang="zh-CN" altLang="en-US" sz="2400" dirty="0"/>
          </a:p>
          <a:p>
            <a:endParaRPr lang="zh-CN" altLang="en-US" sz="2400" dirty="0"/>
          </a:p>
          <a:p>
            <a:r>
              <a:rPr lang="zh-CN" altLang="en-US" sz="2800" b="1" dirty="0"/>
              <a:t>交叉验证法（留一法）：</a:t>
            </a:r>
          </a:p>
          <a:p>
            <a:pPr marL="342900" indent="-342900">
              <a:buFont typeface="Wingdings" panose="05000000000000000000" charset="0"/>
              <a:buChar char="n"/>
            </a:pPr>
            <a:r>
              <a:rPr lang="zh-CN" altLang="en-US" sz="2400" dirty="0"/>
              <a:t>k可以根据实际情况设置，充分利用了所有样本</a:t>
            </a:r>
          </a:p>
          <a:p>
            <a:pPr marL="342900" indent="-342900">
              <a:buFont typeface="Wingdings" panose="05000000000000000000" charset="0"/>
              <a:buChar char="n"/>
            </a:pPr>
            <a:r>
              <a:rPr lang="zh-CN" altLang="en-US" sz="2400" dirty="0"/>
              <a:t>多次划分，评估结果相对稳定</a:t>
            </a:r>
          </a:p>
          <a:p>
            <a:pPr marL="342900" indent="-342900">
              <a:buFont typeface="Wingdings" panose="05000000000000000000" charset="0"/>
              <a:buChar char="p"/>
            </a:pPr>
            <a:r>
              <a:rPr lang="zh-CN" altLang="en-US" sz="2400" dirty="0"/>
              <a:t>计算比较繁琐，需要进行k次训练和评估</a:t>
            </a:r>
          </a:p>
        </p:txBody>
      </p:sp>
    </p:spTree>
    <p:extLst>
      <p:ext uri="{BB962C8B-B14F-4D97-AF65-F5344CB8AC3E}">
        <p14:creationId xmlns:p14="http://schemas.microsoft.com/office/powerpoint/2010/main" val="291989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060234C-1C63-431C-9FF6-1EC61BA9FDB2}"/>
              </a:ext>
            </a:extLst>
          </p:cNvPr>
          <p:cNvSpPr txBox="1"/>
          <p:nvPr/>
        </p:nvSpPr>
        <p:spPr>
          <a:xfrm>
            <a:off x="951520" y="208400"/>
            <a:ext cx="3840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几种方法的应用场景</a:t>
            </a:r>
          </a:p>
        </p:txBody>
      </p:sp>
      <p:grpSp>
        <p:nvGrpSpPr>
          <p:cNvPr id="4" name="组合 3">
            <a:extLst>
              <a:ext uri="{FF2B5EF4-FFF2-40B4-BE49-F238E27FC236}">
                <a16:creationId xmlns:a16="http://schemas.microsoft.com/office/drawing/2014/main" id="{FC11F3F9-9368-4E48-8B40-A2D0D3064929}"/>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967AC714-688C-40CF-88A8-E0B75D76EE0A}"/>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961AE379-EEE1-448D-88F7-C9E783CBE654}"/>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D9077505-140D-49EB-A4D6-D5DDBA3B6505}"/>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81942A05-5730-41D1-BABB-50FC26931147}"/>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CA3E14EC-1349-4EA4-8B50-62AAC5863999}"/>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98B6A14E-15BB-48D7-963A-D61CED6B9F9C}"/>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4C637150-2240-4A63-995F-1FBA8387D52C}"/>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3133E06C-CBBF-4C17-8752-A2BA43DF85DF}"/>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2646251B-D290-4AFA-A1BB-F77E3C08AABE}"/>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408ABC70-24B2-4929-A511-2FADB98A479F}"/>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EEED09BD-834F-4217-B5A8-D499AA321DDE}"/>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918A722-BC5A-4742-B8BA-83C4335882F7}"/>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CD45D9E8-6AF1-46FA-929C-50BDB93860BD}"/>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1103957D-C9F3-4911-8BFF-3D72191669E7}"/>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178157DF-3402-457F-BB19-FA1CD266E849}"/>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89C7C68F-6008-4626-B652-7D625B471FC9}"/>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5A5A187D-E523-4163-972D-9E1E8441E52B}"/>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A1F15EB0-45F8-4596-B87F-86299B6B016B}"/>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423D86DE-C5A5-4608-B2E3-AAD4185E88C1}"/>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A1E6F4D-6B11-40C4-9106-D3BCA5344815}"/>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B7D3F087-77FD-4E43-85F5-55279FE97E88}"/>
              </a:ext>
            </a:extLst>
          </p:cNvPr>
          <p:cNvSpPr txBox="1"/>
          <p:nvPr/>
        </p:nvSpPr>
        <p:spPr>
          <a:xfrm>
            <a:off x="601345" y="1386205"/>
            <a:ext cx="10939780" cy="3907790"/>
          </a:xfrm>
          <a:prstGeom prst="rect">
            <a:avLst/>
          </a:prstGeom>
          <a:noFill/>
        </p:spPr>
        <p:txBody>
          <a:bodyPr wrap="square" rtlCol="0">
            <a:spAutoFit/>
          </a:bodyPr>
          <a:lstStyle/>
          <a:p>
            <a:r>
              <a:rPr lang="zh-CN" altLang="en-US" sz="2800" b="1" dirty="0"/>
              <a:t>自助法：</a:t>
            </a:r>
          </a:p>
          <a:p>
            <a:pPr marL="342900" indent="-342900">
              <a:buFont typeface="Wingdings" panose="05000000000000000000" charset="0"/>
              <a:buChar char="n"/>
            </a:pPr>
            <a:r>
              <a:rPr lang="zh-CN" altLang="en-US" sz="2400" dirty="0"/>
              <a:t>样本量较小时可以通过自助法产生多个自助样本集，且有约36.8%的测试样本</a:t>
            </a:r>
          </a:p>
          <a:p>
            <a:pPr marL="342900" indent="-342900">
              <a:buFont typeface="Wingdings" panose="05000000000000000000" charset="0"/>
              <a:buChar char="n"/>
            </a:pPr>
            <a:r>
              <a:rPr lang="zh-CN" altLang="en-US" sz="2400" dirty="0"/>
              <a:t>对于总体的理论分布没有要求</a:t>
            </a:r>
          </a:p>
          <a:p>
            <a:pPr marL="342900" indent="-342900">
              <a:buFont typeface="Wingdings" panose="05000000000000000000" charset="0"/>
              <a:buChar char="p"/>
            </a:pPr>
            <a:r>
              <a:rPr lang="zh-CN" altLang="en-US" sz="2400" dirty="0"/>
              <a:t>无放回抽样引入了额外的偏差</a:t>
            </a:r>
          </a:p>
          <a:p>
            <a:pPr indent="0">
              <a:buFont typeface="Wingdings" panose="05000000000000000000" charset="0"/>
              <a:buNone/>
            </a:pPr>
            <a:endParaRPr lang="zh-CN" altLang="en-US" sz="2400" dirty="0"/>
          </a:p>
          <a:p>
            <a:endParaRPr lang="zh-CN" altLang="en-US" sz="2400" dirty="0"/>
          </a:p>
          <a:p>
            <a:r>
              <a:rPr lang="zh-CN" altLang="en-US" sz="2800" b="1" dirty="0"/>
              <a:t>几种方法的选择：</a:t>
            </a:r>
          </a:p>
          <a:p>
            <a:pPr marL="342900" indent="-342900">
              <a:buFont typeface="Wingdings" panose="05000000000000000000" charset="0"/>
              <a:buChar char="n"/>
            </a:pPr>
            <a:r>
              <a:rPr lang="zh-CN" altLang="en-US" sz="2400" dirty="0"/>
              <a:t>已知数据集数量充足时，通常采用留出法或者k折交叉验证法</a:t>
            </a:r>
          </a:p>
          <a:p>
            <a:pPr marL="342900" indent="-342900">
              <a:buFont typeface="Wingdings" panose="05000000000000000000" charset="0"/>
              <a:buChar char="n"/>
            </a:pPr>
            <a:r>
              <a:rPr lang="zh-CN" altLang="en-US" sz="2400" dirty="0"/>
              <a:t>对于已知数据集较小且难以有效划分训练集/测试集的时候，采用自助法</a:t>
            </a:r>
          </a:p>
          <a:p>
            <a:pPr marL="342900" indent="-342900">
              <a:buFont typeface="Wingdings" panose="05000000000000000000" charset="0"/>
              <a:buChar char="n"/>
            </a:pPr>
            <a:r>
              <a:rPr lang="zh-CN" altLang="en-US" sz="2400" dirty="0"/>
              <a:t>对于已知数据集较小且可以有效划分训练集/测试集的时候，采用留一</a:t>
            </a:r>
            <a:r>
              <a:rPr lang="zh-CN" altLang="en-US" sz="2400" dirty="0">
                <a:solidFill>
                  <a:schemeClr val="bg1"/>
                </a:solidFill>
              </a:rPr>
              <a:t>法</a:t>
            </a:r>
          </a:p>
        </p:txBody>
      </p:sp>
    </p:spTree>
    <p:extLst>
      <p:ext uri="{BB962C8B-B14F-4D97-AF65-F5344CB8AC3E}">
        <p14:creationId xmlns:p14="http://schemas.microsoft.com/office/powerpoint/2010/main" val="945253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0C9D98C2-2539-4FBE-8879-A8029012219F}"/>
              </a:ext>
            </a:extLst>
          </p:cNvPr>
          <p:cNvSpPr txBox="1"/>
          <p:nvPr/>
        </p:nvSpPr>
        <p:spPr>
          <a:xfrm>
            <a:off x="951520" y="208400"/>
            <a:ext cx="995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误差</a:t>
            </a:r>
          </a:p>
        </p:txBody>
      </p:sp>
      <p:grpSp>
        <p:nvGrpSpPr>
          <p:cNvPr id="6" name="组合 5">
            <a:extLst>
              <a:ext uri="{FF2B5EF4-FFF2-40B4-BE49-F238E27FC236}">
                <a16:creationId xmlns:a16="http://schemas.microsoft.com/office/drawing/2014/main" id="{5664592F-21BB-41AF-A561-E5D058C841C7}"/>
              </a:ext>
            </a:extLst>
          </p:cNvPr>
          <p:cNvGrpSpPr/>
          <p:nvPr/>
        </p:nvGrpSpPr>
        <p:grpSpPr>
          <a:xfrm>
            <a:off x="274265" y="222655"/>
            <a:ext cx="563089" cy="556264"/>
            <a:chOff x="318716" y="199386"/>
            <a:chExt cx="608244" cy="600871"/>
          </a:xfrm>
        </p:grpSpPr>
        <p:sp>
          <p:nvSpPr>
            <p:cNvPr id="7" name="任意多边形 1">
              <a:extLst>
                <a:ext uri="{FF2B5EF4-FFF2-40B4-BE49-F238E27FC236}">
                  <a16:creationId xmlns:a16="http://schemas.microsoft.com/office/drawing/2014/main" id="{EB108AC9-386E-4186-B821-8B9635175B46}"/>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8" name="任意多边形 2">
              <a:extLst>
                <a:ext uri="{FF2B5EF4-FFF2-40B4-BE49-F238E27FC236}">
                  <a16:creationId xmlns:a16="http://schemas.microsoft.com/office/drawing/2014/main" id="{1CFE6A22-6E9B-431B-AF76-01BE9C2E8B20}"/>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F5DDAC3A-27A4-483B-AFDD-A96FC0F6A184}"/>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022D7FB9-8814-4F84-ABD7-B1A319305A4C}"/>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6A10F8D8-DBB5-4775-856D-C5EB5645002B}"/>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7E4AE57B-6C1D-47E5-9A40-8350886C8315}"/>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B7FE4A2A-300A-416C-B596-3001B02447E9}"/>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BCBB603E-746D-4882-8323-B9F6BAB5F753}"/>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8A1D670A-9729-425A-8018-1015A5B23A99}"/>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7D1A825D-C110-438C-B07B-972D325054E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B31FE234-25BB-4AC4-97D1-F5F7990B51C0}"/>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C766DD77-2E12-46BB-A954-6041B1D21E05}"/>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椭圆 18">
              <a:extLst>
                <a:ext uri="{FF2B5EF4-FFF2-40B4-BE49-F238E27FC236}">
                  <a16:creationId xmlns:a16="http://schemas.microsoft.com/office/drawing/2014/main" id="{2AAFEF21-3155-410A-AA1F-98174E8121A2}"/>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椭圆 19">
              <a:extLst>
                <a:ext uri="{FF2B5EF4-FFF2-40B4-BE49-F238E27FC236}">
                  <a16:creationId xmlns:a16="http://schemas.microsoft.com/office/drawing/2014/main" id="{9A74C9F2-043B-4EC7-BFB3-8DA186703553}"/>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183CF7A6-8E6E-429E-B9F7-5A91F46DCF9D}"/>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FFDCD10D-8609-4261-B289-2531DC9ABF9F}"/>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75B7E3FF-319C-40E4-9F2F-9EADC6490CDF}"/>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166D904A-5903-4D80-8C5A-BB0A84E6E125}"/>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5" name="任意多边形: 形状 24">
              <a:extLst>
                <a:ext uri="{FF2B5EF4-FFF2-40B4-BE49-F238E27FC236}">
                  <a16:creationId xmlns:a16="http://schemas.microsoft.com/office/drawing/2014/main" id="{27FC0866-8DCD-4E7F-8BA4-C8A767BCE177}"/>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6" name="任意多边形: 形状 25">
              <a:extLst>
                <a:ext uri="{FF2B5EF4-FFF2-40B4-BE49-F238E27FC236}">
                  <a16:creationId xmlns:a16="http://schemas.microsoft.com/office/drawing/2014/main" id="{C01D8595-14FF-4BDF-ADE9-C447498F8333}"/>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7" name="文本框 26">
            <a:extLst>
              <a:ext uri="{FF2B5EF4-FFF2-40B4-BE49-F238E27FC236}">
                <a16:creationId xmlns:a16="http://schemas.microsoft.com/office/drawing/2014/main" id="{BA5562A2-FFB5-47C2-ACA3-F9F77DA7028D}"/>
              </a:ext>
            </a:extLst>
          </p:cNvPr>
          <p:cNvSpPr txBox="1"/>
          <p:nvPr/>
        </p:nvSpPr>
        <p:spPr>
          <a:xfrm>
            <a:off x="710565" y="1069340"/>
            <a:ext cx="10049510" cy="768350"/>
          </a:xfrm>
          <a:prstGeom prst="rect">
            <a:avLst/>
          </a:prstGeom>
          <a:noFill/>
        </p:spPr>
        <p:txBody>
          <a:bodyPr wrap="square" rtlCol="0">
            <a:spAutoFit/>
          </a:bodyPr>
          <a:lstStyle/>
          <a:p>
            <a:pPr algn="l"/>
            <a:r>
              <a:rPr lang="zh-CN" altLang="en-US" sz="2400" b="1" dirty="0"/>
              <a:t>误差（</a:t>
            </a:r>
            <a:r>
              <a:rPr lang="zh-CN" altLang="en-US" sz="2400" b="1" i="1" dirty="0"/>
              <a:t>Error</a:t>
            </a:r>
            <a:r>
              <a:rPr lang="zh-CN" altLang="en-US" sz="2400" b="1" dirty="0"/>
              <a:t>）：</a:t>
            </a:r>
            <a:r>
              <a:rPr lang="zh-CN" altLang="en-US" sz="2000" dirty="0"/>
              <a:t>是模型的预测输出值与其真实值之间的差异。</a:t>
            </a:r>
          </a:p>
          <a:p>
            <a:pPr algn="l"/>
            <a:endParaRPr lang="zh-CN" altLang="en-US" sz="2000" dirty="0">
              <a:solidFill>
                <a:schemeClr val="bg1"/>
              </a:solidFill>
            </a:endParaRPr>
          </a:p>
        </p:txBody>
      </p:sp>
      <p:sp>
        <p:nvSpPr>
          <p:cNvPr id="29" name="文本框 28">
            <a:extLst>
              <a:ext uri="{FF2B5EF4-FFF2-40B4-BE49-F238E27FC236}">
                <a16:creationId xmlns:a16="http://schemas.microsoft.com/office/drawing/2014/main" id="{1E642A13-B64A-46D0-8105-C65A0E72335A}"/>
              </a:ext>
            </a:extLst>
          </p:cNvPr>
          <p:cNvSpPr txBox="1"/>
          <p:nvPr/>
        </p:nvSpPr>
        <p:spPr>
          <a:xfrm>
            <a:off x="686232" y="3307542"/>
            <a:ext cx="10049510" cy="398780"/>
          </a:xfrm>
          <a:prstGeom prst="rect">
            <a:avLst/>
          </a:prstGeom>
          <a:noFill/>
        </p:spPr>
        <p:txBody>
          <a:bodyPr wrap="square" rtlCol="0">
            <a:spAutoFit/>
          </a:bodyPr>
          <a:lstStyle/>
          <a:p>
            <a:pPr algn="l"/>
            <a:r>
              <a:rPr lang="zh-CN" altLang="en-US" sz="2000" b="1" dirty="0"/>
              <a:t>泛化误差（</a:t>
            </a:r>
            <a:r>
              <a:rPr lang="zh-CN" altLang="en-US" sz="2000" b="1" i="1" dirty="0"/>
              <a:t>Generalization Error</a:t>
            </a:r>
            <a:r>
              <a:rPr lang="zh-CN" altLang="en-US" sz="2000" b="1" dirty="0"/>
              <a:t>）：</a:t>
            </a:r>
            <a:r>
              <a:rPr lang="zh-CN" altLang="en-US" sz="2000" dirty="0"/>
              <a:t>模型作用于新的样本数据时的误差。</a:t>
            </a:r>
          </a:p>
        </p:txBody>
      </p:sp>
      <p:sp>
        <p:nvSpPr>
          <p:cNvPr id="30" name="文本框 29">
            <a:extLst>
              <a:ext uri="{FF2B5EF4-FFF2-40B4-BE49-F238E27FC236}">
                <a16:creationId xmlns:a16="http://schemas.microsoft.com/office/drawing/2014/main" id="{B81A9569-9B8A-4E44-899B-FF6554DCC854}"/>
              </a:ext>
            </a:extLst>
          </p:cNvPr>
          <p:cNvSpPr txBox="1"/>
          <p:nvPr/>
        </p:nvSpPr>
        <p:spPr>
          <a:xfrm>
            <a:off x="700405" y="2078990"/>
            <a:ext cx="10049510" cy="706755"/>
          </a:xfrm>
          <a:prstGeom prst="rect">
            <a:avLst/>
          </a:prstGeom>
          <a:noFill/>
        </p:spPr>
        <p:txBody>
          <a:bodyPr wrap="square" rtlCol="0">
            <a:spAutoFit/>
          </a:bodyPr>
          <a:lstStyle/>
          <a:p>
            <a:pPr algn="l"/>
            <a:r>
              <a:rPr lang="zh-CN" altLang="en-US" sz="2000" b="1" dirty="0"/>
              <a:t>训练误差（</a:t>
            </a:r>
            <a:r>
              <a:rPr lang="zh-CN" altLang="en-US" sz="2000" b="1" i="1" dirty="0"/>
              <a:t>Training Error</a:t>
            </a:r>
            <a:r>
              <a:rPr lang="zh-CN" altLang="en-US" sz="2000" b="1" dirty="0"/>
              <a:t>）：</a:t>
            </a:r>
            <a:r>
              <a:rPr lang="zh-CN" altLang="en-US" sz="2000" dirty="0"/>
              <a:t>模型作用于训练集时的误差</a:t>
            </a:r>
            <a:r>
              <a:rPr lang="en-US" altLang="zh-CN" sz="2000" dirty="0" err="1"/>
              <a:t>vv</a:t>
            </a:r>
            <a:r>
              <a:rPr lang="zh-CN" altLang="en-US" sz="2000" dirty="0"/>
              <a:t>。</a:t>
            </a:r>
          </a:p>
          <a:p>
            <a:pPr algn="l"/>
            <a:endParaRPr lang="zh-CN" altLang="en-US" sz="2000" dirty="0">
              <a:solidFill>
                <a:schemeClr val="bg1"/>
              </a:solidFill>
            </a:endParaRPr>
          </a:p>
        </p:txBody>
      </p:sp>
      <p:sp>
        <p:nvSpPr>
          <p:cNvPr id="31" name="文本框 30">
            <a:extLst>
              <a:ext uri="{FF2B5EF4-FFF2-40B4-BE49-F238E27FC236}">
                <a16:creationId xmlns:a16="http://schemas.microsoft.com/office/drawing/2014/main" id="{DB0750E3-0BBF-4616-8CAB-D6F354FE1A01}"/>
              </a:ext>
            </a:extLst>
          </p:cNvPr>
          <p:cNvSpPr txBox="1"/>
          <p:nvPr/>
        </p:nvSpPr>
        <p:spPr>
          <a:xfrm>
            <a:off x="714375" y="1565275"/>
            <a:ext cx="10049510" cy="768350"/>
          </a:xfrm>
          <a:prstGeom prst="rect">
            <a:avLst/>
          </a:prstGeom>
          <a:noFill/>
        </p:spPr>
        <p:txBody>
          <a:bodyPr wrap="square" rtlCol="0">
            <a:spAutoFit/>
          </a:bodyPr>
          <a:lstStyle/>
          <a:p>
            <a:pPr algn="l"/>
            <a:r>
              <a:rPr lang="zh-CN" altLang="en-US" sz="2000" b="1" dirty="0"/>
              <a:t>训练（</a:t>
            </a:r>
            <a:r>
              <a:rPr lang="zh-CN" altLang="en-US" sz="2400" b="1" i="1" dirty="0"/>
              <a:t>Training</a:t>
            </a:r>
            <a:r>
              <a:rPr lang="zh-CN" altLang="en-US" sz="2000" b="1" dirty="0"/>
              <a:t>）：</a:t>
            </a:r>
            <a:r>
              <a:rPr lang="zh-CN" altLang="en-US" sz="2000" dirty="0"/>
              <a:t>通过已知的样本数据进行学习，从而得到模型的过程。</a:t>
            </a:r>
          </a:p>
          <a:p>
            <a:pPr algn="l"/>
            <a:endParaRPr lang="zh-CN" altLang="en-US" sz="2000" dirty="0">
              <a:solidFill>
                <a:schemeClr val="bg1"/>
              </a:solidFill>
            </a:endParaRPr>
          </a:p>
        </p:txBody>
      </p:sp>
      <p:sp>
        <p:nvSpPr>
          <p:cNvPr id="32" name="椭圆 31">
            <a:extLst>
              <a:ext uri="{FF2B5EF4-FFF2-40B4-BE49-F238E27FC236}">
                <a16:creationId xmlns:a16="http://schemas.microsoft.com/office/drawing/2014/main" id="{0A596847-4C57-41C0-818E-6182C967AD51}"/>
              </a:ext>
            </a:extLst>
          </p:cNvPr>
          <p:cNvSpPr/>
          <p:nvPr/>
        </p:nvSpPr>
        <p:spPr>
          <a:xfrm>
            <a:off x="2323465" y="5027295"/>
            <a:ext cx="3138170" cy="965835"/>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0D3F9359-346E-41C4-BF7E-49BBDABA4203}"/>
              </a:ext>
            </a:extLst>
          </p:cNvPr>
          <p:cNvSpPr/>
          <p:nvPr/>
        </p:nvSpPr>
        <p:spPr>
          <a:xfrm>
            <a:off x="2006600" y="4544695"/>
            <a:ext cx="4345305" cy="20523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4" name="直接箭头连接符 33">
            <a:extLst>
              <a:ext uri="{FF2B5EF4-FFF2-40B4-BE49-F238E27FC236}">
                <a16:creationId xmlns:a16="http://schemas.microsoft.com/office/drawing/2014/main" id="{FB41A750-37E4-4DC8-8FD0-9023495269E3}"/>
              </a:ext>
            </a:extLst>
          </p:cNvPr>
          <p:cNvCxnSpPr>
            <a:stCxn id="32" idx="7"/>
          </p:cNvCxnSpPr>
          <p:nvPr/>
        </p:nvCxnSpPr>
        <p:spPr>
          <a:xfrm flipV="1">
            <a:off x="5001895" y="4770755"/>
            <a:ext cx="1682115" cy="3981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E4167D5A-FE9E-4EBF-B17B-905DF2E31220}"/>
              </a:ext>
            </a:extLst>
          </p:cNvPr>
          <p:cNvCxnSpPr>
            <a:stCxn id="33" idx="6"/>
          </p:cNvCxnSpPr>
          <p:nvPr/>
        </p:nvCxnSpPr>
        <p:spPr>
          <a:xfrm>
            <a:off x="6351905" y="5570855"/>
            <a:ext cx="934720" cy="9652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9CAF1C0C-3288-446E-B5DB-F109CDF09A88}"/>
              </a:ext>
            </a:extLst>
          </p:cNvPr>
          <p:cNvSpPr txBox="1"/>
          <p:nvPr/>
        </p:nvSpPr>
        <p:spPr>
          <a:xfrm>
            <a:off x="6905625" y="4402455"/>
            <a:ext cx="2738120" cy="368300"/>
          </a:xfrm>
          <a:prstGeom prst="rect">
            <a:avLst/>
          </a:prstGeom>
          <a:noFill/>
        </p:spPr>
        <p:txBody>
          <a:bodyPr wrap="square" rtlCol="0">
            <a:spAutoFit/>
          </a:bodyPr>
          <a:lstStyle/>
          <a:p>
            <a:r>
              <a:rPr lang="zh-CN" altLang="en-US" dirty="0"/>
              <a:t>训练集，训练，训练误差</a:t>
            </a:r>
          </a:p>
        </p:txBody>
      </p:sp>
      <p:sp>
        <p:nvSpPr>
          <p:cNvPr id="37" name="文本框 36">
            <a:extLst>
              <a:ext uri="{FF2B5EF4-FFF2-40B4-BE49-F238E27FC236}">
                <a16:creationId xmlns:a16="http://schemas.microsoft.com/office/drawing/2014/main" id="{0E803B76-15A9-46A6-9DAD-806700BF851C}"/>
              </a:ext>
            </a:extLst>
          </p:cNvPr>
          <p:cNvSpPr txBox="1"/>
          <p:nvPr/>
        </p:nvSpPr>
        <p:spPr>
          <a:xfrm>
            <a:off x="7440930" y="5420360"/>
            <a:ext cx="3308985" cy="368300"/>
          </a:xfrm>
          <a:prstGeom prst="rect">
            <a:avLst/>
          </a:prstGeom>
          <a:noFill/>
        </p:spPr>
        <p:txBody>
          <a:bodyPr wrap="square" rtlCol="0">
            <a:spAutoFit/>
          </a:bodyPr>
          <a:lstStyle/>
          <a:p>
            <a:r>
              <a:rPr lang="zh-CN" altLang="en-US" dirty="0"/>
              <a:t>数据全集，泛化，泛化误差</a:t>
            </a:r>
          </a:p>
        </p:txBody>
      </p:sp>
      <p:sp>
        <p:nvSpPr>
          <p:cNvPr id="38" name="文本框 37">
            <a:extLst>
              <a:ext uri="{FF2B5EF4-FFF2-40B4-BE49-F238E27FC236}">
                <a16:creationId xmlns:a16="http://schemas.microsoft.com/office/drawing/2014/main" id="{7B3E112E-D33D-4CE3-B8B8-7D4431285B95}"/>
              </a:ext>
            </a:extLst>
          </p:cNvPr>
          <p:cNvSpPr txBox="1"/>
          <p:nvPr/>
        </p:nvSpPr>
        <p:spPr>
          <a:xfrm>
            <a:off x="700405" y="2514600"/>
            <a:ext cx="10049510" cy="1014730"/>
          </a:xfrm>
          <a:prstGeom prst="rect">
            <a:avLst/>
          </a:prstGeom>
          <a:noFill/>
        </p:spPr>
        <p:txBody>
          <a:bodyPr wrap="square" rtlCol="0">
            <a:spAutoFit/>
          </a:bodyPr>
          <a:lstStyle/>
          <a:p>
            <a:pPr algn="l"/>
            <a:r>
              <a:rPr lang="zh-CN" altLang="en-US" sz="2000" b="1" dirty="0"/>
              <a:t>泛化（</a:t>
            </a:r>
            <a:r>
              <a:rPr lang="zh-CN" altLang="en-US" sz="2000" b="1" i="1" dirty="0"/>
              <a:t>Gernera/ize</a:t>
            </a:r>
            <a:r>
              <a:rPr lang="zh-CN" altLang="en-US" sz="2000" b="1" dirty="0"/>
              <a:t>）：</a:t>
            </a:r>
            <a:r>
              <a:rPr lang="zh-CN" altLang="en-US" sz="2000" dirty="0"/>
              <a:t>由具体的、个别的扩大为一般的，即从特殊都一般，称为泛化。对机器学习的模型来讲，泛化是指模型作用于新的样本数据（非训练集）。</a:t>
            </a:r>
          </a:p>
          <a:p>
            <a:pPr algn="l"/>
            <a:endParaRPr lang="zh-CN" altLang="en-US" sz="2000" dirty="0">
              <a:solidFill>
                <a:schemeClr val="bg1"/>
              </a:solidFill>
            </a:endParaRPr>
          </a:p>
        </p:txBody>
      </p:sp>
    </p:spTree>
    <p:extLst>
      <p:ext uri="{BB962C8B-B14F-4D97-AF65-F5344CB8AC3E}">
        <p14:creationId xmlns:p14="http://schemas.microsoft.com/office/powerpoint/2010/main" val="2851566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fltVal val="0"/>
                                          </p:val>
                                        </p:tav>
                                        <p:tav tm="100000">
                                          <p:val>
                                            <p:strVal val="#ppt_h"/>
                                          </p:val>
                                        </p:tav>
                                      </p:tavLst>
                                    </p:anim>
                                    <p:anim calcmode="lin" valueType="num">
                                      <p:cBhvr>
                                        <p:cTn id="9" dur="1000" fill="hold"/>
                                        <p:tgtEl>
                                          <p:spTgt spid="6"/>
                                        </p:tgtEl>
                                        <p:attrNameLst>
                                          <p:attrName>style.rotation</p:attrName>
                                        </p:attrNameLst>
                                      </p:cBhvr>
                                      <p:tavLst>
                                        <p:tav tm="0">
                                          <p:val>
                                            <p:fltVal val="90"/>
                                          </p:val>
                                        </p:tav>
                                        <p:tav tm="100000">
                                          <p:val>
                                            <p:fltVal val="0"/>
                                          </p:val>
                                        </p:tav>
                                      </p:tavLst>
                                    </p:anim>
                                    <p:animEffect transition="in" filter="fade">
                                      <p:cBhvr>
                                        <p:cTn id="10" dur="1000"/>
                                        <p:tgtEl>
                                          <p:spTgt spid="6"/>
                                        </p:tgtEl>
                                      </p:cBhvr>
                                    </p:animEffect>
                                  </p:childTnLst>
                                </p:cTn>
                              </p:par>
                              <p:par>
                                <p:cTn id="11" presetID="8" presetClass="emph" presetSubtype="0" fill="hold" nodeType="withEffect">
                                  <p:stCondLst>
                                    <p:cond delay="250"/>
                                  </p:stCondLst>
                                  <p:childTnLst>
                                    <p:animRot by="-21600000">
                                      <p:cBhvr>
                                        <p:cTn id="12" dur="2000" fill="hold"/>
                                        <p:tgtEl>
                                          <p:spTgt spid="6"/>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7"/>
                                        </p:tgtEl>
                                        <p:attrNameLst>
                                          <p:attrName>style.visibility</p:attrName>
                                        </p:attrNameLst>
                                      </p:cBhvr>
                                      <p:to>
                                        <p:strVal val="visible"/>
                                      </p:to>
                                    </p:set>
                                    <p:animEffect transition="in" filter="blinds(horizontal)">
                                      <p:cBhvr>
                                        <p:cTn id="20" dur="500"/>
                                        <p:tgtEl>
                                          <p:spTgt spid="27"/>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1"/>
                                        </p:tgtEl>
                                        <p:attrNameLst>
                                          <p:attrName>style.visibility</p:attrName>
                                        </p:attrNameLst>
                                      </p:cBhvr>
                                      <p:to>
                                        <p:strVal val="visible"/>
                                      </p:to>
                                    </p:set>
                                    <p:animEffect transition="in" filter="blinds(horizontal)">
                                      <p:cBhvr>
                                        <p:cTn id="25" dur="500"/>
                                        <p:tgtEl>
                                          <p:spTgt spid="31"/>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30"/>
                                        </p:tgtEl>
                                        <p:attrNameLst>
                                          <p:attrName>style.visibility</p:attrName>
                                        </p:attrNameLst>
                                      </p:cBhvr>
                                      <p:to>
                                        <p:strVal val="visible"/>
                                      </p:to>
                                    </p:set>
                                    <p:animEffect transition="in" filter="blinds(horizontal)">
                                      <p:cBhvr>
                                        <p:cTn id="30" dur="500"/>
                                        <p:tgtEl>
                                          <p:spTgt spid="30"/>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blinds(horizontal)">
                                      <p:cBhvr>
                                        <p:cTn id="35" dur="5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blinds(horizontal)">
                                      <p:cBhvr>
                                        <p:cTn id="40" dur="500"/>
                                        <p:tgtEl>
                                          <p:spTgt spid="32"/>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blinds(horizontal)">
                                      <p:cBhvr>
                                        <p:cTn id="43" dur="500"/>
                                        <p:tgtEl>
                                          <p:spTgt spid="33"/>
                                        </p:tgtEl>
                                      </p:cBhvr>
                                    </p:animEffect>
                                  </p:childTnLst>
                                </p:cTn>
                              </p:par>
                              <p:par>
                                <p:cTn id="44" presetID="3" presetClass="entr" presetSubtype="10" fill="hold" nodeType="with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blinds(horizontal)">
                                      <p:cBhvr>
                                        <p:cTn id="46" dur="500"/>
                                        <p:tgtEl>
                                          <p:spTgt spid="35"/>
                                        </p:tgtEl>
                                      </p:cBhvr>
                                    </p:animEffect>
                                  </p:childTnLst>
                                </p:cTn>
                              </p:par>
                              <p:par>
                                <p:cTn id="47" presetID="3" presetClass="entr" presetSubtype="10" fill="hold" nodeType="withEffect">
                                  <p:stCondLst>
                                    <p:cond delay="0"/>
                                  </p:stCondLst>
                                  <p:childTnLst>
                                    <p:set>
                                      <p:cBhvr>
                                        <p:cTn id="48" dur="1" fill="hold">
                                          <p:stCondLst>
                                            <p:cond delay="0"/>
                                          </p:stCondLst>
                                        </p:cTn>
                                        <p:tgtEl>
                                          <p:spTgt spid="34"/>
                                        </p:tgtEl>
                                        <p:attrNameLst>
                                          <p:attrName>style.visibility</p:attrName>
                                        </p:attrNameLst>
                                      </p:cBhvr>
                                      <p:to>
                                        <p:strVal val="visible"/>
                                      </p:to>
                                    </p:set>
                                    <p:animEffect transition="in" filter="blinds(horizontal)">
                                      <p:cBhvr>
                                        <p:cTn id="49" dur="500"/>
                                        <p:tgtEl>
                                          <p:spTgt spid="34"/>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blinds(horizontal)">
                                      <p:cBhvr>
                                        <p:cTn id="52" dur="500"/>
                                        <p:tgtEl>
                                          <p:spTgt spid="36"/>
                                        </p:tgtEl>
                                      </p:cBhvr>
                                    </p:animEffect>
                                  </p:childTnLst>
                                </p:cTn>
                              </p:par>
                              <p:par>
                                <p:cTn id="53" presetID="3" presetClass="entr" presetSubtype="10" fill="hold" grpId="0" nodeType="with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blinds(horizontal)">
                                      <p:cBhvr>
                                        <p:cTn id="55" dur="500"/>
                                        <p:tgtEl>
                                          <p:spTgt spid="37"/>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grpId="0" nodeType="clickEffect">
                                  <p:stCondLst>
                                    <p:cond delay="0"/>
                                  </p:stCondLst>
                                  <p:childTnLst>
                                    <p:set>
                                      <p:cBhvr>
                                        <p:cTn id="59" dur="1" fill="hold">
                                          <p:stCondLst>
                                            <p:cond delay="0"/>
                                          </p:stCondLst>
                                        </p:cTn>
                                        <p:tgtEl>
                                          <p:spTgt spid="38"/>
                                        </p:tgtEl>
                                        <p:attrNameLst>
                                          <p:attrName>style.visibility</p:attrName>
                                        </p:attrNameLst>
                                      </p:cBhvr>
                                      <p:to>
                                        <p:strVal val="visible"/>
                                      </p:to>
                                    </p:set>
                                    <p:animEffect transition="in" filter="blinds(horizontal)">
                                      <p:cBhvr>
                                        <p:cTn id="6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27" grpId="0"/>
      <p:bldP spid="27" grpId="1"/>
      <p:bldP spid="29" grpId="0"/>
      <p:bldP spid="29" grpId="1"/>
      <p:bldP spid="30" grpId="0"/>
      <p:bldP spid="30" grpId="1"/>
      <p:bldP spid="31" grpId="0"/>
      <p:bldP spid="31" grpId="1"/>
      <p:bldP spid="32" grpId="0" animBg="1"/>
      <p:bldP spid="32" grpId="1" animBg="1"/>
      <p:bldP spid="33" grpId="0" animBg="1"/>
      <p:bldP spid="33" grpId="1" animBg="1"/>
      <p:bldP spid="36" grpId="0"/>
      <p:bldP spid="36" grpId="1"/>
      <p:bldP spid="37" grpId="0"/>
      <p:bldP spid="37" grpId="1"/>
      <p:bldP spid="38" grpId="0"/>
      <p:bldP spid="38"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3AECF6B-7945-41A4-98CB-F7AAEF391FA8}"/>
              </a:ext>
            </a:extLst>
          </p:cNvPr>
          <p:cNvSpPr txBox="1"/>
          <p:nvPr/>
        </p:nvSpPr>
        <p:spPr>
          <a:xfrm>
            <a:off x="951520" y="208400"/>
            <a:ext cx="30276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过拟合和欠拟合</a:t>
            </a:r>
          </a:p>
        </p:txBody>
      </p:sp>
      <p:grpSp>
        <p:nvGrpSpPr>
          <p:cNvPr id="4" name="组合 3">
            <a:extLst>
              <a:ext uri="{FF2B5EF4-FFF2-40B4-BE49-F238E27FC236}">
                <a16:creationId xmlns:a16="http://schemas.microsoft.com/office/drawing/2014/main" id="{6EB25F9C-C967-4C2D-A50D-E82DE069CE55}"/>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B9D7B2C0-ACA7-4C4E-818A-5C36E7657662}"/>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152FCF04-EB03-4CE1-A0B3-B04D378A40AA}"/>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1617D066-EBAA-4193-B96D-83B0D6B5291E}"/>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1636738E-C0C9-457D-A657-75D40833550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8C57C012-6A96-40E6-BD6D-E01FBDF1A878}"/>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0E70FBD9-975C-4904-ABBA-E41EEFB5EA76}"/>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7AD82044-7257-40D0-814C-55DD7B217AC4}"/>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773CD749-5377-4038-AFC4-97276311F1C1}"/>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F0F3AA47-1B3B-49C9-997B-5A2579F2100A}"/>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9DB4DC58-CE23-4672-A7B6-0D2AFCD2415B}"/>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C94EA6BF-FDFC-4D3A-B620-B71534BF51DA}"/>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FC0E8480-9759-4B1D-A39B-583F9635BA5E}"/>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EAC44DA0-C585-4057-B83B-3F490ED1855B}"/>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DE1E5E67-1ECF-4F4C-997A-8B9A1D534A36}"/>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89958B44-1647-4E85-A967-8F8C315BC57A}"/>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3E4E4F82-30F5-467E-A522-C1B311F9DDA7}"/>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7810CA1E-F1A3-4D2C-BDC3-E964FAE9389E}"/>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8E8D00D5-6331-4994-8CF2-E4DB4F8DA740}"/>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91242CB5-B789-4B35-936C-2E00E350279D}"/>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504189C8-2C29-4702-AB35-D89D0D9D45B1}"/>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C2D349EB-3B90-4714-8039-D2D36F40B3F3}"/>
              </a:ext>
            </a:extLst>
          </p:cNvPr>
          <p:cNvSpPr txBox="1"/>
          <p:nvPr/>
        </p:nvSpPr>
        <p:spPr>
          <a:xfrm>
            <a:off x="837565" y="1029335"/>
            <a:ext cx="9609455" cy="2085340"/>
          </a:xfrm>
          <a:prstGeom prst="rect">
            <a:avLst/>
          </a:prstGeom>
          <a:noFill/>
        </p:spPr>
        <p:txBody>
          <a:bodyPr wrap="square" rtlCol="0">
            <a:spAutoFit/>
          </a:bodyPr>
          <a:lstStyle/>
          <a:p>
            <a:pPr>
              <a:lnSpc>
                <a:spcPct val="120000"/>
              </a:lnSpc>
            </a:pPr>
            <a:r>
              <a:rPr lang="zh-CN" altLang="en-US" sz="2400" b="1" dirty="0"/>
              <a:t>模型容量（</a:t>
            </a:r>
            <a:r>
              <a:rPr lang="zh-CN" altLang="en-US" sz="2400" b="1" i="1" dirty="0"/>
              <a:t>Mode/Capacity</a:t>
            </a:r>
            <a:r>
              <a:rPr lang="zh-CN" altLang="en-US" sz="2400" b="1" dirty="0"/>
              <a:t>）：</a:t>
            </a:r>
            <a:r>
              <a:rPr lang="zh-CN" altLang="en-US" sz="2000" dirty="0"/>
              <a:t>是指其拟合各种模型的能力。</a:t>
            </a:r>
          </a:p>
          <a:p>
            <a:pPr>
              <a:lnSpc>
                <a:spcPct val="120000"/>
              </a:lnSpc>
            </a:pPr>
            <a:r>
              <a:rPr lang="zh-CN" altLang="en-US" sz="2400" b="1" dirty="0"/>
              <a:t>过拟合（</a:t>
            </a:r>
            <a:r>
              <a:rPr lang="zh-CN" altLang="en-US" sz="2400" b="1" i="1" dirty="0"/>
              <a:t>Overfitting</a:t>
            </a:r>
            <a:r>
              <a:rPr lang="zh-CN" altLang="en-US" sz="2400" b="1" dirty="0"/>
              <a:t>）：</a:t>
            </a:r>
            <a:r>
              <a:rPr lang="zh-CN" altLang="en-US" sz="2000" dirty="0"/>
              <a:t>是某个模型在训练集上表现很好，但是在新样本上表现差。模型将训练集的特征学习的太好，导致一些非普遍规律被模型接纳和体现，从而在训练集上表现好，但是对于新样本表现差。反之则称为欠拟合（Underfitting），即模型对训练集的一般性质学习较差，模型作用于训练集时表现不好。</a:t>
            </a:r>
          </a:p>
        </p:txBody>
      </p:sp>
      <p:pic>
        <p:nvPicPr>
          <p:cNvPr id="26" name="图片 25">
            <a:extLst>
              <a:ext uri="{FF2B5EF4-FFF2-40B4-BE49-F238E27FC236}">
                <a16:creationId xmlns:a16="http://schemas.microsoft.com/office/drawing/2014/main" id="{65DE2C0D-67CD-44F1-9DA6-E896FA23DF4D}"/>
              </a:ext>
            </a:extLst>
          </p:cNvPr>
          <p:cNvPicPr>
            <a:picLocks noChangeAspect="1"/>
          </p:cNvPicPr>
          <p:nvPr/>
        </p:nvPicPr>
        <p:blipFill>
          <a:blip r:embed="rId2"/>
          <a:stretch>
            <a:fillRect/>
          </a:stretch>
        </p:blipFill>
        <p:spPr>
          <a:xfrm>
            <a:off x="2292350" y="3987165"/>
            <a:ext cx="1686560" cy="2146300"/>
          </a:xfrm>
          <a:prstGeom prst="rect">
            <a:avLst/>
          </a:prstGeom>
        </p:spPr>
      </p:pic>
      <p:pic>
        <p:nvPicPr>
          <p:cNvPr id="27" name="图片 26">
            <a:extLst>
              <a:ext uri="{FF2B5EF4-FFF2-40B4-BE49-F238E27FC236}">
                <a16:creationId xmlns:a16="http://schemas.microsoft.com/office/drawing/2014/main" id="{6D1C2953-A9E4-4FAF-A4FF-C70A09CA54D1}"/>
              </a:ext>
            </a:extLst>
          </p:cNvPr>
          <p:cNvPicPr>
            <a:picLocks noChangeAspect="1"/>
          </p:cNvPicPr>
          <p:nvPr/>
        </p:nvPicPr>
        <p:blipFill>
          <a:blip r:embed="rId3"/>
          <a:stretch>
            <a:fillRect/>
          </a:stretch>
        </p:blipFill>
        <p:spPr>
          <a:xfrm>
            <a:off x="5201285" y="3987800"/>
            <a:ext cx="1789430" cy="2145665"/>
          </a:xfrm>
          <a:prstGeom prst="rect">
            <a:avLst/>
          </a:prstGeom>
        </p:spPr>
      </p:pic>
      <p:pic>
        <p:nvPicPr>
          <p:cNvPr id="28" name="图片 27">
            <a:extLst>
              <a:ext uri="{FF2B5EF4-FFF2-40B4-BE49-F238E27FC236}">
                <a16:creationId xmlns:a16="http://schemas.microsoft.com/office/drawing/2014/main" id="{752C2662-14AA-4B04-A51B-F9392B91CB1C}"/>
              </a:ext>
            </a:extLst>
          </p:cNvPr>
          <p:cNvPicPr>
            <a:picLocks noChangeAspect="1"/>
          </p:cNvPicPr>
          <p:nvPr/>
        </p:nvPicPr>
        <p:blipFill>
          <a:blip r:embed="rId4"/>
          <a:stretch>
            <a:fillRect/>
          </a:stretch>
        </p:blipFill>
        <p:spPr>
          <a:xfrm>
            <a:off x="8223250" y="3987800"/>
            <a:ext cx="1659255" cy="2146300"/>
          </a:xfrm>
          <a:prstGeom prst="rect">
            <a:avLst/>
          </a:prstGeom>
        </p:spPr>
      </p:pic>
    </p:spTree>
    <p:extLst>
      <p:ext uri="{BB962C8B-B14F-4D97-AF65-F5344CB8AC3E}">
        <p14:creationId xmlns:p14="http://schemas.microsoft.com/office/powerpoint/2010/main" val="1321932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8DD52A3-0CFB-4DE6-9F85-55A8DC86309B}"/>
              </a:ext>
            </a:extLst>
          </p:cNvPr>
          <p:cNvSpPr txBox="1"/>
          <p:nvPr/>
        </p:nvSpPr>
        <p:spPr>
          <a:xfrm>
            <a:off x="791722" y="235033"/>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模拟选择</a:t>
            </a:r>
          </a:p>
        </p:txBody>
      </p:sp>
      <p:grpSp>
        <p:nvGrpSpPr>
          <p:cNvPr id="4" name="组合 3">
            <a:extLst>
              <a:ext uri="{FF2B5EF4-FFF2-40B4-BE49-F238E27FC236}">
                <a16:creationId xmlns:a16="http://schemas.microsoft.com/office/drawing/2014/main" id="{5D1728A4-8869-42E3-B510-22AB8389DE0F}"/>
              </a:ext>
            </a:extLst>
          </p:cNvPr>
          <p:cNvGrpSpPr/>
          <p:nvPr/>
        </p:nvGrpSpPr>
        <p:grpSpPr>
          <a:xfrm>
            <a:off x="114467" y="249288"/>
            <a:ext cx="563089" cy="556264"/>
            <a:chOff x="318716" y="199386"/>
            <a:chExt cx="608244" cy="600871"/>
          </a:xfrm>
        </p:grpSpPr>
        <p:sp>
          <p:nvSpPr>
            <p:cNvPr id="5" name="任意多边形 1">
              <a:extLst>
                <a:ext uri="{FF2B5EF4-FFF2-40B4-BE49-F238E27FC236}">
                  <a16:creationId xmlns:a16="http://schemas.microsoft.com/office/drawing/2014/main" id="{8868CDDB-F023-4B1D-9336-A089F58512FB}"/>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43720315-1DC8-4F2B-A888-CD70654F9FEF}"/>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F1985686-D6A6-439E-ABD0-BDE464FA7402}"/>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9A277DB3-5C27-4D84-AA77-6F1B0EE503A6}"/>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44FE89C8-F9D3-4D39-B16A-508C62976E49}"/>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57D60E59-035C-4B10-AABB-40A4701462A4}"/>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A8EF62FB-B93E-4710-823F-483D3EE9876B}"/>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FDB94F59-047E-4AE3-8CFC-36C09F289AE1}"/>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60378795-F484-4711-B9D1-48EF90AD61E3}"/>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DA01A319-2183-4CD4-99A9-85FDC72E0657}"/>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D26E197A-0486-43F3-89B3-852EC2B572AD}"/>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CDE6E4D4-619E-4604-A623-5BE0F4A467BD}"/>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D66488EC-A2EE-4542-8518-39160E2C7AB8}"/>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C0BEA24A-12B3-49A7-8DA0-955CE7BDBB51}"/>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E92148DE-5C55-4E6D-975C-41B30583F387}"/>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0E86F2F5-B1A3-49B4-9265-018E10E61971}"/>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E9EF56DB-00A7-40E9-B5AC-76C2B4855689}"/>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35512C2-4E76-4A8C-8CB3-C77EB958D0F8}"/>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EC4EDD1C-ECC5-4C7B-8DDF-A730E34BC6C2}"/>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2C2AA6A1-3D5F-43A8-BEC6-E7729D4C1CA3}"/>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8B297896-1D85-4518-86B5-153063E0EDB7}"/>
              </a:ext>
            </a:extLst>
          </p:cNvPr>
          <p:cNvSpPr txBox="1"/>
          <p:nvPr/>
        </p:nvSpPr>
        <p:spPr>
          <a:xfrm>
            <a:off x="677556" y="953853"/>
            <a:ext cx="10385425" cy="1076325"/>
          </a:xfrm>
          <a:prstGeom prst="rect">
            <a:avLst/>
          </a:prstGeom>
          <a:noFill/>
        </p:spPr>
        <p:txBody>
          <a:bodyPr wrap="square" rtlCol="0">
            <a:spAutoFit/>
          </a:bodyPr>
          <a:lstStyle/>
          <a:p>
            <a:r>
              <a:rPr lang="zh-CN" altLang="en-US" sz="2400" b="1" dirty="0"/>
              <a:t>模型选择（</a:t>
            </a:r>
            <a:r>
              <a:rPr lang="zh-CN" altLang="en-US" sz="2400" b="1" i="1" dirty="0"/>
              <a:t>Mode/ Selection</a:t>
            </a:r>
            <a:r>
              <a:rPr lang="zh-CN" altLang="en-US" sz="2400" b="1" dirty="0"/>
              <a:t>)：</a:t>
            </a:r>
            <a:r>
              <a:rPr lang="zh-CN" altLang="en-US" sz="2000" dirty="0"/>
              <a:t>针对某个具体的任务，通常会有多种模型可供选择，对同一个模型也会有多组参数，可以通过分析、评估模型的泛化误差，选择泛化误差最小的模型。</a:t>
            </a:r>
          </a:p>
        </p:txBody>
      </p:sp>
      <p:pic>
        <p:nvPicPr>
          <p:cNvPr id="26" name="图片 25">
            <a:extLst>
              <a:ext uri="{FF2B5EF4-FFF2-40B4-BE49-F238E27FC236}">
                <a16:creationId xmlns:a16="http://schemas.microsoft.com/office/drawing/2014/main" id="{F8235B95-2C14-4C67-9748-6C8EAD16E3BF}"/>
              </a:ext>
            </a:extLst>
          </p:cNvPr>
          <p:cNvPicPr>
            <a:picLocks noChangeAspect="1"/>
          </p:cNvPicPr>
          <p:nvPr/>
        </p:nvPicPr>
        <p:blipFill>
          <a:blip r:embed="rId2"/>
          <a:stretch>
            <a:fillRect/>
          </a:stretch>
        </p:blipFill>
        <p:spPr>
          <a:xfrm>
            <a:off x="2949162" y="2785708"/>
            <a:ext cx="5975350" cy="2523490"/>
          </a:xfrm>
          <a:prstGeom prst="rect">
            <a:avLst/>
          </a:prstGeom>
        </p:spPr>
      </p:pic>
      <p:sp>
        <p:nvSpPr>
          <p:cNvPr id="27" name="文本框 26">
            <a:extLst>
              <a:ext uri="{FF2B5EF4-FFF2-40B4-BE49-F238E27FC236}">
                <a16:creationId xmlns:a16="http://schemas.microsoft.com/office/drawing/2014/main" id="{C609105D-8E52-408D-B328-D871A5F8031D}"/>
              </a:ext>
            </a:extLst>
          </p:cNvPr>
          <p:cNvSpPr txBox="1"/>
          <p:nvPr/>
        </p:nvSpPr>
        <p:spPr>
          <a:xfrm>
            <a:off x="4666837" y="5444453"/>
            <a:ext cx="2794000" cy="368300"/>
          </a:xfrm>
          <a:prstGeom prst="rect">
            <a:avLst/>
          </a:prstGeom>
          <a:noFill/>
        </p:spPr>
        <p:txBody>
          <a:bodyPr wrap="square" rtlCol="0">
            <a:spAutoFit/>
          </a:bodyPr>
          <a:lstStyle/>
          <a:p>
            <a:r>
              <a:rPr lang="en-US" altLang="zh-CN" dirty="0"/>
              <a:t>              capacity</a:t>
            </a:r>
          </a:p>
        </p:txBody>
      </p:sp>
      <p:sp>
        <p:nvSpPr>
          <p:cNvPr id="28" name="文本框 27">
            <a:extLst>
              <a:ext uri="{FF2B5EF4-FFF2-40B4-BE49-F238E27FC236}">
                <a16:creationId xmlns:a16="http://schemas.microsoft.com/office/drawing/2014/main" id="{F1336C2D-8E1B-4475-8206-5BEEA4222957}"/>
              </a:ext>
            </a:extLst>
          </p:cNvPr>
          <p:cNvSpPr txBox="1"/>
          <p:nvPr/>
        </p:nvSpPr>
        <p:spPr>
          <a:xfrm rot="16200000">
            <a:off x="1956657" y="3724238"/>
            <a:ext cx="1354455" cy="368300"/>
          </a:xfrm>
          <a:prstGeom prst="rect">
            <a:avLst/>
          </a:prstGeom>
          <a:noFill/>
        </p:spPr>
        <p:txBody>
          <a:bodyPr wrap="square" rtlCol="0">
            <a:spAutoFit/>
          </a:bodyPr>
          <a:lstStyle/>
          <a:p>
            <a:r>
              <a:rPr lang="en-US" altLang="zh-CN" dirty="0"/>
              <a:t>    Error</a:t>
            </a:r>
          </a:p>
        </p:txBody>
      </p:sp>
    </p:spTree>
    <p:extLst>
      <p:ext uri="{BB962C8B-B14F-4D97-AF65-F5344CB8AC3E}">
        <p14:creationId xmlns:p14="http://schemas.microsoft.com/office/powerpoint/2010/main" val="390334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7EEA7C2-DB57-41F6-9F5F-0489E3131C9F}"/>
              </a:ext>
            </a:extLst>
          </p:cNvPr>
          <p:cNvSpPr txBox="1"/>
          <p:nvPr/>
        </p:nvSpPr>
        <p:spPr>
          <a:xfrm>
            <a:off x="951520" y="208400"/>
            <a:ext cx="3434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偏差、方差与噪声</a:t>
            </a:r>
          </a:p>
        </p:txBody>
      </p:sp>
      <p:grpSp>
        <p:nvGrpSpPr>
          <p:cNvPr id="4" name="组合 3">
            <a:extLst>
              <a:ext uri="{FF2B5EF4-FFF2-40B4-BE49-F238E27FC236}">
                <a16:creationId xmlns:a16="http://schemas.microsoft.com/office/drawing/2014/main" id="{5B19DEA2-B223-4747-A973-CC0F9479A0E4}"/>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1EDEC088-2EC6-483E-B41B-C1650E75444D}"/>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4F471DBB-C697-40FD-A601-91A9AFF42CDB}"/>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61306C48-3F71-4859-B0E3-36D569B6BEC9}"/>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02F8FB70-56A9-4766-A6D0-0DA713292A0B}"/>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5FB53123-92F0-442D-B5F4-3324E215C935}"/>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1CCE0803-7E1C-47E7-AF5B-C5FF9FBD99BB}"/>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E9DF6368-A248-4CA5-925F-743CF9A28741}"/>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FFFB9B7E-D666-4FB8-817C-ABFB705EB6CE}"/>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665FD86F-C150-4B36-8DB6-9F800C65E206}"/>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204A0E4B-ADED-42B5-AD61-86A5C904417B}"/>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CE1F89EF-0C29-4741-9F35-00F9B94B68DA}"/>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49D9BA28-26DF-47C7-9B7E-9037ADE206B0}"/>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0F8D472F-BA03-4364-A7E0-4E0610877CFA}"/>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FB15B177-4550-4C46-B2FC-816B93A80B5E}"/>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415CAF9A-2DF7-45B1-99BE-BA23A11B72A0}"/>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A075E30D-B137-4E98-8129-E19EF8A89B30}"/>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CF8E8388-CE66-4086-B273-83B064BFAB5F}"/>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6CC9C8E3-A43A-477E-87F0-05E87B31F81D}"/>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B5CE6271-F434-40E2-B773-9A02762232D5}"/>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28251D25-5096-49EB-8805-E9A12A8B9E75}"/>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3AC546FD-2122-4F98-81D9-F14F5F054AA0}"/>
              </a:ext>
            </a:extLst>
          </p:cNvPr>
          <p:cNvSpPr txBox="1"/>
          <p:nvPr/>
        </p:nvSpPr>
        <p:spPr>
          <a:xfrm>
            <a:off x="974725" y="1170940"/>
            <a:ext cx="10351135" cy="891540"/>
          </a:xfrm>
          <a:prstGeom prst="rect">
            <a:avLst/>
          </a:prstGeom>
          <a:noFill/>
        </p:spPr>
        <p:txBody>
          <a:bodyPr wrap="square" rtlCol="0">
            <a:spAutoFit/>
          </a:bodyPr>
          <a:lstStyle/>
          <a:p>
            <a:r>
              <a:rPr lang="zh-CN" altLang="en-US" sz="2800" b="1" dirty="0"/>
              <a:t>偏差（Bias）：</a:t>
            </a:r>
            <a:r>
              <a:rPr lang="zh-CN" altLang="en-US" sz="2400" dirty="0"/>
              <a:t>描述的是根据样本拟合出的模型的输出预测结果的期望与样本真实结果的差距，即在样本上拟合的好不好。</a:t>
            </a:r>
          </a:p>
        </p:txBody>
      </p:sp>
      <p:sp>
        <p:nvSpPr>
          <p:cNvPr id="26" name="文本框 25">
            <a:extLst>
              <a:ext uri="{FF2B5EF4-FFF2-40B4-BE49-F238E27FC236}">
                <a16:creationId xmlns:a16="http://schemas.microsoft.com/office/drawing/2014/main" id="{70F1603F-933D-4106-9F17-4AB4972797D4}"/>
              </a:ext>
            </a:extLst>
          </p:cNvPr>
          <p:cNvSpPr txBox="1"/>
          <p:nvPr/>
        </p:nvSpPr>
        <p:spPr>
          <a:xfrm>
            <a:off x="1021715" y="2062480"/>
            <a:ext cx="10304780" cy="769441"/>
          </a:xfrm>
          <a:prstGeom prst="rect">
            <a:avLst/>
          </a:prstGeom>
          <a:noFill/>
        </p:spPr>
        <p:txBody>
          <a:bodyPr wrap="square" rtlCol="0">
            <a:spAutoFit/>
          </a:bodyPr>
          <a:lstStyle/>
          <a:p>
            <a:r>
              <a:rPr lang="zh-CN" altLang="en-US" sz="2400" b="1" dirty="0"/>
              <a:t>方差（Variance）：</a:t>
            </a:r>
            <a:r>
              <a:rPr lang="zh-CN" altLang="en-US" sz="2000" dirty="0"/>
              <a:t>模型每一次输出结果与模型输出期望之间的误差，即模型的稳定性</a:t>
            </a:r>
            <a:r>
              <a:rPr lang="zh-CN" altLang="en-US" sz="2000" dirty="0">
                <a:solidFill>
                  <a:schemeClr val="bg1"/>
                </a:solidFill>
              </a:rPr>
              <a:t>。</a:t>
            </a:r>
          </a:p>
        </p:txBody>
      </p:sp>
      <p:sp>
        <p:nvSpPr>
          <p:cNvPr id="27" name="文本框 26">
            <a:extLst>
              <a:ext uri="{FF2B5EF4-FFF2-40B4-BE49-F238E27FC236}">
                <a16:creationId xmlns:a16="http://schemas.microsoft.com/office/drawing/2014/main" id="{C327149B-36E7-4AB9-A35F-6D6DFAEED9BE}"/>
              </a:ext>
            </a:extLst>
          </p:cNvPr>
          <p:cNvSpPr txBox="1"/>
          <p:nvPr/>
        </p:nvSpPr>
        <p:spPr>
          <a:xfrm>
            <a:off x="1021715" y="2831921"/>
            <a:ext cx="10398125" cy="891540"/>
          </a:xfrm>
          <a:prstGeom prst="rect">
            <a:avLst/>
          </a:prstGeom>
          <a:noFill/>
        </p:spPr>
        <p:txBody>
          <a:bodyPr wrap="square" rtlCol="0">
            <a:spAutoFit/>
          </a:bodyPr>
          <a:lstStyle/>
          <a:p>
            <a:r>
              <a:rPr lang="zh-CN" altLang="en-US" sz="2800" b="1" dirty="0"/>
              <a:t>噪声（Noise）：</a:t>
            </a:r>
            <a:r>
              <a:rPr lang="zh-CN" altLang="en-US" sz="2400" dirty="0"/>
              <a:t>为真实标记与数据集中的实际标记间的偏差。通常由多种因素综合影响造成，不可去除。</a:t>
            </a:r>
          </a:p>
        </p:txBody>
      </p:sp>
      <p:sp>
        <p:nvSpPr>
          <p:cNvPr id="28" name="文本框 27">
            <a:extLst>
              <a:ext uri="{FF2B5EF4-FFF2-40B4-BE49-F238E27FC236}">
                <a16:creationId xmlns:a16="http://schemas.microsoft.com/office/drawing/2014/main" id="{CA362F42-EE4C-4712-8F41-49764C69D609}"/>
              </a:ext>
            </a:extLst>
          </p:cNvPr>
          <p:cNvSpPr txBox="1"/>
          <p:nvPr/>
        </p:nvSpPr>
        <p:spPr>
          <a:xfrm>
            <a:off x="1021715" y="3723461"/>
            <a:ext cx="10683240" cy="829945"/>
          </a:xfrm>
          <a:prstGeom prst="rect">
            <a:avLst/>
          </a:prstGeom>
          <a:noFill/>
        </p:spPr>
        <p:txBody>
          <a:bodyPr wrap="square" rtlCol="0">
            <a:spAutoFit/>
          </a:bodyPr>
          <a:lstStyle/>
          <a:p>
            <a:r>
              <a:rPr lang="zh-CN" altLang="en-US" sz="2400" b="1" dirty="0"/>
              <a:t>偏差</a:t>
            </a:r>
            <a:r>
              <a:rPr lang="zh-CN" altLang="en-US" sz="2400" dirty="0"/>
              <a:t>度量了学习算法的期望预测与真实结果的偏离程度，刻画了学习算法本身的拟合能力。</a:t>
            </a:r>
          </a:p>
        </p:txBody>
      </p:sp>
      <p:sp>
        <p:nvSpPr>
          <p:cNvPr id="29" name="文本框 28">
            <a:extLst>
              <a:ext uri="{FF2B5EF4-FFF2-40B4-BE49-F238E27FC236}">
                <a16:creationId xmlns:a16="http://schemas.microsoft.com/office/drawing/2014/main" id="{D8009B0A-A3AE-42A0-A3E2-D5521126C4AE}"/>
              </a:ext>
            </a:extLst>
          </p:cNvPr>
          <p:cNvSpPr txBox="1"/>
          <p:nvPr/>
        </p:nvSpPr>
        <p:spPr>
          <a:xfrm>
            <a:off x="974725" y="4364355"/>
            <a:ext cx="10668000" cy="1272540"/>
          </a:xfrm>
          <a:prstGeom prst="rect">
            <a:avLst/>
          </a:prstGeom>
          <a:noFill/>
        </p:spPr>
        <p:txBody>
          <a:bodyPr wrap="square" rtlCol="0">
            <a:spAutoFit/>
          </a:bodyPr>
          <a:lstStyle/>
          <a:p>
            <a:pPr>
              <a:lnSpc>
                <a:spcPct val="110000"/>
              </a:lnSpc>
            </a:pPr>
            <a:r>
              <a:rPr lang="zh-CN" altLang="en-US" sz="2400" b="1" dirty="0"/>
              <a:t>方差</a:t>
            </a:r>
            <a:r>
              <a:rPr lang="zh-CN" altLang="en-US" sz="2400" dirty="0"/>
              <a:t>度量了同样大小的训练集的变动所导致的学习性能的变化，即刻画了数据扰动所造成的影响。</a:t>
            </a:r>
          </a:p>
          <a:p>
            <a:endParaRPr lang="zh-CN" altLang="en-US" sz="2400" dirty="0">
              <a:solidFill>
                <a:schemeClr val="bg1"/>
              </a:solidFill>
            </a:endParaRPr>
          </a:p>
        </p:txBody>
      </p:sp>
      <p:sp>
        <p:nvSpPr>
          <p:cNvPr id="30" name="文本框 29">
            <a:extLst>
              <a:ext uri="{FF2B5EF4-FFF2-40B4-BE49-F238E27FC236}">
                <a16:creationId xmlns:a16="http://schemas.microsoft.com/office/drawing/2014/main" id="{74AC02E2-62E9-40D6-8BE9-5C574B2EDD84}"/>
              </a:ext>
            </a:extLst>
          </p:cNvPr>
          <p:cNvSpPr txBox="1"/>
          <p:nvPr/>
        </p:nvSpPr>
        <p:spPr>
          <a:xfrm>
            <a:off x="974725" y="5370195"/>
            <a:ext cx="10668000" cy="977265"/>
          </a:xfrm>
          <a:prstGeom prst="rect">
            <a:avLst/>
          </a:prstGeom>
          <a:noFill/>
        </p:spPr>
        <p:txBody>
          <a:bodyPr wrap="square" rtlCol="0">
            <a:spAutoFit/>
          </a:bodyPr>
          <a:lstStyle/>
          <a:p>
            <a:pPr>
              <a:lnSpc>
                <a:spcPct val="120000"/>
              </a:lnSpc>
            </a:pPr>
            <a:r>
              <a:rPr lang="zh-CN" altLang="en-US" sz="2400" b="1" dirty="0"/>
              <a:t>噪声</a:t>
            </a:r>
            <a:r>
              <a:rPr lang="zh-CN" altLang="en-US" sz="2400" dirty="0"/>
              <a:t>表达了在当前任务上任何学习算法所能达到的期望泛化误差的下界，即刻画了学习问题本身的难度。</a:t>
            </a:r>
          </a:p>
        </p:txBody>
      </p:sp>
    </p:spTree>
    <p:extLst>
      <p:ext uri="{BB962C8B-B14F-4D97-AF65-F5344CB8AC3E}">
        <p14:creationId xmlns:p14="http://schemas.microsoft.com/office/powerpoint/2010/main" val="1378744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27"/>
                                        </p:tgtEl>
                                        <p:attrNameLst>
                                          <p:attrName>style.visibility</p:attrName>
                                        </p:attrNameLst>
                                      </p:cBhvr>
                                      <p:to>
                                        <p:strVal val="visible"/>
                                      </p:to>
                                    </p:set>
                                    <p:animEffect transition="in" filter="blinds(horizontal)">
                                      <p:cBhvr>
                                        <p:cTn id="30" dur="500"/>
                                        <p:tgtEl>
                                          <p:spTgt spid="27"/>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blinds(horizontal)">
                                      <p:cBhvr>
                                        <p:cTn id="35" dur="500"/>
                                        <p:tgtEl>
                                          <p:spTgt spid="2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animEffect transition="in" filter="blinds(horizontal)">
                                      <p:cBhvr>
                                        <p:cTn id="40" dur="5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30"/>
                                        </p:tgtEl>
                                        <p:attrNameLst>
                                          <p:attrName>style.visibility</p:attrName>
                                        </p:attrNameLst>
                                      </p:cBhvr>
                                      <p:to>
                                        <p:strVal val="visible"/>
                                      </p:to>
                                    </p:set>
                                    <p:animEffect transition="in" filter="blinds(horizontal)">
                                      <p:cBhvr>
                                        <p:cTn id="45"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P spid="28" grpId="0"/>
      <p:bldP spid="28" grpId="1"/>
      <p:bldP spid="29" grpId="0"/>
      <p:bldP spid="29" grpId="1"/>
      <p:bldP spid="30" grpId="0"/>
      <p:bldP spid="30" grpId="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8FECB12D-13F6-4803-951B-96E0088C03C5}"/>
              </a:ext>
            </a:extLst>
          </p:cNvPr>
          <p:cNvSpPr txBox="1"/>
          <p:nvPr/>
        </p:nvSpPr>
        <p:spPr>
          <a:xfrm>
            <a:off x="951520" y="208400"/>
            <a:ext cx="3601085"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泛化误差组成推导*</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grpSp>
        <p:nvGrpSpPr>
          <p:cNvPr id="4" name="组合 3">
            <a:extLst>
              <a:ext uri="{FF2B5EF4-FFF2-40B4-BE49-F238E27FC236}">
                <a16:creationId xmlns:a16="http://schemas.microsoft.com/office/drawing/2014/main" id="{94916436-5E99-4A00-9014-81941E99CB01}"/>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01BBB10B-DF3F-4091-A057-3F21432BF14B}"/>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58BA91B6-39BB-4B40-ABE7-F92C11D6E760}"/>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C072A46C-A840-48F3-9A07-A2515B0B0865}"/>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22D83971-94A5-4DE9-8A9A-D4230AAA24C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6BE6D908-E469-408E-AEDA-1BF4C47A5F8F}"/>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D1AE3E31-02C1-46E4-9993-6E4DB0AD9040}"/>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3903AD3C-5A9D-4DC5-97EA-0530252AA1B9}"/>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168C8D84-E3F7-4373-BB45-C9B4D84D8B3B}"/>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003CD606-68D5-48B0-BC06-312919DAC550}"/>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16634D21-F014-4280-95D0-4223F656A57F}"/>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538501CA-D7F6-4860-B4C5-EB475A779B96}"/>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CEE756CA-6D5E-417D-962C-50FC1716A26F}"/>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13AD547E-C9A7-4314-A662-EC5AC9B8E27C}"/>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EAA392D5-265E-4183-8A77-042378E42724}"/>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EB7BFAD9-33A3-4E45-A5D2-9382AC417BDA}"/>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B92BE4F8-A871-41D3-9404-6A0729229504}"/>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B926D507-A31B-414D-989B-350122379D97}"/>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6DC178DE-5980-4591-A51A-1EC01806808B}"/>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9E544B7F-0648-46FE-8EB1-509C7CD4F726}"/>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2DC8FDF5-EAD9-4940-8A95-57B40A801578}"/>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F599FDE0-36A4-4955-A51E-FA535F712424}"/>
              </a:ext>
            </a:extLst>
          </p:cNvPr>
          <p:cNvSpPr txBox="1"/>
          <p:nvPr/>
        </p:nvSpPr>
        <p:spPr>
          <a:xfrm>
            <a:off x="572135" y="1179830"/>
            <a:ext cx="11211560" cy="1198880"/>
          </a:xfrm>
          <a:prstGeom prst="rect">
            <a:avLst/>
          </a:prstGeom>
          <a:noFill/>
        </p:spPr>
        <p:txBody>
          <a:bodyPr wrap="square" rtlCol="0">
            <a:spAutoFit/>
          </a:bodyPr>
          <a:lstStyle/>
          <a:p>
            <a:pPr>
              <a:lnSpc>
                <a:spcPct val="120000"/>
              </a:lnSpc>
            </a:pPr>
            <a:r>
              <a:rPr lang="zh-CN" altLang="en-US" sz="2000" dirty="0"/>
              <a:t>数据集D中的测试样本x的标记为yD，y为x的真实标记，f（x；D)为基于数据集D学习的模型f对x的预测值。</a:t>
            </a:r>
          </a:p>
          <a:p>
            <a:pPr>
              <a:lnSpc>
                <a:spcPct val="120000"/>
              </a:lnSpc>
            </a:pPr>
            <a:endParaRPr lang="zh-CN" altLang="en-US" sz="2000" dirty="0">
              <a:solidFill>
                <a:schemeClr val="bg1"/>
              </a:solidFill>
            </a:endParaRPr>
          </a:p>
        </p:txBody>
      </p:sp>
      <p:pic>
        <p:nvPicPr>
          <p:cNvPr id="26" name="图片 25">
            <a:extLst>
              <a:ext uri="{FF2B5EF4-FFF2-40B4-BE49-F238E27FC236}">
                <a16:creationId xmlns:a16="http://schemas.microsoft.com/office/drawing/2014/main" id="{A72A6FE3-6E61-4F58-8770-7E6F33AC7E15}"/>
              </a:ext>
            </a:extLst>
          </p:cNvPr>
          <p:cNvPicPr>
            <a:picLocks noChangeAspect="1"/>
          </p:cNvPicPr>
          <p:nvPr/>
        </p:nvPicPr>
        <p:blipFill>
          <a:blip r:embed="rId2"/>
          <a:stretch>
            <a:fillRect/>
          </a:stretch>
        </p:blipFill>
        <p:spPr>
          <a:xfrm>
            <a:off x="4552315" y="2035175"/>
            <a:ext cx="1858010" cy="487680"/>
          </a:xfrm>
          <a:prstGeom prst="rect">
            <a:avLst/>
          </a:prstGeom>
        </p:spPr>
      </p:pic>
      <p:pic>
        <p:nvPicPr>
          <p:cNvPr id="27" name="图片 26">
            <a:extLst>
              <a:ext uri="{FF2B5EF4-FFF2-40B4-BE49-F238E27FC236}">
                <a16:creationId xmlns:a16="http://schemas.microsoft.com/office/drawing/2014/main" id="{10F9D1ED-1592-48B5-B686-9C4296369C8B}"/>
              </a:ext>
            </a:extLst>
          </p:cNvPr>
          <p:cNvPicPr>
            <a:picLocks noChangeAspect="1"/>
          </p:cNvPicPr>
          <p:nvPr/>
        </p:nvPicPr>
        <p:blipFill>
          <a:blip r:embed="rId3"/>
          <a:stretch>
            <a:fillRect/>
          </a:stretch>
        </p:blipFill>
        <p:spPr>
          <a:xfrm>
            <a:off x="5800801" y="2533736"/>
            <a:ext cx="3422015" cy="488950"/>
          </a:xfrm>
          <a:prstGeom prst="rect">
            <a:avLst/>
          </a:prstGeom>
        </p:spPr>
      </p:pic>
      <p:pic>
        <p:nvPicPr>
          <p:cNvPr id="28" name="图片 27">
            <a:extLst>
              <a:ext uri="{FF2B5EF4-FFF2-40B4-BE49-F238E27FC236}">
                <a16:creationId xmlns:a16="http://schemas.microsoft.com/office/drawing/2014/main" id="{DAEEA0A5-B77B-48D9-BBC7-0AF9FBD469BB}"/>
              </a:ext>
            </a:extLst>
          </p:cNvPr>
          <p:cNvPicPr>
            <a:picLocks noChangeAspect="1"/>
          </p:cNvPicPr>
          <p:nvPr/>
        </p:nvPicPr>
        <p:blipFill>
          <a:blip r:embed="rId4"/>
          <a:stretch>
            <a:fillRect/>
          </a:stretch>
        </p:blipFill>
        <p:spPr>
          <a:xfrm>
            <a:off x="4815205" y="3323547"/>
            <a:ext cx="2561590" cy="473710"/>
          </a:xfrm>
          <a:prstGeom prst="rect">
            <a:avLst/>
          </a:prstGeom>
        </p:spPr>
      </p:pic>
      <p:sp>
        <p:nvSpPr>
          <p:cNvPr id="29" name="文本框 28">
            <a:extLst>
              <a:ext uri="{FF2B5EF4-FFF2-40B4-BE49-F238E27FC236}">
                <a16:creationId xmlns:a16="http://schemas.microsoft.com/office/drawing/2014/main" id="{83AEFE85-F2C5-4E39-808E-137A2A80082E}"/>
              </a:ext>
            </a:extLst>
          </p:cNvPr>
          <p:cNvSpPr txBox="1"/>
          <p:nvPr/>
        </p:nvSpPr>
        <p:spPr>
          <a:xfrm>
            <a:off x="602520" y="3843994"/>
            <a:ext cx="10909300" cy="706755"/>
          </a:xfrm>
          <a:prstGeom prst="rect">
            <a:avLst/>
          </a:prstGeom>
          <a:noFill/>
        </p:spPr>
        <p:txBody>
          <a:bodyPr wrap="square" rtlCol="0">
            <a:spAutoFit/>
          </a:bodyPr>
          <a:lstStyle/>
          <a:p>
            <a:r>
              <a:rPr lang="zh-CN" altLang="en-US" sz="2000" dirty="0">
                <a:sym typeface="+mn-ea"/>
              </a:rPr>
              <a:t>期望泛化误差：预测值和真实值的差的平方和即为泛化误差</a:t>
            </a:r>
            <a:endParaRPr lang="zh-CN" altLang="en-US" sz="2000" dirty="0"/>
          </a:p>
          <a:p>
            <a:endParaRPr lang="zh-CN" altLang="en-US" sz="2000" dirty="0">
              <a:solidFill>
                <a:schemeClr val="bg1"/>
              </a:solidFill>
            </a:endParaRPr>
          </a:p>
        </p:txBody>
      </p:sp>
      <p:sp>
        <p:nvSpPr>
          <p:cNvPr id="30" name="文本框 29">
            <a:extLst>
              <a:ext uri="{FF2B5EF4-FFF2-40B4-BE49-F238E27FC236}">
                <a16:creationId xmlns:a16="http://schemas.microsoft.com/office/drawing/2014/main" id="{62BADF38-AAEE-42C0-A7AC-24ACC4314908}"/>
              </a:ext>
            </a:extLst>
          </p:cNvPr>
          <p:cNvSpPr txBox="1"/>
          <p:nvPr/>
        </p:nvSpPr>
        <p:spPr>
          <a:xfrm>
            <a:off x="572135" y="3369945"/>
            <a:ext cx="3427730" cy="706755"/>
          </a:xfrm>
          <a:prstGeom prst="rect">
            <a:avLst/>
          </a:prstGeom>
          <a:noFill/>
        </p:spPr>
        <p:txBody>
          <a:bodyPr wrap="square" rtlCol="0">
            <a:spAutoFit/>
          </a:bodyPr>
          <a:lstStyle/>
          <a:p>
            <a:r>
              <a:rPr lang="zh-CN" altLang="en-US" sz="2000" dirty="0">
                <a:sym typeface="+mn-ea"/>
              </a:rPr>
              <a:t>期望输出与真实标记的偏差：</a:t>
            </a:r>
            <a:endParaRPr lang="zh-CN" altLang="en-US" sz="2000" dirty="0"/>
          </a:p>
          <a:p>
            <a:endParaRPr lang="zh-CN" altLang="en-US" sz="2000" dirty="0">
              <a:solidFill>
                <a:schemeClr val="bg1"/>
              </a:solidFill>
            </a:endParaRPr>
          </a:p>
        </p:txBody>
      </p:sp>
      <p:sp>
        <p:nvSpPr>
          <p:cNvPr id="31" name="文本框 30">
            <a:extLst>
              <a:ext uri="{FF2B5EF4-FFF2-40B4-BE49-F238E27FC236}">
                <a16:creationId xmlns:a16="http://schemas.microsoft.com/office/drawing/2014/main" id="{E77EFDE0-593D-4C6A-B72C-E63ACBBF8942}"/>
              </a:ext>
            </a:extLst>
          </p:cNvPr>
          <p:cNvSpPr txBox="1"/>
          <p:nvPr/>
        </p:nvSpPr>
        <p:spPr>
          <a:xfrm>
            <a:off x="567953" y="2977515"/>
            <a:ext cx="10517505" cy="706755"/>
          </a:xfrm>
          <a:prstGeom prst="rect">
            <a:avLst/>
          </a:prstGeom>
          <a:noFill/>
        </p:spPr>
        <p:txBody>
          <a:bodyPr wrap="square" rtlCol="0">
            <a:spAutoFit/>
          </a:bodyPr>
          <a:lstStyle/>
          <a:p>
            <a:r>
              <a:rPr lang="zh-CN" altLang="en-US" sz="2000" dirty="0">
                <a:sym typeface="+mn-ea"/>
              </a:rPr>
              <a:t>噪声：ε</a:t>
            </a:r>
            <a:r>
              <a:rPr lang="zh-CN" altLang="en-US" sz="2000" baseline="30000" dirty="0">
                <a:sym typeface="+mn-ea"/>
              </a:rPr>
              <a:t>2</a:t>
            </a:r>
            <a:r>
              <a:rPr lang="zh-CN" altLang="en-US" sz="2000" dirty="0">
                <a:sym typeface="+mn-ea"/>
              </a:rPr>
              <a:t>=Ep[(yp一y)</a:t>
            </a:r>
            <a:r>
              <a:rPr lang="zh-CN" altLang="en-US" sz="2000" baseline="30000" dirty="0">
                <a:sym typeface="+mn-ea"/>
              </a:rPr>
              <a:t>2</a:t>
            </a:r>
            <a:r>
              <a:rPr lang="zh-CN" altLang="en-US" sz="2000" dirty="0">
                <a:sym typeface="+mn-ea"/>
              </a:rPr>
              <a:t>]，回归方程的噪声的期望：Ep(yp-y)=0</a:t>
            </a:r>
            <a:endParaRPr lang="zh-CN" altLang="en-US" sz="2000" dirty="0"/>
          </a:p>
          <a:p>
            <a:endParaRPr lang="zh-CN" altLang="en-US" sz="2000" dirty="0">
              <a:solidFill>
                <a:schemeClr val="bg1"/>
              </a:solidFill>
            </a:endParaRPr>
          </a:p>
        </p:txBody>
      </p:sp>
      <p:sp>
        <p:nvSpPr>
          <p:cNvPr id="32" name="文本框 31">
            <a:extLst>
              <a:ext uri="{FF2B5EF4-FFF2-40B4-BE49-F238E27FC236}">
                <a16:creationId xmlns:a16="http://schemas.microsoft.com/office/drawing/2014/main" id="{7F041A39-B8CE-465E-AD40-423DC4EC7362}"/>
              </a:ext>
            </a:extLst>
          </p:cNvPr>
          <p:cNvSpPr txBox="1"/>
          <p:nvPr/>
        </p:nvSpPr>
        <p:spPr>
          <a:xfrm>
            <a:off x="572135" y="2522855"/>
            <a:ext cx="5718810" cy="706755"/>
          </a:xfrm>
          <a:prstGeom prst="rect">
            <a:avLst/>
          </a:prstGeom>
          <a:noFill/>
        </p:spPr>
        <p:txBody>
          <a:bodyPr wrap="square" rtlCol="0">
            <a:spAutoFit/>
          </a:bodyPr>
          <a:lstStyle/>
          <a:p>
            <a:r>
              <a:rPr lang="zh-CN" altLang="en-US" sz="2000" dirty="0">
                <a:sym typeface="+mn-ea"/>
              </a:rPr>
              <a:t>使用样本数相同的不同训练集产生的方差为：</a:t>
            </a:r>
            <a:endParaRPr lang="zh-CN" altLang="en-US" sz="2000" dirty="0"/>
          </a:p>
          <a:p>
            <a:endParaRPr lang="zh-CN" altLang="en-US" sz="2000" dirty="0">
              <a:solidFill>
                <a:schemeClr val="bg1"/>
              </a:solidFill>
            </a:endParaRPr>
          </a:p>
        </p:txBody>
      </p:sp>
      <p:sp>
        <p:nvSpPr>
          <p:cNvPr id="33" name="文本框 32">
            <a:extLst>
              <a:ext uri="{FF2B5EF4-FFF2-40B4-BE49-F238E27FC236}">
                <a16:creationId xmlns:a16="http://schemas.microsoft.com/office/drawing/2014/main" id="{B189F5C0-24A3-4A8E-8E18-98FB34C49593}"/>
              </a:ext>
            </a:extLst>
          </p:cNvPr>
          <p:cNvSpPr txBox="1"/>
          <p:nvPr/>
        </p:nvSpPr>
        <p:spPr>
          <a:xfrm>
            <a:off x="572135" y="2056130"/>
            <a:ext cx="4330700" cy="706755"/>
          </a:xfrm>
          <a:prstGeom prst="rect">
            <a:avLst/>
          </a:prstGeom>
          <a:noFill/>
        </p:spPr>
        <p:txBody>
          <a:bodyPr wrap="square" rtlCol="0">
            <a:spAutoFit/>
          </a:bodyPr>
          <a:lstStyle/>
          <a:p>
            <a:r>
              <a:rPr lang="zh-CN" altLang="en-US" sz="2000" dirty="0">
                <a:sym typeface="+mn-ea"/>
              </a:rPr>
              <a:t>以回归算法为例，其</a:t>
            </a:r>
            <a:r>
              <a:rPr lang="zh-CN" altLang="en-US" sz="2000" b="1" dirty="0">
                <a:sym typeface="+mn-ea"/>
              </a:rPr>
              <a:t>期望预测</a:t>
            </a:r>
            <a:r>
              <a:rPr lang="zh-CN" altLang="en-US" sz="2000" dirty="0">
                <a:sym typeface="+mn-ea"/>
              </a:rPr>
              <a:t>为：</a:t>
            </a:r>
            <a:endParaRPr lang="zh-CN" altLang="en-US" sz="2000" dirty="0"/>
          </a:p>
          <a:p>
            <a:endParaRPr lang="zh-CN" altLang="en-US" sz="2000" dirty="0">
              <a:solidFill>
                <a:schemeClr val="bg1"/>
              </a:solidFill>
            </a:endParaRPr>
          </a:p>
        </p:txBody>
      </p:sp>
      <p:pic>
        <p:nvPicPr>
          <p:cNvPr id="34" name="图片 33">
            <a:extLst>
              <a:ext uri="{FF2B5EF4-FFF2-40B4-BE49-F238E27FC236}">
                <a16:creationId xmlns:a16="http://schemas.microsoft.com/office/drawing/2014/main" id="{9319AA41-4374-4BDC-A3D2-8CDD1DDF6427}"/>
              </a:ext>
            </a:extLst>
          </p:cNvPr>
          <p:cNvPicPr>
            <a:picLocks noChangeAspect="1"/>
          </p:cNvPicPr>
          <p:nvPr/>
        </p:nvPicPr>
        <p:blipFill>
          <a:blip r:embed="rId5"/>
          <a:stretch>
            <a:fillRect/>
          </a:stretch>
        </p:blipFill>
        <p:spPr>
          <a:xfrm>
            <a:off x="584200" y="4442460"/>
            <a:ext cx="6373495" cy="738505"/>
          </a:xfrm>
          <a:prstGeom prst="rect">
            <a:avLst/>
          </a:prstGeom>
        </p:spPr>
      </p:pic>
      <p:sp>
        <p:nvSpPr>
          <p:cNvPr id="35" name="矩形 34">
            <a:extLst>
              <a:ext uri="{FF2B5EF4-FFF2-40B4-BE49-F238E27FC236}">
                <a16:creationId xmlns:a16="http://schemas.microsoft.com/office/drawing/2014/main" id="{D49E74B7-91CB-415A-AB8E-05FB0DDD61FD}"/>
              </a:ext>
            </a:extLst>
          </p:cNvPr>
          <p:cNvSpPr/>
          <p:nvPr/>
        </p:nvSpPr>
        <p:spPr>
          <a:xfrm>
            <a:off x="4465955" y="4711065"/>
            <a:ext cx="2610485" cy="469900"/>
          </a:xfrm>
          <a:prstGeom prst="rect">
            <a:avLst/>
          </a:prstGeom>
          <a:noFill/>
          <a:ln w="381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6" name="图片 35">
            <a:extLst>
              <a:ext uri="{FF2B5EF4-FFF2-40B4-BE49-F238E27FC236}">
                <a16:creationId xmlns:a16="http://schemas.microsoft.com/office/drawing/2014/main" id="{B7ED096C-EE7A-4940-BE7F-CC5075D810C2}"/>
              </a:ext>
            </a:extLst>
          </p:cNvPr>
          <p:cNvPicPr>
            <a:picLocks noChangeAspect="1"/>
          </p:cNvPicPr>
          <p:nvPr/>
        </p:nvPicPr>
        <p:blipFill>
          <a:blip r:embed="rId6"/>
          <a:stretch>
            <a:fillRect/>
          </a:stretch>
        </p:blipFill>
        <p:spPr>
          <a:xfrm>
            <a:off x="1207770" y="5180965"/>
            <a:ext cx="6040755" cy="707390"/>
          </a:xfrm>
          <a:prstGeom prst="rect">
            <a:avLst/>
          </a:prstGeom>
        </p:spPr>
      </p:pic>
      <p:pic>
        <p:nvPicPr>
          <p:cNvPr id="37" name="图片 36">
            <a:extLst>
              <a:ext uri="{FF2B5EF4-FFF2-40B4-BE49-F238E27FC236}">
                <a16:creationId xmlns:a16="http://schemas.microsoft.com/office/drawing/2014/main" id="{EB23E53A-0EC1-4785-B694-89B66C0B52B7}"/>
              </a:ext>
            </a:extLst>
          </p:cNvPr>
          <p:cNvPicPr>
            <a:picLocks noChangeAspect="1"/>
          </p:cNvPicPr>
          <p:nvPr/>
        </p:nvPicPr>
        <p:blipFill>
          <a:blip r:embed="rId7"/>
          <a:stretch>
            <a:fillRect/>
          </a:stretch>
        </p:blipFill>
        <p:spPr>
          <a:xfrm>
            <a:off x="951230" y="5883275"/>
            <a:ext cx="5912485" cy="629920"/>
          </a:xfrm>
          <a:prstGeom prst="rect">
            <a:avLst/>
          </a:prstGeom>
        </p:spPr>
      </p:pic>
      <p:sp>
        <p:nvSpPr>
          <p:cNvPr id="38" name="矩形 37">
            <a:extLst>
              <a:ext uri="{FF2B5EF4-FFF2-40B4-BE49-F238E27FC236}">
                <a16:creationId xmlns:a16="http://schemas.microsoft.com/office/drawing/2014/main" id="{6D305B8E-2726-4275-9E88-E779CDCA02AA}"/>
              </a:ext>
            </a:extLst>
          </p:cNvPr>
          <p:cNvSpPr/>
          <p:nvPr/>
        </p:nvSpPr>
        <p:spPr>
          <a:xfrm>
            <a:off x="3999230" y="5433695"/>
            <a:ext cx="3163570" cy="454660"/>
          </a:xfrm>
          <a:prstGeom prst="rect">
            <a:avLst/>
          </a:prstGeom>
          <a:noFill/>
          <a:ln w="38100" cmpd="sng">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48767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blinds(horizontal)">
                                      <p:cBhvr>
                                        <p:cTn id="25" dur="500"/>
                                        <p:tgtEl>
                                          <p:spTgt spid="33"/>
                                        </p:tgtEl>
                                      </p:cBhvr>
                                    </p:animEffect>
                                  </p:childTnLst>
                                </p:cTn>
                              </p:par>
                              <p:par>
                                <p:cTn id="26" presetID="3" presetClass="entr" presetSubtype="10" fill="hold"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blinds(horizontal)">
                                      <p:cBhvr>
                                        <p:cTn id="28" dur="500"/>
                                        <p:tgtEl>
                                          <p:spTgt spid="26"/>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animEffect transition="in" filter="blinds(horizontal)">
                                      <p:cBhvr>
                                        <p:cTn id="33" dur="500"/>
                                        <p:tgtEl>
                                          <p:spTgt spid="32"/>
                                        </p:tgtEl>
                                      </p:cBhvr>
                                    </p:animEffect>
                                  </p:childTnLst>
                                </p:cTn>
                              </p:par>
                              <p:par>
                                <p:cTn id="34" presetID="3" presetClass="entr" presetSubtype="10" fill="hold" nodeType="with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blinds(horizontal)">
                                      <p:cBhvr>
                                        <p:cTn id="36" dur="500"/>
                                        <p:tgtEl>
                                          <p:spTgt spid="2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blinds(horizontal)">
                                      <p:cBhvr>
                                        <p:cTn id="41" dur="500"/>
                                        <p:tgtEl>
                                          <p:spTgt spid="31"/>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blinds(horizontal)">
                                      <p:cBhvr>
                                        <p:cTn id="46" dur="500"/>
                                        <p:tgtEl>
                                          <p:spTgt spid="28"/>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blinds(horizontal)">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linds(horizontal)">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blinds(horizontal)">
                                      <p:cBhvr>
                                        <p:cTn id="59" dur="500"/>
                                        <p:tgtEl>
                                          <p:spTgt spid="34"/>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animEffect transition="in" filter="blinds(horizontal)">
                                      <p:cBhvr>
                                        <p:cTn id="64" dur="500"/>
                                        <p:tgtEl>
                                          <p:spTgt spid="35"/>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10" fill="hold" nodeType="click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blinds(horizontal)">
                                      <p:cBhvr>
                                        <p:cTn id="69" dur="500"/>
                                        <p:tgtEl>
                                          <p:spTgt spid="36"/>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38"/>
                                        </p:tgtEl>
                                        <p:attrNameLst>
                                          <p:attrName>style.visibility</p:attrName>
                                        </p:attrNameLst>
                                      </p:cBhvr>
                                      <p:to>
                                        <p:strVal val="visible"/>
                                      </p:to>
                                    </p:set>
                                    <p:animEffect transition="in" filter="blinds(horizontal)">
                                      <p:cBhvr>
                                        <p:cTn id="74" dur="500"/>
                                        <p:tgtEl>
                                          <p:spTgt spid="38"/>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37"/>
                                        </p:tgtEl>
                                        <p:attrNameLst>
                                          <p:attrName>style.visibility</p:attrName>
                                        </p:attrNameLst>
                                      </p:cBhvr>
                                      <p:to>
                                        <p:strVal val="visible"/>
                                      </p:to>
                                    </p:set>
                                    <p:animEffect transition="in" filter="blinds(horizontal)">
                                      <p:cBhvr>
                                        <p:cTn id="7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9" grpId="0"/>
      <p:bldP spid="29" grpId="1"/>
      <p:bldP spid="30" grpId="0"/>
      <p:bldP spid="30" grpId="1"/>
      <p:bldP spid="31" grpId="0"/>
      <p:bldP spid="31" grpId="1"/>
      <p:bldP spid="32" grpId="0"/>
      <p:bldP spid="32" grpId="1"/>
      <p:bldP spid="33" grpId="0"/>
      <p:bldP spid="33" grpId="1"/>
      <p:bldP spid="35" grpId="0" animBg="1"/>
      <p:bldP spid="35" grpId="1" animBg="1"/>
      <p:bldP spid="38" grpId="0" animBg="1"/>
      <p:bldP spid="38" grpId="1"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814D617-522C-41E1-AE4D-3D790582F994}"/>
              </a:ext>
            </a:extLst>
          </p:cNvPr>
          <p:cNvSpPr txBox="1"/>
          <p:nvPr/>
        </p:nvSpPr>
        <p:spPr>
          <a:xfrm>
            <a:off x="951520" y="208400"/>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偏差与方差</a:t>
            </a:r>
          </a:p>
        </p:txBody>
      </p:sp>
      <p:grpSp>
        <p:nvGrpSpPr>
          <p:cNvPr id="4" name="组合 3">
            <a:extLst>
              <a:ext uri="{FF2B5EF4-FFF2-40B4-BE49-F238E27FC236}">
                <a16:creationId xmlns:a16="http://schemas.microsoft.com/office/drawing/2014/main" id="{9B0A684E-1F2A-469F-917F-B9E4D90C67D4}"/>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D812DEE6-D52E-4CDC-BE84-088DD7D3F7D8}"/>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7A5FDA8B-4EFE-49A2-A0BD-5739B863B84A}"/>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13041491-B033-4888-A0D7-E540E0EE6B2E}"/>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5A04AFFF-AE12-479A-B114-EBBE3AA1265C}"/>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53BF29E5-7238-4392-9A9A-D74CD73A8D41}"/>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8A34269C-E2E8-49A4-A05F-2365791A082E}"/>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574A87E3-B8B2-496B-881B-2F2A176D5A64}"/>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7DB1B31A-A4CC-4E11-9621-83544F732DB7}"/>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5B111C7A-E117-4075-B86C-5B2006A0B395}"/>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F192322-97D3-4155-93D8-66CD47F0798E}"/>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933AA42A-8322-497D-8B3C-682F8B307BF5}"/>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77184B82-C818-4105-B3BD-A5878DBA6798}"/>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85C008E0-58B7-4F36-ACF3-B23D27690D05}"/>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DED14B16-5523-4155-9F43-8E19C28A3BF1}"/>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D17AEA70-1394-456F-B5D3-8DE08B6A1562}"/>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E6C64FC5-CA8B-43B9-82EB-620F5841E9EB}"/>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D30D4F03-8F5A-4E4B-B8EF-02FA90BAFA78}"/>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4B24E86B-BC30-4449-AF20-BE0FA4A1DC90}"/>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FC5892D2-611B-4F46-A046-4ADB307D9880}"/>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557DCD51-7232-4CA9-8923-DEC729025E3B}"/>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pic>
        <p:nvPicPr>
          <p:cNvPr id="25" name="图片 24">
            <a:extLst>
              <a:ext uri="{FF2B5EF4-FFF2-40B4-BE49-F238E27FC236}">
                <a16:creationId xmlns:a16="http://schemas.microsoft.com/office/drawing/2014/main" id="{163523F4-BD2A-47A3-AEC2-2EA4F60F8F33}"/>
              </a:ext>
            </a:extLst>
          </p:cNvPr>
          <p:cNvPicPr>
            <a:picLocks noChangeAspect="1"/>
          </p:cNvPicPr>
          <p:nvPr/>
        </p:nvPicPr>
        <p:blipFill>
          <a:blip r:embed="rId2"/>
          <a:stretch>
            <a:fillRect/>
          </a:stretch>
        </p:blipFill>
        <p:spPr>
          <a:xfrm>
            <a:off x="642620" y="1332230"/>
            <a:ext cx="4650105" cy="4194175"/>
          </a:xfrm>
          <a:prstGeom prst="rect">
            <a:avLst/>
          </a:prstGeom>
        </p:spPr>
      </p:pic>
      <p:sp>
        <p:nvSpPr>
          <p:cNvPr id="26" name="文本框 25">
            <a:extLst>
              <a:ext uri="{FF2B5EF4-FFF2-40B4-BE49-F238E27FC236}">
                <a16:creationId xmlns:a16="http://schemas.microsoft.com/office/drawing/2014/main" id="{2C96B506-92B1-48D2-AB6C-62343E03AE05}"/>
              </a:ext>
            </a:extLst>
          </p:cNvPr>
          <p:cNvSpPr txBox="1"/>
          <p:nvPr/>
        </p:nvSpPr>
        <p:spPr>
          <a:xfrm>
            <a:off x="5733415" y="1572260"/>
            <a:ext cx="5447030" cy="2738120"/>
          </a:xfrm>
          <a:prstGeom prst="rect">
            <a:avLst/>
          </a:prstGeom>
          <a:noFill/>
        </p:spPr>
        <p:txBody>
          <a:bodyPr wrap="square" rtlCol="0">
            <a:spAutoFit/>
          </a:bodyPr>
          <a:lstStyle/>
          <a:p>
            <a:r>
              <a:rPr lang="zh-CN" altLang="en-US" sz="2400" b="1" dirty="0"/>
              <a:t>偏差：</a:t>
            </a:r>
            <a:r>
              <a:rPr lang="zh-CN" altLang="en-US" sz="2000" dirty="0"/>
              <a:t>体现的是最终结果和实际结果的差异，偏差越小，和真实结果越接近</a:t>
            </a:r>
          </a:p>
          <a:p>
            <a:endParaRPr lang="zh-CN" altLang="en-US" sz="2000" dirty="0"/>
          </a:p>
          <a:p>
            <a:r>
              <a:rPr lang="zh-CN" altLang="en-US" sz="2400" b="1" dirty="0"/>
              <a:t>方差：</a:t>
            </a:r>
            <a:r>
              <a:rPr lang="zh-CN" altLang="en-US" sz="2000" dirty="0"/>
              <a:t>体现的是整体水平波动，方差越小，结果稳定性越好</a:t>
            </a:r>
          </a:p>
          <a:p>
            <a:endParaRPr lang="zh-CN" altLang="en-US" sz="2000" dirty="0"/>
          </a:p>
          <a:p>
            <a:r>
              <a:rPr lang="zh-CN" altLang="en-US" sz="2000" dirty="0"/>
              <a:t>期望的模型结果为：</a:t>
            </a:r>
            <a:r>
              <a:rPr lang="zh-CN" altLang="en-US" sz="2400" b="1" dirty="0"/>
              <a:t>低偏差，低方差</a:t>
            </a:r>
            <a:endParaRPr lang="zh-CN" altLang="en-US" sz="2000" dirty="0"/>
          </a:p>
          <a:p>
            <a:endParaRPr lang="zh-CN" altLang="en-US" sz="2000" dirty="0">
              <a:solidFill>
                <a:schemeClr val="bg1"/>
              </a:solidFill>
            </a:endParaRPr>
          </a:p>
        </p:txBody>
      </p:sp>
      <p:sp>
        <p:nvSpPr>
          <p:cNvPr id="27" name="文本框 26">
            <a:extLst>
              <a:ext uri="{FF2B5EF4-FFF2-40B4-BE49-F238E27FC236}">
                <a16:creationId xmlns:a16="http://schemas.microsoft.com/office/drawing/2014/main" id="{D55EBD91-C19D-4A93-BA1D-9EAAE3E2D81E}"/>
              </a:ext>
            </a:extLst>
          </p:cNvPr>
          <p:cNvSpPr txBox="1"/>
          <p:nvPr/>
        </p:nvSpPr>
        <p:spPr>
          <a:xfrm>
            <a:off x="347345" y="5767070"/>
            <a:ext cx="6698615" cy="645160"/>
          </a:xfrm>
          <a:prstGeom prst="rect">
            <a:avLst/>
          </a:prstGeom>
          <a:noFill/>
        </p:spPr>
        <p:txBody>
          <a:bodyPr wrap="square" rtlCol="0">
            <a:spAutoFit/>
          </a:bodyPr>
          <a:lstStyle/>
          <a:p>
            <a:r>
              <a:rPr lang="zh-CN" altLang="en-US">
                <a:solidFill>
                  <a:schemeClr val="bg1"/>
                </a:solidFill>
                <a:sym typeface="+mn-ea"/>
              </a:rPr>
              <a:t>http://scott.fortmann</a:t>
            </a:r>
            <a:r>
              <a:rPr lang="en-US" altLang="zh-CN">
                <a:solidFill>
                  <a:schemeClr val="bg1"/>
                </a:solidFill>
                <a:sym typeface="+mn-ea"/>
              </a:rPr>
              <a:t>-</a:t>
            </a:r>
            <a:r>
              <a:rPr lang="zh-CN" altLang="en-US">
                <a:solidFill>
                  <a:schemeClr val="bg1"/>
                </a:solidFill>
                <a:sym typeface="+mn-ea"/>
              </a:rPr>
              <a:t>roe.com/docs/BiasVarlance.htm</a:t>
            </a:r>
            <a:endParaRPr lang="zh-CN" altLang="en-US">
              <a:solidFill>
                <a:schemeClr val="bg1"/>
              </a:solidFill>
            </a:endParaRPr>
          </a:p>
          <a:p>
            <a:endParaRPr lang="zh-CN" altLang="en-US">
              <a:solidFill>
                <a:schemeClr val="bg1"/>
              </a:solidFill>
            </a:endParaRPr>
          </a:p>
        </p:txBody>
      </p:sp>
    </p:spTree>
    <p:extLst>
      <p:ext uri="{BB962C8B-B14F-4D97-AF65-F5344CB8AC3E}">
        <p14:creationId xmlns:p14="http://schemas.microsoft.com/office/powerpoint/2010/main" val="2647509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blinds(horizontal)">
                                      <p:cBhvr>
                                        <p:cTn id="23" dur="500"/>
                                        <p:tgtEl>
                                          <p:spTgt spid="2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blinds(horizontal)">
                                      <p:cBhvr>
                                        <p:cTn id="26"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6" grpId="0"/>
      <p:bldP spid="26" grpId="1"/>
      <p:bldP spid="27" grpId="0"/>
      <p:bldP spid="27"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7735F85-CB1A-46DD-A5CB-2286F5ABDDE5}"/>
              </a:ext>
            </a:extLst>
          </p:cNvPr>
          <p:cNvSpPr txBox="1"/>
          <p:nvPr/>
        </p:nvSpPr>
        <p:spPr>
          <a:xfrm>
            <a:off x="951520" y="208400"/>
            <a:ext cx="22148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偏差与方差</a:t>
            </a:r>
          </a:p>
        </p:txBody>
      </p:sp>
      <p:grpSp>
        <p:nvGrpSpPr>
          <p:cNvPr id="4" name="组合 3">
            <a:extLst>
              <a:ext uri="{FF2B5EF4-FFF2-40B4-BE49-F238E27FC236}">
                <a16:creationId xmlns:a16="http://schemas.microsoft.com/office/drawing/2014/main" id="{8301D2AF-005B-414E-827C-0E7B3B605259}"/>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4DE00A68-38ED-41F3-A6D7-A0A127EE018B}"/>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D21B4707-35A1-4262-BD29-CDCD11FB0C43}"/>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4B45208C-3916-47CC-AD81-B27D5B5C082F}"/>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AC1AFE03-FCFB-490B-8680-900A046E73D2}"/>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0C59D1B0-929D-4256-ADAE-1AC07FA34C26}"/>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517D6261-0936-45A7-ABD9-295E453D896D}"/>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7F78F3DA-2262-4423-B8DE-8BC6CF8A1A24}"/>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623FFE2C-972A-4880-9DF8-FE1AE1B79E96}"/>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92C07E03-3FE1-4CCA-96CC-8BC487BC163F}"/>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DE79BBA7-269E-4038-AD89-31849D59BE65}"/>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262219D6-6D59-4206-8420-1670C6F4DC79}"/>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FC345800-4273-421B-B9D2-D8D2BEC8158A}"/>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58DE01C0-4221-43A5-84D3-F6E2E8196BCA}"/>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F9EBBA9F-AE6B-40E8-BA24-9AF0EE9C3604}"/>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A0AD7F50-C0FE-4373-9D15-4484F2F5D0E6}"/>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EAC03A41-7380-4EA2-A9CD-1E8D89C4CA08}"/>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B773DCE8-670C-441F-8829-ED65FB91707A}"/>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596C6637-21C6-41DC-B348-752AE3683575}"/>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EF902A69-419D-4BD7-9857-11926BA57CDF}"/>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11A7BF2A-AE71-4CB6-BF46-DF47F31CC34B}"/>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86773379-8801-4EAC-88D3-8C55B73C6F5D}"/>
              </a:ext>
            </a:extLst>
          </p:cNvPr>
          <p:cNvSpPr txBox="1"/>
          <p:nvPr/>
        </p:nvSpPr>
        <p:spPr>
          <a:xfrm>
            <a:off x="845185" y="1207770"/>
            <a:ext cx="10502265" cy="1211580"/>
          </a:xfrm>
          <a:prstGeom prst="rect">
            <a:avLst/>
          </a:prstGeom>
          <a:noFill/>
        </p:spPr>
        <p:txBody>
          <a:bodyPr wrap="square" rtlCol="0">
            <a:spAutoFit/>
          </a:bodyPr>
          <a:lstStyle/>
          <a:p>
            <a:pPr>
              <a:lnSpc>
                <a:spcPct val="120000"/>
              </a:lnSpc>
            </a:pPr>
            <a:r>
              <a:rPr lang="zh-CN" altLang="en-US" sz="2400" b="1" dirty="0"/>
              <a:t>偏差</a:t>
            </a:r>
            <a:r>
              <a:rPr lang="zh-CN" altLang="en-US" sz="2000" dirty="0"/>
              <a:t>体现的是拟合程度优劣，通常模型越复杂，偏差越小。当偏差较大时，即预期输出和实际结果偏离较大，称之为欠拟合。</a:t>
            </a:r>
          </a:p>
          <a:p>
            <a:endParaRPr lang="zh-CN" altLang="en-US" sz="2000" dirty="0">
              <a:solidFill>
                <a:schemeClr val="bg1"/>
              </a:solidFill>
            </a:endParaRPr>
          </a:p>
        </p:txBody>
      </p:sp>
      <p:sp>
        <p:nvSpPr>
          <p:cNvPr id="26" name="文本框 25">
            <a:extLst>
              <a:ext uri="{FF2B5EF4-FFF2-40B4-BE49-F238E27FC236}">
                <a16:creationId xmlns:a16="http://schemas.microsoft.com/office/drawing/2014/main" id="{25EC3421-C322-47F5-9959-B3EDE0878978}"/>
              </a:ext>
            </a:extLst>
          </p:cNvPr>
          <p:cNvSpPr txBox="1"/>
          <p:nvPr/>
        </p:nvSpPr>
        <p:spPr>
          <a:xfrm>
            <a:off x="816610" y="2088515"/>
            <a:ext cx="10502265" cy="1143635"/>
          </a:xfrm>
          <a:prstGeom prst="rect">
            <a:avLst/>
          </a:prstGeom>
          <a:noFill/>
        </p:spPr>
        <p:txBody>
          <a:bodyPr wrap="square" rtlCol="0">
            <a:spAutoFit/>
          </a:bodyPr>
          <a:lstStyle/>
          <a:p>
            <a:pPr>
              <a:lnSpc>
                <a:spcPct val="110000"/>
              </a:lnSpc>
            </a:pPr>
            <a:r>
              <a:rPr lang="zh-CN" altLang="en-US" sz="2400" b="1" dirty="0"/>
              <a:t>方差</a:t>
            </a:r>
            <a:r>
              <a:rPr lang="zh-CN" altLang="en-US" sz="2000" dirty="0"/>
              <a:t>体现的是模型的稳定程度。通常模型越简单，方差越小。当方差较大时，模型不稳定，即对一些新数据的预测不稳定。偏差小，方差大的情况即为过拟合。</a:t>
            </a:r>
          </a:p>
          <a:p>
            <a:endParaRPr lang="zh-CN" altLang="en-US" sz="2000" dirty="0">
              <a:solidFill>
                <a:schemeClr val="bg1"/>
              </a:solidFill>
            </a:endParaRPr>
          </a:p>
        </p:txBody>
      </p:sp>
      <p:sp>
        <p:nvSpPr>
          <p:cNvPr id="27" name="文本框 26">
            <a:extLst>
              <a:ext uri="{FF2B5EF4-FFF2-40B4-BE49-F238E27FC236}">
                <a16:creationId xmlns:a16="http://schemas.microsoft.com/office/drawing/2014/main" id="{4BD55C95-7A00-4462-B996-BF5593720F46}"/>
              </a:ext>
            </a:extLst>
          </p:cNvPr>
          <p:cNvSpPr txBox="1"/>
          <p:nvPr/>
        </p:nvSpPr>
        <p:spPr>
          <a:xfrm>
            <a:off x="4968240" y="6297295"/>
            <a:ext cx="3335020" cy="398780"/>
          </a:xfrm>
          <a:prstGeom prst="rect">
            <a:avLst/>
          </a:prstGeom>
          <a:noFill/>
        </p:spPr>
        <p:txBody>
          <a:bodyPr wrap="square" rtlCol="0">
            <a:spAutoFit/>
          </a:bodyPr>
          <a:lstStyle/>
          <a:p>
            <a:r>
              <a:rPr lang="zh-CN" altLang="en-US" sz="2000" dirty="0"/>
              <a:t>Bias-Variance Tradeoff</a:t>
            </a:r>
          </a:p>
        </p:txBody>
      </p:sp>
      <p:pic>
        <p:nvPicPr>
          <p:cNvPr id="28" name="图片 27">
            <a:extLst>
              <a:ext uri="{FF2B5EF4-FFF2-40B4-BE49-F238E27FC236}">
                <a16:creationId xmlns:a16="http://schemas.microsoft.com/office/drawing/2014/main" id="{9DDFBB59-11E1-4A8C-8966-455415AD3445}"/>
              </a:ext>
            </a:extLst>
          </p:cNvPr>
          <p:cNvPicPr>
            <a:picLocks noChangeAspect="1"/>
          </p:cNvPicPr>
          <p:nvPr/>
        </p:nvPicPr>
        <p:blipFill>
          <a:blip r:embed="rId2"/>
          <a:stretch>
            <a:fillRect/>
          </a:stretch>
        </p:blipFill>
        <p:spPr>
          <a:xfrm>
            <a:off x="3579495" y="3232150"/>
            <a:ext cx="5033645" cy="2868295"/>
          </a:xfrm>
          <a:prstGeom prst="rect">
            <a:avLst/>
          </a:prstGeom>
        </p:spPr>
      </p:pic>
    </p:spTree>
    <p:extLst>
      <p:ext uri="{BB962C8B-B14F-4D97-AF65-F5344CB8AC3E}">
        <p14:creationId xmlns:p14="http://schemas.microsoft.com/office/powerpoint/2010/main" val="1169093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blinds(horizontal)">
                                      <p:cBhvr>
                                        <p:cTn id="25" dur="5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blinds(horizontal)">
                                      <p:cBhvr>
                                        <p:cTn id="30" dur="500"/>
                                        <p:tgtEl>
                                          <p:spTgt spid="28"/>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blinds(horizontal)">
                                      <p:cBhvr>
                                        <p:cTn id="33"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26" grpId="0"/>
      <p:bldP spid="26" grpId="1"/>
      <p:bldP spid="27" grpId="0"/>
      <p:bldP spid="27"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4B48330-0F63-43F6-A334-7F8F7337EA44}"/>
              </a:ext>
            </a:extLst>
          </p:cNvPr>
          <p:cNvSpPr txBox="1"/>
          <p:nvPr/>
        </p:nvSpPr>
        <p:spPr>
          <a:xfrm>
            <a:off x="951520" y="223005"/>
            <a:ext cx="3434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模拟：偏差和方差</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grpSp>
        <p:nvGrpSpPr>
          <p:cNvPr id="4" name="组合 3">
            <a:extLst>
              <a:ext uri="{FF2B5EF4-FFF2-40B4-BE49-F238E27FC236}">
                <a16:creationId xmlns:a16="http://schemas.microsoft.com/office/drawing/2014/main" id="{DB8BD616-1FFB-4202-964B-21B0A2D5B764}"/>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5605E713-E905-4B83-BC8D-4B6FB50C1BE7}"/>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0088C4BF-3736-4920-8C20-4536497A4E20}"/>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FF5C0C28-B271-469C-AA43-4B3E104264DE}"/>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931EC4A4-E9C0-4BC5-9BD4-0A02AB06D1AF}"/>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EF99D21D-3E1B-44FE-90D6-AE57821D3A0C}"/>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6EEA5134-024F-4DBE-9C9D-4B05B63AB8F7}"/>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DE83C843-1D9D-4F93-AE90-AE888AC01038}"/>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253A13A8-564E-4E92-B0D7-04E49BD09429}"/>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B92084EF-0C95-45FF-8F5F-E5EC0809A2B5}"/>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8770E776-F33E-4EFD-8AC9-F3C73B7B6FDB}"/>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638BA1BA-3225-4A56-B034-797A758CAFCC}"/>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1B30BDC-29B1-47E3-917E-3AE57166593A}"/>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D4A1CA4A-5AAB-4C80-A466-7A2F78BC598A}"/>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5F3747F0-DF84-4433-96F3-B14B1C4DE921}"/>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B93EAF6F-AB05-42A3-9010-AB07B0CF7F18}"/>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E5E89BEC-2797-40C5-B2C3-A08B099465CE}"/>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A37E80FA-73B1-429B-BE8F-5EF67B78143A}"/>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9F54BCA8-3A75-46AC-AA8E-67F29E8EF74F}"/>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149586D5-0513-46A4-A5EF-903663744B28}"/>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BD8420EC-851E-4E31-9F35-0995B49B6DBD}"/>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44870DAC-8AC3-4B4D-B0BD-7ACDA395E43C}"/>
              </a:ext>
            </a:extLst>
          </p:cNvPr>
          <p:cNvSpPr txBox="1"/>
          <p:nvPr/>
        </p:nvSpPr>
        <p:spPr>
          <a:xfrm>
            <a:off x="572770" y="1195070"/>
            <a:ext cx="11030585" cy="4154170"/>
          </a:xfrm>
          <a:prstGeom prst="rect">
            <a:avLst/>
          </a:prstGeom>
          <a:noFill/>
        </p:spPr>
        <p:txBody>
          <a:bodyPr wrap="square" rtlCol="0">
            <a:spAutoFit/>
          </a:bodyPr>
          <a:lstStyle/>
          <a:p>
            <a:pPr>
              <a:lnSpc>
                <a:spcPct val="120000"/>
              </a:lnSpc>
            </a:pPr>
            <a:r>
              <a:rPr lang="zh-CN" altLang="en-US" sz="2000" dirty="0"/>
              <a:t>假设有一个数据总体，其真实模型为一个一元二次的方程：y=x</a:t>
            </a:r>
            <a:r>
              <a:rPr lang="zh-CN" altLang="en-US" sz="2000" baseline="30000" dirty="0"/>
              <a:t>2</a:t>
            </a:r>
            <a:r>
              <a:rPr lang="zh-CN" altLang="en-US" sz="2000" dirty="0"/>
              <a:t>，这些都是未知的。</a:t>
            </a:r>
          </a:p>
          <a:p>
            <a:pPr>
              <a:lnSpc>
                <a:spcPct val="120000"/>
              </a:lnSpc>
            </a:pPr>
            <a:r>
              <a:rPr lang="zh-CN" altLang="en-US" sz="2000" dirty="0"/>
              <a:t>已知一个数据集，计算偏差和误差。</a:t>
            </a:r>
          </a:p>
          <a:p>
            <a:pPr>
              <a:lnSpc>
                <a:spcPct val="120000"/>
              </a:lnSpc>
            </a:pPr>
            <a:endParaRPr lang="zh-CN" altLang="en-US" sz="2000" dirty="0"/>
          </a:p>
          <a:p>
            <a:pPr>
              <a:lnSpc>
                <a:spcPct val="120000"/>
              </a:lnSpc>
            </a:pPr>
            <a:r>
              <a:rPr lang="zh-CN" altLang="en-US" sz="2000" dirty="0"/>
              <a:t>基本步骤：</a:t>
            </a:r>
          </a:p>
          <a:p>
            <a:pPr>
              <a:lnSpc>
                <a:spcPct val="120000"/>
              </a:lnSpc>
            </a:pPr>
            <a:r>
              <a:rPr lang="zh-CN" altLang="en-US" sz="2000" dirty="0"/>
              <a:t>准备一个测试集（其值为真实值），选中其中一个样本计算偏差和误差</a:t>
            </a:r>
          </a:p>
          <a:p>
            <a:pPr>
              <a:lnSpc>
                <a:spcPct val="120000"/>
              </a:lnSpc>
            </a:pPr>
            <a:r>
              <a:rPr lang="zh-CN" altLang="en-US" sz="2000" dirty="0"/>
              <a:t>从已知数据集中抽样得到样本D</a:t>
            </a:r>
          </a:p>
          <a:p>
            <a:pPr>
              <a:lnSpc>
                <a:spcPct val="120000"/>
              </a:lnSpc>
            </a:pPr>
            <a:r>
              <a:rPr lang="zh-CN" altLang="en-US" sz="2000" dirty="0"/>
              <a:t>        使用该样本进行复杂度不同的模型的训练，此处选择了从0次到3次四种模型进行训练</a:t>
            </a:r>
          </a:p>
          <a:p>
            <a:pPr>
              <a:lnSpc>
                <a:spcPct val="120000"/>
              </a:lnSpc>
            </a:pPr>
            <a:r>
              <a:rPr lang="zh-CN" altLang="en-US" sz="2000" dirty="0"/>
              <a:t>        每一个模型都作用于测试集中的指定样本，得到预测值</a:t>
            </a:r>
          </a:p>
          <a:p>
            <a:pPr>
              <a:lnSpc>
                <a:spcPct val="120000"/>
              </a:lnSpc>
            </a:pPr>
            <a:r>
              <a:rPr lang="zh-CN" altLang="en-US" sz="2000" dirty="0"/>
              <a:t>是否达到预先设置的循环次数</a:t>
            </a:r>
          </a:p>
          <a:p>
            <a:pPr>
              <a:lnSpc>
                <a:spcPct val="120000"/>
              </a:lnSpc>
            </a:pPr>
            <a:r>
              <a:rPr lang="zh-CN" altLang="en-US" sz="2000" dirty="0"/>
              <a:t>对指定样本计算Bias、Variance</a:t>
            </a:r>
          </a:p>
          <a:p>
            <a:pPr>
              <a:lnSpc>
                <a:spcPct val="120000"/>
              </a:lnSpc>
            </a:pPr>
            <a:r>
              <a:rPr lang="zh-CN" altLang="en-US" sz="2000" dirty="0"/>
              <a:t>绘图</a:t>
            </a:r>
          </a:p>
        </p:txBody>
      </p:sp>
    </p:spTree>
    <p:extLst>
      <p:ext uri="{BB962C8B-B14F-4D97-AF65-F5344CB8AC3E}">
        <p14:creationId xmlns:p14="http://schemas.microsoft.com/office/powerpoint/2010/main" val="40273877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1E0F0E88-CCA1-4392-AF6C-124D88674E06}"/>
              </a:ext>
            </a:extLst>
          </p:cNvPr>
          <p:cNvSpPr txBox="1"/>
          <p:nvPr/>
        </p:nvSpPr>
        <p:spPr>
          <a:xfrm>
            <a:off x="951520" y="208400"/>
            <a:ext cx="34340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模拟：偏差和方差</a:t>
            </a:r>
          </a:p>
        </p:txBody>
      </p:sp>
      <p:grpSp>
        <p:nvGrpSpPr>
          <p:cNvPr id="4" name="组合 3">
            <a:extLst>
              <a:ext uri="{FF2B5EF4-FFF2-40B4-BE49-F238E27FC236}">
                <a16:creationId xmlns:a16="http://schemas.microsoft.com/office/drawing/2014/main" id="{47C88155-D7C2-4752-BF90-667CBEFA9531}"/>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88A72F4E-095F-4C59-862B-047B2BD02F2F}"/>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CB082AA5-01B5-4680-8C78-91E2D905DBB1}"/>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CFCFDB72-D909-4CDD-9775-5C2E6A33C1DB}"/>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D6F60A3D-1F1C-469C-A12E-B72FF9AA76BB}"/>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508FE5F2-F7A9-43A4-BF02-A04868C2EF50}"/>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D9C328B9-8BF8-4939-B89C-3630E94B03D7}"/>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D2EB6118-4F88-478E-8914-CC3DE5FA204B}"/>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DE1BCBAF-26BC-47E0-A308-DB8F778975FD}"/>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14AD24D9-2141-49D2-A584-DB35113F1B63}"/>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52320DA2-9F99-4C31-873B-8DDC454FE4A9}"/>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6F5FDDC0-329F-437F-803B-4E2A28D8F7AA}"/>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F3A242EF-97CB-4E47-A42A-5630B28DFBC8}"/>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7D8EF35C-E5E1-4642-A2D1-F780421221B8}"/>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67BFA24F-0E08-49B8-AABB-1E3382068779}"/>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B4B15A58-057F-46BC-B8F4-83A7C0BA7422}"/>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0BA06111-B735-4493-9BA4-B40CCDEC2C27}"/>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31FCF4AE-6510-406F-888F-9013698DECC3}"/>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F98EDB0-0CEA-4419-9D31-4D80897D8AE4}"/>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BBAADE1D-0547-470B-BF48-0C541053EC83}"/>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BEFAB2D-03EB-4A68-B9A4-5548CC36755B}"/>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03B06AE3-FD4B-4D9C-BD0D-76AA8F83B35E}"/>
              </a:ext>
            </a:extLst>
          </p:cNvPr>
          <p:cNvSpPr txBox="1"/>
          <p:nvPr/>
        </p:nvSpPr>
        <p:spPr>
          <a:xfrm>
            <a:off x="274264" y="1034415"/>
            <a:ext cx="10964865" cy="737638"/>
          </a:xfrm>
          <a:prstGeom prst="rect">
            <a:avLst/>
          </a:prstGeom>
          <a:noFill/>
        </p:spPr>
        <p:txBody>
          <a:bodyPr wrap="square" rtlCol="0">
            <a:spAutoFit/>
          </a:bodyPr>
          <a:lstStyle/>
          <a:p>
            <a:r>
              <a:rPr lang="zh-CN" altLang="en-US" sz="2000" dirty="0"/>
              <a:t>假设有一个数据总体，其真实模型为一个一元二次的方程：y=x2，这些都是未知的。</a:t>
            </a:r>
          </a:p>
          <a:p>
            <a:pPr>
              <a:lnSpc>
                <a:spcPct val="120000"/>
              </a:lnSpc>
            </a:pPr>
            <a:r>
              <a:rPr lang="zh-CN" altLang="en-US" sz="2000" dirty="0"/>
              <a:t>已知一个数据集，计算偏差和误差。</a:t>
            </a:r>
          </a:p>
        </p:txBody>
      </p:sp>
      <p:pic>
        <p:nvPicPr>
          <p:cNvPr id="26" name="图片 25">
            <a:extLst>
              <a:ext uri="{FF2B5EF4-FFF2-40B4-BE49-F238E27FC236}">
                <a16:creationId xmlns:a16="http://schemas.microsoft.com/office/drawing/2014/main" id="{844A1CA2-5AF9-4BD5-8607-625E0172A9EB}"/>
              </a:ext>
            </a:extLst>
          </p:cNvPr>
          <p:cNvPicPr>
            <a:picLocks noChangeAspect="1"/>
          </p:cNvPicPr>
          <p:nvPr/>
        </p:nvPicPr>
        <p:blipFill>
          <a:blip r:embed="rId2"/>
          <a:stretch>
            <a:fillRect/>
          </a:stretch>
        </p:blipFill>
        <p:spPr>
          <a:xfrm>
            <a:off x="2996565" y="2264410"/>
            <a:ext cx="5900420" cy="3559175"/>
          </a:xfrm>
          <a:prstGeom prst="rect">
            <a:avLst/>
          </a:prstGeom>
        </p:spPr>
      </p:pic>
    </p:spTree>
    <p:extLst>
      <p:ext uri="{BB962C8B-B14F-4D97-AF65-F5344CB8AC3E}">
        <p14:creationId xmlns:p14="http://schemas.microsoft.com/office/powerpoint/2010/main" val="2518117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linds(horizontal)">
                                      <p:cBhvr>
                                        <p:cTn id="2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14C4070-024F-4CAC-BF89-19371A800936}"/>
              </a:ext>
            </a:extLst>
          </p:cNvPr>
          <p:cNvSpPr txBox="1"/>
          <p:nvPr/>
        </p:nvSpPr>
        <p:spPr>
          <a:xfrm>
            <a:off x="951520" y="208400"/>
            <a:ext cx="18084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cs typeface="+mn-cs"/>
              </a:rPr>
              <a:t>性能量度</a:t>
            </a:r>
          </a:p>
        </p:txBody>
      </p:sp>
      <p:grpSp>
        <p:nvGrpSpPr>
          <p:cNvPr id="4" name="组合 3">
            <a:extLst>
              <a:ext uri="{FF2B5EF4-FFF2-40B4-BE49-F238E27FC236}">
                <a16:creationId xmlns:a16="http://schemas.microsoft.com/office/drawing/2014/main" id="{FB905DFD-76BF-4620-BF99-9916AB3F61F3}"/>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E80700AA-27A3-4ED6-B45D-78A975E82E5F}"/>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6466EDFA-8702-4E5D-9307-3682D88B3D96}"/>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7F56F505-2AF8-4F29-A68C-D0F6B6727536}"/>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7533FA23-674B-42B5-A24A-1CC35E3F3627}"/>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A890950B-01C0-4AAB-94FB-07D0A673A26C}"/>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1AB47238-6F4B-4726-9ACC-85EE754C51C4}"/>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E472997B-6EA1-4A4F-8DCC-8D8F2FBBBA21}"/>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17ED23AA-1486-4B97-B4D4-0DAC0C8C9C4D}"/>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655F7EE6-52AA-49AA-9757-BC6D795979F0}"/>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BE18C599-9E12-4071-9FD5-A692486ACFA4}"/>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5E4142D1-D588-4063-A660-7EF815D9CA5C}"/>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39EDC18A-55F9-4EFA-90CE-C055D0AB7A03}"/>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4D036405-76C8-454A-8B52-435A1AE4952F}"/>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2A1A1947-8E37-4BAD-8118-4D0ADE541D09}"/>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928E61A3-BCF8-45F8-B7AD-8948D5B44043}"/>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4D9928FE-F7CF-42AB-B27F-0648325F2175}"/>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053400FF-7F31-45F3-8A81-B19202462EBC}"/>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CCCE5D1B-099F-4410-9AD1-887F6389A9C8}"/>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B7931022-28F7-40C1-94D3-91A4D661977D}"/>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9F59EBEA-A8A1-4C5C-B2E3-8C7E5A127182}"/>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991BB9F8-36EB-49B1-B13A-37104E7629E5}"/>
              </a:ext>
            </a:extLst>
          </p:cNvPr>
          <p:cNvSpPr txBox="1"/>
          <p:nvPr/>
        </p:nvSpPr>
        <p:spPr>
          <a:xfrm>
            <a:off x="793115" y="1256030"/>
            <a:ext cx="10683240" cy="1999615"/>
          </a:xfrm>
          <a:prstGeom prst="rect">
            <a:avLst/>
          </a:prstGeom>
          <a:noFill/>
        </p:spPr>
        <p:txBody>
          <a:bodyPr wrap="square" rtlCol="0">
            <a:spAutoFit/>
          </a:bodyPr>
          <a:lstStyle/>
          <a:p>
            <a:r>
              <a:rPr lang="zh-CN" altLang="en-US" sz="2400" b="1" dirty="0"/>
              <a:t>性能度量（</a:t>
            </a:r>
            <a:r>
              <a:rPr lang="zh-CN" altLang="en-US" sz="2400" b="1" i="1" dirty="0"/>
              <a:t>Perforrmance Measure</a:t>
            </a:r>
            <a:r>
              <a:rPr lang="zh-CN" altLang="en-US" sz="2400" b="1" dirty="0"/>
              <a:t>)：</a:t>
            </a:r>
            <a:r>
              <a:rPr lang="zh-CN" altLang="en-US" sz="2000" dirty="0"/>
              <a:t>评价模型泛化能力的标准。对于不同的模型，有不同的评价标准，不同的评价标准将导致不同的评价结果。模型的好坏是相对的，取决于对于当前任务需求的完成情况。</a:t>
            </a:r>
          </a:p>
          <a:p>
            <a:endParaRPr lang="zh-CN" altLang="en-US" sz="2000" dirty="0"/>
          </a:p>
          <a:p>
            <a:r>
              <a:rPr lang="zh-CN" altLang="en-US" sz="2000" dirty="0"/>
              <a:t>回归模型的性能度量通常选用均方误差（Mean Squared Error）。</a:t>
            </a:r>
          </a:p>
          <a:p>
            <a:r>
              <a:rPr lang="zh-CN" altLang="en-US" sz="2000" dirty="0"/>
              <a:t>给定样例集D=</a:t>
            </a:r>
            <a:r>
              <a:rPr lang="en-US" altLang="zh-CN" sz="2000" dirty="0"/>
              <a:t>{</a:t>
            </a:r>
            <a:r>
              <a:rPr lang="zh-CN" altLang="en-US" sz="2000" dirty="0"/>
              <a:t>（x21,y2),(x2,y2).……(xm.ym)</a:t>
            </a:r>
            <a:r>
              <a:rPr lang="en-US" altLang="zh-CN" sz="2000" dirty="0"/>
              <a:t>}</a:t>
            </a:r>
            <a:r>
              <a:rPr lang="zh-CN" altLang="en-US" sz="2000" dirty="0"/>
              <a:t>，模型为f，其性能度量均方误差为：</a:t>
            </a:r>
          </a:p>
        </p:txBody>
      </p:sp>
      <p:pic>
        <p:nvPicPr>
          <p:cNvPr id="26" name="图片 25">
            <a:extLst>
              <a:ext uri="{FF2B5EF4-FFF2-40B4-BE49-F238E27FC236}">
                <a16:creationId xmlns:a16="http://schemas.microsoft.com/office/drawing/2014/main" id="{747C6A12-B665-496C-ABB9-FB7EC0F881BD}"/>
              </a:ext>
            </a:extLst>
          </p:cNvPr>
          <p:cNvPicPr>
            <a:picLocks noChangeAspect="1"/>
          </p:cNvPicPr>
          <p:nvPr/>
        </p:nvPicPr>
        <p:blipFill>
          <a:blip r:embed="rId2"/>
          <a:stretch>
            <a:fillRect/>
          </a:stretch>
        </p:blipFill>
        <p:spPr>
          <a:xfrm>
            <a:off x="10136505" y="2741295"/>
            <a:ext cx="2181225" cy="571500"/>
          </a:xfrm>
          <a:prstGeom prst="rect">
            <a:avLst/>
          </a:prstGeom>
        </p:spPr>
      </p:pic>
      <p:pic>
        <p:nvPicPr>
          <p:cNvPr id="27" name="图片 26">
            <a:extLst>
              <a:ext uri="{FF2B5EF4-FFF2-40B4-BE49-F238E27FC236}">
                <a16:creationId xmlns:a16="http://schemas.microsoft.com/office/drawing/2014/main" id="{48AA6FE8-8F00-4B0C-99DE-F9B62408072B}"/>
              </a:ext>
            </a:extLst>
          </p:cNvPr>
          <p:cNvPicPr>
            <a:picLocks noChangeAspect="1"/>
          </p:cNvPicPr>
          <p:nvPr/>
        </p:nvPicPr>
        <p:blipFill>
          <a:blip r:embed="rId3"/>
          <a:stretch>
            <a:fillRect/>
          </a:stretch>
        </p:blipFill>
        <p:spPr>
          <a:xfrm>
            <a:off x="951865" y="3923665"/>
            <a:ext cx="1807210" cy="1349375"/>
          </a:xfrm>
          <a:prstGeom prst="rect">
            <a:avLst/>
          </a:prstGeom>
        </p:spPr>
      </p:pic>
      <p:pic>
        <p:nvPicPr>
          <p:cNvPr id="28" name="图片 27">
            <a:extLst>
              <a:ext uri="{FF2B5EF4-FFF2-40B4-BE49-F238E27FC236}">
                <a16:creationId xmlns:a16="http://schemas.microsoft.com/office/drawing/2014/main" id="{2438DFEE-AA73-48C8-A279-76DB6294CA81}"/>
              </a:ext>
            </a:extLst>
          </p:cNvPr>
          <p:cNvPicPr>
            <a:picLocks noChangeAspect="1"/>
          </p:cNvPicPr>
          <p:nvPr/>
        </p:nvPicPr>
        <p:blipFill>
          <a:blip r:embed="rId4"/>
          <a:stretch>
            <a:fillRect/>
          </a:stretch>
        </p:blipFill>
        <p:spPr>
          <a:xfrm>
            <a:off x="3700145" y="3535045"/>
            <a:ext cx="1729105" cy="2387600"/>
          </a:xfrm>
          <a:prstGeom prst="rect">
            <a:avLst/>
          </a:prstGeom>
        </p:spPr>
      </p:pic>
      <p:pic>
        <p:nvPicPr>
          <p:cNvPr id="29" name="图片 28">
            <a:extLst>
              <a:ext uri="{FF2B5EF4-FFF2-40B4-BE49-F238E27FC236}">
                <a16:creationId xmlns:a16="http://schemas.microsoft.com/office/drawing/2014/main" id="{AC072684-B972-428B-A3BE-362F0D7704A6}"/>
              </a:ext>
            </a:extLst>
          </p:cNvPr>
          <p:cNvPicPr>
            <a:picLocks noChangeAspect="1"/>
          </p:cNvPicPr>
          <p:nvPr/>
        </p:nvPicPr>
        <p:blipFill>
          <a:blip r:embed="rId5"/>
          <a:stretch>
            <a:fillRect/>
          </a:stretch>
        </p:blipFill>
        <p:spPr>
          <a:xfrm>
            <a:off x="6183630" y="3535045"/>
            <a:ext cx="1641475" cy="2387600"/>
          </a:xfrm>
          <a:prstGeom prst="rect">
            <a:avLst/>
          </a:prstGeom>
        </p:spPr>
      </p:pic>
      <p:sp>
        <p:nvSpPr>
          <p:cNvPr id="30" name="文本框 29">
            <a:extLst>
              <a:ext uri="{FF2B5EF4-FFF2-40B4-BE49-F238E27FC236}">
                <a16:creationId xmlns:a16="http://schemas.microsoft.com/office/drawing/2014/main" id="{40967CBA-1D84-40B7-A909-97F27901B3FE}"/>
              </a:ext>
            </a:extLst>
          </p:cNvPr>
          <p:cNvSpPr txBox="1"/>
          <p:nvPr/>
        </p:nvSpPr>
        <p:spPr>
          <a:xfrm>
            <a:off x="8288020" y="3486785"/>
            <a:ext cx="3696970" cy="2223135"/>
          </a:xfrm>
          <a:prstGeom prst="rect">
            <a:avLst/>
          </a:prstGeom>
          <a:noFill/>
        </p:spPr>
        <p:txBody>
          <a:bodyPr wrap="square" rtlCol="0">
            <a:spAutoFit/>
          </a:bodyPr>
          <a:lstStyle/>
          <a:p>
            <a:pPr>
              <a:lnSpc>
                <a:spcPct val="110000"/>
              </a:lnSpc>
            </a:pPr>
            <a:r>
              <a:rPr lang="zh-CN" altLang="en-US" dirty="0"/>
              <a:t>fi(xi)-yi</a:t>
            </a:r>
          </a:p>
          <a:p>
            <a:pPr>
              <a:lnSpc>
                <a:spcPct val="110000"/>
              </a:lnSpc>
            </a:pPr>
            <a:r>
              <a:rPr lang="zh-CN" altLang="en-US" dirty="0"/>
              <a:t>i=1：(2*58-116)</a:t>
            </a:r>
            <a:r>
              <a:rPr lang="zh-CN" altLang="en-US" baseline="30000" dirty="0"/>
              <a:t>2</a:t>
            </a:r>
            <a:r>
              <a:rPr lang="zh-CN" altLang="en-US" dirty="0"/>
              <a:t>=0</a:t>
            </a:r>
          </a:p>
          <a:p>
            <a:pPr>
              <a:lnSpc>
                <a:spcPct val="110000"/>
              </a:lnSpc>
            </a:pPr>
            <a:r>
              <a:rPr lang="en-US" altLang="zh-CN" dirty="0" err="1"/>
              <a:t>i</a:t>
            </a:r>
            <a:r>
              <a:rPr lang="zh-CN" altLang="en-US" dirty="0"/>
              <a:t>=2：(2*59-118)</a:t>
            </a:r>
            <a:r>
              <a:rPr lang="zh-CN" altLang="en-US" baseline="30000" dirty="0"/>
              <a:t>2</a:t>
            </a:r>
            <a:r>
              <a:rPr lang="zh-CN" altLang="en-US" dirty="0"/>
              <a:t>=0</a:t>
            </a:r>
          </a:p>
          <a:p>
            <a:pPr>
              <a:lnSpc>
                <a:spcPct val="110000"/>
              </a:lnSpc>
            </a:pPr>
            <a:r>
              <a:rPr lang="en-US" altLang="zh-CN" dirty="0" err="1"/>
              <a:t>i</a:t>
            </a:r>
            <a:r>
              <a:rPr lang="zh-CN" altLang="en-US" dirty="0"/>
              <a:t>=3：(2+60-120)</a:t>
            </a:r>
            <a:r>
              <a:rPr lang="zh-CN" altLang="en-US" baseline="30000" dirty="0"/>
              <a:t>2</a:t>
            </a:r>
            <a:r>
              <a:rPr lang="zh-CN" altLang="en-US" dirty="0"/>
              <a:t>=0</a:t>
            </a:r>
          </a:p>
          <a:p>
            <a:pPr>
              <a:lnSpc>
                <a:spcPct val="110000"/>
              </a:lnSpc>
            </a:pPr>
            <a:r>
              <a:rPr lang="zh-CN" altLang="en-US" dirty="0"/>
              <a:t>i=4:(2*63-132)</a:t>
            </a:r>
            <a:r>
              <a:rPr lang="zh-CN" altLang="en-US" baseline="30000" dirty="0"/>
              <a:t>2</a:t>
            </a:r>
            <a:r>
              <a:rPr lang="zh-CN" altLang="en-US" dirty="0"/>
              <a:t>=36</a:t>
            </a:r>
          </a:p>
          <a:p>
            <a:pPr>
              <a:lnSpc>
                <a:spcPct val="110000"/>
              </a:lnSpc>
            </a:pPr>
            <a:r>
              <a:rPr lang="zh-CN" altLang="en-US" dirty="0"/>
              <a:t>E(</a:t>
            </a:r>
            <a:r>
              <a:rPr lang="en-US" altLang="zh-CN" dirty="0"/>
              <a:t>f</a:t>
            </a:r>
            <a:r>
              <a:rPr lang="zh-CN" altLang="en-US" dirty="0"/>
              <a:t>1；D)=</a:t>
            </a:r>
            <a:r>
              <a:rPr lang="en-US" altLang="zh-CN" dirty="0"/>
              <a:t>1/4*</a:t>
            </a:r>
            <a:r>
              <a:rPr lang="zh-CN" altLang="en-US" dirty="0"/>
              <a:t>(0+0+0+36)=9</a:t>
            </a:r>
          </a:p>
          <a:p>
            <a:pPr>
              <a:lnSpc>
                <a:spcPct val="110000"/>
              </a:lnSpc>
            </a:pPr>
            <a:r>
              <a:rPr lang="zh-CN" altLang="en-US" dirty="0"/>
              <a:t>E(f2;D)=3.8583</a:t>
            </a:r>
          </a:p>
        </p:txBody>
      </p:sp>
      <p:sp>
        <p:nvSpPr>
          <p:cNvPr id="31" name="文本框 30">
            <a:extLst>
              <a:ext uri="{FF2B5EF4-FFF2-40B4-BE49-F238E27FC236}">
                <a16:creationId xmlns:a16="http://schemas.microsoft.com/office/drawing/2014/main" id="{ED44F893-7603-488F-B3AF-7524ECCA60ED}"/>
              </a:ext>
            </a:extLst>
          </p:cNvPr>
          <p:cNvSpPr txBox="1"/>
          <p:nvPr/>
        </p:nvSpPr>
        <p:spPr>
          <a:xfrm>
            <a:off x="6106795" y="6099175"/>
            <a:ext cx="2020570" cy="368300"/>
          </a:xfrm>
          <a:prstGeom prst="rect">
            <a:avLst/>
          </a:prstGeom>
          <a:noFill/>
        </p:spPr>
        <p:txBody>
          <a:bodyPr wrap="square" rtlCol="0">
            <a:spAutoFit/>
          </a:bodyPr>
          <a:lstStyle/>
          <a:p>
            <a:r>
              <a:rPr lang="zh-CN" altLang="en-US" dirty="0"/>
              <a:t>y=3.286x-75.643</a:t>
            </a:r>
          </a:p>
        </p:txBody>
      </p:sp>
      <p:sp>
        <p:nvSpPr>
          <p:cNvPr id="32" name="文本框 31">
            <a:extLst>
              <a:ext uri="{FF2B5EF4-FFF2-40B4-BE49-F238E27FC236}">
                <a16:creationId xmlns:a16="http://schemas.microsoft.com/office/drawing/2014/main" id="{CC8ABC36-B9BF-481A-947C-AF016DBE4535}"/>
              </a:ext>
            </a:extLst>
          </p:cNvPr>
          <p:cNvSpPr txBox="1"/>
          <p:nvPr/>
        </p:nvSpPr>
        <p:spPr>
          <a:xfrm>
            <a:off x="4150360" y="6099175"/>
            <a:ext cx="1795780" cy="368300"/>
          </a:xfrm>
          <a:prstGeom prst="rect">
            <a:avLst/>
          </a:prstGeom>
          <a:noFill/>
        </p:spPr>
        <p:txBody>
          <a:bodyPr wrap="square" rtlCol="0">
            <a:spAutoFit/>
          </a:bodyPr>
          <a:lstStyle/>
          <a:p>
            <a:r>
              <a:rPr lang="en-US" altLang="zh-CN" dirty="0"/>
              <a:t>y=2x</a:t>
            </a:r>
          </a:p>
        </p:txBody>
      </p:sp>
      <p:sp>
        <p:nvSpPr>
          <p:cNvPr id="33" name="文本框 32">
            <a:extLst>
              <a:ext uri="{FF2B5EF4-FFF2-40B4-BE49-F238E27FC236}">
                <a16:creationId xmlns:a16="http://schemas.microsoft.com/office/drawing/2014/main" id="{8E162403-DA00-4A05-9412-D5B7D5839B6C}"/>
              </a:ext>
            </a:extLst>
          </p:cNvPr>
          <p:cNvSpPr txBox="1"/>
          <p:nvPr/>
        </p:nvSpPr>
        <p:spPr>
          <a:xfrm>
            <a:off x="8288020" y="5767070"/>
            <a:ext cx="3696970" cy="700405"/>
          </a:xfrm>
          <a:prstGeom prst="rect">
            <a:avLst/>
          </a:prstGeom>
          <a:noFill/>
        </p:spPr>
        <p:txBody>
          <a:bodyPr wrap="square" rtlCol="0">
            <a:spAutoFit/>
          </a:bodyPr>
          <a:lstStyle/>
          <a:p>
            <a:pPr>
              <a:lnSpc>
                <a:spcPct val="110000"/>
              </a:lnSpc>
            </a:pPr>
            <a:endParaRPr lang="zh-CN" altLang="en-US" dirty="0"/>
          </a:p>
          <a:p>
            <a:pPr>
              <a:lnSpc>
                <a:spcPct val="110000"/>
              </a:lnSpc>
            </a:pPr>
            <a:r>
              <a:rPr lang="zh-CN" altLang="en-US" dirty="0"/>
              <a:t>E(f2;D)=3.8583</a:t>
            </a:r>
          </a:p>
        </p:txBody>
      </p:sp>
    </p:spTree>
    <p:extLst>
      <p:ext uri="{BB962C8B-B14F-4D97-AF65-F5344CB8AC3E}">
        <p14:creationId xmlns:p14="http://schemas.microsoft.com/office/powerpoint/2010/main" val="3434124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25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25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75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blinds(horizontal)">
                                      <p:cBhvr>
                                        <p:cTn id="20" dur="500"/>
                                        <p:tgtEl>
                                          <p:spTgt spid="25"/>
                                        </p:tgtEl>
                                      </p:cBhvr>
                                    </p:animEffect>
                                  </p:childTnLst>
                                </p:cTn>
                              </p:par>
                              <p:par>
                                <p:cTn id="21" presetID="3" presetClass="entr" presetSubtype="10" fill="hold" nodeType="with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blinds(horizontal)">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blinds(horizontal)">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animEffect transition="in" filter="blinds(horizontal)">
                                      <p:cBhvr>
                                        <p:cTn id="33" dur="500"/>
                                        <p:tgtEl>
                                          <p:spTgt spid="28"/>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blinds(horizontal)">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blinds(horizontal)">
                                      <p:cBhvr>
                                        <p:cTn id="41" dur="500"/>
                                        <p:tgtEl>
                                          <p:spTgt spid="29"/>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blinds(horizontal)">
                                      <p:cBhvr>
                                        <p:cTn id="44" dur="500"/>
                                        <p:tgtEl>
                                          <p:spTgt spid="31"/>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blinds(horizontal)">
                                      <p:cBhvr>
                                        <p:cTn id="49" dur="500"/>
                                        <p:tgtEl>
                                          <p:spTgt spid="30"/>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33"/>
                                        </p:tgtEl>
                                        <p:attrNameLst>
                                          <p:attrName>style.visibility</p:attrName>
                                        </p:attrNameLst>
                                      </p:cBhvr>
                                      <p:to>
                                        <p:strVal val="visible"/>
                                      </p:to>
                                    </p:set>
                                    <p:animEffect transition="in" filter="blinds(horizontal)">
                                      <p:cBhvr>
                                        <p:cTn id="54"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5" grpId="0"/>
      <p:bldP spid="25" grpId="1"/>
      <p:bldP spid="30" grpId="0"/>
      <p:bldP spid="30" grpId="1"/>
      <p:bldP spid="31" grpId="0"/>
      <p:bldP spid="31" grpId="1"/>
      <p:bldP spid="32" grpId="0"/>
      <p:bldP spid="32" grpId="1"/>
      <p:bldP spid="33" grpId="0"/>
      <p:bldP spid="33"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926931F-8C3C-487E-8CC4-4BD5724CBDF0}"/>
              </a:ext>
            </a:extLst>
          </p:cNvPr>
          <p:cNvSpPr txBox="1"/>
          <p:nvPr/>
        </p:nvSpPr>
        <p:spPr>
          <a:xfrm>
            <a:off x="951520" y="208400"/>
            <a:ext cx="4653280" cy="5835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3200" dirty="0">
                <a:sym typeface="+mn-ea"/>
              </a:rPr>
              <a:t>分类算法常用的性能度量</a:t>
            </a:r>
            <a:endParaRPr kumimoji="0" lang="zh-CN" altLang="en-US" sz="3200" b="0" i="0" u="none" strike="noStrike" kern="1200" cap="none" spc="0" normalizeH="0" baseline="0" noProof="0" dirty="0">
              <a:ln>
                <a:noFill/>
              </a:ln>
              <a:effectLst/>
              <a:uLnTx/>
              <a:uFillTx/>
              <a:latin typeface="苹方 中等" panose="020B0400000000000000" pitchFamily="34" charset="-122"/>
              <a:ea typeface="苹方 中等" panose="020B0400000000000000" pitchFamily="34" charset="-122"/>
            </a:endParaRPr>
          </a:p>
        </p:txBody>
      </p:sp>
      <p:grpSp>
        <p:nvGrpSpPr>
          <p:cNvPr id="4" name="组合 3">
            <a:extLst>
              <a:ext uri="{FF2B5EF4-FFF2-40B4-BE49-F238E27FC236}">
                <a16:creationId xmlns:a16="http://schemas.microsoft.com/office/drawing/2014/main" id="{84556600-863A-40D3-ADF7-3DD1ED384423}"/>
              </a:ext>
            </a:extLst>
          </p:cNvPr>
          <p:cNvGrpSpPr/>
          <p:nvPr/>
        </p:nvGrpSpPr>
        <p:grpSpPr>
          <a:xfrm>
            <a:off x="274265" y="222655"/>
            <a:ext cx="563089" cy="556264"/>
            <a:chOff x="318716" y="199386"/>
            <a:chExt cx="608244" cy="600871"/>
          </a:xfrm>
        </p:grpSpPr>
        <p:sp>
          <p:nvSpPr>
            <p:cNvPr id="5" name="任意多边形 1">
              <a:extLst>
                <a:ext uri="{FF2B5EF4-FFF2-40B4-BE49-F238E27FC236}">
                  <a16:creationId xmlns:a16="http://schemas.microsoft.com/office/drawing/2014/main" id="{4ADB90DA-2020-4A97-98AC-71350E6E13AA}"/>
                </a:ext>
              </a:extLst>
            </p:cNvPr>
            <p:cNvSpPr/>
            <p:nvPr/>
          </p:nvSpPr>
          <p:spPr>
            <a:xfrm>
              <a:off x="329079" y="199386"/>
              <a:ext cx="557790" cy="482836"/>
            </a:xfrm>
            <a:custGeom>
              <a:avLst/>
              <a:gdLst>
                <a:gd name="connsiteX0" fmla="*/ 850900 w 2197100"/>
                <a:gd name="connsiteY0" fmla="*/ 0 h 2127250"/>
                <a:gd name="connsiteX1" fmla="*/ 374650 w 2197100"/>
                <a:gd name="connsiteY1" fmla="*/ 285750 h 2127250"/>
                <a:gd name="connsiteX2" fmla="*/ 44450 w 2197100"/>
                <a:gd name="connsiteY2" fmla="*/ 762000 h 2127250"/>
                <a:gd name="connsiteX3" fmla="*/ 0 w 2197100"/>
                <a:gd name="connsiteY3" fmla="*/ 1104900 h 2127250"/>
                <a:gd name="connsiteX4" fmla="*/ 133350 w 2197100"/>
                <a:gd name="connsiteY4" fmla="*/ 1460500 h 2127250"/>
                <a:gd name="connsiteX5" fmla="*/ 241300 w 2197100"/>
                <a:gd name="connsiteY5" fmla="*/ 1758950 h 2127250"/>
                <a:gd name="connsiteX6" fmla="*/ 546100 w 2197100"/>
                <a:gd name="connsiteY6" fmla="*/ 1930400 h 2127250"/>
                <a:gd name="connsiteX7" fmla="*/ 622300 w 2197100"/>
                <a:gd name="connsiteY7" fmla="*/ 2070100 h 2127250"/>
                <a:gd name="connsiteX8" fmla="*/ 1123950 w 2197100"/>
                <a:gd name="connsiteY8" fmla="*/ 2127250 h 2127250"/>
                <a:gd name="connsiteX9" fmla="*/ 1225550 w 2197100"/>
                <a:gd name="connsiteY9" fmla="*/ 2101850 h 2127250"/>
                <a:gd name="connsiteX10" fmla="*/ 1530350 w 2197100"/>
                <a:gd name="connsiteY10" fmla="*/ 2089150 h 2127250"/>
                <a:gd name="connsiteX11" fmla="*/ 1892300 w 2197100"/>
                <a:gd name="connsiteY11" fmla="*/ 1651000 h 2127250"/>
                <a:gd name="connsiteX12" fmla="*/ 2197100 w 2197100"/>
                <a:gd name="connsiteY12" fmla="*/ 1079500 h 2127250"/>
                <a:gd name="connsiteX13" fmla="*/ 1949450 w 2197100"/>
                <a:gd name="connsiteY13" fmla="*/ 965200 h 2127250"/>
                <a:gd name="connsiteX14" fmla="*/ 2032000 w 2197100"/>
                <a:gd name="connsiteY14" fmla="*/ 590550 h 2127250"/>
                <a:gd name="connsiteX15" fmla="*/ 1619250 w 2197100"/>
                <a:gd name="connsiteY15" fmla="*/ 127000 h 2127250"/>
                <a:gd name="connsiteX16" fmla="*/ 1409700 w 2197100"/>
                <a:gd name="connsiteY16" fmla="*/ 69850 h 2127250"/>
                <a:gd name="connsiteX17" fmla="*/ 850900 w 2197100"/>
                <a:gd name="connsiteY17" fmla="*/ 0 h 2127250"/>
                <a:gd name="connsiteX0-1" fmla="*/ 850900 w 2178050"/>
                <a:gd name="connsiteY0-2" fmla="*/ 0 h 2127250"/>
                <a:gd name="connsiteX1-3" fmla="*/ 374650 w 2178050"/>
                <a:gd name="connsiteY1-4" fmla="*/ 285750 h 2127250"/>
                <a:gd name="connsiteX2-5" fmla="*/ 44450 w 2178050"/>
                <a:gd name="connsiteY2-6" fmla="*/ 762000 h 2127250"/>
                <a:gd name="connsiteX3-7" fmla="*/ 0 w 2178050"/>
                <a:gd name="connsiteY3-8" fmla="*/ 1104900 h 2127250"/>
                <a:gd name="connsiteX4-9" fmla="*/ 133350 w 2178050"/>
                <a:gd name="connsiteY4-10" fmla="*/ 1460500 h 2127250"/>
                <a:gd name="connsiteX5-11" fmla="*/ 241300 w 2178050"/>
                <a:gd name="connsiteY5-12" fmla="*/ 1758950 h 2127250"/>
                <a:gd name="connsiteX6-13" fmla="*/ 546100 w 2178050"/>
                <a:gd name="connsiteY6-14" fmla="*/ 1930400 h 2127250"/>
                <a:gd name="connsiteX7-15" fmla="*/ 622300 w 2178050"/>
                <a:gd name="connsiteY7-16" fmla="*/ 2070100 h 2127250"/>
                <a:gd name="connsiteX8-17" fmla="*/ 1123950 w 2178050"/>
                <a:gd name="connsiteY8-18" fmla="*/ 2127250 h 2127250"/>
                <a:gd name="connsiteX9-19" fmla="*/ 1225550 w 2178050"/>
                <a:gd name="connsiteY9-20" fmla="*/ 2101850 h 2127250"/>
                <a:gd name="connsiteX10-21" fmla="*/ 1530350 w 2178050"/>
                <a:gd name="connsiteY10-22" fmla="*/ 2089150 h 2127250"/>
                <a:gd name="connsiteX11-23" fmla="*/ 1892300 w 2178050"/>
                <a:gd name="connsiteY11-24" fmla="*/ 1651000 h 2127250"/>
                <a:gd name="connsiteX12-25" fmla="*/ 2178050 w 2178050"/>
                <a:gd name="connsiteY12-26" fmla="*/ 1084262 h 2127250"/>
                <a:gd name="connsiteX13-27" fmla="*/ 1949450 w 2178050"/>
                <a:gd name="connsiteY13-28" fmla="*/ 965200 h 2127250"/>
                <a:gd name="connsiteX14-29" fmla="*/ 2032000 w 2178050"/>
                <a:gd name="connsiteY14-30" fmla="*/ 590550 h 2127250"/>
                <a:gd name="connsiteX15-31" fmla="*/ 1619250 w 2178050"/>
                <a:gd name="connsiteY15-32" fmla="*/ 127000 h 2127250"/>
                <a:gd name="connsiteX16-33" fmla="*/ 1409700 w 2178050"/>
                <a:gd name="connsiteY16-34" fmla="*/ 69850 h 2127250"/>
                <a:gd name="connsiteX17-35" fmla="*/ 850900 w 2178050"/>
                <a:gd name="connsiteY17-36" fmla="*/ 0 h 2127250"/>
                <a:gd name="connsiteX0-37" fmla="*/ 850900 w 2178050"/>
                <a:gd name="connsiteY0-38" fmla="*/ 0 h 2127250"/>
                <a:gd name="connsiteX1-39" fmla="*/ 374650 w 2178050"/>
                <a:gd name="connsiteY1-40" fmla="*/ 285750 h 2127250"/>
                <a:gd name="connsiteX2-41" fmla="*/ 44450 w 2178050"/>
                <a:gd name="connsiteY2-42" fmla="*/ 762000 h 2127250"/>
                <a:gd name="connsiteX3-43" fmla="*/ 0 w 2178050"/>
                <a:gd name="connsiteY3-44" fmla="*/ 1104900 h 2127250"/>
                <a:gd name="connsiteX4-45" fmla="*/ 133350 w 2178050"/>
                <a:gd name="connsiteY4-46" fmla="*/ 1460500 h 2127250"/>
                <a:gd name="connsiteX5-47" fmla="*/ 241300 w 2178050"/>
                <a:gd name="connsiteY5-48" fmla="*/ 1758950 h 2127250"/>
                <a:gd name="connsiteX6-49" fmla="*/ 646727 w 2178050"/>
                <a:gd name="connsiteY6-50" fmla="*/ 1883440 h 2127250"/>
                <a:gd name="connsiteX7-51" fmla="*/ 622300 w 2178050"/>
                <a:gd name="connsiteY7-52" fmla="*/ 2070100 h 2127250"/>
                <a:gd name="connsiteX8-53" fmla="*/ 1123950 w 2178050"/>
                <a:gd name="connsiteY8-54" fmla="*/ 2127250 h 2127250"/>
                <a:gd name="connsiteX9-55" fmla="*/ 1225550 w 2178050"/>
                <a:gd name="connsiteY9-56" fmla="*/ 2101850 h 2127250"/>
                <a:gd name="connsiteX10-57" fmla="*/ 1530350 w 2178050"/>
                <a:gd name="connsiteY10-58" fmla="*/ 2089150 h 2127250"/>
                <a:gd name="connsiteX11-59" fmla="*/ 1892300 w 2178050"/>
                <a:gd name="connsiteY11-60" fmla="*/ 1651000 h 2127250"/>
                <a:gd name="connsiteX12-61" fmla="*/ 2178050 w 2178050"/>
                <a:gd name="connsiteY12-62" fmla="*/ 1084262 h 2127250"/>
                <a:gd name="connsiteX13-63" fmla="*/ 1949450 w 2178050"/>
                <a:gd name="connsiteY13-64" fmla="*/ 965200 h 2127250"/>
                <a:gd name="connsiteX14-65" fmla="*/ 2032000 w 2178050"/>
                <a:gd name="connsiteY14-66" fmla="*/ 590550 h 2127250"/>
                <a:gd name="connsiteX15-67" fmla="*/ 1619250 w 2178050"/>
                <a:gd name="connsiteY15-68" fmla="*/ 127000 h 2127250"/>
                <a:gd name="connsiteX16-69" fmla="*/ 1409700 w 2178050"/>
                <a:gd name="connsiteY16-70" fmla="*/ 69850 h 2127250"/>
                <a:gd name="connsiteX17-71" fmla="*/ 850900 w 2178050"/>
                <a:gd name="connsiteY17-72" fmla="*/ 0 h 2127250"/>
                <a:gd name="connsiteX0-73" fmla="*/ 850900 w 2178050"/>
                <a:gd name="connsiteY0-74" fmla="*/ 0 h 2127250"/>
                <a:gd name="connsiteX1-75" fmla="*/ 374650 w 2178050"/>
                <a:gd name="connsiteY1-76" fmla="*/ 285750 h 2127250"/>
                <a:gd name="connsiteX2-77" fmla="*/ 44450 w 2178050"/>
                <a:gd name="connsiteY2-78" fmla="*/ 762000 h 2127250"/>
                <a:gd name="connsiteX3-79" fmla="*/ 0 w 2178050"/>
                <a:gd name="connsiteY3-80" fmla="*/ 1104900 h 2127250"/>
                <a:gd name="connsiteX4-81" fmla="*/ 133350 w 2178050"/>
                <a:gd name="connsiteY4-82" fmla="*/ 1460500 h 2127250"/>
                <a:gd name="connsiteX5-83" fmla="*/ 241300 w 2178050"/>
                <a:gd name="connsiteY5-84" fmla="*/ 1758950 h 2127250"/>
                <a:gd name="connsiteX6-85" fmla="*/ 622300 w 2178050"/>
                <a:gd name="connsiteY6-86" fmla="*/ 2070100 h 2127250"/>
                <a:gd name="connsiteX7-87" fmla="*/ 1123950 w 2178050"/>
                <a:gd name="connsiteY7-88" fmla="*/ 2127250 h 2127250"/>
                <a:gd name="connsiteX8-89" fmla="*/ 1225550 w 2178050"/>
                <a:gd name="connsiteY8-90" fmla="*/ 2101850 h 2127250"/>
                <a:gd name="connsiteX9-91" fmla="*/ 1530350 w 2178050"/>
                <a:gd name="connsiteY9-92" fmla="*/ 2089150 h 2127250"/>
                <a:gd name="connsiteX10-93" fmla="*/ 1892300 w 2178050"/>
                <a:gd name="connsiteY10-94" fmla="*/ 1651000 h 2127250"/>
                <a:gd name="connsiteX11-95" fmla="*/ 2178050 w 2178050"/>
                <a:gd name="connsiteY11-96" fmla="*/ 1084262 h 2127250"/>
                <a:gd name="connsiteX12-97" fmla="*/ 1949450 w 2178050"/>
                <a:gd name="connsiteY12-98" fmla="*/ 965200 h 2127250"/>
                <a:gd name="connsiteX13-99" fmla="*/ 2032000 w 2178050"/>
                <a:gd name="connsiteY13-100" fmla="*/ 590550 h 2127250"/>
                <a:gd name="connsiteX14-101" fmla="*/ 1619250 w 2178050"/>
                <a:gd name="connsiteY14-102" fmla="*/ 127000 h 2127250"/>
                <a:gd name="connsiteX15-103" fmla="*/ 1409700 w 2178050"/>
                <a:gd name="connsiteY15-104" fmla="*/ 69850 h 2127250"/>
                <a:gd name="connsiteX16-105" fmla="*/ 850900 w 2178050"/>
                <a:gd name="connsiteY16-106" fmla="*/ 0 h 2127250"/>
                <a:gd name="connsiteX0-107" fmla="*/ 850900 w 2178050"/>
                <a:gd name="connsiteY0-108" fmla="*/ 0 h 2127250"/>
                <a:gd name="connsiteX1-109" fmla="*/ 374650 w 2178050"/>
                <a:gd name="connsiteY1-110" fmla="*/ 285750 h 2127250"/>
                <a:gd name="connsiteX2-111" fmla="*/ 44450 w 2178050"/>
                <a:gd name="connsiteY2-112" fmla="*/ 762000 h 2127250"/>
                <a:gd name="connsiteX3-113" fmla="*/ 0 w 2178050"/>
                <a:gd name="connsiteY3-114" fmla="*/ 1104900 h 2127250"/>
                <a:gd name="connsiteX4-115" fmla="*/ 133350 w 2178050"/>
                <a:gd name="connsiteY4-116" fmla="*/ 1460500 h 2127250"/>
                <a:gd name="connsiteX5-117" fmla="*/ 241300 w 2178050"/>
                <a:gd name="connsiteY5-118" fmla="*/ 1758950 h 2127250"/>
                <a:gd name="connsiteX6-119" fmla="*/ 514964 w 2178050"/>
                <a:gd name="connsiteY6-120" fmla="*/ 2049975 h 2127250"/>
                <a:gd name="connsiteX7-121" fmla="*/ 1123950 w 2178050"/>
                <a:gd name="connsiteY7-122" fmla="*/ 2127250 h 2127250"/>
                <a:gd name="connsiteX8-123" fmla="*/ 1225550 w 2178050"/>
                <a:gd name="connsiteY8-124" fmla="*/ 2101850 h 2127250"/>
                <a:gd name="connsiteX9-125" fmla="*/ 1530350 w 2178050"/>
                <a:gd name="connsiteY9-126" fmla="*/ 2089150 h 2127250"/>
                <a:gd name="connsiteX10-127" fmla="*/ 1892300 w 2178050"/>
                <a:gd name="connsiteY10-128" fmla="*/ 1651000 h 2127250"/>
                <a:gd name="connsiteX11-129" fmla="*/ 2178050 w 2178050"/>
                <a:gd name="connsiteY11-130" fmla="*/ 1084262 h 2127250"/>
                <a:gd name="connsiteX12-131" fmla="*/ 1949450 w 2178050"/>
                <a:gd name="connsiteY12-132" fmla="*/ 965200 h 2127250"/>
                <a:gd name="connsiteX13-133" fmla="*/ 2032000 w 2178050"/>
                <a:gd name="connsiteY13-134" fmla="*/ 590550 h 2127250"/>
                <a:gd name="connsiteX14-135" fmla="*/ 1619250 w 2178050"/>
                <a:gd name="connsiteY14-136" fmla="*/ 127000 h 2127250"/>
                <a:gd name="connsiteX15-137" fmla="*/ 1409700 w 2178050"/>
                <a:gd name="connsiteY15-138" fmla="*/ 69850 h 2127250"/>
                <a:gd name="connsiteX16-139" fmla="*/ 850900 w 2178050"/>
                <a:gd name="connsiteY16-140" fmla="*/ 0 h 2127250"/>
                <a:gd name="connsiteX0-141" fmla="*/ 850900 w 2178050"/>
                <a:gd name="connsiteY0-142" fmla="*/ 0 h 2127250"/>
                <a:gd name="connsiteX1-143" fmla="*/ 374650 w 2178050"/>
                <a:gd name="connsiteY1-144" fmla="*/ 285750 h 2127250"/>
                <a:gd name="connsiteX2-145" fmla="*/ 44450 w 2178050"/>
                <a:gd name="connsiteY2-146" fmla="*/ 762000 h 2127250"/>
                <a:gd name="connsiteX3-147" fmla="*/ 0 w 2178050"/>
                <a:gd name="connsiteY3-148" fmla="*/ 1104900 h 2127250"/>
                <a:gd name="connsiteX4-149" fmla="*/ 133350 w 2178050"/>
                <a:gd name="connsiteY4-150" fmla="*/ 1460500 h 2127250"/>
                <a:gd name="connsiteX5-151" fmla="*/ 241300 w 2178050"/>
                <a:gd name="connsiteY5-152" fmla="*/ 1758950 h 2127250"/>
                <a:gd name="connsiteX6-153" fmla="*/ 514964 w 2178050"/>
                <a:gd name="connsiteY6-154" fmla="*/ 2049975 h 2127250"/>
                <a:gd name="connsiteX7-155" fmla="*/ 1123950 w 2178050"/>
                <a:gd name="connsiteY7-156" fmla="*/ 2127250 h 2127250"/>
                <a:gd name="connsiteX8-157" fmla="*/ 1225550 w 2178050"/>
                <a:gd name="connsiteY8-158" fmla="*/ 2101850 h 2127250"/>
                <a:gd name="connsiteX9-159" fmla="*/ 1530350 w 2178050"/>
                <a:gd name="connsiteY9-160" fmla="*/ 2089150 h 2127250"/>
                <a:gd name="connsiteX10-161" fmla="*/ 2178050 w 2178050"/>
                <a:gd name="connsiteY10-162" fmla="*/ 1084262 h 2127250"/>
                <a:gd name="connsiteX11-163" fmla="*/ 1949450 w 2178050"/>
                <a:gd name="connsiteY11-164" fmla="*/ 965200 h 2127250"/>
                <a:gd name="connsiteX12-165" fmla="*/ 2032000 w 2178050"/>
                <a:gd name="connsiteY12-166" fmla="*/ 590550 h 2127250"/>
                <a:gd name="connsiteX13-167" fmla="*/ 1619250 w 2178050"/>
                <a:gd name="connsiteY13-168" fmla="*/ 127000 h 2127250"/>
                <a:gd name="connsiteX14-169" fmla="*/ 1409700 w 2178050"/>
                <a:gd name="connsiteY14-170" fmla="*/ 69850 h 2127250"/>
                <a:gd name="connsiteX15-171" fmla="*/ 850900 w 2178050"/>
                <a:gd name="connsiteY15-172" fmla="*/ 0 h 2127250"/>
                <a:gd name="connsiteX0-173" fmla="*/ 850900 w 2178050"/>
                <a:gd name="connsiteY0-174" fmla="*/ 0 h 2127250"/>
                <a:gd name="connsiteX1-175" fmla="*/ 374650 w 2178050"/>
                <a:gd name="connsiteY1-176" fmla="*/ 285750 h 2127250"/>
                <a:gd name="connsiteX2-177" fmla="*/ 44450 w 2178050"/>
                <a:gd name="connsiteY2-178" fmla="*/ 762000 h 2127250"/>
                <a:gd name="connsiteX3-179" fmla="*/ 0 w 2178050"/>
                <a:gd name="connsiteY3-180" fmla="*/ 1104900 h 2127250"/>
                <a:gd name="connsiteX4-181" fmla="*/ 133350 w 2178050"/>
                <a:gd name="connsiteY4-182" fmla="*/ 1460500 h 2127250"/>
                <a:gd name="connsiteX5-183" fmla="*/ 241300 w 2178050"/>
                <a:gd name="connsiteY5-184" fmla="*/ 1758950 h 2127250"/>
                <a:gd name="connsiteX6-185" fmla="*/ 514964 w 2178050"/>
                <a:gd name="connsiteY6-186" fmla="*/ 2049975 h 2127250"/>
                <a:gd name="connsiteX7-187" fmla="*/ 1123950 w 2178050"/>
                <a:gd name="connsiteY7-188" fmla="*/ 2127250 h 2127250"/>
                <a:gd name="connsiteX8-189" fmla="*/ 1225550 w 2178050"/>
                <a:gd name="connsiteY8-190" fmla="*/ 2101850 h 2127250"/>
                <a:gd name="connsiteX9-191" fmla="*/ 1530350 w 2178050"/>
                <a:gd name="connsiteY9-192" fmla="*/ 2089150 h 2127250"/>
                <a:gd name="connsiteX10-193" fmla="*/ 1516385 w 2178050"/>
                <a:gd name="connsiteY10-194" fmla="*/ 1598489 h 2127250"/>
                <a:gd name="connsiteX11-195" fmla="*/ 2178050 w 2178050"/>
                <a:gd name="connsiteY11-196" fmla="*/ 1084262 h 2127250"/>
                <a:gd name="connsiteX12-197" fmla="*/ 1949450 w 2178050"/>
                <a:gd name="connsiteY12-198" fmla="*/ 965200 h 2127250"/>
                <a:gd name="connsiteX13-199" fmla="*/ 2032000 w 2178050"/>
                <a:gd name="connsiteY13-200" fmla="*/ 590550 h 2127250"/>
                <a:gd name="connsiteX14-201" fmla="*/ 1619250 w 2178050"/>
                <a:gd name="connsiteY14-202" fmla="*/ 127000 h 2127250"/>
                <a:gd name="connsiteX15-203" fmla="*/ 1409700 w 2178050"/>
                <a:gd name="connsiteY15-204" fmla="*/ 69850 h 2127250"/>
                <a:gd name="connsiteX16-205" fmla="*/ 850900 w 2178050"/>
                <a:gd name="connsiteY16-206" fmla="*/ 0 h 2127250"/>
                <a:gd name="connsiteX0-207" fmla="*/ 850900 w 2178050"/>
                <a:gd name="connsiteY0-208" fmla="*/ 0 h 2127250"/>
                <a:gd name="connsiteX1-209" fmla="*/ 374650 w 2178050"/>
                <a:gd name="connsiteY1-210" fmla="*/ 285750 h 2127250"/>
                <a:gd name="connsiteX2-211" fmla="*/ 44450 w 2178050"/>
                <a:gd name="connsiteY2-212" fmla="*/ 762000 h 2127250"/>
                <a:gd name="connsiteX3-213" fmla="*/ 0 w 2178050"/>
                <a:gd name="connsiteY3-214" fmla="*/ 1104900 h 2127250"/>
                <a:gd name="connsiteX4-215" fmla="*/ 133350 w 2178050"/>
                <a:gd name="connsiteY4-216" fmla="*/ 1460500 h 2127250"/>
                <a:gd name="connsiteX5-217" fmla="*/ 241300 w 2178050"/>
                <a:gd name="connsiteY5-218" fmla="*/ 1758950 h 2127250"/>
                <a:gd name="connsiteX6-219" fmla="*/ 514964 w 2178050"/>
                <a:gd name="connsiteY6-220" fmla="*/ 2049975 h 2127250"/>
                <a:gd name="connsiteX7-221" fmla="*/ 1123950 w 2178050"/>
                <a:gd name="connsiteY7-222" fmla="*/ 2127250 h 2127250"/>
                <a:gd name="connsiteX8-223" fmla="*/ 1225550 w 2178050"/>
                <a:gd name="connsiteY8-224" fmla="*/ 2101850 h 2127250"/>
                <a:gd name="connsiteX9-225" fmla="*/ 1530350 w 2178050"/>
                <a:gd name="connsiteY9-226" fmla="*/ 2089150 h 2127250"/>
                <a:gd name="connsiteX10-227" fmla="*/ 2178050 w 2178050"/>
                <a:gd name="connsiteY10-228" fmla="*/ 1084262 h 2127250"/>
                <a:gd name="connsiteX11-229" fmla="*/ 1949450 w 2178050"/>
                <a:gd name="connsiteY11-230" fmla="*/ 965200 h 2127250"/>
                <a:gd name="connsiteX12-231" fmla="*/ 2032000 w 2178050"/>
                <a:gd name="connsiteY12-232" fmla="*/ 590550 h 2127250"/>
                <a:gd name="connsiteX13-233" fmla="*/ 1619250 w 2178050"/>
                <a:gd name="connsiteY13-234" fmla="*/ 127000 h 2127250"/>
                <a:gd name="connsiteX14-235" fmla="*/ 1409700 w 2178050"/>
                <a:gd name="connsiteY14-236" fmla="*/ 69850 h 2127250"/>
                <a:gd name="connsiteX15-237" fmla="*/ 850900 w 2178050"/>
                <a:gd name="connsiteY15-238" fmla="*/ 0 h 2127250"/>
                <a:gd name="connsiteX0-239" fmla="*/ 850900 w 2032001"/>
                <a:gd name="connsiteY0-240" fmla="*/ 0 h 2127250"/>
                <a:gd name="connsiteX1-241" fmla="*/ 374650 w 2032001"/>
                <a:gd name="connsiteY1-242" fmla="*/ 285750 h 2127250"/>
                <a:gd name="connsiteX2-243" fmla="*/ 44450 w 2032001"/>
                <a:gd name="connsiteY2-244" fmla="*/ 762000 h 2127250"/>
                <a:gd name="connsiteX3-245" fmla="*/ 0 w 2032001"/>
                <a:gd name="connsiteY3-246" fmla="*/ 1104900 h 2127250"/>
                <a:gd name="connsiteX4-247" fmla="*/ 133350 w 2032001"/>
                <a:gd name="connsiteY4-248" fmla="*/ 1460500 h 2127250"/>
                <a:gd name="connsiteX5-249" fmla="*/ 241300 w 2032001"/>
                <a:gd name="connsiteY5-250" fmla="*/ 1758950 h 2127250"/>
                <a:gd name="connsiteX6-251" fmla="*/ 514964 w 2032001"/>
                <a:gd name="connsiteY6-252" fmla="*/ 2049975 h 2127250"/>
                <a:gd name="connsiteX7-253" fmla="*/ 1123950 w 2032001"/>
                <a:gd name="connsiteY7-254" fmla="*/ 2127250 h 2127250"/>
                <a:gd name="connsiteX8-255" fmla="*/ 1225550 w 2032001"/>
                <a:gd name="connsiteY8-256" fmla="*/ 2101850 h 2127250"/>
                <a:gd name="connsiteX9-257" fmla="*/ 1530350 w 2032001"/>
                <a:gd name="connsiteY9-258" fmla="*/ 2089150 h 2127250"/>
                <a:gd name="connsiteX10-259" fmla="*/ 1949450 w 2032001"/>
                <a:gd name="connsiteY10-260" fmla="*/ 965200 h 2127250"/>
                <a:gd name="connsiteX11-261" fmla="*/ 2032000 w 2032001"/>
                <a:gd name="connsiteY11-262" fmla="*/ 590550 h 2127250"/>
                <a:gd name="connsiteX12-263" fmla="*/ 1619250 w 2032001"/>
                <a:gd name="connsiteY12-264" fmla="*/ 127000 h 2127250"/>
                <a:gd name="connsiteX13-265" fmla="*/ 1409700 w 2032001"/>
                <a:gd name="connsiteY13-266" fmla="*/ 69850 h 2127250"/>
                <a:gd name="connsiteX14-267" fmla="*/ 850900 w 2032001"/>
                <a:gd name="connsiteY14-268" fmla="*/ 0 h 2127250"/>
                <a:gd name="connsiteX0-269" fmla="*/ 850900 w 2032001"/>
                <a:gd name="connsiteY0-270" fmla="*/ 0 h 2127250"/>
                <a:gd name="connsiteX1-271" fmla="*/ 374650 w 2032001"/>
                <a:gd name="connsiteY1-272" fmla="*/ 285750 h 2127250"/>
                <a:gd name="connsiteX2-273" fmla="*/ 44450 w 2032001"/>
                <a:gd name="connsiteY2-274" fmla="*/ 762000 h 2127250"/>
                <a:gd name="connsiteX3-275" fmla="*/ 0 w 2032001"/>
                <a:gd name="connsiteY3-276" fmla="*/ 1104900 h 2127250"/>
                <a:gd name="connsiteX4-277" fmla="*/ 133350 w 2032001"/>
                <a:gd name="connsiteY4-278" fmla="*/ 1460500 h 2127250"/>
                <a:gd name="connsiteX5-279" fmla="*/ 241300 w 2032001"/>
                <a:gd name="connsiteY5-280" fmla="*/ 1758950 h 2127250"/>
                <a:gd name="connsiteX6-281" fmla="*/ 514964 w 2032001"/>
                <a:gd name="connsiteY6-282" fmla="*/ 2049975 h 2127250"/>
                <a:gd name="connsiteX7-283" fmla="*/ 1123950 w 2032001"/>
                <a:gd name="connsiteY7-284" fmla="*/ 2127250 h 2127250"/>
                <a:gd name="connsiteX8-285" fmla="*/ 1225550 w 2032001"/>
                <a:gd name="connsiteY8-286" fmla="*/ 2101850 h 2127250"/>
                <a:gd name="connsiteX9-287" fmla="*/ 1949450 w 2032001"/>
                <a:gd name="connsiteY9-288" fmla="*/ 965200 h 2127250"/>
                <a:gd name="connsiteX10-289" fmla="*/ 2032000 w 2032001"/>
                <a:gd name="connsiteY10-290" fmla="*/ 590550 h 2127250"/>
                <a:gd name="connsiteX11-291" fmla="*/ 1619250 w 2032001"/>
                <a:gd name="connsiteY11-292" fmla="*/ 127000 h 2127250"/>
                <a:gd name="connsiteX12-293" fmla="*/ 1409700 w 2032001"/>
                <a:gd name="connsiteY12-294" fmla="*/ 69850 h 2127250"/>
                <a:gd name="connsiteX13-295" fmla="*/ 850900 w 2032001"/>
                <a:gd name="connsiteY13-296" fmla="*/ 0 h 2127250"/>
                <a:gd name="connsiteX0-297" fmla="*/ 850900 w 2032001"/>
                <a:gd name="connsiteY0-298" fmla="*/ 0 h 2127250"/>
                <a:gd name="connsiteX1-299" fmla="*/ 374650 w 2032001"/>
                <a:gd name="connsiteY1-300" fmla="*/ 285750 h 2127250"/>
                <a:gd name="connsiteX2-301" fmla="*/ 44450 w 2032001"/>
                <a:gd name="connsiteY2-302" fmla="*/ 762000 h 2127250"/>
                <a:gd name="connsiteX3-303" fmla="*/ 0 w 2032001"/>
                <a:gd name="connsiteY3-304" fmla="*/ 1104900 h 2127250"/>
                <a:gd name="connsiteX4-305" fmla="*/ 133350 w 2032001"/>
                <a:gd name="connsiteY4-306" fmla="*/ 1460500 h 2127250"/>
                <a:gd name="connsiteX5-307" fmla="*/ 241300 w 2032001"/>
                <a:gd name="connsiteY5-308" fmla="*/ 1758950 h 2127250"/>
                <a:gd name="connsiteX6-309" fmla="*/ 514964 w 2032001"/>
                <a:gd name="connsiteY6-310" fmla="*/ 2049975 h 2127250"/>
                <a:gd name="connsiteX7-311" fmla="*/ 1123950 w 2032001"/>
                <a:gd name="connsiteY7-312" fmla="*/ 2127250 h 2127250"/>
                <a:gd name="connsiteX8-313" fmla="*/ 1949450 w 2032001"/>
                <a:gd name="connsiteY8-314" fmla="*/ 965200 h 2127250"/>
                <a:gd name="connsiteX9-315" fmla="*/ 2032000 w 2032001"/>
                <a:gd name="connsiteY9-316" fmla="*/ 590550 h 2127250"/>
                <a:gd name="connsiteX10-317" fmla="*/ 1619250 w 2032001"/>
                <a:gd name="connsiteY10-318" fmla="*/ 127000 h 2127250"/>
                <a:gd name="connsiteX11-319" fmla="*/ 1409700 w 2032001"/>
                <a:gd name="connsiteY11-320" fmla="*/ 69850 h 2127250"/>
                <a:gd name="connsiteX12-321" fmla="*/ 850900 w 2032001"/>
                <a:gd name="connsiteY12-322" fmla="*/ 0 h 2127250"/>
                <a:gd name="connsiteX0-323" fmla="*/ 850900 w 2032001"/>
                <a:gd name="connsiteY0-324" fmla="*/ 0 h 2049976"/>
                <a:gd name="connsiteX1-325" fmla="*/ 374650 w 2032001"/>
                <a:gd name="connsiteY1-326" fmla="*/ 285750 h 2049976"/>
                <a:gd name="connsiteX2-327" fmla="*/ 44450 w 2032001"/>
                <a:gd name="connsiteY2-328" fmla="*/ 762000 h 2049976"/>
                <a:gd name="connsiteX3-329" fmla="*/ 0 w 2032001"/>
                <a:gd name="connsiteY3-330" fmla="*/ 1104900 h 2049976"/>
                <a:gd name="connsiteX4-331" fmla="*/ 133350 w 2032001"/>
                <a:gd name="connsiteY4-332" fmla="*/ 1460500 h 2049976"/>
                <a:gd name="connsiteX5-333" fmla="*/ 241300 w 2032001"/>
                <a:gd name="connsiteY5-334" fmla="*/ 1758950 h 2049976"/>
                <a:gd name="connsiteX6-335" fmla="*/ 514964 w 2032001"/>
                <a:gd name="connsiteY6-336" fmla="*/ 2049975 h 2049976"/>
                <a:gd name="connsiteX7-337" fmla="*/ 1949450 w 2032001"/>
                <a:gd name="connsiteY7-338" fmla="*/ 965200 h 2049976"/>
                <a:gd name="connsiteX8-339" fmla="*/ 2032000 w 2032001"/>
                <a:gd name="connsiteY8-340" fmla="*/ 590550 h 2049976"/>
                <a:gd name="connsiteX9-341" fmla="*/ 1619250 w 2032001"/>
                <a:gd name="connsiteY9-342" fmla="*/ 127000 h 2049976"/>
                <a:gd name="connsiteX10-343" fmla="*/ 1409700 w 2032001"/>
                <a:gd name="connsiteY10-344" fmla="*/ 69850 h 2049976"/>
                <a:gd name="connsiteX11-345" fmla="*/ 850900 w 2032001"/>
                <a:gd name="connsiteY11-346" fmla="*/ 0 h 2049976"/>
                <a:gd name="connsiteX0-347" fmla="*/ 850900 w 2032001"/>
                <a:gd name="connsiteY0-348" fmla="*/ 0 h 1758951"/>
                <a:gd name="connsiteX1-349" fmla="*/ 374650 w 2032001"/>
                <a:gd name="connsiteY1-350" fmla="*/ 285750 h 1758951"/>
                <a:gd name="connsiteX2-351" fmla="*/ 44450 w 2032001"/>
                <a:gd name="connsiteY2-352" fmla="*/ 762000 h 1758951"/>
                <a:gd name="connsiteX3-353" fmla="*/ 0 w 2032001"/>
                <a:gd name="connsiteY3-354" fmla="*/ 1104900 h 1758951"/>
                <a:gd name="connsiteX4-355" fmla="*/ 133350 w 2032001"/>
                <a:gd name="connsiteY4-356" fmla="*/ 1460500 h 1758951"/>
                <a:gd name="connsiteX5-357" fmla="*/ 241300 w 2032001"/>
                <a:gd name="connsiteY5-358" fmla="*/ 1758950 h 1758951"/>
                <a:gd name="connsiteX6-359" fmla="*/ 1949450 w 2032001"/>
                <a:gd name="connsiteY6-360" fmla="*/ 965200 h 1758951"/>
                <a:gd name="connsiteX7-361" fmla="*/ 2032000 w 2032001"/>
                <a:gd name="connsiteY7-362" fmla="*/ 590550 h 1758951"/>
                <a:gd name="connsiteX8-363" fmla="*/ 1619250 w 2032001"/>
                <a:gd name="connsiteY8-364" fmla="*/ 127000 h 1758951"/>
                <a:gd name="connsiteX9-365" fmla="*/ 1409700 w 2032001"/>
                <a:gd name="connsiteY9-366" fmla="*/ 69850 h 1758951"/>
                <a:gd name="connsiteX10-367" fmla="*/ 850900 w 2032001"/>
                <a:gd name="connsiteY10-368" fmla="*/ 0 h 1758951"/>
                <a:gd name="connsiteX0-369" fmla="*/ 850900 w 2032001"/>
                <a:gd name="connsiteY0-370" fmla="*/ 0 h 2032202"/>
                <a:gd name="connsiteX1-371" fmla="*/ 374650 w 2032001"/>
                <a:gd name="connsiteY1-372" fmla="*/ 285750 h 2032202"/>
                <a:gd name="connsiteX2-373" fmla="*/ 44450 w 2032001"/>
                <a:gd name="connsiteY2-374" fmla="*/ 762000 h 2032202"/>
                <a:gd name="connsiteX3-375" fmla="*/ 0 w 2032001"/>
                <a:gd name="connsiteY3-376" fmla="*/ 1104900 h 2032202"/>
                <a:gd name="connsiteX4-377" fmla="*/ 133350 w 2032001"/>
                <a:gd name="connsiteY4-378" fmla="*/ 1460500 h 2032202"/>
                <a:gd name="connsiteX5-379" fmla="*/ 241300 w 2032001"/>
                <a:gd name="connsiteY5-380" fmla="*/ 1758950 h 2032202"/>
                <a:gd name="connsiteX6-381" fmla="*/ 1767282 w 2032001"/>
                <a:gd name="connsiteY6-382" fmla="*/ 2032202 h 2032202"/>
                <a:gd name="connsiteX7-383" fmla="*/ 2032000 w 2032001"/>
                <a:gd name="connsiteY7-384" fmla="*/ 590550 h 2032202"/>
                <a:gd name="connsiteX8-385" fmla="*/ 1619250 w 2032001"/>
                <a:gd name="connsiteY8-386" fmla="*/ 127000 h 2032202"/>
                <a:gd name="connsiteX9-387" fmla="*/ 1409700 w 2032001"/>
                <a:gd name="connsiteY9-388" fmla="*/ 69850 h 2032202"/>
                <a:gd name="connsiteX10-389" fmla="*/ 850900 w 2032001"/>
                <a:gd name="connsiteY10-390" fmla="*/ 0 h 2032202"/>
                <a:gd name="connsiteX0-391" fmla="*/ 850900 w 2032001"/>
                <a:gd name="connsiteY0-392" fmla="*/ 0 h 1758951"/>
                <a:gd name="connsiteX1-393" fmla="*/ 374650 w 2032001"/>
                <a:gd name="connsiteY1-394" fmla="*/ 285750 h 1758951"/>
                <a:gd name="connsiteX2-395" fmla="*/ 44450 w 2032001"/>
                <a:gd name="connsiteY2-396" fmla="*/ 762000 h 1758951"/>
                <a:gd name="connsiteX3-397" fmla="*/ 0 w 2032001"/>
                <a:gd name="connsiteY3-398" fmla="*/ 1104900 h 1758951"/>
                <a:gd name="connsiteX4-399" fmla="*/ 133350 w 2032001"/>
                <a:gd name="connsiteY4-400" fmla="*/ 1460500 h 1758951"/>
                <a:gd name="connsiteX5-401" fmla="*/ 241300 w 2032001"/>
                <a:gd name="connsiteY5-402" fmla="*/ 1758950 h 1758951"/>
                <a:gd name="connsiteX6-403" fmla="*/ 2032000 w 2032001"/>
                <a:gd name="connsiteY6-404" fmla="*/ 590550 h 1758951"/>
                <a:gd name="connsiteX7-405" fmla="*/ 1619250 w 2032001"/>
                <a:gd name="connsiteY7-406" fmla="*/ 127000 h 1758951"/>
                <a:gd name="connsiteX8-407" fmla="*/ 1409700 w 2032001"/>
                <a:gd name="connsiteY8-408" fmla="*/ 69850 h 1758951"/>
                <a:gd name="connsiteX9-409" fmla="*/ 850900 w 2032001"/>
                <a:gd name="connsiteY9-410" fmla="*/ 0 h 1758951"/>
                <a:gd name="connsiteX0-411" fmla="*/ 850900 w 2032001"/>
                <a:gd name="connsiteY0-412" fmla="*/ 0 h 1758951"/>
                <a:gd name="connsiteX1-413" fmla="*/ 374650 w 2032001"/>
                <a:gd name="connsiteY1-414" fmla="*/ 285750 h 1758951"/>
                <a:gd name="connsiteX2-415" fmla="*/ 44450 w 2032001"/>
                <a:gd name="connsiteY2-416" fmla="*/ 762000 h 1758951"/>
                <a:gd name="connsiteX3-417" fmla="*/ 0 w 2032001"/>
                <a:gd name="connsiteY3-418" fmla="*/ 1104900 h 1758951"/>
                <a:gd name="connsiteX4-419" fmla="*/ 133350 w 2032001"/>
                <a:gd name="connsiteY4-420" fmla="*/ 1460500 h 1758951"/>
                <a:gd name="connsiteX5-421" fmla="*/ 241300 w 2032001"/>
                <a:gd name="connsiteY5-422" fmla="*/ 1758950 h 1758951"/>
                <a:gd name="connsiteX6-423" fmla="*/ 1698558 w 2032001"/>
                <a:gd name="connsiteY6-424" fmla="*/ 1147400 h 1758951"/>
                <a:gd name="connsiteX7-425" fmla="*/ 2032000 w 2032001"/>
                <a:gd name="connsiteY7-426" fmla="*/ 590550 h 1758951"/>
                <a:gd name="connsiteX8-427" fmla="*/ 1619250 w 2032001"/>
                <a:gd name="connsiteY8-428" fmla="*/ 127000 h 1758951"/>
                <a:gd name="connsiteX9-429" fmla="*/ 1409700 w 2032001"/>
                <a:gd name="connsiteY9-430" fmla="*/ 69850 h 1758951"/>
                <a:gd name="connsiteX10-431" fmla="*/ 850900 w 2032001"/>
                <a:gd name="connsiteY10-432" fmla="*/ 0 h 1758951"/>
                <a:gd name="connsiteX0-433" fmla="*/ 850900 w 2032001"/>
                <a:gd name="connsiteY0-434" fmla="*/ 0 h 1758951"/>
                <a:gd name="connsiteX1-435" fmla="*/ 374650 w 2032001"/>
                <a:gd name="connsiteY1-436" fmla="*/ 285750 h 1758951"/>
                <a:gd name="connsiteX2-437" fmla="*/ 44450 w 2032001"/>
                <a:gd name="connsiteY2-438" fmla="*/ 762000 h 1758951"/>
                <a:gd name="connsiteX3-439" fmla="*/ 0 w 2032001"/>
                <a:gd name="connsiteY3-440" fmla="*/ 1104900 h 1758951"/>
                <a:gd name="connsiteX4-441" fmla="*/ 133350 w 2032001"/>
                <a:gd name="connsiteY4-442" fmla="*/ 1460500 h 1758951"/>
                <a:gd name="connsiteX5-443" fmla="*/ 241300 w 2032001"/>
                <a:gd name="connsiteY5-444" fmla="*/ 1758950 h 1758951"/>
                <a:gd name="connsiteX6-445" fmla="*/ 1698558 w 2032001"/>
                <a:gd name="connsiteY6-446" fmla="*/ 1147400 h 1758951"/>
                <a:gd name="connsiteX7-447" fmla="*/ 2032000 w 2032001"/>
                <a:gd name="connsiteY7-448" fmla="*/ 590550 h 1758951"/>
                <a:gd name="connsiteX8-449" fmla="*/ 1619250 w 2032001"/>
                <a:gd name="connsiteY8-450" fmla="*/ 127000 h 1758951"/>
                <a:gd name="connsiteX9-451" fmla="*/ 1409700 w 2032001"/>
                <a:gd name="connsiteY9-452" fmla="*/ 69850 h 1758951"/>
                <a:gd name="connsiteX10-453" fmla="*/ 850900 w 2032001"/>
                <a:gd name="connsiteY10-454" fmla="*/ 0 h 175895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Lst>
              <a:rect l="l" t="t" r="r" b="b"/>
              <a:pathLst>
                <a:path w="2032001" h="1758951">
                  <a:moveTo>
                    <a:pt x="850900" y="0"/>
                  </a:moveTo>
                  <a:lnTo>
                    <a:pt x="374650" y="285750"/>
                  </a:lnTo>
                  <a:lnTo>
                    <a:pt x="44450" y="762000"/>
                  </a:lnTo>
                  <a:lnTo>
                    <a:pt x="0" y="1104900"/>
                  </a:lnTo>
                  <a:lnTo>
                    <a:pt x="133350" y="1460500"/>
                  </a:lnTo>
                  <a:lnTo>
                    <a:pt x="241300" y="1758950"/>
                  </a:lnTo>
                  <a:cubicBezTo>
                    <a:pt x="521749" y="1566667"/>
                    <a:pt x="1409435" y="1304984"/>
                    <a:pt x="1698558" y="1147400"/>
                  </a:cubicBezTo>
                  <a:lnTo>
                    <a:pt x="2032000" y="590550"/>
                  </a:lnTo>
                  <a:lnTo>
                    <a:pt x="1619250" y="127000"/>
                  </a:lnTo>
                  <a:lnTo>
                    <a:pt x="1409700" y="69850"/>
                  </a:lnTo>
                  <a:lnTo>
                    <a:pt x="850900" y="0"/>
                  </a:lnTo>
                  <a:close/>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sp>
          <p:nvSpPr>
            <p:cNvPr id="6" name="任意多边形 2">
              <a:extLst>
                <a:ext uri="{FF2B5EF4-FFF2-40B4-BE49-F238E27FC236}">
                  <a16:creationId xmlns:a16="http://schemas.microsoft.com/office/drawing/2014/main" id="{6F7C0057-0F8E-4F02-BBEB-1B5CF8148B19}"/>
                </a:ext>
              </a:extLst>
            </p:cNvPr>
            <p:cNvSpPr/>
            <p:nvPr/>
          </p:nvSpPr>
          <p:spPr>
            <a:xfrm>
              <a:off x="363941" y="229805"/>
              <a:ext cx="563019" cy="367005"/>
            </a:xfrm>
            <a:custGeom>
              <a:avLst/>
              <a:gdLst>
                <a:gd name="connsiteX0" fmla="*/ 1917700 w 2070100"/>
                <a:gd name="connsiteY0" fmla="*/ 552450 h 2070100"/>
                <a:gd name="connsiteX1" fmla="*/ 2070100 w 2070100"/>
                <a:gd name="connsiteY1" fmla="*/ 1028700 h 2070100"/>
                <a:gd name="connsiteX2" fmla="*/ 2012950 w 2070100"/>
                <a:gd name="connsiteY2" fmla="*/ 1390650 h 2070100"/>
                <a:gd name="connsiteX3" fmla="*/ 1739900 w 2070100"/>
                <a:gd name="connsiteY3" fmla="*/ 1816100 h 2070100"/>
                <a:gd name="connsiteX4" fmla="*/ 996950 w 2070100"/>
                <a:gd name="connsiteY4" fmla="*/ 2070100 h 2070100"/>
                <a:gd name="connsiteX5" fmla="*/ 520700 w 2070100"/>
                <a:gd name="connsiteY5" fmla="*/ 1606550 h 2070100"/>
                <a:gd name="connsiteX6" fmla="*/ 304800 w 2070100"/>
                <a:gd name="connsiteY6" fmla="*/ 1289050 h 2070100"/>
                <a:gd name="connsiteX7" fmla="*/ 38100 w 2070100"/>
                <a:gd name="connsiteY7" fmla="*/ 882650 h 2070100"/>
                <a:gd name="connsiteX8" fmla="*/ 228600 w 2070100"/>
                <a:gd name="connsiteY8" fmla="*/ 266700 h 2070100"/>
                <a:gd name="connsiteX9" fmla="*/ 457200 w 2070100"/>
                <a:gd name="connsiteY9" fmla="*/ 685800 h 2070100"/>
                <a:gd name="connsiteX10" fmla="*/ 520700 w 2070100"/>
                <a:gd name="connsiteY10" fmla="*/ 1600200 h 2070100"/>
                <a:gd name="connsiteX11" fmla="*/ 806450 w 2070100"/>
                <a:gd name="connsiteY11" fmla="*/ 1397000 h 2070100"/>
                <a:gd name="connsiteX12" fmla="*/ 1193800 w 2070100"/>
                <a:gd name="connsiteY12" fmla="*/ 1085850 h 2070100"/>
                <a:gd name="connsiteX13" fmla="*/ 1181100 w 2070100"/>
                <a:gd name="connsiteY13" fmla="*/ 666750 h 2070100"/>
                <a:gd name="connsiteX14" fmla="*/ 673100 w 2070100"/>
                <a:gd name="connsiteY14" fmla="*/ 228600 h 2070100"/>
                <a:gd name="connsiteX15" fmla="*/ 1308100 w 2070100"/>
                <a:gd name="connsiteY15" fmla="*/ 0 h 2070100"/>
                <a:gd name="connsiteX16" fmla="*/ 1289050 w 2070100"/>
                <a:gd name="connsiteY16" fmla="*/ 209550 h 2070100"/>
                <a:gd name="connsiteX17" fmla="*/ 685800 w 2070100"/>
                <a:gd name="connsiteY17" fmla="*/ 228600 h 2070100"/>
                <a:gd name="connsiteX18" fmla="*/ 431800 w 2070100"/>
                <a:gd name="connsiteY18" fmla="*/ 1079500 h 2070100"/>
                <a:gd name="connsiteX19" fmla="*/ 298450 w 2070100"/>
                <a:gd name="connsiteY19" fmla="*/ 1320800 h 2070100"/>
                <a:gd name="connsiteX20" fmla="*/ 400050 w 2070100"/>
                <a:gd name="connsiteY20" fmla="*/ 1746250 h 2070100"/>
                <a:gd name="connsiteX21" fmla="*/ 869950 w 2070100"/>
                <a:gd name="connsiteY21" fmla="*/ 1911350 h 2070100"/>
                <a:gd name="connsiteX22" fmla="*/ 806450 w 2070100"/>
                <a:gd name="connsiteY22" fmla="*/ 1428750 h 2070100"/>
                <a:gd name="connsiteX23" fmla="*/ 1193800 w 2070100"/>
                <a:gd name="connsiteY23" fmla="*/ 1644650 h 2070100"/>
                <a:gd name="connsiteX24" fmla="*/ 1206500 w 2070100"/>
                <a:gd name="connsiteY24" fmla="*/ 1079500 h 2070100"/>
                <a:gd name="connsiteX25" fmla="*/ 1835150 w 2070100"/>
                <a:gd name="connsiteY25" fmla="*/ 908050 h 2070100"/>
                <a:gd name="connsiteX26" fmla="*/ 1765300 w 2070100"/>
                <a:gd name="connsiteY26" fmla="*/ 1600200 h 2070100"/>
                <a:gd name="connsiteX27" fmla="*/ 1200150 w 2070100"/>
                <a:gd name="connsiteY27" fmla="*/ 1085850 h 2070100"/>
                <a:gd name="connsiteX28" fmla="*/ 463550 w 2070100"/>
                <a:gd name="connsiteY28" fmla="*/ 698500 h 2070100"/>
                <a:gd name="connsiteX29" fmla="*/ 31750 w 2070100"/>
                <a:gd name="connsiteY29" fmla="*/ 882650 h 2070100"/>
                <a:gd name="connsiteX30" fmla="*/ 0 w 2070100"/>
                <a:gd name="connsiteY30" fmla="*/ 1390650 h 2070100"/>
                <a:gd name="connsiteX31" fmla="*/ 400050 w 2070100"/>
                <a:gd name="connsiteY31" fmla="*/ 1733550 h 2070100"/>
                <a:gd name="connsiteX32" fmla="*/ 387350 w 2070100"/>
                <a:gd name="connsiteY32" fmla="*/ 1917700 h 2070100"/>
                <a:gd name="connsiteX33" fmla="*/ 6350 w 2070100"/>
                <a:gd name="connsiteY33" fmla="*/ 1397000 h 2070100"/>
                <a:gd name="connsiteX0-1" fmla="*/ 1898650 w 2070100"/>
                <a:gd name="connsiteY0-2" fmla="*/ 547688 h 2070100"/>
                <a:gd name="connsiteX1-3" fmla="*/ 2070100 w 2070100"/>
                <a:gd name="connsiteY1-4" fmla="*/ 1028700 h 2070100"/>
                <a:gd name="connsiteX2-5" fmla="*/ 2012950 w 2070100"/>
                <a:gd name="connsiteY2-6" fmla="*/ 1390650 h 2070100"/>
                <a:gd name="connsiteX3-7" fmla="*/ 1739900 w 2070100"/>
                <a:gd name="connsiteY3-8" fmla="*/ 1816100 h 2070100"/>
                <a:gd name="connsiteX4-9" fmla="*/ 996950 w 2070100"/>
                <a:gd name="connsiteY4-10" fmla="*/ 2070100 h 2070100"/>
                <a:gd name="connsiteX5-11" fmla="*/ 520700 w 2070100"/>
                <a:gd name="connsiteY5-12" fmla="*/ 1606550 h 2070100"/>
                <a:gd name="connsiteX6-13" fmla="*/ 304800 w 2070100"/>
                <a:gd name="connsiteY6-14" fmla="*/ 1289050 h 2070100"/>
                <a:gd name="connsiteX7-15" fmla="*/ 38100 w 2070100"/>
                <a:gd name="connsiteY7-16" fmla="*/ 882650 h 2070100"/>
                <a:gd name="connsiteX8-17" fmla="*/ 228600 w 2070100"/>
                <a:gd name="connsiteY8-18" fmla="*/ 266700 h 2070100"/>
                <a:gd name="connsiteX9-19" fmla="*/ 457200 w 2070100"/>
                <a:gd name="connsiteY9-20" fmla="*/ 685800 h 2070100"/>
                <a:gd name="connsiteX10-21" fmla="*/ 520700 w 2070100"/>
                <a:gd name="connsiteY10-22" fmla="*/ 1600200 h 2070100"/>
                <a:gd name="connsiteX11-23" fmla="*/ 806450 w 2070100"/>
                <a:gd name="connsiteY11-24" fmla="*/ 1397000 h 2070100"/>
                <a:gd name="connsiteX12-25" fmla="*/ 1193800 w 2070100"/>
                <a:gd name="connsiteY12-26" fmla="*/ 1085850 h 2070100"/>
                <a:gd name="connsiteX13-27" fmla="*/ 1181100 w 2070100"/>
                <a:gd name="connsiteY13-28" fmla="*/ 666750 h 2070100"/>
                <a:gd name="connsiteX14-29" fmla="*/ 673100 w 2070100"/>
                <a:gd name="connsiteY14-30" fmla="*/ 228600 h 2070100"/>
                <a:gd name="connsiteX15-31" fmla="*/ 1308100 w 2070100"/>
                <a:gd name="connsiteY15-32" fmla="*/ 0 h 2070100"/>
                <a:gd name="connsiteX16-33" fmla="*/ 1289050 w 2070100"/>
                <a:gd name="connsiteY16-34" fmla="*/ 209550 h 2070100"/>
                <a:gd name="connsiteX17-35" fmla="*/ 685800 w 2070100"/>
                <a:gd name="connsiteY17-36" fmla="*/ 228600 h 2070100"/>
                <a:gd name="connsiteX18-37" fmla="*/ 431800 w 2070100"/>
                <a:gd name="connsiteY18-38" fmla="*/ 1079500 h 2070100"/>
                <a:gd name="connsiteX19-39" fmla="*/ 298450 w 2070100"/>
                <a:gd name="connsiteY19-40" fmla="*/ 1320800 h 2070100"/>
                <a:gd name="connsiteX20-41" fmla="*/ 400050 w 2070100"/>
                <a:gd name="connsiteY20-42" fmla="*/ 1746250 h 2070100"/>
                <a:gd name="connsiteX21-43" fmla="*/ 869950 w 2070100"/>
                <a:gd name="connsiteY21-44" fmla="*/ 1911350 h 2070100"/>
                <a:gd name="connsiteX22-45" fmla="*/ 806450 w 2070100"/>
                <a:gd name="connsiteY22-46" fmla="*/ 1428750 h 2070100"/>
                <a:gd name="connsiteX23-47" fmla="*/ 1193800 w 2070100"/>
                <a:gd name="connsiteY23-48" fmla="*/ 1644650 h 2070100"/>
                <a:gd name="connsiteX24-49" fmla="*/ 1206500 w 2070100"/>
                <a:gd name="connsiteY24-50" fmla="*/ 1079500 h 2070100"/>
                <a:gd name="connsiteX25-51" fmla="*/ 1835150 w 2070100"/>
                <a:gd name="connsiteY25-52" fmla="*/ 908050 h 2070100"/>
                <a:gd name="connsiteX26-53" fmla="*/ 1765300 w 2070100"/>
                <a:gd name="connsiteY26-54" fmla="*/ 1600200 h 2070100"/>
                <a:gd name="connsiteX27-55" fmla="*/ 1200150 w 2070100"/>
                <a:gd name="connsiteY27-56" fmla="*/ 1085850 h 2070100"/>
                <a:gd name="connsiteX28-57" fmla="*/ 463550 w 2070100"/>
                <a:gd name="connsiteY28-58" fmla="*/ 698500 h 2070100"/>
                <a:gd name="connsiteX29-59" fmla="*/ 31750 w 2070100"/>
                <a:gd name="connsiteY29-60" fmla="*/ 882650 h 2070100"/>
                <a:gd name="connsiteX30-61" fmla="*/ 0 w 2070100"/>
                <a:gd name="connsiteY30-62" fmla="*/ 1390650 h 2070100"/>
                <a:gd name="connsiteX31-63" fmla="*/ 400050 w 2070100"/>
                <a:gd name="connsiteY31-64" fmla="*/ 1733550 h 2070100"/>
                <a:gd name="connsiteX32-65" fmla="*/ 387350 w 2070100"/>
                <a:gd name="connsiteY32-66" fmla="*/ 1917700 h 2070100"/>
                <a:gd name="connsiteX33-67" fmla="*/ 6350 w 2070100"/>
                <a:gd name="connsiteY33-68" fmla="*/ 1397000 h 2070100"/>
                <a:gd name="connsiteX0-69" fmla="*/ 1898650 w 2051050"/>
                <a:gd name="connsiteY0-70" fmla="*/ 547688 h 2070100"/>
                <a:gd name="connsiteX1-71" fmla="*/ 2051050 w 2051050"/>
                <a:gd name="connsiteY1-72" fmla="*/ 1042988 h 2070100"/>
                <a:gd name="connsiteX2-73" fmla="*/ 2012950 w 2051050"/>
                <a:gd name="connsiteY2-74" fmla="*/ 1390650 h 2070100"/>
                <a:gd name="connsiteX3-75" fmla="*/ 1739900 w 2051050"/>
                <a:gd name="connsiteY3-76" fmla="*/ 1816100 h 2070100"/>
                <a:gd name="connsiteX4-77" fmla="*/ 996950 w 2051050"/>
                <a:gd name="connsiteY4-78" fmla="*/ 2070100 h 2070100"/>
                <a:gd name="connsiteX5-79" fmla="*/ 520700 w 2051050"/>
                <a:gd name="connsiteY5-80" fmla="*/ 1606550 h 2070100"/>
                <a:gd name="connsiteX6-81" fmla="*/ 304800 w 2051050"/>
                <a:gd name="connsiteY6-82" fmla="*/ 1289050 h 2070100"/>
                <a:gd name="connsiteX7-83" fmla="*/ 38100 w 2051050"/>
                <a:gd name="connsiteY7-84" fmla="*/ 882650 h 2070100"/>
                <a:gd name="connsiteX8-85" fmla="*/ 228600 w 2051050"/>
                <a:gd name="connsiteY8-86" fmla="*/ 266700 h 2070100"/>
                <a:gd name="connsiteX9-87" fmla="*/ 457200 w 2051050"/>
                <a:gd name="connsiteY9-88" fmla="*/ 685800 h 2070100"/>
                <a:gd name="connsiteX10-89" fmla="*/ 520700 w 2051050"/>
                <a:gd name="connsiteY10-90" fmla="*/ 1600200 h 2070100"/>
                <a:gd name="connsiteX11-91" fmla="*/ 806450 w 2051050"/>
                <a:gd name="connsiteY11-92" fmla="*/ 1397000 h 2070100"/>
                <a:gd name="connsiteX12-93" fmla="*/ 1193800 w 2051050"/>
                <a:gd name="connsiteY12-94" fmla="*/ 1085850 h 2070100"/>
                <a:gd name="connsiteX13-95" fmla="*/ 1181100 w 2051050"/>
                <a:gd name="connsiteY13-96" fmla="*/ 666750 h 2070100"/>
                <a:gd name="connsiteX14-97" fmla="*/ 673100 w 2051050"/>
                <a:gd name="connsiteY14-98" fmla="*/ 228600 h 2070100"/>
                <a:gd name="connsiteX15-99" fmla="*/ 1308100 w 2051050"/>
                <a:gd name="connsiteY15-100" fmla="*/ 0 h 2070100"/>
                <a:gd name="connsiteX16-101" fmla="*/ 1289050 w 2051050"/>
                <a:gd name="connsiteY16-102" fmla="*/ 209550 h 2070100"/>
                <a:gd name="connsiteX17-103" fmla="*/ 685800 w 2051050"/>
                <a:gd name="connsiteY17-104" fmla="*/ 228600 h 2070100"/>
                <a:gd name="connsiteX18-105" fmla="*/ 431800 w 2051050"/>
                <a:gd name="connsiteY18-106" fmla="*/ 1079500 h 2070100"/>
                <a:gd name="connsiteX19-107" fmla="*/ 298450 w 2051050"/>
                <a:gd name="connsiteY19-108" fmla="*/ 1320800 h 2070100"/>
                <a:gd name="connsiteX20-109" fmla="*/ 400050 w 2051050"/>
                <a:gd name="connsiteY20-110" fmla="*/ 1746250 h 2070100"/>
                <a:gd name="connsiteX21-111" fmla="*/ 869950 w 2051050"/>
                <a:gd name="connsiteY21-112" fmla="*/ 1911350 h 2070100"/>
                <a:gd name="connsiteX22-113" fmla="*/ 806450 w 2051050"/>
                <a:gd name="connsiteY22-114" fmla="*/ 1428750 h 2070100"/>
                <a:gd name="connsiteX23-115" fmla="*/ 1193800 w 2051050"/>
                <a:gd name="connsiteY23-116" fmla="*/ 1644650 h 2070100"/>
                <a:gd name="connsiteX24-117" fmla="*/ 1206500 w 2051050"/>
                <a:gd name="connsiteY24-118" fmla="*/ 1079500 h 2070100"/>
                <a:gd name="connsiteX25-119" fmla="*/ 1835150 w 2051050"/>
                <a:gd name="connsiteY25-120" fmla="*/ 908050 h 2070100"/>
                <a:gd name="connsiteX26-121" fmla="*/ 1765300 w 2051050"/>
                <a:gd name="connsiteY26-122" fmla="*/ 1600200 h 2070100"/>
                <a:gd name="connsiteX27-123" fmla="*/ 1200150 w 2051050"/>
                <a:gd name="connsiteY27-124" fmla="*/ 1085850 h 2070100"/>
                <a:gd name="connsiteX28-125" fmla="*/ 463550 w 2051050"/>
                <a:gd name="connsiteY28-126" fmla="*/ 698500 h 2070100"/>
                <a:gd name="connsiteX29-127" fmla="*/ 31750 w 2051050"/>
                <a:gd name="connsiteY29-128" fmla="*/ 882650 h 2070100"/>
                <a:gd name="connsiteX30-129" fmla="*/ 0 w 2051050"/>
                <a:gd name="connsiteY30-130" fmla="*/ 1390650 h 2070100"/>
                <a:gd name="connsiteX31-131" fmla="*/ 400050 w 2051050"/>
                <a:gd name="connsiteY31-132" fmla="*/ 1733550 h 2070100"/>
                <a:gd name="connsiteX32-133" fmla="*/ 387350 w 2051050"/>
                <a:gd name="connsiteY32-134" fmla="*/ 1917700 h 2070100"/>
                <a:gd name="connsiteX33-135" fmla="*/ 6350 w 2051050"/>
                <a:gd name="connsiteY33-136" fmla="*/ 1397000 h 2070100"/>
                <a:gd name="connsiteX0-137" fmla="*/ 1898650 w 2051050"/>
                <a:gd name="connsiteY0-138" fmla="*/ 547688 h 2070100"/>
                <a:gd name="connsiteX1-139" fmla="*/ 2051050 w 2051050"/>
                <a:gd name="connsiteY1-140" fmla="*/ 1042988 h 2070100"/>
                <a:gd name="connsiteX2-141" fmla="*/ 1998663 w 2051050"/>
                <a:gd name="connsiteY2-142" fmla="*/ 1376363 h 2070100"/>
                <a:gd name="connsiteX3-143" fmla="*/ 1739900 w 2051050"/>
                <a:gd name="connsiteY3-144" fmla="*/ 1816100 h 2070100"/>
                <a:gd name="connsiteX4-145" fmla="*/ 996950 w 2051050"/>
                <a:gd name="connsiteY4-146" fmla="*/ 2070100 h 2070100"/>
                <a:gd name="connsiteX5-147" fmla="*/ 520700 w 2051050"/>
                <a:gd name="connsiteY5-148" fmla="*/ 1606550 h 2070100"/>
                <a:gd name="connsiteX6-149" fmla="*/ 304800 w 2051050"/>
                <a:gd name="connsiteY6-150" fmla="*/ 1289050 h 2070100"/>
                <a:gd name="connsiteX7-151" fmla="*/ 38100 w 2051050"/>
                <a:gd name="connsiteY7-152" fmla="*/ 882650 h 2070100"/>
                <a:gd name="connsiteX8-153" fmla="*/ 228600 w 2051050"/>
                <a:gd name="connsiteY8-154" fmla="*/ 266700 h 2070100"/>
                <a:gd name="connsiteX9-155" fmla="*/ 457200 w 2051050"/>
                <a:gd name="connsiteY9-156" fmla="*/ 685800 h 2070100"/>
                <a:gd name="connsiteX10-157" fmla="*/ 520700 w 2051050"/>
                <a:gd name="connsiteY10-158" fmla="*/ 1600200 h 2070100"/>
                <a:gd name="connsiteX11-159" fmla="*/ 806450 w 2051050"/>
                <a:gd name="connsiteY11-160" fmla="*/ 1397000 h 2070100"/>
                <a:gd name="connsiteX12-161" fmla="*/ 1193800 w 2051050"/>
                <a:gd name="connsiteY12-162" fmla="*/ 1085850 h 2070100"/>
                <a:gd name="connsiteX13-163" fmla="*/ 1181100 w 2051050"/>
                <a:gd name="connsiteY13-164" fmla="*/ 666750 h 2070100"/>
                <a:gd name="connsiteX14-165" fmla="*/ 673100 w 2051050"/>
                <a:gd name="connsiteY14-166" fmla="*/ 228600 h 2070100"/>
                <a:gd name="connsiteX15-167" fmla="*/ 1308100 w 2051050"/>
                <a:gd name="connsiteY15-168" fmla="*/ 0 h 2070100"/>
                <a:gd name="connsiteX16-169" fmla="*/ 1289050 w 2051050"/>
                <a:gd name="connsiteY16-170" fmla="*/ 209550 h 2070100"/>
                <a:gd name="connsiteX17-171" fmla="*/ 685800 w 2051050"/>
                <a:gd name="connsiteY17-172" fmla="*/ 228600 h 2070100"/>
                <a:gd name="connsiteX18-173" fmla="*/ 431800 w 2051050"/>
                <a:gd name="connsiteY18-174" fmla="*/ 1079500 h 2070100"/>
                <a:gd name="connsiteX19-175" fmla="*/ 298450 w 2051050"/>
                <a:gd name="connsiteY19-176" fmla="*/ 1320800 h 2070100"/>
                <a:gd name="connsiteX20-177" fmla="*/ 400050 w 2051050"/>
                <a:gd name="connsiteY20-178" fmla="*/ 1746250 h 2070100"/>
                <a:gd name="connsiteX21-179" fmla="*/ 869950 w 2051050"/>
                <a:gd name="connsiteY21-180" fmla="*/ 1911350 h 2070100"/>
                <a:gd name="connsiteX22-181" fmla="*/ 806450 w 2051050"/>
                <a:gd name="connsiteY22-182" fmla="*/ 1428750 h 2070100"/>
                <a:gd name="connsiteX23-183" fmla="*/ 1193800 w 2051050"/>
                <a:gd name="connsiteY23-184" fmla="*/ 1644650 h 2070100"/>
                <a:gd name="connsiteX24-185" fmla="*/ 1206500 w 2051050"/>
                <a:gd name="connsiteY24-186" fmla="*/ 1079500 h 2070100"/>
                <a:gd name="connsiteX25-187" fmla="*/ 1835150 w 2051050"/>
                <a:gd name="connsiteY25-188" fmla="*/ 908050 h 2070100"/>
                <a:gd name="connsiteX26-189" fmla="*/ 1765300 w 2051050"/>
                <a:gd name="connsiteY26-190" fmla="*/ 1600200 h 2070100"/>
                <a:gd name="connsiteX27-191" fmla="*/ 1200150 w 2051050"/>
                <a:gd name="connsiteY27-192" fmla="*/ 1085850 h 2070100"/>
                <a:gd name="connsiteX28-193" fmla="*/ 463550 w 2051050"/>
                <a:gd name="connsiteY28-194" fmla="*/ 698500 h 2070100"/>
                <a:gd name="connsiteX29-195" fmla="*/ 31750 w 2051050"/>
                <a:gd name="connsiteY29-196" fmla="*/ 882650 h 2070100"/>
                <a:gd name="connsiteX30-197" fmla="*/ 0 w 2051050"/>
                <a:gd name="connsiteY30-198" fmla="*/ 1390650 h 2070100"/>
                <a:gd name="connsiteX31-199" fmla="*/ 400050 w 2051050"/>
                <a:gd name="connsiteY31-200" fmla="*/ 1733550 h 2070100"/>
                <a:gd name="connsiteX32-201" fmla="*/ 387350 w 2051050"/>
                <a:gd name="connsiteY32-202" fmla="*/ 1917700 h 2070100"/>
                <a:gd name="connsiteX33-203" fmla="*/ 6350 w 2051050"/>
                <a:gd name="connsiteY33-204" fmla="*/ 1397000 h 2070100"/>
                <a:gd name="connsiteX0-205" fmla="*/ 1898650 w 2051050"/>
                <a:gd name="connsiteY0-206" fmla="*/ 541338 h 2063750"/>
                <a:gd name="connsiteX1-207" fmla="*/ 2051050 w 2051050"/>
                <a:gd name="connsiteY1-208" fmla="*/ 1036638 h 2063750"/>
                <a:gd name="connsiteX2-209" fmla="*/ 1998663 w 2051050"/>
                <a:gd name="connsiteY2-210" fmla="*/ 1370013 h 2063750"/>
                <a:gd name="connsiteX3-211" fmla="*/ 1739900 w 2051050"/>
                <a:gd name="connsiteY3-212" fmla="*/ 1809750 h 2063750"/>
                <a:gd name="connsiteX4-213" fmla="*/ 996950 w 2051050"/>
                <a:gd name="connsiteY4-214" fmla="*/ 2063750 h 2063750"/>
                <a:gd name="connsiteX5-215" fmla="*/ 520700 w 2051050"/>
                <a:gd name="connsiteY5-216" fmla="*/ 1600200 h 2063750"/>
                <a:gd name="connsiteX6-217" fmla="*/ 304800 w 2051050"/>
                <a:gd name="connsiteY6-218" fmla="*/ 1282700 h 2063750"/>
                <a:gd name="connsiteX7-219" fmla="*/ 38100 w 2051050"/>
                <a:gd name="connsiteY7-220" fmla="*/ 876300 h 2063750"/>
                <a:gd name="connsiteX8-221" fmla="*/ 228600 w 2051050"/>
                <a:gd name="connsiteY8-222" fmla="*/ 260350 h 2063750"/>
                <a:gd name="connsiteX9-223" fmla="*/ 457200 w 2051050"/>
                <a:gd name="connsiteY9-224" fmla="*/ 679450 h 2063750"/>
                <a:gd name="connsiteX10-225" fmla="*/ 520700 w 2051050"/>
                <a:gd name="connsiteY10-226" fmla="*/ 1593850 h 2063750"/>
                <a:gd name="connsiteX11-227" fmla="*/ 806450 w 2051050"/>
                <a:gd name="connsiteY11-228" fmla="*/ 1390650 h 2063750"/>
                <a:gd name="connsiteX12-229" fmla="*/ 1193800 w 2051050"/>
                <a:gd name="connsiteY12-230" fmla="*/ 1079500 h 2063750"/>
                <a:gd name="connsiteX13-231" fmla="*/ 1181100 w 2051050"/>
                <a:gd name="connsiteY13-232" fmla="*/ 660400 h 2063750"/>
                <a:gd name="connsiteX14-233" fmla="*/ 673100 w 2051050"/>
                <a:gd name="connsiteY14-234" fmla="*/ 222250 h 2063750"/>
                <a:gd name="connsiteX15-235" fmla="*/ 1276350 w 2051050"/>
                <a:gd name="connsiteY15-236" fmla="*/ 0 h 2063750"/>
                <a:gd name="connsiteX16-237" fmla="*/ 1289050 w 2051050"/>
                <a:gd name="connsiteY16-238" fmla="*/ 203200 h 2063750"/>
                <a:gd name="connsiteX17-239" fmla="*/ 685800 w 2051050"/>
                <a:gd name="connsiteY17-240" fmla="*/ 222250 h 2063750"/>
                <a:gd name="connsiteX18-241" fmla="*/ 431800 w 2051050"/>
                <a:gd name="connsiteY18-242" fmla="*/ 1073150 h 2063750"/>
                <a:gd name="connsiteX19-243" fmla="*/ 298450 w 2051050"/>
                <a:gd name="connsiteY19-244" fmla="*/ 1314450 h 2063750"/>
                <a:gd name="connsiteX20-245" fmla="*/ 400050 w 2051050"/>
                <a:gd name="connsiteY20-246" fmla="*/ 1739900 h 2063750"/>
                <a:gd name="connsiteX21-247" fmla="*/ 869950 w 2051050"/>
                <a:gd name="connsiteY21-248" fmla="*/ 1905000 h 2063750"/>
                <a:gd name="connsiteX22-249" fmla="*/ 806450 w 2051050"/>
                <a:gd name="connsiteY22-250" fmla="*/ 1422400 h 2063750"/>
                <a:gd name="connsiteX23-251" fmla="*/ 1193800 w 2051050"/>
                <a:gd name="connsiteY23-252" fmla="*/ 1638300 h 2063750"/>
                <a:gd name="connsiteX24-253" fmla="*/ 1206500 w 2051050"/>
                <a:gd name="connsiteY24-254" fmla="*/ 1073150 h 2063750"/>
                <a:gd name="connsiteX25-255" fmla="*/ 1835150 w 2051050"/>
                <a:gd name="connsiteY25-256" fmla="*/ 901700 h 2063750"/>
                <a:gd name="connsiteX26-257" fmla="*/ 1765300 w 2051050"/>
                <a:gd name="connsiteY26-258" fmla="*/ 1593850 h 2063750"/>
                <a:gd name="connsiteX27-259" fmla="*/ 1200150 w 2051050"/>
                <a:gd name="connsiteY27-260" fmla="*/ 1079500 h 2063750"/>
                <a:gd name="connsiteX28-261" fmla="*/ 463550 w 2051050"/>
                <a:gd name="connsiteY28-262" fmla="*/ 692150 h 2063750"/>
                <a:gd name="connsiteX29-263" fmla="*/ 31750 w 2051050"/>
                <a:gd name="connsiteY29-264" fmla="*/ 876300 h 2063750"/>
                <a:gd name="connsiteX30-265" fmla="*/ 0 w 2051050"/>
                <a:gd name="connsiteY30-266" fmla="*/ 1384300 h 2063750"/>
                <a:gd name="connsiteX31-267" fmla="*/ 400050 w 2051050"/>
                <a:gd name="connsiteY31-268" fmla="*/ 1727200 h 2063750"/>
                <a:gd name="connsiteX32-269" fmla="*/ 387350 w 2051050"/>
                <a:gd name="connsiteY32-270" fmla="*/ 1911350 h 2063750"/>
                <a:gd name="connsiteX33-271" fmla="*/ 6350 w 2051050"/>
                <a:gd name="connsiteY33-272" fmla="*/ 1390650 h 2063750"/>
                <a:gd name="connsiteX0-273" fmla="*/ 1898650 w 2051050"/>
                <a:gd name="connsiteY0-274" fmla="*/ 541338 h 2063750"/>
                <a:gd name="connsiteX1-275" fmla="*/ 2051050 w 2051050"/>
                <a:gd name="connsiteY1-276" fmla="*/ 1036638 h 2063750"/>
                <a:gd name="connsiteX2-277" fmla="*/ 1998663 w 2051050"/>
                <a:gd name="connsiteY2-278" fmla="*/ 1370013 h 2063750"/>
                <a:gd name="connsiteX3-279" fmla="*/ 1739900 w 2051050"/>
                <a:gd name="connsiteY3-280" fmla="*/ 1809750 h 2063750"/>
                <a:gd name="connsiteX4-281" fmla="*/ 996950 w 2051050"/>
                <a:gd name="connsiteY4-282" fmla="*/ 2063750 h 2063750"/>
                <a:gd name="connsiteX5-283" fmla="*/ 520700 w 2051050"/>
                <a:gd name="connsiteY5-284" fmla="*/ 1600200 h 2063750"/>
                <a:gd name="connsiteX6-285" fmla="*/ 304800 w 2051050"/>
                <a:gd name="connsiteY6-286" fmla="*/ 1282700 h 2063750"/>
                <a:gd name="connsiteX7-287" fmla="*/ 38100 w 2051050"/>
                <a:gd name="connsiteY7-288" fmla="*/ 876300 h 2063750"/>
                <a:gd name="connsiteX8-289" fmla="*/ 228600 w 2051050"/>
                <a:gd name="connsiteY8-290" fmla="*/ 260350 h 2063750"/>
                <a:gd name="connsiteX9-291" fmla="*/ 457200 w 2051050"/>
                <a:gd name="connsiteY9-292" fmla="*/ 679450 h 2063750"/>
                <a:gd name="connsiteX10-293" fmla="*/ 520700 w 2051050"/>
                <a:gd name="connsiteY10-294" fmla="*/ 1593850 h 2063750"/>
                <a:gd name="connsiteX11-295" fmla="*/ 806450 w 2051050"/>
                <a:gd name="connsiteY11-296" fmla="*/ 1390650 h 2063750"/>
                <a:gd name="connsiteX12-297" fmla="*/ 1193800 w 2051050"/>
                <a:gd name="connsiteY12-298" fmla="*/ 1079500 h 2063750"/>
                <a:gd name="connsiteX13-299" fmla="*/ 1181100 w 2051050"/>
                <a:gd name="connsiteY13-300" fmla="*/ 660400 h 2063750"/>
                <a:gd name="connsiteX14-301" fmla="*/ 673100 w 2051050"/>
                <a:gd name="connsiteY14-302" fmla="*/ 222250 h 2063750"/>
                <a:gd name="connsiteX15-303" fmla="*/ 1276350 w 2051050"/>
                <a:gd name="connsiteY15-304" fmla="*/ 0 h 2063750"/>
                <a:gd name="connsiteX16-305" fmla="*/ 1289050 w 2051050"/>
                <a:gd name="connsiteY16-306" fmla="*/ 203200 h 2063750"/>
                <a:gd name="connsiteX17-307" fmla="*/ 697706 w 2051050"/>
                <a:gd name="connsiteY17-308" fmla="*/ 241300 h 2063750"/>
                <a:gd name="connsiteX18-309" fmla="*/ 431800 w 2051050"/>
                <a:gd name="connsiteY18-310" fmla="*/ 1073150 h 2063750"/>
                <a:gd name="connsiteX19-311" fmla="*/ 298450 w 2051050"/>
                <a:gd name="connsiteY19-312" fmla="*/ 1314450 h 2063750"/>
                <a:gd name="connsiteX20-313" fmla="*/ 400050 w 2051050"/>
                <a:gd name="connsiteY20-314" fmla="*/ 1739900 h 2063750"/>
                <a:gd name="connsiteX21-315" fmla="*/ 869950 w 2051050"/>
                <a:gd name="connsiteY21-316" fmla="*/ 1905000 h 2063750"/>
                <a:gd name="connsiteX22-317" fmla="*/ 806450 w 2051050"/>
                <a:gd name="connsiteY22-318" fmla="*/ 1422400 h 2063750"/>
                <a:gd name="connsiteX23-319" fmla="*/ 1193800 w 2051050"/>
                <a:gd name="connsiteY23-320" fmla="*/ 1638300 h 2063750"/>
                <a:gd name="connsiteX24-321" fmla="*/ 1206500 w 2051050"/>
                <a:gd name="connsiteY24-322" fmla="*/ 1073150 h 2063750"/>
                <a:gd name="connsiteX25-323" fmla="*/ 1835150 w 2051050"/>
                <a:gd name="connsiteY25-324" fmla="*/ 901700 h 2063750"/>
                <a:gd name="connsiteX26-325" fmla="*/ 1765300 w 2051050"/>
                <a:gd name="connsiteY26-326" fmla="*/ 1593850 h 2063750"/>
                <a:gd name="connsiteX27-327" fmla="*/ 1200150 w 2051050"/>
                <a:gd name="connsiteY27-328" fmla="*/ 1079500 h 2063750"/>
                <a:gd name="connsiteX28-329" fmla="*/ 463550 w 2051050"/>
                <a:gd name="connsiteY28-330" fmla="*/ 692150 h 2063750"/>
                <a:gd name="connsiteX29-331" fmla="*/ 31750 w 2051050"/>
                <a:gd name="connsiteY29-332" fmla="*/ 876300 h 2063750"/>
                <a:gd name="connsiteX30-333" fmla="*/ 0 w 2051050"/>
                <a:gd name="connsiteY30-334" fmla="*/ 1384300 h 2063750"/>
                <a:gd name="connsiteX31-335" fmla="*/ 400050 w 2051050"/>
                <a:gd name="connsiteY31-336" fmla="*/ 1727200 h 2063750"/>
                <a:gd name="connsiteX32-337" fmla="*/ 387350 w 2051050"/>
                <a:gd name="connsiteY32-338" fmla="*/ 1911350 h 2063750"/>
                <a:gd name="connsiteX33-339" fmla="*/ 6350 w 2051050"/>
                <a:gd name="connsiteY33-340" fmla="*/ 1390650 h 2063750"/>
                <a:gd name="connsiteX0-341" fmla="*/ 1898650 w 2051050"/>
                <a:gd name="connsiteY0-342" fmla="*/ 541338 h 2063750"/>
                <a:gd name="connsiteX1-343" fmla="*/ 2051050 w 2051050"/>
                <a:gd name="connsiteY1-344" fmla="*/ 1036638 h 2063750"/>
                <a:gd name="connsiteX2-345" fmla="*/ 1998663 w 2051050"/>
                <a:gd name="connsiteY2-346" fmla="*/ 1370013 h 2063750"/>
                <a:gd name="connsiteX3-347" fmla="*/ 1739900 w 2051050"/>
                <a:gd name="connsiteY3-348" fmla="*/ 1809750 h 2063750"/>
                <a:gd name="connsiteX4-349" fmla="*/ 996950 w 2051050"/>
                <a:gd name="connsiteY4-350" fmla="*/ 2063750 h 2063750"/>
                <a:gd name="connsiteX5-351" fmla="*/ 520700 w 2051050"/>
                <a:gd name="connsiteY5-352" fmla="*/ 1600200 h 2063750"/>
                <a:gd name="connsiteX6-353" fmla="*/ 304800 w 2051050"/>
                <a:gd name="connsiteY6-354" fmla="*/ 1282700 h 2063750"/>
                <a:gd name="connsiteX7-355" fmla="*/ 38100 w 2051050"/>
                <a:gd name="connsiteY7-356" fmla="*/ 876300 h 2063750"/>
                <a:gd name="connsiteX8-357" fmla="*/ 228600 w 2051050"/>
                <a:gd name="connsiteY8-358" fmla="*/ 260350 h 2063750"/>
                <a:gd name="connsiteX9-359" fmla="*/ 457200 w 2051050"/>
                <a:gd name="connsiteY9-360" fmla="*/ 679450 h 2063750"/>
                <a:gd name="connsiteX10-361" fmla="*/ 520700 w 2051050"/>
                <a:gd name="connsiteY10-362" fmla="*/ 1593850 h 2063750"/>
                <a:gd name="connsiteX11-363" fmla="*/ 806450 w 2051050"/>
                <a:gd name="connsiteY11-364" fmla="*/ 1390650 h 2063750"/>
                <a:gd name="connsiteX12-365" fmla="*/ 1193800 w 2051050"/>
                <a:gd name="connsiteY12-366" fmla="*/ 1079500 h 2063750"/>
                <a:gd name="connsiteX13-367" fmla="*/ 1181100 w 2051050"/>
                <a:gd name="connsiteY13-368" fmla="*/ 660400 h 2063750"/>
                <a:gd name="connsiteX14-369" fmla="*/ 699294 w 2051050"/>
                <a:gd name="connsiteY14-370" fmla="*/ 246062 h 2063750"/>
                <a:gd name="connsiteX15-371" fmla="*/ 1276350 w 2051050"/>
                <a:gd name="connsiteY15-372" fmla="*/ 0 h 2063750"/>
                <a:gd name="connsiteX16-373" fmla="*/ 1289050 w 2051050"/>
                <a:gd name="connsiteY16-374" fmla="*/ 203200 h 2063750"/>
                <a:gd name="connsiteX17-375" fmla="*/ 697706 w 2051050"/>
                <a:gd name="connsiteY17-376" fmla="*/ 241300 h 2063750"/>
                <a:gd name="connsiteX18-377" fmla="*/ 431800 w 2051050"/>
                <a:gd name="connsiteY18-378" fmla="*/ 1073150 h 2063750"/>
                <a:gd name="connsiteX19-379" fmla="*/ 298450 w 2051050"/>
                <a:gd name="connsiteY19-380" fmla="*/ 1314450 h 2063750"/>
                <a:gd name="connsiteX20-381" fmla="*/ 400050 w 2051050"/>
                <a:gd name="connsiteY20-382" fmla="*/ 1739900 h 2063750"/>
                <a:gd name="connsiteX21-383" fmla="*/ 869950 w 2051050"/>
                <a:gd name="connsiteY21-384" fmla="*/ 1905000 h 2063750"/>
                <a:gd name="connsiteX22-385" fmla="*/ 806450 w 2051050"/>
                <a:gd name="connsiteY22-386" fmla="*/ 1422400 h 2063750"/>
                <a:gd name="connsiteX23-387" fmla="*/ 1193800 w 2051050"/>
                <a:gd name="connsiteY23-388" fmla="*/ 1638300 h 2063750"/>
                <a:gd name="connsiteX24-389" fmla="*/ 1206500 w 2051050"/>
                <a:gd name="connsiteY24-390" fmla="*/ 1073150 h 2063750"/>
                <a:gd name="connsiteX25-391" fmla="*/ 1835150 w 2051050"/>
                <a:gd name="connsiteY25-392" fmla="*/ 901700 h 2063750"/>
                <a:gd name="connsiteX26-393" fmla="*/ 1765300 w 2051050"/>
                <a:gd name="connsiteY26-394" fmla="*/ 1593850 h 2063750"/>
                <a:gd name="connsiteX27-395" fmla="*/ 1200150 w 2051050"/>
                <a:gd name="connsiteY27-396" fmla="*/ 1079500 h 2063750"/>
                <a:gd name="connsiteX28-397" fmla="*/ 463550 w 2051050"/>
                <a:gd name="connsiteY28-398" fmla="*/ 692150 h 2063750"/>
                <a:gd name="connsiteX29-399" fmla="*/ 31750 w 2051050"/>
                <a:gd name="connsiteY29-400" fmla="*/ 876300 h 2063750"/>
                <a:gd name="connsiteX30-401" fmla="*/ 0 w 2051050"/>
                <a:gd name="connsiteY30-402" fmla="*/ 1384300 h 2063750"/>
                <a:gd name="connsiteX31-403" fmla="*/ 400050 w 2051050"/>
                <a:gd name="connsiteY31-404" fmla="*/ 1727200 h 2063750"/>
                <a:gd name="connsiteX32-405" fmla="*/ 387350 w 2051050"/>
                <a:gd name="connsiteY32-406" fmla="*/ 1911350 h 2063750"/>
                <a:gd name="connsiteX33-407" fmla="*/ 6350 w 2051050"/>
                <a:gd name="connsiteY33-408" fmla="*/ 1390650 h 2063750"/>
                <a:gd name="connsiteX0-409" fmla="*/ 1898650 w 2051050"/>
                <a:gd name="connsiteY0-410" fmla="*/ 541338 h 2063750"/>
                <a:gd name="connsiteX1-411" fmla="*/ 2051050 w 2051050"/>
                <a:gd name="connsiteY1-412" fmla="*/ 1036638 h 2063750"/>
                <a:gd name="connsiteX2-413" fmla="*/ 1998663 w 2051050"/>
                <a:gd name="connsiteY2-414" fmla="*/ 1370013 h 2063750"/>
                <a:gd name="connsiteX3-415" fmla="*/ 1739900 w 2051050"/>
                <a:gd name="connsiteY3-416" fmla="*/ 1809750 h 2063750"/>
                <a:gd name="connsiteX4-417" fmla="*/ 996950 w 2051050"/>
                <a:gd name="connsiteY4-418" fmla="*/ 2063750 h 2063750"/>
                <a:gd name="connsiteX5-419" fmla="*/ 520700 w 2051050"/>
                <a:gd name="connsiteY5-420" fmla="*/ 1600200 h 2063750"/>
                <a:gd name="connsiteX6-421" fmla="*/ 304800 w 2051050"/>
                <a:gd name="connsiteY6-422" fmla="*/ 1282700 h 2063750"/>
                <a:gd name="connsiteX7-423" fmla="*/ 38100 w 2051050"/>
                <a:gd name="connsiteY7-424" fmla="*/ 876300 h 2063750"/>
                <a:gd name="connsiteX8-425" fmla="*/ 228600 w 2051050"/>
                <a:gd name="connsiteY8-426" fmla="*/ 260350 h 2063750"/>
                <a:gd name="connsiteX9-427" fmla="*/ 457200 w 2051050"/>
                <a:gd name="connsiteY9-428" fmla="*/ 679450 h 2063750"/>
                <a:gd name="connsiteX10-429" fmla="*/ 520700 w 2051050"/>
                <a:gd name="connsiteY10-430" fmla="*/ 1593850 h 2063750"/>
                <a:gd name="connsiteX11-431" fmla="*/ 806450 w 2051050"/>
                <a:gd name="connsiteY11-432" fmla="*/ 1390650 h 2063750"/>
                <a:gd name="connsiteX12-433" fmla="*/ 1193800 w 2051050"/>
                <a:gd name="connsiteY12-434" fmla="*/ 1079500 h 2063750"/>
                <a:gd name="connsiteX13-435" fmla="*/ 1181100 w 2051050"/>
                <a:gd name="connsiteY13-436" fmla="*/ 660400 h 2063750"/>
                <a:gd name="connsiteX14-437" fmla="*/ 699294 w 2051050"/>
                <a:gd name="connsiteY14-438" fmla="*/ 246062 h 2063750"/>
                <a:gd name="connsiteX15-439" fmla="*/ 1276350 w 2051050"/>
                <a:gd name="connsiteY15-440" fmla="*/ 0 h 2063750"/>
                <a:gd name="connsiteX16-441" fmla="*/ 1293812 w 2051050"/>
                <a:gd name="connsiteY16-442" fmla="*/ 210344 h 2063750"/>
                <a:gd name="connsiteX17-443" fmla="*/ 697706 w 2051050"/>
                <a:gd name="connsiteY17-444" fmla="*/ 241300 h 2063750"/>
                <a:gd name="connsiteX18-445" fmla="*/ 431800 w 2051050"/>
                <a:gd name="connsiteY18-446" fmla="*/ 1073150 h 2063750"/>
                <a:gd name="connsiteX19-447" fmla="*/ 298450 w 2051050"/>
                <a:gd name="connsiteY19-448" fmla="*/ 1314450 h 2063750"/>
                <a:gd name="connsiteX20-449" fmla="*/ 400050 w 2051050"/>
                <a:gd name="connsiteY20-450" fmla="*/ 1739900 h 2063750"/>
                <a:gd name="connsiteX21-451" fmla="*/ 869950 w 2051050"/>
                <a:gd name="connsiteY21-452" fmla="*/ 1905000 h 2063750"/>
                <a:gd name="connsiteX22-453" fmla="*/ 806450 w 2051050"/>
                <a:gd name="connsiteY22-454" fmla="*/ 1422400 h 2063750"/>
                <a:gd name="connsiteX23-455" fmla="*/ 1193800 w 2051050"/>
                <a:gd name="connsiteY23-456" fmla="*/ 1638300 h 2063750"/>
                <a:gd name="connsiteX24-457" fmla="*/ 1206500 w 2051050"/>
                <a:gd name="connsiteY24-458" fmla="*/ 1073150 h 2063750"/>
                <a:gd name="connsiteX25-459" fmla="*/ 1835150 w 2051050"/>
                <a:gd name="connsiteY25-460" fmla="*/ 901700 h 2063750"/>
                <a:gd name="connsiteX26-461" fmla="*/ 1765300 w 2051050"/>
                <a:gd name="connsiteY26-462" fmla="*/ 1593850 h 2063750"/>
                <a:gd name="connsiteX27-463" fmla="*/ 1200150 w 2051050"/>
                <a:gd name="connsiteY27-464" fmla="*/ 1079500 h 2063750"/>
                <a:gd name="connsiteX28-465" fmla="*/ 463550 w 2051050"/>
                <a:gd name="connsiteY28-466" fmla="*/ 692150 h 2063750"/>
                <a:gd name="connsiteX29-467" fmla="*/ 31750 w 2051050"/>
                <a:gd name="connsiteY29-468" fmla="*/ 876300 h 2063750"/>
                <a:gd name="connsiteX30-469" fmla="*/ 0 w 2051050"/>
                <a:gd name="connsiteY30-470" fmla="*/ 1384300 h 2063750"/>
                <a:gd name="connsiteX31-471" fmla="*/ 400050 w 2051050"/>
                <a:gd name="connsiteY31-472" fmla="*/ 1727200 h 2063750"/>
                <a:gd name="connsiteX32-473" fmla="*/ 387350 w 2051050"/>
                <a:gd name="connsiteY32-474" fmla="*/ 1911350 h 2063750"/>
                <a:gd name="connsiteX33-475" fmla="*/ 6350 w 2051050"/>
                <a:gd name="connsiteY33-476" fmla="*/ 1390650 h 2063750"/>
                <a:gd name="connsiteX0-477" fmla="*/ 1898650 w 2051050"/>
                <a:gd name="connsiteY0-478" fmla="*/ 541338 h 2063750"/>
                <a:gd name="connsiteX1-479" fmla="*/ 2051050 w 2051050"/>
                <a:gd name="connsiteY1-480" fmla="*/ 1036638 h 2063750"/>
                <a:gd name="connsiteX2-481" fmla="*/ 1998663 w 2051050"/>
                <a:gd name="connsiteY2-482" fmla="*/ 1370013 h 2063750"/>
                <a:gd name="connsiteX3-483" fmla="*/ 1739900 w 2051050"/>
                <a:gd name="connsiteY3-484" fmla="*/ 1809750 h 2063750"/>
                <a:gd name="connsiteX4-485" fmla="*/ 996950 w 2051050"/>
                <a:gd name="connsiteY4-486" fmla="*/ 2063750 h 2063750"/>
                <a:gd name="connsiteX5-487" fmla="*/ 520700 w 2051050"/>
                <a:gd name="connsiteY5-488" fmla="*/ 1600200 h 2063750"/>
                <a:gd name="connsiteX6-489" fmla="*/ 304800 w 2051050"/>
                <a:gd name="connsiteY6-490" fmla="*/ 1282700 h 2063750"/>
                <a:gd name="connsiteX7-491" fmla="*/ 38100 w 2051050"/>
                <a:gd name="connsiteY7-492" fmla="*/ 876300 h 2063750"/>
                <a:gd name="connsiteX8-493" fmla="*/ 254794 w 2051050"/>
                <a:gd name="connsiteY8-494" fmla="*/ 236537 h 2063750"/>
                <a:gd name="connsiteX9-495" fmla="*/ 457200 w 2051050"/>
                <a:gd name="connsiteY9-496" fmla="*/ 679450 h 2063750"/>
                <a:gd name="connsiteX10-497" fmla="*/ 520700 w 2051050"/>
                <a:gd name="connsiteY10-498" fmla="*/ 1593850 h 2063750"/>
                <a:gd name="connsiteX11-499" fmla="*/ 806450 w 2051050"/>
                <a:gd name="connsiteY11-500" fmla="*/ 1390650 h 2063750"/>
                <a:gd name="connsiteX12-501" fmla="*/ 1193800 w 2051050"/>
                <a:gd name="connsiteY12-502" fmla="*/ 1079500 h 2063750"/>
                <a:gd name="connsiteX13-503" fmla="*/ 1181100 w 2051050"/>
                <a:gd name="connsiteY13-504" fmla="*/ 660400 h 2063750"/>
                <a:gd name="connsiteX14-505" fmla="*/ 699294 w 2051050"/>
                <a:gd name="connsiteY14-506" fmla="*/ 246062 h 2063750"/>
                <a:gd name="connsiteX15-507" fmla="*/ 1276350 w 2051050"/>
                <a:gd name="connsiteY15-508" fmla="*/ 0 h 2063750"/>
                <a:gd name="connsiteX16-509" fmla="*/ 1293812 w 2051050"/>
                <a:gd name="connsiteY16-510" fmla="*/ 210344 h 2063750"/>
                <a:gd name="connsiteX17-511" fmla="*/ 697706 w 2051050"/>
                <a:gd name="connsiteY17-512" fmla="*/ 241300 h 2063750"/>
                <a:gd name="connsiteX18-513" fmla="*/ 431800 w 2051050"/>
                <a:gd name="connsiteY18-514" fmla="*/ 1073150 h 2063750"/>
                <a:gd name="connsiteX19-515" fmla="*/ 298450 w 2051050"/>
                <a:gd name="connsiteY19-516" fmla="*/ 1314450 h 2063750"/>
                <a:gd name="connsiteX20-517" fmla="*/ 400050 w 2051050"/>
                <a:gd name="connsiteY20-518" fmla="*/ 1739900 h 2063750"/>
                <a:gd name="connsiteX21-519" fmla="*/ 869950 w 2051050"/>
                <a:gd name="connsiteY21-520" fmla="*/ 1905000 h 2063750"/>
                <a:gd name="connsiteX22-521" fmla="*/ 806450 w 2051050"/>
                <a:gd name="connsiteY22-522" fmla="*/ 1422400 h 2063750"/>
                <a:gd name="connsiteX23-523" fmla="*/ 1193800 w 2051050"/>
                <a:gd name="connsiteY23-524" fmla="*/ 1638300 h 2063750"/>
                <a:gd name="connsiteX24-525" fmla="*/ 1206500 w 2051050"/>
                <a:gd name="connsiteY24-526" fmla="*/ 1073150 h 2063750"/>
                <a:gd name="connsiteX25-527" fmla="*/ 1835150 w 2051050"/>
                <a:gd name="connsiteY25-528" fmla="*/ 901700 h 2063750"/>
                <a:gd name="connsiteX26-529" fmla="*/ 1765300 w 2051050"/>
                <a:gd name="connsiteY26-530" fmla="*/ 1593850 h 2063750"/>
                <a:gd name="connsiteX27-531" fmla="*/ 1200150 w 2051050"/>
                <a:gd name="connsiteY27-532" fmla="*/ 1079500 h 2063750"/>
                <a:gd name="connsiteX28-533" fmla="*/ 463550 w 2051050"/>
                <a:gd name="connsiteY28-534" fmla="*/ 692150 h 2063750"/>
                <a:gd name="connsiteX29-535" fmla="*/ 31750 w 2051050"/>
                <a:gd name="connsiteY29-536" fmla="*/ 876300 h 2063750"/>
                <a:gd name="connsiteX30-537" fmla="*/ 0 w 2051050"/>
                <a:gd name="connsiteY30-538" fmla="*/ 1384300 h 2063750"/>
                <a:gd name="connsiteX31-539" fmla="*/ 400050 w 2051050"/>
                <a:gd name="connsiteY31-540" fmla="*/ 1727200 h 2063750"/>
                <a:gd name="connsiteX32-541" fmla="*/ 387350 w 2051050"/>
                <a:gd name="connsiteY32-542" fmla="*/ 1911350 h 2063750"/>
                <a:gd name="connsiteX33-543" fmla="*/ 6350 w 2051050"/>
                <a:gd name="connsiteY33-544" fmla="*/ 1390650 h 2063750"/>
                <a:gd name="connsiteX0-545" fmla="*/ 1898650 w 2051050"/>
                <a:gd name="connsiteY0-546" fmla="*/ 541338 h 2063750"/>
                <a:gd name="connsiteX1-547" fmla="*/ 2051050 w 2051050"/>
                <a:gd name="connsiteY1-548" fmla="*/ 1036638 h 2063750"/>
                <a:gd name="connsiteX2-549" fmla="*/ 1998663 w 2051050"/>
                <a:gd name="connsiteY2-550" fmla="*/ 1370013 h 2063750"/>
                <a:gd name="connsiteX3-551" fmla="*/ 1739900 w 2051050"/>
                <a:gd name="connsiteY3-552" fmla="*/ 1809750 h 2063750"/>
                <a:gd name="connsiteX4-553" fmla="*/ 996950 w 2051050"/>
                <a:gd name="connsiteY4-554" fmla="*/ 2063750 h 2063750"/>
                <a:gd name="connsiteX5-555" fmla="*/ 520700 w 2051050"/>
                <a:gd name="connsiteY5-556" fmla="*/ 1600200 h 2063750"/>
                <a:gd name="connsiteX6-557" fmla="*/ 304800 w 2051050"/>
                <a:gd name="connsiteY6-558" fmla="*/ 1282700 h 2063750"/>
                <a:gd name="connsiteX7-559" fmla="*/ 38100 w 2051050"/>
                <a:gd name="connsiteY7-560" fmla="*/ 876300 h 2063750"/>
                <a:gd name="connsiteX8-561" fmla="*/ 254794 w 2051050"/>
                <a:gd name="connsiteY8-562" fmla="*/ 236537 h 2063750"/>
                <a:gd name="connsiteX9-563" fmla="*/ 461963 w 2051050"/>
                <a:gd name="connsiteY9-564" fmla="*/ 688975 h 2063750"/>
                <a:gd name="connsiteX10-565" fmla="*/ 520700 w 2051050"/>
                <a:gd name="connsiteY10-566" fmla="*/ 1593850 h 2063750"/>
                <a:gd name="connsiteX11-567" fmla="*/ 806450 w 2051050"/>
                <a:gd name="connsiteY11-568" fmla="*/ 1390650 h 2063750"/>
                <a:gd name="connsiteX12-569" fmla="*/ 1193800 w 2051050"/>
                <a:gd name="connsiteY12-570" fmla="*/ 1079500 h 2063750"/>
                <a:gd name="connsiteX13-571" fmla="*/ 1181100 w 2051050"/>
                <a:gd name="connsiteY13-572" fmla="*/ 660400 h 2063750"/>
                <a:gd name="connsiteX14-573" fmla="*/ 699294 w 2051050"/>
                <a:gd name="connsiteY14-574" fmla="*/ 246062 h 2063750"/>
                <a:gd name="connsiteX15-575" fmla="*/ 1276350 w 2051050"/>
                <a:gd name="connsiteY15-576" fmla="*/ 0 h 2063750"/>
                <a:gd name="connsiteX16-577" fmla="*/ 1293812 w 2051050"/>
                <a:gd name="connsiteY16-578" fmla="*/ 210344 h 2063750"/>
                <a:gd name="connsiteX17-579" fmla="*/ 697706 w 2051050"/>
                <a:gd name="connsiteY17-580" fmla="*/ 241300 h 2063750"/>
                <a:gd name="connsiteX18-581" fmla="*/ 431800 w 2051050"/>
                <a:gd name="connsiteY18-582" fmla="*/ 1073150 h 2063750"/>
                <a:gd name="connsiteX19-583" fmla="*/ 298450 w 2051050"/>
                <a:gd name="connsiteY19-584" fmla="*/ 1314450 h 2063750"/>
                <a:gd name="connsiteX20-585" fmla="*/ 400050 w 2051050"/>
                <a:gd name="connsiteY20-586" fmla="*/ 1739900 h 2063750"/>
                <a:gd name="connsiteX21-587" fmla="*/ 869950 w 2051050"/>
                <a:gd name="connsiteY21-588" fmla="*/ 1905000 h 2063750"/>
                <a:gd name="connsiteX22-589" fmla="*/ 806450 w 2051050"/>
                <a:gd name="connsiteY22-590" fmla="*/ 1422400 h 2063750"/>
                <a:gd name="connsiteX23-591" fmla="*/ 1193800 w 2051050"/>
                <a:gd name="connsiteY23-592" fmla="*/ 1638300 h 2063750"/>
                <a:gd name="connsiteX24-593" fmla="*/ 1206500 w 2051050"/>
                <a:gd name="connsiteY24-594" fmla="*/ 1073150 h 2063750"/>
                <a:gd name="connsiteX25-595" fmla="*/ 1835150 w 2051050"/>
                <a:gd name="connsiteY25-596" fmla="*/ 901700 h 2063750"/>
                <a:gd name="connsiteX26-597" fmla="*/ 1765300 w 2051050"/>
                <a:gd name="connsiteY26-598" fmla="*/ 1593850 h 2063750"/>
                <a:gd name="connsiteX27-599" fmla="*/ 1200150 w 2051050"/>
                <a:gd name="connsiteY27-600" fmla="*/ 1079500 h 2063750"/>
                <a:gd name="connsiteX28-601" fmla="*/ 463550 w 2051050"/>
                <a:gd name="connsiteY28-602" fmla="*/ 692150 h 2063750"/>
                <a:gd name="connsiteX29-603" fmla="*/ 31750 w 2051050"/>
                <a:gd name="connsiteY29-604" fmla="*/ 876300 h 2063750"/>
                <a:gd name="connsiteX30-605" fmla="*/ 0 w 2051050"/>
                <a:gd name="connsiteY30-606" fmla="*/ 1384300 h 2063750"/>
                <a:gd name="connsiteX31-607" fmla="*/ 400050 w 2051050"/>
                <a:gd name="connsiteY31-608" fmla="*/ 1727200 h 2063750"/>
                <a:gd name="connsiteX32-609" fmla="*/ 387350 w 2051050"/>
                <a:gd name="connsiteY32-610" fmla="*/ 1911350 h 2063750"/>
                <a:gd name="connsiteX33-611" fmla="*/ 6350 w 2051050"/>
                <a:gd name="connsiteY33-612" fmla="*/ 1390650 h 2063750"/>
                <a:gd name="connsiteX0-613" fmla="*/ 1898650 w 2051050"/>
                <a:gd name="connsiteY0-614" fmla="*/ 541338 h 2063750"/>
                <a:gd name="connsiteX1-615" fmla="*/ 2051050 w 2051050"/>
                <a:gd name="connsiteY1-616" fmla="*/ 1036638 h 2063750"/>
                <a:gd name="connsiteX2-617" fmla="*/ 1998663 w 2051050"/>
                <a:gd name="connsiteY2-618" fmla="*/ 1370013 h 2063750"/>
                <a:gd name="connsiteX3-619" fmla="*/ 1739900 w 2051050"/>
                <a:gd name="connsiteY3-620" fmla="*/ 1809750 h 2063750"/>
                <a:gd name="connsiteX4-621" fmla="*/ 996950 w 2051050"/>
                <a:gd name="connsiteY4-622" fmla="*/ 2063750 h 2063750"/>
                <a:gd name="connsiteX5-623" fmla="*/ 520700 w 2051050"/>
                <a:gd name="connsiteY5-624" fmla="*/ 1600200 h 2063750"/>
                <a:gd name="connsiteX6-625" fmla="*/ 304800 w 2051050"/>
                <a:gd name="connsiteY6-626" fmla="*/ 1282700 h 2063750"/>
                <a:gd name="connsiteX7-627" fmla="*/ 38100 w 2051050"/>
                <a:gd name="connsiteY7-628" fmla="*/ 876300 h 2063750"/>
                <a:gd name="connsiteX8-629" fmla="*/ 254794 w 2051050"/>
                <a:gd name="connsiteY8-630" fmla="*/ 236537 h 2063750"/>
                <a:gd name="connsiteX9-631" fmla="*/ 461963 w 2051050"/>
                <a:gd name="connsiteY9-632" fmla="*/ 688975 h 2063750"/>
                <a:gd name="connsiteX10-633" fmla="*/ 520700 w 2051050"/>
                <a:gd name="connsiteY10-634" fmla="*/ 1593850 h 2063750"/>
                <a:gd name="connsiteX11-635" fmla="*/ 806450 w 2051050"/>
                <a:gd name="connsiteY11-636" fmla="*/ 1390650 h 2063750"/>
                <a:gd name="connsiteX12-637" fmla="*/ 1193800 w 2051050"/>
                <a:gd name="connsiteY12-638" fmla="*/ 1079500 h 2063750"/>
                <a:gd name="connsiteX13-639" fmla="*/ 1181100 w 2051050"/>
                <a:gd name="connsiteY13-640" fmla="*/ 660400 h 2063750"/>
                <a:gd name="connsiteX14-641" fmla="*/ 699294 w 2051050"/>
                <a:gd name="connsiteY14-642" fmla="*/ 246062 h 2063750"/>
                <a:gd name="connsiteX15-643" fmla="*/ 1276350 w 2051050"/>
                <a:gd name="connsiteY15-644" fmla="*/ 0 h 2063750"/>
                <a:gd name="connsiteX16-645" fmla="*/ 1293812 w 2051050"/>
                <a:gd name="connsiteY16-646" fmla="*/ 210344 h 2063750"/>
                <a:gd name="connsiteX17-647" fmla="*/ 697706 w 2051050"/>
                <a:gd name="connsiteY17-648" fmla="*/ 241300 h 2063750"/>
                <a:gd name="connsiteX18-649" fmla="*/ 431800 w 2051050"/>
                <a:gd name="connsiteY18-650" fmla="*/ 1073150 h 2063750"/>
                <a:gd name="connsiteX19-651" fmla="*/ 298450 w 2051050"/>
                <a:gd name="connsiteY19-652" fmla="*/ 1314450 h 2063750"/>
                <a:gd name="connsiteX20-653" fmla="*/ 400050 w 2051050"/>
                <a:gd name="connsiteY20-654" fmla="*/ 1739900 h 2063750"/>
                <a:gd name="connsiteX21-655" fmla="*/ 869950 w 2051050"/>
                <a:gd name="connsiteY21-656" fmla="*/ 1905000 h 2063750"/>
                <a:gd name="connsiteX22-657" fmla="*/ 806450 w 2051050"/>
                <a:gd name="connsiteY22-658" fmla="*/ 1422400 h 2063750"/>
                <a:gd name="connsiteX23-659" fmla="*/ 1193800 w 2051050"/>
                <a:gd name="connsiteY23-660" fmla="*/ 1638300 h 2063750"/>
                <a:gd name="connsiteX24-661" fmla="*/ 1206500 w 2051050"/>
                <a:gd name="connsiteY24-662" fmla="*/ 1073150 h 2063750"/>
                <a:gd name="connsiteX25-663" fmla="*/ 1835150 w 2051050"/>
                <a:gd name="connsiteY25-664" fmla="*/ 901700 h 2063750"/>
                <a:gd name="connsiteX26-665" fmla="*/ 1765300 w 2051050"/>
                <a:gd name="connsiteY26-666" fmla="*/ 1593850 h 2063750"/>
                <a:gd name="connsiteX27-667" fmla="*/ 1200150 w 2051050"/>
                <a:gd name="connsiteY27-668" fmla="*/ 1079500 h 2063750"/>
                <a:gd name="connsiteX28-669" fmla="*/ 468312 w 2051050"/>
                <a:gd name="connsiteY28-670" fmla="*/ 689769 h 2063750"/>
                <a:gd name="connsiteX29-671" fmla="*/ 31750 w 2051050"/>
                <a:gd name="connsiteY29-672" fmla="*/ 876300 h 2063750"/>
                <a:gd name="connsiteX30-673" fmla="*/ 0 w 2051050"/>
                <a:gd name="connsiteY30-674" fmla="*/ 1384300 h 2063750"/>
                <a:gd name="connsiteX31-675" fmla="*/ 400050 w 2051050"/>
                <a:gd name="connsiteY31-676" fmla="*/ 1727200 h 2063750"/>
                <a:gd name="connsiteX32-677" fmla="*/ 387350 w 2051050"/>
                <a:gd name="connsiteY32-678" fmla="*/ 1911350 h 2063750"/>
                <a:gd name="connsiteX33-679" fmla="*/ 6350 w 2051050"/>
                <a:gd name="connsiteY33-680" fmla="*/ 1390650 h 2063750"/>
                <a:gd name="connsiteX0-681" fmla="*/ 1898650 w 2051050"/>
                <a:gd name="connsiteY0-682" fmla="*/ 541338 h 2063750"/>
                <a:gd name="connsiteX1-683" fmla="*/ 2051050 w 2051050"/>
                <a:gd name="connsiteY1-684" fmla="*/ 1036638 h 2063750"/>
                <a:gd name="connsiteX2-685" fmla="*/ 1998663 w 2051050"/>
                <a:gd name="connsiteY2-686" fmla="*/ 1370013 h 2063750"/>
                <a:gd name="connsiteX3-687" fmla="*/ 1739900 w 2051050"/>
                <a:gd name="connsiteY3-688" fmla="*/ 1809750 h 2063750"/>
                <a:gd name="connsiteX4-689" fmla="*/ 996950 w 2051050"/>
                <a:gd name="connsiteY4-690" fmla="*/ 2063750 h 2063750"/>
                <a:gd name="connsiteX5-691" fmla="*/ 520700 w 2051050"/>
                <a:gd name="connsiteY5-692" fmla="*/ 1600200 h 2063750"/>
                <a:gd name="connsiteX6-693" fmla="*/ 304800 w 2051050"/>
                <a:gd name="connsiteY6-694" fmla="*/ 1282700 h 2063750"/>
                <a:gd name="connsiteX7-695" fmla="*/ 38100 w 2051050"/>
                <a:gd name="connsiteY7-696" fmla="*/ 876300 h 2063750"/>
                <a:gd name="connsiteX8-697" fmla="*/ 254794 w 2051050"/>
                <a:gd name="connsiteY8-698" fmla="*/ 236537 h 2063750"/>
                <a:gd name="connsiteX9-699" fmla="*/ 469107 w 2051050"/>
                <a:gd name="connsiteY9-700" fmla="*/ 691356 h 2063750"/>
                <a:gd name="connsiteX10-701" fmla="*/ 520700 w 2051050"/>
                <a:gd name="connsiteY10-702" fmla="*/ 1593850 h 2063750"/>
                <a:gd name="connsiteX11-703" fmla="*/ 806450 w 2051050"/>
                <a:gd name="connsiteY11-704" fmla="*/ 1390650 h 2063750"/>
                <a:gd name="connsiteX12-705" fmla="*/ 1193800 w 2051050"/>
                <a:gd name="connsiteY12-706" fmla="*/ 1079500 h 2063750"/>
                <a:gd name="connsiteX13-707" fmla="*/ 1181100 w 2051050"/>
                <a:gd name="connsiteY13-708" fmla="*/ 660400 h 2063750"/>
                <a:gd name="connsiteX14-709" fmla="*/ 699294 w 2051050"/>
                <a:gd name="connsiteY14-710" fmla="*/ 246062 h 2063750"/>
                <a:gd name="connsiteX15-711" fmla="*/ 1276350 w 2051050"/>
                <a:gd name="connsiteY15-712" fmla="*/ 0 h 2063750"/>
                <a:gd name="connsiteX16-713" fmla="*/ 1293812 w 2051050"/>
                <a:gd name="connsiteY16-714" fmla="*/ 210344 h 2063750"/>
                <a:gd name="connsiteX17-715" fmla="*/ 697706 w 2051050"/>
                <a:gd name="connsiteY17-716" fmla="*/ 241300 h 2063750"/>
                <a:gd name="connsiteX18-717" fmla="*/ 431800 w 2051050"/>
                <a:gd name="connsiteY18-718" fmla="*/ 1073150 h 2063750"/>
                <a:gd name="connsiteX19-719" fmla="*/ 298450 w 2051050"/>
                <a:gd name="connsiteY19-720" fmla="*/ 1314450 h 2063750"/>
                <a:gd name="connsiteX20-721" fmla="*/ 400050 w 2051050"/>
                <a:gd name="connsiteY20-722" fmla="*/ 1739900 h 2063750"/>
                <a:gd name="connsiteX21-723" fmla="*/ 869950 w 2051050"/>
                <a:gd name="connsiteY21-724" fmla="*/ 1905000 h 2063750"/>
                <a:gd name="connsiteX22-725" fmla="*/ 806450 w 2051050"/>
                <a:gd name="connsiteY22-726" fmla="*/ 1422400 h 2063750"/>
                <a:gd name="connsiteX23-727" fmla="*/ 1193800 w 2051050"/>
                <a:gd name="connsiteY23-728" fmla="*/ 1638300 h 2063750"/>
                <a:gd name="connsiteX24-729" fmla="*/ 1206500 w 2051050"/>
                <a:gd name="connsiteY24-730" fmla="*/ 1073150 h 2063750"/>
                <a:gd name="connsiteX25-731" fmla="*/ 1835150 w 2051050"/>
                <a:gd name="connsiteY25-732" fmla="*/ 901700 h 2063750"/>
                <a:gd name="connsiteX26-733" fmla="*/ 1765300 w 2051050"/>
                <a:gd name="connsiteY26-734" fmla="*/ 1593850 h 2063750"/>
                <a:gd name="connsiteX27-735" fmla="*/ 1200150 w 2051050"/>
                <a:gd name="connsiteY27-736" fmla="*/ 1079500 h 2063750"/>
                <a:gd name="connsiteX28-737" fmla="*/ 468312 w 2051050"/>
                <a:gd name="connsiteY28-738" fmla="*/ 689769 h 2063750"/>
                <a:gd name="connsiteX29-739" fmla="*/ 31750 w 2051050"/>
                <a:gd name="connsiteY29-740" fmla="*/ 876300 h 2063750"/>
                <a:gd name="connsiteX30-741" fmla="*/ 0 w 2051050"/>
                <a:gd name="connsiteY30-742" fmla="*/ 1384300 h 2063750"/>
                <a:gd name="connsiteX31-743" fmla="*/ 400050 w 2051050"/>
                <a:gd name="connsiteY31-744" fmla="*/ 1727200 h 2063750"/>
                <a:gd name="connsiteX32-745" fmla="*/ 387350 w 2051050"/>
                <a:gd name="connsiteY32-746" fmla="*/ 1911350 h 2063750"/>
                <a:gd name="connsiteX33-747" fmla="*/ 6350 w 2051050"/>
                <a:gd name="connsiteY33-748" fmla="*/ 1390650 h 2063750"/>
                <a:gd name="connsiteX0-749" fmla="*/ 1898650 w 2051050"/>
                <a:gd name="connsiteY0-750" fmla="*/ 541338 h 2063750"/>
                <a:gd name="connsiteX1-751" fmla="*/ 2051050 w 2051050"/>
                <a:gd name="connsiteY1-752" fmla="*/ 1036638 h 2063750"/>
                <a:gd name="connsiteX2-753" fmla="*/ 1998663 w 2051050"/>
                <a:gd name="connsiteY2-754" fmla="*/ 1370013 h 2063750"/>
                <a:gd name="connsiteX3-755" fmla="*/ 1739900 w 2051050"/>
                <a:gd name="connsiteY3-756" fmla="*/ 1809750 h 2063750"/>
                <a:gd name="connsiteX4-757" fmla="*/ 996950 w 2051050"/>
                <a:gd name="connsiteY4-758" fmla="*/ 2063750 h 2063750"/>
                <a:gd name="connsiteX5-759" fmla="*/ 520700 w 2051050"/>
                <a:gd name="connsiteY5-760" fmla="*/ 1600200 h 2063750"/>
                <a:gd name="connsiteX6-761" fmla="*/ 304800 w 2051050"/>
                <a:gd name="connsiteY6-762" fmla="*/ 1282700 h 2063750"/>
                <a:gd name="connsiteX7-763" fmla="*/ 38100 w 2051050"/>
                <a:gd name="connsiteY7-764" fmla="*/ 876300 h 2063750"/>
                <a:gd name="connsiteX8-765" fmla="*/ 254794 w 2051050"/>
                <a:gd name="connsiteY8-766" fmla="*/ 236537 h 2063750"/>
                <a:gd name="connsiteX9-767" fmla="*/ 469107 w 2051050"/>
                <a:gd name="connsiteY9-768" fmla="*/ 691356 h 2063750"/>
                <a:gd name="connsiteX10-769" fmla="*/ 520700 w 2051050"/>
                <a:gd name="connsiteY10-770" fmla="*/ 1593850 h 2063750"/>
                <a:gd name="connsiteX11-771" fmla="*/ 806450 w 2051050"/>
                <a:gd name="connsiteY11-772" fmla="*/ 1390650 h 2063750"/>
                <a:gd name="connsiteX12-773" fmla="*/ 1193800 w 2051050"/>
                <a:gd name="connsiteY12-774" fmla="*/ 1079500 h 2063750"/>
                <a:gd name="connsiteX13-775" fmla="*/ 1185863 w 2051050"/>
                <a:gd name="connsiteY13-776" fmla="*/ 681832 h 2063750"/>
                <a:gd name="connsiteX14-777" fmla="*/ 699294 w 2051050"/>
                <a:gd name="connsiteY14-778" fmla="*/ 246062 h 2063750"/>
                <a:gd name="connsiteX15-779" fmla="*/ 1276350 w 2051050"/>
                <a:gd name="connsiteY15-780" fmla="*/ 0 h 2063750"/>
                <a:gd name="connsiteX16-781" fmla="*/ 1293812 w 2051050"/>
                <a:gd name="connsiteY16-782" fmla="*/ 210344 h 2063750"/>
                <a:gd name="connsiteX17-783" fmla="*/ 697706 w 2051050"/>
                <a:gd name="connsiteY17-784" fmla="*/ 241300 h 2063750"/>
                <a:gd name="connsiteX18-785" fmla="*/ 431800 w 2051050"/>
                <a:gd name="connsiteY18-786" fmla="*/ 1073150 h 2063750"/>
                <a:gd name="connsiteX19-787" fmla="*/ 298450 w 2051050"/>
                <a:gd name="connsiteY19-788" fmla="*/ 1314450 h 2063750"/>
                <a:gd name="connsiteX20-789" fmla="*/ 400050 w 2051050"/>
                <a:gd name="connsiteY20-790" fmla="*/ 1739900 h 2063750"/>
                <a:gd name="connsiteX21-791" fmla="*/ 869950 w 2051050"/>
                <a:gd name="connsiteY21-792" fmla="*/ 1905000 h 2063750"/>
                <a:gd name="connsiteX22-793" fmla="*/ 806450 w 2051050"/>
                <a:gd name="connsiteY22-794" fmla="*/ 1422400 h 2063750"/>
                <a:gd name="connsiteX23-795" fmla="*/ 1193800 w 2051050"/>
                <a:gd name="connsiteY23-796" fmla="*/ 1638300 h 2063750"/>
                <a:gd name="connsiteX24-797" fmla="*/ 1206500 w 2051050"/>
                <a:gd name="connsiteY24-798" fmla="*/ 1073150 h 2063750"/>
                <a:gd name="connsiteX25-799" fmla="*/ 1835150 w 2051050"/>
                <a:gd name="connsiteY25-800" fmla="*/ 901700 h 2063750"/>
                <a:gd name="connsiteX26-801" fmla="*/ 1765300 w 2051050"/>
                <a:gd name="connsiteY26-802" fmla="*/ 1593850 h 2063750"/>
                <a:gd name="connsiteX27-803" fmla="*/ 1200150 w 2051050"/>
                <a:gd name="connsiteY27-804" fmla="*/ 1079500 h 2063750"/>
                <a:gd name="connsiteX28-805" fmla="*/ 468312 w 2051050"/>
                <a:gd name="connsiteY28-806" fmla="*/ 689769 h 2063750"/>
                <a:gd name="connsiteX29-807" fmla="*/ 31750 w 2051050"/>
                <a:gd name="connsiteY29-808" fmla="*/ 876300 h 2063750"/>
                <a:gd name="connsiteX30-809" fmla="*/ 0 w 2051050"/>
                <a:gd name="connsiteY30-810" fmla="*/ 1384300 h 2063750"/>
                <a:gd name="connsiteX31-811" fmla="*/ 400050 w 2051050"/>
                <a:gd name="connsiteY31-812" fmla="*/ 1727200 h 2063750"/>
                <a:gd name="connsiteX32-813" fmla="*/ 387350 w 2051050"/>
                <a:gd name="connsiteY32-814" fmla="*/ 1911350 h 2063750"/>
                <a:gd name="connsiteX33-815" fmla="*/ 6350 w 2051050"/>
                <a:gd name="connsiteY33-816" fmla="*/ 1390650 h 2063750"/>
                <a:gd name="connsiteX0-817" fmla="*/ 1898650 w 2051050"/>
                <a:gd name="connsiteY0-818" fmla="*/ 541338 h 2063750"/>
                <a:gd name="connsiteX1-819" fmla="*/ 2051050 w 2051050"/>
                <a:gd name="connsiteY1-820" fmla="*/ 1036638 h 2063750"/>
                <a:gd name="connsiteX2-821" fmla="*/ 1998663 w 2051050"/>
                <a:gd name="connsiteY2-822" fmla="*/ 1370013 h 2063750"/>
                <a:gd name="connsiteX3-823" fmla="*/ 1739900 w 2051050"/>
                <a:gd name="connsiteY3-824" fmla="*/ 1809750 h 2063750"/>
                <a:gd name="connsiteX4-825" fmla="*/ 996950 w 2051050"/>
                <a:gd name="connsiteY4-826" fmla="*/ 2063750 h 2063750"/>
                <a:gd name="connsiteX5-827" fmla="*/ 520700 w 2051050"/>
                <a:gd name="connsiteY5-828" fmla="*/ 1600200 h 2063750"/>
                <a:gd name="connsiteX6-829" fmla="*/ 304800 w 2051050"/>
                <a:gd name="connsiteY6-830" fmla="*/ 1282700 h 2063750"/>
                <a:gd name="connsiteX7-831" fmla="*/ 38100 w 2051050"/>
                <a:gd name="connsiteY7-832" fmla="*/ 876300 h 2063750"/>
                <a:gd name="connsiteX8-833" fmla="*/ 254794 w 2051050"/>
                <a:gd name="connsiteY8-834" fmla="*/ 236537 h 2063750"/>
                <a:gd name="connsiteX9-835" fmla="*/ 469107 w 2051050"/>
                <a:gd name="connsiteY9-836" fmla="*/ 691356 h 2063750"/>
                <a:gd name="connsiteX10-837" fmla="*/ 520700 w 2051050"/>
                <a:gd name="connsiteY10-838" fmla="*/ 1593850 h 2063750"/>
                <a:gd name="connsiteX11-839" fmla="*/ 806450 w 2051050"/>
                <a:gd name="connsiteY11-840" fmla="*/ 1390650 h 2063750"/>
                <a:gd name="connsiteX12-841" fmla="*/ 1193800 w 2051050"/>
                <a:gd name="connsiteY12-842" fmla="*/ 1079500 h 2063750"/>
                <a:gd name="connsiteX13-843" fmla="*/ 1185863 w 2051050"/>
                <a:gd name="connsiteY13-844" fmla="*/ 681832 h 2063750"/>
                <a:gd name="connsiteX14-845" fmla="*/ 699294 w 2051050"/>
                <a:gd name="connsiteY14-846" fmla="*/ 246062 h 2063750"/>
                <a:gd name="connsiteX15-847" fmla="*/ 1276350 w 2051050"/>
                <a:gd name="connsiteY15-848" fmla="*/ 0 h 2063750"/>
                <a:gd name="connsiteX16-849" fmla="*/ 1293812 w 2051050"/>
                <a:gd name="connsiteY16-850" fmla="*/ 210344 h 2063750"/>
                <a:gd name="connsiteX17-851" fmla="*/ 697706 w 2051050"/>
                <a:gd name="connsiteY17-852" fmla="*/ 241300 h 2063750"/>
                <a:gd name="connsiteX18-853" fmla="*/ 402675 w 2051050"/>
                <a:gd name="connsiteY18-854" fmla="*/ 1113476 h 2063750"/>
                <a:gd name="connsiteX19-855" fmla="*/ 298450 w 2051050"/>
                <a:gd name="connsiteY19-856" fmla="*/ 1314450 h 2063750"/>
                <a:gd name="connsiteX20-857" fmla="*/ 400050 w 2051050"/>
                <a:gd name="connsiteY20-858" fmla="*/ 1739900 h 2063750"/>
                <a:gd name="connsiteX21-859" fmla="*/ 869950 w 2051050"/>
                <a:gd name="connsiteY21-860" fmla="*/ 1905000 h 2063750"/>
                <a:gd name="connsiteX22-861" fmla="*/ 806450 w 2051050"/>
                <a:gd name="connsiteY22-862" fmla="*/ 1422400 h 2063750"/>
                <a:gd name="connsiteX23-863" fmla="*/ 1193800 w 2051050"/>
                <a:gd name="connsiteY23-864" fmla="*/ 1638300 h 2063750"/>
                <a:gd name="connsiteX24-865" fmla="*/ 1206500 w 2051050"/>
                <a:gd name="connsiteY24-866" fmla="*/ 1073150 h 2063750"/>
                <a:gd name="connsiteX25-867" fmla="*/ 1835150 w 2051050"/>
                <a:gd name="connsiteY25-868" fmla="*/ 901700 h 2063750"/>
                <a:gd name="connsiteX26-869" fmla="*/ 1765300 w 2051050"/>
                <a:gd name="connsiteY26-870" fmla="*/ 1593850 h 2063750"/>
                <a:gd name="connsiteX27-871" fmla="*/ 1200150 w 2051050"/>
                <a:gd name="connsiteY27-872" fmla="*/ 1079500 h 2063750"/>
                <a:gd name="connsiteX28-873" fmla="*/ 468312 w 2051050"/>
                <a:gd name="connsiteY28-874" fmla="*/ 689769 h 2063750"/>
                <a:gd name="connsiteX29-875" fmla="*/ 31750 w 2051050"/>
                <a:gd name="connsiteY29-876" fmla="*/ 876300 h 2063750"/>
                <a:gd name="connsiteX30-877" fmla="*/ 0 w 2051050"/>
                <a:gd name="connsiteY30-878" fmla="*/ 1384300 h 2063750"/>
                <a:gd name="connsiteX31-879" fmla="*/ 400050 w 2051050"/>
                <a:gd name="connsiteY31-880" fmla="*/ 1727200 h 2063750"/>
                <a:gd name="connsiteX32-881" fmla="*/ 387350 w 2051050"/>
                <a:gd name="connsiteY32-882" fmla="*/ 1911350 h 2063750"/>
                <a:gd name="connsiteX33-883" fmla="*/ 6350 w 2051050"/>
                <a:gd name="connsiteY33-884" fmla="*/ 1390650 h 2063750"/>
                <a:gd name="connsiteX0-885" fmla="*/ 1898650 w 2051050"/>
                <a:gd name="connsiteY0-886" fmla="*/ 541338 h 2070471"/>
                <a:gd name="connsiteX1-887" fmla="*/ 2051050 w 2051050"/>
                <a:gd name="connsiteY1-888" fmla="*/ 1036638 h 2070471"/>
                <a:gd name="connsiteX2-889" fmla="*/ 1998663 w 2051050"/>
                <a:gd name="connsiteY2-890" fmla="*/ 1370013 h 2070471"/>
                <a:gd name="connsiteX3-891" fmla="*/ 1739900 w 2051050"/>
                <a:gd name="connsiteY3-892" fmla="*/ 1809750 h 2070471"/>
                <a:gd name="connsiteX4-893" fmla="*/ 1005912 w 2051050"/>
                <a:gd name="connsiteY4-894" fmla="*/ 2070471 h 2070471"/>
                <a:gd name="connsiteX5-895" fmla="*/ 520700 w 2051050"/>
                <a:gd name="connsiteY5-896" fmla="*/ 1600200 h 2070471"/>
                <a:gd name="connsiteX6-897" fmla="*/ 304800 w 2051050"/>
                <a:gd name="connsiteY6-898" fmla="*/ 1282700 h 2070471"/>
                <a:gd name="connsiteX7-899" fmla="*/ 38100 w 2051050"/>
                <a:gd name="connsiteY7-900" fmla="*/ 876300 h 2070471"/>
                <a:gd name="connsiteX8-901" fmla="*/ 254794 w 2051050"/>
                <a:gd name="connsiteY8-902" fmla="*/ 236537 h 2070471"/>
                <a:gd name="connsiteX9-903" fmla="*/ 469107 w 2051050"/>
                <a:gd name="connsiteY9-904" fmla="*/ 691356 h 2070471"/>
                <a:gd name="connsiteX10-905" fmla="*/ 520700 w 2051050"/>
                <a:gd name="connsiteY10-906" fmla="*/ 1593850 h 2070471"/>
                <a:gd name="connsiteX11-907" fmla="*/ 806450 w 2051050"/>
                <a:gd name="connsiteY11-908" fmla="*/ 1390650 h 2070471"/>
                <a:gd name="connsiteX12-909" fmla="*/ 1193800 w 2051050"/>
                <a:gd name="connsiteY12-910" fmla="*/ 1079500 h 2070471"/>
                <a:gd name="connsiteX13-911" fmla="*/ 1185863 w 2051050"/>
                <a:gd name="connsiteY13-912" fmla="*/ 681832 h 2070471"/>
                <a:gd name="connsiteX14-913" fmla="*/ 699294 w 2051050"/>
                <a:gd name="connsiteY14-914" fmla="*/ 246062 h 2070471"/>
                <a:gd name="connsiteX15-915" fmla="*/ 1276350 w 2051050"/>
                <a:gd name="connsiteY15-916" fmla="*/ 0 h 2070471"/>
                <a:gd name="connsiteX16-917" fmla="*/ 1293812 w 2051050"/>
                <a:gd name="connsiteY16-918" fmla="*/ 210344 h 2070471"/>
                <a:gd name="connsiteX17-919" fmla="*/ 697706 w 2051050"/>
                <a:gd name="connsiteY17-920" fmla="*/ 241300 h 2070471"/>
                <a:gd name="connsiteX18-921" fmla="*/ 402675 w 2051050"/>
                <a:gd name="connsiteY18-922" fmla="*/ 1113476 h 2070471"/>
                <a:gd name="connsiteX19-923" fmla="*/ 298450 w 2051050"/>
                <a:gd name="connsiteY19-924" fmla="*/ 1314450 h 2070471"/>
                <a:gd name="connsiteX20-925" fmla="*/ 400050 w 2051050"/>
                <a:gd name="connsiteY20-926" fmla="*/ 1739900 h 2070471"/>
                <a:gd name="connsiteX21-927" fmla="*/ 869950 w 2051050"/>
                <a:gd name="connsiteY21-928" fmla="*/ 1905000 h 2070471"/>
                <a:gd name="connsiteX22-929" fmla="*/ 806450 w 2051050"/>
                <a:gd name="connsiteY22-930" fmla="*/ 1422400 h 2070471"/>
                <a:gd name="connsiteX23-931" fmla="*/ 1193800 w 2051050"/>
                <a:gd name="connsiteY23-932" fmla="*/ 1638300 h 2070471"/>
                <a:gd name="connsiteX24-933" fmla="*/ 1206500 w 2051050"/>
                <a:gd name="connsiteY24-934" fmla="*/ 1073150 h 2070471"/>
                <a:gd name="connsiteX25-935" fmla="*/ 1835150 w 2051050"/>
                <a:gd name="connsiteY25-936" fmla="*/ 901700 h 2070471"/>
                <a:gd name="connsiteX26-937" fmla="*/ 1765300 w 2051050"/>
                <a:gd name="connsiteY26-938" fmla="*/ 1593850 h 2070471"/>
                <a:gd name="connsiteX27-939" fmla="*/ 1200150 w 2051050"/>
                <a:gd name="connsiteY27-940" fmla="*/ 1079500 h 2070471"/>
                <a:gd name="connsiteX28-941" fmla="*/ 468312 w 2051050"/>
                <a:gd name="connsiteY28-942" fmla="*/ 689769 h 2070471"/>
                <a:gd name="connsiteX29-943" fmla="*/ 31750 w 2051050"/>
                <a:gd name="connsiteY29-944" fmla="*/ 876300 h 2070471"/>
                <a:gd name="connsiteX30-945" fmla="*/ 0 w 2051050"/>
                <a:gd name="connsiteY30-946" fmla="*/ 1384300 h 2070471"/>
                <a:gd name="connsiteX31-947" fmla="*/ 400050 w 2051050"/>
                <a:gd name="connsiteY31-948" fmla="*/ 1727200 h 2070471"/>
                <a:gd name="connsiteX32-949" fmla="*/ 387350 w 2051050"/>
                <a:gd name="connsiteY32-950" fmla="*/ 1911350 h 2070471"/>
                <a:gd name="connsiteX33-951" fmla="*/ 6350 w 2051050"/>
                <a:gd name="connsiteY33-952" fmla="*/ 1390650 h 2070471"/>
                <a:gd name="connsiteX0-953" fmla="*/ 1898650 w 2051050"/>
                <a:gd name="connsiteY0-954" fmla="*/ 541338 h 2070471"/>
                <a:gd name="connsiteX1-955" fmla="*/ 2051050 w 2051050"/>
                <a:gd name="connsiteY1-956" fmla="*/ 1036638 h 2070471"/>
                <a:gd name="connsiteX2-957" fmla="*/ 1998663 w 2051050"/>
                <a:gd name="connsiteY2-958" fmla="*/ 1370013 h 2070471"/>
                <a:gd name="connsiteX3-959" fmla="*/ 1739900 w 2051050"/>
                <a:gd name="connsiteY3-960" fmla="*/ 1809750 h 2070471"/>
                <a:gd name="connsiteX4-961" fmla="*/ 1005912 w 2051050"/>
                <a:gd name="connsiteY4-962" fmla="*/ 2070471 h 2070471"/>
                <a:gd name="connsiteX5-963" fmla="*/ 520700 w 2051050"/>
                <a:gd name="connsiteY5-964" fmla="*/ 1600200 h 2070471"/>
                <a:gd name="connsiteX6-965" fmla="*/ 304800 w 2051050"/>
                <a:gd name="connsiteY6-966" fmla="*/ 1282700 h 2070471"/>
                <a:gd name="connsiteX7-967" fmla="*/ 38100 w 2051050"/>
                <a:gd name="connsiteY7-968" fmla="*/ 876300 h 2070471"/>
                <a:gd name="connsiteX8-969" fmla="*/ 254794 w 2051050"/>
                <a:gd name="connsiteY8-970" fmla="*/ 236537 h 2070471"/>
                <a:gd name="connsiteX9-971" fmla="*/ 469107 w 2051050"/>
                <a:gd name="connsiteY9-972" fmla="*/ 691356 h 2070471"/>
                <a:gd name="connsiteX10-973" fmla="*/ 520700 w 2051050"/>
                <a:gd name="connsiteY10-974" fmla="*/ 1593850 h 2070471"/>
                <a:gd name="connsiteX11-975" fmla="*/ 806450 w 2051050"/>
                <a:gd name="connsiteY11-976" fmla="*/ 1390650 h 2070471"/>
                <a:gd name="connsiteX12-977" fmla="*/ 1193800 w 2051050"/>
                <a:gd name="connsiteY12-978" fmla="*/ 1079500 h 2070471"/>
                <a:gd name="connsiteX13-979" fmla="*/ 1185863 w 2051050"/>
                <a:gd name="connsiteY13-980" fmla="*/ 681832 h 2070471"/>
                <a:gd name="connsiteX14-981" fmla="*/ 699294 w 2051050"/>
                <a:gd name="connsiteY14-982" fmla="*/ 246062 h 2070471"/>
                <a:gd name="connsiteX15-983" fmla="*/ 1276350 w 2051050"/>
                <a:gd name="connsiteY15-984" fmla="*/ 0 h 2070471"/>
                <a:gd name="connsiteX16-985" fmla="*/ 1293812 w 2051050"/>
                <a:gd name="connsiteY16-986" fmla="*/ 210344 h 2070471"/>
                <a:gd name="connsiteX17-987" fmla="*/ 697706 w 2051050"/>
                <a:gd name="connsiteY17-988" fmla="*/ 241300 h 2070471"/>
                <a:gd name="connsiteX18-989" fmla="*/ 402675 w 2051050"/>
                <a:gd name="connsiteY18-990" fmla="*/ 1113476 h 2070471"/>
                <a:gd name="connsiteX19-991" fmla="*/ 298450 w 2051050"/>
                <a:gd name="connsiteY19-992" fmla="*/ 1314450 h 2070471"/>
                <a:gd name="connsiteX20-993" fmla="*/ 400050 w 2051050"/>
                <a:gd name="connsiteY20-994" fmla="*/ 1739900 h 2070471"/>
                <a:gd name="connsiteX21-995" fmla="*/ 869950 w 2051050"/>
                <a:gd name="connsiteY21-996" fmla="*/ 1905000 h 2070471"/>
                <a:gd name="connsiteX22-997" fmla="*/ 806450 w 2051050"/>
                <a:gd name="connsiteY22-998" fmla="*/ 1422400 h 2070471"/>
                <a:gd name="connsiteX23-999" fmla="*/ 1193800 w 2051050"/>
                <a:gd name="connsiteY23-1000" fmla="*/ 1638300 h 2070471"/>
                <a:gd name="connsiteX24-1001" fmla="*/ 1206500 w 2051050"/>
                <a:gd name="connsiteY24-1002" fmla="*/ 1073150 h 2070471"/>
                <a:gd name="connsiteX25-1003" fmla="*/ 1835150 w 2051050"/>
                <a:gd name="connsiteY25-1004" fmla="*/ 901700 h 2070471"/>
                <a:gd name="connsiteX26-1005" fmla="*/ 1765300 w 2051050"/>
                <a:gd name="connsiteY26-1006" fmla="*/ 1593850 h 2070471"/>
                <a:gd name="connsiteX27-1007" fmla="*/ 1200150 w 2051050"/>
                <a:gd name="connsiteY27-1008" fmla="*/ 1079500 h 2070471"/>
                <a:gd name="connsiteX28-1009" fmla="*/ 468312 w 2051050"/>
                <a:gd name="connsiteY28-1010" fmla="*/ 689769 h 2070471"/>
                <a:gd name="connsiteX29-1011" fmla="*/ 31750 w 2051050"/>
                <a:gd name="connsiteY29-1012" fmla="*/ 876300 h 2070471"/>
                <a:gd name="connsiteX30-1013" fmla="*/ 0 w 2051050"/>
                <a:gd name="connsiteY30-1014" fmla="*/ 1384300 h 2070471"/>
                <a:gd name="connsiteX31-1015" fmla="*/ 400050 w 2051050"/>
                <a:gd name="connsiteY31-1016" fmla="*/ 1727200 h 2070471"/>
                <a:gd name="connsiteX32-1017" fmla="*/ 366066 w 2051050"/>
                <a:gd name="connsiteY32-1018" fmla="*/ 1952797 h 2070471"/>
                <a:gd name="connsiteX33-1019" fmla="*/ 6350 w 2051050"/>
                <a:gd name="connsiteY33-1020" fmla="*/ 1390650 h 2070471"/>
                <a:gd name="connsiteX0-1021" fmla="*/ 1898650 w 2051050"/>
                <a:gd name="connsiteY0-1022" fmla="*/ 541338 h 2070471"/>
                <a:gd name="connsiteX1-1023" fmla="*/ 2051050 w 2051050"/>
                <a:gd name="connsiteY1-1024" fmla="*/ 1036638 h 2070471"/>
                <a:gd name="connsiteX2-1025" fmla="*/ 1998663 w 2051050"/>
                <a:gd name="connsiteY2-1026" fmla="*/ 1370013 h 2070471"/>
                <a:gd name="connsiteX3-1027" fmla="*/ 1739900 w 2051050"/>
                <a:gd name="connsiteY3-1028" fmla="*/ 1809750 h 2070471"/>
                <a:gd name="connsiteX4-1029" fmla="*/ 1005912 w 2051050"/>
                <a:gd name="connsiteY4-1030" fmla="*/ 2070471 h 2070471"/>
                <a:gd name="connsiteX5-1031" fmla="*/ 520700 w 2051050"/>
                <a:gd name="connsiteY5-1032" fmla="*/ 1600200 h 2070471"/>
                <a:gd name="connsiteX6-1033" fmla="*/ 304800 w 2051050"/>
                <a:gd name="connsiteY6-1034" fmla="*/ 1282700 h 2070471"/>
                <a:gd name="connsiteX7-1035" fmla="*/ 38100 w 2051050"/>
                <a:gd name="connsiteY7-1036" fmla="*/ 876300 h 2070471"/>
                <a:gd name="connsiteX8-1037" fmla="*/ 254794 w 2051050"/>
                <a:gd name="connsiteY8-1038" fmla="*/ 236537 h 2070471"/>
                <a:gd name="connsiteX9-1039" fmla="*/ 469107 w 2051050"/>
                <a:gd name="connsiteY9-1040" fmla="*/ 691356 h 2070471"/>
                <a:gd name="connsiteX10-1041" fmla="*/ 520700 w 2051050"/>
                <a:gd name="connsiteY10-1042" fmla="*/ 1593850 h 2070471"/>
                <a:gd name="connsiteX11-1043" fmla="*/ 806450 w 2051050"/>
                <a:gd name="connsiteY11-1044" fmla="*/ 1390650 h 2070471"/>
                <a:gd name="connsiteX12-1045" fmla="*/ 1193800 w 2051050"/>
                <a:gd name="connsiteY12-1046" fmla="*/ 1079500 h 2070471"/>
                <a:gd name="connsiteX13-1047" fmla="*/ 1185863 w 2051050"/>
                <a:gd name="connsiteY13-1048" fmla="*/ 681832 h 2070471"/>
                <a:gd name="connsiteX14-1049" fmla="*/ 699294 w 2051050"/>
                <a:gd name="connsiteY14-1050" fmla="*/ 246062 h 2070471"/>
                <a:gd name="connsiteX15-1051" fmla="*/ 1276350 w 2051050"/>
                <a:gd name="connsiteY15-1052" fmla="*/ 0 h 2070471"/>
                <a:gd name="connsiteX16-1053" fmla="*/ 1293812 w 2051050"/>
                <a:gd name="connsiteY16-1054" fmla="*/ 210344 h 2070471"/>
                <a:gd name="connsiteX17-1055" fmla="*/ 697706 w 2051050"/>
                <a:gd name="connsiteY17-1056" fmla="*/ 241300 h 2070471"/>
                <a:gd name="connsiteX18-1057" fmla="*/ 402675 w 2051050"/>
                <a:gd name="connsiteY18-1058" fmla="*/ 1113476 h 2070471"/>
                <a:gd name="connsiteX19-1059" fmla="*/ 307411 w 2051050"/>
                <a:gd name="connsiteY19-1060" fmla="*/ 1287566 h 2070471"/>
                <a:gd name="connsiteX20-1061" fmla="*/ 400050 w 2051050"/>
                <a:gd name="connsiteY20-1062" fmla="*/ 1739900 h 2070471"/>
                <a:gd name="connsiteX21-1063" fmla="*/ 869950 w 2051050"/>
                <a:gd name="connsiteY21-1064" fmla="*/ 1905000 h 2070471"/>
                <a:gd name="connsiteX22-1065" fmla="*/ 806450 w 2051050"/>
                <a:gd name="connsiteY22-1066" fmla="*/ 1422400 h 2070471"/>
                <a:gd name="connsiteX23-1067" fmla="*/ 1193800 w 2051050"/>
                <a:gd name="connsiteY23-1068" fmla="*/ 1638300 h 2070471"/>
                <a:gd name="connsiteX24-1069" fmla="*/ 1206500 w 2051050"/>
                <a:gd name="connsiteY24-1070" fmla="*/ 1073150 h 2070471"/>
                <a:gd name="connsiteX25-1071" fmla="*/ 1835150 w 2051050"/>
                <a:gd name="connsiteY25-1072" fmla="*/ 901700 h 2070471"/>
                <a:gd name="connsiteX26-1073" fmla="*/ 1765300 w 2051050"/>
                <a:gd name="connsiteY26-1074" fmla="*/ 1593850 h 2070471"/>
                <a:gd name="connsiteX27-1075" fmla="*/ 1200150 w 2051050"/>
                <a:gd name="connsiteY27-1076" fmla="*/ 1079500 h 2070471"/>
                <a:gd name="connsiteX28-1077" fmla="*/ 468312 w 2051050"/>
                <a:gd name="connsiteY28-1078" fmla="*/ 689769 h 2070471"/>
                <a:gd name="connsiteX29-1079" fmla="*/ 31750 w 2051050"/>
                <a:gd name="connsiteY29-1080" fmla="*/ 876300 h 2070471"/>
                <a:gd name="connsiteX30-1081" fmla="*/ 0 w 2051050"/>
                <a:gd name="connsiteY30-1082" fmla="*/ 1384300 h 2070471"/>
                <a:gd name="connsiteX31-1083" fmla="*/ 400050 w 2051050"/>
                <a:gd name="connsiteY31-1084" fmla="*/ 1727200 h 2070471"/>
                <a:gd name="connsiteX32-1085" fmla="*/ 366066 w 2051050"/>
                <a:gd name="connsiteY32-1086" fmla="*/ 1952797 h 2070471"/>
                <a:gd name="connsiteX33-1087" fmla="*/ 6350 w 2051050"/>
                <a:gd name="connsiteY33-1088" fmla="*/ 1390650 h 2070471"/>
                <a:gd name="connsiteX0-1089" fmla="*/ 1898650 w 2051050"/>
                <a:gd name="connsiteY0-1090" fmla="*/ 541338 h 2070471"/>
                <a:gd name="connsiteX1-1091" fmla="*/ 2051050 w 2051050"/>
                <a:gd name="connsiteY1-1092" fmla="*/ 1036638 h 2070471"/>
                <a:gd name="connsiteX2-1093" fmla="*/ 1998663 w 2051050"/>
                <a:gd name="connsiteY2-1094" fmla="*/ 1370013 h 2070471"/>
                <a:gd name="connsiteX3-1095" fmla="*/ 1739900 w 2051050"/>
                <a:gd name="connsiteY3-1096" fmla="*/ 1809750 h 2070471"/>
                <a:gd name="connsiteX4-1097" fmla="*/ 1005912 w 2051050"/>
                <a:gd name="connsiteY4-1098" fmla="*/ 2070471 h 2070471"/>
                <a:gd name="connsiteX5-1099" fmla="*/ 520700 w 2051050"/>
                <a:gd name="connsiteY5-1100" fmla="*/ 1600200 h 2070471"/>
                <a:gd name="connsiteX6-1101" fmla="*/ 304800 w 2051050"/>
                <a:gd name="connsiteY6-1102" fmla="*/ 1282700 h 2070471"/>
                <a:gd name="connsiteX7-1103" fmla="*/ 38100 w 2051050"/>
                <a:gd name="connsiteY7-1104" fmla="*/ 876300 h 2070471"/>
                <a:gd name="connsiteX8-1105" fmla="*/ 254794 w 2051050"/>
                <a:gd name="connsiteY8-1106" fmla="*/ 236537 h 2070471"/>
                <a:gd name="connsiteX9-1107" fmla="*/ 469107 w 2051050"/>
                <a:gd name="connsiteY9-1108" fmla="*/ 691356 h 2070471"/>
                <a:gd name="connsiteX10-1109" fmla="*/ 520700 w 2051050"/>
                <a:gd name="connsiteY10-1110" fmla="*/ 1593850 h 2070471"/>
                <a:gd name="connsiteX11-1111" fmla="*/ 806450 w 2051050"/>
                <a:gd name="connsiteY11-1112" fmla="*/ 1390650 h 2070471"/>
                <a:gd name="connsiteX12-1113" fmla="*/ 1193800 w 2051050"/>
                <a:gd name="connsiteY12-1114" fmla="*/ 1079500 h 2070471"/>
                <a:gd name="connsiteX13-1115" fmla="*/ 1185863 w 2051050"/>
                <a:gd name="connsiteY13-1116" fmla="*/ 681832 h 2070471"/>
                <a:gd name="connsiteX14-1117" fmla="*/ 699294 w 2051050"/>
                <a:gd name="connsiteY14-1118" fmla="*/ 246062 h 2070471"/>
                <a:gd name="connsiteX15-1119" fmla="*/ 1276350 w 2051050"/>
                <a:gd name="connsiteY15-1120" fmla="*/ 0 h 2070471"/>
                <a:gd name="connsiteX16-1121" fmla="*/ 1293812 w 2051050"/>
                <a:gd name="connsiteY16-1122" fmla="*/ 210344 h 2070471"/>
                <a:gd name="connsiteX17-1123" fmla="*/ 697706 w 2051050"/>
                <a:gd name="connsiteY17-1124" fmla="*/ 241300 h 2070471"/>
                <a:gd name="connsiteX18-1125" fmla="*/ 402675 w 2051050"/>
                <a:gd name="connsiteY18-1126" fmla="*/ 1113476 h 2070471"/>
                <a:gd name="connsiteX19-1127" fmla="*/ 307411 w 2051050"/>
                <a:gd name="connsiteY19-1128" fmla="*/ 1287566 h 2070471"/>
                <a:gd name="connsiteX20-1129" fmla="*/ 400050 w 2051050"/>
                <a:gd name="connsiteY20-1130" fmla="*/ 1739900 h 2070471"/>
                <a:gd name="connsiteX21-1131" fmla="*/ 869950 w 2051050"/>
                <a:gd name="connsiteY21-1132" fmla="*/ 1905000 h 2070471"/>
                <a:gd name="connsiteX22-1133" fmla="*/ 806450 w 2051050"/>
                <a:gd name="connsiteY22-1134" fmla="*/ 1422400 h 2070471"/>
                <a:gd name="connsiteX23-1135" fmla="*/ 1193800 w 2051050"/>
                <a:gd name="connsiteY23-1136" fmla="*/ 1638300 h 2070471"/>
                <a:gd name="connsiteX24-1137" fmla="*/ 1206500 w 2051050"/>
                <a:gd name="connsiteY24-1138" fmla="*/ 1073150 h 2070471"/>
                <a:gd name="connsiteX25-1139" fmla="*/ 1835150 w 2051050"/>
                <a:gd name="connsiteY25-1140" fmla="*/ 901700 h 2070471"/>
                <a:gd name="connsiteX26-1141" fmla="*/ 1765300 w 2051050"/>
                <a:gd name="connsiteY26-1142" fmla="*/ 1593850 h 2070471"/>
                <a:gd name="connsiteX27-1143" fmla="*/ 1200150 w 2051050"/>
                <a:gd name="connsiteY27-1144" fmla="*/ 1079500 h 2070471"/>
                <a:gd name="connsiteX28-1145" fmla="*/ 468312 w 2051050"/>
                <a:gd name="connsiteY28-1146" fmla="*/ 689769 h 2070471"/>
                <a:gd name="connsiteX29-1147" fmla="*/ 31750 w 2051050"/>
                <a:gd name="connsiteY29-1148" fmla="*/ 876300 h 2070471"/>
                <a:gd name="connsiteX30-1149" fmla="*/ 0 w 2051050"/>
                <a:gd name="connsiteY30-1150" fmla="*/ 1384300 h 2070471"/>
                <a:gd name="connsiteX31-1151" fmla="*/ 400050 w 2051050"/>
                <a:gd name="connsiteY31-1152" fmla="*/ 1727200 h 2070471"/>
                <a:gd name="connsiteX32-1153" fmla="*/ 1754716 w 2051050"/>
                <a:gd name="connsiteY32-1154" fmla="*/ 1603957 h 2070471"/>
                <a:gd name="connsiteX33-1155" fmla="*/ 6350 w 2051050"/>
                <a:gd name="connsiteY33-1156" fmla="*/ 1390650 h 2070471"/>
                <a:gd name="connsiteX0-1157" fmla="*/ 1898650 w 2051050"/>
                <a:gd name="connsiteY0-1158" fmla="*/ 541338 h 2070471"/>
                <a:gd name="connsiteX1-1159" fmla="*/ 2051050 w 2051050"/>
                <a:gd name="connsiteY1-1160" fmla="*/ 1036638 h 2070471"/>
                <a:gd name="connsiteX2-1161" fmla="*/ 1998663 w 2051050"/>
                <a:gd name="connsiteY2-1162" fmla="*/ 1370013 h 2070471"/>
                <a:gd name="connsiteX3-1163" fmla="*/ 1739900 w 2051050"/>
                <a:gd name="connsiteY3-1164" fmla="*/ 1809750 h 2070471"/>
                <a:gd name="connsiteX4-1165" fmla="*/ 1005912 w 2051050"/>
                <a:gd name="connsiteY4-1166" fmla="*/ 2070471 h 2070471"/>
                <a:gd name="connsiteX5-1167" fmla="*/ 520700 w 2051050"/>
                <a:gd name="connsiteY5-1168" fmla="*/ 1600200 h 2070471"/>
                <a:gd name="connsiteX6-1169" fmla="*/ 304800 w 2051050"/>
                <a:gd name="connsiteY6-1170" fmla="*/ 1282700 h 2070471"/>
                <a:gd name="connsiteX7-1171" fmla="*/ 38100 w 2051050"/>
                <a:gd name="connsiteY7-1172" fmla="*/ 876300 h 2070471"/>
                <a:gd name="connsiteX8-1173" fmla="*/ 254794 w 2051050"/>
                <a:gd name="connsiteY8-1174" fmla="*/ 236537 h 2070471"/>
                <a:gd name="connsiteX9-1175" fmla="*/ 469107 w 2051050"/>
                <a:gd name="connsiteY9-1176" fmla="*/ 691356 h 2070471"/>
                <a:gd name="connsiteX10-1177" fmla="*/ 520700 w 2051050"/>
                <a:gd name="connsiteY10-1178" fmla="*/ 1593850 h 2070471"/>
                <a:gd name="connsiteX11-1179" fmla="*/ 806450 w 2051050"/>
                <a:gd name="connsiteY11-1180" fmla="*/ 1390650 h 2070471"/>
                <a:gd name="connsiteX12-1181" fmla="*/ 1193800 w 2051050"/>
                <a:gd name="connsiteY12-1182" fmla="*/ 1079500 h 2070471"/>
                <a:gd name="connsiteX13-1183" fmla="*/ 1185863 w 2051050"/>
                <a:gd name="connsiteY13-1184" fmla="*/ 681832 h 2070471"/>
                <a:gd name="connsiteX14-1185" fmla="*/ 699294 w 2051050"/>
                <a:gd name="connsiteY14-1186" fmla="*/ 246062 h 2070471"/>
                <a:gd name="connsiteX15-1187" fmla="*/ 1276350 w 2051050"/>
                <a:gd name="connsiteY15-1188" fmla="*/ 0 h 2070471"/>
                <a:gd name="connsiteX16-1189" fmla="*/ 1293812 w 2051050"/>
                <a:gd name="connsiteY16-1190" fmla="*/ 210344 h 2070471"/>
                <a:gd name="connsiteX17-1191" fmla="*/ 697706 w 2051050"/>
                <a:gd name="connsiteY17-1192" fmla="*/ 241300 h 2070471"/>
                <a:gd name="connsiteX18-1193" fmla="*/ 402675 w 2051050"/>
                <a:gd name="connsiteY18-1194" fmla="*/ 1113476 h 2070471"/>
                <a:gd name="connsiteX19-1195" fmla="*/ 307411 w 2051050"/>
                <a:gd name="connsiteY19-1196" fmla="*/ 1287566 h 2070471"/>
                <a:gd name="connsiteX20-1197" fmla="*/ 400050 w 2051050"/>
                <a:gd name="connsiteY20-1198" fmla="*/ 1739900 h 2070471"/>
                <a:gd name="connsiteX21-1199" fmla="*/ 869950 w 2051050"/>
                <a:gd name="connsiteY21-1200" fmla="*/ 1905000 h 2070471"/>
                <a:gd name="connsiteX22-1201" fmla="*/ 1193800 w 2051050"/>
                <a:gd name="connsiteY22-1202" fmla="*/ 1638300 h 2070471"/>
                <a:gd name="connsiteX23-1203" fmla="*/ 1206500 w 2051050"/>
                <a:gd name="connsiteY23-1204" fmla="*/ 1073150 h 2070471"/>
                <a:gd name="connsiteX24-1205" fmla="*/ 1835150 w 2051050"/>
                <a:gd name="connsiteY24-1206" fmla="*/ 901700 h 2070471"/>
                <a:gd name="connsiteX25-1207" fmla="*/ 1765300 w 2051050"/>
                <a:gd name="connsiteY25-1208" fmla="*/ 1593850 h 2070471"/>
                <a:gd name="connsiteX26-1209" fmla="*/ 1200150 w 2051050"/>
                <a:gd name="connsiteY26-1210" fmla="*/ 1079500 h 2070471"/>
                <a:gd name="connsiteX27-1211" fmla="*/ 468312 w 2051050"/>
                <a:gd name="connsiteY27-1212" fmla="*/ 689769 h 2070471"/>
                <a:gd name="connsiteX28-1213" fmla="*/ 31750 w 2051050"/>
                <a:gd name="connsiteY28-1214" fmla="*/ 876300 h 2070471"/>
                <a:gd name="connsiteX29-1215" fmla="*/ 0 w 2051050"/>
                <a:gd name="connsiteY29-1216" fmla="*/ 1384300 h 2070471"/>
                <a:gd name="connsiteX30-1217" fmla="*/ 400050 w 2051050"/>
                <a:gd name="connsiteY30-1218" fmla="*/ 1727200 h 2070471"/>
                <a:gd name="connsiteX31-1219" fmla="*/ 1754716 w 2051050"/>
                <a:gd name="connsiteY31-1220" fmla="*/ 1603957 h 2070471"/>
                <a:gd name="connsiteX32-1221" fmla="*/ 6350 w 2051050"/>
                <a:gd name="connsiteY32-1222" fmla="*/ 1390650 h 2070471"/>
                <a:gd name="connsiteX0-1223" fmla="*/ 1898650 w 2051050"/>
                <a:gd name="connsiteY0-1224" fmla="*/ 541338 h 2070471"/>
                <a:gd name="connsiteX1-1225" fmla="*/ 2051050 w 2051050"/>
                <a:gd name="connsiteY1-1226" fmla="*/ 1036638 h 2070471"/>
                <a:gd name="connsiteX2-1227" fmla="*/ 1998663 w 2051050"/>
                <a:gd name="connsiteY2-1228" fmla="*/ 1370013 h 2070471"/>
                <a:gd name="connsiteX3-1229" fmla="*/ 1739900 w 2051050"/>
                <a:gd name="connsiteY3-1230" fmla="*/ 1809750 h 2070471"/>
                <a:gd name="connsiteX4-1231" fmla="*/ 1005912 w 2051050"/>
                <a:gd name="connsiteY4-1232" fmla="*/ 2070471 h 2070471"/>
                <a:gd name="connsiteX5-1233" fmla="*/ 520700 w 2051050"/>
                <a:gd name="connsiteY5-1234" fmla="*/ 1600200 h 2070471"/>
                <a:gd name="connsiteX6-1235" fmla="*/ 304800 w 2051050"/>
                <a:gd name="connsiteY6-1236" fmla="*/ 1282700 h 2070471"/>
                <a:gd name="connsiteX7-1237" fmla="*/ 38100 w 2051050"/>
                <a:gd name="connsiteY7-1238" fmla="*/ 876300 h 2070471"/>
                <a:gd name="connsiteX8-1239" fmla="*/ 254794 w 2051050"/>
                <a:gd name="connsiteY8-1240" fmla="*/ 236537 h 2070471"/>
                <a:gd name="connsiteX9-1241" fmla="*/ 469107 w 2051050"/>
                <a:gd name="connsiteY9-1242" fmla="*/ 691356 h 2070471"/>
                <a:gd name="connsiteX10-1243" fmla="*/ 520700 w 2051050"/>
                <a:gd name="connsiteY10-1244" fmla="*/ 1593850 h 2070471"/>
                <a:gd name="connsiteX11-1245" fmla="*/ 806450 w 2051050"/>
                <a:gd name="connsiteY11-1246" fmla="*/ 1390650 h 2070471"/>
                <a:gd name="connsiteX12-1247" fmla="*/ 1193800 w 2051050"/>
                <a:gd name="connsiteY12-1248" fmla="*/ 1079500 h 2070471"/>
                <a:gd name="connsiteX13-1249" fmla="*/ 1185863 w 2051050"/>
                <a:gd name="connsiteY13-1250" fmla="*/ 681832 h 2070471"/>
                <a:gd name="connsiteX14-1251" fmla="*/ 699294 w 2051050"/>
                <a:gd name="connsiteY14-1252" fmla="*/ 246062 h 2070471"/>
                <a:gd name="connsiteX15-1253" fmla="*/ 1276350 w 2051050"/>
                <a:gd name="connsiteY15-1254" fmla="*/ 0 h 2070471"/>
                <a:gd name="connsiteX16-1255" fmla="*/ 1293812 w 2051050"/>
                <a:gd name="connsiteY16-1256" fmla="*/ 210344 h 2070471"/>
                <a:gd name="connsiteX17-1257" fmla="*/ 697706 w 2051050"/>
                <a:gd name="connsiteY17-1258" fmla="*/ 241300 h 2070471"/>
                <a:gd name="connsiteX18-1259" fmla="*/ 402675 w 2051050"/>
                <a:gd name="connsiteY18-1260" fmla="*/ 1113476 h 2070471"/>
                <a:gd name="connsiteX19-1261" fmla="*/ 307411 w 2051050"/>
                <a:gd name="connsiteY19-1262" fmla="*/ 1287566 h 2070471"/>
                <a:gd name="connsiteX20-1263" fmla="*/ 400050 w 2051050"/>
                <a:gd name="connsiteY20-1264" fmla="*/ 1739900 h 2070471"/>
                <a:gd name="connsiteX21-1265" fmla="*/ 869950 w 2051050"/>
                <a:gd name="connsiteY21-1266" fmla="*/ 1905000 h 2070471"/>
                <a:gd name="connsiteX22-1267" fmla="*/ 1193800 w 2051050"/>
                <a:gd name="connsiteY22-1268" fmla="*/ 1638300 h 2070471"/>
                <a:gd name="connsiteX23-1269" fmla="*/ 1206500 w 2051050"/>
                <a:gd name="connsiteY23-1270" fmla="*/ 1073150 h 2070471"/>
                <a:gd name="connsiteX24-1271" fmla="*/ 1835150 w 2051050"/>
                <a:gd name="connsiteY24-1272" fmla="*/ 901700 h 2070471"/>
                <a:gd name="connsiteX25-1273" fmla="*/ 1765300 w 2051050"/>
                <a:gd name="connsiteY25-1274" fmla="*/ 1593850 h 2070471"/>
                <a:gd name="connsiteX26-1275" fmla="*/ 1200150 w 2051050"/>
                <a:gd name="connsiteY26-1276" fmla="*/ 1079500 h 2070471"/>
                <a:gd name="connsiteX27-1277" fmla="*/ 468312 w 2051050"/>
                <a:gd name="connsiteY27-1278" fmla="*/ 689769 h 2070471"/>
                <a:gd name="connsiteX28-1279" fmla="*/ 31750 w 2051050"/>
                <a:gd name="connsiteY28-1280" fmla="*/ 876300 h 2070471"/>
                <a:gd name="connsiteX29-1281" fmla="*/ 0 w 2051050"/>
                <a:gd name="connsiteY29-1282" fmla="*/ 1384300 h 2070471"/>
                <a:gd name="connsiteX30-1283" fmla="*/ 1754716 w 2051050"/>
                <a:gd name="connsiteY30-1284" fmla="*/ 1603957 h 2070471"/>
                <a:gd name="connsiteX31-1285" fmla="*/ 6350 w 2051050"/>
                <a:gd name="connsiteY31-1286" fmla="*/ 1390650 h 2070471"/>
                <a:gd name="connsiteX0-1287" fmla="*/ 1898650 w 2051050"/>
                <a:gd name="connsiteY0-1288" fmla="*/ 541338 h 2070471"/>
                <a:gd name="connsiteX1-1289" fmla="*/ 2051050 w 2051050"/>
                <a:gd name="connsiteY1-1290" fmla="*/ 1036638 h 2070471"/>
                <a:gd name="connsiteX2-1291" fmla="*/ 1998663 w 2051050"/>
                <a:gd name="connsiteY2-1292" fmla="*/ 1370013 h 2070471"/>
                <a:gd name="connsiteX3-1293" fmla="*/ 1739900 w 2051050"/>
                <a:gd name="connsiteY3-1294" fmla="*/ 1809750 h 2070471"/>
                <a:gd name="connsiteX4-1295" fmla="*/ 1005912 w 2051050"/>
                <a:gd name="connsiteY4-1296" fmla="*/ 2070471 h 2070471"/>
                <a:gd name="connsiteX5-1297" fmla="*/ 520700 w 2051050"/>
                <a:gd name="connsiteY5-1298" fmla="*/ 1600200 h 2070471"/>
                <a:gd name="connsiteX6-1299" fmla="*/ 304800 w 2051050"/>
                <a:gd name="connsiteY6-1300" fmla="*/ 1282700 h 2070471"/>
                <a:gd name="connsiteX7-1301" fmla="*/ 38100 w 2051050"/>
                <a:gd name="connsiteY7-1302" fmla="*/ 876300 h 2070471"/>
                <a:gd name="connsiteX8-1303" fmla="*/ 254794 w 2051050"/>
                <a:gd name="connsiteY8-1304" fmla="*/ 236537 h 2070471"/>
                <a:gd name="connsiteX9-1305" fmla="*/ 469107 w 2051050"/>
                <a:gd name="connsiteY9-1306" fmla="*/ 691356 h 2070471"/>
                <a:gd name="connsiteX10-1307" fmla="*/ 520700 w 2051050"/>
                <a:gd name="connsiteY10-1308" fmla="*/ 1593850 h 2070471"/>
                <a:gd name="connsiteX11-1309" fmla="*/ 806450 w 2051050"/>
                <a:gd name="connsiteY11-1310" fmla="*/ 1390650 h 2070471"/>
                <a:gd name="connsiteX12-1311" fmla="*/ 1193800 w 2051050"/>
                <a:gd name="connsiteY12-1312" fmla="*/ 1079500 h 2070471"/>
                <a:gd name="connsiteX13-1313" fmla="*/ 1185863 w 2051050"/>
                <a:gd name="connsiteY13-1314" fmla="*/ 681832 h 2070471"/>
                <a:gd name="connsiteX14-1315" fmla="*/ 699294 w 2051050"/>
                <a:gd name="connsiteY14-1316" fmla="*/ 246062 h 2070471"/>
                <a:gd name="connsiteX15-1317" fmla="*/ 1276350 w 2051050"/>
                <a:gd name="connsiteY15-1318" fmla="*/ 0 h 2070471"/>
                <a:gd name="connsiteX16-1319" fmla="*/ 1293812 w 2051050"/>
                <a:gd name="connsiteY16-1320" fmla="*/ 210344 h 2070471"/>
                <a:gd name="connsiteX17-1321" fmla="*/ 697706 w 2051050"/>
                <a:gd name="connsiteY17-1322" fmla="*/ 241300 h 2070471"/>
                <a:gd name="connsiteX18-1323" fmla="*/ 307411 w 2051050"/>
                <a:gd name="connsiteY18-1324" fmla="*/ 1287566 h 2070471"/>
                <a:gd name="connsiteX19-1325" fmla="*/ 400050 w 2051050"/>
                <a:gd name="connsiteY19-1326" fmla="*/ 1739900 h 2070471"/>
                <a:gd name="connsiteX20-1327" fmla="*/ 869950 w 2051050"/>
                <a:gd name="connsiteY20-1328" fmla="*/ 1905000 h 2070471"/>
                <a:gd name="connsiteX21-1329" fmla="*/ 1193800 w 2051050"/>
                <a:gd name="connsiteY21-1330" fmla="*/ 1638300 h 2070471"/>
                <a:gd name="connsiteX22-1331" fmla="*/ 1206500 w 2051050"/>
                <a:gd name="connsiteY22-1332" fmla="*/ 1073150 h 2070471"/>
                <a:gd name="connsiteX23-1333" fmla="*/ 1835150 w 2051050"/>
                <a:gd name="connsiteY23-1334" fmla="*/ 901700 h 2070471"/>
                <a:gd name="connsiteX24-1335" fmla="*/ 1765300 w 2051050"/>
                <a:gd name="connsiteY24-1336" fmla="*/ 1593850 h 2070471"/>
                <a:gd name="connsiteX25-1337" fmla="*/ 1200150 w 2051050"/>
                <a:gd name="connsiteY25-1338" fmla="*/ 1079500 h 2070471"/>
                <a:gd name="connsiteX26-1339" fmla="*/ 468312 w 2051050"/>
                <a:gd name="connsiteY26-1340" fmla="*/ 689769 h 2070471"/>
                <a:gd name="connsiteX27-1341" fmla="*/ 31750 w 2051050"/>
                <a:gd name="connsiteY27-1342" fmla="*/ 876300 h 2070471"/>
                <a:gd name="connsiteX28-1343" fmla="*/ 0 w 2051050"/>
                <a:gd name="connsiteY28-1344" fmla="*/ 1384300 h 2070471"/>
                <a:gd name="connsiteX29-1345" fmla="*/ 1754716 w 2051050"/>
                <a:gd name="connsiteY29-1346" fmla="*/ 1603957 h 2070471"/>
                <a:gd name="connsiteX30-1347" fmla="*/ 6350 w 2051050"/>
                <a:gd name="connsiteY30-1348" fmla="*/ 1390650 h 2070471"/>
                <a:gd name="connsiteX0-1349" fmla="*/ 1898650 w 2051050"/>
                <a:gd name="connsiteY0-1350" fmla="*/ 541338 h 2070471"/>
                <a:gd name="connsiteX1-1351" fmla="*/ 2051050 w 2051050"/>
                <a:gd name="connsiteY1-1352" fmla="*/ 1036638 h 2070471"/>
                <a:gd name="connsiteX2-1353" fmla="*/ 1998663 w 2051050"/>
                <a:gd name="connsiteY2-1354" fmla="*/ 1370013 h 2070471"/>
                <a:gd name="connsiteX3-1355" fmla="*/ 1739900 w 2051050"/>
                <a:gd name="connsiteY3-1356" fmla="*/ 1809750 h 2070471"/>
                <a:gd name="connsiteX4-1357" fmla="*/ 1005912 w 2051050"/>
                <a:gd name="connsiteY4-1358" fmla="*/ 2070471 h 2070471"/>
                <a:gd name="connsiteX5-1359" fmla="*/ 520700 w 2051050"/>
                <a:gd name="connsiteY5-1360" fmla="*/ 1600200 h 2070471"/>
                <a:gd name="connsiteX6-1361" fmla="*/ 304800 w 2051050"/>
                <a:gd name="connsiteY6-1362" fmla="*/ 1282700 h 2070471"/>
                <a:gd name="connsiteX7-1363" fmla="*/ 38100 w 2051050"/>
                <a:gd name="connsiteY7-1364" fmla="*/ 876300 h 2070471"/>
                <a:gd name="connsiteX8-1365" fmla="*/ 254794 w 2051050"/>
                <a:gd name="connsiteY8-1366" fmla="*/ 236537 h 2070471"/>
                <a:gd name="connsiteX9-1367" fmla="*/ 469107 w 2051050"/>
                <a:gd name="connsiteY9-1368" fmla="*/ 691356 h 2070471"/>
                <a:gd name="connsiteX10-1369" fmla="*/ 806450 w 2051050"/>
                <a:gd name="connsiteY10-1370" fmla="*/ 1390650 h 2070471"/>
                <a:gd name="connsiteX11-1371" fmla="*/ 1193800 w 2051050"/>
                <a:gd name="connsiteY11-1372" fmla="*/ 1079500 h 2070471"/>
                <a:gd name="connsiteX12-1373" fmla="*/ 1185863 w 2051050"/>
                <a:gd name="connsiteY12-1374" fmla="*/ 681832 h 2070471"/>
                <a:gd name="connsiteX13-1375" fmla="*/ 699294 w 2051050"/>
                <a:gd name="connsiteY13-1376" fmla="*/ 246062 h 2070471"/>
                <a:gd name="connsiteX14-1377" fmla="*/ 1276350 w 2051050"/>
                <a:gd name="connsiteY14-1378" fmla="*/ 0 h 2070471"/>
                <a:gd name="connsiteX15-1379" fmla="*/ 1293812 w 2051050"/>
                <a:gd name="connsiteY15-1380" fmla="*/ 210344 h 2070471"/>
                <a:gd name="connsiteX16-1381" fmla="*/ 697706 w 2051050"/>
                <a:gd name="connsiteY16-1382" fmla="*/ 241300 h 2070471"/>
                <a:gd name="connsiteX17-1383" fmla="*/ 307411 w 2051050"/>
                <a:gd name="connsiteY17-1384" fmla="*/ 1287566 h 2070471"/>
                <a:gd name="connsiteX18-1385" fmla="*/ 400050 w 2051050"/>
                <a:gd name="connsiteY18-1386" fmla="*/ 1739900 h 2070471"/>
                <a:gd name="connsiteX19-1387" fmla="*/ 869950 w 2051050"/>
                <a:gd name="connsiteY19-1388" fmla="*/ 1905000 h 2070471"/>
                <a:gd name="connsiteX20-1389" fmla="*/ 1193800 w 2051050"/>
                <a:gd name="connsiteY20-1390" fmla="*/ 1638300 h 2070471"/>
                <a:gd name="connsiteX21-1391" fmla="*/ 1206500 w 2051050"/>
                <a:gd name="connsiteY21-1392" fmla="*/ 1073150 h 2070471"/>
                <a:gd name="connsiteX22-1393" fmla="*/ 1835150 w 2051050"/>
                <a:gd name="connsiteY22-1394" fmla="*/ 901700 h 2070471"/>
                <a:gd name="connsiteX23-1395" fmla="*/ 1765300 w 2051050"/>
                <a:gd name="connsiteY23-1396" fmla="*/ 1593850 h 2070471"/>
                <a:gd name="connsiteX24-1397" fmla="*/ 1200150 w 2051050"/>
                <a:gd name="connsiteY24-1398" fmla="*/ 1079500 h 2070471"/>
                <a:gd name="connsiteX25-1399" fmla="*/ 468312 w 2051050"/>
                <a:gd name="connsiteY25-1400" fmla="*/ 689769 h 2070471"/>
                <a:gd name="connsiteX26-1401" fmla="*/ 31750 w 2051050"/>
                <a:gd name="connsiteY26-1402" fmla="*/ 876300 h 2070471"/>
                <a:gd name="connsiteX27-1403" fmla="*/ 0 w 2051050"/>
                <a:gd name="connsiteY27-1404" fmla="*/ 1384300 h 2070471"/>
                <a:gd name="connsiteX28-1405" fmla="*/ 1754716 w 2051050"/>
                <a:gd name="connsiteY28-1406" fmla="*/ 1603957 h 2070471"/>
                <a:gd name="connsiteX29-1407" fmla="*/ 6350 w 2051050"/>
                <a:gd name="connsiteY29-1408" fmla="*/ 1390650 h 2070471"/>
                <a:gd name="connsiteX0-1409" fmla="*/ 1898650 w 2051050"/>
                <a:gd name="connsiteY0-1410" fmla="*/ 541338 h 2070471"/>
                <a:gd name="connsiteX1-1411" fmla="*/ 2051050 w 2051050"/>
                <a:gd name="connsiteY1-1412" fmla="*/ 1036638 h 2070471"/>
                <a:gd name="connsiteX2-1413" fmla="*/ 1998663 w 2051050"/>
                <a:gd name="connsiteY2-1414" fmla="*/ 1370013 h 2070471"/>
                <a:gd name="connsiteX3-1415" fmla="*/ 1739900 w 2051050"/>
                <a:gd name="connsiteY3-1416" fmla="*/ 1809750 h 2070471"/>
                <a:gd name="connsiteX4-1417" fmla="*/ 1005912 w 2051050"/>
                <a:gd name="connsiteY4-1418" fmla="*/ 2070471 h 2070471"/>
                <a:gd name="connsiteX5-1419" fmla="*/ 520700 w 2051050"/>
                <a:gd name="connsiteY5-1420" fmla="*/ 1600200 h 2070471"/>
                <a:gd name="connsiteX6-1421" fmla="*/ 304800 w 2051050"/>
                <a:gd name="connsiteY6-1422" fmla="*/ 1282700 h 2070471"/>
                <a:gd name="connsiteX7-1423" fmla="*/ 38100 w 2051050"/>
                <a:gd name="connsiteY7-1424" fmla="*/ 876300 h 2070471"/>
                <a:gd name="connsiteX8-1425" fmla="*/ 254794 w 2051050"/>
                <a:gd name="connsiteY8-1426" fmla="*/ 236537 h 2070471"/>
                <a:gd name="connsiteX9-1427" fmla="*/ 469107 w 2051050"/>
                <a:gd name="connsiteY9-1428" fmla="*/ 691356 h 2070471"/>
                <a:gd name="connsiteX10-1429" fmla="*/ 806450 w 2051050"/>
                <a:gd name="connsiteY10-1430" fmla="*/ 1390650 h 2070471"/>
                <a:gd name="connsiteX11-1431" fmla="*/ 1193800 w 2051050"/>
                <a:gd name="connsiteY11-1432" fmla="*/ 1079500 h 2070471"/>
                <a:gd name="connsiteX12-1433" fmla="*/ 1185863 w 2051050"/>
                <a:gd name="connsiteY12-1434" fmla="*/ 681832 h 2070471"/>
                <a:gd name="connsiteX13-1435" fmla="*/ 699294 w 2051050"/>
                <a:gd name="connsiteY13-1436" fmla="*/ 246062 h 2070471"/>
                <a:gd name="connsiteX14-1437" fmla="*/ 1276350 w 2051050"/>
                <a:gd name="connsiteY14-1438" fmla="*/ 0 h 2070471"/>
                <a:gd name="connsiteX15-1439" fmla="*/ 697706 w 2051050"/>
                <a:gd name="connsiteY15-1440" fmla="*/ 241300 h 2070471"/>
                <a:gd name="connsiteX16-1441" fmla="*/ 307411 w 2051050"/>
                <a:gd name="connsiteY16-1442" fmla="*/ 1287566 h 2070471"/>
                <a:gd name="connsiteX17-1443" fmla="*/ 400050 w 2051050"/>
                <a:gd name="connsiteY17-1444" fmla="*/ 1739900 h 2070471"/>
                <a:gd name="connsiteX18-1445" fmla="*/ 869950 w 2051050"/>
                <a:gd name="connsiteY18-1446" fmla="*/ 1905000 h 2070471"/>
                <a:gd name="connsiteX19-1447" fmla="*/ 1193800 w 2051050"/>
                <a:gd name="connsiteY19-1448" fmla="*/ 1638300 h 2070471"/>
                <a:gd name="connsiteX20-1449" fmla="*/ 1206500 w 2051050"/>
                <a:gd name="connsiteY20-1450" fmla="*/ 1073150 h 2070471"/>
                <a:gd name="connsiteX21-1451" fmla="*/ 1835150 w 2051050"/>
                <a:gd name="connsiteY21-1452" fmla="*/ 901700 h 2070471"/>
                <a:gd name="connsiteX22-1453" fmla="*/ 1765300 w 2051050"/>
                <a:gd name="connsiteY22-1454" fmla="*/ 1593850 h 2070471"/>
                <a:gd name="connsiteX23-1455" fmla="*/ 1200150 w 2051050"/>
                <a:gd name="connsiteY23-1456" fmla="*/ 1079500 h 2070471"/>
                <a:gd name="connsiteX24-1457" fmla="*/ 468312 w 2051050"/>
                <a:gd name="connsiteY24-1458" fmla="*/ 689769 h 2070471"/>
                <a:gd name="connsiteX25-1459" fmla="*/ 31750 w 2051050"/>
                <a:gd name="connsiteY25-1460" fmla="*/ 876300 h 2070471"/>
                <a:gd name="connsiteX26-1461" fmla="*/ 0 w 2051050"/>
                <a:gd name="connsiteY26-1462" fmla="*/ 1384300 h 2070471"/>
                <a:gd name="connsiteX27-1463" fmla="*/ 1754716 w 2051050"/>
                <a:gd name="connsiteY27-1464" fmla="*/ 1603957 h 2070471"/>
                <a:gd name="connsiteX28-1465" fmla="*/ 6350 w 2051050"/>
                <a:gd name="connsiteY28-1466" fmla="*/ 1390650 h 2070471"/>
                <a:gd name="connsiteX0-1467" fmla="*/ 1898650 w 2051050"/>
                <a:gd name="connsiteY0-1468" fmla="*/ 507796 h 2036929"/>
                <a:gd name="connsiteX1-1469" fmla="*/ 2051050 w 2051050"/>
                <a:gd name="connsiteY1-1470" fmla="*/ 1003096 h 2036929"/>
                <a:gd name="connsiteX2-1471" fmla="*/ 1998663 w 2051050"/>
                <a:gd name="connsiteY2-1472" fmla="*/ 1336471 h 2036929"/>
                <a:gd name="connsiteX3-1473" fmla="*/ 1739900 w 2051050"/>
                <a:gd name="connsiteY3-1474" fmla="*/ 1776208 h 2036929"/>
                <a:gd name="connsiteX4-1475" fmla="*/ 1005912 w 2051050"/>
                <a:gd name="connsiteY4-1476" fmla="*/ 2036929 h 2036929"/>
                <a:gd name="connsiteX5-1477" fmla="*/ 520700 w 2051050"/>
                <a:gd name="connsiteY5-1478" fmla="*/ 1566658 h 2036929"/>
                <a:gd name="connsiteX6-1479" fmla="*/ 304800 w 2051050"/>
                <a:gd name="connsiteY6-1480" fmla="*/ 1249158 h 2036929"/>
                <a:gd name="connsiteX7-1481" fmla="*/ 38100 w 2051050"/>
                <a:gd name="connsiteY7-1482" fmla="*/ 842758 h 2036929"/>
                <a:gd name="connsiteX8-1483" fmla="*/ 254794 w 2051050"/>
                <a:gd name="connsiteY8-1484" fmla="*/ 202995 h 2036929"/>
                <a:gd name="connsiteX9-1485" fmla="*/ 469107 w 2051050"/>
                <a:gd name="connsiteY9-1486" fmla="*/ 657814 h 2036929"/>
                <a:gd name="connsiteX10-1487" fmla="*/ 806450 w 2051050"/>
                <a:gd name="connsiteY10-1488" fmla="*/ 1357108 h 2036929"/>
                <a:gd name="connsiteX11-1489" fmla="*/ 1193800 w 2051050"/>
                <a:gd name="connsiteY11-1490" fmla="*/ 1045958 h 2036929"/>
                <a:gd name="connsiteX12-1491" fmla="*/ 1185863 w 2051050"/>
                <a:gd name="connsiteY12-1492" fmla="*/ 648290 h 2036929"/>
                <a:gd name="connsiteX13-1493" fmla="*/ 699294 w 2051050"/>
                <a:gd name="connsiteY13-1494" fmla="*/ 212520 h 2036929"/>
                <a:gd name="connsiteX14-1495" fmla="*/ 1209265 w 2051050"/>
                <a:gd name="connsiteY14-1496" fmla="*/ 0 h 2036929"/>
                <a:gd name="connsiteX15-1497" fmla="*/ 697706 w 2051050"/>
                <a:gd name="connsiteY15-1498" fmla="*/ 207758 h 2036929"/>
                <a:gd name="connsiteX16-1499" fmla="*/ 307411 w 2051050"/>
                <a:gd name="connsiteY16-1500" fmla="*/ 1254024 h 2036929"/>
                <a:gd name="connsiteX17-1501" fmla="*/ 400050 w 2051050"/>
                <a:gd name="connsiteY17-1502" fmla="*/ 1706358 h 2036929"/>
                <a:gd name="connsiteX18-1503" fmla="*/ 869950 w 2051050"/>
                <a:gd name="connsiteY18-1504" fmla="*/ 1871458 h 2036929"/>
                <a:gd name="connsiteX19-1505" fmla="*/ 1193800 w 2051050"/>
                <a:gd name="connsiteY19-1506" fmla="*/ 1604758 h 2036929"/>
                <a:gd name="connsiteX20-1507" fmla="*/ 1206500 w 2051050"/>
                <a:gd name="connsiteY20-1508" fmla="*/ 1039608 h 2036929"/>
                <a:gd name="connsiteX21-1509" fmla="*/ 1835150 w 2051050"/>
                <a:gd name="connsiteY21-1510" fmla="*/ 868158 h 2036929"/>
                <a:gd name="connsiteX22-1511" fmla="*/ 1765300 w 2051050"/>
                <a:gd name="connsiteY22-1512" fmla="*/ 1560308 h 2036929"/>
                <a:gd name="connsiteX23-1513" fmla="*/ 1200150 w 2051050"/>
                <a:gd name="connsiteY23-1514" fmla="*/ 1045958 h 2036929"/>
                <a:gd name="connsiteX24-1515" fmla="*/ 468312 w 2051050"/>
                <a:gd name="connsiteY24-1516" fmla="*/ 656227 h 2036929"/>
                <a:gd name="connsiteX25-1517" fmla="*/ 31750 w 2051050"/>
                <a:gd name="connsiteY25-1518" fmla="*/ 842758 h 2036929"/>
                <a:gd name="connsiteX26-1519" fmla="*/ 0 w 2051050"/>
                <a:gd name="connsiteY26-1520" fmla="*/ 1350758 h 2036929"/>
                <a:gd name="connsiteX27-1521" fmla="*/ 1754716 w 2051050"/>
                <a:gd name="connsiteY27-1522" fmla="*/ 1570415 h 2036929"/>
                <a:gd name="connsiteX28-1523" fmla="*/ 6350 w 2051050"/>
                <a:gd name="connsiteY28-1524" fmla="*/ 1357108 h 2036929"/>
                <a:gd name="connsiteX0-1525" fmla="*/ 1898650 w 2051050"/>
                <a:gd name="connsiteY0-1526" fmla="*/ 487671 h 2016804"/>
                <a:gd name="connsiteX1-1527" fmla="*/ 2051050 w 2051050"/>
                <a:gd name="connsiteY1-1528" fmla="*/ 982971 h 2016804"/>
                <a:gd name="connsiteX2-1529" fmla="*/ 1998663 w 2051050"/>
                <a:gd name="connsiteY2-1530" fmla="*/ 1316346 h 2016804"/>
                <a:gd name="connsiteX3-1531" fmla="*/ 1739900 w 2051050"/>
                <a:gd name="connsiteY3-1532" fmla="*/ 1756083 h 2016804"/>
                <a:gd name="connsiteX4-1533" fmla="*/ 1005912 w 2051050"/>
                <a:gd name="connsiteY4-1534" fmla="*/ 2016804 h 2016804"/>
                <a:gd name="connsiteX5-1535" fmla="*/ 520700 w 2051050"/>
                <a:gd name="connsiteY5-1536" fmla="*/ 1546533 h 2016804"/>
                <a:gd name="connsiteX6-1537" fmla="*/ 304800 w 2051050"/>
                <a:gd name="connsiteY6-1538" fmla="*/ 1229033 h 2016804"/>
                <a:gd name="connsiteX7-1539" fmla="*/ 38100 w 2051050"/>
                <a:gd name="connsiteY7-1540" fmla="*/ 822633 h 2016804"/>
                <a:gd name="connsiteX8-1541" fmla="*/ 254794 w 2051050"/>
                <a:gd name="connsiteY8-1542" fmla="*/ 182870 h 2016804"/>
                <a:gd name="connsiteX9-1543" fmla="*/ 469107 w 2051050"/>
                <a:gd name="connsiteY9-1544" fmla="*/ 637689 h 2016804"/>
                <a:gd name="connsiteX10-1545" fmla="*/ 806450 w 2051050"/>
                <a:gd name="connsiteY10-1546" fmla="*/ 1336983 h 2016804"/>
                <a:gd name="connsiteX11-1547" fmla="*/ 1193800 w 2051050"/>
                <a:gd name="connsiteY11-1548" fmla="*/ 1025833 h 2016804"/>
                <a:gd name="connsiteX12-1549" fmla="*/ 1185863 w 2051050"/>
                <a:gd name="connsiteY12-1550" fmla="*/ 628165 h 2016804"/>
                <a:gd name="connsiteX13-1551" fmla="*/ 699294 w 2051050"/>
                <a:gd name="connsiteY13-1552" fmla="*/ 192395 h 2016804"/>
                <a:gd name="connsiteX14-1553" fmla="*/ 1169014 w 2051050"/>
                <a:gd name="connsiteY14-1554" fmla="*/ 0 h 2016804"/>
                <a:gd name="connsiteX15-1555" fmla="*/ 697706 w 2051050"/>
                <a:gd name="connsiteY15-1556" fmla="*/ 187633 h 2016804"/>
                <a:gd name="connsiteX16-1557" fmla="*/ 307411 w 2051050"/>
                <a:gd name="connsiteY16-1558" fmla="*/ 1233899 h 2016804"/>
                <a:gd name="connsiteX17-1559" fmla="*/ 400050 w 2051050"/>
                <a:gd name="connsiteY17-1560" fmla="*/ 1686233 h 2016804"/>
                <a:gd name="connsiteX18-1561" fmla="*/ 869950 w 2051050"/>
                <a:gd name="connsiteY18-1562" fmla="*/ 1851333 h 2016804"/>
                <a:gd name="connsiteX19-1563" fmla="*/ 1193800 w 2051050"/>
                <a:gd name="connsiteY19-1564" fmla="*/ 1584633 h 2016804"/>
                <a:gd name="connsiteX20-1565" fmla="*/ 1206500 w 2051050"/>
                <a:gd name="connsiteY20-1566" fmla="*/ 1019483 h 2016804"/>
                <a:gd name="connsiteX21-1567" fmla="*/ 1835150 w 2051050"/>
                <a:gd name="connsiteY21-1568" fmla="*/ 848033 h 2016804"/>
                <a:gd name="connsiteX22-1569" fmla="*/ 1765300 w 2051050"/>
                <a:gd name="connsiteY22-1570" fmla="*/ 1540183 h 2016804"/>
                <a:gd name="connsiteX23-1571" fmla="*/ 1200150 w 2051050"/>
                <a:gd name="connsiteY23-1572" fmla="*/ 1025833 h 2016804"/>
                <a:gd name="connsiteX24-1573" fmla="*/ 468312 w 2051050"/>
                <a:gd name="connsiteY24-1574" fmla="*/ 636102 h 2016804"/>
                <a:gd name="connsiteX25-1575" fmla="*/ 31750 w 2051050"/>
                <a:gd name="connsiteY25-1576" fmla="*/ 822633 h 2016804"/>
                <a:gd name="connsiteX26-1577" fmla="*/ 0 w 2051050"/>
                <a:gd name="connsiteY26-1578" fmla="*/ 1330633 h 2016804"/>
                <a:gd name="connsiteX27-1579" fmla="*/ 1754716 w 2051050"/>
                <a:gd name="connsiteY27-1580" fmla="*/ 1550290 h 2016804"/>
                <a:gd name="connsiteX28-1581" fmla="*/ 6350 w 2051050"/>
                <a:gd name="connsiteY28-1582" fmla="*/ 1336983 h 2016804"/>
                <a:gd name="connsiteX0-1583" fmla="*/ 1898650 w 2051050"/>
                <a:gd name="connsiteY0-1584" fmla="*/ 487671 h 2016804"/>
                <a:gd name="connsiteX1-1585" fmla="*/ 2051050 w 2051050"/>
                <a:gd name="connsiteY1-1586" fmla="*/ 982971 h 2016804"/>
                <a:gd name="connsiteX2-1587" fmla="*/ 1998663 w 2051050"/>
                <a:gd name="connsiteY2-1588" fmla="*/ 1316346 h 2016804"/>
                <a:gd name="connsiteX3-1589" fmla="*/ 1739900 w 2051050"/>
                <a:gd name="connsiteY3-1590" fmla="*/ 1756083 h 2016804"/>
                <a:gd name="connsiteX4-1591" fmla="*/ 1005912 w 2051050"/>
                <a:gd name="connsiteY4-1592" fmla="*/ 2016804 h 2016804"/>
                <a:gd name="connsiteX5-1593" fmla="*/ 520700 w 2051050"/>
                <a:gd name="connsiteY5-1594" fmla="*/ 1546533 h 2016804"/>
                <a:gd name="connsiteX6-1595" fmla="*/ 304800 w 2051050"/>
                <a:gd name="connsiteY6-1596" fmla="*/ 1229033 h 2016804"/>
                <a:gd name="connsiteX7-1597" fmla="*/ 38100 w 2051050"/>
                <a:gd name="connsiteY7-1598" fmla="*/ 822633 h 2016804"/>
                <a:gd name="connsiteX8-1599" fmla="*/ 254794 w 2051050"/>
                <a:gd name="connsiteY8-1600" fmla="*/ 182870 h 2016804"/>
                <a:gd name="connsiteX9-1601" fmla="*/ 469107 w 2051050"/>
                <a:gd name="connsiteY9-1602" fmla="*/ 637689 h 2016804"/>
                <a:gd name="connsiteX10-1603" fmla="*/ 806450 w 2051050"/>
                <a:gd name="connsiteY10-1604" fmla="*/ 1336983 h 2016804"/>
                <a:gd name="connsiteX11-1605" fmla="*/ 1193800 w 2051050"/>
                <a:gd name="connsiteY11-1606" fmla="*/ 1025833 h 2016804"/>
                <a:gd name="connsiteX12-1607" fmla="*/ 1185863 w 2051050"/>
                <a:gd name="connsiteY12-1608" fmla="*/ 628165 h 2016804"/>
                <a:gd name="connsiteX13-1609" fmla="*/ 699294 w 2051050"/>
                <a:gd name="connsiteY13-1610" fmla="*/ 192395 h 2016804"/>
                <a:gd name="connsiteX14-1611" fmla="*/ 1169014 w 2051050"/>
                <a:gd name="connsiteY14-1612" fmla="*/ 0 h 2016804"/>
                <a:gd name="connsiteX15-1613" fmla="*/ 697706 w 2051050"/>
                <a:gd name="connsiteY15-1614" fmla="*/ 187633 h 2016804"/>
                <a:gd name="connsiteX16-1615" fmla="*/ 307411 w 2051050"/>
                <a:gd name="connsiteY16-1616" fmla="*/ 1233899 h 2016804"/>
                <a:gd name="connsiteX17-1617" fmla="*/ 400050 w 2051050"/>
                <a:gd name="connsiteY17-1618" fmla="*/ 1686233 h 2016804"/>
                <a:gd name="connsiteX18-1619" fmla="*/ 869950 w 2051050"/>
                <a:gd name="connsiteY18-1620" fmla="*/ 1851333 h 2016804"/>
                <a:gd name="connsiteX19-1621" fmla="*/ 1193800 w 2051050"/>
                <a:gd name="connsiteY19-1622" fmla="*/ 1584633 h 2016804"/>
                <a:gd name="connsiteX20-1623" fmla="*/ 1206500 w 2051050"/>
                <a:gd name="connsiteY20-1624" fmla="*/ 1019483 h 2016804"/>
                <a:gd name="connsiteX21-1625" fmla="*/ 1835150 w 2051050"/>
                <a:gd name="connsiteY21-1626" fmla="*/ 848033 h 2016804"/>
                <a:gd name="connsiteX22-1627" fmla="*/ 1765300 w 2051050"/>
                <a:gd name="connsiteY22-1628" fmla="*/ 1540183 h 2016804"/>
                <a:gd name="connsiteX23-1629" fmla="*/ 1200150 w 2051050"/>
                <a:gd name="connsiteY23-1630" fmla="*/ 1025833 h 2016804"/>
                <a:gd name="connsiteX24-1631" fmla="*/ 468312 w 2051050"/>
                <a:gd name="connsiteY24-1632" fmla="*/ 636102 h 2016804"/>
                <a:gd name="connsiteX25-1633" fmla="*/ 31750 w 2051050"/>
                <a:gd name="connsiteY25-1634" fmla="*/ 822633 h 2016804"/>
                <a:gd name="connsiteX26-1635" fmla="*/ 0 w 2051050"/>
                <a:gd name="connsiteY26-1636" fmla="*/ 1330633 h 2016804"/>
                <a:gd name="connsiteX27-1637" fmla="*/ 6350 w 2051050"/>
                <a:gd name="connsiteY27-1638" fmla="*/ 1336983 h 2016804"/>
                <a:gd name="connsiteX0-1639" fmla="*/ 1898650 w 2051050"/>
                <a:gd name="connsiteY0-1640" fmla="*/ 487671 h 2016804"/>
                <a:gd name="connsiteX1-1641" fmla="*/ 2051050 w 2051050"/>
                <a:gd name="connsiteY1-1642" fmla="*/ 982971 h 2016804"/>
                <a:gd name="connsiteX2-1643" fmla="*/ 1998663 w 2051050"/>
                <a:gd name="connsiteY2-1644" fmla="*/ 1316346 h 2016804"/>
                <a:gd name="connsiteX3-1645" fmla="*/ 1739900 w 2051050"/>
                <a:gd name="connsiteY3-1646" fmla="*/ 1756083 h 2016804"/>
                <a:gd name="connsiteX4-1647" fmla="*/ 1005912 w 2051050"/>
                <a:gd name="connsiteY4-1648" fmla="*/ 2016804 h 2016804"/>
                <a:gd name="connsiteX5-1649" fmla="*/ 520700 w 2051050"/>
                <a:gd name="connsiteY5-1650" fmla="*/ 1546533 h 2016804"/>
                <a:gd name="connsiteX6-1651" fmla="*/ 304800 w 2051050"/>
                <a:gd name="connsiteY6-1652" fmla="*/ 1229033 h 2016804"/>
                <a:gd name="connsiteX7-1653" fmla="*/ 38100 w 2051050"/>
                <a:gd name="connsiteY7-1654" fmla="*/ 822633 h 2016804"/>
                <a:gd name="connsiteX8-1655" fmla="*/ 254794 w 2051050"/>
                <a:gd name="connsiteY8-1656" fmla="*/ 182870 h 2016804"/>
                <a:gd name="connsiteX9-1657" fmla="*/ 469107 w 2051050"/>
                <a:gd name="connsiteY9-1658" fmla="*/ 637689 h 2016804"/>
                <a:gd name="connsiteX10-1659" fmla="*/ 1193800 w 2051050"/>
                <a:gd name="connsiteY10-1660" fmla="*/ 1025833 h 2016804"/>
                <a:gd name="connsiteX11-1661" fmla="*/ 1185863 w 2051050"/>
                <a:gd name="connsiteY11-1662" fmla="*/ 628165 h 2016804"/>
                <a:gd name="connsiteX12-1663" fmla="*/ 699294 w 2051050"/>
                <a:gd name="connsiteY12-1664" fmla="*/ 192395 h 2016804"/>
                <a:gd name="connsiteX13-1665" fmla="*/ 1169014 w 2051050"/>
                <a:gd name="connsiteY13-1666" fmla="*/ 0 h 2016804"/>
                <a:gd name="connsiteX14-1667" fmla="*/ 697706 w 2051050"/>
                <a:gd name="connsiteY14-1668" fmla="*/ 187633 h 2016804"/>
                <a:gd name="connsiteX15-1669" fmla="*/ 307411 w 2051050"/>
                <a:gd name="connsiteY15-1670" fmla="*/ 1233899 h 2016804"/>
                <a:gd name="connsiteX16-1671" fmla="*/ 400050 w 2051050"/>
                <a:gd name="connsiteY16-1672" fmla="*/ 1686233 h 2016804"/>
                <a:gd name="connsiteX17-1673" fmla="*/ 869950 w 2051050"/>
                <a:gd name="connsiteY17-1674" fmla="*/ 1851333 h 2016804"/>
                <a:gd name="connsiteX18-1675" fmla="*/ 1193800 w 2051050"/>
                <a:gd name="connsiteY18-1676" fmla="*/ 1584633 h 2016804"/>
                <a:gd name="connsiteX19-1677" fmla="*/ 1206500 w 2051050"/>
                <a:gd name="connsiteY19-1678" fmla="*/ 1019483 h 2016804"/>
                <a:gd name="connsiteX20-1679" fmla="*/ 1835150 w 2051050"/>
                <a:gd name="connsiteY20-1680" fmla="*/ 848033 h 2016804"/>
                <a:gd name="connsiteX21-1681" fmla="*/ 1765300 w 2051050"/>
                <a:gd name="connsiteY21-1682" fmla="*/ 1540183 h 2016804"/>
                <a:gd name="connsiteX22-1683" fmla="*/ 1200150 w 2051050"/>
                <a:gd name="connsiteY22-1684" fmla="*/ 1025833 h 2016804"/>
                <a:gd name="connsiteX23-1685" fmla="*/ 468312 w 2051050"/>
                <a:gd name="connsiteY23-1686" fmla="*/ 636102 h 2016804"/>
                <a:gd name="connsiteX24-1687" fmla="*/ 31750 w 2051050"/>
                <a:gd name="connsiteY24-1688" fmla="*/ 822633 h 2016804"/>
                <a:gd name="connsiteX25-1689" fmla="*/ 0 w 2051050"/>
                <a:gd name="connsiteY25-1690" fmla="*/ 1330633 h 2016804"/>
                <a:gd name="connsiteX26-1691" fmla="*/ 6350 w 2051050"/>
                <a:gd name="connsiteY26-1692" fmla="*/ 1336983 h 2016804"/>
                <a:gd name="connsiteX0-1693" fmla="*/ 1898650 w 2051050"/>
                <a:gd name="connsiteY0-1694" fmla="*/ 487671 h 2016804"/>
                <a:gd name="connsiteX1-1695" fmla="*/ 2051050 w 2051050"/>
                <a:gd name="connsiteY1-1696" fmla="*/ 982971 h 2016804"/>
                <a:gd name="connsiteX2-1697" fmla="*/ 1998663 w 2051050"/>
                <a:gd name="connsiteY2-1698" fmla="*/ 1316346 h 2016804"/>
                <a:gd name="connsiteX3-1699" fmla="*/ 1739900 w 2051050"/>
                <a:gd name="connsiteY3-1700" fmla="*/ 1756083 h 2016804"/>
                <a:gd name="connsiteX4-1701" fmla="*/ 1005912 w 2051050"/>
                <a:gd name="connsiteY4-1702" fmla="*/ 2016804 h 2016804"/>
                <a:gd name="connsiteX5-1703" fmla="*/ 520700 w 2051050"/>
                <a:gd name="connsiteY5-1704" fmla="*/ 1546533 h 2016804"/>
                <a:gd name="connsiteX6-1705" fmla="*/ 304800 w 2051050"/>
                <a:gd name="connsiteY6-1706" fmla="*/ 1229033 h 2016804"/>
                <a:gd name="connsiteX7-1707" fmla="*/ 38100 w 2051050"/>
                <a:gd name="connsiteY7-1708" fmla="*/ 822633 h 2016804"/>
                <a:gd name="connsiteX8-1709" fmla="*/ 254794 w 2051050"/>
                <a:gd name="connsiteY8-1710" fmla="*/ 182870 h 2016804"/>
                <a:gd name="connsiteX9-1711" fmla="*/ 469107 w 2051050"/>
                <a:gd name="connsiteY9-1712" fmla="*/ 637689 h 2016804"/>
                <a:gd name="connsiteX10-1713" fmla="*/ 1193800 w 2051050"/>
                <a:gd name="connsiteY10-1714" fmla="*/ 1025833 h 2016804"/>
                <a:gd name="connsiteX11-1715" fmla="*/ 1185863 w 2051050"/>
                <a:gd name="connsiteY11-1716" fmla="*/ 628165 h 2016804"/>
                <a:gd name="connsiteX12-1717" fmla="*/ 699294 w 2051050"/>
                <a:gd name="connsiteY12-1718" fmla="*/ 192395 h 2016804"/>
                <a:gd name="connsiteX13-1719" fmla="*/ 1169014 w 2051050"/>
                <a:gd name="connsiteY13-1720" fmla="*/ 0 h 2016804"/>
                <a:gd name="connsiteX14-1721" fmla="*/ 697706 w 2051050"/>
                <a:gd name="connsiteY14-1722" fmla="*/ 187633 h 2016804"/>
                <a:gd name="connsiteX15-1723" fmla="*/ 307411 w 2051050"/>
                <a:gd name="connsiteY15-1724" fmla="*/ 1233899 h 2016804"/>
                <a:gd name="connsiteX16-1725" fmla="*/ 400050 w 2051050"/>
                <a:gd name="connsiteY16-1726" fmla="*/ 1686233 h 2016804"/>
                <a:gd name="connsiteX17-1727" fmla="*/ 869950 w 2051050"/>
                <a:gd name="connsiteY17-1728" fmla="*/ 1851333 h 2016804"/>
                <a:gd name="connsiteX18-1729" fmla="*/ 1193800 w 2051050"/>
                <a:gd name="connsiteY18-1730" fmla="*/ 1584633 h 2016804"/>
                <a:gd name="connsiteX19-1731" fmla="*/ 1206500 w 2051050"/>
                <a:gd name="connsiteY19-1732" fmla="*/ 1019483 h 2016804"/>
                <a:gd name="connsiteX20-1733" fmla="*/ 1835150 w 2051050"/>
                <a:gd name="connsiteY20-1734" fmla="*/ 848033 h 2016804"/>
                <a:gd name="connsiteX21-1735" fmla="*/ 1765300 w 2051050"/>
                <a:gd name="connsiteY21-1736" fmla="*/ 1540183 h 2016804"/>
                <a:gd name="connsiteX22-1737" fmla="*/ 468312 w 2051050"/>
                <a:gd name="connsiteY22-1738" fmla="*/ 636102 h 2016804"/>
                <a:gd name="connsiteX23-1739" fmla="*/ 31750 w 2051050"/>
                <a:gd name="connsiteY23-1740" fmla="*/ 822633 h 2016804"/>
                <a:gd name="connsiteX24-1741" fmla="*/ 0 w 2051050"/>
                <a:gd name="connsiteY24-1742" fmla="*/ 1330633 h 2016804"/>
                <a:gd name="connsiteX25-1743" fmla="*/ 6350 w 2051050"/>
                <a:gd name="connsiteY25-1744" fmla="*/ 1336983 h 2016804"/>
                <a:gd name="connsiteX0-1745" fmla="*/ 1898650 w 2051050"/>
                <a:gd name="connsiteY0-1746" fmla="*/ 487671 h 2016804"/>
                <a:gd name="connsiteX1-1747" fmla="*/ 2051050 w 2051050"/>
                <a:gd name="connsiteY1-1748" fmla="*/ 982971 h 2016804"/>
                <a:gd name="connsiteX2-1749" fmla="*/ 1998663 w 2051050"/>
                <a:gd name="connsiteY2-1750" fmla="*/ 1316346 h 2016804"/>
                <a:gd name="connsiteX3-1751" fmla="*/ 1739900 w 2051050"/>
                <a:gd name="connsiteY3-1752" fmla="*/ 1756083 h 2016804"/>
                <a:gd name="connsiteX4-1753" fmla="*/ 1005912 w 2051050"/>
                <a:gd name="connsiteY4-1754" fmla="*/ 2016804 h 2016804"/>
                <a:gd name="connsiteX5-1755" fmla="*/ 520700 w 2051050"/>
                <a:gd name="connsiteY5-1756" fmla="*/ 1546533 h 2016804"/>
                <a:gd name="connsiteX6-1757" fmla="*/ 304800 w 2051050"/>
                <a:gd name="connsiteY6-1758" fmla="*/ 1229033 h 2016804"/>
                <a:gd name="connsiteX7-1759" fmla="*/ 38100 w 2051050"/>
                <a:gd name="connsiteY7-1760" fmla="*/ 822633 h 2016804"/>
                <a:gd name="connsiteX8-1761" fmla="*/ 254794 w 2051050"/>
                <a:gd name="connsiteY8-1762" fmla="*/ 182870 h 2016804"/>
                <a:gd name="connsiteX9-1763" fmla="*/ 469107 w 2051050"/>
                <a:gd name="connsiteY9-1764" fmla="*/ 637689 h 2016804"/>
                <a:gd name="connsiteX10-1765" fmla="*/ 1193800 w 2051050"/>
                <a:gd name="connsiteY10-1766" fmla="*/ 1025833 h 2016804"/>
                <a:gd name="connsiteX11-1767" fmla="*/ 1185863 w 2051050"/>
                <a:gd name="connsiteY11-1768" fmla="*/ 628165 h 2016804"/>
                <a:gd name="connsiteX12-1769" fmla="*/ 699294 w 2051050"/>
                <a:gd name="connsiteY12-1770" fmla="*/ 192395 h 2016804"/>
                <a:gd name="connsiteX13-1771" fmla="*/ 1169014 w 2051050"/>
                <a:gd name="connsiteY13-1772" fmla="*/ 0 h 2016804"/>
                <a:gd name="connsiteX14-1773" fmla="*/ 697706 w 2051050"/>
                <a:gd name="connsiteY14-1774" fmla="*/ 187633 h 2016804"/>
                <a:gd name="connsiteX15-1775" fmla="*/ 307411 w 2051050"/>
                <a:gd name="connsiteY15-1776" fmla="*/ 1233899 h 2016804"/>
                <a:gd name="connsiteX16-1777" fmla="*/ 400050 w 2051050"/>
                <a:gd name="connsiteY16-1778" fmla="*/ 1686233 h 2016804"/>
                <a:gd name="connsiteX17-1779" fmla="*/ 869950 w 2051050"/>
                <a:gd name="connsiteY17-1780" fmla="*/ 1851333 h 2016804"/>
                <a:gd name="connsiteX18-1781" fmla="*/ 1193800 w 2051050"/>
                <a:gd name="connsiteY18-1782" fmla="*/ 1584633 h 2016804"/>
                <a:gd name="connsiteX19-1783" fmla="*/ 1835150 w 2051050"/>
                <a:gd name="connsiteY19-1784" fmla="*/ 848033 h 2016804"/>
                <a:gd name="connsiteX20-1785" fmla="*/ 1765300 w 2051050"/>
                <a:gd name="connsiteY20-1786" fmla="*/ 1540183 h 2016804"/>
                <a:gd name="connsiteX21-1787" fmla="*/ 468312 w 2051050"/>
                <a:gd name="connsiteY21-1788" fmla="*/ 636102 h 2016804"/>
                <a:gd name="connsiteX22-1789" fmla="*/ 31750 w 2051050"/>
                <a:gd name="connsiteY22-1790" fmla="*/ 822633 h 2016804"/>
                <a:gd name="connsiteX23-1791" fmla="*/ 0 w 2051050"/>
                <a:gd name="connsiteY23-1792" fmla="*/ 1330633 h 2016804"/>
                <a:gd name="connsiteX24-1793" fmla="*/ 6350 w 2051050"/>
                <a:gd name="connsiteY24-1794" fmla="*/ 1336983 h 2016804"/>
                <a:gd name="connsiteX0-1795" fmla="*/ 1898650 w 2051050"/>
                <a:gd name="connsiteY0-1796" fmla="*/ 487671 h 2016804"/>
                <a:gd name="connsiteX1-1797" fmla="*/ 2051050 w 2051050"/>
                <a:gd name="connsiteY1-1798" fmla="*/ 982971 h 2016804"/>
                <a:gd name="connsiteX2-1799" fmla="*/ 1998663 w 2051050"/>
                <a:gd name="connsiteY2-1800" fmla="*/ 1316346 h 2016804"/>
                <a:gd name="connsiteX3-1801" fmla="*/ 1739900 w 2051050"/>
                <a:gd name="connsiteY3-1802" fmla="*/ 1756083 h 2016804"/>
                <a:gd name="connsiteX4-1803" fmla="*/ 1005912 w 2051050"/>
                <a:gd name="connsiteY4-1804" fmla="*/ 2016804 h 2016804"/>
                <a:gd name="connsiteX5-1805" fmla="*/ 520700 w 2051050"/>
                <a:gd name="connsiteY5-1806" fmla="*/ 1546533 h 2016804"/>
                <a:gd name="connsiteX6-1807" fmla="*/ 304800 w 2051050"/>
                <a:gd name="connsiteY6-1808" fmla="*/ 1229033 h 2016804"/>
                <a:gd name="connsiteX7-1809" fmla="*/ 38100 w 2051050"/>
                <a:gd name="connsiteY7-1810" fmla="*/ 822633 h 2016804"/>
                <a:gd name="connsiteX8-1811" fmla="*/ 254794 w 2051050"/>
                <a:gd name="connsiteY8-1812" fmla="*/ 182870 h 2016804"/>
                <a:gd name="connsiteX9-1813" fmla="*/ 469107 w 2051050"/>
                <a:gd name="connsiteY9-1814" fmla="*/ 637689 h 2016804"/>
                <a:gd name="connsiteX10-1815" fmla="*/ 1193800 w 2051050"/>
                <a:gd name="connsiteY10-1816" fmla="*/ 1025833 h 2016804"/>
                <a:gd name="connsiteX11-1817" fmla="*/ 1185863 w 2051050"/>
                <a:gd name="connsiteY11-1818" fmla="*/ 628165 h 2016804"/>
                <a:gd name="connsiteX12-1819" fmla="*/ 699294 w 2051050"/>
                <a:gd name="connsiteY12-1820" fmla="*/ 192395 h 2016804"/>
                <a:gd name="connsiteX13-1821" fmla="*/ 1169014 w 2051050"/>
                <a:gd name="connsiteY13-1822" fmla="*/ 0 h 2016804"/>
                <a:gd name="connsiteX14-1823" fmla="*/ 697706 w 2051050"/>
                <a:gd name="connsiteY14-1824" fmla="*/ 187633 h 2016804"/>
                <a:gd name="connsiteX15-1825" fmla="*/ 307411 w 2051050"/>
                <a:gd name="connsiteY15-1826" fmla="*/ 1233899 h 2016804"/>
                <a:gd name="connsiteX16-1827" fmla="*/ 400050 w 2051050"/>
                <a:gd name="connsiteY16-1828" fmla="*/ 1686233 h 2016804"/>
                <a:gd name="connsiteX17-1829" fmla="*/ 869950 w 2051050"/>
                <a:gd name="connsiteY17-1830" fmla="*/ 1851333 h 2016804"/>
                <a:gd name="connsiteX18-1831" fmla="*/ 1193800 w 2051050"/>
                <a:gd name="connsiteY18-1832" fmla="*/ 1584633 h 2016804"/>
                <a:gd name="connsiteX19-1833" fmla="*/ 1835150 w 2051050"/>
                <a:gd name="connsiteY19-1834" fmla="*/ 848033 h 2016804"/>
                <a:gd name="connsiteX20-1835" fmla="*/ 468312 w 2051050"/>
                <a:gd name="connsiteY20-1836" fmla="*/ 636102 h 2016804"/>
                <a:gd name="connsiteX21-1837" fmla="*/ 31750 w 2051050"/>
                <a:gd name="connsiteY21-1838" fmla="*/ 822633 h 2016804"/>
                <a:gd name="connsiteX22-1839" fmla="*/ 0 w 2051050"/>
                <a:gd name="connsiteY22-1840" fmla="*/ 1330633 h 2016804"/>
                <a:gd name="connsiteX23-1841" fmla="*/ 6350 w 2051050"/>
                <a:gd name="connsiteY23-1842" fmla="*/ 1336983 h 2016804"/>
                <a:gd name="connsiteX0-1843" fmla="*/ 1898650 w 2051050"/>
                <a:gd name="connsiteY0-1844" fmla="*/ 487671 h 2016804"/>
                <a:gd name="connsiteX1-1845" fmla="*/ 2051050 w 2051050"/>
                <a:gd name="connsiteY1-1846" fmla="*/ 982971 h 2016804"/>
                <a:gd name="connsiteX2-1847" fmla="*/ 1998663 w 2051050"/>
                <a:gd name="connsiteY2-1848" fmla="*/ 1316346 h 2016804"/>
                <a:gd name="connsiteX3-1849" fmla="*/ 1739900 w 2051050"/>
                <a:gd name="connsiteY3-1850" fmla="*/ 1756083 h 2016804"/>
                <a:gd name="connsiteX4-1851" fmla="*/ 1005912 w 2051050"/>
                <a:gd name="connsiteY4-1852" fmla="*/ 2016804 h 2016804"/>
                <a:gd name="connsiteX5-1853" fmla="*/ 520700 w 2051050"/>
                <a:gd name="connsiteY5-1854" fmla="*/ 1546533 h 2016804"/>
                <a:gd name="connsiteX6-1855" fmla="*/ 304800 w 2051050"/>
                <a:gd name="connsiteY6-1856" fmla="*/ 1229033 h 2016804"/>
                <a:gd name="connsiteX7-1857" fmla="*/ 38100 w 2051050"/>
                <a:gd name="connsiteY7-1858" fmla="*/ 822633 h 2016804"/>
                <a:gd name="connsiteX8-1859" fmla="*/ 254794 w 2051050"/>
                <a:gd name="connsiteY8-1860" fmla="*/ 182870 h 2016804"/>
                <a:gd name="connsiteX9-1861" fmla="*/ 469107 w 2051050"/>
                <a:gd name="connsiteY9-1862" fmla="*/ 637689 h 2016804"/>
                <a:gd name="connsiteX10-1863" fmla="*/ 1193800 w 2051050"/>
                <a:gd name="connsiteY10-1864" fmla="*/ 1025833 h 2016804"/>
                <a:gd name="connsiteX11-1865" fmla="*/ 699294 w 2051050"/>
                <a:gd name="connsiteY11-1866" fmla="*/ 192395 h 2016804"/>
                <a:gd name="connsiteX12-1867" fmla="*/ 1169014 w 2051050"/>
                <a:gd name="connsiteY12-1868" fmla="*/ 0 h 2016804"/>
                <a:gd name="connsiteX13-1869" fmla="*/ 697706 w 2051050"/>
                <a:gd name="connsiteY13-1870" fmla="*/ 187633 h 2016804"/>
                <a:gd name="connsiteX14-1871" fmla="*/ 307411 w 2051050"/>
                <a:gd name="connsiteY14-1872" fmla="*/ 1233899 h 2016804"/>
                <a:gd name="connsiteX15-1873" fmla="*/ 400050 w 2051050"/>
                <a:gd name="connsiteY15-1874" fmla="*/ 1686233 h 2016804"/>
                <a:gd name="connsiteX16-1875" fmla="*/ 869950 w 2051050"/>
                <a:gd name="connsiteY16-1876" fmla="*/ 1851333 h 2016804"/>
                <a:gd name="connsiteX17-1877" fmla="*/ 1193800 w 2051050"/>
                <a:gd name="connsiteY17-1878" fmla="*/ 1584633 h 2016804"/>
                <a:gd name="connsiteX18-1879" fmla="*/ 1835150 w 2051050"/>
                <a:gd name="connsiteY18-1880" fmla="*/ 848033 h 2016804"/>
                <a:gd name="connsiteX19-1881" fmla="*/ 468312 w 2051050"/>
                <a:gd name="connsiteY19-1882" fmla="*/ 636102 h 2016804"/>
                <a:gd name="connsiteX20-1883" fmla="*/ 31750 w 2051050"/>
                <a:gd name="connsiteY20-1884" fmla="*/ 822633 h 2016804"/>
                <a:gd name="connsiteX21-1885" fmla="*/ 0 w 2051050"/>
                <a:gd name="connsiteY21-1886" fmla="*/ 1330633 h 2016804"/>
                <a:gd name="connsiteX22-1887" fmla="*/ 6350 w 2051050"/>
                <a:gd name="connsiteY22-1888" fmla="*/ 1336983 h 2016804"/>
                <a:gd name="connsiteX0-1889" fmla="*/ 1898650 w 2051050"/>
                <a:gd name="connsiteY0-1890" fmla="*/ 487671 h 2016804"/>
                <a:gd name="connsiteX1-1891" fmla="*/ 2051050 w 2051050"/>
                <a:gd name="connsiteY1-1892" fmla="*/ 982971 h 2016804"/>
                <a:gd name="connsiteX2-1893" fmla="*/ 1998663 w 2051050"/>
                <a:gd name="connsiteY2-1894" fmla="*/ 1316346 h 2016804"/>
                <a:gd name="connsiteX3-1895" fmla="*/ 1739900 w 2051050"/>
                <a:gd name="connsiteY3-1896" fmla="*/ 1756083 h 2016804"/>
                <a:gd name="connsiteX4-1897" fmla="*/ 1005912 w 2051050"/>
                <a:gd name="connsiteY4-1898" fmla="*/ 2016804 h 2016804"/>
                <a:gd name="connsiteX5-1899" fmla="*/ 520700 w 2051050"/>
                <a:gd name="connsiteY5-1900" fmla="*/ 1546533 h 2016804"/>
                <a:gd name="connsiteX6-1901" fmla="*/ 304800 w 2051050"/>
                <a:gd name="connsiteY6-1902" fmla="*/ 1229033 h 2016804"/>
                <a:gd name="connsiteX7-1903" fmla="*/ 38100 w 2051050"/>
                <a:gd name="connsiteY7-1904" fmla="*/ 822633 h 2016804"/>
                <a:gd name="connsiteX8-1905" fmla="*/ 254794 w 2051050"/>
                <a:gd name="connsiteY8-1906" fmla="*/ 182870 h 2016804"/>
                <a:gd name="connsiteX9-1907" fmla="*/ 469107 w 2051050"/>
                <a:gd name="connsiteY9-1908" fmla="*/ 637689 h 2016804"/>
                <a:gd name="connsiteX10-1909" fmla="*/ 699294 w 2051050"/>
                <a:gd name="connsiteY10-1910" fmla="*/ 192395 h 2016804"/>
                <a:gd name="connsiteX11-1911" fmla="*/ 1169014 w 2051050"/>
                <a:gd name="connsiteY11-1912" fmla="*/ 0 h 2016804"/>
                <a:gd name="connsiteX12-1913" fmla="*/ 697706 w 2051050"/>
                <a:gd name="connsiteY12-1914" fmla="*/ 187633 h 2016804"/>
                <a:gd name="connsiteX13-1915" fmla="*/ 307411 w 2051050"/>
                <a:gd name="connsiteY13-1916" fmla="*/ 1233899 h 2016804"/>
                <a:gd name="connsiteX14-1917" fmla="*/ 400050 w 2051050"/>
                <a:gd name="connsiteY14-1918" fmla="*/ 1686233 h 2016804"/>
                <a:gd name="connsiteX15-1919" fmla="*/ 869950 w 2051050"/>
                <a:gd name="connsiteY15-1920" fmla="*/ 1851333 h 2016804"/>
                <a:gd name="connsiteX16-1921" fmla="*/ 1193800 w 2051050"/>
                <a:gd name="connsiteY16-1922" fmla="*/ 1584633 h 2016804"/>
                <a:gd name="connsiteX17-1923" fmla="*/ 1835150 w 2051050"/>
                <a:gd name="connsiteY17-1924" fmla="*/ 848033 h 2016804"/>
                <a:gd name="connsiteX18-1925" fmla="*/ 468312 w 2051050"/>
                <a:gd name="connsiteY18-1926" fmla="*/ 636102 h 2016804"/>
                <a:gd name="connsiteX19-1927" fmla="*/ 31750 w 2051050"/>
                <a:gd name="connsiteY19-1928" fmla="*/ 822633 h 2016804"/>
                <a:gd name="connsiteX20-1929" fmla="*/ 0 w 2051050"/>
                <a:gd name="connsiteY20-1930" fmla="*/ 1330633 h 2016804"/>
                <a:gd name="connsiteX21-1931" fmla="*/ 6350 w 2051050"/>
                <a:gd name="connsiteY21-1932" fmla="*/ 1336983 h 2016804"/>
                <a:gd name="connsiteX0-1933" fmla="*/ 1898650 w 2051050"/>
                <a:gd name="connsiteY0-1934" fmla="*/ 487671 h 2016804"/>
                <a:gd name="connsiteX1-1935" fmla="*/ 2051050 w 2051050"/>
                <a:gd name="connsiteY1-1936" fmla="*/ 982971 h 2016804"/>
                <a:gd name="connsiteX2-1937" fmla="*/ 1998663 w 2051050"/>
                <a:gd name="connsiteY2-1938" fmla="*/ 1316346 h 2016804"/>
                <a:gd name="connsiteX3-1939" fmla="*/ 1739900 w 2051050"/>
                <a:gd name="connsiteY3-1940" fmla="*/ 1756083 h 2016804"/>
                <a:gd name="connsiteX4-1941" fmla="*/ 1005912 w 2051050"/>
                <a:gd name="connsiteY4-1942" fmla="*/ 2016804 h 2016804"/>
                <a:gd name="connsiteX5-1943" fmla="*/ 304800 w 2051050"/>
                <a:gd name="connsiteY5-1944" fmla="*/ 1229033 h 2016804"/>
                <a:gd name="connsiteX6-1945" fmla="*/ 38100 w 2051050"/>
                <a:gd name="connsiteY6-1946" fmla="*/ 822633 h 2016804"/>
                <a:gd name="connsiteX7-1947" fmla="*/ 254794 w 2051050"/>
                <a:gd name="connsiteY7-1948" fmla="*/ 182870 h 2016804"/>
                <a:gd name="connsiteX8-1949" fmla="*/ 469107 w 2051050"/>
                <a:gd name="connsiteY8-1950" fmla="*/ 637689 h 2016804"/>
                <a:gd name="connsiteX9-1951" fmla="*/ 699294 w 2051050"/>
                <a:gd name="connsiteY9-1952" fmla="*/ 192395 h 2016804"/>
                <a:gd name="connsiteX10-1953" fmla="*/ 1169014 w 2051050"/>
                <a:gd name="connsiteY10-1954" fmla="*/ 0 h 2016804"/>
                <a:gd name="connsiteX11-1955" fmla="*/ 697706 w 2051050"/>
                <a:gd name="connsiteY11-1956" fmla="*/ 187633 h 2016804"/>
                <a:gd name="connsiteX12-1957" fmla="*/ 307411 w 2051050"/>
                <a:gd name="connsiteY12-1958" fmla="*/ 1233899 h 2016804"/>
                <a:gd name="connsiteX13-1959" fmla="*/ 400050 w 2051050"/>
                <a:gd name="connsiteY13-1960" fmla="*/ 1686233 h 2016804"/>
                <a:gd name="connsiteX14-1961" fmla="*/ 869950 w 2051050"/>
                <a:gd name="connsiteY14-1962" fmla="*/ 1851333 h 2016804"/>
                <a:gd name="connsiteX15-1963" fmla="*/ 1193800 w 2051050"/>
                <a:gd name="connsiteY15-1964" fmla="*/ 1584633 h 2016804"/>
                <a:gd name="connsiteX16-1965" fmla="*/ 1835150 w 2051050"/>
                <a:gd name="connsiteY16-1966" fmla="*/ 848033 h 2016804"/>
                <a:gd name="connsiteX17-1967" fmla="*/ 468312 w 2051050"/>
                <a:gd name="connsiteY17-1968" fmla="*/ 636102 h 2016804"/>
                <a:gd name="connsiteX18-1969" fmla="*/ 31750 w 2051050"/>
                <a:gd name="connsiteY18-1970" fmla="*/ 822633 h 2016804"/>
                <a:gd name="connsiteX19-1971" fmla="*/ 0 w 2051050"/>
                <a:gd name="connsiteY19-1972" fmla="*/ 1330633 h 2016804"/>
                <a:gd name="connsiteX20-1973" fmla="*/ 6350 w 2051050"/>
                <a:gd name="connsiteY20-1974" fmla="*/ 1336983 h 2016804"/>
                <a:gd name="connsiteX0-1975" fmla="*/ 1898650 w 2051050"/>
                <a:gd name="connsiteY0-1976" fmla="*/ 487671 h 2016804"/>
                <a:gd name="connsiteX1-1977" fmla="*/ 2051050 w 2051050"/>
                <a:gd name="connsiteY1-1978" fmla="*/ 982971 h 2016804"/>
                <a:gd name="connsiteX2-1979" fmla="*/ 1998663 w 2051050"/>
                <a:gd name="connsiteY2-1980" fmla="*/ 1316346 h 2016804"/>
                <a:gd name="connsiteX3-1981" fmla="*/ 1739900 w 2051050"/>
                <a:gd name="connsiteY3-1982" fmla="*/ 1756083 h 2016804"/>
                <a:gd name="connsiteX4-1983" fmla="*/ 1005912 w 2051050"/>
                <a:gd name="connsiteY4-1984" fmla="*/ 2016804 h 2016804"/>
                <a:gd name="connsiteX5-1985" fmla="*/ 304800 w 2051050"/>
                <a:gd name="connsiteY5-1986" fmla="*/ 1229033 h 2016804"/>
                <a:gd name="connsiteX6-1987" fmla="*/ 38100 w 2051050"/>
                <a:gd name="connsiteY6-1988" fmla="*/ 822633 h 2016804"/>
                <a:gd name="connsiteX7-1989" fmla="*/ 254794 w 2051050"/>
                <a:gd name="connsiteY7-1990" fmla="*/ 182870 h 2016804"/>
                <a:gd name="connsiteX8-1991" fmla="*/ 469107 w 2051050"/>
                <a:gd name="connsiteY8-1992" fmla="*/ 637689 h 2016804"/>
                <a:gd name="connsiteX9-1993" fmla="*/ 699294 w 2051050"/>
                <a:gd name="connsiteY9-1994" fmla="*/ 192395 h 2016804"/>
                <a:gd name="connsiteX10-1995" fmla="*/ 1169014 w 2051050"/>
                <a:gd name="connsiteY10-1996" fmla="*/ 0 h 2016804"/>
                <a:gd name="connsiteX11-1997" fmla="*/ 697706 w 2051050"/>
                <a:gd name="connsiteY11-1998" fmla="*/ 187633 h 2016804"/>
                <a:gd name="connsiteX12-1999" fmla="*/ 307411 w 2051050"/>
                <a:gd name="connsiteY12-2000" fmla="*/ 1233899 h 2016804"/>
                <a:gd name="connsiteX13-2001" fmla="*/ 400050 w 2051050"/>
                <a:gd name="connsiteY13-2002" fmla="*/ 1686233 h 2016804"/>
                <a:gd name="connsiteX14-2003" fmla="*/ 869950 w 2051050"/>
                <a:gd name="connsiteY14-2004" fmla="*/ 1851333 h 2016804"/>
                <a:gd name="connsiteX15-2005" fmla="*/ 1193800 w 2051050"/>
                <a:gd name="connsiteY15-2006" fmla="*/ 1584633 h 2016804"/>
                <a:gd name="connsiteX16-2007" fmla="*/ 1835150 w 2051050"/>
                <a:gd name="connsiteY16-2008" fmla="*/ 848033 h 2016804"/>
                <a:gd name="connsiteX17-2009" fmla="*/ 31750 w 2051050"/>
                <a:gd name="connsiteY17-2010" fmla="*/ 822633 h 2016804"/>
                <a:gd name="connsiteX18-2011" fmla="*/ 0 w 2051050"/>
                <a:gd name="connsiteY18-2012" fmla="*/ 1330633 h 2016804"/>
                <a:gd name="connsiteX19-2013" fmla="*/ 6350 w 2051050"/>
                <a:gd name="connsiteY19-2014" fmla="*/ 1336983 h 2016804"/>
                <a:gd name="connsiteX0-2015" fmla="*/ 1898650 w 2051050"/>
                <a:gd name="connsiteY0-2016" fmla="*/ 487671 h 2016804"/>
                <a:gd name="connsiteX1-2017" fmla="*/ 2051050 w 2051050"/>
                <a:gd name="connsiteY1-2018" fmla="*/ 982971 h 2016804"/>
                <a:gd name="connsiteX2-2019" fmla="*/ 1998663 w 2051050"/>
                <a:gd name="connsiteY2-2020" fmla="*/ 1316346 h 2016804"/>
                <a:gd name="connsiteX3-2021" fmla="*/ 1739900 w 2051050"/>
                <a:gd name="connsiteY3-2022" fmla="*/ 1756083 h 2016804"/>
                <a:gd name="connsiteX4-2023" fmla="*/ 1005912 w 2051050"/>
                <a:gd name="connsiteY4-2024" fmla="*/ 2016804 h 2016804"/>
                <a:gd name="connsiteX5-2025" fmla="*/ 304800 w 2051050"/>
                <a:gd name="connsiteY5-2026" fmla="*/ 1229033 h 2016804"/>
                <a:gd name="connsiteX6-2027" fmla="*/ 38100 w 2051050"/>
                <a:gd name="connsiteY6-2028" fmla="*/ 822633 h 2016804"/>
                <a:gd name="connsiteX7-2029" fmla="*/ 254794 w 2051050"/>
                <a:gd name="connsiteY7-2030" fmla="*/ 182870 h 2016804"/>
                <a:gd name="connsiteX8-2031" fmla="*/ 699294 w 2051050"/>
                <a:gd name="connsiteY8-2032" fmla="*/ 192395 h 2016804"/>
                <a:gd name="connsiteX9-2033" fmla="*/ 1169014 w 2051050"/>
                <a:gd name="connsiteY9-2034" fmla="*/ 0 h 2016804"/>
                <a:gd name="connsiteX10-2035" fmla="*/ 697706 w 2051050"/>
                <a:gd name="connsiteY10-2036" fmla="*/ 187633 h 2016804"/>
                <a:gd name="connsiteX11-2037" fmla="*/ 307411 w 2051050"/>
                <a:gd name="connsiteY11-2038" fmla="*/ 1233899 h 2016804"/>
                <a:gd name="connsiteX12-2039" fmla="*/ 400050 w 2051050"/>
                <a:gd name="connsiteY12-2040" fmla="*/ 1686233 h 2016804"/>
                <a:gd name="connsiteX13-2041" fmla="*/ 869950 w 2051050"/>
                <a:gd name="connsiteY13-2042" fmla="*/ 1851333 h 2016804"/>
                <a:gd name="connsiteX14-2043" fmla="*/ 1193800 w 2051050"/>
                <a:gd name="connsiteY14-2044" fmla="*/ 1584633 h 2016804"/>
                <a:gd name="connsiteX15-2045" fmla="*/ 1835150 w 2051050"/>
                <a:gd name="connsiteY15-2046" fmla="*/ 848033 h 2016804"/>
                <a:gd name="connsiteX16-2047" fmla="*/ 31750 w 2051050"/>
                <a:gd name="connsiteY16-2048" fmla="*/ 822633 h 2016804"/>
                <a:gd name="connsiteX17-2049" fmla="*/ 0 w 2051050"/>
                <a:gd name="connsiteY17-2050" fmla="*/ 1330633 h 2016804"/>
                <a:gd name="connsiteX18-2051" fmla="*/ 6350 w 2051050"/>
                <a:gd name="connsiteY18-2052" fmla="*/ 1336983 h 2016804"/>
                <a:gd name="connsiteX0-2053" fmla="*/ 1898650 w 2051050"/>
                <a:gd name="connsiteY0-2054" fmla="*/ 487671 h 2016804"/>
                <a:gd name="connsiteX1-2055" fmla="*/ 2051050 w 2051050"/>
                <a:gd name="connsiteY1-2056" fmla="*/ 982971 h 2016804"/>
                <a:gd name="connsiteX2-2057" fmla="*/ 1998663 w 2051050"/>
                <a:gd name="connsiteY2-2058" fmla="*/ 1316346 h 2016804"/>
                <a:gd name="connsiteX3-2059" fmla="*/ 1739900 w 2051050"/>
                <a:gd name="connsiteY3-2060" fmla="*/ 1756083 h 2016804"/>
                <a:gd name="connsiteX4-2061" fmla="*/ 1005912 w 2051050"/>
                <a:gd name="connsiteY4-2062" fmla="*/ 2016804 h 2016804"/>
                <a:gd name="connsiteX5-2063" fmla="*/ 304800 w 2051050"/>
                <a:gd name="connsiteY5-2064" fmla="*/ 1229033 h 2016804"/>
                <a:gd name="connsiteX6-2065" fmla="*/ 38100 w 2051050"/>
                <a:gd name="connsiteY6-2066" fmla="*/ 822633 h 2016804"/>
                <a:gd name="connsiteX7-2067" fmla="*/ 254794 w 2051050"/>
                <a:gd name="connsiteY7-2068" fmla="*/ 182870 h 2016804"/>
                <a:gd name="connsiteX8-2069" fmla="*/ 699294 w 2051050"/>
                <a:gd name="connsiteY8-2070" fmla="*/ 192395 h 2016804"/>
                <a:gd name="connsiteX9-2071" fmla="*/ 1169014 w 2051050"/>
                <a:gd name="connsiteY9-2072" fmla="*/ 0 h 2016804"/>
                <a:gd name="connsiteX10-2073" fmla="*/ 697706 w 2051050"/>
                <a:gd name="connsiteY10-2074" fmla="*/ 187633 h 2016804"/>
                <a:gd name="connsiteX11-2075" fmla="*/ 307411 w 2051050"/>
                <a:gd name="connsiteY11-2076" fmla="*/ 1233899 h 2016804"/>
                <a:gd name="connsiteX12-2077" fmla="*/ 400050 w 2051050"/>
                <a:gd name="connsiteY12-2078" fmla="*/ 1686233 h 2016804"/>
                <a:gd name="connsiteX13-2079" fmla="*/ 869950 w 2051050"/>
                <a:gd name="connsiteY13-2080" fmla="*/ 1851333 h 2016804"/>
                <a:gd name="connsiteX14-2081" fmla="*/ 1193800 w 2051050"/>
                <a:gd name="connsiteY14-2082" fmla="*/ 1584633 h 2016804"/>
                <a:gd name="connsiteX15-2083" fmla="*/ 1835150 w 2051050"/>
                <a:gd name="connsiteY15-2084" fmla="*/ 848033 h 2016804"/>
                <a:gd name="connsiteX16-2085" fmla="*/ 799500 w 2051050"/>
                <a:gd name="connsiteY16-2086" fmla="*/ 1357546 h 2016804"/>
                <a:gd name="connsiteX17-2087" fmla="*/ 31750 w 2051050"/>
                <a:gd name="connsiteY17-2088" fmla="*/ 822633 h 2016804"/>
                <a:gd name="connsiteX18-2089" fmla="*/ 0 w 2051050"/>
                <a:gd name="connsiteY18-2090" fmla="*/ 1330633 h 2016804"/>
                <a:gd name="connsiteX19-2091" fmla="*/ 6350 w 2051050"/>
                <a:gd name="connsiteY19-2092" fmla="*/ 1336983 h 2016804"/>
                <a:gd name="connsiteX0-2093" fmla="*/ 1898650 w 2051050"/>
                <a:gd name="connsiteY0-2094" fmla="*/ 487671 h 2016804"/>
                <a:gd name="connsiteX1-2095" fmla="*/ 2051050 w 2051050"/>
                <a:gd name="connsiteY1-2096" fmla="*/ 982971 h 2016804"/>
                <a:gd name="connsiteX2-2097" fmla="*/ 1998663 w 2051050"/>
                <a:gd name="connsiteY2-2098" fmla="*/ 1316346 h 2016804"/>
                <a:gd name="connsiteX3-2099" fmla="*/ 1739900 w 2051050"/>
                <a:gd name="connsiteY3-2100" fmla="*/ 1756083 h 2016804"/>
                <a:gd name="connsiteX4-2101" fmla="*/ 1005912 w 2051050"/>
                <a:gd name="connsiteY4-2102" fmla="*/ 2016804 h 2016804"/>
                <a:gd name="connsiteX5-2103" fmla="*/ 304800 w 2051050"/>
                <a:gd name="connsiteY5-2104" fmla="*/ 1229033 h 2016804"/>
                <a:gd name="connsiteX6-2105" fmla="*/ 38100 w 2051050"/>
                <a:gd name="connsiteY6-2106" fmla="*/ 822633 h 2016804"/>
                <a:gd name="connsiteX7-2107" fmla="*/ 254794 w 2051050"/>
                <a:gd name="connsiteY7-2108" fmla="*/ 182870 h 2016804"/>
                <a:gd name="connsiteX8-2109" fmla="*/ 699294 w 2051050"/>
                <a:gd name="connsiteY8-2110" fmla="*/ 192395 h 2016804"/>
                <a:gd name="connsiteX9-2111" fmla="*/ 1169014 w 2051050"/>
                <a:gd name="connsiteY9-2112" fmla="*/ 0 h 2016804"/>
                <a:gd name="connsiteX10-2113" fmla="*/ 697706 w 2051050"/>
                <a:gd name="connsiteY10-2114" fmla="*/ 187633 h 2016804"/>
                <a:gd name="connsiteX11-2115" fmla="*/ 307411 w 2051050"/>
                <a:gd name="connsiteY11-2116" fmla="*/ 1233899 h 2016804"/>
                <a:gd name="connsiteX12-2117" fmla="*/ 400050 w 2051050"/>
                <a:gd name="connsiteY12-2118" fmla="*/ 1686233 h 2016804"/>
                <a:gd name="connsiteX13-2119" fmla="*/ 869950 w 2051050"/>
                <a:gd name="connsiteY13-2120" fmla="*/ 1851333 h 2016804"/>
                <a:gd name="connsiteX14-2121" fmla="*/ 1193800 w 2051050"/>
                <a:gd name="connsiteY14-2122" fmla="*/ 1584633 h 2016804"/>
                <a:gd name="connsiteX15-2123" fmla="*/ 1835150 w 2051050"/>
                <a:gd name="connsiteY15-2124" fmla="*/ 848033 h 2016804"/>
                <a:gd name="connsiteX16-2125" fmla="*/ 799500 w 2051050"/>
                <a:gd name="connsiteY16-2126" fmla="*/ 1357546 h 2016804"/>
                <a:gd name="connsiteX17-2127" fmla="*/ 31750 w 2051050"/>
                <a:gd name="connsiteY17-2128" fmla="*/ 822633 h 2016804"/>
                <a:gd name="connsiteX18-2129" fmla="*/ 0 w 2051050"/>
                <a:gd name="connsiteY18-2130" fmla="*/ 1330633 h 2016804"/>
                <a:gd name="connsiteX19-2131" fmla="*/ 6350 w 2051050"/>
                <a:gd name="connsiteY19-2132" fmla="*/ 1336983 h 2016804"/>
                <a:gd name="connsiteX0-2133" fmla="*/ 1898650 w 2051050"/>
                <a:gd name="connsiteY0-2134" fmla="*/ 487671 h 2016804"/>
                <a:gd name="connsiteX1-2135" fmla="*/ 2051050 w 2051050"/>
                <a:gd name="connsiteY1-2136" fmla="*/ 982971 h 2016804"/>
                <a:gd name="connsiteX2-2137" fmla="*/ 1998663 w 2051050"/>
                <a:gd name="connsiteY2-2138" fmla="*/ 1316346 h 2016804"/>
                <a:gd name="connsiteX3-2139" fmla="*/ 1739900 w 2051050"/>
                <a:gd name="connsiteY3-2140" fmla="*/ 1756083 h 2016804"/>
                <a:gd name="connsiteX4-2141" fmla="*/ 1005912 w 2051050"/>
                <a:gd name="connsiteY4-2142" fmla="*/ 2016804 h 2016804"/>
                <a:gd name="connsiteX5-2143" fmla="*/ 304800 w 2051050"/>
                <a:gd name="connsiteY5-2144" fmla="*/ 1229033 h 2016804"/>
                <a:gd name="connsiteX6-2145" fmla="*/ 38100 w 2051050"/>
                <a:gd name="connsiteY6-2146" fmla="*/ 822633 h 2016804"/>
                <a:gd name="connsiteX7-2147" fmla="*/ 254794 w 2051050"/>
                <a:gd name="connsiteY7-2148" fmla="*/ 182870 h 2016804"/>
                <a:gd name="connsiteX8-2149" fmla="*/ 699294 w 2051050"/>
                <a:gd name="connsiteY8-2150" fmla="*/ 192395 h 2016804"/>
                <a:gd name="connsiteX9-2151" fmla="*/ 1169014 w 2051050"/>
                <a:gd name="connsiteY9-2152" fmla="*/ 0 h 2016804"/>
                <a:gd name="connsiteX10-2153" fmla="*/ 697706 w 2051050"/>
                <a:gd name="connsiteY10-2154" fmla="*/ 187633 h 2016804"/>
                <a:gd name="connsiteX11-2155" fmla="*/ 307411 w 2051050"/>
                <a:gd name="connsiteY11-2156" fmla="*/ 1233899 h 2016804"/>
                <a:gd name="connsiteX12-2157" fmla="*/ 400050 w 2051050"/>
                <a:gd name="connsiteY12-2158" fmla="*/ 1686233 h 2016804"/>
                <a:gd name="connsiteX13-2159" fmla="*/ 869950 w 2051050"/>
                <a:gd name="connsiteY13-2160" fmla="*/ 1851333 h 2016804"/>
                <a:gd name="connsiteX14-2161" fmla="*/ 1193800 w 2051050"/>
                <a:gd name="connsiteY14-2162" fmla="*/ 1584633 h 2016804"/>
                <a:gd name="connsiteX15-2163" fmla="*/ 1835150 w 2051050"/>
                <a:gd name="connsiteY15-2164" fmla="*/ 848033 h 2016804"/>
                <a:gd name="connsiteX16-2165" fmla="*/ 799500 w 2051050"/>
                <a:gd name="connsiteY16-2166" fmla="*/ 1357546 h 2016804"/>
                <a:gd name="connsiteX17-2167" fmla="*/ 31750 w 2051050"/>
                <a:gd name="connsiteY17-2168" fmla="*/ 822633 h 2016804"/>
                <a:gd name="connsiteX18-2169" fmla="*/ 0 w 2051050"/>
                <a:gd name="connsiteY18-2170" fmla="*/ 1330633 h 2016804"/>
                <a:gd name="connsiteX19-2171" fmla="*/ 6350 w 2051050"/>
                <a:gd name="connsiteY19-2172" fmla="*/ 1336983 h 2016804"/>
                <a:gd name="connsiteX0-2173" fmla="*/ 1898650 w 2051050"/>
                <a:gd name="connsiteY0-2174" fmla="*/ 487671 h 2016804"/>
                <a:gd name="connsiteX1-2175" fmla="*/ 2051050 w 2051050"/>
                <a:gd name="connsiteY1-2176" fmla="*/ 982971 h 2016804"/>
                <a:gd name="connsiteX2-2177" fmla="*/ 1998663 w 2051050"/>
                <a:gd name="connsiteY2-2178" fmla="*/ 1316346 h 2016804"/>
                <a:gd name="connsiteX3-2179" fmla="*/ 1739900 w 2051050"/>
                <a:gd name="connsiteY3-2180" fmla="*/ 1756083 h 2016804"/>
                <a:gd name="connsiteX4-2181" fmla="*/ 1005912 w 2051050"/>
                <a:gd name="connsiteY4-2182" fmla="*/ 2016804 h 2016804"/>
                <a:gd name="connsiteX5-2183" fmla="*/ 304800 w 2051050"/>
                <a:gd name="connsiteY5-2184" fmla="*/ 1229033 h 2016804"/>
                <a:gd name="connsiteX6-2185" fmla="*/ 38100 w 2051050"/>
                <a:gd name="connsiteY6-2186" fmla="*/ 822633 h 2016804"/>
                <a:gd name="connsiteX7-2187" fmla="*/ 254794 w 2051050"/>
                <a:gd name="connsiteY7-2188" fmla="*/ 182870 h 2016804"/>
                <a:gd name="connsiteX8-2189" fmla="*/ 699294 w 2051050"/>
                <a:gd name="connsiteY8-2190" fmla="*/ 192395 h 2016804"/>
                <a:gd name="connsiteX9-2191" fmla="*/ 1169014 w 2051050"/>
                <a:gd name="connsiteY9-2192" fmla="*/ 0 h 2016804"/>
                <a:gd name="connsiteX10-2193" fmla="*/ 697706 w 2051050"/>
                <a:gd name="connsiteY10-2194" fmla="*/ 187633 h 2016804"/>
                <a:gd name="connsiteX11-2195" fmla="*/ 307411 w 2051050"/>
                <a:gd name="connsiteY11-2196" fmla="*/ 1233899 h 2016804"/>
                <a:gd name="connsiteX12-2197" fmla="*/ 400050 w 2051050"/>
                <a:gd name="connsiteY12-2198" fmla="*/ 1686233 h 2016804"/>
                <a:gd name="connsiteX13-2199" fmla="*/ 869950 w 2051050"/>
                <a:gd name="connsiteY13-2200" fmla="*/ 1851333 h 2016804"/>
                <a:gd name="connsiteX14-2201" fmla="*/ 1835150 w 2051050"/>
                <a:gd name="connsiteY14-2202" fmla="*/ 848033 h 2016804"/>
                <a:gd name="connsiteX15-2203" fmla="*/ 799500 w 2051050"/>
                <a:gd name="connsiteY15-2204" fmla="*/ 1357546 h 2016804"/>
                <a:gd name="connsiteX16-2205" fmla="*/ 31750 w 2051050"/>
                <a:gd name="connsiteY16-2206" fmla="*/ 822633 h 2016804"/>
                <a:gd name="connsiteX17-2207" fmla="*/ 0 w 2051050"/>
                <a:gd name="connsiteY17-2208" fmla="*/ 1330633 h 2016804"/>
                <a:gd name="connsiteX18-2209" fmla="*/ 6350 w 2051050"/>
                <a:gd name="connsiteY18-2210" fmla="*/ 1336983 h 2016804"/>
                <a:gd name="connsiteX0-2211" fmla="*/ 1898650 w 2051050"/>
                <a:gd name="connsiteY0-2212" fmla="*/ 487671 h 2016804"/>
                <a:gd name="connsiteX1-2213" fmla="*/ 2051050 w 2051050"/>
                <a:gd name="connsiteY1-2214" fmla="*/ 982971 h 2016804"/>
                <a:gd name="connsiteX2-2215" fmla="*/ 1998663 w 2051050"/>
                <a:gd name="connsiteY2-2216" fmla="*/ 1316346 h 2016804"/>
                <a:gd name="connsiteX3-2217" fmla="*/ 1739900 w 2051050"/>
                <a:gd name="connsiteY3-2218" fmla="*/ 1756083 h 2016804"/>
                <a:gd name="connsiteX4-2219" fmla="*/ 1005912 w 2051050"/>
                <a:gd name="connsiteY4-2220" fmla="*/ 2016804 h 2016804"/>
                <a:gd name="connsiteX5-2221" fmla="*/ 304800 w 2051050"/>
                <a:gd name="connsiteY5-2222" fmla="*/ 1229033 h 2016804"/>
                <a:gd name="connsiteX6-2223" fmla="*/ 38100 w 2051050"/>
                <a:gd name="connsiteY6-2224" fmla="*/ 822633 h 2016804"/>
                <a:gd name="connsiteX7-2225" fmla="*/ 254794 w 2051050"/>
                <a:gd name="connsiteY7-2226" fmla="*/ 182870 h 2016804"/>
                <a:gd name="connsiteX8-2227" fmla="*/ 699294 w 2051050"/>
                <a:gd name="connsiteY8-2228" fmla="*/ 192395 h 2016804"/>
                <a:gd name="connsiteX9-2229" fmla="*/ 1169014 w 2051050"/>
                <a:gd name="connsiteY9-2230" fmla="*/ 0 h 2016804"/>
                <a:gd name="connsiteX10-2231" fmla="*/ 697706 w 2051050"/>
                <a:gd name="connsiteY10-2232" fmla="*/ 187633 h 2016804"/>
                <a:gd name="connsiteX11-2233" fmla="*/ 307411 w 2051050"/>
                <a:gd name="connsiteY11-2234" fmla="*/ 1233899 h 2016804"/>
                <a:gd name="connsiteX12-2235" fmla="*/ 400050 w 2051050"/>
                <a:gd name="connsiteY12-2236" fmla="*/ 1686233 h 2016804"/>
                <a:gd name="connsiteX13-2237" fmla="*/ 1835150 w 2051050"/>
                <a:gd name="connsiteY13-2238" fmla="*/ 848033 h 2016804"/>
                <a:gd name="connsiteX14-2239" fmla="*/ 799500 w 2051050"/>
                <a:gd name="connsiteY14-2240" fmla="*/ 1357546 h 2016804"/>
                <a:gd name="connsiteX15-2241" fmla="*/ 31750 w 2051050"/>
                <a:gd name="connsiteY15-2242" fmla="*/ 822633 h 2016804"/>
                <a:gd name="connsiteX16-2243" fmla="*/ 0 w 2051050"/>
                <a:gd name="connsiteY16-2244" fmla="*/ 1330633 h 2016804"/>
                <a:gd name="connsiteX17-2245" fmla="*/ 6350 w 2051050"/>
                <a:gd name="connsiteY17-2246" fmla="*/ 1336983 h 2016804"/>
                <a:gd name="connsiteX0-2247" fmla="*/ 1898650 w 2051050"/>
                <a:gd name="connsiteY0-2248" fmla="*/ 487671 h 2016804"/>
                <a:gd name="connsiteX1-2249" fmla="*/ 2051050 w 2051050"/>
                <a:gd name="connsiteY1-2250" fmla="*/ 982971 h 2016804"/>
                <a:gd name="connsiteX2-2251" fmla="*/ 1998663 w 2051050"/>
                <a:gd name="connsiteY2-2252" fmla="*/ 1316346 h 2016804"/>
                <a:gd name="connsiteX3-2253" fmla="*/ 1739900 w 2051050"/>
                <a:gd name="connsiteY3-2254" fmla="*/ 1756083 h 2016804"/>
                <a:gd name="connsiteX4-2255" fmla="*/ 1005912 w 2051050"/>
                <a:gd name="connsiteY4-2256" fmla="*/ 2016804 h 2016804"/>
                <a:gd name="connsiteX5-2257" fmla="*/ 304800 w 2051050"/>
                <a:gd name="connsiteY5-2258" fmla="*/ 1229033 h 2016804"/>
                <a:gd name="connsiteX6-2259" fmla="*/ 38100 w 2051050"/>
                <a:gd name="connsiteY6-2260" fmla="*/ 822633 h 2016804"/>
                <a:gd name="connsiteX7-2261" fmla="*/ 254794 w 2051050"/>
                <a:gd name="connsiteY7-2262" fmla="*/ 182870 h 2016804"/>
                <a:gd name="connsiteX8-2263" fmla="*/ 699294 w 2051050"/>
                <a:gd name="connsiteY8-2264" fmla="*/ 192395 h 2016804"/>
                <a:gd name="connsiteX9-2265" fmla="*/ 1169014 w 2051050"/>
                <a:gd name="connsiteY9-2266" fmla="*/ 0 h 2016804"/>
                <a:gd name="connsiteX10-2267" fmla="*/ 697706 w 2051050"/>
                <a:gd name="connsiteY10-2268" fmla="*/ 187633 h 2016804"/>
                <a:gd name="connsiteX11-2269" fmla="*/ 307411 w 2051050"/>
                <a:gd name="connsiteY11-2270" fmla="*/ 1233899 h 2016804"/>
                <a:gd name="connsiteX12-2271" fmla="*/ 400050 w 2051050"/>
                <a:gd name="connsiteY12-2272" fmla="*/ 1686233 h 2016804"/>
                <a:gd name="connsiteX13-2273" fmla="*/ 1835150 w 2051050"/>
                <a:gd name="connsiteY13-2274" fmla="*/ 848033 h 2016804"/>
                <a:gd name="connsiteX14-2275" fmla="*/ 31750 w 2051050"/>
                <a:gd name="connsiteY14-2276" fmla="*/ 822633 h 2016804"/>
                <a:gd name="connsiteX15-2277" fmla="*/ 0 w 2051050"/>
                <a:gd name="connsiteY15-2278" fmla="*/ 1330633 h 2016804"/>
                <a:gd name="connsiteX16-2279" fmla="*/ 6350 w 2051050"/>
                <a:gd name="connsiteY16-2280" fmla="*/ 1336983 h 2016804"/>
                <a:gd name="connsiteX0-2281" fmla="*/ 1898650 w 2051050"/>
                <a:gd name="connsiteY0-2282" fmla="*/ 487671 h 2016804"/>
                <a:gd name="connsiteX1-2283" fmla="*/ 2051050 w 2051050"/>
                <a:gd name="connsiteY1-2284" fmla="*/ 982971 h 2016804"/>
                <a:gd name="connsiteX2-2285" fmla="*/ 1998663 w 2051050"/>
                <a:gd name="connsiteY2-2286" fmla="*/ 1316346 h 2016804"/>
                <a:gd name="connsiteX3-2287" fmla="*/ 1739900 w 2051050"/>
                <a:gd name="connsiteY3-2288" fmla="*/ 1756083 h 2016804"/>
                <a:gd name="connsiteX4-2289" fmla="*/ 1005912 w 2051050"/>
                <a:gd name="connsiteY4-2290" fmla="*/ 2016804 h 2016804"/>
                <a:gd name="connsiteX5-2291" fmla="*/ 304800 w 2051050"/>
                <a:gd name="connsiteY5-2292" fmla="*/ 1229033 h 2016804"/>
                <a:gd name="connsiteX6-2293" fmla="*/ 38100 w 2051050"/>
                <a:gd name="connsiteY6-2294" fmla="*/ 822633 h 2016804"/>
                <a:gd name="connsiteX7-2295" fmla="*/ 254794 w 2051050"/>
                <a:gd name="connsiteY7-2296" fmla="*/ 182870 h 2016804"/>
                <a:gd name="connsiteX8-2297" fmla="*/ 699294 w 2051050"/>
                <a:gd name="connsiteY8-2298" fmla="*/ 192395 h 2016804"/>
                <a:gd name="connsiteX9-2299" fmla="*/ 1169014 w 2051050"/>
                <a:gd name="connsiteY9-2300" fmla="*/ 0 h 2016804"/>
                <a:gd name="connsiteX10-2301" fmla="*/ 697706 w 2051050"/>
                <a:gd name="connsiteY10-2302" fmla="*/ 187633 h 2016804"/>
                <a:gd name="connsiteX11-2303" fmla="*/ 307411 w 2051050"/>
                <a:gd name="connsiteY11-2304" fmla="*/ 1233899 h 2016804"/>
                <a:gd name="connsiteX12-2305" fmla="*/ 400050 w 2051050"/>
                <a:gd name="connsiteY12-2306" fmla="*/ 1686233 h 2016804"/>
                <a:gd name="connsiteX13-2307" fmla="*/ 1835150 w 2051050"/>
                <a:gd name="connsiteY13-2308" fmla="*/ 848033 h 2016804"/>
                <a:gd name="connsiteX14-2309" fmla="*/ 31750 w 2051050"/>
                <a:gd name="connsiteY14-2310" fmla="*/ 822633 h 2016804"/>
                <a:gd name="connsiteX15-2311" fmla="*/ 0 w 2051050"/>
                <a:gd name="connsiteY15-2312" fmla="*/ 1330633 h 2016804"/>
                <a:gd name="connsiteX16-2313" fmla="*/ 6350 w 2051050"/>
                <a:gd name="connsiteY16-2314" fmla="*/ 1336983 h 2016804"/>
                <a:gd name="connsiteX0-2315" fmla="*/ 1898650 w 2051050"/>
                <a:gd name="connsiteY0-2316" fmla="*/ 487671 h 2016804"/>
                <a:gd name="connsiteX1-2317" fmla="*/ 2051050 w 2051050"/>
                <a:gd name="connsiteY1-2318" fmla="*/ 982971 h 2016804"/>
                <a:gd name="connsiteX2-2319" fmla="*/ 1998663 w 2051050"/>
                <a:gd name="connsiteY2-2320" fmla="*/ 1316346 h 2016804"/>
                <a:gd name="connsiteX3-2321" fmla="*/ 1739900 w 2051050"/>
                <a:gd name="connsiteY3-2322" fmla="*/ 1756083 h 2016804"/>
                <a:gd name="connsiteX4-2323" fmla="*/ 1005912 w 2051050"/>
                <a:gd name="connsiteY4-2324" fmla="*/ 2016804 h 2016804"/>
                <a:gd name="connsiteX5-2325" fmla="*/ 304800 w 2051050"/>
                <a:gd name="connsiteY5-2326" fmla="*/ 1229033 h 2016804"/>
                <a:gd name="connsiteX6-2327" fmla="*/ 38100 w 2051050"/>
                <a:gd name="connsiteY6-2328" fmla="*/ 822633 h 2016804"/>
                <a:gd name="connsiteX7-2329" fmla="*/ 254794 w 2051050"/>
                <a:gd name="connsiteY7-2330" fmla="*/ 182870 h 2016804"/>
                <a:gd name="connsiteX8-2331" fmla="*/ 699294 w 2051050"/>
                <a:gd name="connsiteY8-2332" fmla="*/ 192395 h 2016804"/>
                <a:gd name="connsiteX9-2333" fmla="*/ 1169014 w 2051050"/>
                <a:gd name="connsiteY9-2334" fmla="*/ 0 h 2016804"/>
                <a:gd name="connsiteX10-2335" fmla="*/ 697706 w 2051050"/>
                <a:gd name="connsiteY10-2336" fmla="*/ 187633 h 2016804"/>
                <a:gd name="connsiteX11-2337" fmla="*/ 307411 w 2051050"/>
                <a:gd name="connsiteY11-2338" fmla="*/ 1233899 h 2016804"/>
                <a:gd name="connsiteX12-2339" fmla="*/ 400050 w 2051050"/>
                <a:gd name="connsiteY12-2340" fmla="*/ 1686233 h 2016804"/>
                <a:gd name="connsiteX13-2341" fmla="*/ 1835150 w 2051050"/>
                <a:gd name="connsiteY13-2342" fmla="*/ 848033 h 2016804"/>
                <a:gd name="connsiteX14-2343" fmla="*/ 31750 w 2051050"/>
                <a:gd name="connsiteY14-2344" fmla="*/ 822633 h 2016804"/>
                <a:gd name="connsiteX15-2345" fmla="*/ 0 w 2051050"/>
                <a:gd name="connsiteY15-2346" fmla="*/ 1330633 h 2016804"/>
                <a:gd name="connsiteX16-2347" fmla="*/ 6350 w 2051050"/>
                <a:gd name="connsiteY16-2348" fmla="*/ 1336983 h 2016804"/>
                <a:gd name="connsiteX0-2349" fmla="*/ 1898650 w 2051050"/>
                <a:gd name="connsiteY0-2350" fmla="*/ 487671 h 2016804"/>
                <a:gd name="connsiteX1-2351" fmla="*/ 2051050 w 2051050"/>
                <a:gd name="connsiteY1-2352" fmla="*/ 982971 h 2016804"/>
                <a:gd name="connsiteX2-2353" fmla="*/ 1998663 w 2051050"/>
                <a:gd name="connsiteY2-2354" fmla="*/ 1316346 h 2016804"/>
                <a:gd name="connsiteX3-2355" fmla="*/ 1739900 w 2051050"/>
                <a:gd name="connsiteY3-2356" fmla="*/ 1756083 h 2016804"/>
                <a:gd name="connsiteX4-2357" fmla="*/ 1005912 w 2051050"/>
                <a:gd name="connsiteY4-2358" fmla="*/ 2016804 h 2016804"/>
                <a:gd name="connsiteX5-2359" fmla="*/ 304800 w 2051050"/>
                <a:gd name="connsiteY5-2360" fmla="*/ 1229033 h 2016804"/>
                <a:gd name="connsiteX6-2361" fmla="*/ 38100 w 2051050"/>
                <a:gd name="connsiteY6-2362" fmla="*/ 822633 h 2016804"/>
                <a:gd name="connsiteX7-2363" fmla="*/ 254794 w 2051050"/>
                <a:gd name="connsiteY7-2364" fmla="*/ 182870 h 2016804"/>
                <a:gd name="connsiteX8-2365" fmla="*/ 699294 w 2051050"/>
                <a:gd name="connsiteY8-2366" fmla="*/ 192395 h 2016804"/>
                <a:gd name="connsiteX9-2367" fmla="*/ 1169014 w 2051050"/>
                <a:gd name="connsiteY9-2368" fmla="*/ 0 h 2016804"/>
                <a:gd name="connsiteX10-2369" fmla="*/ 697706 w 2051050"/>
                <a:gd name="connsiteY10-2370" fmla="*/ 187633 h 2016804"/>
                <a:gd name="connsiteX11-2371" fmla="*/ 307411 w 2051050"/>
                <a:gd name="connsiteY11-2372" fmla="*/ 1233899 h 2016804"/>
                <a:gd name="connsiteX12-2373" fmla="*/ 400050 w 2051050"/>
                <a:gd name="connsiteY12-2374" fmla="*/ 1686233 h 2016804"/>
                <a:gd name="connsiteX13-2375" fmla="*/ 31750 w 2051050"/>
                <a:gd name="connsiteY13-2376" fmla="*/ 822633 h 2016804"/>
                <a:gd name="connsiteX14-2377" fmla="*/ 0 w 2051050"/>
                <a:gd name="connsiteY14-2378" fmla="*/ 1330633 h 2016804"/>
                <a:gd name="connsiteX15-2379" fmla="*/ 6350 w 2051050"/>
                <a:gd name="connsiteY15-2380" fmla="*/ 1336983 h 2016804"/>
                <a:gd name="connsiteX0-2381" fmla="*/ 1898650 w 2051050"/>
                <a:gd name="connsiteY0-2382" fmla="*/ 487671 h 2016804"/>
                <a:gd name="connsiteX1-2383" fmla="*/ 2051050 w 2051050"/>
                <a:gd name="connsiteY1-2384" fmla="*/ 982971 h 2016804"/>
                <a:gd name="connsiteX2-2385" fmla="*/ 1998663 w 2051050"/>
                <a:gd name="connsiteY2-2386" fmla="*/ 1316346 h 2016804"/>
                <a:gd name="connsiteX3-2387" fmla="*/ 1739900 w 2051050"/>
                <a:gd name="connsiteY3-2388" fmla="*/ 1756083 h 2016804"/>
                <a:gd name="connsiteX4-2389" fmla="*/ 1005912 w 2051050"/>
                <a:gd name="connsiteY4-2390" fmla="*/ 2016804 h 2016804"/>
                <a:gd name="connsiteX5-2391" fmla="*/ 304800 w 2051050"/>
                <a:gd name="connsiteY5-2392" fmla="*/ 1229033 h 2016804"/>
                <a:gd name="connsiteX6-2393" fmla="*/ 38100 w 2051050"/>
                <a:gd name="connsiteY6-2394" fmla="*/ 822633 h 2016804"/>
                <a:gd name="connsiteX7-2395" fmla="*/ 254794 w 2051050"/>
                <a:gd name="connsiteY7-2396" fmla="*/ 182870 h 2016804"/>
                <a:gd name="connsiteX8-2397" fmla="*/ 699294 w 2051050"/>
                <a:gd name="connsiteY8-2398" fmla="*/ 192395 h 2016804"/>
                <a:gd name="connsiteX9-2399" fmla="*/ 1169014 w 2051050"/>
                <a:gd name="connsiteY9-2400" fmla="*/ 0 h 2016804"/>
                <a:gd name="connsiteX10-2401" fmla="*/ 697706 w 2051050"/>
                <a:gd name="connsiteY10-2402" fmla="*/ 187633 h 2016804"/>
                <a:gd name="connsiteX11-2403" fmla="*/ 400050 w 2051050"/>
                <a:gd name="connsiteY11-2404" fmla="*/ 1686233 h 2016804"/>
                <a:gd name="connsiteX12-2405" fmla="*/ 31750 w 2051050"/>
                <a:gd name="connsiteY12-2406" fmla="*/ 822633 h 2016804"/>
                <a:gd name="connsiteX13-2407" fmla="*/ 0 w 2051050"/>
                <a:gd name="connsiteY13-2408" fmla="*/ 1330633 h 2016804"/>
                <a:gd name="connsiteX14-2409" fmla="*/ 6350 w 2051050"/>
                <a:gd name="connsiteY14-2410" fmla="*/ 1336983 h 2016804"/>
                <a:gd name="connsiteX0-2411" fmla="*/ 1898650 w 2051050"/>
                <a:gd name="connsiteY0-2412" fmla="*/ 487671 h 2016804"/>
                <a:gd name="connsiteX1-2413" fmla="*/ 2051050 w 2051050"/>
                <a:gd name="connsiteY1-2414" fmla="*/ 982971 h 2016804"/>
                <a:gd name="connsiteX2-2415" fmla="*/ 1998663 w 2051050"/>
                <a:gd name="connsiteY2-2416" fmla="*/ 1316346 h 2016804"/>
                <a:gd name="connsiteX3-2417" fmla="*/ 1739900 w 2051050"/>
                <a:gd name="connsiteY3-2418" fmla="*/ 1756083 h 2016804"/>
                <a:gd name="connsiteX4-2419" fmla="*/ 1005912 w 2051050"/>
                <a:gd name="connsiteY4-2420" fmla="*/ 2016804 h 2016804"/>
                <a:gd name="connsiteX5-2421" fmla="*/ 304800 w 2051050"/>
                <a:gd name="connsiteY5-2422" fmla="*/ 1229033 h 2016804"/>
                <a:gd name="connsiteX6-2423" fmla="*/ 38100 w 2051050"/>
                <a:gd name="connsiteY6-2424" fmla="*/ 822633 h 2016804"/>
                <a:gd name="connsiteX7-2425" fmla="*/ 254794 w 2051050"/>
                <a:gd name="connsiteY7-2426" fmla="*/ 182870 h 2016804"/>
                <a:gd name="connsiteX8-2427" fmla="*/ 699294 w 2051050"/>
                <a:gd name="connsiteY8-2428" fmla="*/ 192395 h 2016804"/>
                <a:gd name="connsiteX9-2429" fmla="*/ 1169014 w 2051050"/>
                <a:gd name="connsiteY9-2430" fmla="*/ 0 h 2016804"/>
                <a:gd name="connsiteX10-2431" fmla="*/ 697706 w 2051050"/>
                <a:gd name="connsiteY10-2432" fmla="*/ 187633 h 2016804"/>
                <a:gd name="connsiteX11-2433" fmla="*/ 31750 w 2051050"/>
                <a:gd name="connsiteY11-2434" fmla="*/ 822633 h 2016804"/>
                <a:gd name="connsiteX12-2435" fmla="*/ 0 w 2051050"/>
                <a:gd name="connsiteY12-2436" fmla="*/ 1330633 h 2016804"/>
                <a:gd name="connsiteX13-2437" fmla="*/ 6350 w 2051050"/>
                <a:gd name="connsiteY13-2438" fmla="*/ 1336983 h 2016804"/>
                <a:gd name="connsiteX0-2439" fmla="*/ 1898650 w 2051050"/>
                <a:gd name="connsiteY0-2440" fmla="*/ 487671 h 2016804"/>
                <a:gd name="connsiteX1-2441" fmla="*/ 2051050 w 2051050"/>
                <a:gd name="connsiteY1-2442" fmla="*/ 982971 h 2016804"/>
                <a:gd name="connsiteX2-2443" fmla="*/ 1998663 w 2051050"/>
                <a:gd name="connsiteY2-2444" fmla="*/ 1316346 h 2016804"/>
                <a:gd name="connsiteX3-2445" fmla="*/ 1739900 w 2051050"/>
                <a:gd name="connsiteY3-2446" fmla="*/ 1756083 h 2016804"/>
                <a:gd name="connsiteX4-2447" fmla="*/ 1005912 w 2051050"/>
                <a:gd name="connsiteY4-2448" fmla="*/ 2016804 h 2016804"/>
                <a:gd name="connsiteX5-2449" fmla="*/ 38100 w 2051050"/>
                <a:gd name="connsiteY5-2450" fmla="*/ 822633 h 2016804"/>
                <a:gd name="connsiteX6-2451" fmla="*/ 254794 w 2051050"/>
                <a:gd name="connsiteY6-2452" fmla="*/ 182870 h 2016804"/>
                <a:gd name="connsiteX7-2453" fmla="*/ 699294 w 2051050"/>
                <a:gd name="connsiteY7-2454" fmla="*/ 192395 h 2016804"/>
                <a:gd name="connsiteX8-2455" fmla="*/ 1169014 w 2051050"/>
                <a:gd name="connsiteY8-2456" fmla="*/ 0 h 2016804"/>
                <a:gd name="connsiteX9-2457" fmla="*/ 697706 w 2051050"/>
                <a:gd name="connsiteY9-2458" fmla="*/ 187633 h 2016804"/>
                <a:gd name="connsiteX10-2459" fmla="*/ 31750 w 2051050"/>
                <a:gd name="connsiteY10-2460" fmla="*/ 822633 h 2016804"/>
                <a:gd name="connsiteX11-2461" fmla="*/ 0 w 2051050"/>
                <a:gd name="connsiteY11-2462" fmla="*/ 1330633 h 2016804"/>
                <a:gd name="connsiteX12-2463" fmla="*/ 6350 w 2051050"/>
                <a:gd name="connsiteY12-2464" fmla="*/ 1336983 h 2016804"/>
                <a:gd name="connsiteX0-2465" fmla="*/ 1898650 w 2051050"/>
                <a:gd name="connsiteY0-2466" fmla="*/ 487671 h 2016804"/>
                <a:gd name="connsiteX1-2467" fmla="*/ 2051050 w 2051050"/>
                <a:gd name="connsiteY1-2468" fmla="*/ 982971 h 2016804"/>
                <a:gd name="connsiteX2-2469" fmla="*/ 1998663 w 2051050"/>
                <a:gd name="connsiteY2-2470" fmla="*/ 1316346 h 2016804"/>
                <a:gd name="connsiteX3-2471" fmla="*/ 1739900 w 2051050"/>
                <a:gd name="connsiteY3-2472" fmla="*/ 1756083 h 2016804"/>
                <a:gd name="connsiteX4-2473" fmla="*/ 1005912 w 2051050"/>
                <a:gd name="connsiteY4-2474" fmla="*/ 2016804 h 2016804"/>
                <a:gd name="connsiteX5-2475" fmla="*/ 38100 w 2051050"/>
                <a:gd name="connsiteY5-2476" fmla="*/ 822633 h 2016804"/>
                <a:gd name="connsiteX6-2477" fmla="*/ 254794 w 2051050"/>
                <a:gd name="connsiteY6-2478" fmla="*/ 182870 h 2016804"/>
                <a:gd name="connsiteX7-2479" fmla="*/ 699294 w 2051050"/>
                <a:gd name="connsiteY7-2480" fmla="*/ 192395 h 2016804"/>
                <a:gd name="connsiteX8-2481" fmla="*/ 1169014 w 2051050"/>
                <a:gd name="connsiteY8-2482" fmla="*/ 0 h 2016804"/>
                <a:gd name="connsiteX9-2483" fmla="*/ 697706 w 2051050"/>
                <a:gd name="connsiteY9-2484" fmla="*/ 187633 h 2016804"/>
                <a:gd name="connsiteX10-2485" fmla="*/ 0 w 2051050"/>
                <a:gd name="connsiteY10-2486" fmla="*/ 1330633 h 2016804"/>
                <a:gd name="connsiteX11-2487" fmla="*/ 6350 w 2051050"/>
                <a:gd name="connsiteY11-2488" fmla="*/ 1336983 h 2016804"/>
                <a:gd name="connsiteX0-2489" fmla="*/ 1898650 w 2051050"/>
                <a:gd name="connsiteY0-2490" fmla="*/ 487671 h 2016804"/>
                <a:gd name="connsiteX1-2491" fmla="*/ 2051050 w 2051050"/>
                <a:gd name="connsiteY1-2492" fmla="*/ 982971 h 2016804"/>
                <a:gd name="connsiteX2-2493" fmla="*/ 1998663 w 2051050"/>
                <a:gd name="connsiteY2-2494" fmla="*/ 1316346 h 2016804"/>
                <a:gd name="connsiteX3-2495" fmla="*/ 1739900 w 2051050"/>
                <a:gd name="connsiteY3-2496" fmla="*/ 1756083 h 2016804"/>
                <a:gd name="connsiteX4-2497" fmla="*/ 1005912 w 2051050"/>
                <a:gd name="connsiteY4-2498" fmla="*/ 2016804 h 2016804"/>
                <a:gd name="connsiteX5-2499" fmla="*/ 254794 w 2051050"/>
                <a:gd name="connsiteY5-2500" fmla="*/ 182870 h 2016804"/>
                <a:gd name="connsiteX6-2501" fmla="*/ 699294 w 2051050"/>
                <a:gd name="connsiteY6-2502" fmla="*/ 192395 h 2016804"/>
                <a:gd name="connsiteX7-2503" fmla="*/ 1169014 w 2051050"/>
                <a:gd name="connsiteY7-2504" fmla="*/ 0 h 2016804"/>
                <a:gd name="connsiteX8-2505" fmla="*/ 697706 w 2051050"/>
                <a:gd name="connsiteY8-2506" fmla="*/ 187633 h 2016804"/>
                <a:gd name="connsiteX9-2507" fmla="*/ 0 w 2051050"/>
                <a:gd name="connsiteY9-2508" fmla="*/ 1330633 h 2016804"/>
                <a:gd name="connsiteX10-2509" fmla="*/ 6350 w 2051050"/>
                <a:gd name="connsiteY10-2510" fmla="*/ 1336983 h 2016804"/>
                <a:gd name="connsiteX0-2511" fmla="*/ 1898650 w 2051050"/>
                <a:gd name="connsiteY0-2512" fmla="*/ 487671 h 1756082"/>
                <a:gd name="connsiteX1-2513" fmla="*/ 2051050 w 2051050"/>
                <a:gd name="connsiteY1-2514" fmla="*/ 982971 h 1756082"/>
                <a:gd name="connsiteX2-2515" fmla="*/ 1998663 w 2051050"/>
                <a:gd name="connsiteY2-2516" fmla="*/ 1316346 h 1756082"/>
                <a:gd name="connsiteX3-2517" fmla="*/ 1739900 w 2051050"/>
                <a:gd name="connsiteY3-2518" fmla="*/ 1756083 h 1756082"/>
                <a:gd name="connsiteX4-2519" fmla="*/ 254794 w 2051050"/>
                <a:gd name="connsiteY4-2520" fmla="*/ 182870 h 1756082"/>
                <a:gd name="connsiteX5-2521" fmla="*/ 699294 w 2051050"/>
                <a:gd name="connsiteY5-2522" fmla="*/ 192395 h 1756082"/>
                <a:gd name="connsiteX6-2523" fmla="*/ 1169014 w 2051050"/>
                <a:gd name="connsiteY6-2524" fmla="*/ 0 h 1756082"/>
                <a:gd name="connsiteX7-2525" fmla="*/ 697706 w 2051050"/>
                <a:gd name="connsiteY7-2526" fmla="*/ 187633 h 1756082"/>
                <a:gd name="connsiteX8-2527" fmla="*/ 0 w 2051050"/>
                <a:gd name="connsiteY8-2528" fmla="*/ 1330633 h 1756082"/>
                <a:gd name="connsiteX9-2529" fmla="*/ 6350 w 2051050"/>
                <a:gd name="connsiteY9-2530" fmla="*/ 1336983 h 1756082"/>
                <a:gd name="connsiteX0-2531" fmla="*/ 1898650 w 2051050"/>
                <a:gd name="connsiteY0-2532" fmla="*/ 487671 h 1336982"/>
                <a:gd name="connsiteX1-2533" fmla="*/ 2051050 w 2051050"/>
                <a:gd name="connsiteY1-2534" fmla="*/ 982971 h 1336982"/>
                <a:gd name="connsiteX2-2535" fmla="*/ 1998663 w 2051050"/>
                <a:gd name="connsiteY2-2536" fmla="*/ 1316346 h 1336982"/>
                <a:gd name="connsiteX3-2537" fmla="*/ 254794 w 2051050"/>
                <a:gd name="connsiteY3-2538" fmla="*/ 182870 h 1336982"/>
                <a:gd name="connsiteX4-2539" fmla="*/ 699294 w 2051050"/>
                <a:gd name="connsiteY4-2540" fmla="*/ 192395 h 1336982"/>
                <a:gd name="connsiteX5-2541" fmla="*/ 1169014 w 2051050"/>
                <a:gd name="connsiteY5-2542" fmla="*/ 0 h 1336982"/>
                <a:gd name="connsiteX6-2543" fmla="*/ 697706 w 2051050"/>
                <a:gd name="connsiteY6-2544" fmla="*/ 187633 h 1336982"/>
                <a:gd name="connsiteX7-2545" fmla="*/ 0 w 2051050"/>
                <a:gd name="connsiteY7-2546" fmla="*/ 1330633 h 1336982"/>
                <a:gd name="connsiteX8-2547" fmla="*/ 6350 w 2051050"/>
                <a:gd name="connsiteY8-2548" fmla="*/ 1336983 h 133698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Lst>
              <a:rect l="l" t="t" r="r" b="b"/>
              <a:pathLst>
                <a:path w="2051050" h="1336982">
                  <a:moveTo>
                    <a:pt x="1898650" y="487671"/>
                  </a:moveTo>
                  <a:lnTo>
                    <a:pt x="2051050" y="982971"/>
                  </a:lnTo>
                  <a:lnTo>
                    <a:pt x="1998663" y="1316346"/>
                  </a:lnTo>
                  <a:lnTo>
                    <a:pt x="254794" y="182870"/>
                  </a:lnTo>
                  <a:lnTo>
                    <a:pt x="699294" y="192395"/>
                  </a:lnTo>
                  <a:lnTo>
                    <a:pt x="1169014" y="0"/>
                  </a:lnTo>
                  <a:lnTo>
                    <a:pt x="697706" y="187633"/>
                  </a:lnTo>
                  <a:lnTo>
                    <a:pt x="0" y="1330633"/>
                  </a:lnTo>
                  <a:lnTo>
                    <a:pt x="6350" y="1336983"/>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7" name="椭圆 6">
              <a:extLst>
                <a:ext uri="{FF2B5EF4-FFF2-40B4-BE49-F238E27FC236}">
                  <a16:creationId xmlns:a16="http://schemas.microsoft.com/office/drawing/2014/main" id="{A3FC0410-D9A5-4C3A-BCA2-5B29B1F261C4}"/>
                </a:ext>
              </a:extLst>
            </p:cNvPr>
            <p:cNvSpPr/>
            <p:nvPr/>
          </p:nvSpPr>
          <p:spPr>
            <a:xfrm>
              <a:off x="416354" y="27014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8" name="椭圆 7">
              <a:extLst>
                <a:ext uri="{FF2B5EF4-FFF2-40B4-BE49-F238E27FC236}">
                  <a16:creationId xmlns:a16="http://schemas.microsoft.com/office/drawing/2014/main" id="{9FBB547F-99AA-4CEA-8889-D8C75E5D7463}"/>
                </a:ext>
              </a:extLst>
            </p:cNvPr>
            <p:cNvSpPr/>
            <p:nvPr/>
          </p:nvSpPr>
          <p:spPr>
            <a:xfrm>
              <a:off x="681053" y="20926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9" name="椭圆 8">
              <a:extLst>
                <a:ext uri="{FF2B5EF4-FFF2-40B4-BE49-F238E27FC236}">
                  <a16:creationId xmlns:a16="http://schemas.microsoft.com/office/drawing/2014/main" id="{9D338454-7CDC-425A-915A-B7F9A5A6D506}"/>
                </a:ext>
              </a:extLst>
            </p:cNvPr>
            <p:cNvSpPr/>
            <p:nvPr/>
          </p:nvSpPr>
          <p:spPr>
            <a:xfrm>
              <a:off x="435062" y="548340"/>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0" name="椭圆 9">
              <a:extLst>
                <a:ext uri="{FF2B5EF4-FFF2-40B4-BE49-F238E27FC236}">
                  <a16:creationId xmlns:a16="http://schemas.microsoft.com/office/drawing/2014/main" id="{4E38F34B-AC70-4B24-B8C4-5963D18197FF}"/>
                </a:ext>
              </a:extLst>
            </p:cNvPr>
            <p:cNvSpPr/>
            <p:nvPr/>
          </p:nvSpPr>
          <p:spPr>
            <a:xfrm>
              <a:off x="383010" y="6593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 name="椭圆 10">
              <a:extLst>
                <a:ext uri="{FF2B5EF4-FFF2-40B4-BE49-F238E27FC236}">
                  <a16:creationId xmlns:a16="http://schemas.microsoft.com/office/drawing/2014/main" id="{3C3DDF06-7134-4175-9BB1-24EBA77076B3}"/>
                </a:ext>
              </a:extLst>
            </p:cNvPr>
            <p:cNvSpPr/>
            <p:nvPr/>
          </p:nvSpPr>
          <p:spPr>
            <a:xfrm>
              <a:off x="617955" y="764256"/>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 name="椭圆 11">
              <a:extLst>
                <a:ext uri="{FF2B5EF4-FFF2-40B4-BE49-F238E27FC236}">
                  <a16:creationId xmlns:a16="http://schemas.microsoft.com/office/drawing/2014/main" id="{C75252BE-527A-4EB2-B099-C97ABC0D87C7}"/>
                </a:ext>
              </a:extLst>
            </p:cNvPr>
            <p:cNvSpPr/>
            <p:nvPr/>
          </p:nvSpPr>
          <p:spPr>
            <a:xfrm>
              <a:off x="789687" y="723285"/>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3" name="椭圆 12">
              <a:extLst>
                <a:ext uri="{FF2B5EF4-FFF2-40B4-BE49-F238E27FC236}">
                  <a16:creationId xmlns:a16="http://schemas.microsoft.com/office/drawing/2014/main" id="{54BD217C-0713-4147-A111-0EDCF1EA61A0}"/>
                </a:ext>
              </a:extLst>
            </p:cNvPr>
            <p:cNvSpPr/>
            <p:nvPr/>
          </p:nvSpPr>
          <p:spPr>
            <a:xfrm>
              <a:off x="779251" y="502442"/>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4" name="椭圆 13">
              <a:extLst>
                <a:ext uri="{FF2B5EF4-FFF2-40B4-BE49-F238E27FC236}">
                  <a16:creationId xmlns:a16="http://schemas.microsoft.com/office/drawing/2014/main" id="{D9B41B2C-B3D7-4E76-BB13-3562DAB08DF8}"/>
                </a:ext>
              </a:extLst>
            </p:cNvPr>
            <p:cNvSpPr/>
            <p:nvPr/>
          </p:nvSpPr>
          <p:spPr>
            <a:xfrm>
              <a:off x="673294" y="384104"/>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5" name="椭圆 14">
              <a:extLst>
                <a:ext uri="{FF2B5EF4-FFF2-40B4-BE49-F238E27FC236}">
                  <a16:creationId xmlns:a16="http://schemas.microsoft.com/office/drawing/2014/main" id="{A4303409-3CC8-4E85-91B8-0A848AAE67C8}"/>
                </a:ext>
              </a:extLst>
            </p:cNvPr>
            <p:cNvSpPr/>
            <p:nvPr/>
          </p:nvSpPr>
          <p:spPr>
            <a:xfrm>
              <a:off x="452054" y="740569"/>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6" name="椭圆 15">
              <a:extLst>
                <a:ext uri="{FF2B5EF4-FFF2-40B4-BE49-F238E27FC236}">
                  <a16:creationId xmlns:a16="http://schemas.microsoft.com/office/drawing/2014/main" id="{65986727-F013-4A86-8BE4-31A2D01CBB7C}"/>
                </a:ext>
              </a:extLst>
            </p:cNvPr>
            <p:cNvSpPr/>
            <p:nvPr/>
          </p:nvSpPr>
          <p:spPr>
            <a:xfrm>
              <a:off x="868985" y="344417"/>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7" name="椭圆 16">
              <a:extLst>
                <a:ext uri="{FF2B5EF4-FFF2-40B4-BE49-F238E27FC236}">
                  <a16:creationId xmlns:a16="http://schemas.microsoft.com/office/drawing/2014/main" id="{0F3AB237-2A5C-4675-A6F4-5B5E2806B082}"/>
                </a:ext>
              </a:extLst>
            </p:cNvPr>
            <p:cNvSpPr/>
            <p:nvPr/>
          </p:nvSpPr>
          <p:spPr>
            <a:xfrm>
              <a:off x="890959" y="579853"/>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8" name="椭圆 17">
              <a:extLst>
                <a:ext uri="{FF2B5EF4-FFF2-40B4-BE49-F238E27FC236}">
                  <a16:creationId xmlns:a16="http://schemas.microsoft.com/office/drawing/2014/main" id="{4B7F8C10-BC12-43B6-AD3B-8FBF385E78F5}"/>
                </a:ext>
              </a:extLst>
            </p:cNvPr>
            <p:cNvSpPr/>
            <p:nvPr/>
          </p:nvSpPr>
          <p:spPr>
            <a:xfrm>
              <a:off x="318716" y="397791"/>
              <a:ext cx="36001" cy="36001"/>
            </a:xfrm>
            <a:prstGeom prst="ellipse">
              <a:avLst/>
            </a:prstGeom>
            <a:solidFill>
              <a:srgbClr val="1DEE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9" name="任意多边形: 形状 18">
              <a:extLst>
                <a:ext uri="{FF2B5EF4-FFF2-40B4-BE49-F238E27FC236}">
                  <a16:creationId xmlns:a16="http://schemas.microsoft.com/office/drawing/2014/main" id="{568C47E6-13EC-4CC6-8CF9-20FE0AB94813}"/>
                </a:ext>
              </a:extLst>
            </p:cNvPr>
            <p:cNvSpPr/>
            <p:nvPr/>
          </p:nvSpPr>
          <p:spPr>
            <a:xfrm>
              <a:off x="452438" y="402431"/>
              <a:ext cx="235743" cy="161925"/>
            </a:xfrm>
            <a:custGeom>
              <a:avLst/>
              <a:gdLst>
                <a:gd name="connsiteX0" fmla="*/ 235743 w 235743"/>
                <a:gd name="connsiteY0" fmla="*/ 0 h 161925"/>
                <a:gd name="connsiteX1" fmla="*/ 4762 w 235743"/>
                <a:gd name="connsiteY1" fmla="*/ 161925 h 161925"/>
                <a:gd name="connsiteX2" fmla="*/ 0 w 235743"/>
                <a:gd name="connsiteY2" fmla="*/ 154782 h 161925"/>
              </a:gdLst>
              <a:ahLst/>
              <a:cxnLst>
                <a:cxn ang="0">
                  <a:pos x="connsiteX0" y="connsiteY0"/>
                </a:cxn>
                <a:cxn ang="0">
                  <a:pos x="connsiteX1" y="connsiteY1"/>
                </a:cxn>
                <a:cxn ang="0">
                  <a:pos x="connsiteX2" y="connsiteY2"/>
                </a:cxn>
              </a:cxnLst>
              <a:rect l="l" t="t" r="r" b="b"/>
              <a:pathLst>
                <a:path w="235743" h="161925">
                  <a:moveTo>
                    <a:pt x="235743" y="0"/>
                  </a:moveTo>
                  <a:lnTo>
                    <a:pt x="4762" y="161925"/>
                  </a:lnTo>
                  <a:lnTo>
                    <a:pt x="0" y="154782"/>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0" name="任意多边形: 形状 19">
              <a:extLst>
                <a:ext uri="{FF2B5EF4-FFF2-40B4-BE49-F238E27FC236}">
                  <a16:creationId xmlns:a16="http://schemas.microsoft.com/office/drawing/2014/main" id="{4A0BCD2A-A5F8-4608-B89D-C888CBEDA7B9}"/>
                </a:ext>
              </a:extLst>
            </p:cNvPr>
            <p:cNvSpPr/>
            <p:nvPr/>
          </p:nvSpPr>
          <p:spPr>
            <a:xfrm>
              <a:off x="450056" y="397669"/>
              <a:ext cx="245269" cy="369093"/>
            </a:xfrm>
            <a:custGeom>
              <a:avLst/>
              <a:gdLst>
                <a:gd name="connsiteX0" fmla="*/ 245269 w 245269"/>
                <a:gd name="connsiteY0" fmla="*/ 0 h 371475"/>
                <a:gd name="connsiteX1" fmla="*/ 23813 w 245269"/>
                <a:gd name="connsiteY1" fmla="*/ 371475 h 371475"/>
                <a:gd name="connsiteX2" fmla="*/ 0 w 245269"/>
                <a:gd name="connsiteY2" fmla="*/ 173831 h 371475"/>
                <a:gd name="connsiteX0-1" fmla="*/ 245269 w 245269"/>
                <a:gd name="connsiteY0-2" fmla="*/ 0 h 369093"/>
                <a:gd name="connsiteX1-3" fmla="*/ 16670 w 245269"/>
                <a:gd name="connsiteY1-4" fmla="*/ 369093 h 369093"/>
                <a:gd name="connsiteX2-5" fmla="*/ 0 w 245269"/>
                <a:gd name="connsiteY2-6" fmla="*/ 173831 h 369093"/>
              </a:gdLst>
              <a:ahLst/>
              <a:cxnLst>
                <a:cxn ang="0">
                  <a:pos x="connsiteX0-1" y="connsiteY0-2"/>
                </a:cxn>
                <a:cxn ang="0">
                  <a:pos x="connsiteX1-3" y="connsiteY1-4"/>
                </a:cxn>
                <a:cxn ang="0">
                  <a:pos x="connsiteX2-5" y="connsiteY2-6"/>
                </a:cxn>
              </a:cxnLst>
              <a:rect l="l" t="t" r="r" b="b"/>
              <a:pathLst>
                <a:path w="245269" h="369093">
                  <a:moveTo>
                    <a:pt x="245269" y="0"/>
                  </a:moveTo>
                  <a:lnTo>
                    <a:pt x="16670" y="369093"/>
                  </a:lnTo>
                  <a:lnTo>
                    <a:pt x="0" y="173831"/>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1" name="任意多边形: 形状 20">
              <a:extLst>
                <a:ext uri="{FF2B5EF4-FFF2-40B4-BE49-F238E27FC236}">
                  <a16:creationId xmlns:a16="http://schemas.microsoft.com/office/drawing/2014/main" id="{9153A6C0-2671-46BA-997C-F04618CF1AA8}"/>
                </a:ext>
              </a:extLst>
            </p:cNvPr>
            <p:cNvSpPr/>
            <p:nvPr/>
          </p:nvSpPr>
          <p:spPr>
            <a:xfrm>
              <a:off x="340519" y="421481"/>
              <a:ext cx="566737" cy="359569"/>
            </a:xfrm>
            <a:custGeom>
              <a:avLst/>
              <a:gdLst>
                <a:gd name="connsiteX0" fmla="*/ 566737 w 566737"/>
                <a:gd name="connsiteY0" fmla="*/ 176213 h 359569"/>
                <a:gd name="connsiteX1" fmla="*/ 504825 w 566737"/>
                <a:gd name="connsiteY1" fmla="*/ 292894 h 359569"/>
                <a:gd name="connsiteX2" fmla="*/ 297656 w 566737"/>
                <a:gd name="connsiteY2" fmla="*/ 359569 h 359569"/>
                <a:gd name="connsiteX3" fmla="*/ 0 w 566737"/>
                <a:gd name="connsiteY3" fmla="*/ 0 h 359569"/>
                <a:gd name="connsiteX0-1" fmla="*/ 566737 w 566737"/>
                <a:gd name="connsiteY0-2" fmla="*/ 176213 h 359569"/>
                <a:gd name="connsiteX1-3" fmla="*/ 466725 w 566737"/>
                <a:gd name="connsiteY1-4" fmla="*/ 347663 h 359569"/>
                <a:gd name="connsiteX2-5" fmla="*/ 297656 w 566737"/>
                <a:gd name="connsiteY2-6" fmla="*/ 359569 h 359569"/>
                <a:gd name="connsiteX3-7" fmla="*/ 0 w 566737"/>
                <a:gd name="connsiteY3-8" fmla="*/ 0 h 359569"/>
                <a:gd name="connsiteX0-9" fmla="*/ 566737 w 566737"/>
                <a:gd name="connsiteY0-10" fmla="*/ 176213 h 359569"/>
                <a:gd name="connsiteX1-11" fmla="*/ 466725 w 566737"/>
                <a:gd name="connsiteY1-12" fmla="*/ 319088 h 359569"/>
                <a:gd name="connsiteX2-13" fmla="*/ 297656 w 566737"/>
                <a:gd name="connsiteY2-14" fmla="*/ 359569 h 359569"/>
                <a:gd name="connsiteX3-15" fmla="*/ 0 w 566737"/>
                <a:gd name="connsiteY3-16" fmla="*/ 0 h 359569"/>
              </a:gdLst>
              <a:ahLst/>
              <a:cxnLst>
                <a:cxn ang="0">
                  <a:pos x="connsiteX0-1" y="connsiteY0-2"/>
                </a:cxn>
                <a:cxn ang="0">
                  <a:pos x="connsiteX1-3" y="connsiteY1-4"/>
                </a:cxn>
                <a:cxn ang="0">
                  <a:pos x="connsiteX2-5" y="connsiteY2-6"/>
                </a:cxn>
                <a:cxn ang="0">
                  <a:pos x="connsiteX3-7" y="connsiteY3-8"/>
                </a:cxn>
              </a:cxnLst>
              <a:rect l="l" t="t" r="r" b="b"/>
              <a:pathLst>
                <a:path w="566737" h="359569">
                  <a:moveTo>
                    <a:pt x="566737" y="176213"/>
                  </a:moveTo>
                  <a:lnTo>
                    <a:pt x="466725" y="319088"/>
                  </a:lnTo>
                  <a:lnTo>
                    <a:pt x="297656" y="359569"/>
                  </a:lnTo>
                  <a:lnTo>
                    <a:pt x="0" y="0"/>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2" name="任意多边形: 形状 21">
              <a:extLst>
                <a:ext uri="{FF2B5EF4-FFF2-40B4-BE49-F238E27FC236}">
                  <a16:creationId xmlns:a16="http://schemas.microsoft.com/office/drawing/2014/main" id="{1A444471-6B7E-49C7-A3F5-17F1083D9D57}"/>
                </a:ext>
              </a:extLst>
            </p:cNvPr>
            <p:cNvSpPr/>
            <p:nvPr/>
          </p:nvSpPr>
          <p:spPr>
            <a:xfrm>
              <a:off x="557213" y="221455"/>
              <a:ext cx="321468" cy="561975"/>
            </a:xfrm>
            <a:custGeom>
              <a:avLst/>
              <a:gdLst>
                <a:gd name="connsiteX0" fmla="*/ 0 w 321468"/>
                <a:gd name="connsiteY0" fmla="*/ 54769 h 552450"/>
                <a:gd name="connsiteX1" fmla="*/ 133350 w 321468"/>
                <a:gd name="connsiteY1" fmla="*/ 173832 h 552450"/>
                <a:gd name="connsiteX2" fmla="*/ 321468 w 321468"/>
                <a:gd name="connsiteY2" fmla="*/ 133350 h 552450"/>
                <a:gd name="connsiteX3" fmla="*/ 83343 w 321468"/>
                <a:gd name="connsiteY3" fmla="*/ 552450 h 552450"/>
                <a:gd name="connsiteX4" fmla="*/ 142875 w 321468"/>
                <a:gd name="connsiteY4" fmla="*/ 0 h 552450"/>
                <a:gd name="connsiteX0-1" fmla="*/ 0 w 321468"/>
                <a:gd name="connsiteY0-2" fmla="*/ 64294 h 561975"/>
                <a:gd name="connsiteX1-3" fmla="*/ 133350 w 321468"/>
                <a:gd name="connsiteY1-4" fmla="*/ 183357 h 561975"/>
                <a:gd name="connsiteX2-5" fmla="*/ 321468 w 321468"/>
                <a:gd name="connsiteY2-6" fmla="*/ 142875 h 561975"/>
                <a:gd name="connsiteX3-7" fmla="*/ 83343 w 321468"/>
                <a:gd name="connsiteY3-8" fmla="*/ 561975 h 561975"/>
                <a:gd name="connsiteX4-9" fmla="*/ 140493 w 321468"/>
                <a:gd name="connsiteY4-10" fmla="*/ 0 h 561975"/>
                <a:gd name="connsiteX0-11" fmla="*/ 0 w 321468"/>
                <a:gd name="connsiteY0-12" fmla="*/ 64294 h 561975"/>
                <a:gd name="connsiteX1-13" fmla="*/ 133350 w 321468"/>
                <a:gd name="connsiteY1-14" fmla="*/ 183357 h 561975"/>
                <a:gd name="connsiteX2-15" fmla="*/ 321468 w 321468"/>
                <a:gd name="connsiteY2-16" fmla="*/ 142875 h 561975"/>
                <a:gd name="connsiteX3-17" fmla="*/ 83343 w 321468"/>
                <a:gd name="connsiteY3-18" fmla="*/ 561975 h 561975"/>
                <a:gd name="connsiteX4-19" fmla="*/ 140493 w 321468"/>
                <a:gd name="connsiteY4-20" fmla="*/ 0 h 561975"/>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21468" h="561975">
                  <a:moveTo>
                    <a:pt x="0" y="64294"/>
                  </a:moveTo>
                  <a:lnTo>
                    <a:pt x="133350" y="183357"/>
                  </a:lnTo>
                  <a:lnTo>
                    <a:pt x="321468" y="142875"/>
                  </a:lnTo>
                  <a:lnTo>
                    <a:pt x="83343" y="561975"/>
                  </a:lnTo>
                  <a:cubicBezTo>
                    <a:pt x="102393" y="374650"/>
                    <a:pt x="130968" y="196850"/>
                    <a:pt x="140493" y="0"/>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3" name="任意多边形: 形状 22">
              <a:extLst>
                <a:ext uri="{FF2B5EF4-FFF2-40B4-BE49-F238E27FC236}">
                  <a16:creationId xmlns:a16="http://schemas.microsoft.com/office/drawing/2014/main" id="{ED2D33C1-6070-46E2-B62A-CC522E15D6EB}"/>
                </a:ext>
              </a:extLst>
            </p:cNvPr>
            <p:cNvSpPr/>
            <p:nvPr/>
          </p:nvSpPr>
          <p:spPr>
            <a:xfrm>
              <a:off x="397669" y="678656"/>
              <a:ext cx="242887" cy="104775"/>
            </a:xfrm>
            <a:custGeom>
              <a:avLst/>
              <a:gdLst>
                <a:gd name="connsiteX0" fmla="*/ 0 w 242887"/>
                <a:gd name="connsiteY0" fmla="*/ 0 h 104775"/>
                <a:gd name="connsiteX1" fmla="*/ 76200 w 242887"/>
                <a:gd name="connsiteY1" fmla="*/ 90488 h 104775"/>
                <a:gd name="connsiteX2" fmla="*/ 242887 w 242887"/>
                <a:gd name="connsiteY2" fmla="*/ 104775 h 104775"/>
              </a:gdLst>
              <a:ahLst/>
              <a:cxnLst>
                <a:cxn ang="0">
                  <a:pos x="connsiteX0" y="connsiteY0"/>
                </a:cxn>
                <a:cxn ang="0">
                  <a:pos x="connsiteX1" y="connsiteY1"/>
                </a:cxn>
                <a:cxn ang="0">
                  <a:pos x="connsiteX2" y="connsiteY2"/>
                </a:cxn>
              </a:cxnLst>
              <a:rect l="l" t="t" r="r" b="b"/>
              <a:pathLst>
                <a:path w="242887" h="104775">
                  <a:moveTo>
                    <a:pt x="0" y="0"/>
                  </a:moveTo>
                  <a:lnTo>
                    <a:pt x="76200" y="90488"/>
                  </a:lnTo>
                  <a:lnTo>
                    <a:pt x="242887" y="104775"/>
                  </a:ln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4" name="任意多边形: 形状 23">
              <a:extLst>
                <a:ext uri="{FF2B5EF4-FFF2-40B4-BE49-F238E27FC236}">
                  <a16:creationId xmlns:a16="http://schemas.microsoft.com/office/drawing/2014/main" id="{4795AF86-D13F-4760-9425-AC7DA56FBFCD}"/>
                </a:ext>
              </a:extLst>
            </p:cNvPr>
            <p:cNvSpPr/>
            <p:nvPr/>
          </p:nvSpPr>
          <p:spPr>
            <a:xfrm rot="21404650">
              <a:off x="800997" y="514777"/>
              <a:ext cx="4763" cy="242887"/>
            </a:xfrm>
            <a:custGeom>
              <a:avLst/>
              <a:gdLst>
                <a:gd name="connsiteX0" fmla="*/ 0 w 4763"/>
                <a:gd name="connsiteY0" fmla="*/ 0 h 242887"/>
                <a:gd name="connsiteX1" fmla="*/ 4763 w 4763"/>
                <a:gd name="connsiteY1" fmla="*/ 242887 h 242887"/>
              </a:gdLst>
              <a:ahLst/>
              <a:cxnLst>
                <a:cxn ang="0">
                  <a:pos x="connsiteX0" y="connsiteY0"/>
                </a:cxn>
                <a:cxn ang="0">
                  <a:pos x="connsiteX1" y="connsiteY1"/>
                </a:cxn>
              </a:cxnLst>
              <a:rect l="l" t="t" r="r" b="b"/>
              <a:pathLst>
                <a:path w="4763" h="242887">
                  <a:moveTo>
                    <a:pt x="0" y="0"/>
                  </a:moveTo>
                  <a:cubicBezTo>
                    <a:pt x="1588" y="80962"/>
                    <a:pt x="3175" y="161925"/>
                    <a:pt x="4763" y="242887"/>
                  </a:cubicBezTo>
                </a:path>
              </a:pathLst>
            </a:custGeom>
            <a:noFill/>
            <a:ln w="0">
              <a:solidFill>
                <a:srgbClr val="1DEEE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25" name="文本框 24">
            <a:extLst>
              <a:ext uri="{FF2B5EF4-FFF2-40B4-BE49-F238E27FC236}">
                <a16:creationId xmlns:a16="http://schemas.microsoft.com/office/drawing/2014/main" id="{49865E63-973B-4F3D-9CE5-FCE48A81387B}"/>
              </a:ext>
            </a:extLst>
          </p:cNvPr>
          <p:cNvSpPr txBox="1"/>
          <p:nvPr/>
        </p:nvSpPr>
        <p:spPr>
          <a:xfrm>
            <a:off x="551180" y="1326515"/>
            <a:ext cx="11242675" cy="5236845"/>
          </a:xfrm>
          <a:prstGeom prst="rect">
            <a:avLst/>
          </a:prstGeom>
          <a:noFill/>
        </p:spPr>
        <p:txBody>
          <a:bodyPr wrap="square" rtlCol="0">
            <a:spAutoFit/>
          </a:bodyPr>
          <a:lstStyle/>
          <a:p>
            <a:pPr>
              <a:lnSpc>
                <a:spcPct val="110000"/>
              </a:lnSpc>
            </a:pPr>
            <a:r>
              <a:rPr lang="zh-CN" altLang="en-US" sz="2400" b="1" dirty="0"/>
              <a:t>分类算法常用的性能度量：</a:t>
            </a:r>
          </a:p>
          <a:p>
            <a:pPr marL="342900" indent="-342900">
              <a:lnSpc>
                <a:spcPct val="140000"/>
              </a:lnSpc>
              <a:buFont typeface="Wingdings" panose="05000000000000000000" charset="0"/>
              <a:buChar char="n"/>
            </a:pPr>
            <a:r>
              <a:rPr lang="zh-CN" altLang="en-US" sz="2000" dirty="0"/>
              <a:t>错误率：分类错误的样本占总样本数的比例，其公式为：E(</a:t>
            </a:r>
            <a:r>
              <a:rPr lang="en-US" altLang="zh-CN" sz="2000" dirty="0"/>
              <a:t>f</a:t>
            </a:r>
            <a:r>
              <a:rPr lang="zh-CN" altLang="en-US" sz="2000" dirty="0"/>
              <a:t>；D)=</a:t>
            </a:r>
            <a:r>
              <a:rPr lang="en-US" altLang="zh-CN" sz="2000" dirty="0"/>
              <a:t>1/</a:t>
            </a:r>
            <a:r>
              <a:rPr lang="en-US" altLang="zh-CN" sz="2000" dirty="0" err="1"/>
              <a:t>m</a:t>
            </a:r>
            <a:r>
              <a:rPr lang="en-US" altLang="zh-CN" sz="2000" i="1" dirty="0" err="1"/>
              <a:t>II</a:t>
            </a:r>
            <a:r>
              <a:rPr lang="zh-CN" altLang="en-US" sz="2000" dirty="0"/>
              <a:t>(f(x)≠y:)</a:t>
            </a:r>
          </a:p>
          <a:p>
            <a:pPr marL="342900" indent="-342900">
              <a:lnSpc>
                <a:spcPct val="140000"/>
              </a:lnSpc>
              <a:buFont typeface="Wingdings" panose="05000000000000000000" charset="0"/>
              <a:buChar char="n"/>
            </a:pPr>
            <a:r>
              <a:rPr lang="zh-CN" altLang="en-US" sz="2000" dirty="0"/>
              <a:t>精度：分类正确的样本占总样本数的比例，其公式为：acc(f；D)=</a:t>
            </a:r>
            <a:r>
              <a:rPr lang="en-US" altLang="zh-CN" sz="2000" dirty="0"/>
              <a:t>1/m</a:t>
            </a:r>
            <a:r>
              <a:rPr lang="zh-CN" altLang="en-US" sz="2000" i="1" dirty="0"/>
              <a:t>II</a:t>
            </a:r>
            <a:r>
              <a:rPr lang="zh-CN" altLang="en-US" sz="2000" dirty="0"/>
              <a:t>(f(xi)≠yi)=1-E(f；D)</a:t>
            </a:r>
          </a:p>
          <a:p>
            <a:pPr marL="342900" indent="-342900">
              <a:lnSpc>
                <a:spcPct val="140000"/>
              </a:lnSpc>
              <a:buFont typeface="Wingdings" panose="05000000000000000000" charset="0"/>
              <a:buChar char="n"/>
            </a:pPr>
            <a:r>
              <a:rPr lang="zh-CN" altLang="en-US" sz="2000" dirty="0"/>
              <a:t>查准率：预测结果为正的样本中实际值也为正的比例</a:t>
            </a:r>
          </a:p>
          <a:p>
            <a:pPr marL="342900" indent="-342900">
              <a:lnSpc>
                <a:spcPct val="140000"/>
              </a:lnSpc>
              <a:buFont typeface="Wingdings" panose="05000000000000000000" charset="0"/>
              <a:buChar char="n"/>
            </a:pPr>
            <a:r>
              <a:rPr lang="zh-CN" altLang="en-US" sz="2000" dirty="0"/>
              <a:t>查全率：实际值为正的样本中被预测为正的样本的比例</a:t>
            </a:r>
          </a:p>
          <a:p>
            <a:pPr marL="342900" indent="-342900">
              <a:lnSpc>
                <a:spcPct val="140000"/>
              </a:lnSpc>
              <a:buFont typeface="Wingdings" panose="05000000000000000000" charset="0"/>
              <a:buChar char="n"/>
            </a:pPr>
            <a:r>
              <a:rPr lang="zh-CN" altLang="en-US" sz="2000" dirty="0"/>
              <a:t>P-R曲线：查准率-查询率曲线</a:t>
            </a:r>
          </a:p>
          <a:p>
            <a:pPr marL="342900" indent="-342900">
              <a:lnSpc>
                <a:spcPct val="140000"/>
              </a:lnSpc>
              <a:buFont typeface="Wingdings" panose="05000000000000000000" charset="0"/>
              <a:buChar char="n"/>
            </a:pPr>
            <a:r>
              <a:rPr lang="zh-CN" altLang="en-US" sz="2000" dirty="0"/>
              <a:t>混淆矩阵：将预测分类结果和实际分类结果做成矩阵的形式显示</a:t>
            </a:r>
          </a:p>
          <a:p>
            <a:pPr marL="342900" indent="-342900">
              <a:lnSpc>
                <a:spcPct val="140000"/>
              </a:lnSpc>
              <a:buFont typeface="Wingdings" panose="05000000000000000000" charset="0"/>
              <a:buChar char="n"/>
            </a:pPr>
            <a:r>
              <a:rPr lang="zh-CN" altLang="en-US" sz="2000" dirty="0"/>
              <a:t>Fp一score：值的不同体现了对查全率和查准率的不同倾向，其公式为：</a:t>
            </a:r>
          </a:p>
          <a:p>
            <a:pPr marL="342900" indent="-342900">
              <a:lnSpc>
                <a:spcPct val="140000"/>
              </a:lnSpc>
              <a:buFont typeface="Wingdings" panose="05000000000000000000" charset="0"/>
              <a:buChar char="n"/>
            </a:pPr>
            <a:r>
              <a:rPr lang="zh-CN" altLang="en-US" sz="2000" dirty="0"/>
              <a:t>受试者特征曲线（ROC）和曲线下面积（AUC）：TPR-FPR曲线（真正例率-假正例率曲线）</a:t>
            </a:r>
          </a:p>
          <a:p>
            <a:pPr marL="342900" indent="-342900">
              <a:lnSpc>
                <a:spcPct val="140000"/>
              </a:lnSpc>
              <a:buFont typeface="Wingdings" panose="05000000000000000000" charset="0"/>
              <a:buChar char="n"/>
            </a:pPr>
            <a:r>
              <a:rPr lang="zh-CN" altLang="en-US" sz="2000" dirty="0"/>
              <a:t>代价曲线：不同类型的预测错误对结果影响下同而增加代价（cost），绘制</a:t>
            </a:r>
            <a:r>
              <a:rPr lang="zh-CN" altLang="en-US" sz="2000" i="1" dirty="0"/>
              <a:t>P</a:t>
            </a:r>
            <a:r>
              <a:rPr lang="zh-CN" altLang="en-US" sz="2000" dirty="0"/>
              <a:t>（+)cost-cost</a:t>
            </a:r>
            <a:r>
              <a:rPr lang="zh-CN" altLang="en-US" sz="2000" baseline="-25000" dirty="0"/>
              <a:t>norm</a:t>
            </a:r>
            <a:r>
              <a:rPr lang="zh-CN" altLang="en-US" sz="2000" dirty="0"/>
              <a:t>曲线</a:t>
            </a:r>
          </a:p>
          <a:p>
            <a:pPr marL="342900" indent="-342900">
              <a:lnSpc>
                <a:spcPct val="140000"/>
              </a:lnSpc>
              <a:buFont typeface="Wingdings" panose="05000000000000000000" charset="0"/>
              <a:buChar char="n"/>
            </a:pPr>
            <a:r>
              <a:rPr lang="en-US" altLang="zh-CN" sz="2000" dirty="0"/>
              <a:t>......</a:t>
            </a:r>
          </a:p>
        </p:txBody>
      </p:sp>
      <p:pic>
        <p:nvPicPr>
          <p:cNvPr id="26" name="图片 25">
            <a:extLst>
              <a:ext uri="{FF2B5EF4-FFF2-40B4-BE49-F238E27FC236}">
                <a16:creationId xmlns:a16="http://schemas.microsoft.com/office/drawing/2014/main" id="{2F7C2104-8466-4F5C-BD9D-86EBE1B7E771}"/>
              </a:ext>
            </a:extLst>
          </p:cNvPr>
          <p:cNvPicPr>
            <a:picLocks noChangeAspect="1"/>
          </p:cNvPicPr>
          <p:nvPr/>
        </p:nvPicPr>
        <p:blipFill>
          <a:blip r:embed="rId2"/>
          <a:stretch>
            <a:fillRect/>
          </a:stretch>
        </p:blipFill>
        <p:spPr>
          <a:xfrm>
            <a:off x="8483175" y="3812207"/>
            <a:ext cx="1494155" cy="488950"/>
          </a:xfrm>
          <a:prstGeom prst="rect">
            <a:avLst/>
          </a:prstGeom>
        </p:spPr>
      </p:pic>
    </p:spTree>
    <p:extLst>
      <p:ext uri="{BB962C8B-B14F-4D97-AF65-F5344CB8AC3E}">
        <p14:creationId xmlns:p14="http://schemas.microsoft.com/office/powerpoint/2010/main" val="2887753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 calcmode="lin" valueType="num">
                                      <p:cBhvr>
                                        <p:cTn id="9" dur="1000" fill="hold"/>
                                        <p:tgtEl>
                                          <p:spTgt spid="4"/>
                                        </p:tgtEl>
                                        <p:attrNameLst>
                                          <p:attrName>style.rotation</p:attrName>
                                        </p:attrNameLst>
                                      </p:cBhvr>
                                      <p:tavLst>
                                        <p:tav tm="0">
                                          <p:val>
                                            <p:fltVal val="90"/>
                                          </p:val>
                                        </p:tav>
                                        <p:tav tm="100000">
                                          <p:val>
                                            <p:fltVal val="0"/>
                                          </p:val>
                                        </p:tav>
                                      </p:tavLst>
                                    </p:anim>
                                    <p:animEffect transition="in" filter="fade">
                                      <p:cBhvr>
                                        <p:cTn id="10" dur="1000"/>
                                        <p:tgtEl>
                                          <p:spTgt spid="4"/>
                                        </p:tgtEl>
                                      </p:cBhvr>
                                    </p:animEffect>
                                  </p:childTnLst>
                                </p:cTn>
                              </p:par>
                              <p:par>
                                <p:cTn id="11" presetID="8" presetClass="emph" presetSubtype="0" fill="hold" nodeType="withEffect">
                                  <p:stCondLst>
                                    <p:cond delay="0"/>
                                  </p:stCondLst>
                                  <p:childTnLst>
                                    <p:animRot by="-21600000">
                                      <p:cBhvr>
                                        <p:cTn id="12" dur="2000" fill="hold"/>
                                        <p:tgtEl>
                                          <p:spTgt spid="4"/>
                                        </p:tgtEl>
                                        <p:attrNameLst>
                                          <p:attrName>r</p:attrName>
                                        </p:attrNameLst>
                                      </p:cBhvr>
                                    </p:animRot>
                                  </p:childTnLst>
                                </p:cTn>
                              </p:par>
                              <p:par>
                                <p:cTn id="13" presetID="22" presetClass="entr" presetSubtype="8" fill="hold" grpId="0" nodeType="withEffect">
                                  <p:stCondLst>
                                    <p:cond delay="500"/>
                                  </p:stCondLst>
                                  <p:childTnLst>
                                    <p:set>
                                      <p:cBhvr>
                                        <p:cTn id="14" dur="1" fill="hold">
                                          <p:stCondLst>
                                            <p:cond delay="0"/>
                                          </p:stCondLst>
                                        </p:cTn>
                                        <p:tgtEl>
                                          <p:spTgt spid="3"/>
                                        </p:tgtEl>
                                        <p:attrNameLst>
                                          <p:attrName>style.visibility</p:attrName>
                                        </p:attrNameLst>
                                      </p:cBhvr>
                                      <p:to>
                                        <p:strVal val="visible"/>
                                      </p:to>
                                    </p:set>
                                    <p:animEffect transition="in" filter="wipe(left)">
                                      <p:cBhvr>
                                        <p:cTn id="15"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834EA-A086-1B47-0017-3245015ABF63}"/>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6558E59C-8D5E-3101-ED8E-4A1871092CD8}"/>
              </a:ext>
            </a:extLst>
          </p:cNvPr>
          <p:cNvSpPr/>
          <p:nvPr/>
        </p:nvSpPr>
        <p:spPr>
          <a:xfrm>
            <a:off x="1411605" y="400050"/>
            <a:ext cx="545964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性能评价指标</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分类</a:t>
            </a:r>
          </a:p>
        </p:txBody>
      </p:sp>
      <p:sp>
        <p:nvSpPr>
          <p:cNvPr id="4" name="矩形 3">
            <a:extLst>
              <a:ext uri="{FF2B5EF4-FFF2-40B4-BE49-F238E27FC236}">
                <a16:creationId xmlns:a16="http://schemas.microsoft.com/office/drawing/2014/main" id="{EB64D878-91DE-4284-7091-CBDE14515144}"/>
              </a:ext>
            </a:extLst>
          </p:cNvPr>
          <p:cNvSpPr/>
          <p:nvPr/>
        </p:nvSpPr>
        <p:spPr>
          <a:xfrm>
            <a:off x="9813421" y="5796707"/>
            <a:ext cx="768626" cy="291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2A1FD487-1A66-FED4-2A0B-277DA09CB94B}"/>
              </a:ext>
            </a:extLst>
          </p:cNvPr>
          <p:cNvSpPr/>
          <p:nvPr/>
        </p:nvSpPr>
        <p:spPr>
          <a:xfrm>
            <a:off x="121771" y="1414415"/>
            <a:ext cx="10689540" cy="430887"/>
          </a:xfrm>
          <a:prstGeom prst="rect">
            <a:avLst/>
          </a:prstGeom>
        </p:spPr>
        <p:txBody>
          <a:bodyPr wrap="square">
            <a:spAutoFit/>
          </a:bodyPr>
          <a:lstStyle/>
          <a:p>
            <a:r>
              <a:rPr lang="zh-CN" altLang="en-US" sz="2200" b="1" dirty="0">
                <a:latin typeface="微软雅黑" panose="020B0503020204020204" pitchFamily="34" charset="-122"/>
                <a:ea typeface="微软雅黑" panose="020B0503020204020204" pitchFamily="34" charset="-122"/>
                <a:sym typeface="+mn-ea"/>
              </a:rPr>
              <a:t>    </a:t>
            </a:r>
            <a:r>
              <a:rPr lang="zh-CN" altLang="en-US" sz="2200" b="1" dirty="0">
                <a:solidFill>
                  <a:srgbClr val="0070C0"/>
                </a:solidFill>
                <a:latin typeface="微软雅黑"/>
                <a:ea typeface="微软雅黑"/>
                <a:sym typeface="+mn-ea"/>
              </a:rPr>
              <a:t>准确率</a:t>
            </a:r>
            <a:r>
              <a:rPr lang="en-US" altLang="zh-CN" sz="2200" b="1" dirty="0">
                <a:solidFill>
                  <a:srgbClr val="0070C0"/>
                </a:solidFill>
                <a:latin typeface="微软雅黑"/>
                <a:ea typeface="微软雅黑"/>
                <a:sym typeface="+mn-ea"/>
              </a:rPr>
              <a:t>(Accuracy)</a:t>
            </a:r>
            <a:r>
              <a:rPr lang="zh-CN" altLang="en-US" sz="2200" dirty="0">
                <a:latin typeface="微软雅黑" panose="020B0503020204020204" pitchFamily="34" charset="-122"/>
                <a:ea typeface="微软雅黑" panose="020B0503020204020204" pitchFamily="34" charset="-122"/>
                <a:sym typeface="+mn-ea"/>
              </a:rPr>
              <a:t>是指在分类中，分类正确的记录个数占总记录个数的比。</a:t>
            </a:r>
          </a:p>
        </p:txBody>
      </p:sp>
      <p:sp>
        <p:nvSpPr>
          <p:cNvPr id="6" name="矩形 5">
            <a:extLst>
              <a:ext uri="{FF2B5EF4-FFF2-40B4-BE49-F238E27FC236}">
                <a16:creationId xmlns:a16="http://schemas.microsoft.com/office/drawing/2014/main" id="{2DB8D42E-8C21-1C1F-3068-F9EB3BE40F46}"/>
              </a:ext>
            </a:extLst>
          </p:cNvPr>
          <p:cNvSpPr/>
          <p:nvPr/>
        </p:nvSpPr>
        <p:spPr>
          <a:xfrm>
            <a:off x="304710" y="3447568"/>
            <a:ext cx="11402186" cy="2462213"/>
          </a:xfrm>
          <a:prstGeom prst="rect">
            <a:avLst/>
          </a:prstGeom>
        </p:spPr>
        <p:txBody>
          <a:bodyPr wrap="square" rtlCol="0" anchor="t">
            <a:spAutoFit/>
          </a:bodyPr>
          <a:lstStyle/>
          <a:p>
            <a:pPr lvl="0" indent="457200" algn="l"/>
            <a:r>
              <a:rPr lang="zh-CN" altLang="en-US" sz="2200" dirty="0">
                <a:solidFill>
                  <a:schemeClr val="tx1"/>
                </a:solidFill>
                <a:latin typeface="微软雅黑" panose="020B0503020204020204" pitchFamily="34" charset="-122"/>
                <a:ea typeface="微软雅黑" panose="020B0503020204020204" pitchFamily="34" charset="-122"/>
                <a:sym typeface="+mn-ea"/>
              </a:rPr>
              <a:t>通常，准确率高时，召回率偏低；召回率高时，准确率偏低。</a:t>
            </a:r>
            <a:endParaRPr lang="en-US" altLang="zh-CN" sz="2200" dirty="0">
              <a:solidFill>
                <a:schemeClr val="tx1"/>
              </a:solidFill>
              <a:latin typeface="微软雅黑" panose="020B0503020204020204" pitchFamily="34" charset="-122"/>
              <a:ea typeface="微软雅黑" panose="020B0503020204020204" pitchFamily="34" charset="-122"/>
              <a:sym typeface="+mn-ea"/>
            </a:endParaRPr>
          </a:p>
          <a:p>
            <a:pPr lvl="0" indent="457200" algn="l"/>
            <a:endParaRPr lang="zh-CN" altLang="en-US" sz="2200" dirty="0">
              <a:solidFill>
                <a:schemeClr val="tx1"/>
              </a:solidFill>
              <a:latin typeface="微软雅黑" panose="020B0503020204020204" pitchFamily="34" charset="-122"/>
              <a:ea typeface="微软雅黑" panose="020B0503020204020204" pitchFamily="34" charset="-122"/>
              <a:sym typeface="+mn-ea"/>
            </a:endParaRPr>
          </a:p>
          <a:p>
            <a:pPr lvl="0" indent="457200" algn="l"/>
            <a:r>
              <a:rPr lang="zh-CN" altLang="en-US" sz="2200" b="1" dirty="0">
                <a:solidFill>
                  <a:srgbClr val="009900"/>
                </a:solidFill>
                <a:latin typeface="微软雅黑" panose="020B0503020204020204" pitchFamily="34" charset="-122"/>
                <a:ea typeface="微软雅黑" panose="020B0503020204020204" pitchFamily="34" charset="-122"/>
                <a:sym typeface="+mn-ea"/>
              </a:rPr>
              <a:t>1. 地震的预测</a:t>
            </a:r>
            <a:endParaRPr lang="zh-CN" altLang="en-US" sz="2200" dirty="0">
              <a:solidFill>
                <a:schemeClr val="tx1"/>
              </a:solidFill>
              <a:latin typeface="微软雅黑" panose="020B0503020204020204" pitchFamily="34" charset="-122"/>
              <a:ea typeface="微软雅黑" panose="020B0503020204020204" pitchFamily="34" charset="-122"/>
              <a:sym typeface="+mn-ea"/>
            </a:endParaRPr>
          </a:p>
          <a:p>
            <a:pPr lvl="0" indent="457200" algn="l"/>
            <a:r>
              <a:rPr lang="zh-CN" altLang="en-US" sz="2200" dirty="0">
                <a:solidFill>
                  <a:schemeClr val="tx1"/>
                </a:solidFill>
                <a:latin typeface="微软雅黑" panose="020B0503020204020204" pitchFamily="34" charset="-122"/>
                <a:ea typeface="微软雅黑" panose="020B0503020204020204" pitchFamily="34" charset="-122"/>
                <a:sym typeface="+mn-ea"/>
              </a:rPr>
              <a:t>对于地震的预测，我们希望的是</a:t>
            </a:r>
            <a:r>
              <a:rPr lang="zh-CN" altLang="en-US" sz="2200" dirty="0">
                <a:latin typeface="微软雅黑" panose="020B0503020204020204" pitchFamily="34" charset="-122"/>
                <a:ea typeface="微软雅黑" panose="020B0503020204020204" pitchFamily="34" charset="-122"/>
                <a:sym typeface="+mn-ea"/>
              </a:rPr>
              <a:t>召回率</a:t>
            </a:r>
            <a:r>
              <a:rPr lang="zh-CN" altLang="en-US" sz="2200" dirty="0">
                <a:solidFill>
                  <a:schemeClr val="tx1"/>
                </a:solidFill>
                <a:latin typeface="微软雅黑" panose="020B0503020204020204" pitchFamily="34" charset="-122"/>
                <a:ea typeface="微软雅黑" panose="020B0503020204020204" pitchFamily="34" charset="-122"/>
                <a:sym typeface="+mn-ea"/>
              </a:rPr>
              <a:t>非常高，也就是说每次地震我们都希望预测出来。</a:t>
            </a:r>
            <a:endParaRPr lang="en-US" altLang="zh-CN" sz="2200" dirty="0">
              <a:solidFill>
                <a:schemeClr val="tx1"/>
              </a:solidFill>
              <a:latin typeface="微软雅黑" panose="020B0503020204020204" pitchFamily="34" charset="-122"/>
              <a:ea typeface="微软雅黑" panose="020B0503020204020204" pitchFamily="34" charset="-122"/>
              <a:sym typeface="+mn-ea"/>
            </a:endParaRPr>
          </a:p>
          <a:p>
            <a:pPr lvl="0" indent="457200" algn="l"/>
            <a:r>
              <a:rPr lang="zh-CN" altLang="en-US" sz="2200" b="1" dirty="0">
                <a:solidFill>
                  <a:srgbClr val="009900"/>
                </a:solidFill>
                <a:latin typeface="微软雅黑" panose="020B0503020204020204" pitchFamily="34" charset="-122"/>
                <a:ea typeface="微软雅黑" panose="020B0503020204020204" pitchFamily="34" charset="-122"/>
                <a:sym typeface="+mn-ea"/>
              </a:rPr>
              <a:t>2. 嫌疑人定罪</a:t>
            </a:r>
            <a:endParaRPr lang="zh-CN" altLang="en-US" sz="2200" dirty="0">
              <a:solidFill>
                <a:schemeClr val="tx1"/>
              </a:solidFill>
              <a:latin typeface="微软雅黑" panose="020B0503020204020204" pitchFamily="34" charset="-122"/>
              <a:ea typeface="微软雅黑" panose="020B0503020204020204" pitchFamily="34" charset="-122"/>
              <a:sym typeface="+mn-ea"/>
            </a:endParaRPr>
          </a:p>
          <a:p>
            <a:pPr lvl="0" indent="457200" algn="l"/>
            <a:r>
              <a:rPr lang="zh-CN" altLang="en-US" sz="2200" dirty="0">
                <a:solidFill>
                  <a:schemeClr val="tx1"/>
                </a:solidFill>
                <a:latin typeface="微软雅黑" panose="020B0503020204020204" pitchFamily="34" charset="-122"/>
                <a:ea typeface="微软雅黑" panose="020B0503020204020204" pitchFamily="34" charset="-122"/>
                <a:sym typeface="+mn-ea"/>
              </a:rPr>
              <a:t>基于不错怪一个好人的原则，对于嫌疑人的定罪我们希望是非常准确的。及时有时候放过了一些罪犯（</a:t>
            </a:r>
            <a:r>
              <a:rPr lang="zh-CN" altLang="en-US" sz="2200" dirty="0">
                <a:latin typeface="微软雅黑" panose="020B0503020204020204" pitchFamily="34" charset="-122"/>
                <a:ea typeface="微软雅黑" panose="020B0503020204020204" pitchFamily="34" charset="-122"/>
                <a:sym typeface="+mn-ea"/>
              </a:rPr>
              <a:t>召回率</a:t>
            </a:r>
            <a:r>
              <a:rPr lang="zh-CN" altLang="en-US" sz="2200" dirty="0">
                <a:solidFill>
                  <a:schemeClr val="tx1"/>
                </a:solidFill>
                <a:latin typeface="微软雅黑" panose="020B0503020204020204" pitchFamily="34" charset="-122"/>
                <a:ea typeface="微软雅黑" panose="020B0503020204020204" pitchFamily="34" charset="-122"/>
                <a:sym typeface="+mn-ea"/>
              </a:rPr>
              <a:t>低），但也是值得的。</a:t>
            </a:r>
          </a:p>
        </p:txBody>
      </p:sp>
      <p:sp>
        <p:nvSpPr>
          <p:cNvPr id="7" name="矩形 6">
            <a:extLst>
              <a:ext uri="{FF2B5EF4-FFF2-40B4-BE49-F238E27FC236}">
                <a16:creationId xmlns:a16="http://schemas.microsoft.com/office/drawing/2014/main" id="{DAF86FDB-DFEB-F66A-5B94-7AC1EE63BA9A}"/>
              </a:ext>
            </a:extLst>
          </p:cNvPr>
          <p:cNvSpPr/>
          <p:nvPr/>
        </p:nvSpPr>
        <p:spPr>
          <a:xfrm>
            <a:off x="148275" y="2759505"/>
            <a:ext cx="10689540" cy="430887"/>
          </a:xfrm>
          <a:prstGeom prst="rect">
            <a:avLst/>
          </a:prstGeom>
        </p:spPr>
        <p:txBody>
          <a:bodyPr wrap="square">
            <a:spAutoFit/>
          </a:bodyPr>
          <a:lstStyle/>
          <a:p>
            <a:r>
              <a:rPr lang="zh-CN" altLang="en-US" sz="2000" b="1" dirty="0">
                <a:solidFill>
                  <a:srgbClr val="0070C0"/>
                </a:solidFill>
                <a:latin typeface="微软雅黑"/>
                <a:ea typeface="微软雅黑"/>
                <a:sym typeface="+mn-ea"/>
              </a:rPr>
              <a:t>    </a:t>
            </a:r>
            <a:r>
              <a:rPr lang="zh-CN" altLang="en-US" sz="2200" b="1" dirty="0">
                <a:solidFill>
                  <a:srgbClr val="0070C0"/>
                </a:solidFill>
                <a:latin typeface="微软雅黑"/>
                <a:ea typeface="微软雅黑"/>
                <a:sym typeface="+mn-ea"/>
              </a:rPr>
              <a:t>召回率</a:t>
            </a:r>
            <a:r>
              <a:rPr lang="en-US" altLang="zh-CN" sz="2200" b="1" dirty="0">
                <a:solidFill>
                  <a:srgbClr val="0070C0"/>
                </a:solidFill>
                <a:latin typeface="微软雅黑"/>
                <a:ea typeface="微软雅黑"/>
                <a:sym typeface="+mn-ea"/>
              </a:rPr>
              <a:t>(Recall)</a:t>
            </a:r>
            <a:r>
              <a:rPr lang="zh-CN" altLang="en-US" sz="2200" dirty="0">
                <a:latin typeface="微软雅黑" panose="020B0503020204020204" pitchFamily="34" charset="-122"/>
                <a:ea typeface="微软雅黑" panose="020B0503020204020204" pitchFamily="34" charset="-122"/>
                <a:sym typeface="+mn-ea"/>
              </a:rPr>
              <a:t>也叫查全率，是指在分类中样本中的正例有多少被预测正确了。</a:t>
            </a:r>
          </a:p>
        </p:txBody>
      </p:sp>
      <p:graphicFrame>
        <p:nvGraphicFramePr>
          <p:cNvPr id="8" name="对象 7">
            <a:extLst>
              <a:ext uri="{FF2B5EF4-FFF2-40B4-BE49-F238E27FC236}">
                <a16:creationId xmlns:a16="http://schemas.microsoft.com/office/drawing/2014/main" id="{27B42D35-B285-BBF5-E174-38301B1CD76A}"/>
              </a:ext>
            </a:extLst>
          </p:cNvPr>
          <p:cNvGraphicFramePr>
            <a:graphicFrameLocks noChangeAspect="1"/>
          </p:cNvGraphicFramePr>
          <p:nvPr>
            <p:extLst>
              <p:ext uri="{D42A27DB-BD31-4B8C-83A1-F6EECF244321}">
                <p14:modId xmlns:p14="http://schemas.microsoft.com/office/powerpoint/2010/main" val="2284228302"/>
              </p:ext>
            </p:extLst>
          </p:nvPr>
        </p:nvGraphicFramePr>
        <p:xfrm>
          <a:off x="4146459" y="1832166"/>
          <a:ext cx="2340665" cy="884251"/>
        </p:xfrm>
        <a:graphic>
          <a:graphicData uri="http://schemas.openxmlformats.org/presentationml/2006/ole">
            <mc:AlternateContent xmlns:mc="http://schemas.openxmlformats.org/markup-compatibility/2006">
              <mc:Choice xmlns:v="urn:schemas-microsoft-com:vml" Requires="v">
                <p:oleObj name="公式" r:id="rId2" imgW="1143000" imgH="431800" progId="Equation.3">
                  <p:embed/>
                </p:oleObj>
              </mc:Choice>
              <mc:Fallback>
                <p:oleObj name="公式" r:id="rId2" imgW="1143000" imgH="431800" progId="Equation.3">
                  <p:embed/>
                  <p:pic>
                    <p:nvPicPr>
                      <p:cNvPr id="7" name="对象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6459" y="1832166"/>
                        <a:ext cx="2340665" cy="8842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70048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CF9FF3-73AE-460D-3ECE-89B15DFD737D}"/>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F76EC68F-3BC9-F9F9-03B3-C4CF72F74F34}"/>
              </a:ext>
            </a:extLst>
          </p:cNvPr>
          <p:cNvSpPr/>
          <p:nvPr/>
        </p:nvSpPr>
        <p:spPr>
          <a:xfrm>
            <a:off x="10277061" y="5758070"/>
            <a:ext cx="768626" cy="2915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a:extLst>
              <a:ext uri="{FF2B5EF4-FFF2-40B4-BE49-F238E27FC236}">
                <a16:creationId xmlns:a16="http://schemas.microsoft.com/office/drawing/2014/main" id="{B058C9D3-B969-6622-0B79-A14FBD7498DC}"/>
              </a:ext>
            </a:extLst>
          </p:cNvPr>
          <p:cNvSpPr/>
          <p:nvPr/>
        </p:nvSpPr>
        <p:spPr>
          <a:xfrm>
            <a:off x="7567664" y="1410193"/>
            <a:ext cx="2632700" cy="373915"/>
          </a:xfrm>
          <a:prstGeom prst="rect">
            <a:avLst/>
          </a:prstGeom>
        </p:spPr>
        <p:txBody>
          <a:bodyPr wrap="square" rtlCol="0" anchor="t">
            <a:spAutoFit/>
          </a:bodyPr>
          <a:lstStyle/>
          <a:p>
            <a:pPr lvl="0" indent="0" algn="l">
              <a:buFont typeface="Wingdings" panose="05000000000000000000" charset="0"/>
              <a:buNone/>
            </a:pPr>
            <a:r>
              <a:rPr lang="zh-CN" altLang="en-US" b="1" dirty="0">
                <a:solidFill>
                  <a:schemeClr val="tx1"/>
                </a:solidFill>
                <a:latin typeface="微软雅黑" panose="020B0503020204020204" pitchFamily="34" charset="-122"/>
                <a:ea typeface="微软雅黑" panose="020B0503020204020204" pitchFamily="34" charset="-122"/>
                <a:sym typeface="+mn-ea"/>
              </a:rPr>
              <a:t>分类结果混淆矩阵</a:t>
            </a:r>
          </a:p>
        </p:txBody>
      </p:sp>
      <p:sp>
        <p:nvSpPr>
          <p:cNvPr id="7" name="矩形 6">
            <a:extLst>
              <a:ext uri="{FF2B5EF4-FFF2-40B4-BE49-F238E27FC236}">
                <a16:creationId xmlns:a16="http://schemas.microsoft.com/office/drawing/2014/main" id="{0836B61C-2DCC-F754-6BF6-FBB24E4C2EBB}"/>
              </a:ext>
            </a:extLst>
          </p:cNvPr>
          <p:cNvSpPr/>
          <p:nvPr/>
        </p:nvSpPr>
        <p:spPr>
          <a:xfrm>
            <a:off x="1411605" y="400050"/>
            <a:ext cx="545964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性能评价指标</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分类</a:t>
            </a:r>
          </a:p>
        </p:txBody>
      </p:sp>
      <p:sp>
        <p:nvSpPr>
          <p:cNvPr id="8" name="矩形 7">
            <a:extLst>
              <a:ext uri="{FF2B5EF4-FFF2-40B4-BE49-F238E27FC236}">
                <a16:creationId xmlns:a16="http://schemas.microsoft.com/office/drawing/2014/main" id="{70CDCD4E-B9CE-F01C-5826-18AF44057497}"/>
              </a:ext>
            </a:extLst>
          </p:cNvPr>
          <p:cNvSpPr/>
          <p:nvPr/>
        </p:nvSpPr>
        <p:spPr>
          <a:xfrm>
            <a:off x="267494" y="1410193"/>
            <a:ext cx="5547360" cy="707886"/>
          </a:xfrm>
          <a:prstGeom prst="rect">
            <a:avLst/>
          </a:prstGeom>
        </p:spPr>
        <p:txBody>
          <a:bodyPr wrap="square">
            <a:spAutoFit/>
          </a:bodyPr>
          <a:lstStyle/>
          <a:p>
            <a:r>
              <a:rPr lang="zh-CN" altLang="en-US" sz="2000" b="1" dirty="0">
                <a:solidFill>
                  <a:srgbClr val="0070C0"/>
                </a:solidFill>
                <a:latin typeface="微软雅黑"/>
                <a:ea typeface="微软雅黑"/>
                <a:sym typeface="+mn-ea"/>
              </a:rPr>
              <a:t>准确率</a:t>
            </a:r>
            <a:r>
              <a:rPr lang="en-US" altLang="zh-CN" sz="2000" b="1" dirty="0">
                <a:solidFill>
                  <a:srgbClr val="0070C0"/>
                </a:solidFill>
                <a:latin typeface="微软雅黑"/>
                <a:ea typeface="微软雅黑"/>
                <a:sym typeface="+mn-ea"/>
              </a:rPr>
              <a:t>(Accuracy)</a:t>
            </a:r>
            <a:r>
              <a:rPr lang="zh-CN" altLang="en-US" sz="2000" b="1" dirty="0">
                <a:solidFill>
                  <a:srgbClr val="0070C0"/>
                </a:solidFill>
                <a:latin typeface="微软雅黑"/>
                <a:ea typeface="微软雅黑"/>
                <a:sym typeface="+mn-ea"/>
              </a:rPr>
              <a:t>：</a:t>
            </a:r>
            <a:r>
              <a:rPr lang="zh-CN" altLang="en-US" sz="2000" dirty="0">
                <a:latin typeface="微软雅黑" panose="020B0503020204020204" pitchFamily="34" charset="-122"/>
                <a:ea typeface="微软雅黑" panose="020B0503020204020204" pitchFamily="34" charset="-122"/>
                <a:sym typeface="+mn-ea"/>
              </a:rPr>
              <a:t>分类正确的样本个数占所有样本个数的比例</a:t>
            </a:r>
          </a:p>
        </p:txBody>
      </p:sp>
      <p:sp>
        <p:nvSpPr>
          <p:cNvPr id="9" name="矩形 8">
            <a:extLst>
              <a:ext uri="{FF2B5EF4-FFF2-40B4-BE49-F238E27FC236}">
                <a16:creationId xmlns:a16="http://schemas.microsoft.com/office/drawing/2014/main" id="{95A0425D-691E-9EF4-06BA-FA29DF6A2F78}"/>
              </a:ext>
            </a:extLst>
          </p:cNvPr>
          <p:cNvSpPr/>
          <p:nvPr/>
        </p:nvSpPr>
        <p:spPr>
          <a:xfrm>
            <a:off x="218253" y="2648152"/>
            <a:ext cx="6096000" cy="707886"/>
          </a:xfrm>
          <a:prstGeom prst="rect">
            <a:avLst/>
          </a:prstGeom>
        </p:spPr>
        <p:txBody>
          <a:bodyPr>
            <a:spAutoFit/>
          </a:bodyPr>
          <a:lstStyle/>
          <a:p>
            <a:r>
              <a:rPr lang="zh-CN" altLang="en-US" sz="2000" b="1" dirty="0">
                <a:solidFill>
                  <a:srgbClr val="0070C0"/>
                </a:solidFill>
                <a:latin typeface="微软雅黑"/>
                <a:ea typeface="微软雅黑"/>
                <a:sym typeface="+mn-ea"/>
              </a:rPr>
              <a:t>平均准确率</a:t>
            </a:r>
            <a:r>
              <a:rPr lang="en-US" altLang="zh-CN" sz="2000" b="1" dirty="0">
                <a:solidFill>
                  <a:srgbClr val="0070C0"/>
                </a:solidFill>
                <a:latin typeface="微软雅黑"/>
                <a:ea typeface="微软雅黑"/>
                <a:sym typeface="+mn-ea"/>
              </a:rPr>
              <a:t>(Average per-class accuracy)</a:t>
            </a:r>
            <a:r>
              <a:rPr lang="zh-CN" altLang="en-US" sz="2000" b="1" dirty="0">
                <a:solidFill>
                  <a:srgbClr val="0070C0"/>
                </a:solidFill>
                <a:latin typeface="微软雅黑"/>
                <a:ea typeface="微软雅黑"/>
                <a:sym typeface="+mn-ea"/>
              </a:rPr>
              <a:t>：</a:t>
            </a:r>
            <a:r>
              <a:rPr lang="zh-CN" altLang="en-US" sz="2000" dirty="0">
                <a:latin typeface="微软雅黑" panose="020B0503020204020204" pitchFamily="34" charset="-122"/>
                <a:ea typeface="微软雅黑" panose="020B0503020204020204" pitchFamily="34" charset="-122"/>
                <a:sym typeface="+mn-ea"/>
              </a:rPr>
              <a:t>每个类别下的准确率的算术平均</a:t>
            </a:r>
          </a:p>
        </p:txBody>
      </p:sp>
      <p:sp>
        <p:nvSpPr>
          <p:cNvPr id="10" name="矩形 9">
            <a:extLst>
              <a:ext uri="{FF2B5EF4-FFF2-40B4-BE49-F238E27FC236}">
                <a16:creationId xmlns:a16="http://schemas.microsoft.com/office/drawing/2014/main" id="{F1A8107C-B187-7E03-6473-53271C8F3BD2}"/>
              </a:ext>
            </a:extLst>
          </p:cNvPr>
          <p:cNvSpPr/>
          <p:nvPr/>
        </p:nvSpPr>
        <p:spPr>
          <a:xfrm>
            <a:off x="232322" y="3970517"/>
            <a:ext cx="5737273" cy="707886"/>
          </a:xfrm>
          <a:prstGeom prst="rect">
            <a:avLst/>
          </a:prstGeom>
        </p:spPr>
        <p:txBody>
          <a:bodyPr wrap="square">
            <a:spAutoFit/>
          </a:bodyPr>
          <a:lstStyle/>
          <a:p>
            <a:r>
              <a:rPr lang="zh-CN" altLang="en-US" sz="2000" b="1" dirty="0">
                <a:solidFill>
                  <a:srgbClr val="0070C0"/>
                </a:solidFill>
                <a:latin typeface="微软雅黑"/>
                <a:ea typeface="微软雅黑"/>
                <a:sym typeface="+mn-ea"/>
              </a:rPr>
              <a:t>精确率</a:t>
            </a:r>
            <a:r>
              <a:rPr lang="en-US" altLang="zh-CN" sz="2000" b="1" dirty="0">
                <a:solidFill>
                  <a:srgbClr val="0070C0"/>
                </a:solidFill>
                <a:latin typeface="微软雅黑"/>
                <a:ea typeface="微软雅黑"/>
                <a:sym typeface="+mn-ea"/>
              </a:rPr>
              <a:t>(Precision)</a:t>
            </a:r>
            <a:r>
              <a:rPr lang="zh-CN" altLang="en-US" sz="2000" b="1" dirty="0">
                <a:solidFill>
                  <a:srgbClr val="0070C0"/>
                </a:solidFill>
                <a:latin typeface="微软雅黑"/>
                <a:ea typeface="微软雅黑"/>
                <a:sym typeface="+mn-ea"/>
              </a:rPr>
              <a:t>：</a:t>
            </a:r>
            <a:r>
              <a:rPr lang="zh-CN" altLang="en-US" sz="2000" dirty="0">
                <a:latin typeface="微软雅黑" panose="020B0503020204020204" pitchFamily="34" charset="-122"/>
                <a:ea typeface="微软雅黑" panose="020B0503020204020204" pitchFamily="34" charset="-122"/>
                <a:sym typeface="+mn-ea"/>
              </a:rPr>
              <a:t>分类正确的正样本个数占分类器所有的正样本个数的比例</a:t>
            </a:r>
          </a:p>
        </p:txBody>
      </p:sp>
      <p:sp>
        <p:nvSpPr>
          <p:cNvPr id="11" name="矩形 10">
            <a:extLst>
              <a:ext uri="{FF2B5EF4-FFF2-40B4-BE49-F238E27FC236}">
                <a16:creationId xmlns:a16="http://schemas.microsoft.com/office/drawing/2014/main" id="{5E773B4D-2896-CF80-370A-CD24B7B571AB}"/>
              </a:ext>
            </a:extLst>
          </p:cNvPr>
          <p:cNvSpPr/>
          <p:nvPr/>
        </p:nvSpPr>
        <p:spPr>
          <a:xfrm>
            <a:off x="208875" y="5370252"/>
            <a:ext cx="5598941" cy="707886"/>
          </a:xfrm>
          <a:prstGeom prst="rect">
            <a:avLst/>
          </a:prstGeom>
        </p:spPr>
        <p:txBody>
          <a:bodyPr wrap="square">
            <a:spAutoFit/>
          </a:bodyPr>
          <a:lstStyle/>
          <a:p>
            <a:r>
              <a:rPr lang="zh-CN" altLang="en-US" sz="2000" b="1" dirty="0">
                <a:solidFill>
                  <a:srgbClr val="0070C0"/>
                </a:solidFill>
                <a:latin typeface="微软雅黑"/>
                <a:ea typeface="微软雅黑"/>
                <a:sym typeface="+mn-ea"/>
              </a:rPr>
              <a:t>召回率</a:t>
            </a:r>
            <a:r>
              <a:rPr lang="en-US" altLang="zh-CN" sz="2000" b="1" dirty="0">
                <a:solidFill>
                  <a:srgbClr val="0070C0"/>
                </a:solidFill>
                <a:latin typeface="微软雅黑"/>
                <a:ea typeface="微软雅黑"/>
                <a:sym typeface="+mn-ea"/>
              </a:rPr>
              <a:t>(Recall)</a:t>
            </a:r>
            <a:r>
              <a:rPr lang="zh-CN" altLang="en-US" sz="2000" b="1" dirty="0">
                <a:solidFill>
                  <a:srgbClr val="0070C0"/>
                </a:solidFill>
                <a:latin typeface="微软雅黑"/>
                <a:ea typeface="微软雅黑"/>
                <a:sym typeface="+mn-ea"/>
              </a:rPr>
              <a:t>：</a:t>
            </a:r>
            <a:r>
              <a:rPr lang="zh-CN" altLang="en-US" sz="2000" dirty="0">
                <a:latin typeface="微软雅黑" panose="020B0503020204020204" pitchFamily="34" charset="-122"/>
                <a:ea typeface="微软雅黑" panose="020B0503020204020204" pitchFamily="34" charset="-122"/>
                <a:sym typeface="+mn-ea"/>
              </a:rPr>
              <a:t>分类正确的正样本个数占正样本个数的比例</a:t>
            </a:r>
          </a:p>
        </p:txBody>
      </p:sp>
      <p:sp>
        <p:nvSpPr>
          <p:cNvPr id="12" name="矩形 11">
            <a:extLst>
              <a:ext uri="{FF2B5EF4-FFF2-40B4-BE49-F238E27FC236}">
                <a16:creationId xmlns:a16="http://schemas.microsoft.com/office/drawing/2014/main" id="{5A4A075F-96F9-5353-B1F8-55CD8B61DD14}"/>
              </a:ext>
            </a:extLst>
          </p:cNvPr>
          <p:cNvSpPr/>
          <p:nvPr/>
        </p:nvSpPr>
        <p:spPr>
          <a:xfrm>
            <a:off x="6424246" y="4174980"/>
            <a:ext cx="5673969" cy="707886"/>
          </a:xfrm>
          <a:prstGeom prst="rect">
            <a:avLst/>
          </a:prstGeom>
        </p:spPr>
        <p:txBody>
          <a:bodyPr wrap="square">
            <a:spAutoFit/>
          </a:bodyPr>
          <a:lstStyle/>
          <a:p>
            <a:r>
              <a:rPr lang="en-US" altLang="zh-CN" sz="2000" b="1" dirty="0">
                <a:solidFill>
                  <a:srgbClr val="0070C0"/>
                </a:solidFill>
                <a:latin typeface="微软雅黑"/>
                <a:ea typeface="微软雅黑"/>
                <a:sym typeface="+mn-ea"/>
              </a:rPr>
              <a:t>F1-Score</a:t>
            </a:r>
            <a:r>
              <a:rPr lang="zh-CN" altLang="en-US" sz="2000" b="1" dirty="0">
                <a:solidFill>
                  <a:srgbClr val="0070C0"/>
                </a:solidFill>
                <a:latin typeface="微软雅黑"/>
                <a:ea typeface="微软雅黑"/>
                <a:sym typeface="+mn-ea"/>
              </a:rPr>
              <a:t>：</a:t>
            </a:r>
            <a:r>
              <a:rPr lang="zh-CN" altLang="en-US" sz="2000" dirty="0">
                <a:latin typeface="微软雅黑" panose="020B0503020204020204" pitchFamily="34" charset="-122"/>
                <a:ea typeface="微软雅黑" panose="020B0503020204020204" pitchFamily="34" charset="-122"/>
                <a:sym typeface="+mn-ea"/>
              </a:rPr>
              <a:t>精确率与召回率的调和平均值，它的值更接近于</a:t>
            </a:r>
            <a:r>
              <a:rPr lang="en-US" altLang="zh-CN" sz="2000" dirty="0">
                <a:latin typeface="微软雅黑" panose="020B0503020204020204" pitchFamily="34" charset="-122"/>
                <a:ea typeface="微软雅黑" panose="020B0503020204020204" pitchFamily="34" charset="-122"/>
                <a:sym typeface="+mn-ea"/>
              </a:rPr>
              <a:t>Precision</a:t>
            </a:r>
            <a:r>
              <a:rPr lang="zh-CN" altLang="en-US" sz="2000" dirty="0">
                <a:latin typeface="微软雅黑" panose="020B0503020204020204" pitchFamily="34" charset="-122"/>
                <a:ea typeface="微软雅黑" panose="020B0503020204020204" pitchFamily="34" charset="-122"/>
                <a:sym typeface="+mn-ea"/>
              </a:rPr>
              <a:t>与</a:t>
            </a:r>
            <a:r>
              <a:rPr lang="en-US" altLang="zh-CN" sz="2000" dirty="0">
                <a:latin typeface="微软雅黑" panose="020B0503020204020204" pitchFamily="34" charset="-122"/>
                <a:ea typeface="微软雅黑" panose="020B0503020204020204" pitchFamily="34" charset="-122"/>
                <a:sym typeface="+mn-ea"/>
              </a:rPr>
              <a:t>Recall</a:t>
            </a:r>
            <a:r>
              <a:rPr lang="zh-CN" altLang="en-US" sz="2000" dirty="0">
                <a:latin typeface="微软雅黑" panose="020B0503020204020204" pitchFamily="34" charset="-122"/>
                <a:ea typeface="微软雅黑" panose="020B0503020204020204" pitchFamily="34" charset="-122"/>
                <a:sym typeface="+mn-ea"/>
              </a:rPr>
              <a:t>中较小的值</a:t>
            </a:r>
          </a:p>
        </p:txBody>
      </p:sp>
      <p:pic>
        <p:nvPicPr>
          <p:cNvPr id="13" name="Picture 2">
            <a:extLst>
              <a:ext uri="{FF2B5EF4-FFF2-40B4-BE49-F238E27FC236}">
                <a16:creationId xmlns:a16="http://schemas.microsoft.com/office/drawing/2014/main" id="{889A255A-413D-0242-9AEF-A0A51EDC5B32}"/>
              </a:ext>
            </a:extLst>
          </p:cNvPr>
          <p:cNvPicPr>
            <a:picLocks noChangeAspect="1" noChangeArrowheads="1"/>
          </p:cNvPicPr>
          <p:nvPr/>
        </p:nvPicPr>
        <p:blipFill>
          <a:blip r:embed="rId2"/>
          <a:srcRect/>
          <a:stretch>
            <a:fillRect/>
          </a:stretch>
        </p:blipFill>
        <p:spPr bwMode="auto">
          <a:xfrm>
            <a:off x="937319" y="2068934"/>
            <a:ext cx="3766184" cy="625431"/>
          </a:xfrm>
          <a:prstGeom prst="rect">
            <a:avLst/>
          </a:prstGeom>
          <a:noFill/>
          <a:ln w="9525">
            <a:noFill/>
            <a:miter lim="800000"/>
            <a:headEnd/>
            <a:tailEnd/>
          </a:ln>
          <a:effectLst/>
        </p:spPr>
      </p:pic>
      <p:pic>
        <p:nvPicPr>
          <p:cNvPr id="14" name="Picture 3">
            <a:extLst>
              <a:ext uri="{FF2B5EF4-FFF2-40B4-BE49-F238E27FC236}">
                <a16:creationId xmlns:a16="http://schemas.microsoft.com/office/drawing/2014/main" id="{98041B47-822B-8449-5513-AB690053ADF4}"/>
              </a:ext>
            </a:extLst>
          </p:cNvPr>
          <p:cNvPicPr>
            <a:picLocks noChangeAspect="1" noChangeArrowheads="1"/>
          </p:cNvPicPr>
          <p:nvPr/>
        </p:nvPicPr>
        <p:blipFill>
          <a:blip r:embed="rId3"/>
          <a:srcRect/>
          <a:stretch>
            <a:fillRect/>
          </a:stretch>
        </p:blipFill>
        <p:spPr bwMode="auto">
          <a:xfrm>
            <a:off x="558958" y="3323009"/>
            <a:ext cx="4552510" cy="730838"/>
          </a:xfrm>
          <a:prstGeom prst="rect">
            <a:avLst/>
          </a:prstGeom>
          <a:noFill/>
          <a:ln w="9525">
            <a:noFill/>
            <a:miter lim="800000"/>
            <a:headEnd/>
            <a:tailEnd/>
          </a:ln>
          <a:effectLst/>
        </p:spPr>
      </p:pic>
      <p:pic>
        <p:nvPicPr>
          <p:cNvPr id="15" name="Picture 4">
            <a:extLst>
              <a:ext uri="{FF2B5EF4-FFF2-40B4-BE49-F238E27FC236}">
                <a16:creationId xmlns:a16="http://schemas.microsoft.com/office/drawing/2014/main" id="{AE8E3422-6367-BFAB-7A8F-5A28F0133496}"/>
              </a:ext>
            </a:extLst>
          </p:cNvPr>
          <p:cNvPicPr>
            <a:picLocks noChangeAspect="1" noChangeArrowheads="1"/>
          </p:cNvPicPr>
          <p:nvPr/>
        </p:nvPicPr>
        <p:blipFill>
          <a:blip r:embed="rId4"/>
          <a:srcRect/>
          <a:stretch>
            <a:fillRect/>
          </a:stretch>
        </p:blipFill>
        <p:spPr bwMode="auto">
          <a:xfrm>
            <a:off x="1367117" y="4696663"/>
            <a:ext cx="2851052" cy="742461"/>
          </a:xfrm>
          <a:prstGeom prst="rect">
            <a:avLst/>
          </a:prstGeom>
          <a:noFill/>
          <a:ln w="9525">
            <a:noFill/>
            <a:miter lim="800000"/>
            <a:headEnd/>
            <a:tailEnd/>
          </a:ln>
          <a:effectLst/>
        </p:spPr>
      </p:pic>
      <p:pic>
        <p:nvPicPr>
          <p:cNvPr id="16" name="Picture 6">
            <a:extLst>
              <a:ext uri="{FF2B5EF4-FFF2-40B4-BE49-F238E27FC236}">
                <a16:creationId xmlns:a16="http://schemas.microsoft.com/office/drawing/2014/main" id="{EAC8FC05-EA6B-A9A4-4813-87C762B53534}"/>
              </a:ext>
            </a:extLst>
          </p:cNvPr>
          <p:cNvPicPr>
            <a:picLocks noChangeAspect="1" noChangeArrowheads="1"/>
          </p:cNvPicPr>
          <p:nvPr/>
        </p:nvPicPr>
        <p:blipFill>
          <a:blip r:embed="rId5"/>
          <a:srcRect/>
          <a:stretch>
            <a:fillRect/>
          </a:stretch>
        </p:blipFill>
        <p:spPr bwMode="auto">
          <a:xfrm>
            <a:off x="7362239" y="4909769"/>
            <a:ext cx="3793441" cy="935602"/>
          </a:xfrm>
          <a:prstGeom prst="rect">
            <a:avLst/>
          </a:prstGeom>
          <a:noFill/>
          <a:ln w="9525">
            <a:noFill/>
            <a:miter lim="800000"/>
            <a:headEnd/>
            <a:tailEnd/>
          </a:ln>
          <a:effectLst/>
        </p:spPr>
      </p:pic>
      <p:pic>
        <p:nvPicPr>
          <p:cNvPr id="17" name="Picture 5">
            <a:extLst>
              <a:ext uri="{FF2B5EF4-FFF2-40B4-BE49-F238E27FC236}">
                <a16:creationId xmlns:a16="http://schemas.microsoft.com/office/drawing/2014/main" id="{F815DF2B-89A4-17DE-39D4-B8E303EB8CFD}"/>
              </a:ext>
            </a:extLst>
          </p:cNvPr>
          <p:cNvPicPr>
            <a:picLocks noChangeAspect="1" noChangeArrowheads="1"/>
          </p:cNvPicPr>
          <p:nvPr/>
        </p:nvPicPr>
        <p:blipFill>
          <a:blip r:embed="rId6"/>
          <a:srcRect/>
          <a:stretch>
            <a:fillRect/>
          </a:stretch>
        </p:blipFill>
        <p:spPr bwMode="auto">
          <a:xfrm>
            <a:off x="1912238" y="5800767"/>
            <a:ext cx="2377440" cy="696575"/>
          </a:xfrm>
          <a:prstGeom prst="rect">
            <a:avLst/>
          </a:prstGeom>
          <a:noFill/>
          <a:ln w="9525">
            <a:noFill/>
            <a:miter lim="800000"/>
            <a:headEnd/>
            <a:tailEnd/>
          </a:ln>
          <a:effectLst/>
        </p:spPr>
      </p:pic>
      <p:pic>
        <p:nvPicPr>
          <p:cNvPr id="4098" name="Picture 2">
            <a:extLst>
              <a:ext uri="{FF2B5EF4-FFF2-40B4-BE49-F238E27FC236}">
                <a16:creationId xmlns:a16="http://schemas.microsoft.com/office/drawing/2014/main" id="{471DB3E7-90F3-B06B-552B-CB61F46476F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3570" t="12784" r="24020" b="47034"/>
          <a:stretch/>
        </p:blipFill>
        <p:spPr bwMode="auto">
          <a:xfrm>
            <a:off x="6533920" y="1989622"/>
            <a:ext cx="4020016" cy="1672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640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12"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00472-67D8-439B-AEBA-131BCB82BBB9}"/>
              </a:ext>
            </a:extLst>
          </p:cNvPr>
          <p:cNvSpPr>
            <a:spLocks noGrp="1"/>
          </p:cNvSpPr>
          <p:nvPr>
            <p:ph type="title"/>
          </p:nvPr>
        </p:nvSpPr>
        <p:spPr/>
        <p:txBody>
          <a:bodyPr>
            <a:normAutofit fontScale="90000"/>
          </a:bodyPr>
          <a:lstStyle/>
          <a:p>
            <a:r>
              <a:rPr lang="zh-CN" altLang="en-US" sz="2400" dirty="0"/>
              <a:t>P-R曲线</a:t>
            </a:r>
            <a:endParaRPr lang="zh-CN" altLang="en-US" dirty="0"/>
          </a:p>
        </p:txBody>
      </p:sp>
      <p:sp>
        <p:nvSpPr>
          <p:cNvPr id="4" name="文本框 3">
            <a:extLst>
              <a:ext uri="{FF2B5EF4-FFF2-40B4-BE49-F238E27FC236}">
                <a16:creationId xmlns:a16="http://schemas.microsoft.com/office/drawing/2014/main" id="{9DA0D07F-E08B-4CD3-908E-0103E771D9FA}"/>
              </a:ext>
            </a:extLst>
          </p:cNvPr>
          <p:cNvSpPr txBox="1"/>
          <p:nvPr/>
        </p:nvSpPr>
        <p:spPr>
          <a:xfrm>
            <a:off x="669881" y="1134524"/>
            <a:ext cx="9788013" cy="923330"/>
          </a:xfrm>
          <a:prstGeom prst="rect">
            <a:avLst/>
          </a:prstGeom>
          <a:noFill/>
        </p:spPr>
        <p:txBody>
          <a:bodyPr wrap="square">
            <a:spAutoFit/>
          </a:bodyPr>
          <a:lstStyle/>
          <a:p>
            <a:r>
              <a:rPr lang="zh-CN" altLang="en-US" b="0" i="0" dirty="0">
                <a:solidFill>
                  <a:srgbClr val="4D4D4D"/>
                </a:solidFill>
                <a:effectLst/>
                <a:latin typeface="-apple-system"/>
              </a:rPr>
              <a:t>将样本按照按照预测为正例的概率值从大到小进行排序，从第一个开始，逐个将当前样本点的预测值设置为阈值，有了阈值之后，即可得出混淆矩阵各项的数值，然后计算出</a:t>
            </a:r>
            <a:r>
              <a:rPr lang="en-US" altLang="zh-CN" b="0" i="0" dirty="0">
                <a:solidFill>
                  <a:srgbClr val="4D4D4D"/>
                </a:solidFill>
                <a:effectLst/>
                <a:latin typeface="-apple-system"/>
              </a:rPr>
              <a:t>P</a:t>
            </a:r>
            <a:r>
              <a:rPr lang="zh-CN" altLang="en-US" b="0" i="0" dirty="0">
                <a:solidFill>
                  <a:srgbClr val="4D4D4D"/>
                </a:solidFill>
                <a:effectLst/>
                <a:latin typeface="-apple-system"/>
              </a:rPr>
              <a:t>和</a:t>
            </a:r>
            <a:r>
              <a:rPr lang="en-US" altLang="zh-CN" b="0" i="0" dirty="0">
                <a:solidFill>
                  <a:srgbClr val="4D4D4D"/>
                </a:solidFill>
                <a:effectLst/>
                <a:latin typeface="-apple-system"/>
              </a:rPr>
              <a:t>R</a:t>
            </a:r>
            <a:r>
              <a:rPr lang="zh-CN" altLang="en-US" b="0" i="0" dirty="0">
                <a:solidFill>
                  <a:srgbClr val="4D4D4D"/>
                </a:solidFill>
                <a:effectLst/>
                <a:latin typeface="-apple-system"/>
              </a:rPr>
              <a:t>，以</a:t>
            </a:r>
            <a:r>
              <a:rPr lang="en-US" altLang="zh-CN" b="0" i="0" dirty="0">
                <a:solidFill>
                  <a:srgbClr val="4D4D4D"/>
                </a:solidFill>
                <a:effectLst/>
                <a:latin typeface="-apple-system"/>
              </a:rPr>
              <a:t>R</a:t>
            </a:r>
            <a:r>
              <a:rPr lang="zh-CN" altLang="en-US" b="0" i="0" dirty="0">
                <a:solidFill>
                  <a:srgbClr val="4D4D4D"/>
                </a:solidFill>
                <a:effectLst/>
                <a:latin typeface="-apple-system"/>
              </a:rPr>
              <a:t>为横坐标，</a:t>
            </a:r>
            <a:r>
              <a:rPr lang="en-US" altLang="zh-CN" b="0" i="0" dirty="0">
                <a:solidFill>
                  <a:srgbClr val="4D4D4D"/>
                </a:solidFill>
                <a:effectLst/>
                <a:latin typeface="-apple-system"/>
              </a:rPr>
              <a:t>P</a:t>
            </a:r>
            <a:r>
              <a:rPr lang="zh-CN" altLang="en-US" b="0" i="0" dirty="0">
                <a:solidFill>
                  <a:srgbClr val="4D4D4D"/>
                </a:solidFill>
                <a:effectLst/>
                <a:latin typeface="-apple-system"/>
              </a:rPr>
              <a:t>为纵坐标，绘制于图中，即可得出</a:t>
            </a:r>
            <a:r>
              <a:rPr lang="en-US" altLang="zh-CN" b="0" i="0" dirty="0">
                <a:solidFill>
                  <a:srgbClr val="4D4D4D"/>
                </a:solidFill>
                <a:effectLst/>
                <a:latin typeface="-apple-system"/>
              </a:rPr>
              <a:t>P-R</a:t>
            </a:r>
            <a:r>
              <a:rPr lang="zh-CN" altLang="en-US" b="0" i="0" dirty="0">
                <a:solidFill>
                  <a:srgbClr val="4D4D4D"/>
                </a:solidFill>
                <a:effectLst/>
                <a:latin typeface="-apple-system"/>
              </a:rPr>
              <a:t>曲线，示意图如下。</a:t>
            </a:r>
            <a:endParaRPr lang="zh-CN" altLang="en-US" dirty="0"/>
          </a:p>
        </p:txBody>
      </p:sp>
      <p:sp>
        <p:nvSpPr>
          <p:cNvPr id="5" name="AutoShape 2">
            <a:extLst>
              <a:ext uri="{FF2B5EF4-FFF2-40B4-BE49-F238E27FC236}">
                <a16:creationId xmlns:a16="http://schemas.microsoft.com/office/drawing/2014/main" id="{65CD2E7A-AEAB-4127-AEE2-2AA689374E6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7" name="图片 6">
            <a:extLst>
              <a:ext uri="{FF2B5EF4-FFF2-40B4-BE49-F238E27FC236}">
                <a16:creationId xmlns:a16="http://schemas.microsoft.com/office/drawing/2014/main" id="{CC37A7DA-C639-4773-857C-F3498FFD4806}"/>
              </a:ext>
            </a:extLst>
          </p:cNvPr>
          <p:cNvPicPr>
            <a:picLocks noChangeAspect="1"/>
          </p:cNvPicPr>
          <p:nvPr/>
        </p:nvPicPr>
        <p:blipFill>
          <a:blip r:embed="rId2"/>
          <a:stretch>
            <a:fillRect/>
          </a:stretch>
        </p:blipFill>
        <p:spPr>
          <a:xfrm>
            <a:off x="0" y="2202067"/>
            <a:ext cx="5257800" cy="4276725"/>
          </a:xfrm>
          <a:prstGeom prst="rect">
            <a:avLst/>
          </a:prstGeom>
        </p:spPr>
      </p:pic>
      <p:sp>
        <p:nvSpPr>
          <p:cNvPr id="9" name="文本框 8">
            <a:extLst>
              <a:ext uri="{FF2B5EF4-FFF2-40B4-BE49-F238E27FC236}">
                <a16:creationId xmlns:a16="http://schemas.microsoft.com/office/drawing/2014/main" id="{979BF02E-5D73-41CC-93DF-D4F04422F947}"/>
              </a:ext>
            </a:extLst>
          </p:cNvPr>
          <p:cNvSpPr txBox="1"/>
          <p:nvPr/>
        </p:nvSpPr>
        <p:spPr>
          <a:xfrm>
            <a:off x="5064711" y="2491823"/>
            <a:ext cx="5257800" cy="2862322"/>
          </a:xfrm>
          <a:prstGeom prst="rect">
            <a:avLst/>
          </a:prstGeom>
          <a:noFill/>
        </p:spPr>
        <p:txBody>
          <a:bodyPr wrap="square">
            <a:spAutoFit/>
          </a:bodyPr>
          <a:lstStyle/>
          <a:p>
            <a:r>
              <a:rPr lang="zh-CN" altLang="en-US" dirty="0"/>
              <a:t>根据P-R曲线来评估模型的性能：                       （1）若一个学习模型的P-R曲线完全包住另一个学习模型的P-R曲线，则前者的性能优于后者。即查全率相同的情况下，查准率越高模型的泛化性能越好，如模型A优于模型B。                               （2）若两个学习模型的P-R曲线互相交叉，则可通过“平衡点”（Break-Event Point，简称BEP）来评价模型的优劣，BEP是“查准率=查全率”的数值。由上图可知，模型A的平衡点大于模型B的平衡点，即模型A优于B。</a:t>
            </a:r>
          </a:p>
        </p:txBody>
      </p:sp>
    </p:spTree>
    <p:extLst>
      <p:ext uri="{BB962C8B-B14F-4D97-AF65-F5344CB8AC3E}">
        <p14:creationId xmlns:p14="http://schemas.microsoft.com/office/powerpoint/2010/main" val="20749296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78E7D-4610-481C-924B-53853CA21015}"/>
              </a:ext>
            </a:extLst>
          </p:cNvPr>
          <p:cNvSpPr>
            <a:spLocks noGrp="1"/>
          </p:cNvSpPr>
          <p:nvPr>
            <p:ph type="title"/>
          </p:nvPr>
        </p:nvSpPr>
        <p:spPr/>
        <p:txBody>
          <a:bodyPr>
            <a:normAutofit fontScale="90000"/>
          </a:bodyPr>
          <a:lstStyle/>
          <a:p>
            <a:r>
              <a:rPr lang="en-US" altLang="zh-CN" b="1" i="0" dirty="0">
                <a:solidFill>
                  <a:srgbClr val="4D4D4D"/>
                </a:solidFill>
                <a:effectLst/>
                <a:latin typeface="-apple-system"/>
              </a:rPr>
              <a:t> ROC</a:t>
            </a:r>
            <a:r>
              <a:rPr lang="zh-CN" altLang="en-US" b="1" i="0" dirty="0">
                <a:solidFill>
                  <a:srgbClr val="4D4D4D"/>
                </a:solidFill>
                <a:effectLst/>
                <a:latin typeface="-apple-system"/>
              </a:rPr>
              <a:t>曲线与</a:t>
            </a:r>
            <a:r>
              <a:rPr lang="en-US" altLang="zh-CN" b="1" i="0" dirty="0">
                <a:solidFill>
                  <a:srgbClr val="4D4D4D"/>
                </a:solidFill>
                <a:effectLst/>
                <a:latin typeface="-apple-system"/>
              </a:rPr>
              <a:t>AUC</a:t>
            </a:r>
            <a:endParaRPr lang="zh-CN" altLang="en-US" dirty="0"/>
          </a:p>
        </p:txBody>
      </p:sp>
      <p:sp>
        <p:nvSpPr>
          <p:cNvPr id="4" name="文本框 3">
            <a:extLst>
              <a:ext uri="{FF2B5EF4-FFF2-40B4-BE49-F238E27FC236}">
                <a16:creationId xmlns:a16="http://schemas.microsoft.com/office/drawing/2014/main" id="{A9E5F63E-EA09-44E7-813B-BCF887FD09E0}"/>
              </a:ext>
            </a:extLst>
          </p:cNvPr>
          <p:cNvSpPr txBox="1"/>
          <p:nvPr/>
        </p:nvSpPr>
        <p:spPr>
          <a:xfrm>
            <a:off x="190870" y="1022580"/>
            <a:ext cx="10453455" cy="2031325"/>
          </a:xfrm>
          <a:prstGeom prst="rect">
            <a:avLst/>
          </a:prstGeom>
          <a:noFill/>
        </p:spPr>
        <p:txBody>
          <a:bodyPr wrap="square">
            <a:spAutoFit/>
          </a:bodyPr>
          <a:lstStyle/>
          <a:p>
            <a:r>
              <a:rPr lang="zh-CN" altLang="en-US" dirty="0"/>
              <a:t>P-R曲线是从查准率和查全率的角度去衡量学习模型的泛化性能，ROC曲线则是从更一般的情况下去衡量学习模型的泛化性能，若没有任何先验条件的限制情况下，推荐用ROC曲线去衡量模型的泛化性能。绘制ROC曲线的思想与P-R曲线一致，对学习模型估计测试样本为正样本的概率从大到小排序，然后根据概率大小依次设置阈值，认为大于阈值的测试样本为正样本，小于阈值的测试样本为负样本，每一次阈值设置都计算“真正例率”（True Positive Rate，简称TPR）和“假正例率”（False Postive Rate，简称FPR）。</a:t>
            </a:r>
          </a:p>
          <a:p>
            <a:endParaRPr lang="en-US" altLang="zh-CN" dirty="0"/>
          </a:p>
        </p:txBody>
      </p:sp>
      <p:sp>
        <p:nvSpPr>
          <p:cNvPr id="6" name="文本框 5">
            <a:extLst>
              <a:ext uri="{FF2B5EF4-FFF2-40B4-BE49-F238E27FC236}">
                <a16:creationId xmlns:a16="http://schemas.microsoft.com/office/drawing/2014/main" id="{2CB944DF-2AD2-490E-8777-A953E2CF0752}"/>
              </a:ext>
            </a:extLst>
          </p:cNvPr>
          <p:cNvSpPr txBox="1"/>
          <p:nvPr/>
        </p:nvSpPr>
        <p:spPr>
          <a:xfrm>
            <a:off x="190870" y="2821959"/>
            <a:ext cx="6098958" cy="369332"/>
          </a:xfrm>
          <a:prstGeom prst="rect">
            <a:avLst/>
          </a:prstGeom>
          <a:noFill/>
        </p:spPr>
        <p:txBody>
          <a:bodyPr wrap="square">
            <a:spAutoFit/>
          </a:bodyPr>
          <a:lstStyle/>
          <a:p>
            <a:r>
              <a:rPr lang="en-US" altLang="zh-CN" b="0" i="0" dirty="0">
                <a:solidFill>
                  <a:srgbClr val="4D4D4D"/>
                </a:solidFill>
                <a:effectLst/>
                <a:latin typeface="-apple-system"/>
              </a:rPr>
              <a:t>TPR</a:t>
            </a:r>
            <a:r>
              <a:rPr lang="zh-CN" altLang="en-US" b="0" i="0" dirty="0">
                <a:solidFill>
                  <a:srgbClr val="4D4D4D"/>
                </a:solidFill>
                <a:effectLst/>
                <a:latin typeface="-apple-system"/>
              </a:rPr>
              <a:t>和</a:t>
            </a:r>
            <a:r>
              <a:rPr lang="en-US" altLang="zh-CN" b="0" i="0" dirty="0">
                <a:solidFill>
                  <a:srgbClr val="4D4D4D"/>
                </a:solidFill>
                <a:effectLst/>
                <a:latin typeface="-apple-system"/>
              </a:rPr>
              <a:t>FPR</a:t>
            </a:r>
            <a:r>
              <a:rPr lang="zh-CN" altLang="en-US" b="0" i="0" dirty="0">
                <a:solidFill>
                  <a:srgbClr val="4D4D4D"/>
                </a:solidFill>
                <a:effectLst/>
                <a:latin typeface="-apple-system"/>
              </a:rPr>
              <a:t>的定义如下：</a:t>
            </a:r>
            <a:endParaRPr lang="zh-CN" altLang="en-US" dirty="0"/>
          </a:p>
        </p:txBody>
      </p:sp>
      <p:pic>
        <p:nvPicPr>
          <p:cNvPr id="8" name="图片 7">
            <a:extLst>
              <a:ext uri="{FF2B5EF4-FFF2-40B4-BE49-F238E27FC236}">
                <a16:creationId xmlns:a16="http://schemas.microsoft.com/office/drawing/2014/main" id="{5853938B-D9AE-409C-89B5-9BC315A115EA}"/>
              </a:ext>
            </a:extLst>
          </p:cNvPr>
          <p:cNvPicPr>
            <a:picLocks noChangeAspect="1"/>
          </p:cNvPicPr>
          <p:nvPr/>
        </p:nvPicPr>
        <p:blipFill>
          <a:blip r:embed="rId2"/>
          <a:stretch>
            <a:fillRect/>
          </a:stretch>
        </p:blipFill>
        <p:spPr>
          <a:xfrm>
            <a:off x="3955603" y="3047247"/>
            <a:ext cx="1724025" cy="1114425"/>
          </a:xfrm>
          <a:prstGeom prst="rect">
            <a:avLst/>
          </a:prstGeom>
        </p:spPr>
      </p:pic>
      <p:sp>
        <p:nvSpPr>
          <p:cNvPr id="10" name="文本框 9">
            <a:extLst>
              <a:ext uri="{FF2B5EF4-FFF2-40B4-BE49-F238E27FC236}">
                <a16:creationId xmlns:a16="http://schemas.microsoft.com/office/drawing/2014/main" id="{B67158C1-457C-42F8-A66C-D6FEF2766BFA}"/>
              </a:ext>
            </a:extLst>
          </p:cNvPr>
          <p:cNvSpPr txBox="1"/>
          <p:nvPr/>
        </p:nvSpPr>
        <p:spPr>
          <a:xfrm>
            <a:off x="249176" y="4530118"/>
            <a:ext cx="6808572" cy="369332"/>
          </a:xfrm>
          <a:prstGeom prst="rect">
            <a:avLst/>
          </a:prstGeom>
          <a:noFill/>
        </p:spPr>
        <p:txBody>
          <a:bodyPr wrap="square">
            <a:spAutoFit/>
          </a:bodyPr>
          <a:lstStyle/>
          <a:p>
            <a:r>
              <a:rPr lang="en-US" altLang="zh-CN" b="0" i="0" dirty="0">
                <a:solidFill>
                  <a:srgbClr val="4D4D4D"/>
                </a:solidFill>
                <a:effectLst/>
                <a:latin typeface="-apple-system"/>
              </a:rPr>
              <a:t>ROC</a:t>
            </a:r>
            <a:r>
              <a:rPr lang="zh-CN" altLang="en-US" b="0" i="0" dirty="0">
                <a:solidFill>
                  <a:srgbClr val="4D4D4D"/>
                </a:solidFill>
                <a:effectLst/>
                <a:latin typeface="-apple-system"/>
              </a:rPr>
              <a:t>曲线横坐标为假正例率，纵坐标为真正例率，曲线图如下：</a:t>
            </a:r>
            <a:endParaRPr lang="zh-CN" altLang="en-US" dirty="0"/>
          </a:p>
        </p:txBody>
      </p:sp>
      <p:sp>
        <p:nvSpPr>
          <p:cNvPr id="11" name="AutoShape 2">
            <a:extLst>
              <a:ext uri="{FF2B5EF4-FFF2-40B4-BE49-F238E27FC236}">
                <a16:creationId xmlns:a16="http://schemas.microsoft.com/office/drawing/2014/main" id="{F2329FD9-499A-4CFC-B98C-0E45FDD661C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3" name="图片 12">
            <a:extLst>
              <a:ext uri="{FF2B5EF4-FFF2-40B4-BE49-F238E27FC236}">
                <a16:creationId xmlns:a16="http://schemas.microsoft.com/office/drawing/2014/main" id="{AAD62B03-9CFF-440D-A90D-BB3DCCF1CA1C}"/>
              </a:ext>
            </a:extLst>
          </p:cNvPr>
          <p:cNvPicPr>
            <a:picLocks noChangeAspect="1"/>
          </p:cNvPicPr>
          <p:nvPr/>
        </p:nvPicPr>
        <p:blipFill>
          <a:blip r:embed="rId3"/>
          <a:stretch>
            <a:fillRect/>
          </a:stretch>
        </p:blipFill>
        <p:spPr>
          <a:xfrm>
            <a:off x="7057748" y="2754805"/>
            <a:ext cx="3028950" cy="2466975"/>
          </a:xfrm>
          <a:prstGeom prst="rect">
            <a:avLst/>
          </a:prstGeom>
        </p:spPr>
      </p:pic>
    </p:spTree>
    <p:extLst>
      <p:ext uri="{BB962C8B-B14F-4D97-AF65-F5344CB8AC3E}">
        <p14:creationId xmlns:p14="http://schemas.microsoft.com/office/powerpoint/2010/main" val="5648884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B5BB11-DF95-43B2-BB16-949B7E844B92}"/>
              </a:ext>
            </a:extLst>
          </p:cNvPr>
          <p:cNvSpPr>
            <a:spLocks noGrp="1"/>
          </p:cNvSpPr>
          <p:nvPr>
            <p:ph type="title"/>
          </p:nvPr>
        </p:nvSpPr>
        <p:spPr/>
        <p:txBody>
          <a:bodyPr>
            <a:normAutofit fontScale="90000"/>
          </a:bodyPr>
          <a:lstStyle/>
          <a:p>
            <a:r>
              <a:rPr lang="en-US" altLang="zh-CN" b="1" i="0" dirty="0">
                <a:solidFill>
                  <a:srgbClr val="4D4D4D"/>
                </a:solidFill>
                <a:effectLst/>
                <a:latin typeface="-apple-system"/>
              </a:rPr>
              <a:t> ROC</a:t>
            </a:r>
            <a:r>
              <a:rPr lang="zh-CN" altLang="en-US" b="1" i="0" dirty="0">
                <a:solidFill>
                  <a:srgbClr val="4D4D4D"/>
                </a:solidFill>
                <a:effectLst/>
                <a:latin typeface="-apple-system"/>
              </a:rPr>
              <a:t>曲线</a:t>
            </a:r>
            <a:endParaRPr lang="zh-CN" altLang="en-US" dirty="0"/>
          </a:p>
        </p:txBody>
      </p:sp>
      <p:sp>
        <p:nvSpPr>
          <p:cNvPr id="4" name="文本框 3">
            <a:extLst>
              <a:ext uri="{FF2B5EF4-FFF2-40B4-BE49-F238E27FC236}">
                <a16:creationId xmlns:a16="http://schemas.microsoft.com/office/drawing/2014/main" id="{DC60ADF5-F461-4C20-968E-C9A9B31B92AD}"/>
              </a:ext>
            </a:extLst>
          </p:cNvPr>
          <p:cNvSpPr txBox="1"/>
          <p:nvPr/>
        </p:nvSpPr>
        <p:spPr>
          <a:xfrm>
            <a:off x="572611" y="1113226"/>
            <a:ext cx="10169370" cy="923330"/>
          </a:xfrm>
          <a:prstGeom prst="rect">
            <a:avLst/>
          </a:prstGeom>
          <a:noFill/>
        </p:spPr>
        <p:txBody>
          <a:bodyPr wrap="square">
            <a:spAutoFit/>
          </a:bodyPr>
          <a:lstStyle/>
          <a:p>
            <a:pPr algn="l"/>
            <a:r>
              <a:rPr lang="en-US" altLang="zh-CN" b="0" i="0" dirty="0">
                <a:solidFill>
                  <a:srgbClr val="4D4D4D"/>
                </a:solidFill>
                <a:effectLst/>
                <a:latin typeface="-apple-system"/>
              </a:rPr>
              <a:t>ROC</a:t>
            </a:r>
            <a:r>
              <a:rPr lang="zh-CN" altLang="en-US" b="0" i="0" dirty="0">
                <a:solidFill>
                  <a:srgbClr val="4D4D4D"/>
                </a:solidFill>
                <a:effectLst/>
                <a:latin typeface="-apple-system"/>
              </a:rPr>
              <a:t>曲线的首末两点进行解释：</a:t>
            </a:r>
          </a:p>
          <a:p>
            <a:pPr algn="l"/>
            <a:r>
              <a:rPr lang="zh-CN" altLang="en-US" b="0" i="0" dirty="0">
                <a:solidFill>
                  <a:srgbClr val="4D4D4D"/>
                </a:solidFill>
                <a:effectLst/>
                <a:latin typeface="-apple-system"/>
              </a:rPr>
              <a:t>测试数据集包含</a:t>
            </a:r>
            <a:r>
              <a:rPr lang="en-US" altLang="zh-CN" b="0" i="0" dirty="0">
                <a:solidFill>
                  <a:srgbClr val="4D4D4D"/>
                </a:solidFill>
                <a:effectLst/>
                <a:latin typeface="-apple-system"/>
              </a:rPr>
              <a:t>N</a:t>
            </a:r>
            <a:r>
              <a:rPr lang="zh-CN" altLang="en-US" b="0" i="0" dirty="0">
                <a:solidFill>
                  <a:srgbClr val="4D4D4D"/>
                </a:solidFill>
                <a:effectLst/>
                <a:latin typeface="-apple-system"/>
              </a:rPr>
              <a:t>例正样本和</a:t>
            </a:r>
            <a:r>
              <a:rPr lang="en-US" altLang="zh-CN" b="0" i="0" dirty="0">
                <a:solidFill>
                  <a:srgbClr val="4D4D4D"/>
                </a:solidFill>
                <a:effectLst/>
                <a:latin typeface="-apple-system"/>
              </a:rPr>
              <a:t>M</a:t>
            </a:r>
            <a:r>
              <a:rPr lang="zh-CN" altLang="en-US" b="0" i="0" dirty="0">
                <a:solidFill>
                  <a:srgbClr val="4D4D4D"/>
                </a:solidFill>
                <a:effectLst/>
                <a:latin typeface="-apple-system"/>
              </a:rPr>
              <a:t>例负样本，若阈值设置的最大，则学习模型对所有测试样本都预测为负样本，混淆矩阵如下：</a:t>
            </a:r>
          </a:p>
        </p:txBody>
      </p:sp>
      <p:pic>
        <p:nvPicPr>
          <p:cNvPr id="6" name="图片 5">
            <a:extLst>
              <a:ext uri="{FF2B5EF4-FFF2-40B4-BE49-F238E27FC236}">
                <a16:creationId xmlns:a16="http://schemas.microsoft.com/office/drawing/2014/main" id="{F0311878-A12C-48E1-8C5E-4FCB07673D22}"/>
              </a:ext>
            </a:extLst>
          </p:cNvPr>
          <p:cNvPicPr>
            <a:picLocks noChangeAspect="1"/>
          </p:cNvPicPr>
          <p:nvPr/>
        </p:nvPicPr>
        <p:blipFill>
          <a:blip r:embed="rId2"/>
          <a:stretch>
            <a:fillRect/>
          </a:stretch>
        </p:blipFill>
        <p:spPr>
          <a:xfrm>
            <a:off x="3530815" y="1840041"/>
            <a:ext cx="4705350" cy="1495425"/>
          </a:xfrm>
          <a:prstGeom prst="rect">
            <a:avLst/>
          </a:prstGeom>
        </p:spPr>
      </p:pic>
      <p:sp>
        <p:nvSpPr>
          <p:cNvPr id="8" name="文本框 7">
            <a:extLst>
              <a:ext uri="{FF2B5EF4-FFF2-40B4-BE49-F238E27FC236}">
                <a16:creationId xmlns:a16="http://schemas.microsoft.com/office/drawing/2014/main" id="{B388F196-83C5-4199-B1A9-9A2516E08DED}"/>
              </a:ext>
            </a:extLst>
          </p:cNvPr>
          <p:cNvSpPr txBox="1"/>
          <p:nvPr/>
        </p:nvSpPr>
        <p:spPr>
          <a:xfrm>
            <a:off x="669882" y="3406723"/>
            <a:ext cx="9903423" cy="1200329"/>
          </a:xfrm>
          <a:prstGeom prst="rect">
            <a:avLst/>
          </a:prstGeom>
          <a:noFill/>
        </p:spPr>
        <p:txBody>
          <a:bodyPr wrap="square">
            <a:spAutoFit/>
          </a:bodyPr>
          <a:lstStyle/>
          <a:p>
            <a:pPr algn="l"/>
            <a:r>
              <a:rPr lang="en-US" altLang="zh-CN" b="0" i="0" dirty="0">
                <a:solidFill>
                  <a:srgbClr val="4D4D4D"/>
                </a:solidFill>
                <a:effectLst/>
                <a:latin typeface="-apple-system"/>
              </a:rPr>
              <a:t>TPR = TP/( TP + FN) = 0/(0+N) = 0</a:t>
            </a:r>
            <a:r>
              <a:rPr lang="zh-CN" altLang="en-US" b="0" i="0" dirty="0">
                <a:solidFill>
                  <a:srgbClr val="4D4D4D"/>
                </a:solidFill>
                <a:effectLst/>
                <a:latin typeface="-apple-system"/>
              </a:rPr>
              <a:t>；</a:t>
            </a:r>
          </a:p>
          <a:p>
            <a:pPr algn="l"/>
            <a:r>
              <a:rPr lang="en-US" altLang="zh-CN" b="0" i="0" dirty="0">
                <a:solidFill>
                  <a:srgbClr val="4D4D4D"/>
                </a:solidFill>
                <a:effectLst/>
                <a:latin typeface="-apple-system"/>
              </a:rPr>
              <a:t>FPR = FP/( TN + FP) = 0/(0+M) = 0</a:t>
            </a:r>
            <a:r>
              <a:rPr lang="zh-CN" altLang="en-US" b="0" i="0" dirty="0">
                <a:solidFill>
                  <a:srgbClr val="4D4D4D"/>
                </a:solidFill>
                <a:effectLst/>
                <a:latin typeface="-apple-system"/>
              </a:rPr>
              <a:t>；</a:t>
            </a:r>
          </a:p>
          <a:p>
            <a:pPr algn="l"/>
            <a:r>
              <a:rPr lang="zh-CN" altLang="en-US" b="0" i="0" dirty="0">
                <a:solidFill>
                  <a:srgbClr val="4D4D4D"/>
                </a:solidFill>
                <a:effectLst/>
                <a:latin typeface="-apple-system"/>
              </a:rPr>
              <a:t>因此，当阈值设置最大时，</a:t>
            </a:r>
            <a:r>
              <a:rPr lang="en-US" altLang="zh-CN" b="0" i="0" dirty="0">
                <a:solidFill>
                  <a:srgbClr val="4D4D4D"/>
                </a:solidFill>
                <a:effectLst/>
                <a:latin typeface="-apple-system"/>
              </a:rPr>
              <a:t>TPR</a:t>
            </a:r>
            <a:r>
              <a:rPr lang="zh-CN" altLang="en-US" b="0" i="0" dirty="0">
                <a:solidFill>
                  <a:srgbClr val="4D4D4D"/>
                </a:solidFill>
                <a:effectLst/>
                <a:latin typeface="-apple-system"/>
              </a:rPr>
              <a:t>与</a:t>
            </a:r>
            <a:r>
              <a:rPr lang="en-US" altLang="zh-CN" b="0" i="0" dirty="0">
                <a:solidFill>
                  <a:srgbClr val="4D4D4D"/>
                </a:solidFill>
                <a:effectLst/>
                <a:latin typeface="-apple-system"/>
              </a:rPr>
              <a:t>FPR</a:t>
            </a:r>
            <a:r>
              <a:rPr lang="zh-CN" altLang="en-US" b="0" i="0" dirty="0">
                <a:solidFill>
                  <a:srgbClr val="4D4D4D"/>
                </a:solidFill>
                <a:effectLst/>
                <a:latin typeface="-apple-system"/>
              </a:rPr>
              <a:t>均为</a:t>
            </a:r>
            <a:r>
              <a:rPr lang="en-US" altLang="zh-CN" b="0" i="0" dirty="0">
                <a:solidFill>
                  <a:srgbClr val="4D4D4D"/>
                </a:solidFill>
                <a:effectLst/>
                <a:latin typeface="-apple-system"/>
              </a:rPr>
              <a:t>0</a:t>
            </a:r>
            <a:r>
              <a:rPr lang="zh-CN" altLang="en-US" b="0" i="0" dirty="0">
                <a:solidFill>
                  <a:srgbClr val="4D4D4D"/>
                </a:solidFill>
                <a:effectLst/>
                <a:latin typeface="-apple-system"/>
              </a:rPr>
              <a:t>。</a:t>
            </a:r>
          </a:p>
          <a:p>
            <a:pPr algn="l"/>
            <a:r>
              <a:rPr lang="zh-CN" altLang="en-US" b="0" i="0" dirty="0">
                <a:solidFill>
                  <a:srgbClr val="4D4D4D"/>
                </a:solidFill>
                <a:effectLst/>
                <a:latin typeface="-apple-system"/>
              </a:rPr>
              <a:t>若阈值小于所有模型估计测试样本为正样本的数值时，则测试样本均为正样本，混淆矩阵如下：</a:t>
            </a:r>
          </a:p>
        </p:txBody>
      </p:sp>
      <p:pic>
        <p:nvPicPr>
          <p:cNvPr id="11" name="图片 10">
            <a:extLst>
              <a:ext uri="{FF2B5EF4-FFF2-40B4-BE49-F238E27FC236}">
                <a16:creationId xmlns:a16="http://schemas.microsoft.com/office/drawing/2014/main" id="{17AFC3C4-671B-4CF5-BFFE-CA0FDD07BA54}"/>
              </a:ext>
            </a:extLst>
          </p:cNvPr>
          <p:cNvPicPr>
            <a:picLocks noChangeAspect="1"/>
          </p:cNvPicPr>
          <p:nvPr/>
        </p:nvPicPr>
        <p:blipFill>
          <a:blip r:embed="rId3"/>
          <a:stretch>
            <a:fillRect/>
          </a:stretch>
        </p:blipFill>
        <p:spPr>
          <a:xfrm>
            <a:off x="4861910" y="5158250"/>
            <a:ext cx="4705350" cy="1466850"/>
          </a:xfrm>
          <a:prstGeom prst="rect">
            <a:avLst/>
          </a:prstGeom>
        </p:spPr>
      </p:pic>
      <p:sp>
        <p:nvSpPr>
          <p:cNvPr id="13" name="文本框 12">
            <a:extLst>
              <a:ext uri="{FF2B5EF4-FFF2-40B4-BE49-F238E27FC236}">
                <a16:creationId xmlns:a16="http://schemas.microsoft.com/office/drawing/2014/main" id="{55B82957-78FA-4A52-933C-ECF2B7535DA3}"/>
              </a:ext>
            </a:extLst>
          </p:cNvPr>
          <p:cNvSpPr txBox="1"/>
          <p:nvPr/>
        </p:nvSpPr>
        <p:spPr>
          <a:xfrm>
            <a:off x="789281" y="5291510"/>
            <a:ext cx="3871495" cy="1200329"/>
          </a:xfrm>
          <a:prstGeom prst="rect">
            <a:avLst/>
          </a:prstGeom>
          <a:noFill/>
        </p:spPr>
        <p:txBody>
          <a:bodyPr wrap="square">
            <a:spAutoFit/>
          </a:bodyPr>
          <a:lstStyle/>
          <a:p>
            <a:pPr algn="l"/>
            <a:r>
              <a:rPr lang="en-US" altLang="zh-CN" b="0" i="0" dirty="0">
                <a:solidFill>
                  <a:srgbClr val="4D4D4D"/>
                </a:solidFill>
                <a:effectLst/>
                <a:latin typeface="-apple-system"/>
              </a:rPr>
              <a:t>TPR = TP/(TP+FN) = N/(N+0) = 1</a:t>
            </a:r>
            <a:r>
              <a:rPr lang="zh-CN" altLang="en-US" b="0" i="0" dirty="0">
                <a:solidFill>
                  <a:srgbClr val="4D4D4D"/>
                </a:solidFill>
                <a:effectLst/>
                <a:latin typeface="-apple-system"/>
              </a:rPr>
              <a:t>；</a:t>
            </a:r>
          </a:p>
          <a:p>
            <a:pPr algn="l"/>
            <a:r>
              <a:rPr lang="en-US" altLang="zh-CN" b="0" i="0" dirty="0">
                <a:solidFill>
                  <a:srgbClr val="4D4D4D"/>
                </a:solidFill>
                <a:effectLst/>
                <a:latin typeface="-apple-system"/>
              </a:rPr>
              <a:t>FPR = FP/(TN+FP) = M/(M+0) = 1</a:t>
            </a:r>
            <a:r>
              <a:rPr lang="zh-CN" altLang="en-US" b="0" i="0" dirty="0">
                <a:solidFill>
                  <a:srgbClr val="4D4D4D"/>
                </a:solidFill>
                <a:effectLst/>
                <a:latin typeface="-apple-system"/>
              </a:rPr>
              <a:t>；</a:t>
            </a:r>
          </a:p>
          <a:p>
            <a:pPr algn="l"/>
            <a:r>
              <a:rPr lang="zh-CN" altLang="en-US" b="0" i="0" dirty="0">
                <a:solidFill>
                  <a:srgbClr val="4D4D4D"/>
                </a:solidFill>
                <a:effectLst/>
                <a:latin typeface="-apple-system"/>
              </a:rPr>
              <a:t>因此，当阈值设置最小时，</a:t>
            </a:r>
            <a:r>
              <a:rPr lang="en-US" altLang="zh-CN" b="0" i="0" dirty="0">
                <a:solidFill>
                  <a:srgbClr val="4D4D4D"/>
                </a:solidFill>
                <a:effectLst/>
                <a:latin typeface="-apple-system"/>
              </a:rPr>
              <a:t>TPR</a:t>
            </a:r>
            <a:r>
              <a:rPr lang="zh-CN" altLang="en-US" b="0" i="0" dirty="0">
                <a:solidFill>
                  <a:srgbClr val="4D4D4D"/>
                </a:solidFill>
                <a:effectLst/>
                <a:latin typeface="-apple-system"/>
              </a:rPr>
              <a:t>与</a:t>
            </a:r>
            <a:r>
              <a:rPr lang="en-US" altLang="zh-CN" b="0" i="0" dirty="0">
                <a:solidFill>
                  <a:srgbClr val="4D4D4D"/>
                </a:solidFill>
                <a:effectLst/>
                <a:latin typeface="-apple-system"/>
              </a:rPr>
              <a:t>FPR</a:t>
            </a:r>
            <a:r>
              <a:rPr lang="zh-CN" altLang="en-US" b="0" i="0" dirty="0">
                <a:solidFill>
                  <a:srgbClr val="4D4D4D"/>
                </a:solidFill>
                <a:effectLst/>
                <a:latin typeface="-apple-system"/>
              </a:rPr>
              <a:t>均为</a:t>
            </a:r>
            <a:r>
              <a:rPr lang="en-US" altLang="zh-CN" b="0" i="0" dirty="0">
                <a:solidFill>
                  <a:srgbClr val="4D4D4D"/>
                </a:solidFill>
                <a:effectLst/>
                <a:latin typeface="-apple-system"/>
              </a:rPr>
              <a:t>1</a:t>
            </a:r>
            <a:r>
              <a:rPr lang="zh-CN" altLang="en-US" b="0" i="0" dirty="0">
                <a:solidFill>
                  <a:srgbClr val="4D4D4D"/>
                </a:solidFill>
                <a:effectLst/>
                <a:latin typeface="-apple-system"/>
              </a:rPr>
              <a:t>。</a:t>
            </a:r>
          </a:p>
        </p:txBody>
      </p:sp>
    </p:spTree>
    <p:extLst>
      <p:ext uri="{BB962C8B-B14F-4D97-AF65-F5344CB8AC3E}">
        <p14:creationId xmlns:p14="http://schemas.microsoft.com/office/powerpoint/2010/main" val="14492777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ACF6FD-44E7-42E8-909F-F62A2DB159F1}"/>
              </a:ext>
            </a:extLst>
          </p:cNvPr>
          <p:cNvSpPr>
            <a:spLocks noGrp="1"/>
          </p:cNvSpPr>
          <p:nvPr>
            <p:ph type="title"/>
          </p:nvPr>
        </p:nvSpPr>
        <p:spPr/>
        <p:txBody>
          <a:bodyPr>
            <a:normAutofit fontScale="90000"/>
          </a:bodyPr>
          <a:lstStyle/>
          <a:p>
            <a:r>
              <a:rPr lang="en-US" altLang="zh-CN" b="1" i="0" dirty="0">
                <a:solidFill>
                  <a:srgbClr val="4D4D4D"/>
                </a:solidFill>
                <a:effectLst/>
                <a:latin typeface="-apple-system"/>
              </a:rPr>
              <a:t>AUC</a:t>
            </a:r>
            <a:endParaRPr lang="zh-CN" altLang="en-US" dirty="0"/>
          </a:p>
        </p:txBody>
      </p:sp>
      <p:sp>
        <p:nvSpPr>
          <p:cNvPr id="4" name="文本框 3">
            <a:extLst>
              <a:ext uri="{FF2B5EF4-FFF2-40B4-BE49-F238E27FC236}">
                <a16:creationId xmlns:a16="http://schemas.microsoft.com/office/drawing/2014/main" id="{35A57CC3-1356-43F6-AE9E-4D541FAAF173}"/>
              </a:ext>
            </a:extLst>
          </p:cNvPr>
          <p:cNvSpPr txBox="1"/>
          <p:nvPr/>
        </p:nvSpPr>
        <p:spPr>
          <a:xfrm>
            <a:off x="572610" y="1120676"/>
            <a:ext cx="9929673" cy="5078313"/>
          </a:xfrm>
          <a:prstGeom prst="rect">
            <a:avLst/>
          </a:prstGeom>
          <a:noFill/>
        </p:spPr>
        <p:txBody>
          <a:bodyPr wrap="square">
            <a:spAutoFit/>
          </a:bodyPr>
          <a:lstStyle/>
          <a:p>
            <a:r>
              <a:rPr lang="zh-CN" altLang="en-US" dirty="0"/>
              <a:t>AUC（Area Under Curve）为ROC曲线的面积，面积可以通过梯度面积法求解。    </a:t>
            </a:r>
            <a:endParaRPr lang="en-US" altLang="zh-CN" dirty="0"/>
          </a:p>
          <a:p>
            <a:endParaRPr lang="en-US" altLang="zh-CN" dirty="0"/>
          </a:p>
          <a:p>
            <a:endParaRPr lang="en-US" altLang="zh-CN" dirty="0"/>
          </a:p>
          <a:p>
            <a:endParaRPr lang="en-US" altLang="zh-CN" dirty="0"/>
          </a:p>
          <a:p>
            <a:endParaRPr lang="en-US" altLang="zh-CN" dirty="0"/>
          </a:p>
          <a:p>
            <a:r>
              <a:rPr lang="zh-CN" altLang="en-US" dirty="0"/>
              <a:t>假设正负样本数均为m例，大家回想下ROC曲线的算法思想，假正例率对应的是真实负样本中分类结果为正样本的比例，真正例率对应的是真实正样本中分类为正样本的比例。</a:t>
            </a:r>
            <a:endParaRPr lang="en-US" altLang="zh-CN" dirty="0"/>
          </a:p>
          <a:p>
            <a:endParaRPr lang="en-US" altLang="zh-CN" dirty="0"/>
          </a:p>
          <a:p>
            <a:endParaRPr lang="en-US" altLang="zh-CN" dirty="0"/>
          </a:p>
          <a:p>
            <a:r>
              <a:rPr lang="zh-CN" altLang="en-US" dirty="0"/>
              <a:t>假正例率和真正例率的增长性具有互斥性，每次都只能增加一个，且每次增加的梯度为1/m，横坐标和纵坐标共增加了m次。</a:t>
            </a:r>
            <a:endParaRPr lang="en-US" altLang="zh-CN" dirty="0"/>
          </a:p>
          <a:p>
            <a:endParaRPr lang="en-US" altLang="zh-CN" dirty="0"/>
          </a:p>
          <a:p>
            <a:r>
              <a:rPr lang="zh-CN" altLang="en-US" dirty="0"/>
              <a:t>理解了这个原理，相信对ROC曲线的绘制和AUC面积的计算应该有更深的认识了吧。</a:t>
            </a:r>
            <a:endParaRPr lang="en-US" altLang="zh-CN" dirty="0"/>
          </a:p>
          <a:p>
            <a:endParaRPr lang="en-US" altLang="zh-CN" dirty="0"/>
          </a:p>
          <a:p>
            <a:endParaRPr lang="en-US" altLang="zh-CN" dirty="0"/>
          </a:p>
          <a:p>
            <a:r>
              <a:rPr lang="zh-CN" altLang="en-US" dirty="0"/>
              <a:t>AUC是衡量模型泛化能力的一个重要指标，若AUC大，则分类模型优；反之，则分类模型差。想象一下，若假正例率不变的情况下，真正例率越大，对应的AUC也越大，则模型的泛化能力强，这与实际情况相符。</a:t>
            </a:r>
          </a:p>
        </p:txBody>
      </p:sp>
      <p:pic>
        <p:nvPicPr>
          <p:cNvPr id="6" name="图片 5">
            <a:extLst>
              <a:ext uri="{FF2B5EF4-FFF2-40B4-BE49-F238E27FC236}">
                <a16:creationId xmlns:a16="http://schemas.microsoft.com/office/drawing/2014/main" id="{1D340C98-83DD-4DF4-83FC-B1445DD1210A}"/>
              </a:ext>
            </a:extLst>
          </p:cNvPr>
          <p:cNvPicPr>
            <a:picLocks noChangeAspect="1"/>
          </p:cNvPicPr>
          <p:nvPr/>
        </p:nvPicPr>
        <p:blipFill>
          <a:blip r:embed="rId2"/>
          <a:stretch>
            <a:fillRect/>
          </a:stretch>
        </p:blipFill>
        <p:spPr>
          <a:xfrm>
            <a:off x="4051546" y="1705946"/>
            <a:ext cx="2971800" cy="676275"/>
          </a:xfrm>
          <a:prstGeom prst="rect">
            <a:avLst/>
          </a:prstGeom>
        </p:spPr>
      </p:pic>
    </p:spTree>
    <p:extLst>
      <p:ext uri="{BB962C8B-B14F-4D97-AF65-F5344CB8AC3E}">
        <p14:creationId xmlns:p14="http://schemas.microsoft.com/office/powerpoint/2010/main" val="29574948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19E718-4AF3-EDA1-3B3D-1AD20B794F5A}"/>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002612E6-C690-6708-EEE9-F1F10B747100}"/>
              </a:ext>
            </a:extLst>
          </p:cNvPr>
          <p:cNvSpPr/>
          <p:nvPr/>
        </p:nvSpPr>
        <p:spPr>
          <a:xfrm>
            <a:off x="150593" y="1856017"/>
            <a:ext cx="11030585" cy="400110"/>
          </a:xfrm>
          <a:prstGeom prst="rect">
            <a:avLst/>
          </a:prstGeom>
        </p:spPr>
        <p:txBody>
          <a:bodyPr wrap="square" rtlCol="0" anchor="t">
            <a:spAutoFit/>
          </a:bodyPr>
          <a:lstStyle/>
          <a:p>
            <a:pPr lvl="0" indent="457200" algn="l"/>
            <a:r>
              <a:rPr lang="zh-CN" altLang="en-US" sz="2000" dirty="0">
                <a:latin typeface="微软雅黑" panose="020B0503020204020204" pitchFamily="34" charset="-122"/>
                <a:ea typeface="微软雅黑" panose="020B0503020204020204" pitchFamily="34" charset="-122"/>
                <a:sym typeface="+mn-ea"/>
              </a:rPr>
              <a:t>多分类问题中，若能得到</a:t>
            </a:r>
            <a:r>
              <a:rPr lang="zh-CN" altLang="en-US" sz="2000" b="1" dirty="0">
                <a:solidFill>
                  <a:srgbClr val="0432FF"/>
                </a:solidFill>
                <a:latin typeface="微软雅黑" panose="020B0503020204020204" pitchFamily="34" charset="-122"/>
                <a:ea typeface="微软雅黑" panose="020B0503020204020204" pitchFamily="34" charset="-122"/>
                <a:sym typeface="+mn-ea"/>
              </a:rPr>
              <a:t>多个混淆矩阵</a:t>
            </a:r>
            <a:r>
              <a:rPr lang="zh-CN" altLang="en-US" sz="2000" dirty="0">
                <a:latin typeface="微软雅黑" panose="020B0503020204020204" pitchFamily="34" charset="-122"/>
                <a:ea typeface="微软雅黑" panose="020B0503020204020204" pitchFamily="34" charset="-122"/>
                <a:sym typeface="+mn-ea"/>
              </a:rPr>
              <a:t>，例如多次训练/测试的结果，多分类的两两混淆矩阵：</a:t>
            </a:r>
          </a:p>
        </p:txBody>
      </p:sp>
      <p:sp>
        <p:nvSpPr>
          <p:cNvPr id="4" name="矩形 3">
            <a:extLst>
              <a:ext uri="{FF2B5EF4-FFF2-40B4-BE49-F238E27FC236}">
                <a16:creationId xmlns:a16="http://schemas.microsoft.com/office/drawing/2014/main" id="{5B4F406D-F0CE-B277-0F8A-9C1C92630240}"/>
              </a:ext>
            </a:extLst>
          </p:cNvPr>
          <p:cNvSpPr/>
          <p:nvPr/>
        </p:nvSpPr>
        <p:spPr>
          <a:xfrm>
            <a:off x="904875" y="2482051"/>
            <a:ext cx="4631690" cy="514350"/>
          </a:xfrm>
          <a:prstGeom prst="rect">
            <a:avLst/>
          </a:prstGeom>
          <a:solidFill>
            <a:srgbClr val="F0FEE5"/>
          </a:solidFill>
        </p:spPr>
        <p:style>
          <a:lnRef idx="2">
            <a:schemeClr val="accent6"/>
          </a:lnRef>
          <a:fillRef idx="1">
            <a:schemeClr val="lt1"/>
          </a:fillRef>
          <a:effectRef idx="0">
            <a:schemeClr val="accent6"/>
          </a:effectRef>
          <a:fontRef idx="minor">
            <a:schemeClr val="dk1"/>
          </a:fontRef>
        </p:style>
        <p:txBody>
          <a:bodyPr vertOverflow="overflow" horzOverflow="overflow" vert="horz" wrap="square" numCol="1" spcCol="0" rtlCol="0" fromWordArt="0" anchor="ctr" anchorCtr="0" forceAA="0" compatLnSpc="1">
            <a:spAutoFit/>
          </a:bodyPr>
          <a:lstStyle/>
          <a:p>
            <a:pPr lvl="0" algn="ctr">
              <a:lnSpc>
                <a:spcPct val="125000"/>
              </a:lnSpc>
            </a:pPr>
            <a:r>
              <a:rPr lang="zh-CN" altLang="en-US" sz="2200" b="1" dirty="0">
                <a:solidFill>
                  <a:srgbClr val="FF0000"/>
                </a:solidFill>
                <a:latin typeface="微软雅黑" panose="020B0503020204020204" pitchFamily="34" charset="-122"/>
                <a:ea typeface="微软雅黑" panose="020B0503020204020204" pitchFamily="34" charset="-122"/>
                <a:sym typeface="+mn-ea"/>
              </a:rPr>
              <a:t>宏(macro-)</a:t>
            </a:r>
            <a:r>
              <a:rPr lang="zh-CN" altLang="en-US" sz="2200" dirty="0">
                <a:latin typeface="微软雅黑" panose="020B0503020204020204" pitchFamily="34" charset="-122"/>
                <a:ea typeface="微软雅黑" panose="020B0503020204020204" pitchFamily="34" charset="-122"/>
                <a:sym typeface="+mn-ea"/>
              </a:rPr>
              <a:t>查准率、查全率、F1</a:t>
            </a:r>
          </a:p>
        </p:txBody>
      </p:sp>
      <p:sp>
        <p:nvSpPr>
          <p:cNvPr id="5" name="矩形 4">
            <a:extLst>
              <a:ext uri="{FF2B5EF4-FFF2-40B4-BE49-F238E27FC236}">
                <a16:creationId xmlns:a16="http://schemas.microsoft.com/office/drawing/2014/main" id="{E94D0646-268E-D404-138B-74883821808B}"/>
              </a:ext>
            </a:extLst>
          </p:cNvPr>
          <p:cNvSpPr/>
          <p:nvPr/>
        </p:nvSpPr>
        <p:spPr>
          <a:xfrm>
            <a:off x="6485890" y="2482051"/>
            <a:ext cx="4631690" cy="514350"/>
          </a:xfrm>
          <a:prstGeom prst="rect">
            <a:avLst/>
          </a:prstGeom>
          <a:solidFill>
            <a:srgbClr val="F0FEE5"/>
          </a:solidFill>
        </p:spPr>
        <p:style>
          <a:lnRef idx="2">
            <a:schemeClr val="accent6"/>
          </a:lnRef>
          <a:fillRef idx="1">
            <a:schemeClr val="lt1"/>
          </a:fillRef>
          <a:effectRef idx="0">
            <a:schemeClr val="accent6"/>
          </a:effectRef>
          <a:fontRef idx="minor">
            <a:schemeClr val="dk1"/>
          </a:fontRef>
        </p:style>
        <p:txBody>
          <a:bodyPr vertOverflow="overflow" horzOverflow="overflow" vert="horz" wrap="square" numCol="1" spcCol="0" rtlCol="0" fromWordArt="0" anchor="ctr" anchorCtr="0" forceAA="0" compatLnSpc="1">
            <a:spAutoFit/>
          </a:bodyPr>
          <a:lstStyle/>
          <a:p>
            <a:pPr lvl="0" algn="ctr">
              <a:lnSpc>
                <a:spcPct val="125000"/>
              </a:lnSpc>
            </a:pPr>
            <a:r>
              <a:rPr lang="zh-CN" altLang="en-US" sz="2200" b="1" dirty="0">
                <a:solidFill>
                  <a:srgbClr val="FF0000"/>
                </a:solidFill>
                <a:latin typeface="微软雅黑" panose="020B0503020204020204" pitchFamily="34" charset="-122"/>
                <a:ea typeface="微软雅黑" panose="020B0503020204020204" pitchFamily="34" charset="-122"/>
                <a:sym typeface="+mn-ea"/>
              </a:rPr>
              <a:t>微(micro-)</a:t>
            </a:r>
            <a:r>
              <a:rPr lang="zh-CN" altLang="en-US" sz="2200" dirty="0">
                <a:latin typeface="微软雅黑" panose="020B0503020204020204" pitchFamily="34" charset="-122"/>
                <a:ea typeface="微软雅黑" panose="020B0503020204020204" pitchFamily="34" charset="-122"/>
                <a:sym typeface="+mn-ea"/>
              </a:rPr>
              <a:t>查准率、查全率、F1</a:t>
            </a:r>
          </a:p>
        </p:txBody>
      </p:sp>
      <p:pic>
        <p:nvPicPr>
          <p:cNvPr id="6" name="图片 5">
            <a:extLst>
              <a:ext uri="{FF2B5EF4-FFF2-40B4-BE49-F238E27FC236}">
                <a16:creationId xmlns:a16="http://schemas.microsoft.com/office/drawing/2014/main" id="{2D9BA5E2-A064-D65E-85D1-C86AE8D232A7}"/>
              </a:ext>
            </a:extLst>
          </p:cNvPr>
          <p:cNvPicPr>
            <a:picLocks noChangeAspect="1"/>
          </p:cNvPicPr>
          <p:nvPr/>
        </p:nvPicPr>
        <p:blipFill>
          <a:blip r:embed="rId2"/>
          <a:stretch>
            <a:fillRect/>
          </a:stretch>
        </p:blipFill>
        <p:spPr>
          <a:xfrm>
            <a:off x="1137920" y="3122448"/>
            <a:ext cx="4165600" cy="2933700"/>
          </a:xfrm>
          <a:prstGeom prst="rect">
            <a:avLst/>
          </a:prstGeom>
        </p:spPr>
      </p:pic>
      <p:pic>
        <p:nvPicPr>
          <p:cNvPr id="7" name="图片 6">
            <a:extLst>
              <a:ext uri="{FF2B5EF4-FFF2-40B4-BE49-F238E27FC236}">
                <a16:creationId xmlns:a16="http://schemas.microsoft.com/office/drawing/2014/main" id="{4B5C95D8-CA9C-F6FA-C56B-F31606B2D2E7}"/>
              </a:ext>
            </a:extLst>
          </p:cNvPr>
          <p:cNvPicPr>
            <a:picLocks noChangeAspect="1"/>
          </p:cNvPicPr>
          <p:nvPr/>
        </p:nvPicPr>
        <p:blipFill>
          <a:blip r:embed="rId3"/>
          <a:stretch>
            <a:fillRect/>
          </a:stretch>
        </p:blipFill>
        <p:spPr>
          <a:xfrm>
            <a:off x="6737985" y="3109748"/>
            <a:ext cx="4127500" cy="2946400"/>
          </a:xfrm>
          <a:prstGeom prst="rect">
            <a:avLst/>
          </a:prstGeom>
        </p:spPr>
      </p:pic>
      <p:sp>
        <p:nvSpPr>
          <p:cNvPr id="8" name="矩形 7">
            <a:extLst>
              <a:ext uri="{FF2B5EF4-FFF2-40B4-BE49-F238E27FC236}">
                <a16:creationId xmlns:a16="http://schemas.microsoft.com/office/drawing/2014/main" id="{69911F29-4CFB-EE2A-CA4D-866A34DF71F4}"/>
              </a:ext>
            </a:extLst>
          </p:cNvPr>
          <p:cNvSpPr/>
          <p:nvPr/>
        </p:nvSpPr>
        <p:spPr>
          <a:xfrm>
            <a:off x="273356" y="1331328"/>
            <a:ext cx="3415853" cy="461665"/>
          </a:xfrm>
          <a:prstGeom prst="rect">
            <a:avLst/>
          </a:prstGeom>
        </p:spPr>
        <p:txBody>
          <a:bodyPr wrap="square">
            <a:spAutoFit/>
          </a:bodyPr>
          <a:lstStyle/>
          <a:p>
            <a:r>
              <a:rPr lang="zh-CN" altLang="en-US" sz="2400" b="1" dirty="0">
                <a:solidFill>
                  <a:srgbClr val="0070C0"/>
                </a:solidFill>
                <a:latin typeface="微软雅黑"/>
                <a:ea typeface="微软雅黑"/>
                <a:sym typeface="+mn-ea"/>
              </a:rPr>
              <a:t>宏平均</a:t>
            </a:r>
            <a:r>
              <a:rPr lang="en-US" altLang="zh-CN" sz="2400" b="1" dirty="0">
                <a:solidFill>
                  <a:srgbClr val="0070C0"/>
                </a:solidFill>
                <a:latin typeface="微软雅黑"/>
                <a:ea typeface="微软雅黑"/>
                <a:sym typeface="+mn-ea"/>
              </a:rPr>
              <a:t>&amp;</a:t>
            </a:r>
            <a:r>
              <a:rPr lang="zh-CN" altLang="en-US" sz="2400" b="1" dirty="0">
                <a:solidFill>
                  <a:srgbClr val="0070C0"/>
                </a:solidFill>
                <a:latin typeface="微软雅黑"/>
                <a:ea typeface="微软雅黑"/>
                <a:sym typeface="+mn-ea"/>
              </a:rPr>
              <a:t>微平均</a:t>
            </a:r>
          </a:p>
        </p:txBody>
      </p:sp>
      <p:sp>
        <p:nvSpPr>
          <p:cNvPr id="9" name="矩形 8">
            <a:extLst>
              <a:ext uri="{FF2B5EF4-FFF2-40B4-BE49-F238E27FC236}">
                <a16:creationId xmlns:a16="http://schemas.microsoft.com/office/drawing/2014/main" id="{59DE6528-A86A-ACA7-0F69-B385F024CCD1}"/>
              </a:ext>
            </a:extLst>
          </p:cNvPr>
          <p:cNvSpPr/>
          <p:nvPr/>
        </p:nvSpPr>
        <p:spPr>
          <a:xfrm>
            <a:off x="1411605" y="400050"/>
            <a:ext cx="545964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性能评价指标</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分类</a:t>
            </a:r>
          </a:p>
        </p:txBody>
      </p:sp>
    </p:spTree>
    <p:extLst>
      <p:ext uri="{BB962C8B-B14F-4D97-AF65-F5344CB8AC3E}">
        <p14:creationId xmlns:p14="http://schemas.microsoft.com/office/powerpoint/2010/main" val="3161386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D07396-9755-837E-A57C-7EB655BC1556}"/>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26E7E457-C7B8-DE14-3DE4-CEB78B4D7963}"/>
              </a:ext>
            </a:extLst>
          </p:cNvPr>
          <p:cNvSpPr/>
          <p:nvPr/>
        </p:nvSpPr>
        <p:spPr>
          <a:xfrm>
            <a:off x="1411605" y="400050"/>
            <a:ext cx="5459647"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性能评价指标</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分类</a:t>
            </a:r>
          </a:p>
        </p:txBody>
      </p:sp>
      <p:sp>
        <p:nvSpPr>
          <p:cNvPr id="4" name="矩形 3">
            <a:extLst>
              <a:ext uri="{FF2B5EF4-FFF2-40B4-BE49-F238E27FC236}">
                <a16:creationId xmlns:a16="http://schemas.microsoft.com/office/drawing/2014/main" id="{50570B6C-8709-9F87-C3B7-97C47228D08C}"/>
              </a:ext>
            </a:extLst>
          </p:cNvPr>
          <p:cNvSpPr/>
          <p:nvPr/>
        </p:nvSpPr>
        <p:spPr>
          <a:xfrm>
            <a:off x="10385325" y="5934184"/>
            <a:ext cx="773723" cy="2672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40AA9B73-D105-49F0-6810-D47C5C5344B9}"/>
              </a:ext>
            </a:extLst>
          </p:cNvPr>
          <p:cNvSpPr/>
          <p:nvPr/>
        </p:nvSpPr>
        <p:spPr>
          <a:xfrm>
            <a:off x="238355" y="1351789"/>
            <a:ext cx="11674603" cy="1015663"/>
          </a:xfrm>
          <a:prstGeom prst="rect">
            <a:avLst/>
          </a:prstGeom>
        </p:spPr>
        <p:txBody>
          <a:bodyPr wrap="square">
            <a:spAutoFit/>
          </a:bodyPr>
          <a:lstStyle/>
          <a:p>
            <a:pPr indent="540000">
              <a:lnSpc>
                <a:spcPct val="125000"/>
              </a:lnSpc>
            </a:pPr>
            <a:r>
              <a:rPr lang="zh-CN" altLang="en-US" sz="2400" b="1" dirty="0">
                <a:solidFill>
                  <a:srgbClr val="0070C0"/>
                </a:solidFill>
                <a:latin typeface="微软雅黑"/>
                <a:ea typeface="微软雅黑"/>
                <a:sym typeface="+mn-ea"/>
              </a:rPr>
              <a:t>对数损失</a:t>
            </a:r>
            <a:r>
              <a:rPr lang="zh-CN" altLang="en-US" sz="2400" dirty="0">
                <a:latin typeface="微软雅黑" panose="020B0503020204020204" pitchFamily="34" charset="-122"/>
                <a:ea typeface="微软雅黑" panose="020B0503020204020204" pitchFamily="34" charset="-122"/>
                <a:sym typeface="+mn-ea"/>
              </a:rPr>
              <a:t>（</a:t>
            </a:r>
            <a:r>
              <a:rPr lang="en-US" altLang="zh-CN" sz="2400" dirty="0">
                <a:latin typeface="微软雅黑" panose="020B0503020204020204" pitchFamily="34" charset="-122"/>
                <a:ea typeface="微软雅黑" panose="020B0503020204020204" pitchFamily="34" charset="-122"/>
                <a:sym typeface="+mn-ea"/>
              </a:rPr>
              <a:t>Log loss</a:t>
            </a:r>
            <a:r>
              <a:rPr lang="zh-CN" altLang="en-US" sz="2400" dirty="0">
                <a:latin typeface="微软雅黑" panose="020B0503020204020204" pitchFamily="34" charset="-122"/>
                <a:ea typeface="微软雅黑" panose="020B0503020204020204" pitchFamily="34" charset="-122"/>
                <a:sym typeface="+mn-ea"/>
              </a:rPr>
              <a:t>）亦被称为逻辑回归损失（</a:t>
            </a:r>
            <a:r>
              <a:rPr lang="en-US" altLang="zh-CN" sz="2400" dirty="0">
                <a:latin typeface="微软雅黑" panose="020B0503020204020204" pitchFamily="34" charset="-122"/>
                <a:ea typeface="微软雅黑" panose="020B0503020204020204" pitchFamily="34" charset="-122"/>
                <a:sym typeface="+mn-ea"/>
              </a:rPr>
              <a:t>Logistic regression loss</a:t>
            </a:r>
            <a:r>
              <a:rPr lang="zh-CN" altLang="en-US" sz="2400" dirty="0">
                <a:latin typeface="微软雅黑" panose="020B0503020204020204" pitchFamily="34" charset="-122"/>
                <a:ea typeface="微软雅黑" panose="020B0503020204020204" pitchFamily="34" charset="-122"/>
                <a:sym typeface="+mn-ea"/>
              </a:rPr>
              <a:t>）或交叉熵损失（</a:t>
            </a:r>
            <a:r>
              <a:rPr lang="en-US" altLang="zh-CN" sz="2400" dirty="0">
                <a:latin typeface="微软雅黑" panose="020B0503020204020204" pitchFamily="34" charset="-122"/>
                <a:ea typeface="微软雅黑" panose="020B0503020204020204" pitchFamily="34" charset="-122"/>
                <a:sym typeface="+mn-ea"/>
              </a:rPr>
              <a:t>Cross-entropy loss</a:t>
            </a:r>
            <a:r>
              <a:rPr lang="zh-CN" altLang="en-US" sz="2400" dirty="0">
                <a:latin typeface="微软雅黑" panose="020B0503020204020204" pitchFamily="34" charset="-122"/>
                <a:ea typeface="微软雅黑" panose="020B0503020204020204" pitchFamily="34" charset="-122"/>
                <a:sym typeface="+mn-ea"/>
              </a:rPr>
              <a:t>）。</a:t>
            </a:r>
          </a:p>
        </p:txBody>
      </p:sp>
      <p:pic>
        <p:nvPicPr>
          <p:cNvPr id="6" name="Picture 3">
            <a:extLst>
              <a:ext uri="{FF2B5EF4-FFF2-40B4-BE49-F238E27FC236}">
                <a16:creationId xmlns:a16="http://schemas.microsoft.com/office/drawing/2014/main" id="{653C2960-2B31-EB80-33DB-C099A9F244E4}"/>
              </a:ext>
            </a:extLst>
          </p:cNvPr>
          <p:cNvPicPr>
            <a:picLocks noChangeAspect="1" noChangeArrowheads="1"/>
          </p:cNvPicPr>
          <p:nvPr/>
        </p:nvPicPr>
        <p:blipFill>
          <a:blip r:embed="rId2"/>
          <a:srcRect/>
          <a:stretch>
            <a:fillRect/>
          </a:stretch>
        </p:blipFill>
        <p:spPr bwMode="auto">
          <a:xfrm>
            <a:off x="1834953" y="3102767"/>
            <a:ext cx="8437831" cy="622313"/>
          </a:xfrm>
          <a:prstGeom prst="rect">
            <a:avLst/>
          </a:prstGeom>
          <a:noFill/>
          <a:ln w="9525">
            <a:noFill/>
            <a:miter lim="800000"/>
            <a:headEnd/>
            <a:tailEnd/>
          </a:ln>
          <a:effectLst/>
        </p:spPr>
      </p:pic>
      <p:pic>
        <p:nvPicPr>
          <p:cNvPr id="7" name="Picture 4">
            <a:extLst>
              <a:ext uri="{FF2B5EF4-FFF2-40B4-BE49-F238E27FC236}">
                <a16:creationId xmlns:a16="http://schemas.microsoft.com/office/drawing/2014/main" id="{56D7C5B8-5530-EBD0-EBB4-C40018B10B33}"/>
              </a:ext>
            </a:extLst>
          </p:cNvPr>
          <p:cNvPicPr>
            <a:picLocks noChangeAspect="1" noChangeArrowheads="1"/>
          </p:cNvPicPr>
          <p:nvPr/>
        </p:nvPicPr>
        <p:blipFill>
          <a:blip r:embed="rId3"/>
          <a:srcRect/>
          <a:stretch>
            <a:fillRect/>
          </a:stretch>
        </p:blipFill>
        <p:spPr bwMode="auto">
          <a:xfrm>
            <a:off x="2343588" y="4774625"/>
            <a:ext cx="6667500" cy="933450"/>
          </a:xfrm>
          <a:prstGeom prst="rect">
            <a:avLst/>
          </a:prstGeom>
          <a:noFill/>
          <a:ln w="9525">
            <a:noFill/>
            <a:miter lim="800000"/>
            <a:headEnd/>
            <a:tailEnd/>
          </a:ln>
          <a:effectLst/>
        </p:spPr>
      </p:pic>
      <p:pic>
        <p:nvPicPr>
          <p:cNvPr id="8" name="Picture 5">
            <a:extLst>
              <a:ext uri="{FF2B5EF4-FFF2-40B4-BE49-F238E27FC236}">
                <a16:creationId xmlns:a16="http://schemas.microsoft.com/office/drawing/2014/main" id="{FC216D27-59A5-C64A-C157-CC9664E0FA1F}"/>
              </a:ext>
            </a:extLst>
          </p:cNvPr>
          <p:cNvPicPr>
            <a:picLocks noChangeAspect="1" noChangeArrowheads="1"/>
          </p:cNvPicPr>
          <p:nvPr/>
        </p:nvPicPr>
        <p:blipFill>
          <a:blip r:embed="rId4"/>
          <a:srcRect/>
          <a:stretch>
            <a:fillRect/>
          </a:stretch>
        </p:blipFill>
        <p:spPr bwMode="auto">
          <a:xfrm>
            <a:off x="3232637" y="2489211"/>
            <a:ext cx="1428750" cy="552450"/>
          </a:xfrm>
          <a:prstGeom prst="rect">
            <a:avLst/>
          </a:prstGeom>
          <a:noFill/>
          <a:ln w="9525">
            <a:noFill/>
            <a:miter lim="800000"/>
            <a:headEnd/>
            <a:tailEnd/>
          </a:ln>
          <a:effectLst/>
        </p:spPr>
      </p:pic>
      <p:pic>
        <p:nvPicPr>
          <p:cNvPr id="9" name="Picture 6">
            <a:extLst>
              <a:ext uri="{FF2B5EF4-FFF2-40B4-BE49-F238E27FC236}">
                <a16:creationId xmlns:a16="http://schemas.microsoft.com/office/drawing/2014/main" id="{356197F5-03AF-6DA8-C692-9C906931DB6D}"/>
              </a:ext>
            </a:extLst>
          </p:cNvPr>
          <p:cNvPicPr>
            <a:picLocks noChangeAspect="1" noChangeArrowheads="1"/>
          </p:cNvPicPr>
          <p:nvPr/>
        </p:nvPicPr>
        <p:blipFill>
          <a:blip r:embed="rId5"/>
          <a:srcRect/>
          <a:stretch>
            <a:fillRect/>
          </a:stretch>
        </p:blipFill>
        <p:spPr bwMode="auto">
          <a:xfrm>
            <a:off x="5154635" y="2442465"/>
            <a:ext cx="2114550" cy="533400"/>
          </a:xfrm>
          <a:prstGeom prst="rect">
            <a:avLst/>
          </a:prstGeom>
          <a:noFill/>
          <a:ln w="9525">
            <a:noFill/>
            <a:miter lim="800000"/>
            <a:headEnd/>
            <a:tailEnd/>
          </a:ln>
          <a:effectLst/>
        </p:spPr>
      </p:pic>
      <p:sp>
        <p:nvSpPr>
          <p:cNvPr id="10" name="矩形 9">
            <a:extLst>
              <a:ext uri="{FF2B5EF4-FFF2-40B4-BE49-F238E27FC236}">
                <a16:creationId xmlns:a16="http://schemas.microsoft.com/office/drawing/2014/main" id="{A9A81856-A352-A909-E0B9-A2337E413114}"/>
              </a:ext>
            </a:extLst>
          </p:cNvPr>
          <p:cNvSpPr/>
          <p:nvPr/>
        </p:nvSpPr>
        <p:spPr>
          <a:xfrm>
            <a:off x="1226588" y="2580770"/>
            <a:ext cx="1723549" cy="400110"/>
          </a:xfrm>
          <a:prstGeom prst="rect">
            <a:avLst/>
          </a:prstGeom>
        </p:spPr>
        <p:txBody>
          <a:bodyPr wrap="none">
            <a:spAutoFit/>
          </a:bodyPr>
          <a:lstStyle/>
          <a:p>
            <a:r>
              <a:rPr lang="zh-CN" altLang="en-US" sz="2000" b="1" dirty="0">
                <a:solidFill>
                  <a:srgbClr val="0070C0"/>
                </a:solidFill>
                <a:latin typeface="微软雅黑"/>
                <a:ea typeface="微软雅黑"/>
                <a:sym typeface="+mn-ea"/>
              </a:rPr>
              <a:t>二分类问题：</a:t>
            </a:r>
            <a:endParaRPr lang="zh-CN" altLang="en-US" sz="2000" dirty="0"/>
          </a:p>
        </p:txBody>
      </p:sp>
      <p:sp>
        <p:nvSpPr>
          <p:cNvPr id="11" name="矩形 10">
            <a:extLst>
              <a:ext uri="{FF2B5EF4-FFF2-40B4-BE49-F238E27FC236}">
                <a16:creationId xmlns:a16="http://schemas.microsoft.com/office/drawing/2014/main" id="{41C5CB49-760D-E095-EF03-2B3645D8E0BD}"/>
              </a:ext>
            </a:extLst>
          </p:cNvPr>
          <p:cNvSpPr/>
          <p:nvPr/>
        </p:nvSpPr>
        <p:spPr>
          <a:xfrm>
            <a:off x="1182042" y="3858585"/>
            <a:ext cx="6191118" cy="400110"/>
          </a:xfrm>
          <a:prstGeom prst="rect">
            <a:avLst/>
          </a:prstGeom>
        </p:spPr>
        <p:txBody>
          <a:bodyPr wrap="none">
            <a:spAutoFit/>
          </a:bodyPr>
          <a:lstStyle/>
          <a:p>
            <a:r>
              <a:rPr lang="zh-CN" altLang="en-US" sz="2000" b="1" dirty="0">
                <a:solidFill>
                  <a:srgbClr val="0070C0"/>
                </a:solidFill>
                <a:latin typeface="微软雅黑"/>
                <a:ea typeface="微软雅黑"/>
                <a:sym typeface="+mn-ea"/>
              </a:rPr>
              <a:t>多分类问题：</a:t>
            </a:r>
            <a:r>
              <a:rPr lang="zh-CN" altLang="en-US" sz="2000" dirty="0">
                <a:latin typeface="微软雅黑" panose="020B0503020204020204" pitchFamily="34" charset="-122"/>
                <a:ea typeface="微软雅黑" panose="020B0503020204020204" pitchFamily="34" charset="-122"/>
                <a:sym typeface="+mn-ea"/>
              </a:rPr>
              <a:t>设</a:t>
            </a:r>
            <a:r>
              <a:rPr lang="en-US" altLang="zh-CN" sz="2000" dirty="0">
                <a:latin typeface="微软雅黑" panose="020B0503020204020204" pitchFamily="34" charset="-122"/>
                <a:ea typeface="微软雅黑" panose="020B0503020204020204" pitchFamily="34" charset="-122"/>
                <a:sym typeface="+mn-ea"/>
              </a:rPr>
              <a:t>Y</a:t>
            </a:r>
            <a:r>
              <a:rPr lang="zh-CN" altLang="en-US" sz="2000" dirty="0">
                <a:latin typeface="微软雅黑" panose="020B0503020204020204" pitchFamily="34" charset="-122"/>
                <a:ea typeface="微软雅黑" panose="020B0503020204020204" pitchFamily="34" charset="-122"/>
                <a:sym typeface="+mn-ea"/>
              </a:rPr>
              <a:t>为指示矩阵，即当样本</a:t>
            </a:r>
            <a:r>
              <a:rPr lang="en-US" altLang="zh-CN" sz="2000" dirty="0" err="1">
                <a:latin typeface="微软雅黑" panose="020B0503020204020204" pitchFamily="34" charset="-122"/>
                <a:ea typeface="微软雅黑" panose="020B0503020204020204" pitchFamily="34" charset="-122"/>
                <a:sym typeface="+mn-ea"/>
              </a:rPr>
              <a:t>i</a:t>
            </a:r>
            <a:r>
              <a:rPr lang="zh-CN" altLang="en-US" sz="2000" dirty="0">
                <a:latin typeface="微软雅黑" panose="020B0503020204020204" pitchFamily="34" charset="-122"/>
                <a:ea typeface="微软雅黑" panose="020B0503020204020204" pitchFamily="34" charset="-122"/>
                <a:sym typeface="+mn-ea"/>
              </a:rPr>
              <a:t>的分类为</a:t>
            </a:r>
            <a:r>
              <a:rPr lang="en-US" altLang="zh-CN" sz="2000" dirty="0">
                <a:latin typeface="微软雅黑" panose="020B0503020204020204" pitchFamily="34" charset="-122"/>
                <a:ea typeface="微软雅黑" panose="020B0503020204020204" pitchFamily="34" charset="-122"/>
                <a:sym typeface="+mn-ea"/>
              </a:rPr>
              <a:t>k</a:t>
            </a:r>
            <a:r>
              <a:rPr lang="zh-CN" altLang="en-US" sz="2000" dirty="0">
                <a:latin typeface="微软雅黑" panose="020B0503020204020204" pitchFamily="34" charset="-122"/>
                <a:ea typeface="微软雅黑" panose="020B0503020204020204" pitchFamily="34" charset="-122"/>
                <a:sym typeface="+mn-ea"/>
              </a:rPr>
              <a:t>，</a:t>
            </a:r>
          </a:p>
        </p:txBody>
      </p:sp>
      <p:sp>
        <p:nvSpPr>
          <p:cNvPr id="12" name="矩形 11">
            <a:extLst>
              <a:ext uri="{FF2B5EF4-FFF2-40B4-BE49-F238E27FC236}">
                <a16:creationId xmlns:a16="http://schemas.microsoft.com/office/drawing/2014/main" id="{0DC7F842-4DCD-C45B-E925-37F185D4A3AF}"/>
              </a:ext>
            </a:extLst>
          </p:cNvPr>
          <p:cNvSpPr/>
          <p:nvPr/>
        </p:nvSpPr>
        <p:spPr>
          <a:xfrm>
            <a:off x="7203458" y="2538567"/>
            <a:ext cx="3262432"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sym typeface="+mn-ea"/>
              </a:rPr>
              <a:t>则对每个样本的对数损失为</a:t>
            </a:r>
          </a:p>
        </p:txBody>
      </p:sp>
      <p:sp>
        <p:nvSpPr>
          <p:cNvPr id="13" name="矩形 12">
            <a:extLst>
              <a:ext uri="{FF2B5EF4-FFF2-40B4-BE49-F238E27FC236}">
                <a16:creationId xmlns:a16="http://schemas.microsoft.com/office/drawing/2014/main" id="{A2E4A3F2-FFD8-8D4D-2496-3BDFF8EBFC54}"/>
              </a:ext>
            </a:extLst>
          </p:cNvPr>
          <p:cNvSpPr/>
          <p:nvPr/>
        </p:nvSpPr>
        <p:spPr>
          <a:xfrm>
            <a:off x="4695865" y="2552634"/>
            <a:ext cx="441146" cy="400110"/>
          </a:xfrm>
          <a:prstGeom prst="rect">
            <a:avLst/>
          </a:prstGeom>
        </p:spPr>
        <p:txBody>
          <a:bodyPr wrap="none">
            <a:spAutoFit/>
          </a:bodyPr>
          <a:lstStyle/>
          <a:p>
            <a:r>
              <a:rPr lang="zh-CN" altLang="en-US" sz="2000" dirty="0">
                <a:latin typeface="微软雅黑" pitchFamily="34" charset="-122"/>
                <a:ea typeface="微软雅黑" pitchFamily="34" charset="-122"/>
              </a:rPr>
              <a:t>且</a:t>
            </a:r>
          </a:p>
        </p:txBody>
      </p:sp>
      <p:sp>
        <p:nvSpPr>
          <p:cNvPr id="14" name="矩形 13">
            <a:extLst>
              <a:ext uri="{FF2B5EF4-FFF2-40B4-BE49-F238E27FC236}">
                <a16:creationId xmlns:a16="http://schemas.microsoft.com/office/drawing/2014/main" id="{920BA81E-738B-E237-C808-54723A7B6F33}"/>
              </a:ext>
            </a:extLst>
          </p:cNvPr>
          <p:cNvSpPr/>
          <p:nvPr/>
        </p:nvSpPr>
        <p:spPr>
          <a:xfrm>
            <a:off x="8319366" y="3832793"/>
            <a:ext cx="2906565"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sym typeface="+mn-ea"/>
              </a:rPr>
              <a:t>设</a:t>
            </a:r>
            <a:r>
              <a:rPr lang="en-US" altLang="zh-CN" sz="2000" dirty="0">
                <a:latin typeface="微软雅黑" panose="020B0503020204020204" pitchFamily="34" charset="-122"/>
                <a:ea typeface="微软雅黑" panose="020B0503020204020204" pitchFamily="34" charset="-122"/>
                <a:sym typeface="+mn-ea"/>
              </a:rPr>
              <a:t>P</a:t>
            </a:r>
            <a:r>
              <a:rPr lang="zh-CN" altLang="en-US" sz="2000" dirty="0">
                <a:latin typeface="微软雅黑" panose="020B0503020204020204" pitchFamily="34" charset="-122"/>
                <a:ea typeface="微软雅黑" panose="020B0503020204020204" pitchFamily="34" charset="-122"/>
                <a:sym typeface="+mn-ea"/>
              </a:rPr>
              <a:t>为估计的概率矩阵，</a:t>
            </a:r>
          </a:p>
        </p:txBody>
      </p:sp>
      <p:pic>
        <p:nvPicPr>
          <p:cNvPr id="15" name="Picture 9">
            <a:extLst>
              <a:ext uri="{FF2B5EF4-FFF2-40B4-BE49-F238E27FC236}">
                <a16:creationId xmlns:a16="http://schemas.microsoft.com/office/drawing/2014/main" id="{E3A379CF-15C8-8228-4497-EB7E3446D99A}"/>
              </a:ext>
            </a:extLst>
          </p:cNvPr>
          <p:cNvPicPr>
            <a:picLocks noChangeAspect="1" noChangeArrowheads="1"/>
          </p:cNvPicPr>
          <p:nvPr/>
        </p:nvPicPr>
        <p:blipFill>
          <a:blip r:embed="rId6"/>
          <a:srcRect/>
          <a:stretch>
            <a:fillRect/>
          </a:stretch>
        </p:blipFill>
        <p:spPr bwMode="auto">
          <a:xfrm>
            <a:off x="1385079" y="4276688"/>
            <a:ext cx="2647950" cy="438150"/>
          </a:xfrm>
          <a:prstGeom prst="rect">
            <a:avLst/>
          </a:prstGeom>
          <a:noFill/>
          <a:ln w="9525">
            <a:noFill/>
            <a:miter lim="800000"/>
            <a:headEnd/>
            <a:tailEnd/>
          </a:ln>
          <a:effectLst/>
        </p:spPr>
      </p:pic>
      <p:sp>
        <p:nvSpPr>
          <p:cNvPr id="16" name="矩形 15">
            <a:extLst>
              <a:ext uri="{FF2B5EF4-FFF2-40B4-BE49-F238E27FC236}">
                <a16:creationId xmlns:a16="http://schemas.microsoft.com/office/drawing/2014/main" id="{D77F569F-D10D-10DF-F829-50C4A765C239}"/>
              </a:ext>
            </a:extLst>
          </p:cNvPr>
          <p:cNvSpPr/>
          <p:nvPr/>
        </p:nvSpPr>
        <p:spPr>
          <a:xfrm>
            <a:off x="4049950" y="4266549"/>
            <a:ext cx="3262432" cy="400110"/>
          </a:xfrm>
          <a:prstGeom prst="rect">
            <a:avLst/>
          </a:prstGeom>
        </p:spPr>
        <p:txBody>
          <a:bodyPr wrap="none">
            <a:spAutoFit/>
          </a:bodyPr>
          <a:lstStyle/>
          <a:p>
            <a:r>
              <a:rPr lang="zh-CN" altLang="en-US" sz="2000" dirty="0">
                <a:latin typeface="微软雅黑" panose="020B0503020204020204" pitchFamily="34" charset="-122"/>
                <a:ea typeface="微软雅黑" panose="020B0503020204020204" pitchFamily="34" charset="-122"/>
                <a:sym typeface="+mn-ea"/>
              </a:rPr>
              <a:t>则对每个样本的对数损失为</a:t>
            </a:r>
          </a:p>
        </p:txBody>
      </p:sp>
      <p:pic>
        <p:nvPicPr>
          <p:cNvPr id="17" name="Picture 8">
            <a:extLst>
              <a:ext uri="{FF2B5EF4-FFF2-40B4-BE49-F238E27FC236}">
                <a16:creationId xmlns:a16="http://schemas.microsoft.com/office/drawing/2014/main" id="{BD6FF9D5-FBDD-C585-CBDF-C4C151CE622C}"/>
              </a:ext>
            </a:extLst>
          </p:cNvPr>
          <p:cNvPicPr>
            <a:picLocks noChangeAspect="1" noChangeArrowheads="1"/>
          </p:cNvPicPr>
          <p:nvPr/>
        </p:nvPicPr>
        <p:blipFill>
          <a:blip r:embed="rId7"/>
          <a:srcRect/>
          <a:stretch>
            <a:fillRect/>
          </a:stretch>
        </p:blipFill>
        <p:spPr bwMode="auto">
          <a:xfrm>
            <a:off x="7211449" y="3916349"/>
            <a:ext cx="1123950" cy="342900"/>
          </a:xfrm>
          <a:prstGeom prst="rect">
            <a:avLst/>
          </a:prstGeom>
          <a:noFill/>
          <a:ln w="9525">
            <a:noFill/>
            <a:miter lim="800000"/>
            <a:headEnd/>
            <a:tailEnd/>
          </a:ln>
          <a:effectLst/>
        </p:spPr>
      </p:pic>
    </p:spTree>
    <p:extLst>
      <p:ext uri="{BB962C8B-B14F-4D97-AF65-F5344CB8AC3E}">
        <p14:creationId xmlns:p14="http://schemas.microsoft.com/office/powerpoint/2010/main" val="2699518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p:bldP spid="14" grpId="0"/>
      <p:bldP spid="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1CDF8-CE4B-A53A-FC95-30828420F382}"/>
              </a:ext>
            </a:extLst>
          </p:cNvPr>
          <p:cNvSpPr>
            <a:spLocks noGrp="1"/>
          </p:cNvSpPr>
          <p:nvPr>
            <p:ph type="title"/>
          </p:nvPr>
        </p:nvSpPr>
        <p:spPr/>
        <p:txBody>
          <a:bodyPr>
            <a:normAutofit fontScale="90000"/>
          </a:bodyPr>
          <a:lstStyle/>
          <a:p>
            <a:endParaRPr lang="zh-CN" altLang="en-US"/>
          </a:p>
        </p:txBody>
      </p:sp>
      <p:sp>
        <p:nvSpPr>
          <p:cNvPr id="3" name="矩形 2">
            <a:extLst>
              <a:ext uri="{FF2B5EF4-FFF2-40B4-BE49-F238E27FC236}">
                <a16:creationId xmlns:a16="http://schemas.microsoft.com/office/drawing/2014/main" id="{3B12299C-9853-3C31-E498-9D5277568D2C}"/>
              </a:ext>
            </a:extLst>
          </p:cNvPr>
          <p:cNvSpPr/>
          <p:nvPr/>
        </p:nvSpPr>
        <p:spPr>
          <a:xfrm>
            <a:off x="244252" y="1370964"/>
            <a:ext cx="10593705" cy="769441"/>
          </a:xfrm>
          <a:prstGeom prst="rect">
            <a:avLst/>
          </a:prstGeom>
        </p:spPr>
        <p:txBody>
          <a:bodyPr wrap="square" rtlCol="0" anchor="t">
            <a:spAutoFit/>
          </a:bodyPr>
          <a:lstStyle/>
          <a:p>
            <a:pPr indent="457200"/>
            <a:r>
              <a:rPr lang="zh-CN" altLang="en-US" sz="2200" b="1" dirty="0">
                <a:solidFill>
                  <a:srgbClr val="0070C0"/>
                </a:solidFill>
                <a:latin typeface="微软雅黑" panose="020B0503020204020204" pitchFamily="34" charset="-122"/>
                <a:ea typeface="微软雅黑" panose="020B0503020204020204" pitchFamily="34" charset="-122"/>
                <a:sym typeface="+mn-ea"/>
              </a:rPr>
              <a:t>平均绝对误差：</a:t>
            </a:r>
            <a:r>
              <a:rPr lang="zh-CN" altLang="en-US" sz="2200" dirty="0">
                <a:latin typeface="微软雅黑" panose="020B0503020204020204" pitchFamily="34" charset="-122"/>
                <a:ea typeface="微软雅黑" panose="020B0503020204020204" pitchFamily="34" charset="-122"/>
                <a:sym typeface="+mn-ea"/>
              </a:rPr>
              <a:t>平均绝对误差</a:t>
            </a:r>
            <a:r>
              <a:rPr lang="en-US" altLang="zh-CN" sz="2200" dirty="0">
                <a:latin typeface="微软雅黑" panose="020B0503020204020204" pitchFamily="34" charset="-122"/>
                <a:ea typeface="微软雅黑" panose="020B0503020204020204" pitchFamily="34" charset="-122"/>
                <a:sym typeface="+mn-ea"/>
              </a:rPr>
              <a:t>MAE</a:t>
            </a:r>
            <a:r>
              <a:rPr lang="zh-CN" altLang="en-US" sz="2200" dirty="0">
                <a:latin typeface="微软雅黑" panose="020B0503020204020204" pitchFamily="34" charset="-122"/>
                <a:ea typeface="微软雅黑" panose="020B0503020204020204" pitchFamily="34" charset="-122"/>
                <a:sym typeface="+mn-ea"/>
              </a:rPr>
              <a:t>（</a:t>
            </a:r>
            <a:r>
              <a:rPr lang="en-US" altLang="zh-CN" sz="2200" dirty="0">
                <a:latin typeface="微软雅黑" panose="020B0503020204020204" pitchFamily="34" charset="-122"/>
                <a:ea typeface="微软雅黑" panose="020B0503020204020204" pitchFamily="34" charset="-122"/>
                <a:sym typeface="+mn-ea"/>
              </a:rPr>
              <a:t>Mean Absolute Error</a:t>
            </a:r>
            <a:r>
              <a:rPr lang="zh-CN" altLang="en-US" sz="2200" dirty="0">
                <a:latin typeface="微软雅黑" panose="020B0503020204020204" pitchFamily="34" charset="-122"/>
                <a:ea typeface="微软雅黑" panose="020B0503020204020204" pitchFamily="34" charset="-122"/>
                <a:sym typeface="+mn-ea"/>
              </a:rPr>
              <a:t>）又被称为</a:t>
            </a:r>
            <a:r>
              <a:rPr lang="en-US" altLang="zh-CN" sz="2200" dirty="0">
                <a:latin typeface="微软雅黑" panose="020B0503020204020204" pitchFamily="34" charset="-122"/>
                <a:ea typeface="微软雅黑" panose="020B0503020204020204" pitchFamily="34" charset="-122"/>
                <a:sym typeface="+mn-ea"/>
              </a:rPr>
              <a:t>l1</a:t>
            </a:r>
            <a:r>
              <a:rPr lang="zh-CN" altLang="en-US" sz="2200" dirty="0">
                <a:latin typeface="微软雅黑" panose="020B0503020204020204" pitchFamily="34" charset="-122"/>
                <a:ea typeface="微软雅黑" panose="020B0503020204020204" pitchFamily="34" charset="-122"/>
                <a:sym typeface="+mn-ea"/>
              </a:rPr>
              <a:t>范数损失（</a:t>
            </a:r>
            <a:r>
              <a:rPr lang="en-US" altLang="zh-CN" sz="2200" dirty="0">
                <a:latin typeface="微软雅黑" panose="020B0503020204020204" pitchFamily="34" charset="-122"/>
                <a:ea typeface="微软雅黑" panose="020B0503020204020204" pitchFamily="34" charset="-122"/>
                <a:sym typeface="+mn-ea"/>
              </a:rPr>
              <a:t>l1-norm loss</a:t>
            </a:r>
            <a:r>
              <a:rPr lang="zh-CN" altLang="en-US" sz="2200" dirty="0">
                <a:latin typeface="微软雅黑" panose="020B0503020204020204" pitchFamily="34" charset="-122"/>
                <a:ea typeface="微软雅黑" panose="020B0503020204020204" pitchFamily="34" charset="-122"/>
                <a:sym typeface="+mn-ea"/>
              </a:rPr>
              <a:t>）</a:t>
            </a:r>
          </a:p>
        </p:txBody>
      </p:sp>
      <p:sp>
        <p:nvSpPr>
          <p:cNvPr id="4" name="矩形 3">
            <a:extLst>
              <a:ext uri="{FF2B5EF4-FFF2-40B4-BE49-F238E27FC236}">
                <a16:creationId xmlns:a16="http://schemas.microsoft.com/office/drawing/2014/main" id="{9EB87726-EC31-1052-AFC5-994E6E28F459}"/>
              </a:ext>
            </a:extLst>
          </p:cNvPr>
          <p:cNvSpPr/>
          <p:nvPr/>
        </p:nvSpPr>
        <p:spPr>
          <a:xfrm>
            <a:off x="1411605" y="400050"/>
            <a:ext cx="5247612" cy="646331"/>
          </a:xfrm>
          <a:prstGeom prst="rect">
            <a:avLst/>
          </a:prstGeom>
        </p:spPr>
        <p:txBody>
          <a:bodyPr wrap="square">
            <a:spAutoFit/>
          </a:bodyPr>
          <a:lstStyle/>
          <a:p>
            <a:r>
              <a:rPr lang="zh-CN" altLang="en-US" sz="3600" b="1" dirty="0">
                <a:latin typeface="微软雅黑" panose="020B0503020204020204" pitchFamily="34" charset="-122"/>
                <a:ea typeface="微软雅黑" panose="020B0503020204020204" pitchFamily="34" charset="-122"/>
              </a:rPr>
              <a:t>性能评价指标</a:t>
            </a:r>
            <a:r>
              <a:rPr lang="en-US" altLang="zh-CN" sz="3600" b="1" dirty="0">
                <a:latin typeface="微软雅黑" panose="020B0503020204020204" pitchFamily="34" charset="-122"/>
                <a:ea typeface="微软雅黑" panose="020B0503020204020204" pitchFamily="34" charset="-122"/>
              </a:rPr>
              <a:t>-</a:t>
            </a:r>
            <a:r>
              <a:rPr lang="zh-CN" altLang="en-US" sz="3600" b="1" dirty="0">
                <a:latin typeface="微软雅黑" panose="020B0503020204020204" pitchFamily="34" charset="-122"/>
                <a:ea typeface="微软雅黑" panose="020B0503020204020204" pitchFamily="34" charset="-122"/>
              </a:rPr>
              <a:t>回归</a:t>
            </a:r>
          </a:p>
        </p:txBody>
      </p:sp>
      <p:pic>
        <p:nvPicPr>
          <p:cNvPr id="5" name="Picture 2">
            <a:extLst>
              <a:ext uri="{FF2B5EF4-FFF2-40B4-BE49-F238E27FC236}">
                <a16:creationId xmlns:a16="http://schemas.microsoft.com/office/drawing/2014/main" id="{E22BCE36-5EF6-74B0-B3CE-EDB763C777F0}"/>
              </a:ext>
            </a:extLst>
          </p:cNvPr>
          <p:cNvPicPr>
            <a:picLocks noChangeAspect="1" noChangeArrowheads="1"/>
          </p:cNvPicPr>
          <p:nvPr/>
        </p:nvPicPr>
        <p:blipFill>
          <a:blip r:embed="rId2"/>
          <a:srcRect/>
          <a:stretch>
            <a:fillRect/>
          </a:stretch>
        </p:blipFill>
        <p:spPr bwMode="auto">
          <a:xfrm>
            <a:off x="3069981" y="2080551"/>
            <a:ext cx="4203016" cy="790041"/>
          </a:xfrm>
          <a:prstGeom prst="rect">
            <a:avLst/>
          </a:prstGeom>
          <a:noFill/>
          <a:ln w="9525">
            <a:noFill/>
            <a:miter lim="800000"/>
            <a:headEnd/>
            <a:tailEnd/>
          </a:ln>
          <a:effectLst/>
        </p:spPr>
      </p:pic>
      <p:sp>
        <p:nvSpPr>
          <p:cNvPr id="6" name="矩形 5">
            <a:extLst>
              <a:ext uri="{FF2B5EF4-FFF2-40B4-BE49-F238E27FC236}">
                <a16:creationId xmlns:a16="http://schemas.microsoft.com/office/drawing/2014/main" id="{9D964C35-F03C-782D-CC67-4DC3B21F5763}"/>
              </a:ext>
            </a:extLst>
          </p:cNvPr>
          <p:cNvSpPr/>
          <p:nvPr/>
        </p:nvSpPr>
        <p:spPr>
          <a:xfrm>
            <a:off x="130148" y="3105987"/>
            <a:ext cx="10593705" cy="769441"/>
          </a:xfrm>
          <a:prstGeom prst="rect">
            <a:avLst/>
          </a:prstGeom>
        </p:spPr>
        <p:txBody>
          <a:bodyPr wrap="square" rtlCol="0" anchor="t">
            <a:spAutoFit/>
          </a:bodyPr>
          <a:lstStyle/>
          <a:p>
            <a:pPr indent="457200"/>
            <a:r>
              <a:rPr lang="zh-CN" altLang="en-US" sz="2200" b="1" dirty="0">
                <a:solidFill>
                  <a:srgbClr val="0070C0"/>
                </a:solidFill>
                <a:latin typeface="微软雅黑" panose="020B0503020204020204" pitchFamily="34" charset="-122"/>
                <a:ea typeface="微软雅黑" panose="020B0503020204020204" pitchFamily="34" charset="-122"/>
                <a:sym typeface="+mn-ea"/>
              </a:rPr>
              <a:t>平均平方误差：</a:t>
            </a:r>
            <a:r>
              <a:rPr lang="zh-CN" altLang="en-US" sz="2200" dirty="0">
                <a:latin typeface="微软雅黑" panose="020B0503020204020204" pitchFamily="34" charset="-122"/>
                <a:ea typeface="微软雅黑" panose="020B0503020204020204" pitchFamily="34" charset="-122"/>
                <a:sym typeface="+mn-ea"/>
              </a:rPr>
              <a:t>平均平方误差</a:t>
            </a:r>
            <a:r>
              <a:rPr lang="en-US" altLang="zh-CN" sz="2200" dirty="0">
                <a:latin typeface="微软雅黑" panose="020B0503020204020204" pitchFamily="34" charset="-122"/>
                <a:ea typeface="微软雅黑" panose="020B0503020204020204" pitchFamily="34" charset="-122"/>
                <a:sym typeface="+mn-ea"/>
              </a:rPr>
              <a:t>MSE</a:t>
            </a:r>
            <a:r>
              <a:rPr lang="zh-CN" altLang="en-US" sz="2200" dirty="0">
                <a:latin typeface="微软雅黑" panose="020B0503020204020204" pitchFamily="34" charset="-122"/>
                <a:ea typeface="微软雅黑" panose="020B0503020204020204" pitchFamily="34" charset="-122"/>
                <a:sym typeface="+mn-ea"/>
              </a:rPr>
              <a:t>（</a:t>
            </a:r>
            <a:r>
              <a:rPr lang="en-US" altLang="zh-CN" sz="2200" dirty="0">
                <a:latin typeface="微软雅黑" panose="020B0503020204020204" pitchFamily="34" charset="-122"/>
                <a:ea typeface="微软雅黑" panose="020B0503020204020204" pitchFamily="34" charset="-122"/>
                <a:sym typeface="+mn-ea"/>
              </a:rPr>
              <a:t>Mean Squared Error</a:t>
            </a:r>
            <a:r>
              <a:rPr lang="zh-CN" altLang="en-US" sz="2200" dirty="0">
                <a:latin typeface="微软雅黑" panose="020B0503020204020204" pitchFamily="34" charset="-122"/>
                <a:ea typeface="微软雅黑" panose="020B0503020204020204" pitchFamily="34" charset="-122"/>
                <a:sym typeface="+mn-ea"/>
              </a:rPr>
              <a:t>）又被称为</a:t>
            </a:r>
            <a:r>
              <a:rPr lang="en-US" altLang="zh-CN" sz="2200" dirty="0">
                <a:latin typeface="微软雅黑" panose="020B0503020204020204" pitchFamily="34" charset="-122"/>
                <a:ea typeface="微软雅黑" panose="020B0503020204020204" pitchFamily="34" charset="-122"/>
                <a:sym typeface="+mn-ea"/>
              </a:rPr>
              <a:t>l2</a:t>
            </a:r>
            <a:r>
              <a:rPr lang="zh-CN" altLang="en-US" sz="2200" dirty="0">
                <a:latin typeface="微软雅黑" panose="020B0503020204020204" pitchFamily="34" charset="-122"/>
                <a:ea typeface="微软雅黑" panose="020B0503020204020204" pitchFamily="34" charset="-122"/>
                <a:sym typeface="+mn-ea"/>
              </a:rPr>
              <a:t>范数损失（</a:t>
            </a:r>
            <a:r>
              <a:rPr lang="en-US" altLang="zh-CN" sz="2200" dirty="0">
                <a:latin typeface="微软雅黑" panose="020B0503020204020204" pitchFamily="34" charset="-122"/>
                <a:ea typeface="微软雅黑" panose="020B0503020204020204" pitchFamily="34" charset="-122"/>
                <a:sym typeface="+mn-ea"/>
              </a:rPr>
              <a:t>l2-norm loss</a:t>
            </a:r>
            <a:r>
              <a:rPr lang="zh-CN" altLang="en-US" sz="2200" dirty="0">
                <a:latin typeface="微软雅黑" panose="020B0503020204020204" pitchFamily="34" charset="-122"/>
                <a:ea typeface="微软雅黑" panose="020B0503020204020204" pitchFamily="34" charset="-122"/>
                <a:sym typeface="+mn-ea"/>
              </a:rPr>
              <a:t>）：</a:t>
            </a:r>
          </a:p>
        </p:txBody>
      </p:sp>
      <p:pic>
        <p:nvPicPr>
          <p:cNvPr id="7" name="Picture 3">
            <a:extLst>
              <a:ext uri="{FF2B5EF4-FFF2-40B4-BE49-F238E27FC236}">
                <a16:creationId xmlns:a16="http://schemas.microsoft.com/office/drawing/2014/main" id="{A30D0173-20E2-58BF-0A40-3B09820E33DA}"/>
              </a:ext>
            </a:extLst>
          </p:cNvPr>
          <p:cNvPicPr>
            <a:picLocks noChangeAspect="1" noChangeArrowheads="1"/>
          </p:cNvPicPr>
          <p:nvPr/>
        </p:nvPicPr>
        <p:blipFill>
          <a:blip r:embed="rId3"/>
          <a:srcRect/>
          <a:stretch>
            <a:fillRect/>
          </a:stretch>
        </p:blipFill>
        <p:spPr bwMode="auto">
          <a:xfrm>
            <a:off x="3112184" y="3676409"/>
            <a:ext cx="4357761" cy="884658"/>
          </a:xfrm>
          <a:prstGeom prst="rect">
            <a:avLst/>
          </a:prstGeom>
          <a:noFill/>
          <a:ln w="9525">
            <a:noFill/>
            <a:miter lim="800000"/>
            <a:headEnd/>
            <a:tailEnd/>
          </a:ln>
          <a:effectLst/>
        </p:spPr>
      </p:pic>
      <p:sp>
        <p:nvSpPr>
          <p:cNvPr id="8" name="矩形 7">
            <a:extLst>
              <a:ext uri="{FF2B5EF4-FFF2-40B4-BE49-F238E27FC236}">
                <a16:creationId xmlns:a16="http://schemas.microsoft.com/office/drawing/2014/main" id="{1C05B9AA-0F3F-EE1C-8B2F-965A10033DF8}"/>
              </a:ext>
            </a:extLst>
          </p:cNvPr>
          <p:cNvSpPr/>
          <p:nvPr/>
        </p:nvSpPr>
        <p:spPr>
          <a:xfrm>
            <a:off x="464280" y="4832690"/>
            <a:ext cx="9414418" cy="461665"/>
          </a:xfrm>
          <a:prstGeom prst="rect">
            <a:avLst/>
          </a:prstGeom>
        </p:spPr>
        <p:txBody>
          <a:bodyPr wrap="square">
            <a:spAutoFit/>
          </a:bodyPr>
          <a:lstStyle/>
          <a:p>
            <a:r>
              <a:rPr lang="en-US" altLang="zh-CN" sz="2400" b="1" dirty="0">
                <a:solidFill>
                  <a:srgbClr val="0070C0"/>
                </a:solidFill>
                <a:latin typeface="微软雅黑" panose="020B0503020204020204" pitchFamily="34" charset="-122"/>
                <a:ea typeface="微软雅黑" panose="020B0503020204020204" pitchFamily="34" charset="-122"/>
                <a:sym typeface="+mn-ea"/>
              </a:rPr>
              <a:t>R Squared:</a:t>
            </a:r>
            <a:r>
              <a:rPr lang="zh-CN" altLang="en-US" sz="2200" dirty="0">
                <a:latin typeface="微软雅黑" pitchFamily="34" charset="-122"/>
                <a:ea typeface="微软雅黑" pitchFamily="34" charset="-122"/>
              </a:rPr>
              <a:t>是将预测值跟只使用均值的情况下相比，看能好多少。</a:t>
            </a:r>
            <a:endParaRPr lang="zh-CN" altLang="en-US" sz="2200" dirty="0">
              <a:solidFill>
                <a:srgbClr val="0070C0"/>
              </a:solidFill>
              <a:latin typeface="微软雅黑" pitchFamily="34" charset="-122"/>
              <a:ea typeface="微软雅黑" pitchFamily="34" charset="-122"/>
              <a:sym typeface="+mn-ea"/>
            </a:endParaRPr>
          </a:p>
        </p:txBody>
      </p:sp>
      <p:pic>
        <p:nvPicPr>
          <p:cNvPr id="9" name="Picture 2" descr="C:\Users\pcpc\AppData\Local\Temp\vmware-pcpc\VMwareDnD\da56681d\9085642-2b27e93fd95c1e6f.png">
            <a:extLst>
              <a:ext uri="{FF2B5EF4-FFF2-40B4-BE49-F238E27FC236}">
                <a16:creationId xmlns:a16="http://schemas.microsoft.com/office/drawing/2014/main" id="{DB3DC422-FC50-DDBD-4004-E15CFCA19FC7}"/>
              </a:ext>
            </a:extLst>
          </p:cNvPr>
          <p:cNvPicPr>
            <a:picLocks noChangeAspect="1" noChangeArrowheads="1"/>
          </p:cNvPicPr>
          <p:nvPr/>
        </p:nvPicPr>
        <p:blipFill>
          <a:blip r:embed="rId4"/>
          <a:srcRect b="37219"/>
          <a:stretch>
            <a:fillRect/>
          </a:stretch>
        </p:blipFill>
        <p:spPr bwMode="auto">
          <a:xfrm>
            <a:off x="2267099" y="5364204"/>
            <a:ext cx="2472169" cy="1159581"/>
          </a:xfrm>
          <a:prstGeom prst="rect">
            <a:avLst/>
          </a:prstGeom>
          <a:noFill/>
        </p:spPr>
      </p:pic>
      <p:pic>
        <p:nvPicPr>
          <p:cNvPr id="10" name="Picture 2" descr="C:\Users\pcpc\AppData\Local\Temp\vmware-pcpc\VMwareDnD\da56681d\9085642-2b27e93fd95c1e6f.png">
            <a:extLst>
              <a:ext uri="{FF2B5EF4-FFF2-40B4-BE49-F238E27FC236}">
                <a16:creationId xmlns:a16="http://schemas.microsoft.com/office/drawing/2014/main" id="{D230A6A0-528C-5115-1FDA-3EF4DBD098BD}"/>
              </a:ext>
            </a:extLst>
          </p:cNvPr>
          <p:cNvPicPr>
            <a:picLocks noChangeAspect="1" noChangeArrowheads="1"/>
          </p:cNvPicPr>
          <p:nvPr/>
        </p:nvPicPr>
        <p:blipFill>
          <a:blip r:embed="rId4"/>
          <a:srcRect t="62213" b="-6521"/>
          <a:stretch>
            <a:fillRect/>
          </a:stretch>
        </p:blipFill>
        <p:spPr bwMode="auto">
          <a:xfrm>
            <a:off x="4951684" y="5526201"/>
            <a:ext cx="2762250" cy="914401"/>
          </a:xfrm>
          <a:prstGeom prst="rect">
            <a:avLst/>
          </a:prstGeom>
          <a:noFill/>
        </p:spPr>
      </p:pic>
    </p:spTree>
    <p:extLst>
      <p:ext uri="{BB962C8B-B14F-4D97-AF65-F5344CB8AC3E}">
        <p14:creationId xmlns:p14="http://schemas.microsoft.com/office/powerpoint/2010/main" val="227354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0422AB-F597-EB32-4B57-0CFF1F3449D3}"/>
              </a:ext>
            </a:extLst>
          </p:cNvPr>
          <p:cNvSpPr>
            <a:spLocks noGrp="1"/>
          </p:cNvSpPr>
          <p:nvPr>
            <p:ph type="title"/>
          </p:nvPr>
        </p:nvSpPr>
        <p:spPr/>
        <p:txBody>
          <a:bodyPr>
            <a:normAutofit fontScale="90000"/>
          </a:bodyPr>
          <a:lstStyle/>
          <a:p>
            <a:r>
              <a:rPr lang="zh-CN" altLang="zh-CN" sz="2400" dirty="0">
                <a:solidFill>
                  <a:schemeClr val="tx1"/>
                </a:solidFill>
                <a:latin typeface="微软雅黑" panose="020B0503020204020204" pitchFamily="34" charset="-122"/>
                <a:ea typeface="微软雅黑" panose="020B0503020204020204" pitchFamily="34" charset="-122"/>
              </a:rPr>
              <a:t>大模型技术的兴起与应用</a:t>
            </a:r>
            <a:endParaRPr lang="zh-CN" altLang="en-US" dirty="0"/>
          </a:p>
        </p:txBody>
      </p:sp>
      <p:sp>
        <p:nvSpPr>
          <p:cNvPr id="14" name="文本框 13">
            <a:extLst>
              <a:ext uri="{FF2B5EF4-FFF2-40B4-BE49-F238E27FC236}">
                <a16:creationId xmlns:a16="http://schemas.microsoft.com/office/drawing/2014/main" id="{410C3355-E22D-5881-D276-2531D9A80804}"/>
              </a:ext>
            </a:extLst>
          </p:cNvPr>
          <p:cNvSpPr txBox="1"/>
          <p:nvPr/>
        </p:nvSpPr>
        <p:spPr>
          <a:xfrm>
            <a:off x="361439" y="2123187"/>
            <a:ext cx="5636537" cy="5693866"/>
          </a:xfrm>
          <a:prstGeom prst="rect">
            <a:avLst/>
          </a:prstGeom>
          <a:noFill/>
        </p:spPr>
        <p:txBody>
          <a:bodyPr wrap="square" rtlCol="0">
            <a:spAutoFit/>
          </a:bodyPr>
          <a:lstStyle/>
          <a:p>
            <a:endParaRPr lang="en-US" altLang="zh-CN" b="1" dirty="0"/>
          </a:p>
          <a:p>
            <a:r>
              <a:rPr lang="zh-CN" altLang="en-US" sz="3200" b="1" dirty="0">
                <a:solidFill>
                  <a:schemeClr val="accent6"/>
                </a:solidFill>
                <a:latin typeface="+mj-ea"/>
                <a:ea typeface="+mj-ea"/>
              </a:rPr>
              <a:t>人工智能</a:t>
            </a:r>
            <a:r>
              <a:rPr lang="zh-CN" altLang="en-US" sz="3200" b="1" dirty="0">
                <a:latin typeface="+mj-ea"/>
                <a:ea typeface="+mj-ea"/>
              </a:rPr>
              <a:t>：</a:t>
            </a:r>
            <a:r>
              <a:rPr lang="zh-CN" altLang="en-US" sz="2800" dirty="0">
                <a:latin typeface="+mj-ea"/>
                <a:ea typeface="+mj-ea"/>
              </a:rPr>
              <a:t>机器展现的人类智能</a:t>
            </a:r>
            <a:endParaRPr lang="en-US" altLang="zh-CN" sz="2800" dirty="0">
              <a:latin typeface="+mj-ea"/>
              <a:ea typeface="+mj-ea"/>
            </a:endParaRPr>
          </a:p>
          <a:p>
            <a:endParaRPr lang="en-US" altLang="zh-CN" sz="3200" b="1" dirty="0">
              <a:latin typeface="+mj-ea"/>
              <a:ea typeface="+mj-ea"/>
            </a:endParaRPr>
          </a:p>
          <a:p>
            <a:r>
              <a:rPr lang="zh-CN" altLang="zh-CN" sz="3200" b="1" dirty="0">
                <a:solidFill>
                  <a:schemeClr val="accent6"/>
                </a:solidFill>
                <a:latin typeface="+mj-ea"/>
                <a:ea typeface="+mj-ea"/>
              </a:rPr>
              <a:t>机器学习</a:t>
            </a:r>
            <a:r>
              <a:rPr lang="zh-CN" altLang="en-US" sz="3200" b="1" dirty="0">
                <a:solidFill>
                  <a:schemeClr val="accent6"/>
                </a:solidFill>
                <a:latin typeface="+mj-ea"/>
                <a:ea typeface="+mj-ea"/>
              </a:rPr>
              <a:t>：</a:t>
            </a:r>
            <a:r>
              <a:rPr lang="zh-CN" altLang="zh-CN" sz="2800" dirty="0">
                <a:latin typeface="+mj-ea"/>
                <a:ea typeface="+mj-ea"/>
              </a:rPr>
              <a:t>计算机利用已有的数据</a:t>
            </a:r>
            <a:r>
              <a:rPr lang="en-US" altLang="zh-CN" sz="2800" dirty="0">
                <a:latin typeface="+mj-ea"/>
                <a:ea typeface="+mj-ea"/>
              </a:rPr>
              <a:t>(</a:t>
            </a:r>
            <a:r>
              <a:rPr lang="zh-CN" altLang="zh-CN" sz="2800" dirty="0">
                <a:latin typeface="+mj-ea"/>
                <a:ea typeface="+mj-ea"/>
              </a:rPr>
              <a:t>经验</a:t>
            </a:r>
            <a:r>
              <a:rPr lang="en-US" altLang="zh-CN" sz="2800" dirty="0">
                <a:latin typeface="+mj-ea"/>
                <a:ea typeface="+mj-ea"/>
              </a:rPr>
              <a:t>)</a:t>
            </a:r>
            <a:r>
              <a:rPr lang="zh-CN" altLang="zh-CN" sz="2800" dirty="0">
                <a:latin typeface="+mj-ea"/>
                <a:ea typeface="+mj-ea"/>
              </a:rPr>
              <a:t>，得出了某种模型，并利用此模型预测未来的一种方法。</a:t>
            </a:r>
            <a:endParaRPr lang="en-US" altLang="zh-CN" sz="2800" dirty="0">
              <a:latin typeface="+mj-ea"/>
              <a:ea typeface="+mj-ea"/>
            </a:endParaRPr>
          </a:p>
          <a:p>
            <a:endParaRPr lang="en-US" altLang="zh-CN" sz="3200" b="1" dirty="0">
              <a:solidFill>
                <a:schemeClr val="accent6"/>
              </a:solidFill>
              <a:latin typeface="+mj-ea"/>
              <a:ea typeface="+mj-ea"/>
            </a:endParaRPr>
          </a:p>
          <a:p>
            <a:r>
              <a:rPr lang="zh-CN" altLang="en-US" sz="3200" b="1" dirty="0">
                <a:solidFill>
                  <a:schemeClr val="accent6"/>
                </a:solidFill>
                <a:latin typeface="+mj-ea"/>
                <a:ea typeface="+mj-ea"/>
              </a:rPr>
              <a:t>深度学习：</a:t>
            </a:r>
            <a:r>
              <a:rPr lang="zh-CN" altLang="en-US" sz="2800" dirty="0">
                <a:latin typeface="+mj-ea"/>
                <a:ea typeface="+mj-ea"/>
              </a:rPr>
              <a:t>实现机器学习的一种技术</a:t>
            </a:r>
          </a:p>
          <a:p>
            <a:endParaRPr lang="en-US" altLang="zh-CN" sz="2400" b="1" dirty="0">
              <a:solidFill>
                <a:schemeClr val="accent6"/>
              </a:solidFill>
              <a:latin typeface="+mn-lt"/>
              <a:ea typeface="+mn-ea"/>
            </a:endParaRPr>
          </a:p>
          <a:p>
            <a:endParaRPr lang="zh-CN" altLang="en-US" dirty="0"/>
          </a:p>
          <a:p>
            <a:br>
              <a:rPr lang="en-US" altLang="zh-CN" dirty="0"/>
            </a:br>
            <a:endParaRPr lang="zh-CN" altLang="en-US" dirty="0"/>
          </a:p>
        </p:txBody>
      </p:sp>
      <p:sp>
        <p:nvSpPr>
          <p:cNvPr id="15" name="椭圆 14">
            <a:extLst>
              <a:ext uri="{FF2B5EF4-FFF2-40B4-BE49-F238E27FC236}">
                <a16:creationId xmlns:a16="http://schemas.microsoft.com/office/drawing/2014/main" id="{EE19E705-63F3-C14C-6F8A-154714B768B4}"/>
              </a:ext>
            </a:extLst>
          </p:cNvPr>
          <p:cNvSpPr/>
          <p:nvPr/>
        </p:nvSpPr>
        <p:spPr>
          <a:xfrm>
            <a:off x="6378377" y="2296606"/>
            <a:ext cx="4247328" cy="4118164"/>
          </a:xfrm>
          <a:prstGeom prst="ellipse">
            <a:avLst/>
          </a:prstGeom>
          <a:solidFill>
            <a:srgbClr val="00B050"/>
          </a:solidFill>
          <a:ln>
            <a:solidFill>
              <a:schemeClr val="bg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6" name="椭圆 15">
            <a:extLst>
              <a:ext uri="{FF2B5EF4-FFF2-40B4-BE49-F238E27FC236}">
                <a16:creationId xmlns:a16="http://schemas.microsoft.com/office/drawing/2014/main" id="{070E23E4-0BE3-171B-DF8D-F871AB1A74FC}"/>
              </a:ext>
            </a:extLst>
          </p:cNvPr>
          <p:cNvSpPr/>
          <p:nvPr/>
        </p:nvSpPr>
        <p:spPr>
          <a:xfrm>
            <a:off x="6820350" y="3207022"/>
            <a:ext cx="3363674" cy="3207748"/>
          </a:xfrm>
          <a:prstGeom prst="ellipse">
            <a:avLst/>
          </a:prstGeom>
          <a:solidFill>
            <a:srgbClr val="0066CC"/>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椭圆 16">
            <a:extLst>
              <a:ext uri="{FF2B5EF4-FFF2-40B4-BE49-F238E27FC236}">
                <a16:creationId xmlns:a16="http://schemas.microsoft.com/office/drawing/2014/main" id="{287E2F48-8691-C728-2285-B7E072F69E35}"/>
              </a:ext>
            </a:extLst>
          </p:cNvPr>
          <p:cNvSpPr/>
          <p:nvPr/>
        </p:nvSpPr>
        <p:spPr>
          <a:xfrm>
            <a:off x="7405804" y="4259479"/>
            <a:ext cx="2192766" cy="2155291"/>
          </a:xfrm>
          <a:prstGeom prst="ellipse">
            <a:avLst/>
          </a:prstGeom>
          <a:solidFill>
            <a:srgbClr val="8460A8"/>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945EC747-0144-A540-FF59-E8335C0D9962}"/>
              </a:ext>
            </a:extLst>
          </p:cNvPr>
          <p:cNvSpPr txBox="1"/>
          <p:nvPr/>
        </p:nvSpPr>
        <p:spPr>
          <a:xfrm>
            <a:off x="7740906" y="2608288"/>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人工智能</a:t>
            </a:r>
          </a:p>
        </p:txBody>
      </p:sp>
      <p:sp>
        <p:nvSpPr>
          <p:cNvPr id="19" name="文本框 18">
            <a:extLst>
              <a:ext uri="{FF2B5EF4-FFF2-40B4-BE49-F238E27FC236}">
                <a16:creationId xmlns:a16="http://schemas.microsoft.com/office/drawing/2014/main" id="{9B900436-9300-F329-70F9-06284E5D86C7}"/>
              </a:ext>
            </a:extLst>
          </p:cNvPr>
          <p:cNvSpPr txBox="1"/>
          <p:nvPr/>
        </p:nvSpPr>
        <p:spPr>
          <a:xfrm>
            <a:off x="7740906" y="3571608"/>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机器学习</a:t>
            </a:r>
          </a:p>
        </p:txBody>
      </p:sp>
      <p:sp>
        <p:nvSpPr>
          <p:cNvPr id="20" name="文本框 19">
            <a:extLst>
              <a:ext uri="{FF2B5EF4-FFF2-40B4-BE49-F238E27FC236}">
                <a16:creationId xmlns:a16="http://schemas.microsoft.com/office/drawing/2014/main" id="{2695DB59-5FB1-6CAC-D33D-B9DEA2307EB5}"/>
              </a:ext>
            </a:extLst>
          </p:cNvPr>
          <p:cNvSpPr txBox="1"/>
          <p:nvPr/>
        </p:nvSpPr>
        <p:spPr>
          <a:xfrm>
            <a:off x="7793932" y="4993597"/>
            <a:ext cx="1416510" cy="461665"/>
          </a:xfrm>
          <a:prstGeom prst="rect">
            <a:avLst/>
          </a:prstGeom>
          <a:noFill/>
        </p:spPr>
        <p:txBody>
          <a:bodyPr wrap="square" rtlCol="0">
            <a:spAutoFit/>
          </a:bodyPr>
          <a:lstStyle/>
          <a:p>
            <a:r>
              <a:rPr lang="zh-CN" altLang="en-US" sz="2400" dirty="0">
                <a:solidFill>
                  <a:schemeClr val="bg1"/>
                </a:solidFill>
                <a:latin typeface="微软雅黑" panose="020B0503020204020204" pitchFamily="34" charset="-122"/>
                <a:ea typeface="微软雅黑" panose="020B0503020204020204" pitchFamily="34" charset="-122"/>
              </a:rPr>
              <a:t>深度学习</a:t>
            </a:r>
          </a:p>
        </p:txBody>
      </p:sp>
    </p:spTree>
    <p:extLst>
      <p:ext uri="{BB962C8B-B14F-4D97-AF65-F5344CB8AC3E}">
        <p14:creationId xmlns:p14="http://schemas.microsoft.com/office/powerpoint/2010/main" val="32982724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B06AA185-D014-CBB5-B278-C91BB50B4375}"/>
              </a:ext>
            </a:extLst>
          </p:cNvPr>
          <p:cNvSpPr txBox="1"/>
          <p:nvPr/>
        </p:nvSpPr>
        <p:spPr>
          <a:xfrm>
            <a:off x="961927" y="1459129"/>
            <a:ext cx="3163506" cy="673543"/>
          </a:xfrm>
          <a:prstGeom prst="rightArrow">
            <a:avLst/>
          </a:prstGeom>
          <a:gradFill>
            <a:gsLst>
              <a:gs pos="23000">
                <a:schemeClr val="accent1">
                  <a:lumMod val="60000"/>
                  <a:lumOff val="40000"/>
                </a:schemeClr>
              </a:gs>
              <a:gs pos="65000">
                <a:schemeClr val="accent1"/>
              </a:gs>
              <a:gs pos="100000">
                <a:schemeClr val="accent1">
                  <a:lumMod val="75000"/>
                </a:schemeClr>
              </a:gs>
            </a:gsLst>
            <a:lin ang="1200000" scaled="0"/>
          </a:gradFill>
          <a:ln w="12700" cap="sq">
            <a:noFill/>
            <a:miter/>
          </a:ln>
        </p:spPr>
        <p:txBody>
          <a:bodyPr vert="horz" wrap="square" lIns="91440" tIns="45720" rIns="91440" bIns="45720" rtlCol="0" anchor="ctr"/>
          <a:lstStyle/>
          <a:p>
            <a:pPr algn="ctr"/>
            <a:r>
              <a:rPr kumimoji="1" lang="en-US" altLang="zh-CN" sz="1800">
                <a:ln w="12700">
                  <a:noFill/>
                </a:ln>
                <a:solidFill>
                  <a:srgbClr val="FFFFFF">
                    <a:alpha val="100000"/>
                  </a:srgbClr>
                </a:solidFill>
                <a:latin typeface="OPPOSans R"/>
                <a:ea typeface="OPPOSans R"/>
                <a:cs typeface="OPPOSans R"/>
              </a:rPr>
              <a:t> </a:t>
            </a:r>
            <a:endParaRPr kumimoji="1" lang="zh-CN" altLang="en-US"/>
          </a:p>
        </p:txBody>
      </p:sp>
      <p:sp>
        <p:nvSpPr>
          <p:cNvPr id="5" name="标题 1">
            <a:extLst>
              <a:ext uri="{FF2B5EF4-FFF2-40B4-BE49-F238E27FC236}">
                <a16:creationId xmlns:a16="http://schemas.microsoft.com/office/drawing/2014/main" id="{52A8F356-7DB0-59A3-9F21-87884C76D2C8}"/>
              </a:ext>
            </a:extLst>
          </p:cNvPr>
          <p:cNvSpPr txBox="1"/>
          <p:nvPr/>
        </p:nvSpPr>
        <p:spPr>
          <a:xfrm>
            <a:off x="4308390" y="1511691"/>
            <a:ext cx="7210509" cy="311290"/>
          </a:xfrm>
          <a:prstGeom prst="rect">
            <a:avLst/>
          </a:prstGeom>
          <a:noFill/>
          <a:ln>
            <a:noFill/>
          </a:ln>
        </p:spPr>
        <p:txBody>
          <a:bodyPr vert="horz" wrap="square" lIns="0" tIns="0" rIns="0" bIns="0" rtlCol="0" anchor="ctr"/>
          <a:lstStyle/>
          <a:p>
            <a:pPr algn="l"/>
            <a:r>
              <a:rPr kumimoji="1" lang="en-US" altLang="zh-CN" sz="1600">
                <a:ln w="12700">
                  <a:noFill/>
                </a:ln>
                <a:solidFill>
                  <a:schemeClr val="tx1">
                    <a:lumMod val="85000"/>
                    <a:lumOff val="15000"/>
                  </a:schemeClr>
                </a:solidFill>
                <a:latin typeface="Source Han Sans CN Bold"/>
                <a:ea typeface="Source Han Sans CN Bold"/>
                <a:cs typeface="Source Han Sans CN Bold"/>
              </a:rPr>
              <a:t>什么是AI大模型</a:t>
            </a:r>
            <a:endParaRPr kumimoji="1" lang="zh-CN" altLang="en-US"/>
          </a:p>
        </p:txBody>
      </p:sp>
      <p:sp>
        <p:nvSpPr>
          <p:cNvPr id="6" name="标题 1">
            <a:extLst>
              <a:ext uri="{FF2B5EF4-FFF2-40B4-BE49-F238E27FC236}">
                <a16:creationId xmlns:a16="http://schemas.microsoft.com/office/drawing/2014/main" id="{FD5AEDC9-26DF-50FA-C453-EC10080B433D}"/>
              </a:ext>
            </a:extLst>
          </p:cNvPr>
          <p:cNvSpPr txBox="1"/>
          <p:nvPr/>
        </p:nvSpPr>
        <p:spPr>
          <a:xfrm>
            <a:off x="4308390" y="1829990"/>
            <a:ext cx="6034095" cy="806208"/>
          </a:xfrm>
          <a:prstGeom prst="rect">
            <a:avLst/>
          </a:prstGeom>
          <a:noFill/>
          <a:ln>
            <a:noFill/>
          </a:ln>
        </p:spPr>
        <p:txBody>
          <a:bodyPr vert="horz" wrap="square" lIns="0" tIns="0" rIns="0" bIns="0" rtlCol="0" anchor="t"/>
          <a:lstStyle/>
          <a:p>
            <a:pPr algn="l"/>
            <a:r>
              <a:rPr kumimoji="1" lang="en-US" altLang="zh-CN" sz="1400" dirty="0" err="1">
                <a:ln w="12700">
                  <a:noFill/>
                </a:ln>
                <a:solidFill>
                  <a:schemeClr val="tx1">
                    <a:lumMod val="85000"/>
                    <a:lumOff val="15000"/>
                  </a:schemeClr>
                </a:solidFill>
                <a:latin typeface="Source Han Sans"/>
                <a:ea typeface="Source Han Sans"/>
                <a:cs typeface="Source Han Sans"/>
              </a:rPr>
              <a:t>AI大模型是指模型参数数量巨大的人工智能模型，通常包含数十亿甚至上百亿的参数</a:t>
            </a:r>
            <a:r>
              <a:rPr kumimoji="1" lang="en-US" altLang="zh-CN" sz="1400" dirty="0">
                <a:ln w="12700">
                  <a:noFill/>
                </a:ln>
                <a:solidFill>
                  <a:schemeClr val="tx1">
                    <a:lumMod val="85000"/>
                    <a:lumOff val="15000"/>
                  </a:schemeClr>
                </a:solidFill>
                <a:latin typeface="Source Han Sans"/>
                <a:ea typeface="Source Han Sans"/>
                <a:cs typeface="Source Han Sans"/>
              </a:rPr>
              <a:t>。
</a:t>
            </a:r>
            <a:r>
              <a:rPr kumimoji="1" lang="en-US" altLang="zh-CN" sz="1400" dirty="0" err="1">
                <a:ln w="12700">
                  <a:noFill/>
                </a:ln>
                <a:solidFill>
                  <a:schemeClr val="tx1">
                    <a:lumMod val="85000"/>
                    <a:lumOff val="15000"/>
                  </a:schemeClr>
                </a:solidFill>
                <a:latin typeface="Source Han Sans"/>
                <a:ea typeface="Source Han Sans"/>
                <a:cs typeface="Source Han Sans"/>
              </a:rPr>
              <a:t>AI大模型通过深度学习的方法，从大规模数据中进行学习和训练，以实现各种复杂的智能任务</a:t>
            </a:r>
            <a:r>
              <a:rPr kumimoji="1" lang="en-US" altLang="zh-CN" sz="1400" dirty="0">
                <a:ln w="12700">
                  <a:noFill/>
                </a:ln>
                <a:solidFill>
                  <a:schemeClr val="tx1">
                    <a:lumMod val="85000"/>
                    <a:lumOff val="15000"/>
                  </a:schemeClr>
                </a:solidFill>
                <a:latin typeface="Source Han Sans"/>
                <a:ea typeface="Source Han Sans"/>
                <a:cs typeface="Source Han Sans"/>
              </a:rPr>
              <a:t>。</a:t>
            </a:r>
            <a:endParaRPr kumimoji="1" lang="zh-CN" altLang="en-US" dirty="0"/>
          </a:p>
        </p:txBody>
      </p:sp>
      <p:sp>
        <p:nvSpPr>
          <p:cNvPr id="7" name="标题 1">
            <a:extLst>
              <a:ext uri="{FF2B5EF4-FFF2-40B4-BE49-F238E27FC236}">
                <a16:creationId xmlns:a16="http://schemas.microsoft.com/office/drawing/2014/main" id="{939D0A0B-E0B0-8B02-BAD3-173B4F7079E7}"/>
              </a:ext>
            </a:extLst>
          </p:cNvPr>
          <p:cNvSpPr txBox="1"/>
          <p:nvPr/>
        </p:nvSpPr>
        <p:spPr>
          <a:xfrm>
            <a:off x="961927" y="3221048"/>
            <a:ext cx="2185310" cy="673543"/>
          </a:xfrm>
          <a:prstGeom prst="rightArrow">
            <a:avLst/>
          </a:prstGeom>
          <a:gradFill>
            <a:gsLst>
              <a:gs pos="23000">
                <a:schemeClr val="accent1">
                  <a:lumMod val="60000"/>
                  <a:lumOff val="40000"/>
                </a:schemeClr>
              </a:gs>
              <a:gs pos="65000">
                <a:schemeClr val="accent1"/>
              </a:gs>
              <a:gs pos="100000">
                <a:schemeClr val="accent1">
                  <a:lumMod val="75000"/>
                </a:schemeClr>
              </a:gs>
            </a:gsLst>
            <a:lin ang="1200000" scaled="0"/>
          </a:gradFill>
          <a:ln w="12700" cap="sq">
            <a:noFill/>
            <a:miter/>
          </a:ln>
        </p:spPr>
        <p:txBody>
          <a:bodyPr vert="horz" wrap="square" lIns="91440" tIns="45720" rIns="91440" bIns="45720" rtlCol="0" anchor="ctr"/>
          <a:lstStyle/>
          <a:p>
            <a:pPr algn="ctr"/>
            <a:r>
              <a:rPr kumimoji="1" lang="en-US" altLang="zh-CN" sz="1800">
                <a:ln w="12700">
                  <a:noFill/>
                </a:ln>
                <a:solidFill>
                  <a:srgbClr val="FFFFFF">
                    <a:alpha val="100000"/>
                  </a:srgbClr>
                </a:solidFill>
                <a:latin typeface="OPPOSans R"/>
                <a:ea typeface="OPPOSans R"/>
                <a:cs typeface="OPPOSans R"/>
              </a:rPr>
              <a:t> </a:t>
            </a:r>
            <a:endParaRPr kumimoji="1" lang="zh-CN" altLang="en-US"/>
          </a:p>
        </p:txBody>
      </p:sp>
      <p:sp>
        <p:nvSpPr>
          <p:cNvPr id="9" name="标题 1">
            <a:extLst>
              <a:ext uri="{FF2B5EF4-FFF2-40B4-BE49-F238E27FC236}">
                <a16:creationId xmlns:a16="http://schemas.microsoft.com/office/drawing/2014/main" id="{04D28336-CEF1-38FE-8FE8-5ADCD7C3A6C0}"/>
              </a:ext>
            </a:extLst>
          </p:cNvPr>
          <p:cNvSpPr txBox="1"/>
          <p:nvPr/>
        </p:nvSpPr>
        <p:spPr>
          <a:xfrm>
            <a:off x="3316979" y="3290946"/>
            <a:ext cx="8201921" cy="311290"/>
          </a:xfrm>
          <a:prstGeom prst="rect">
            <a:avLst/>
          </a:prstGeom>
          <a:noFill/>
          <a:ln>
            <a:noFill/>
          </a:ln>
        </p:spPr>
        <p:txBody>
          <a:bodyPr vert="horz" wrap="square" lIns="0" tIns="0" rIns="0" bIns="0" rtlCol="0" anchor="ctr"/>
          <a:lstStyle/>
          <a:p>
            <a:pPr algn="l"/>
            <a:r>
              <a:rPr kumimoji="1" lang="en-US" altLang="zh-CN" sz="1600">
                <a:ln w="12700">
                  <a:noFill/>
                </a:ln>
                <a:solidFill>
                  <a:schemeClr val="tx1">
                    <a:lumMod val="85000"/>
                    <a:lumOff val="15000"/>
                  </a:schemeClr>
                </a:solidFill>
                <a:latin typeface="Source Han Sans CN Bold"/>
                <a:ea typeface="Source Han Sans CN Bold"/>
                <a:cs typeface="Source Han Sans CN Bold"/>
              </a:rPr>
              <a:t>AI大模型的特点与应用领域</a:t>
            </a:r>
            <a:endParaRPr kumimoji="1" lang="zh-CN" altLang="en-US"/>
          </a:p>
        </p:txBody>
      </p:sp>
      <p:sp>
        <p:nvSpPr>
          <p:cNvPr id="10" name="标题 1">
            <a:extLst>
              <a:ext uri="{FF2B5EF4-FFF2-40B4-BE49-F238E27FC236}">
                <a16:creationId xmlns:a16="http://schemas.microsoft.com/office/drawing/2014/main" id="{50B665F2-2AD4-62FA-397E-3AB46B8FD9D7}"/>
              </a:ext>
            </a:extLst>
          </p:cNvPr>
          <p:cNvSpPr txBox="1"/>
          <p:nvPr/>
        </p:nvSpPr>
        <p:spPr>
          <a:xfrm>
            <a:off x="3316979" y="3609245"/>
            <a:ext cx="8201921" cy="787890"/>
          </a:xfrm>
          <a:prstGeom prst="rect">
            <a:avLst/>
          </a:prstGeom>
          <a:noFill/>
          <a:ln>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AI大模型具有强大的表达能力和大规模数据的处理能力，可以应用于自然语言处理、计算机视觉、语音识别等各种人工智能领域。
AI大模型能够提供更准确、更智能、更人性化的人工智能服务，具有广泛的应用前景和商业价值。</a:t>
            </a:r>
            <a:endParaRPr kumimoji="1" lang="zh-CN" altLang="en-US"/>
          </a:p>
        </p:txBody>
      </p:sp>
      <p:sp>
        <p:nvSpPr>
          <p:cNvPr id="11" name="标题 1">
            <a:extLst>
              <a:ext uri="{FF2B5EF4-FFF2-40B4-BE49-F238E27FC236}">
                <a16:creationId xmlns:a16="http://schemas.microsoft.com/office/drawing/2014/main" id="{335DD5BE-044A-8996-83D4-368F1D4E36F3}"/>
              </a:ext>
            </a:extLst>
          </p:cNvPr>
          <p:cNvSpPr txBox="1"/>
          <p:nvPr/>
        </p:nvSpPr>
        <p:spPr>
          <a:xfrm>
            <a:off x="961926" y="4690609"/>
            <a:ext cx="3346464" cy="673543"/>
          </a:xfrm>
          <a:prstGeom prst="rightArrow">
            <a:avLst/>
          </a:prstGeom>
          <a:gradFill>
            <a:gsLst>
              <a:gs pos="23000">
                <a:schemeClr val="accent1">
                  <a:lumMod val="60000"/>
                  <a:lumOff val="40000"/>
                </a:schemeClr>
              </a:gs>
              <a:gs pos="65000">
                <a:schemeClr val="accent1"/>
              </a:gs>
              <a:gs pos="100000">
                <a:schemeClr val="accent1">
                  <a:lumMod val="75000"/>
                </a:schemeClr>
              </a:gs>
            </a:gsLst>
            <a:lin ang="1200000" scaled="0"/>
          </a:gradFill>
          <a:ln w="12700" cap="sq">
            <a:noFill/>
            <a:miter/>
          </a:ln>
        </p:spPr>
        <p:txBody>
          <a:bodyPr vert="horz" wrap="square" lIns="91440" tIns="45720" rIns="91440" bIns="45720" rtlCol="0" anchor="ctr"/>
          <a:lstStyle/>
          <a:p>
            <a:pPr algn="ctr"/>
            <a:r>
              <a:rPr kumimoji="1" lang="en-US" altLang="zh-CN" sz="1800">
                <a:ln w="12700">
                  <a:noFill/>
                </a:ln>
                <a:solidFill>
                  <a:srgbClr val="FFFFFF">
                    <a:alpha val="100000"/>
                  </a:srgbClr>
                </a:solidFill>
                <a:latin typeface="OPPOSans R"/>
                <a:ea typeface="OPPOSans R"/>
                <a:cs typeface="OPPOSans R"/>
              </a:rPr>
              <a:t> </a:t>
            </a:r>
            <a:endParaRPr kumimoji="1" lang="zh-CN" altLang="en-US"/>
          </a:p>
        </p:txBody>
      </p:sp>
      <p:sp>
        <p:nvSpPr>
          <p:cNvPr id="13" name="标题 1">
            <a:extLst>
              <a:ext uri="{FF2B5EF4-FFF2-40B4-BE49-F238E27FC236}">
                <a16:creationId xmlns:a16="http://schemas.microsoft.com/office/drawing/2014/main" id="{4CAF54CB-60A2-3E97-5B35-5DFE3C2450B3}"/>
              </a:ext>
            </a:extLst>
          </p:cNvPr>
          <p:cNvSpPr txBox="1"/>
          <p:nvPr/>
        </p:nvSpPr>
        <p:spPr>
          <a:xfrm>
            <a:off x="4609840" y="4760510"/>
            <a:ext cx="6909060" cy="311290"/>
          </a:xfrm>
          <a:prstGeom prst="rect">
            <a:avLst/>
          </a:prstGeom>
          <a:noFill/>
          <a:ln>
            <a:noFill/>
          </a:ln>
        </p:spPr>
        <p:txBody>
          <a:bodyPr vert="horz" wrap="square" lIns="0" tIns="0" rIns="0" bIns="0" rtlCol="0" anchor="ctr"/>
          <a:lstStyle/>
          <a:p>
            <a:pPr algn="l"/>
            <a:r>
              <a:rPr kumimoji="1" lang="en-US" altLang="zh-CN" sz="1600">
                <a:ln w="12700">
                  <a:noFill/>
                </a:ln>
                <a:solidFill>
                  <a:schemeClr val="tx1">
                    <a:lumMod val="85000"/>
                    <a:lumOff val="15000"/>
                  </a:schemeClr>
                </a:solidFill>
                <a:latin typeface="Source Han Sans CN Bold"/>
                <a:ea typeface="Source Han Sans CN Bold"/>
                <a:cs typeface="Source Han Sans CN Bold"/>
              </a:rPr>
              <a:t>AI大模型的历史发展</a:t>
            </a:r>
            <a:endParaRPr kumimoji="1" lang="zh-CN" altLang="en-US"/>
          </a:p>
        </p:txBody>
      </p:sp>
      <p:sp>
        <p:nvSpPr>
          <p:cNvPr id="14" name="标题 1">
            <a:extLst>
              <a:ext uri="{FF2B5EF4-FFF2-40B4-BE49-F238E27FC236}">
                <a16:creationId xmlns:a16="http://schemas.microsoft.com/office/drawing/2014/main" id="{00A730F4-8746-E15A-84BF-6FC6DC30B018}"/>
              </a:ext>
            </a:extLst>
          </p:cNvPr>
          <p:cNvSpPr txBox="1"/>
          <p:nvPr/>
        </p:nvSpPr>
        <p:spPr>
          <a:xfrm>
            <a:off x="4609839" y="5078807"/>
            <a:ext cx="6909061" cy="726463"/>
          </a:xfrm>
          <a:prstGeom prst="rect">
            <a:avLst/>
          </a:prstGeom>
          <a:noFill/>
          <a:ln>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AI大模型的发展可以追溯到深度学习的兴起，随着计算硬件和算法的不断进步，AI大模型逐渐成为人工智能领域的研究热点。
从最早的深度神经网络到如今的BERT、GPT、AlphaGo等大规模模型，AI大模型在性能和规模上都取得了巨大突破。</a:t>
            </a:r>
            <a:endParaRPr kumimoji="1" lang="zh-CN" altLang="en-US"/>
          </a:p>
        </p:txBody>
      </p:sp>
      <p:sp>
        <p:nvSpPr>
          <p:cNvPr id="16" name="标题 1">
            <a:extLst>
              <a:ext uri="{FF2B5EF4-FFF2-40B4-BE49-F238E27FC236}">
                <a16:creationId xmlns:a16="http://schemas.microsoft.com/office/drawing/2014/main" id="{07780D05-71E3-8F78-E8F5-B5F1F248514C}"/>
              </a:ext>
            </a:extLst>
          </p:cNvPr>
          <p:cNvSpPr txBox="1"/>
          <p:nvPr/>
        </p:nvSpPr>
        <p:spPr>
          <a:xfrm>
            <a:off x="314775" y="345709"/>
            <a:ext cx="10567087" cy="432000"/>
          </a:xfrm>
          <a:prstGeom prst="rect">
            <a:avLst/>
          </a:prstGeom>
          <a:noFill/>
          <a:ln>
            <a:noFill/>
          </a:ln>
        </p:spPr>
        <p:txBody>
          <a:bodyPr vert="horz" wrap="square" lIns="0" tIns="0" rIns="0" bIns="0" rtlCol="0" anchor="ctr"/>
          <a:lstStyle/>
          <a:p>
            <a:pPr algn="l"/>
            <a:r>
              <a:rPr kumimoji="1" lang="en-US" altLang="zh-CN" sz="3200" dirty="0" err="1">
                <a:ln w="12700">
                  <a:noFill/>
                </a:ln>
                <a:solidFill>
                  <a:schemeClr val="tx1">
                    <a:lumMod val="85000"/>
                    <a:lumOff val="15000"/>
                  </a:schemeClr>
                </a:solidFill>
                <a:latin typeface="Source Han Sans CN Bold"/>
                <a:ea typeface="Source Han Sans CN Bold"/>
                <a:cs typeface="Source Han Sans CN Bold"/>
              </a:rPr>
              <a:t>AI大模型的定义</a:t>
            </a:r>
            <a:endParaRPr kumimoji="1" lang="zh-CN" altLang="en-US" dirty="0"/>
          </a:p>
        </p:txBody>
      </p:sp>
    </p:spTree>
    <p:extLst>
      <p:ext uri="{BB962C8B-B14F-4D97-AF65-F5344CB8AC3E}">
        <p14:creationId xmlns:p14="http://schemas.microsoft.com/office/powerpoint/2010/main" val="4535342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CC19FFEF-50CA-A309-D0A8-F41796D54AF3}"/>
              </a:ext>
            </a:extLst>
          </p:cNvPr>
          <p:cNvSpPr txBox="1"/>
          <p:nvPr/>
        </p:nvSpPr>
        <p:spPr>
          <a:xfrm>
            <a:off x="1347332"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4" name="标题 1">
            <a:extLst>
              <a:ext uri="{FF2B5EF4-FFF2-40B4-BE49-F238E27FC236}">
                <a16:creationId xmlns:a16="http://schemas.microsoft.com/office/drawing/2014/main" id="{3D932770-B5F3-8B3D-9995-D5819E050CC8}"/>
              </a:ext>
            </a:extLst>
          </p:cNvPr>
          <p:cNvSpPr txBox="1"/>
          <p:nvPr/>
        </p:nvSpPr>
        <p:spPr>
          <a:xfrm>
            <a:off x="1347332"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5" name="标题 1">
            <a:extLst>
              <a:ext uri="{FF2B5EF4-FFF2-40B4-BE49-F238E27FC236}">
                <a16:creationId xmlns:a16="http://schemas.microsoft.com/office/drawing/2014/main" id="{E5873BE7-AC59-EEC5-ACC6-46B1E1712643}"/>
              </a:ext>
            </a:extLst>
          </p:cNvPr>
          <p:cNvSpPr txBox="1"/>
          <p:nvPr/>
        </p:nvSpPr>
        <p:spPr>
          <a:xfrm>
            <a:off x="1707332" y="2702895"/>
            <a:ext cx="3600000" cy="720001"/>
          </a:xfrm>
          <a:prstGeom prst="rect">
            <a:avLst/>
          </a:prstGeom>
          <a:noFill/>
          <a:ln>
            <a:noFill/>
          </a:ln>
          <a:effectLst/>
        </p:spPr>
        <p:txBody>
          <a:bodyPr vert="horz" wrap="square" lIns="0" tIns="0" rIns="0" bIns="0" rtlCol="0" anchor="ctr"/>
          <a:lstStyle/>
          <a:p>
            <a:pPr algn="ctr"/>
            <a:r>
              <a:rPr kumimoji="1" lang="en-US" altLang="zh-CN" sz="1600">
                <a:ln w="12700">
                  <a:noFill/>
                </a:ln>
                <a:gradFill>
                  <a:gsLst>
                    <a:gs pos="0">
                      <a:schemeClr val="accent1"/>
                    </a:gs>
                    <a:gs pos="100000">
                      <a:schemeClr val="accent1">
                        <a:lumMod val="50000"/>
                      </a:schemeClr>
                    </a:gs>
                  </a:gsLst>
                  <a:lin ang="0" scaled="0"/>
                </a:gradFill>
                <a:latin typeface="Source Han Sans CN Bold"/>
                <a:ea typeface="Source Han Sans CN Bold"/>
                <a:cs typeface="Source Han Sans CN Bold"/>
              </a:rPr>
              <a:t>AI大模型的基本架构</a:t>
            </a:r>
            <a:endParaRPr kumimoji="1" lang="zh-CN" altLang="en-US"/>
          </a:p>
        </p:txBody>
      </p:sp>
      <p:sp>
        <p:nvSpPr>
          <p:cNvPr id="6" name="标题 1">
            <a:extLst>
              <a:ext uri="{FF2B5EF4-FFF2-40B4-BE49-F238E27FC236}">
                <a16:creationId xmlns:a16="http://schemas.microsoft.com/office/drawing/2014/main" id="{5CB907E6-423B-6758-9FC2-A026C346C48F}"/>
              </a:ext>
            </a:extLst>
          </p:cNvPr>
          <p:cNvSpPr txBox="1"/>
          <p:nvPr/>
        </p:nvSpPr>
        <p:spPr>
          <a:xfrm>
            <a:off x="1707332" y="3741579"/>
            <a:ext cx="3960000" cy="1731085"/>
          </a:xfrm>
          <a:prstGeom prst="rect">
            <a:avLst/>
          </a:prstGeom>
          <a:noFill/>
          <a:ln>
            <a:noFill/>
          </a:ln>
          <a:effectLst/>
        </p:spPr>
        <p:txBody>
          <a:bodyPr vert="horz" wrap="square" lIns="0" tIns="0" rIns="0" bIns="0" rtlCol="0" anchor="t"/>
          <a:lstStyle/>
          <a:p>
            <a:pPr algn="just"/>
            <a:r>
              <a:rPr kumimoji="1" lang="en-US" altLang="zh-CN" sz="1400" dirty="0">
                <a:ln w="12700">
                  <a:noFill/>
                </a:ln>
                <a:solidFill>
                  <a:srgbClr val="595959">
                    <a:alpha val="100000"/>
                  </a:srgbClr>
                </a:solidFill>
                <a:latin typeface="Source Han Sans"/>
                <a:ea typeface="Source Han Sans"/>
              </a:rPr>
              <a:t>AI大模型的基本架构包括输入层、隐藏层和输出层，通过多层的神经网络结构构建起来。
</a:t>
            </a:r>
            <a:r>
              <a:rPr kumimoji="1" lang="en-US" altLang="zh-CN" sz="1400" dirty="0" err="1">
                <a:ln w="12700">
                  <a:noFill/>
                </a:ln>
                <a:solidFill>
                  <a:srgbClr val="595959">
                    <a:alpha val="100000"/>
                  </a:srgbClr>
                </a:solidFill>
                <a:latin typeface="Source Han Sans"/>
                <a:ea typeface="Source Han Sans"/>
              </a:rPr>
              <a:t>常见的AI大模型架构包括循环神经网络</a:t>
            </a:r>
            <a:r>
              <a:rPr kumimoji="1" lang="en-US" altLang="zh-CN" sz="1400" dirty="0">
                <a:ln w="12700">
                  <a:noFill/>
                </a:ln>
                <a:solidFill>
                  <a:srgbClr val="595959">
                    <a:alpha val="100000"/>
                  </a:srgbClr>
                </a:solidFill>
                <a:latin typeface="Source Han Sans"/>
                <a:ea typeface="Source Han Sans"/>
              </a:rPr>
              <a:t>(RNN)、</a:t>
            </a:r>
            <a:r>
              <a:rPr kumimoji="1" lang="en-US" altLang="zh-CN" sz="1400" dirty="0" err="1">
                <a:ln w="12700">
                  <a:noFill/>
                </a:ln>
                <a:solidFill>
                  <a:srgbClr val="595959">
                    <a:alpha val="100000"/>
                  </a:srgbClr>
                </a:solidFill>
                <a:latin typeface="Source Han Sans"/>
                <a:ea typeface="Source Han Sans"/>
              </a:rPr>
              <a:t>卷积神经网络</a:t>
            </a:r>
            <a:r>
              <a:rPr kumimoji="1" lang="en-US" altLang="zh-CN" sz="1400" dirty="0">
                <a:ln w="12700">
                  <a:noFill/>
                </a:ln>
                <a:solidFill>
                  <a:srgbClr val="595959">
                    <a:alpha val="100000"/>
                  </a:srgbClr>
                </a:solidFill>
                <a:latin typeface="Source Han Sans"/>
                <a:ea typeface="Source Han Sans"/>
              </a:rPr>
              <a:t>(CNN)、</a:t>
            </a:r>
            <a:r>
              <a:rPr kumimoji="1" lang="en-US" altLang="zh-CN" sz="1400" dirty="0" err="1">
                <a:ln w="12700">
                  <a:noFill/>
                </a:ln>
                <a:solidFill>
                  <a:srgbClr val="595959">
                    <a:alpha val="100000"/>
                  </a:srgbClr>
                </a:solidFill>
                <a:latin typeface="Source Han Sans"/>
                <a:ea typeface="Source Han Sans"/>
              </a:rPr>
              <a:t>变换器</a:t>
            </a:r>
            <a:r>
              <a:rPr kumimoji="1" lang="en-US" altLang="zh-CN" sz="1400" dirty="0">
                <a:ln w="12700">
                  <a:noFill/>
                </a:ln>
                <a:solidFill>
                  <a:srgbClr val="595959">
                    <a:alpha val="100000"/>
                  </a:srgbClr>
                </a:solidFill>
                <a:latin typeface="Source Han Sans"/>
                <a:ea typeface="Source Han Sans"/>
              </a:rPr>
              <a:t>(Transformer)等</a:t>
            </a:r>
            <a:r>
              <a:rPr kumimoji="1" lang="en-US" altLang="zh-CN" sz="1400" dirty="0">
                <a:ln w="12700">
                  <a:noFill/>
                </a:ln>
                <a:solidFill>
                  <a:srgbClr val="595959">
                    <a:alpha val="100000"/>
                  </a:srgbClr>
                </a:solidFill>
                <a:latin typeface="Source Han Sans"/>
                <a:ea typeface="Source Han Sans"/>
                <a:cs typeface="Source Han Sans"/>
              </a:rPr>
              <a:t>。</a:t>
            </a:r>
            <a:endParaRPr kumimoji="1" lang="zh-CN" altLang="en-US" dirty="0"/>
          </a:p>
        </p:txBody>
      </p:sp>
      <p:cxnSp>
        <p:nvCxnSpPr>
          <p:cNvPr id="7" name="标题 1">
            <a:extLst>
              <a:ext uri="{FF2B5EF4-FFF2-40B4-BE49-F238E27FC236}">
                <a16:creationId xmlns:a16="http://schemas.microsoft.com/office/drawing/2014/main" id="{A0FE715B-01C7-8906-E493-042524A0E899}"/>
              </a:ext>
            </a:extLst>
          </p:cNvPr>
          <p:cNvCxnSpPr/>
          <p:nvPr/>
        </p:nvCxnSpPr>
        <p:spPr>
          <a:xfrm>
            <a:off x="3315881" y="3546006"/>
            <a:ext cx="382905" cy="0"/>
          </a:xfrm>
          <a:prstGeom prst="line">
            <a:avLst/>
          </a:prstGeom>
          <a:noFill/>
          <a:ln w="28575" cap="sq">
            <a:solidFill>
              <a:schemeClr val="accent1"/>
            </a:solidFill>
            <a:miter/>
          </a:ln>
        </p:spPr>
      </p:cxnSp>
      <p:sp>
        <p:nvSpPr>
          <p:cNvPr id="8" name="标题 1">
            <a:extLst>
              <a:ext uri="{FF2B5EF4-FFF2-40B4-BE49-F238E27FC236}">
                <a16:creationId xmlns:a16="http://schemas.microsoft.com/office/drawing/2014/main" id="{8CCD0B7D-38EF-0895-5187-AA8671B77E8C}"/>
              </a:ext>
            </a:extLst>
          </p:cNvPr>
          <p:cNvSpPr txBox="1"/>
          <p:nvPr/>
        </p:nvSpPr>
        <p:spPr>
          <a:xfrm>
            <a:off x="6511968"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9" name="标题 1">
            <a:extLst>
              <a:ext uri="{FF2B5EF4-FFF2-40B4-BE49-F238E27FC236}">
                <a16:creationId xmlns:a16="http://schemas.microsoft.com/office/drawing/2014/main" id="{490F20CB-B4B4-968D-C572-E91892AA60C4}"/>
              </a:ext>
            </a:extLst>
          </p:cNvPr>
          <p:cNvSpPr txBox="1"/>
          <p:nvPr/>
        </p:nvSpPr>
        <p:spPr>
          <a:xfrm>
            <a:off x="6511968"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10" name="标题 1">
            <a:extLst>
              <a:ext uri="{FF2B5EF4-FFF2-40B4-BE49-F238E27FC236}">
                <a16:creationId xmlns:a16="http://schemas.microsoft.com/office/drawing/2014/main" id="{B702D1D0-35E8-022A-209F-5F906BD292EC}"/>
              </a:ext>
            </a:extLst>
          </p:cNvPr>
          <p:cNvSpPr txBox="1"/>
          <p:nvPr/>
        </p:nvSpPr>
        <p:spPr>
          <a:xfrm>
            <a:off x="6871967" y="2702895"/>
            <a:ext cx="3600000" cy="720001"/>
          </a:xfrm>
          <a:prstGeom prst="rect">
            <a:avLst/>
          </a:prstGeom>
          <a:noFill/>
          <a:ln>
            <a:noFill/>
          </a:ln>
          <a:effectLst/>
        </p:spPr>
        <p:txBody>
          <a:bodyPr vert="horz" wrap="square" lIns="0" tIns="0" rIns="0" bIns="0" rtlCol="0" anchor="ctr"/>
          <a:lstStyle/>
          <a:p>
            <a:pPr algn="ctr"/>
            <a:r>
              <a:rPr kumimoji="1" lang="en-US" altLang="zh-CN" sz="1600">
                <a:ln w="12700">
                  <a:noFill/>
                </a:ln>
                <a:gradFill>
                  <a:gsLst>
                    <a:gs pos="0">
                      <a:schemeClr val="accent1"/>
                    </a:gs>
                    <a:gs pos="100000">
                      <a:schemeClr val="accent1">
                        <a:lumMod val="50000"/>
                      </a:schemeClr>
                    </a:gs>
                  </a:gsLst>
                  <a:lin ang="0" scaled="0"/>
                </a:gradFill>
                <a:latin typeface="Source Han Sans CN Bold"/>
                <a:ea typeface="Source Han Sans CN Bold"/>
                <a:cs typeface="Source Han Sans CN Bold"/>
              </a:rPr>
              <a:t>AI大模型的核心技术</a:t>
            </a:r>
            <a:endParaRPr kumimoji="1" lang="zh-CN" altLang="en-US"/>
          </a:p>
        </p:txBody>
      </p:sp>
      <p:sp>
        <p:nvSpPr>
          <p:cNvPr id="11" name="标题 1">
            <a:extLst>
              <a:ext uri="{FF2B5EF4-FFF2-40B4-BE49-F238E27FC236}">
                <a16:creationId xmlns:a16="http://schemas.microsoft.com/office/drawing/2014/main" id="{E012F687-4081-6ADF-AEE0-20C9BE0F39BA}"/>
              </a:ext>
            </a:extLst>
          </p:cNvPr>
          <p:cNvSpPr txBox="1"/>
          <p:nvPr/>
        </p:nvSpPr>
        <p:spPr>
          <a:xfrm>
            <a:off x="6631620" y="3741579"/>
            <a:ext cx="4030462" cy="1731085"/>
          </a:xfrm>
          <a:prstGeom prst="rect">
            <a:avLst/>
          </a:prstGeom>
          <a:noFill/>
          <a:ln>
            <a:noFill/>
          </a:ln>
          <a:effectLst/>
        </p:spPr>
        <p:txBody>
          <a:bodyPr vert="horz" wrap="square" lIns="0" tIns="0" rIns="0" bIns="0" rtlCol="0" anchor="t"/>
          <a:lstStyle/>
          <a:p>
            <a:pPr algn="just"/>
            <a:r>
              <a:rPr kumimoji="1" lang="en-US" altLang="zh-CN" sz="1400" dirty="0">
                <a:ln w="12700">
                  <a:noFill/>
                </a:ln>
                <a:solidFill>
                  <a:srgbClr val="595959">
                    <a:alpha val="100000"/>
                  </a:srgbClr>
                </a:solidFill>
                <a:latin typeface="Source Han Sans"/>
                <a:ea typeface="Source Han Sans"/>
                <a:cs typeface="Source Han Sans"/>
              </a:rPr>
              <a:t>AI大模型的核心技术包括深度学习、自然语言处理、计算机视觉、强化学习等多个领域的技术。
</a:t>
            </a:r>
            <a:r>
              <a:rPr kumimoji="1" lang="en-US" altLang="zh-CN" sz="1400" dirty="0" err="1">
                <a:ln w="12700">
                  <a:noFill/>
                </a:ln>
                <a:solidFill>
                  <a:srgbClr val="595959">
                    <a:alpha val="100000"/>
                  </a:srgbClr>
                </a:solidFill>
                <a:latin typeface="Source Han Sans"/>
                <a:ea typeface="Source Han Sans"/>
                <a:cs typeface="Source Han Sans"/>
              </a:rPr>
              <a:t>基于这些技术，AI大模型可以进行语义理解、图像识别、机器翻译等复杂的智能任务</a:t>
            </a:r>
            <a:r>
              <a:rPr kumimoji="1" lang="en-US" altLang="zh-CN" sz="1400" dirty="0">
                <a:ln w="12700">
                  <a:noFill/>
                </a:ln>
                <a:solidFill>
                  <a:srgbClr val="595959">
                    <a:alpha val="100000"/>
                  </a:srgbClr>
                </a:solidFill>
                <a:latin typeface="Source Han Sans"/>
                <a:ea typeface="Source Han Sans"/>
                <a:cs typeface="Source Han Sans"/>
              </a:rPr>
              <a:t>。</a:t>
            </a:r>
            <a:endParaRPr kumimoji="1" lang="zh-CN" altLang="en-US" dirty="0"/>
          </a:p>
        </p:txBody>
      </p:sp>
      <p:cxnSp>
        <p:nvCxnSpPr>
          <p:cNvPr id="12" name="标题 1">
            <a:extLst>
              <a:ext uri="{FF2B5EF4-FFF2-40B4-BE49-F238E27FC236}">
                <a16:creationId xmlns:a16="http://schemas.microsoft.com/office/drawing/2014/main" id="{CFCC83DF-C0BA-46B0-BDDD-51FF1C0D9227}"/>
              </a:ext>
            </a:extLst>
          </p:cNvPr>
          <p:cNvCxnSpPr/>
          <p:nvPr/>
        </p:nvCxnSpPr>
        <p:spPr>
          <a:xfrm>
            <a:off x="8480516" y="3546006"/>
            <a:ext cx="382905" cy="0"/>
          </a:xfrm>
          <a:prstGeom prst="line">
            <a:avLst/>
          </a:prstGeom>
          <a:noFill/>
          <a:ln w="28575" cap="sq">
            <a:solidFill>
              <a:schemeClr val="accent1"/>
            </a:solidFill>
            <a:miter/>
          </a:ln>
        </p:spPr>
      </p:cxnSp>
      <p:sp>
        <p:nvSpPr>
          <p:cNvPr id="13" name="标题 1">
            <a:extLst>
              <a:ext uri="{FF2B5EF4-FFF2-40B4-BE49-F238E27FC236}">
                <a16:creationId xmlns:a16="http://schemas.microsoft.com/office/drawing/2014/main" id="{04A09B62-8171-6BDB-3181-2A928034BB96}"/>
              </a:ext>
            </a:extLst>
          </p:cNvPr>
          <p:cNvSpPr txBox="1"/>
          <p:nvPr/>
        </p:nvSpPr>
        <p:spPr>
          <a:xfrm>
            <a:off x="3174997" y="1880897"/>
            <a:ext cx="664672" cy="720001"/>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4" name="标题 1">
            <a:extLst>
              <a:ext uri="{FF2B5EF4-FFF2-40B4-BE49-F238E27FC236}">
                <a16:creationId xmlns:a16="http://schemas.microsoft.com/office/drawing/2014/main" id="{0954EC4C-BD5A-E81A-7A32-4EA3F0235DDB}"/>
              </a:ext>
            </a:extLst>
          </p:cNvPr>
          <p:cNvSpPr txBox="1"/>
          <p:nvPr/>
        </p:nvSpPr>
        <p:spPr>
          <a:xfrm flipH="1" flipV="1">
            <a:off x="8299965" y="1880897"/>
            <a:ext cx="744004" cy="720001"/>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5" name="标题 1">
            <a:extLst>
              <a:ext uri="{FF2B5EF4-FFF2-40B4-BE49-F238E27FC236}">
                <a16:creationId xmlns:a16="http://schemas.microsoft.com/office/drawing/2014/main" id="{A1682196-61EB-E0CA-1158-BEFCC73F8852}"/>
              </a:ext>
            </a:extLst>
          </p:cNvPr>
          <p:cNvSpPr txBox="1"/>
          <p:nvPr/>
        </p:nvSpPr>
        <p:spPr>
          <a:xfrm flipH="1">
            <a:off x="0" y="0"/>
            <a:ext cx="1008000" cy="1008000"/>
          </a:xfrm>
          <a:custGeom>
            <a:avLst/>
            <a:gdLst>
              <a:gd name="connsiteX0" fmla="*/ 1008000 w 1008000"/>
              <a:gd name="connsiteY0" fmla="*/ 0 h 1008000"/>
              <a:gd name="connsiteX1" fmla="*/ 870392 w 1008000"/>
              <a:gd name="connsiteY1" fmla="*/ 0 h 1008000"/>
              <a:gd name="connsiteX2" fmla="*/ 713360 w 1008000"/>
              <a:gd name="connsiteY2" fmla="*/ 0 h 1008000"/>
              <a:gd name="connsiteX3" fmla="*/ 48404 w 1008000"/>
              <a:gd name="connsiteY3" fmla="*/ 0 h 1008000"/>
              <a:gd name="connsiteX4" fmla="*/ 14261 w 1008000"/>
              <a:gd name="connsiteY4" fmla="*/ 82628 h 1008000"/>
              <a:gd name="connsiteX5" fmla="*/ 765717 w 1008000"/>
              <a:gd name="connsiteY5" fmla="*/ 836017 h 1008000"/>
              <a:gd name="connsiteX6" fmla="*/ 772508 w 1008000"/>
              <a:gd name="connsiteY6" fmla="*/ 841197 h 1008000"/>
              <a:gd name="connsiteX7" fmla="*/ 776419 w 1008000"/>
              <a:gd name="connsiteY7" fmla="*/ 844157 h 1008000"/>
              <a:gd name="connsiteX8" fmla="*/ 925586 w 1008000"/>
              <a:gd name="connsiteY8" fmla="*/ 993725 h 1008000"/>
              <a:gd name="connsiteX9" fmla="*/ 1008000 w 1008000"/>
              <a:gd name="connsiteY9" fmla="*/ 959508 h 1008000"/>
              <a:gd name="connsiteX10" fmla="*/ 1008000 w 1008000"/>
              <a:gd name="connsiteY10" fmla="*/ 294640 h 1008000"/>
              <a:gd name="connsiteX11" fmla="*/ 1008000 w 1008000"/>
              <a:gd name="connsiteY11" fmla="*/ 137994 h 1008000"/>
            </a:gdLst>
            <a:ahLst/>
            <a:cxnLst/>
            <a:rect l="l" t="t" r="r" b="b"/>
            <a:pathLst>
              <a:path w="1008000" h="1008000">
                <a:moveTo>
                  <a:pt x="1008000" y="0"/>
                </a:moveTo>
                <a:lnTo>
                  <a:pt x="870392" y="0"/>
                </a:lnTo>
                <a:lnTo>
                  <a:pt x="713360" y="0"/>
                </a:lnTo>
                <a:lnTo>
                  <a:pt x="48404" y="0"/>
                </a:lnTo>
                <a:cubicBezTo>
                  <a:pt x="5389" y="0"/>
                  <a:pt x="-16207" y="52140"/>
                  <a:pt x="14261" y="82628"/>
                </a:cubicBezTo>
                <a:lnTo>
                  <a:pt x="765717" y="836017"/>
                </a:lnTo>
                <a:cubicBezTo>
                  <a:pt x="767729" y="838052"/>
                  <a:pt x="770016" y="839795"/>
                  <a:pt x="772508" y="841197"/>
                </a:cubicBezTo>
                <a:cubicBezTo>
                  <a:pt x="773944" y="841993"/>
                  <a:pt x="775262" y="842990"/>
                  <a:pt x="776419" y="844157"/>
                </a:cubicBezTo>
                <a:lnTo>
                  <a:pt x="925586" y="993725"/>
                </a:lnTo>
                <a:cubicBezTo>
                  <a:pt x="955995" y="1024227"/>
                  <a:pt x="1008000" y="1002605"/>
                  <a:pt x="1008000" y="959508"/>
                </a:cubicBezTo>
                <a:lnTo>
                  <a:pt x="1008000" y="294640"/>
                </a:lnTo>
                <a:lnTo>
                  <a:pt x="1008000" y="137994"/>
                </a:lnTo>
                <a:close/>
              </a:path>
            </a:pathLst>
          </a:custGeom>
          <a:solidFill>
            <a:schemeClr val="accent1"/>
          </a:solidFill>
          <a:ln w="3584" cap="flat">
            <a:noFill/>
            <a:miter/>
          </a:ln>
          <a:effectLst>
            <a:outerShdw blurRad="317500" dist="190500" dir="8100000" algn="tr" rotWithShape="0">
              <a:schemeClr val="tx1">
                <a:lumMod val="50000"/>
                <a:lumOff val="50000"/>
                <a:alpha val="30000"/>
              </a:schemeClr>
            </a:outerShdw>
          </a:effectLst>
        </p:spPr>
        <p:txBody>
          <a:bodyPr vert="horz" wrap="square" lIns="91440" tIns="45720" rIns="91440" bIns="45720" rtlCol="0" anchor="ctr"/>
          <a:lstStyle/>
          <a:p>
            <a:pPr algn="l"/>
            <a:endParaRPr kumimoji="1" lang="zh-CN" altLang="en-US"/>
          </a:p>
        </p:txBody>
      </p:sp>
      <p:sp>
        <p:nvSpPr>
          <p:cNvPr id="16" name="标题 1">
            <a:extLst>
              <a:ext uri="{FF2B5EF4-FFF2-40B4-BE49-F238E27FC236}">
                <a16:creationId xmlns:a16="http://schemas.microsoft.com/office/drawing/2014/main" id="{4DDE6AF8-51FC-2A16-E54B-B2B92F5BC38E}"/>
              </a:ext>
            </a:extLst>
          </p:cNvPr>
          <p:cNvSpPr txBox="1"/>
          <p:nvPr/>
        </p:nvSpPr>
        <p:spPr>
          <a:xfrm>
            <a:off x="661535" y="457786"/>
            <a:ext cx="10567087" cy="432000"/>
          </a:xfrm>
          <a:prstGeom prst="rect">
            <a:avLst/>
          </a:prstGeom>
          <a:noFill/>
          <a:ln>
            <a:noFill/>
          </a:ln>
        </p:spPr>
        <p:txBody>
          <a:bodyPr vert="horz" wrap="square" lIns="0" tIns="0" rIns="0" bIns="0" rtlCol="0" anchor="ctr"/>
          <a:lstStyle/>
          <a:p>
            <a:pPr algn="l"/>
            <a:r>
              <a:rPr kumimoji="1" lang="en-US" altLang="zh-CN" sz="3200" dirty="0" err="1">
                <a:ln w="12700">
                  <a:noFill/>
                </a:ln>
                <a:solidFill>
                  <a:schemeClr val="tx1">
                    <a:lumMod val="85000"/>
                    <a:lumOff val="15000"/>
                  </a:schemeClr>
                </a:solidFill>
                <a:latin typeface="Source Han Sans CN Bold"/>
                <a:ea typeface="Source Han Sans CN Bold"/>
                <a:cs typeface="Source Han Sans CN Bold"/>
              </a:rPr>
              <a:t>AI大模型的架构与技术</a:t>
            </a:r>
            <a:endParaRPr kumimoji="1" lang="zh-CN" altLang="en-US" dirty="0"/>
          </a:p>
        </p:txBody>
      </p:sp>
    </p:spTree>
    <p:extLst>
      <p:ext uri="{BB962C8B-B14F-4D97-AF65-F5344CB8AC3E}">
        <p14:creationId xmlns:p14="http://schemas.microsoft.com/office/powerpoint/2010/main" val="36841745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C94892-D4C7-474D-179C-C32EC1077074}"/>
              </a:ext>
            </a:extLst>
          </p:cNvPr>
          <p:cNvSpPr>
            <a:spLocks noGrp="1"/>
          </p:cNvSpPr>
          <p:nvPr>
            <p:ph type="title"/>
          </p:nvPr>
        </p:nvSpPr>
        <p:spPr/>
        <p:txBody>
          <a:bodyPr>
            <a:normAutofit fontScale="90000"/>
          </a:bodyPr>
          <a:lstStyle/>
          <a:p>
            <a:r>
              <a:rPr kumimoji="1" lang="en-US" altLang="zh-CN" sz="2400" dirty="0" err="1">
                <a:ln w="12700">
                  <a:noFill/>
                </a:ln>
                <a:solidFill>
                  <a:schemeClr val="accent1"/>
                </a:solidFill>
                <a:latin typeface="OPPOSans H"/>
                <a:ea typeface="OPPOSans H"/>
                <a:cs typeface="OPPOSans H"/>
              </a:rPr>
              <a:t>AI大模型的应用领域</a:t>
            </a:r>
            <a:br>
              <a:rPr kumimoji="1" lang="zh-CN" altLang="en-US" dirty="0"/>
            </a:br>
            <a:endParaRPr lang="zh-CN" altLang="en-US" dirty="0"/>
          </a:p>
        </p:txBody>
      </p:sp>
      <p:sp>
        <p:nvSpPr>
          <p:cNvPr id="4" name="标题 1">
            <a:extLst>
              <a:ext uri="{FF2B5EF4-FFF2-40B4-BE49-F238E27FC236}">
                <a16:creationId xmlns:a16="http://schemas.microsoft.com/office/drawing/2014/main" id="{E7875AF2-F027-5811-E7AF-4F67B1A0562F}"/>
              </a:ext>
            </a:extLst>
          </p:cNvPr>
          <p:cNvSpPr txBox="1"/>
          <p:nvPr/>
        </p:nvSpPr>
        <p:spPr>
          <a:xfrm>
            <a:off x="758454" y="2764910"/>
            <a:ext cx="3274199" cy="3936810"/>
          </a:xfrm>
          <a:prstGeom prst="snip1Rect">
            <a:avLst>
              <a:gd name="adj" fmla="val 15301"/>
            </a:avLst>
          </a:prstGeom>
          <a:solidFill>
            <a:schemeClr val="bg1"/>
          </a:solidFill>
          <a:ln w="12700" cap="sq">
            <a:noFill/>
            <a:miter/>
          </a:ln>
          <a:effectLst>
            <a:outerShdw blurRad="342900" dist="139700" algn="l" rotWithShape="0">
              <a:schemeClr val="accent2">
                <a:lumMod val="50000"/>
                <a:alpha val="11000"/>
              </a:schemeClr>
            </a:outerShdw>
          </a:effectLst>
        </p:spPr>
        <p:txBody>
          <a:bodyPr vert="horz" wrap="square" lIns="91440" tIns="45720" rIns="91440" bIns="45720" rtlCol="0" anchor="ctr"/>
          <a:lstStyle/>
          <a:p>
            <a:pPr algn="ctr"/>
            <a:endParaRPr kumimoji="1" lang="zh-CN" altLang="en-US"/>
          </a:p>
        </p:txBody>
      </p:sp>
      <p:sp>
        <p:nvSpPr>
          <p:cNvPr id="5" name="标题 1">
            <a:extLst>
              <a:ext uri="{FF2B5EF4-FFF2-40B4-BE49-F238E27FC236}">
                <a16:creationId xmlns:a16="http://schemas.microsoft.com/office/drawing/2014/main" id="{8B55CB46-3D7A-4B4A-651E-C5627AD2EF66}"/>
              </a:ext>
            </a:extLst>
          </p:cNvPr>
          <p:cNvSpPr txBox="1"/>
          <p:nvPr/>
        </p:nvSpPr>
        <p:spPr>
          <a:xfrm>
            <a:off x="2648522" y="2825154"/>
            <a:ext cx="1219200" cy="1018540"/>
          </a:xfrm>
          <a:prstGeom prst="rect">
            <a:avLst/>
          </a:prstGeom>
          <a:noFill/>
          <a:ln>
            <a:noFill/>
          </a:ln>
        </p:spPr>
        <p:txBody>
          <a:bodyPr vert="horz" wrap="square" lIns="91440" tIns="45720" rIns="91440" bIns="45720" rtlCol="0" anchor="t">
            <a:spAutoFit/>
          </a:bodyPr>
          <a:lstStyle/>
          <a:p>
            <a:pPr algn="l"/>
            <a:r>
              <a:rPr kumimoji="1" lang="en-US" altLang="zh-CN" sz="6600">
                <a:ln w="12700">
                  <a:noFill/>
                </a:ln>
                <a:solidFill>
                  <a:schemeClr val="bg1">
                    <a:lumMod val="85000"/>
                  </a:schemeClr>
                </a:solidFill>
                <a:latin typeface="OPPOSans H"/>
                <a:ea typeface="OPPOSans H"/>
                <a:cs typeface="OPPOSans H"/>
              </a:rPr>
              <a:t>01</a:t>
            </a:r>
            <a:endParaRPr kumimoji="1" lang="zh-CN" altLang="en-US"/>
          </a:p>
        </p:txBody>
      </p:sp>
      <p:sp>
        <p:nvSpPr>
          <p:cNvPr id="7" name="标题 1">
            <a:extLst>
              <a:ext uri="{FF2B5EF4-FFF2-40B4-BE49-F238E27FC236}">
                <a16:creationId xmlns:a16="http://schemas.microsoft.com/office/drawing/2014/main" id="{87B5F8D8-2D07-D23C-69A3-6C4AA0034C07}"/>
              </a:ext>
            </a:extLst>
          </p:cNvPr>
          <p:cNvSpPr txBox="1"/>
          <p:nvPr/>
        </p:nvSpPr>
        <p:spPr>
          <a:xfrm>
            <a:off x="1024463" y="3558392"/>
            <a:ext cx="2618489" cy="914609"/>
          </a:xfrm>
          <a:prstGeom prst="rect">
            <a:avLst/>
          </a:prstGeom>
          <a:noFill/>
          <a:ln>
            <a:noFill/>
          </a:ln>
        </p:spPr>
        <p:txBody>
          <a:bodyPr vert="horz" wrap="square" lIns="91440" tIns="45720" rIns="91440" bIns="45720" rtlCol="0" anchor="b"/>
          <a:lstStyle/>
          <a:p>
            <a:pPr algn="l"/>
            <a:r>
              <a:rPr kumimoji="1" lang="en-US" altLang="zh-CN" sz="1600">
                <a:ln w="12700">
                  <a:noFill/>
                </a:ln>
                <a:solidFill>
                  <a:schemeClr val="accent1"/>
                </a:solidFill>
                <a:latin typeface="Source Han Sans CN Bold"/>
                <a:ea typeface="Source Han Sans CN Bold"/>
                <a:cs typeface="Source Han Sans CN Bold"/>
              </a:rPr>
              <a:t>机器翻译与自动文本生成</a:t>
            </a:r>
            <a:endParaRPr kumimoji="1" lang="zh-CN" altLang="en-US"/>
          </a:p>
        </p:txBody>
      </p:sp>
      <p:sp>
        <p:nvSpPr>
          <p:cNvPr id="8" name="标题 1">
            <a:extLst>
              <a:ext uri="{FF2B5EF4-FFF2-40B4-BE49-F238E27FC236}">
                <a16:creationId xmlns:a16="http://schemas.microsoft.com/office/drawing/2014/main" id="{BB135F86-FBBA-E8B4-ED2E-140C09E310EC}"/>
              </a:ext>
            </a:extLst>
          </p:cNvPr>
          <p:cNvSpPr txBox="1"/>
          <p:nvPr/>
        </p:nvSpPr>
        <p:spPr>
          <a:xfrm>
            <a:off x="1024463" y="4546935"/>
            <a:ext cx="2880000" cy="1592119"/>
          </a:xfrm>
          <a:prstGeom prst="rect">
            <a:avLst/>
          </a:prstGeom>
          <a:noFill/>
          <a:ln>
            <a:noFill/>
          </a:ln>
        </p:spPr>
        <p:txBody>
          <a:bodyPr vert="horz" wrap="square" lIns="91440" tIns="45720" rIns="91440" bIns="45720" rtlCol="0" anchor="t"/>
          <a:lstStyle/>
          <a:p>
            <a:pPr algn="l"/>
            <a:r>
              <a:rPr kumimoji="1" lang="en-US" altLang="zh-CN" sz="1400">
                <a:ln w="12700">
                  <a:noFill/>
                </a:ln>
                <a:solidFill>
                  <a:schemeClr val="tx1">
                    <a:lumMod val="75000"/>
                    <a:lumOff val="25000"/>
                  </a:schemeClr>
                </a:solidFill>
                <a:latin typeface="Source Han Sans"/>
                <a:ea typeface="Source Han Sans"/>
                <a:cs typeface="Source Han Sans"/>
              </a:rPr>
              <a:t>机器翻译是使用AI大模型将一种语言翻译成另一种语言的技术。
自动文本生成使用AI大模型生成自然语言文本，如文章、故事等。
这些应用可以帮助人们在跨语言交流和内容创作方面更便捷和高效。</a:t>
            </a:r>
            <a:endParaRPr kumimoji="1" lang="zh-CN" altLang="en-US"/>
          </a:p>
        </p:txBody>
      </p:sp>
      <p:sp>
        <p:nvSpPr>
          <p:cNvPr id="9" name="标题 1">
            <a:extLst>
              <a:ext uri="{FF2B5EF4-FFF2-40B4-BE49-F238E27FC236}">
                <a16:creationId xmlns:a16="http://schemas.microsoft.com/office/drawing/2014/main" id="{3A3A41D5-A09D-0152-A58A-7AB83D147301}"/>
              </a:ext>
            </a:extLst>
          </p:cNvPr>
          <p:cNvSpPr txBox="1"/>
          <p:nvPr/>
        </p:nvSpPr>
        <p:spPr>
          <a:xfrm>
            <a:off x="4422354" y="2764910"/>
            <a:ext cx="3274199" cy="3936810"/>
          </a:xfrm>
          <a:prstGeom prst="snip1Rect">
            <a:avLst>
              <a:gd name="adj" fmla="val 15301"/>
            </a:avLst>
          </a:prstGeom>
          <a:solidFill>
            <a:schemeClr val="bg1"/>
          </a:solidFill>
          <a:ln w="12700" cap="sq">
            <a:noFill/>
            <a:miter/>
          </a:ln>
          <a:effectLst>
            <a:outerShdw blurRad="342900" dist="139700" algn="l" rotWithShape="0">
              <a:schemeClr val="accent2">
                <a:lumMod val="50000"/>
                <a:alpha val="11000"/>
              </a:schemeClr>
            </a:outerShdw>
          </a:effectLst>
        </p:spPr>
        <p:txBody>
          <a:bodyPr vert="horz" wrap="square" lIns="91440" tIns="45720" rIns="91440" bIns="45720" rtlCol="0" anchor="ctr"/>
          <a:lstStyle/>
          <a:p>
            <a:pPr algn="ctr"/>
            <a:endParaRPr kumimoji="1" lang="zh-CN" altLang="en-US"/>
          </a:p>
        </p:txBody>
      </p:sp>
      <p:sp>
        <p:nvSpPr>
          <p:cNvPr id="10" name="标题 1">
            <a:extLst>
              <a:ext uri="{FF2B5EF4-FFF2-40B4-BE49-F238E27FC236}">
                <a16:creationId xmlns:a16="http://schemas.microsoft.com/office/drawing/2014/main" id="{9AA98BCC-A06E-66A9-2EA0-A2A78D0AEEFB}"/>
              </a:ext>
            </a:extLst>
          </p:cNvPr>
          <p:cNvSpPr txBox="1"/>
          <p:nvPr/>
        </p:nvSpPr>
        <p:spPr>
          <a:xfrm>
            <a:off x="6255984" y="2825154"/>
            <a:ext cx="1371600" cy="1018540"/>
          </a:xfrm>
          <a:prstGeom prst="rect">
            <a:avLst/>
          </a:prstGeom>
          <a:noFill/>
          <a:ln>
            <a:noFill/>
          </a:ln>
        </p:spPr>
        <p:txBody>
          <a:bodyPr vert="horz" wrap="square" lIns="91440" tIns="45720" rIns="91440" bIns="45720" rtlCol="0" anchor="t">
            <a:spAutoFit/>
          </a:bodyPr>
          <a:lstStyle/>
          <a:p>
            <a:pPr algn="l"/>
            <a:r>
              <a:rPr kumimoji="1" lang="en-US" altLang="zh-CN" sz="6600">
                <a:ln w="12700">
                  <a:noFill/>
                </a:ln>
                <a:solidFill>
                  <a:schemeClr val="bg1">
                    <a:lumMod val="85000"/>
                  </a:schemeClr>
                </a:solidFill>
                <a:latin typeface="OPPOSans H"/>
                <a:ea typeface="OPPOSans H"/>
                <a:cs typeface="OPPOSans H"/>
              </a:rPr>
              <a:t>02</a:t>
            </a:r>
            <a:endParaRPr kumimoji="1" lang="zh-CN" altLang="en-US"/>
          </a:p>
        </p:txBody>
      </p:sp>
      <p:sp>
        <p:nvSpPr>
          <p:cNvPr id="12" name="标题 1">
            <a:extLst>
              <a:ext uri="{FF2B5EF4-FFF2-40B4-BE49-F238E27FC236}">
                <a16:creationId xmlns:a16="http://schemas.microsoft.com/office/drawing/2014/main" id="{384A3AB0-DC2F-2237-E8CD-0F40AF64D1D9}"/>
              </a:ext>
            </a:extLst>
          </p:cNvPr>
          <p:cNvSpPr txBox="1"/>
          <p:nvPr/>
        </p:nvSpPr>
        <p:spPr>
          <a:xfrm>
            <a:off x="4631925" y="3558392"/>
            <a:ext cx="2618489" cy="914609"/>
          </a:xfrm>
          <a:prstGeom prst="rect">
            <a:avLst/>
          </a:prstGeom>
          <a:noFill/>
          <a:ln>
            <a:noFill/>
          </a:ln>
        </p:spPr>
        <p:txBody>
          <a:bodyPr vert="horz" wrap="square" lIns="91440" tIns="45720" rIns="91440" bIns="45720" rtlCol="0" anchor="b"/>
          <a:lstStyle/>
          <a:p>
            <a:pPr algn="l"/>
            <a:r>
              <a:rPr kumimoji="1" lang="en-US" altLang="zh-CN" sz="1600">
                <a:ln w="12700">
                  <a:noFill/>
                </a:ln>
                <a:solidFill>
                  <a:schemeClr val="accent1"/>
                </a:solidFill>
                <a:latin typeface="Source Han Sans CN Bold"/>
                <a:ea typeface="Source Han Sans CN Bold"/>
                <a:cs typeface="Source Han Sans CN Bold"/>
              </a:rPr>
              <a:t>语义理解与情感分析</a:t>
            </a:r>
            <a:endParaRPr kumimoji="1" lang="zh-CN" altLang="en-US"/>
          </a:p>
        </p:txBody>
      </p:sp>
      <p:sp>
        <p:nvSpPr>
          <p:cNvPr id="13" name="标题 1">
            <a:extLst>
              <a:ext uri="{FF2B5EF4-FFF2-40B4-BE49-F238E27FC236}">
                <a16:creationId xmlns:a16="http://schemas.microsoft.com/office/drawing/2014/main" id="{3984A636-5DD0-AC75-2281-0E6F060E3735}"/>
              </a:ext>
            </a:extLst>
          </p:cNvPr>
          <p:cNvSpPr txBox="1"/>
          <p:nvPr/>
        </p:nvSpPr>
        <p:spPr>
          <a:xfrm>
            <a:off x="4631925" y="4546934"/>
            <a:ext cx="2880000" cy="1592119"/>
          </a:xfrm>
          <a:prstGeom prst="rect">
            <a:avLst/>
          </a:prstGeom>
          <a:noFill/>
          <a:ln>
            <a:noFill/>
          </a:ln>
        </p:spPr>
        <p:txBody>
          <a:bodyPr vert="horz" wrap="square" lIns="91440" tIns="45720" rIns="91440" bIns="45720" rtlCol="0" anchor="t"/>
          <a:lstStyle/>
          <a:p>
            <a:pPr algn="l"/>
            <a:r>
              <a:rPr kumimoji="1" lang="en-US" altLang="zh-CN" sz="1400">
                <a:ln w="12700">
                  <a:noFill/>
                </a:ln>
                <a:solidFill>
                  <a:schemeClr val="tx1">
                    <a:lumMod val="75000"/>
                    <a:lumOff val="25000"/>
                  </a:schemeClr>
                </a:solidFill>
                <a:latin typeface="Source Han Sans"/>
                <a:ea typeface="Source Han Sans"/>
                <a:cs typeface="Source Han Sans"/>
              </a:rPr>
              <a:t>语义理解利用AI大模型对文本进行深入分析，理解其中的含义和上下文。
情感分析通过分析文本中的情感色彩，判断其中的情感倾向。
这些应用可以用于自动化处理大量文本数据，如舆情监测和情感分析。</a:t>
            </a:r>
            <a:endParaRPr kumimoji="1" lang="zh-CN" altLang="en-US"/>
          </a:p>
        </p:txBody>
      </p:sp>
      <p:sp>
        <p:nvSpPr>
          <p:cNvPr id="14" name="标题 1">
            <a:extLst>
              <a:ext uri="{FF2B5EF4-FFF2-40B4-BE49-F238E27FC236}">
                <a16:creationId xmlns:a16="http://schemas.microsoft.com/office/drawing/2014/main" id="{BD226B27-D7DC-3547-6D19-507E799F90C4}"/>
              </a:ext>
            </a:extLst>
          </p:cNvPr>
          <p:cNvSpPr txBox="1"/>
          <p:nvPr/>
        </p:nvSpPr>
        <p:spPr>
          <a:xfrm>
            <a:off x="8029815" y="2764910"/>
            <a:ext cx="3274199" cy="3936810"/>
          </a:xfrm>
          <a:prstGeom prst="snip1Rect">
            <a:avLst>
              <a:gd name="adj" fmla="val 15301"/>
            </a:avLst>
          </a:prstGeom>
          <a:solidFill>
            <a:schemeClr val="bg1"/>
          </a:solidFill>
          <a:ln w="12700" cap="sq">
            <a:noFill/>
            <a:miter/>
          </a:ln>
          <a:effectLst>
            <a:outerShdw blurRad="342900" dist="139700" algn="l" rotWithShape="0">
              <a:schemeClr val="accent2">
                <a:lumMod val="50000"/>
                <a:alpha val="11000"/>
              </a:schemeClr>
            </a:outerShdw>
          </a:effectLst>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5D41C36E-F1A6-D9AA-10F5-C6B6F77A3A9F}"/>
              </a:ext>
            </a:extLst>
          </p:cNvPr>
          <p:cNvSpPr txBox="1"/>
          <p:nvPr/>
        </p:nvSpPr>
        <p:spPr>
          <a:xfrm>
            <a:off x="9769483" y="2825154"/>
            <a:ext cx="1371600" cy="1018540"/>
          </a:xfrm>
          <a:prstGeom prst="rect">
            <a:avLst/>
          </a:prstGeom>
          <a:noFill/>
          <a:ln>
            <a:noFill/>
          </a:ln>
        </p:spPr>
        <p:txBody>
          <a:bodyPr vert="horz" wrap="square" lIns="91440" tIns="45720" rIns="91440" bIns="45720" rtlCol="0" anchor="t">
            <a:spAutoFit/>
          </a:bodyPr>
          <a:lstStyle/>
          <a:p>
            <a:pPr algn="l"/>
            <a:r>
              <a:rPr kumimoji="1" lang="en-US" altLang="zh-CN" sz="6600">
                <a:ln w="12700">
                  <a:noFill/>
                </a:ln>
                <a:solidFill>
                  <a:schemeClr val="bg1">
                    <a:lumMod val="85000"/>
                  </a:schemeClr>
                </a:solidFill>
                <a:latin typeface="OPPOSans H"/>
                <a:ea typeface="OPPOSans H"/>
                <a:cs typeface="OPPOSans H"/>
              </a:rPr>
              <a:t>03</a:t>
            </a:r>
            <a:endParaRPr kumimoji="1" lang="zh-CN" altLang="en-US"/>
          </a:p>
        </p:txBody>
      </p:sp>
      <p:sp>
        <p:nvSpPr>
          <p:cNvPr id="17" name="标题 1">
            <a:extLst>
              <a:ext uri="{FF2B5EF4-FFF2-40B4-BE49-F238E27FC236}">
                <a16:creationId xmlns:a16="http://schemas.microsoft.com/office/drawing/2014/main" id="{F410340E-CE65-2B92-4F20-4226F77ECED2}"/>
              </a:ext>
            </a:extLst>
          </p:cNvPr>
          <p:cNvSpPr txBox="1"/>
          <p:nvPr/>
        </p:nvSpPr>
        <p:spPr>
          <a:xfrm>
            <a:off x="8239386" y="3558392"/>
            <a:ext cx="2618489" cy="914609"/>
          </a:xfrm>
          <a:prstGeom prst="rect">
            <a:avLst/>
          </a:prstGeom>
          <a:noFill/>
          <a:ln>
            <a:noFill/>
          </a:ln>
        </p:spPr>
        <p:txBody>
          <a:bodyPr vert="horz" wrap="square" lIns="91440" tIns="45720" rIns="91440" bIns="45720" rtlCol="0" anchor="b"/>
          <a:lstStyle/>
          <a:p>
            <a:pPr algn="l"/>
            <a:r>
              <a:rPr kumimoji="1" lang="en-US" altLang="zh-CN" sz="1600">
                <a:ln w="12700">
                  <a:noFill/>
                </a:ln>
                <a:solidFill>
                  <a:schemeClr val="accent1"/>
                </a:solidFill>
                <a:latin typeface="Source Han Sans CN Bold"/>
                <a:ea typeface="Source Han Sans CN Bold"/>
                <a:cs typeface="Source Han Sans CN Bold"/>
              </a:rPr>
              <a:t>人机对话系统与智能助理</a:t>
            </a:r>
            <a:endParaRPr kumimoji="1" lang="zh-CN" altLang="en-US"/>
          </a:p>
        </p:txBody>
      </p:sp>
      <p:sp>
        <p:nvSpPr>
          <p:cNvPr id="18" name="标题 1">
            <a:extLst>
              <a:ext uri="{FF2B5EF4-FFF2-40B4-BE49-F238E27FC236}">
                <a16:creationId xmlns:a16="http://schemas.microsoft.com/office/drawing/2014/main" id="{CC0C77D2-7117-0D29-DB0D-EF3E26B6221B}"/>
              </a:ext>
            </a:extLst>
          </p:cNvPr>
          <p:cNvSpPr txBox="1"/>
          <p:nvPr/>
        </p:nvSpPr>
        <p:spPr>
          <a:xfrm>
            <a:off x="8239386" y="4546934"/>
            <a:ext cx="2880000" cy="1592119"/>
          </a:xfrm>
          <a:prstGeom prst="rect">
            <a:avLst/>
          </a:prstGeom>
          <a:noFill/>
          <a:ln>
            <a:noFill/>
          </a:ln>
        </p:spPr>
        <p:txBody>
          <a:bodyPr vert="horz" wrap="square" lIns="91440" tIns="45720" rIns="91440" bIns="45720" rtlCol="0" anchor="t"/>
          <a:lstStyle/>
          <a:p>
            <a:pPr algn="l"/>
            <a:r>
              <a:rPr kumimoji="1" lang="en-US" altLang="zh-CN" sz="1400">
                <a:ln w="12700">
                  <a:noFill/>
                </a:ln>
                <a:solidFill>
                  <a:schemeClr val="tx1">
                    <a:lumMod val="75000"/>
                    <a:lumOff val="25000"/>
                  </a:schemeClr>
                </a:solidFill>
                <a:latin typeface="Source Han Sans"/>
                <a:ea typeface="Source Han Sans"/>
                <a:cs typeface="Source Han Sans"/>
              </a:rPr>
              <a:t>人机对话系统利用AI大模型处理人与机器之间的对话，实现自动回复和智能对话。
智能助理结合自然语言处理和语义理解技术，提供更智能和个性化的助理服务。
这些应用可以帮助人们在各种场景中获取信息和实现交互，如智能客服和语音助手。</a:t>
            </a:r>
            <a:endParaRPr kumimoji="1" lang="zh-CN" altLang="en-US"/>
          </a:p>
        </p:txBody>
      </p:sp>
      <p:sp>
        <p:nvSpPr>
          <p:cNvPr id="20" name="标题 1">
            <a:extLst>
              <a:ext uri="{FF2B5EF4-FFF2-40B4-BE49-F238E27FC236}">
                <a16:creationId xmlns:a16="http://schemas.microsoft.com/office/drawing/2014/main" id="{549EEF58-2C9F-5687-8CA8-F79D45C74F48}"/>
              </a:ext>
            </a:extLst>
          </p:cNvPr>
          <p:cNvSpPr txBox="1"/>
          <p:nvPr/>
        </p:nvSpPr>
        <p:spPr>
          <a:xfrm>
            <a:off x="812456" y="1148433"/>
            <a:ext cx="10567087" cy="432000"/>
          </a:xfrm>
          <a:prstGeom prst="rect">
            <a:avLst/>
          </a:prstGeom>
          <a:noFill/>
          <a:ln>
            <a:noFill/>
          </a:ln>
        </p:spPr>
        <p:txBody>
          <a:bodyPr vert="horz" wrap="square" lIns="0" tIns="0" rIns="0" bIns="0" rtlCol="0" anchor="ctr"/>
          <a:lstStyle/>
          <a:p>
            <a:pPr algn="l"/>
            <a:r>
              <a:rPr kumimoji="1" lang="en-US" altLang="zh-CN" sz="3200">
                <a:ln w="12700">
                  <a:noFill/>
                </a:ln>
                <a:solidFill>
                  <a:schemeClr val="tx1">
                    <a:lumMod val="85000"/>
                    <a:lumOff val="15000"/>
                  </a:schemeClr>
                </a:solidFill>
                <a:latin typeface="Source Han Sans CN Bold"/>
                <a:ea typeface="Source Han Sans CN Bold"/>
                <a:cs typeface="Source Han Sans CN Bold"/>
              </a:rPr>
              <a:t>自然语言处理与智能对话</a:t>
            </a:r>
            <a:endParaRPr kumimoji="1" lang="zh-CN" altLang="en-US"/>
          </a:p>
        </p:txBody>
      </p:sp>
    </p:spTree>
    <p:extLst>
      <p:ext uri="{BB962C8B-B14F-4D97-AF65-F5344CB8AC3E}">
        <p14:creationId xmlns:p14="http://schemas.microsoft.com/office/powerpoint/2010/main" val="257815619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A2E443-AEE7-3836-AF32-94B24EA76D4F}"/>
              </a:ext>
            </a:extLst>
          </p:cNvPr>
          <p:cNvSpPr>
            <a:spLocks noGrp="1"/>
          </p:cNvSpPr>
          <p:nvPr>
            <p:ph type="title"/>
          </p:nvPr>
        </p:nvSpPr>
        <p:spPr/>
        <p:txBody>
          <a:bodyPr>
            <a:normAutofit fontScale="90000"/>
          </a:bodyPr>
          <a:lstStyle/>
          <a:p>
            <a:endParaRPr lang="zh-CN" altLang="en-US"/>
          </a:p>
        </p:txBody>
      </p:sp>
      <p:sp>
        <p:nvSpPr>
          <p:cNvPr id="3" name="标题 1">
            <a:extLst>
              <a:ext uri="{FF2B5EF4-FFF2-40B4-BE49-F238E27FC236}">
                <a16:creationId xmlns:a16="http://schemas.microsoft.com/office/drawing/2014/main" id="{BDDC1114-D939-5EF0-CC0F-621FC2EC5F18}"/>
              </a:ext>
            </a:extLst>
          </p:cNvPr>
          <p:cNvSpPr txBox="1"/>
          <p:nvPr/>
        </p:nvSpPr>
        <p:spPr>
          <a:xfrm>
            <a:off x="2385642" y="1466239"/>
            <a:ext cx="3416294" cy="172573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a:extLst>
              <a:ext uri="{FF2B5EF4-FFF2-40B4-BE49-F238E27FC236}">
                <a16:creationId xmlns:a16="http://schemas.microsoft.com/office/drawing/2014/main" id="{540A8505-CB24-ECC8-87CB-BD4A15A808B4}"/>
              </a:ext>
            </a:extLst>
          </p:cNvPr>
          <p:cNvSpPr txBox="1"/>
          <p:nvPr/>
        </p:nvSpPr>
        <p:spPr>
          <a:xfrm>
            <a:off x="2641282" y="2109787"/>
            <a:ext cx="3009302" cy="964740"/>
          </a:xfrm>
          <a:prstGeom prst="rect">
            <a:avLst/>
          </a:prstGeom>
          <a:noFill/>
          <a:ln cap="sq">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目标检测利用AI大模型识别图像中的目标物体，并进行位置和边界框的标注。
图像分类使用AI大模型对图像进行分类和识别，例如将图像分类为动物、食物等。
这些应用可以用于自动驾驶、安防监控和内容识别等领域。</a:t>
            </a:r>
            <a:endParaRPr kumimoji="1" lang="zh-CN" altLang="en-US"/>
          </a:p>
        </p:txBody>
      </p:sp>
      <p:sp>
        <p:nvSpPr>
          <p:cNvPr id="5" name="标题 1">
            <a:extLst>
              <a:ext uri="{FF2B5EF4-FFF2-40B4-BE49-F238E27FC236}">
                <a16:creationId xmlns:a16="http://schemas.microsoft.com/office/drawing/2014/main" id="{FB4204E0-54BC-AB57-F867-F27A9094C59E}"/>
              </a:ext>
            </a:extLst>
          </p:cNvPr>
          <p:cNvSpPr txBox="1"/>
          <p:nvPr/>
        </p:nvSpPr>
        <p:spPr>
          <a:xfrm>
            <a:off x="2641281" y="1583680"/>
            <a:ext cx="3009302" cy="515381"/>
          </a:xfrm>
          <a:prstGeom prst="rect">
            <a:avLst/>
          </a:prstGeom>
          <a:noFill/>
          <a:ln cap="sq">
            <a:noFill/>
          </a:ln>
        </p:spPr>
        <p:txBody>
          <a:bodyPr vert="horz" wrap="square" lIns="0" tIns="0" rIns="0" bIns="0" rtlCol="0" anchor="ctr"/>
          <a:lstStyle/>
          <a:p>
            <a:pPr algn="l"/>
            <a:r>
              <a:rPr kumimoji="1" lang="en-US" altLang="zh-CN" sz="1600">
                <a:ln w="12700">
                  <a:noFill/>
                </a:ln>
                <a:solidFill>
                  <a:schemeClr val="accent1"/>
                </a:solidFill>
                <a:latin typeface="Source Han Sans CN Bold"/>
                <a:ea typeface="Source Han Sans CN Bold"/>
                <a:cs typeface="Source Han Sans CN Bold"/>
              </a:rPr>
              <a:t>目标检测与图像分类</a:t>
            </a:r>
            <a:endParaRPr kumimoji="1" lang="zh-CN" altLang="en-US"/>
          </a:p>
        </p:txBody>
      </p:sp>
      <p:pic>
        <p:nvPicPr>
          <p:cNvPr id="6" name="图片 5">
            <a:extLst>
              <a:ext uri="{FF2B5EF4-FFF2-40B4-BE49-F238E27FC236}">
                <a16:creationId xmlns:a16="http://schemas.microsoft.com/office/drawing/2014/main" id="{FE0D5360-4089-078D-F179-DCB74C4A7FFD}"/>
              </a:ext>
            </a:extLst>
          </p:cNvPr>
          <p:cNvPicPr>
            <a:picLocks noChangeAspect="1"/>
          </p:cNvPicPr>
          <p:nvPr/>
        </p:nvPicPr>
        <p:blipFill>
          <a:blip r:embed="rId2">
            <a:alphaModFix/>
          </a:blip>
          <a:srcRect/>
          <a:stretch>
            <a:fillRect/>
          </a:stretch>
        </p:blipFill>
        <p:spPr>
          <a:xfrm>
            <a:off x="660400" y="1355689"/>
            <a:ext cx="1859859" cy="1946830"/>
          </a:xfrm>
          <a:prstGeom prst="rect">
            <a:avLst/>
          </a:prstGeom>
        </p:spPr>
      </p:pic>
      <p:sp>
        <p:nvSpPr>
          <p:cNvPr id="7" name="标题 1">
            <a:extLst>
              <a:ext uri="{FF2B5EF4-FFF2-40B4-BE49-F238E27FC236}">
                <a16:creationId xmlns:a16="http://schemas.microsoft.com/office/drawing/2014/main" id="{98B3ED60-B966-48BE-B146-F802424010F5}"/>
              </a:ext>
            </a:extLst>
          </p:cNvPr>
          <p:cNvSpPr txBox="1"/>
          <p:nvPr/>
        </p:nvSpPr>
        <p:spPr>
          <a:xfrm>
            <a:off x="5459746" y="2882475"/>
            <a:ext cx="463212" cy="447822"/>
          </a:xfrm>
          <a:prstGeom prst="rect">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a:extLst>
              <a:ext uri="{FF2B5EF4-FFF2-40B4-BE49-F238E27FC236}">
                <a16:creationId xmlns:a16="http://schemas.microsoft.com/office/drawing/2014/main" id="{0E2E1C12-EB97-46E8-97B9-78BC21708AB8}"/>
              </a:ext>
            </a:extLst>
          </p:cNvPr>
          <p:cNvSpPr txBox="1"/>
          <p:nvPr/>
        </p:nvSpPr>
        <p:spPr>
          <a:xfrm>
            <a:off x="5562226" y="2977259"/>
            <a:ext cx="258254" cy="258254"/>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79 h 720001"/>
              <a:gd name="connsiteX5" fmla="*/ 507383 w 720001"/>
              <a:gd name="connsiteY5" fmla="*/ 72694 h 720001"/>
              <a:gd name="connsiteX6" fmla="*/ 457070 w 720001"/>
              <a:gd name="connsiteY6" fmla="*/ 57166 h 720001"/>
              <a:gd name="connsiteX7" fmla="*/ 307952 w 720001"/>
              <a:gd name="connsiteY7" fmla="*/ 56386 h 720001"/>
              <a:gd name="connsiteX8" fmla="*/ 240115 w 720001"/>
              <a:gd name="connsiteY8" fmla="*/ 76251 h 720001"/>
              <a:gd name="connsiteX9" fmla="*/ 142092 w 720001"/>
              <a:gd name="connsiteY9" fmla="*/ 142179 h 720001"/>
              <a:gd name="connsiteX10" fmla="*/ 76077 w 720001"/>
              <a:gd name="connsiteY10" fmla="*/ 240116 h 720001"/>
              <a:gd name="connsiteX11" fmla="*/ 51874 w 720001"/>
              <a:gd name="connsiteY11" fmla="*/ 360000 h 720001"/>
              <a:gd name="connsiteX12" fmla="*/ 76077 w 720001"/>
              <a:gd name="connsiteY12" fmla="*/ 479885 h 720001"/>
              <a:gd name="connsiteX13" fmla="*/ 142092 w 720001"/>
              <a:gd name="connsiteY13" fmla="*/ 577822 h 720001"/>
              <a:gd name="connsiteX14" fmla="*/ 240029 w 720001"/>
              <a:gd name="connsiteY14" fmla="*/ 643837 h 720001"/>
              <a:gd name="connsiteX15" fmla="*/ 359913 w 720001"/>
              <a:gd name="connsiteY15" fmla="*/ 668039 h 720001"/>
              <a:gd name="connsiteX16" fmla="*/ 479798 w 720001"/>
              <a:gd name="connsiteY16" fmla="*/ 643837 h 720001"/>
              <a:gd name="connsiteX17" fmla="*/ 577735 w 720001"/>
              <a:gd name="connsiteY17" fmla="*/ 577822 h 720001"/>
              <a:gd name="connsiteX18" fmla="*/ 643750 w 720001"/>
              <a:gd name="connsiteY18" fmla="*/ 479885 h 720001"/>
              <a:gd name="connsiteX19" fmla="*/ 663615 w 720001"/>
              <a:gd name="connsiteY19" fmla="*/ 412049 h 720001"/>
              <a:gd name="connsiteX20" fmla="*/ 360000 w 720001"/>
              <a:gd name="connsiteY20" fmla="*/ 412049 h 720001"/>
              <a:gd name="connsiteX21" fmla="*/ 307952 w 720001"/>
              <a:gd name="connsiteY21" fmla="*/ 360000 h 720001"/>
              <a:gd name="connsiteX22" fmla="*/ 405022 w 720001"/>
              <a:gd name="connsiteY22" fmla="*/ 0 h 720001"/>
              <a:gd name="connsiteX23" fmla="*/ 720001 w 720001"/>
              <a:gd name="connsiteY23" fmla="*/ 314979 h 720001"/>
              <a:gd name="connsiteX24" fmla="*/ 405022 w 720001"/>
              <a:gd name="connsiteY24" fmla="*/ 314979 h 720001"/>
              <a:gd name="connsiteX25" fmla="*/ 360000 w 720001"/>
              <a:gd name="connsiteY25" fmla="*/ 0 h 720001"/>
              <a:gd name="connsiteX26" fmla="*/ 360000 w 720001"/>
              <a:gd name="connsiteY26" fmla="*/ 360000 h 720001"/>
              <a:gd name="connsiteX27" fmla="*/ 720001 w 720001"/>
              <a:gd name="connsiteY27" fmla="*/ 360000 h 720001"/>
              <a:gd name="connsiteX28" fmla="*/ 360000 w 720001"/>
              <a:gd name="connsiteY28" fmla="*/ 720001 h 720001"/>
              <a:gd name="connsiteX29" fmla="*/ 0 w 720001"/>
              <a:gd name="connsiteY29" fmla="*/ 360000 h 720001"/>
              <a:gd name="connsiteX30" fmla="*/ 360000 w 720001"/>
              <a:gd name="connsiteY30"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79"/>
                </a:cubicBezTo>
                <a:cubicBezTo>
                  <a:pt x="566806" y="104877"/>
                  <a:pt x="538699" y="85966"/>
                  <a:pt x="507383" y="72694"/>
                </a:cubicBezTo>
                <a:cubicBezTo>
                  <a:pt x="491075" y="65755"/>
                  <a:pt x="474246" y="60636"/>
                  <a:pt x="457070" y="57166"/>
                </a:cubicBezTo>
                <a:close/>
                <a:moveTo>
                  <a:pt x="307952" y="56386"/>
                </a:moveTo>
                <a:cubicBezTo>
                  <a:pt x="284703" y="60376"/>
                  <a:pt x="262062" y="66969"/>
                  <a:pt x="240115" y="76251"/>
                </a:cubicBezTo>
                <a:cubicBezTo>
                  <a:pt x="203508" y="91778"/>
                  <a:pt x="170544" y="113986"/>
                  <a:pt x="142092" y="142179"/>
                </a:cubicBezTo>
                <a:cubicBezTo>
                  <a:pt x="113812" y="170545"/>
                  <a:pt x="91605" y="203422"/>
                  <a:pt x="76077" y="240116"/>
                </a:cubicBezTo>
                <a:cubicBezTo>
                  <a:pt x="60029" y="278111"/>
                  <a:pt x="51874" y="318362"/>
                  <a:pt x="51874" y="360000"/>
                </a:cubicBezTo>
                <a:cubicBezTo>
                  <a:pt x="51874" y="401639"/>
                  <a:pt x="60029" y="441976"/>
                  <a:pt x="76077" y="479885"/>
                </a:cubicBezTo>
                <a:cubicBezTo>
                  <a:pt x="91605" y="516579"/>
                  <a:pt x="113812" y="549543"/>
                  <a:pt x="142092" y="577822"/>
                </a:cubicBezTo>
                <a:cubicBezTo>
                  <a:pt x="170458" y="606102"/>
                  <a:pt x="203335" y="628309"/>
                  <a:pt x="240029" y="643837"/>
                </a:cubicBezTo>
                <a:cubicBezTo>
                  <a:pt x="278024" y="659885"/>
                  <a:pt x="318275" y="668039"/>
                  <a:pt x="359913" y="668039"/>
                </a:cubicBezTo>
                <a:cubicBezTo>
                  <a:pt x="401552" y="668039"/>
                  <a:pt x="441890" y="659885"/>
                  <a:pt x="479798" y="643837"/>
                </a:cubicBezTo>
                <a:cubicBezTo>
                  <a:pt x="516492" y="628309"/>
                  <a:pt x="549456" y="606102"/>
                  <a:pt x="577735" y="577822"/>
                </a:cubicBezTo>
                <a:cubicBezTo>
                  <a:pt x="606015" y="549456"/>
                  <a:pt x="628222" y="516579"/>
                  <a:pt x="643750" y="479885"/>
                </a:cubicBezTo>
                <a:cubicBezTo>
                  <a:pt x="653032" y="457938"/>
                  <a:pt x="659625" y="435297"/>
                  <a:pt x="663615" y="412049"/>
                </a:cubicBezTo>
                <a:lnTo>
                  <a:pt x="360000" y="412049"/>
                </a:lnTo>
                <a:cubicBezTo>
                  <a:pt x="331287" y="412049"/>
                  <a:pt x="307952" y="388714"/>
                  <a:pt x="307952" y="360000"/>
                </a:cubicBezTo>
                <a:close/>
                <a:moveTo>
                  <a:pt x="405022" y="0"/>
                </a:moveTo>
                <a:cubicBezTo>
                  <a:pt x="578950" y="0"/>
                  <a:pt x="720001" y="141051"/>
                  <a:pt x="720001" y="314979"/>
                </a:cubicBezTo>
                <a:lnTo>
                  <a:pt x="405022" y="314979"/>
                </a:lnTo>
                <a:close/>
                <a:moveTo>
                  <a:pt x="360000" y="0"/>
                </a:moveTo>
                <a:lnTo>
                  <a:pt x="360000" y="360000"/>
                </a:lnTo>
                <a:lnTo>
                  <a:pt x="720001" y="360000"/>
                </a:lnTo>
                <a:cubicBezTo>
                  <a:pt x="720001"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9" name="标题 1">
            <a:extLst>
              <a:ext uri="{FF2B5EF4-FFF2-40B4-BE49-F238E27FC236}">
                <a16:creationId xmlns:a16="http://schemas.microsoft.com/office/drawing/2014/main" id="{C44F574F-20BD-25A5-7845-AB4D71BB1370}"/>
              </a:ext>
            </a:extLst>
          </p:cNvPr>
          <p:cNvSpPr txBox="1"/>
          <p:nvPr/>
        </p:nvSpPr>
        <p:spPr>
          <a:xfrm>
            <a:off x="2385642" y="3935218"/>
            <a:ext cx="3416294" cy="1725730"/>
          </a:xfrm>
          <a:prstGeom prst="rect">
            <a:avLst/>
          </a:prstGeom>
          <a:solidFill>
            <a:schemeClr val="bg1"/>
          </a:solid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10" name="标题 1">
            <a:extLst>
              <a:ext uri="{FF2B5EF4-FFF2-40B4-BE49-F238E27FC236}">
                <a16:creationId xmlns:a16="http://schemas.microsoft.com/office/drawing/2014/main" id="{E72D5557-DB98-D7AF-1F05-7F2DF8B2B544}"/>
              </a:ext>
            </a:extLst>
          </p:cNvPr>
          <p:cNvSpPr txBox="1"/>
          <p:nvPr/>
        </p:nvSpPr>
        <p:spPr>
          <a:xfrm>
            <a:off x="2641282" y="4578766"/>
            <a:ext cx="3009302" cy="964740"/>
          </a:xfrm>
          <a:prstGeom prst="rect">
            <a:avLst/>
          </a:prstGeom>
          <a:noFill/>
          <a:ln cap="sq">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人脸识别使用AI大模型对图像或视频中的人脸进行识别和比对。
表情分析利用AI大模型对人脸表情进行分析，如识别笑容、愤怒等表情。
这些应用可以用于身份识别、安全监控和情感分析等领域。</a:t>
            </a:r>
            <a:endParaRPr kumimoji="1" lang="zh-CN" altLang="en-US"/>
          </a:p>
        </p:txBody>
      </p:sp>
      <p:sp>
        <p:nvSpPr>
          <p:cNvPr id="11" name="标题 1">
            <a:extLst>
              <a:ext uri="{FF2B5EF4-FFF2-40B4-BE49-F238E27FC236}">
                <a16:creationId xmlns:a16="http://schemas.microsoft.com/office/drawing/2014/main" id="{DD5708E1-0957-5259-C224-8419E6B60D82}"/>
              </a:ext>
            </a:extLst>
          </p:cNvPr>
          <p:cNvSpPr txBox="1"/>
          <p:nvPr/>
        </p:nvSpPr>
        <p:spPr>
          <a:xfrm>
            <a:off x="2641281" y="4052660"/>
            <a:ext cx="3009302" cy="515381"/>
          </a:xfrm>
          <a:prstGeom prst="rect">
            <a:avLst/>
          </a:prstGeom>
          <a:noFill/>
          <a:ln cap="sq">
            <a:noFill/>
          </a:ln>
        </p:spPr>
        <p:txBody>
          <a:bodyPr vert="horz" wrap="square" lIns="0" tIns="0" rIns="0" bIns="0" rtlCol="0" anchor="ctr"/>
          <a:lstStyle/>
          <a:p>
            <a:pPr algn="l"/>
            <a:r>
              <a:rPr kumimoji="1" lang="en-US" altLang="zh-CN" sz="1600">
                <a:ln w="12700">
                  <a:noFill/>
                </a:ln>
                <a:solidFill>
                  <a:schemeClr val="accent2"/>
                </a:solidFill>
                <a:latin typeface="Source Han Sans CN Bold"/>
                <a:ea typeface="Source Han Sans CN Bold"/>
                <a:cs typeface="Source Han Sans CN Bold"/>
              </a:rPr>
              <a:t>人脸识别与表情分析</a:t>
            </a:r>
            <a:endParaRPr kumimoji="1" lang="zh-CN" altLang="en-US"/>
          </a:p>
        </p:txBody>
      </p:sp>
      <p:pic>
        <p:nvPicPr>
          <p:cNvPr id="12" name="图片 11">
            <a:extLst>
              <a:ext uri="{FF2B5EF4-FFF2-40B4-BE49-F238E27FC236}">
                <a16:creationId xmlns:a16="http://schemas.microsoft.com/office/drawing/2014/main" id="{DE067864-67BF-D3C8-564A-C44E01E845FC}"/>
              </a:ext>
            </a:extLst>
          </p:cNvPr>
          <p:cNvPicPr>
            <a:picLocks noChangeAspect="1"/>
          </p:cNvPicPr>
          <p:nvPr/>
        </p:nvPicPr>
        <p:blipFill>
          <a:blip r:embed="rId3">
            <a:alphaModFix/>
          </a:blip>
          <a:srcRect/>
          <a:stretch>
            <a:fillRect/>
          </a:stretch>
        </p:blipFill>
        <p:spPr>
          <a:xfrm>
            <a:off x="660400" y="3824668"/>
            <a:ext cx="1859859" cy="1946830"/>
          </a:xfrm>
          <a:prstGeom prst="rect">
            <a:avLst/>
          </a:prstGeom>
        </p:spPr>
      </p:pic>
      <p:sp>
        <p:nvSpPr>
          <p:cNvPr id="13" name="标题 1">
            <a:extLst>
              <a:ext uri="{FF2B5EF4-FFF2-40B4-BE49-F238E27FC236}">
                <a16:creationId xmlns:a16="http://schemas.microsoft.com/office/drawing/2014/main" id="{640F48F1-184A-8AE3-1626-1E6E989F89A7}"/>
              </a:ext>
            </a:extLst>
          </p:cNvPr>
          <p:cNvSpPr txBox="1"/>
          <p:nvPr/>
        </p:nvSpPr>
        <p:spPr>
          <a:xfrm>
            <a:off x="5459746" y="5351455"/>
            <a:ext cx="463212" cy="447822"/>
          </a:xfrm>
          <a:prstGeom prst="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4" name="标题 1">
            <a:extLst>
              <a:ext uri="{FF2B5EF4-FFF2-40B4-BE49-F238E27FC236}">
                <a16:creationId xmlns:a16="http://schemas.microsoft.com/office/drawing/2014/main" id="{986BAA26-F79D-0400-4DE7-7BE00686BCDA}"/>
              </a:ext>
            </a:extLst>
          </p:cNvPr>
          <p:cNvSpPr txBox="1"/>
          <p:nvPr/>
        </p:nvSpPr>
        <p:spPr>
          <a:xfrm>
            <a:off x="5562226" y="5453661"/>
            <a:ext cx="258254" cy="24341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5" name="标题 1">
            <a:extLst>
              <a:ext uri="{FF2B5EF4-FFF2-40B4-BE49-F238E27FC236}">
                <a16:creationId xmlns:a16="http://schemas.microsoft.com/office/drawing/2014/main" id="{7919B134-502F-9E57-AF63-6FDB6B50A805}"/>
              </a:ext>
            </a:extLst>
          </p:cNvPr>
          <p:cNvSpPr txBox="1"/>
          <p:nvPr/>
        </p:nvSpPr>
        <p:spPr>
          <a:xfrm>
            <a:off x="7981584" y="1466239"/>
            <a:ext cx="3416294" cy="1725730"/>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6" name="标题 1">
            <a:extLst>
              <a:ext uri="{FF2B5EF4-FFF2-40B4-BE49-F238E27FC236}">
                <a16:creationId xmlns:a16="http://schemas.microsoft.com/office/drawing/2014/main" id="{7909BD43-FDD1-0523-B1A9-6DB544DC6268}"/>
              </a:ext>
            </a:extLst>
          </p:cNvPr>
          <p:cNvSpPr txBox="1"/>
          <p:nvPr/>
        </p:nvSpPr>
        <p:spPr>
          <a:xfrm>
            <a:off x="8237224" y="2109787"/>
            <a:ext cx="3009302" cy="964740"/>
          </a:xfrm>
          <a:prstGeom prst="rect">
            <a:avLst/>
          </a:prstGeom>
          <a:noFill/>
          <a:ln cap="sq">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图像生成使用AI大模型生成逼真的图像，如生成艺术作品、角色头像等。
图像风格迁移利用AI大模型将一张图像的风格应用到另一张图像上。
这些应用可以用于艺术创作、图像合成等方面。</a:t>
            </a:r>
            <a:endParaRPr kumimoji="1" lang="zh-CN" altLang="en-US"/>
          </a:p>
        </p:txBody>
      </p:sp>
      <p:sp>
        <p:nvSpPr>
          <p:cNvPr id="17" name="标题 1">
            <a:extLst>
              <a:ext uri="{FF2B5EF4-FFF2-40B4-BE49-F238E27FC236}">
                <a16:creationId xmlns:a16="http://schemas.microsoft.com/office/drawing/2014/main" id="{09A0988B-8711-CB69-F693-3B0470FE2D23}"/>
              </a:ext>
            </a:extLst>
          </p:cNvPr>
          <p:cNvSpPr txBox="1"/>
          <p:nvPr/>
        </p:nvSpPr>
        <p:spPr>
          <a:xfrm>
            <a:off x="8237224" y="1583680"/>
            <a:ext cx="3009302" cy="515381"/>
          </a:xfrm>
          <a:prstGeom prst="rect">
            <a:avLst/>
          </a:prstGeom>
          <a:noFill/>
          <a:ln cap="sq">
            <a:noFill/>
          </a:ln>
        </p:spPr>
        <p:txBody>
          <a:bodyPr vert="horz" wrap="square" lIns="0" tIns="0" rIns="0" bIns="0" rtlCol="0" anchor="ctr"/>
          <a:lstStyle/>
          <a:p>
            <a:pPr algn="l"/>
            <a:r>
              <a:rPr kumimoji="1" lang="en-US" altLang="zh-CN" sz="1600">
                <a:ln w="12700">
                  <a:noFill/>
                </a:ln>
                <a:solidFill>
                  <a:schemeClr val="accent1"/>
                </a:solidFill>
                <a:latin typeface="Source Han Sans CN Bold"/>
                <a:ea typeface="Source Han Sans CN Bold"/>
                <a:cs typeface="Source Han Sans CN Bold"/>
              </a:rPr>
              <a:t>图像生成与图像风格迁移</a:t>
            </a:r>
            <a:endParaRPr kumimoji="1" lang="zh-CN" altLang="en-US"/>
          </a:p>
        </p:txBody>
      </p:sp>
      <p:pic>
        <p:nvPicPr>
          <p:cNvPr id="18" name="图片 17">
            <a:extLst>
              <a:ext uri="{FF2B5EF4-FFF2-40B4-BE49-F238E27FC236}">
                <a16:creationId xmlns:a16="http://schemas.microsoft.com/office/drawing/2014/main" id="{1C2EA01B-7173-0629-8764-E1BB7B71EFB7}"/>
              </a:ext>
            </a:extLst>
          </p:cNvPr>
          <p:cNvPicPr>
            <a:picLocks noChangeAspect="1"/>
          </p:cNvPicPr>
          <p:nvPr/>
        </p:nvPicPr>
        <p:blipFill>
          <a:blip r:embed="rId4">
            <a:alphaModFix/>
          </a:blip>
          <a:srcRect/>
          <a:stretch>
            <a:fillRect/>
          </a:stretch>
        </p:blipFill>
        <p:spPr>
          <a:xfrm>
            <a:off x="6256342" y="1355689"/>
            <a:ext cx="1859859" cy="1946830"/>
          </a:xfrm>
          <a:prstGeom prst="rect">
            <a:avLst/>
          </a:prstGeom>
        </p:spPr>
      </p:pic>
      <p:sp>
        <p:nvSpPr>
          <p:cNvPr id="19" name="标题 1">
            <a:extLst>
              <a:ext uri="{FF2B5EF4-FFF2-40B4-BE49-F238E27FC236}">
                <a16:creationId xmlns:a16="http://schemas.microsoft.com/office/drawing/2014/main" id="{1EB4C8CD-7065-AA70-CD1F-62D2E459E6EC}"/>
              </a:ext>
            </a:extLst>
          </p:cNvPr>
          <p:cNvSpPr txBox="1"/>
          <p:nvPr/>
        </p:nvSpPr>
        <p:spPr>
          <a:xfrm>
            <a:off x="11055688" y="2882475"/>
            <a:ext cx="463212" cy="447822"/>
          </a:xfrm>
          <a:prstGeom prst="rect">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20" name="标题 1">
            <a:extLst>
              <a:ext uri="{FF2B5EF4-FFF2-40B4-BE49-F238E27FC236}">
                <a16:creationId xmlns:a16="http://schemas.microsoft.com/office/drawing/2014/main" id="{5A28FD9B-45F2-12BF-41D1-B727ECDD2F9B}"/>
              </a:ext>
            </a:extLst>
          </p:cNvPr>
          <p:cNvSpPr txBox="1"/>
          <p:nvPr/>
        </p:nvSpPr>
        <p:spPr>
          <a:xfrm>
            <a:off x="11158169" y="2981425"/>
            <a:ext cx="258254" cy="249922"/>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21" name="标题 1">
            <a:extLst>
              <a:ext uri="{FF2B5EF4-FFF2-40B4-BE49-F238E27FC236}">
                <a16:creationId xmlns:a16="http://schemas.microsoft.com/office/drawing/2014/main" id="{7CD20E54-100D-C64A-7ABB-3E037C4198B9}"/>
              </a:ext>
            </a:extLst>
          </p:cNvPr>
          <p:cNvSpPr txBox="1"/>
          <p:nvPr/>
        </p:nvSpPr>
        <p:spPr>
          <a:xfrm flipH="1">
            <a:off x="0" y="0"/>
            <a:ext cx="1008000" cy="1008000"/>
          </a:xfrm>
          <a:custGeom>
            <a:avLst/>
            <a:gdLst>
              <a:gd name="connsiteX0" fmla="*/ 1008000 w 1008000"/>
              <a:gd name="connsiteY0" fmla="*/ 0 h 1008000"/>
              <a:gd name="connsiteX1" fmla="*/ 870392 w 1008000"/>
              <a:gd name="connsiteY1" fmla="*/ 0 h 1008000"/>
              <a:gd name="connsiteX2" fmla="*/ 713360 w 1008000"/>
              <a:gd name="connsiteY2" fmla="*/ 0 h 1008000"/>
              <a:gd name="connsiteX3" fmla="*/ 48404 w 1008000"/>
              <a:gd name="connsiteY3" fmla="*/ 0 h 1008000"/>
              <a:gd name="connsiteX4" fmla="*/ 14261 w 1008000"/>
              <a:gd name="connsiteY4" fmla="*/ 82628 h 1008000"/>
              <a:gd name="connsiteX5" fmla="*/ 765717 w 1008000"/>
              <a:gd name="connsiteY5" fmla="*/ 836017 h 1008000"/>
              <a:gd name="connsiteX6" fmla="*/ 772508 w 1008000"/>
              <a:gd name="connsiteY6" fmla="*/ 841197 h 1008000"/>
              <a:gd name="connsiteX7" fmla="*/ 776419 w 1008000"/>
              <a:gd name="connsiteY7" fmla="*/ 844157 h 1008000"/>
              <a:gd name="connsiteX8" fmla="*/ 925586 w 1008000"/>
              <a:gd name="connsiteY8" fmla="*/ 993725 h 1008000"/>
              <a:gd name="connsiteX9" fmla="*/ 1008000 w 1008000"/>
              <a:gd name="connsiteY9" fmla="*/ 959508 h 1008000"/>
              <a:gd name="connsiteX10" fmla="*/ 1008000 w 1008000"/>
              <a:gd name="connsiteY10" fmla="*/ 294640 h 1008000"/>
              <a:gd name="connsiteX11" fmla="*/ 1008000 w 1008000"/>
              <a:gd name="connsiteY11" fmla="*/ 137994 h 1008000"/>
            </a:gdLst>
            <a:ahLst/>
            <a:cxnLst/>
            <a:rect l="l" t="t" r="r" b="b"/>
            <a:pathLst>
              <a:path w="1008000" h="1008000">
                <a:moveTo>
                  <a:pt x="1008000" y="0"/>
                </a:moveTo>
                <a:lnTo>
                  <a:pt x="870392" y="0"/>
                </a:lnTo>
                <a:lnTo>
                  <a:pt x="713360" y="0"/>
                </a:lnTo>
                <a:lnTo>
                  <a:pt x="48404" y="0"/>
                </a:lnTo>
                <a:cubicBezTo>
                  <a:pt x="5389" y="0"/>
                  <a:pt x="-16207" y="52140"/>
                  <a:pt x="14261" y="82628"/>
                </a:cubicBezTo>
                <a:lnTo>
                  <a:pt x="765717" y="836017"/>
                </a:lnTo>
                <a:cubicBezTo>
                  <a:pt x="767729" y="838052"/>
                  <a:pt x="770016" y="839795"/>
                  <a:pt x="772508" y="841197"/>
                </a:cubicBezTo>
                <a:cubicBezTo>
                  <a:pt x="773944" y="841993"/>
                  <a:pt x="775262" y="842990"/>
                  <a:pt x="776419" y="844157"/>
                </a:cubicBezTo>
                <a:lnTo>
                  <a:pt x="925586" y="993725"/>
                </a:lnTo>
                <a:cubicBezTo>
                  <a:pt x="955995" y="1024227"/>
                  <a:pt x="1008000" y="1002605"/>
                  <a:pt x="1008000" y="959508"/>
                </a:cubicBezTo>
                <a:lnTo>
                  <a:pt x="1008000" y="294640"/>
                </a:lnTo>
                <a:lnTo>
                  <a:pt x="1008000" y="137994"/>
                </a:lnTo>
                <a:close/>
              </a:path>
            </a:pathLst>
          </a:custGeom>
          <a:solidFill>
            <a:schemeClr val="accent1"/>
          </a:solidFill>
          <a:ln w="3584" cap="flat">
            <a:noFill/>
            <a:miter/>
          </a:ln>
          <a:effectLst>
            <a:outerShdw blurRad="317500" dist="190500" dir="8100000" algn="tr" rotWithShape="0">
              <a:schemeClr val="tx1">
                <a:lumMod val="50000"/>
                <a:lumOff val="50000"/>
                <a:alpha val="30000"/>
              </a:schemeClr>
            </a:outerShdw>
          </a:effectLst>
        </p:spPr>
        <p:txBody>
          <a:bodyPr vert="horz" wrap="square" lIns="91440" tIns="45720" rIns="91440" bIns="45720" rtlCol="0" anchor="ctr"/>
          <a:lstStyle/>
          <a:p>
            <a:pPr algn="l"/>
            <a:endParaRPr kumimoji="1" lang="zh-CN" altLang="en-US"/>
          </a:p>
        </p:txBody>
      </p:sp>
      <p:sp>
        <p:nvSpPr>
          <p:cNvPr id="22" name="标题 1">
            <a:extLst>
              <a:ext uri="{FF2B5EF4-FFF2-40B4-BE49-F238E27FC236}">
                <a16:creationId xmlns:a16="http://schemas.microsoft.com/office/drawing/2014/main" id="{C43B46CD-EBE0-5D43-D394-CF3FB8A06E30}"/>
              </a:ext>
            </a:extLst>
          </p:cNvPr>
          <p:cNvSpPr txBox="1"/>
          <p:nvPr/>
        </p:nvSpPr>
        <p:spPr>
          <a:xfrm>
            <a:off x="855292" y="420464"/>
            <a:ext cx="10567087" cy="432000"/>
          </a:xfrm>
          <a:prstGeom prst="rect">
            <a:avLst/>
          </a:prstGeom>
          <a:noFill/>
          <a:ln>
            <a:noFill/>
          </a:ln>
        </p:spPr>
        <p:txBody>
          <a:bodyPr vert="horz" wrap="square" lIns="0" tIns="0" rIns="0" bIns="0" rtlCol="0" anchor="ctr"/>
          <a:lstStyle/>
          <a:p>
            <a:pPr algn="l"/>
            <a:r>
              <a:rPr kumimoji="1" lang="en-US" altLang="zh-CN" sz="3200">
                <a:ln w="12700">
                  <a:noFill/>
                </a:ln>
                <a:solidFill>
                  <a:schemeClr val="tx1">
                    <a:lumMod val="85000"/>
                    <a:lumOff val="15000"/>
                  </a:schemeClr>
                </a:solidFill>
                <a:latin typeface="Source Han Sans CN Bold"/>
                <a:ea typeface="Source Han Sans CN Bold"/>
                <a:cs typeface="Source Han Sans CN Bold"/>
              </a:rPr>
              <a:t>计算机视觉与图像识别</a:t>
            </a:r>
            <a:endParaRPr kumimoji="1" lang="zh-CN" altLang="en-US"/>
          </a:p>
        </p:txBody>
      </p:sp>
    </p:spTree>
    <p:extLst>
      <p:ext uri="{BB962C8B-B14F-4D97-AF65-F5344CB8AC3E}">
        <p14:creationId xmlns:p14="http://schemas.microsoft.com/office/powerpoint/2010/main" val="300783759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A8248A-0F73-B239-7282-D983131F9DD8}"/>
              </a:ext>
            </a:extLst>
          </p:cNvPr>
          <p:cNvSpPr>
            <a:spLocks noGrp="1"/>
          </p:cNvSpPr>
          <p:nvPr>
            <p:ph type="title"/>
          </p:nvPr>
        </p:nvSpPr>
        <p:spPr/>
        <p:txBody>
          <a:bodyPr>
            <a:normAutofit fontScale="90000"/>
          </a:bodyPr>
          <a:lstStyle/>
          <a:p>
            <a:endParaRPr lang="zh-CN" altLang="en-US"/>
          </a:p>
        </p:txBody>
      </p:sp>
      <p:sp>
        <p:nvSpPr>
          <p:cNvPr id="3" name="标题 1">
            <a:extLst>
              <a:ext uri="{FF2B5EF4-FFF2-40B4-BE49-F238E27FC236}">
                <a16:creationId xmlns:a16="http://schemas.microsoft.com/office/drawing/2014/main" id="{494513BA-FF59-6A25-8C58-B0654C97A24B}"/>
              </a:ext>
            </a:extLst>
          </p:cNvPr>
          <p:cNvSpPr txBox="1"/>
          <p:nvPr/>
        </p:nvSpPr>
        <p:spPr>
          <a:xfrm rot="18247684">
            <a:off x="5937082" y="1220538"/>
            <a:ext cx="252053" cy="2399683"/>
          </a:xfrm>
          <a:prstGeom prst="rect">
            <a:avLst/>
          </a:prstGeom>
          <a:gradFill>
            <a:gsLst>
              <a:gs pos="0">
                <a:schemeClr val="accent1"/>
              </a:gs>
              <a:gs pos="100000">
                <a:schemeClr val="accent1">
                  <a:lumMod val="85000"/>
                  <a:lumOff val="15000"/>
                </a:schemeClr>
              </a:gs>
            </a:gsLst>
            <a:lin ang="16200000" scaled="0"/>
          </a:gradFill>
          <a:ln w="12700" cap="sq">
            <a:noFill/>
            <a:miter/>
          </a:ln>
          <a:effectLst>
            <a:outerShdw blurRad="330200" dist="3810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4" name="标题 1">
            <a:extLst>
              <a:ext uri="{FF2B5EF4-FFF2-40B4-BE49-F238E27FC236}">
                <a16:creationId xmlns:a16="http://schemas.microsoft.com/office/drawing/2014/main" id="{05EC1E33-EAAE-465C-7BA6-37B758A3BE99}"/>
              </a:ext>
            </a:extLst>
          </p:cNvPr>
          <p:cNvSpPr txBox="1"/>
          <p:nvPr/>
        </p:nvSpPr>
        <p:spPr>
          <a:xfrm>
            <a:off x="3509462" y="1425135"/>
            <a:ext cx="2016370" cy="2016370"/>
          </a:xfrm>
          <a:prstGeom prst="ellipse">
            <a:avLst/>
          </a:prstGeom>
          <a:gradFill>
            <a:gsLst>
              <a:gs pos="0">
                <a:schemeClr val="accent1"/>
              </a:gs>
              <a:gs pos="100000">
                <a:schemeClr val="accent1">
                  <a:lumMod val="85000"/>
                  <a:lumOff val="15000"/>
                </a:schemeClr>
              </a:gs>
            </a:gsLst>
            <a:lin ang="16200000" scaled="0"/>
          </a:gradFill>
          <a:ln w="12700" cap="sq">
            <a:noFill/>
            <a:miter/>
          </a:ln>
          <a:effectLst>
            <a:outerShdw blurRad="330200" dist="381000" dir="5400000" sx="90000" sy="90000" algn="t" rotWithShape="0">
              <a:schemeClr val="accent1">
                <a:lumMod val="75000"/>
                <a:alpha val="25000"/>
              </a:schemeClr>
            </a:outerShdw>
          </a:effectLst>
        </p:spPr>
        <p:txBody>
          <a:bodyPr vert="horz" wrap="square" lIns="45720" tIns="22860" rIns="45720" bIns="22860" rtlCol="0" anchor="ctr"/>
          <a:lstStyle/>
          <a:p>
            <a:pPr algn="ctr"/>
            <a:endParaRPr kumimoji="1" lang="zh-CN" altLang="en-US"/>
          </a:p>
        </p:txBody>
      </p:sp>
      <p:sp>
        <p:nvSpPr>
          <p:cNvPr id="5" name="标题 1">
            <a:extLst>
              <a:ext uri="{FF2B5EF4-FFF2-40B4-BE49-F238E27FC236}">
                <a16:creationId xmlns:a16="http://schemas.microsoft.com/office/drawing/2014/main" id="{3B45D48B-D889-01AC-9EF7-DC6DE1EDCE53}"/>
              </a:ext>
            </a:extLst>
          </p:cNvPr>
          <p:cNvSpPr txBox="1"/>
          <p:nvPr/>
        </p:nvSpPr>
        <p:spPr>
          <a:xfrm>
            <a:off x="3761515" y="1677188"/>
            <a:ext cx="1512264" cy="1512264"/>
          </a:xfrm>
          <a:prstGeom prst="ellipse">
            <a:avLst/>
          </a:prstGeom>
          <a:solidFill>
            <a:schemeClr val="bg1"/>
          </a:solidFill>
          <a:ln w="12700" cap="sq">
            <a:noFill/>
            <a:miter/>
          </a:ln>
          <a:effectLst>
            <a:outerShdw blurRad="139700" dist="38100" dir="2700000" algn="tl" rotWithShape="0">
              <a:schemeClr val="accent1">
                <a:lumMod val="75000"/>
                <a:alpha val="40000"/>
              </a:schemeClr>
            </a:outerShdw>
          </a:effectLst>
        </p:spPr>
        <p:txBody>
          <a:bodyPr vert="horz" wrap="square" lIns="91440" tIns="45720" rIns="91440" bIns="45720" rtlCol="0" anchor="ctr"/>
          <a:lstStyle/>
          <a:p>
            <a:pPr algn="ctr"/>
            <a:endParaRPr kumimoji="1" lang="zh-CN" altLang="en-US"/>
          </a:p>
        </p:txBody>
      </p:sp>
      <p:sp>
        <p:nvSpPr>
          <p:cNvPr id="6" name="标题 1">
            <a:extLst>
              <a:ext uri="{FF2B5EF4-FFF2-40B4-BE49-F238E27FC236}">
                <a16:creationId xmlns:a16="http://schemas.microsoft.com/office/drawing/2014/main" id="{5CC97767-4192-13F4-0C53-92F21CC74292}"/>
              </a:ext>
            </a:extLst>
          </p:cNvPr>
          <p:cNvSpPr txBox="1"/>
          <p:nvPr/>
        </p:nvSpPr>
        <p:spPr>
          <a:xfrm>
            <a:off x="6615947" y="1425135"/>
            <a:ext cx="2016370" cy="2016370"/>
          </a:xfrm>
          <a:prstGeom prst="ellipse">
            <a:avLst/>
          </a:prstGeom>
          <a:gradFill>
            <a:gsLst>
              <a:gs pos="0">
                <a:schemeClr val="accent2">
                  <a:alpha val="100000"/>
                </a:schemeClr>
              </a:gs>
              <a:gs pos="100000">
                <a:schemeClr val="accent2">
                  <a:lumMod val="60000"/>
                  <a:lumOff val="40000"/>
                  <a:alpha val="100000"/>
                </a:schemeClr>
              </a:gs>
            </a:gsLst>
            <a:lin ang="16200000" scaled="0"/>
          </a:gradFill>
          <a:ln w="12700" cap="sq">
            <a:noFill/>
            <a:miter/>
          </a:ln>
          <a:effectLst>
            <a:outerShdw blurRad="330200" dist="381000" dir="5400000" sx="90000" sy="90000" algn="t" rotWithShape="0">
              <a:schemeClr val="accent2">
                <a:lumMod val="75000"/>
                <a:alpha val="25000"/>
              </a:schemeClr>
            </a:outerShdw>
          </a:effectLst>
        </p:spPr>
        <p:txBody>
          <a:bodyPr vert="horz" wrap="square" lIns="45720" tIns="22860" rIns="45720" bIns="22860" rtlCol="0" anchor="ctr"/>
          <a:lstStyle/>
          <a:p>
            <a:pPr algn="ctr"/>
            <a:endParaRPr kumimoji="1" lang="zh-CN" altLang="en-US"/>
          </a:p>
        </p:txBody>
      </p:sp>
      <p:sp>
        <p:nvSpPr>
          <p:cNvPr id="7" name="标题 1">
            <a:extLst>
              <a:ext uri="{FF2B5EF4-FFF2-40B4-BE49-F238E27FC236}">
                <a16:creationId xmlns:a16="http://schemas.microsoft.com/office/drawing/2014/main" id="{91F8DB2A-196D-D77F-87B8-392356AB028E}"/>
              </a:ext>
            </a:extLst>
          </p:cNvPr>
          <p:cNvSpPr txBox="1"/>
          <p:nvPr/>
        </p:nvSpPr>
        <p:spPr>
          <a:xfrm>
            <a:off x="6868000" y="1677188"/>
            <a:ext cx="1512264" cy="1512264"/>
          </a:xfrm>
          <a:prstGeom prst="ellipse">
            <a:avLst/>
          </a:prstGeom>
          <a:solidFill>
            <a:schemeClr val="bg1"/>
          </a:solidFill>
          <a:ln w="12700" cap="sq">
            <a:noFill/>
            <a:miter/>
          </a:ln>
          <a:effectLst>
            <a:outerShdw blurRad="139700" dist="38100" dir="2700000" algn="tl" rotWithShape="0">
              <a:schemeClr val="accent2">
                <a:lumMod val="75000"/>
                <a:alpha val="40000"/>
              </a:schemeClr>
            </a:outerShdw>
          </a:effectLst>
        </p:spPr>
        <p:txBody>
          <a:bodyPr vert="horz" wrap="square" lIns="91440" tIns="45720" rIns="91440" bIns="45720" rtlCol="0" anchor="ctr"/>
          <a:lstStyle/>
          <a:p>
            <a:pPr algn="ctr"/>
            <a:endParaRPr kumimoji="1" lang="zh-CN" altLang="en-US"/>
          </a:p>
        </p:txBody>
      </p:sp>
      <p:sp>
        <p:nvSpPr>
          <p:cNvPr id="8" name="标题 1">
            <a:extLst>
              <a:ext uri="{FF2B5EF4-FFF2-40B4-BE49-F238E27FC236}">
                <a16:creationId xmlns:a16="http://schemas.microsoft.com/office/drawing/2014/main" id="{04BEE1B5-6117-7B25-CA90-4545A7381EE6}"/>
              </a:ext>
            </a:extLst>
          </p:cNvPr>
          <p:cNvSpPr txBox="1"/>
          <p:nvPr/>
        </p:nvSpPr>
        <p:spPr>
          <a:xfrm>
            <a:off x="4248731" y="2126255"/>
            <a:ext cx="614130" cy="614130"/>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accent1"/>
          </a:solidFill>
          <a:ln w="12700" cap="sq">
            <a:noFill/>
            <a:miter/>
          </a:ln>
          <a:effectLst/>
        </p:spPr>
        <p:txBody>
          <a:bodyPr vert="horz" wrap="square" lIns="45720" tIns="22860" rIns="45720" bIns="22860" rtlCol="0" anchor="ctr"/>
          <a:lstStyle/>
          <a:p>
            <a:pPr algn="ctr"/>
            <a:endParaRPr kumimoji="1" lang="zh-CN" altLang="en-US"/>
          </a:p>
        </p:txBody>
      </p:sp>
      <p:sp>
        <p:nvSpPr>
          <p:cNvPr id="9" name="标题 1">
            <a:extLst>
              <a:ext uri="{FF2B5EF4-FFF2-40B4-BE49-F238E27FC236}">
                <a16:creationId xmlns:a16="http://schemas.microsoft.com/office/drawing/2014/main" id="{8852E542-0D1F-FFB9-B158-E2B9EA543221}"/>
              </a:ext>
            </a:extLst>
          </p:cNvPr>
          <p:cNvSpPr txBox="1"/>
          <p:nvPr/>
        </p:nvSpPr>
        <p:spPr>
          <a:xfrm>
            <a:off x="7339077" y="2150362"/>
            <a:ext cx="600428" cy="565917"/>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accent2"/>
          </a:solidFill>
          <a:ln w="12700" cap="sq">
            <a:noFill/>
            <a:miter/>
          </a:ln>
          <a:effectLst/>
        </p:spPr>
        <p:txBody>
          <a:bodyPr vert="horz" wrap="square" lIns="45720" tIns="22860" rIns="45720" bIns="22860" rtlCol="0" anchor="ctr"/>
          <a:lstStyle/>
          <a:p>
            <a:pPr algn="ctr"/>
            <a:endParaRPr kumimoji="1" lang="zh-CN" altLang="en-US"/>
          </a:p>
        </p:txBody>
      </p:sp>
      <p:sp>
        <p:nvSpPr>
          <p:cNvPr id="10" name="标题 1">
            <a:extLst>
              <a:ext uri="{FF2B5EF4-FFF2-40B4-BE49-F238E27FC236}">
                <a16:creationId xmlns:a16="http://schemas.microsoft.com/office/drawing/2014/main" id="{14598A57-9B68-A36C-C8C4-86B79FFCA352}"/>
              </a:ext>
            </a:extLst>
          </p:cNvPr>
          <p:cNvSpPr txBox="1"/>
          <p:nvPr/>
        </p:nvSpPr>
        <p:spPr>
          <a:xfrm flipV="1">
            <a:off x="4435233" y="3601995"/>
            <a:ext cx="241126" cy="156862"/>
          </a:xfrm>
          <a:prstGeom prst="triangl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1" name="标题 1">
            <a:extLst>
              <a:ext uri="{FF2B5EF4-FFF2-40B4-BE49-F238E27FC236}">
                <a16:creationId xmlns:a16="http://schemas.microsoft.com/office/drawing/2014/main" id="{1CB46B65-78B1-0E73-18F5-AE58A27F3BDC}"/>
              </a:ext>
            </a:extLst>
          </p:cNvPr>
          <p:cNvSpPr txBox="1"/>
          <p:nvPr/>
        </p:nvSpPr>
        <p:spPr>
          <a:xfrm flipV="1">
            <a:off x="7529612" y="3601995"/>
            <a:ext cx="241126" cy="156862"/>
          </a:xfrm>
          <a:prstGeom prst="triangle">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2" name="标题 1">
            <a:extLst>
              <a:ext uri="{FF2B5EF4-FFF2-40B4-BE49-F238E27FC236}">
                <a16:creationId xmlns:a16="http://schemas.microsoft.com/office/drawing/2014/main" id="{E904002D-3A74-3A3E-E44F-2B7D60D8D373}"/>
              </a:ext>
            </a:extLst>
          </p:cNvPr>
          <p:cNvSpPr txBox="1"/>
          <p:nvPr/>
        </p:nvSpPr>
        <p:spPr>
          <a:xfrm>
            <a:off x="2908300" y="4041140"/>
            <a:ext cx="3111500" cy="484116"/>
          </a:xfrm>
          <a:prstGeom prst="rect">
            <a:avLst/>
          </a:prstGeom>
          <a:noFill/>
          <a:ln>
            <a:noFill/>
          </a:ln>
        </p:spPr>
        <p:txBody>
          <a:bodyPr vert="horz" wrap="square" lIns="91440" tIns="45720" rIns="91440" bIns="45720" rtlCol="0" anchor="ctr"/>
          <a:lstStyle/>
          <a:p>
            <a:pPr algn="ctr"/>
            <a:r>
              <a:rPr kumimoji="1" lang="en-US" altLang="zh-CN" sz="1600">
                <a:ln w="12700">
                  <a:noFill/>
                </a:ln>
                <a:solidFill>
                  <a:schemeClr val="tx1">
                    <a:lumMod val="75000"/>
                    <a:lumOff val="25000"/>
                  </a:schemeClr>
                </a:solidFill>
                <a:latin typeface="Source Han Sans CN Bold"/>
                <a:ea typeface="Source Han Sans CN Bold"/>
                <a:cs typeface="Source Han Sans CN Bold"/>
              </a:rPr>
              <a:t>语音识别技术与应用</a:t>
            </a:r>
            <a:endParaRPr kumimoji="1" lang="zh-CN" altLang="en-US"/>
          </a:p>
        </p:txBody>
      </p:sp>
      <p:sp>
        <p:nvSpPr>
          <p:cNvPr id="13" name="标题 1">
            <a:extLst>
              <a:ext uri="{FF2B5EF4-FFF2-40B4-BE49-F238E27FC236}">
                <a16:creationId xmlns:a16="http://schemas.microsoft.com/office/drawing/2014/main" id="{3918C9FA-B355-9D2C-AA9A-13D31C9ED5E7}"/>
              </a:ext>
            </a:extLst>
          </p:cNvPr>
          <p:cNvSpPr txBox="1"/>
          <p:nvPr/>
        </p:nvSpPr>
        <p:spPr>
          <a:xfrm>
            <a:off x="2905760" y="4643634"/>
            <a:ext cx="3114040" cy="1642866"/>
          </a:xfrm>
          <a:prstGeom prst="rect">
            <a:avLst/>
          </a:prstGeom>
          <a:noFill/>
          <a:ln>
            <a:noFill/>
          </a:ln>
        </p:spPr>
        <p:txBody>
          <a:bodyPr vert="horz" wrap="square" lIns="91440" tIns="45720" rIns="91440" bIns="45720" rtlCol="0" anchor="t"/>
          <a:lstStyle/>
          <a:p>
            <a:pPr algn="ctr"/>
            <a:r>
              <a:rPr kumimoji="1" lang="en-US" altLang="zh-CN" sz="1400">
                <a:ln w="12700">
                  <a:noFill/>
                </a:ln>
                <a:solidFill>
                  <a:schemeClr val="tx1">
                    <a:lumMod val="75000"/>
                    <a:lumOff val="25000"/>
                  </a:schemeClr>
                </a:solidFill>
                <a:latin typeface="Source Han Sans"/>
                <a:ea typeface="Source Han Sans"/>
                <a:cs typeface="Source Han Sans"/>
              </a:rPr>
              <a:t>语音识别利用AI大模型将语音信号转化为文本，实现语音到文本的转换。
这项技术可以应用于语音助手、语音指令、语音输入等方面。</a:t>
            </a:r>
            <a:endParaRPr kumimoji="1" lang="zh-CN" altLang="en-US"/>
          </a:p>
        </p:txBody>
      </p:sp>
      <p:sp>
        <p:nvSpPr>
          <p:cNvPr id="14" name="标题 1">
            <a:extLst>
              <a:ext uri="{FF2B5EF4-FFF2-40B4-BE49-F238E27FC236}">
                <a16:creationId xmlns:a16="http://schemas.microsoft.com/office/drawing/2014/main" id="{FCA37FD3-5243-8A86-432C-BF8B569AB95F}"/>
              </a:ext>
            </a:extLst>
          </p:cNvPr>
          <p:cNvSpPr txBox="1"/>
          <p:nvPr/>
        </p:nvSpPr>
        <p:spPr>
          <a:xfrm>
            <a:off x="6321462" y="4041140"/>
            <a:ext cx="2847938" cy="484116"/>
          </a:xfrm>
          <a:prstGeom prst="rect">
            <a:avLst/>
          </a:prstGeom>
          <a:noFill/>
          <a:ln>
            <a:noFill/>
          </a:ln>
        </p:spPr>
        <p:txBody>
          <a:bodyPr vert="horz" wrap="square" lIns="91440" tIns="45720" rIns="91440" bIns="45720" rtlCol="0" anchor="ctr"/>
          <a:lstStyle/>
          <a:p>
            <a:pPr algn="ctr"/>
            <a:r>
              <a:rPr kumimoji="1" lang="en-US" altLang="zh-CN" sz="1600">
                <a:ln w="12700">
                  <a:noFill/>
                </a:ln>
                <a:solidFill>
                  <a:schemeClr val="tx1">
                    <a:lumMod val="75000"/>
                    <a:lumOff val="25000"/>
                  </a:schemeClr>
                </a:solidFill>
                <a:latin typeface="Source Han Sans CN Bold"/>
                <a:ea typeface="Source Han Sans CN Bold"/>
                <a:cs typeface="Source Han Sans CN Bold"/>
              </a:rPr>
              <a:t>语音合成与智能音箱</a:t>
            </a:r>
            <a:endParaRPr kumimoji="1" lang="zh-CN" altLang="en-US"/>
          </a:p>
        </p:txBody>
      </p:sp>
      <p:sp>
        <p:nvSpPr>
          <p:cNvPr id="15" name="标题 1">
            <a:extLst>
              <a:ext uri="{FF2B5EF4-FFF2-40B4-BE49-F238E27FC236}">
                <a16:creationId xmlns:a16="http://schemas.microsoft.com/office/drawing/2014/main" id="{94CBBDB2-2F62-1299-8AE6-8C13E3764F63}"/>
              </a:ext>
            </a:extLst>
          </p:cNvPr>
          <p:cNvSpPr txBox="1"/>
          <p:nvPr/>
        </p:nvSpPr>
        <p:spPr>
          <a:xfrm>
            <a:off x="6321462" y="4643634"/>
            <a:ext cx="2851544" cy="1642866"/>
          </a:xfrm>
          <a:prstGeom prst="rect">
            <a:avLst/>
          </a:prstGeom>
          <a:noFill/>
          <a:ln>
            <a:noFill/>
          </a:ln>
        </p:spPr>
        <p:txBody>
          <a:bodyPr vert="horz" wrap="square" lIns="91440" tIns="45720" rIns="91440" bIns="45720" rtlCol="0" anchor="t"/>
          <a:lstStyle/>
          <a:p>
            <a:pPr algn="ctr"/>
            <a:r>
              <a:rPr kumimoji="1" lang="en-US" altLang="zh-CN" sz="1400">
                <a:ln w="12700">
                  <a:noFill/>
                </a:ln>
                <a:solidFill>
                  <a:schemeClr val="tx1">
                    <a:lumMod val="75000"/>
                    <a:lumOff val="25000"/>
                  </a:schemeClr>
                </a:solidFill>
                <a:latin typeface="Source Han Sans"/>
                <a:ea typeface="Source Han Sans"/>
                <a:cs typeface="Source Han Sans"/>
              </a:rPr>
              <a:t>语音合成使用AI大模型生成自然流畅的语音信号，实现文本到语音的转换。
智能音箱利用语音合成技术提供智能语音交互和音乐播放等服务。
这些应用可以用于智能助理、语音导航等方面。</a:t>
            </a:r>
            <a:endParaRPr kumimoji="1" lang="zh-CN" altLang="en-US"/>
          </a:p>
        </p:txBody>
      </p:sp>
      <p:sp>
        <p:nvSpPr>
          <p:cNvPr id="16" name="标题 1">
            <a:extLst>
              <a:ext uri="{FF2B5EF4-FFF2-40B4-BE49-F238E27FC236}">
                <a16:creationId xmlns:a16="http://schemas.microsoft.com/office/drawing/2014/main" id="{42094D32-59C3-87CD-9ED2-A298A6E7E08A}"/>
              </a:ext>
            </a:extLst>
          </p:cNvPr>
          <p:cNvSpPr txBox="1"/>
          <p:nvPr/>
        </p:nvSpPr>
        <p:spPr>
          <a:xfrm flipH="1">
            <a:off x="0" y="0"/>
            <a:ext cx="1008000" cy="1008000"/>
          </a:xfrm>
          <a:custGeom>
            <a:avLst/>
            <a:gdLst>
              <a:gd name="connsiteX0" fmla="*/ 1008000 w 1008000"/>
              <a:gd name="connsiteY0" fmla="*/ 0 h 1008000"/>
              <a:gd name="connsiteX1" fmla="*/ 870392 w 1008000"/>
              <a:gd name="connsiteY1" fmla="*/ 0 h 1008000"/>
              <a:gd name="connsiteX2" fmla="*/ 713360 w 1008000"/>
              <a:gd name="connsiteY2" fmla="*/ 0 h 1008000"/>
              <a:gd name="connsiteX3" fmla="*/ 48404 w 1008000"/>
              <a:gd name="connsiteY3" fmla="*/ 0 h 1008000"/>
              <a:gd name="connsiteX4" fmla="*/ 14261 w 1008000"/>
              <a:gd name="connsiteY4" fmla="*/ 82628 h 1008000"/>
              <a:gd name="connsiteX5" fmla="*/ 765717 w 1008000"/>
              <a:gd name="connsiteY5" fmla="*/ 836017 h 1008000"/>
              <a:gd name="connsiteX6" fmla="*/ 772508 w 1008000"/>
              <a:gd name="connsiteY6" fmla="*/ 841197 h 1008000"/>
              <a:gd name="connsiteX7" fmla="*/ 776419 w 1008000"/>
              <a:gd name="connsiteY7" fmla="*/ 844157 h 1008000"/>
              <a:gd name="connsiteX8" fmla="*/ 925586 w 1008000"/>
              <a:gd name="connsiteY8" fmla="*/ 993725 h 1008000"/>
              <a:gd name="connsiteX9" fmla="*/ 1008000 w 1008000"/>
              <a:gd name="connsiteY9" fmla="*/ 959508 h 1008000"/>
              <a:gd name="connsiteX10" fmla="*/ 1008000 w 1008000"/>
              <a:gd name="connsiteY10" fmla="*/ 294640 h 1008000"/>
              <a:gd name="connsiteX11" fmla="*/ 1008000 w 1008000"/>
              <a:gd name="connsiteY11" fmla="*/ 137994 h 1008000"/>
            </a:gdLst>
            <a:ahLst/>
            <a:cxnLst/>
            <a:rect l="l" t="t" r="r" b="b"/>
            <a:pathLst>
              <a:path w="1008000" h="1008000">
                <a:moveTo>
                  <a:pt x="1008000" y="0"/>
                </a:moveTo>
                <a:lnTo>
                  <a:pt x="870392" y="0"/>
                </a:lnTo>
                <a:lnTo>
                  <a:pt x="713360" y="0"/>
                </a:lnTo>
                <a:lnTo>
                  <a:pt x="48404" y="0"/>
                </a:lnTo>
                <a:cubicBezTo>
                  <a:pt x="5389" y="0"/>
                  <a:pt x="-16207" y="52140"/>
                  <a:pt x="14261" y="82628"/>
                </a:cubicBezTo>
                <a:lnTo>
                  <a:pt x="765717" y="836017"/>
                </a:lnTo>
                <a:cubicBezTo>
                  <a:pt x="767729" y="838052"/>
                  <a:pt x="770016" y="839795"/>
                  <a:pt x="772508" y="841197"/>
                </a:cubicBezTo>
                <a:cubicBezTo>
                  <a:pt x="773944" y="841993"/>
                  <a:pt x="775262" y="842990"/>
                  <a:pt x="776419" y="844157"/>
                </a:cubicBezTo>
                <a:lnTo>
                  <a:pt x="925586" y="993725"/>
                </a:lnTo>
                <a:cubicBezTo>
                  <a:pt x="955995" y="1024227"/>
                  <a:pt x="1008000" y="1002605"/>
                  <a:pt x="1008000" y="959508"/>
                </a:cubicBezTo>
                <a:lnTo>
                  <a:pt x="1008000" y="294640"/>
                </a:lnTo>
                <a:lnTo>
                  <a:pt x="1008000" y="137994"/>
                </a:lnTo>
                <a:close/>
              </a:path>
            </a:pathLst>
          </a:custGeom>
          <a:solidFill>
            <a:schemeClr val="accent1"/>
          </a:solidFill>
          <a:ln w="3584" cap="flat">
            <a:noFill/>
            <a:miter/>
          </a:ln>
          <a:effectLst>
            <a:outerShdw blurRad="317500" dist="190500" dir="8100000" algn="tr" rotWithShape="0">
              <a:schemeClr val="tx1">
                <a:lumMod val="50000"/>
                <a:lumOff val="50000"/>
                <a:alpha val="30000"/>
              </a:schemeClr>
            </a:outerShdw>
          </a:effectLst>
        </p:spPr>
        <p:txBody>
          <a:bodyPr vert="horz" wrap="square" lIns="91440" tIns="45720" rIns="91440" bIns="45720" rtlCol="0" anchor="ctr"/>
          <a:lstStyle/>
          <a:p>
            <a:pPr algn="l"/>
            <a:endParaRPr kumimoji="1" lang="zh-CN" altLang="en-US"/>
          </a:p>
        </p:txBody>
      </p:sp>
      <p:sp>
        <p:nvSpPr>
          <p:cNvPr id="17" name="标题 1">
            <a:extLst>
              <a:ext uri="{FF2B5EF4-FFF2-40B4-BE49-F238E27FC236}">
                <a16:creationId xmlns:a16="http://schemas.microsoft.com/office/drawing/2014/main" id="{A4FABCE0-519F-EA93-94A1-56D9F44D83BB}"/>
              </a:ext>
            </a:extLst>
          </p:cNvPr>
          <p:cNvSpPr txBox="1"/>
          <p:nvPr/>
        </p:nvSpPr>
        <p:spPr>
          <a:xfrm>
            <a:off x="855292" y="420464"/>
            <a:ext cx="10567087" cy="432000"/>
          </a:xfrm>
          <a:prstGeom prst="rect">
            <a:avLst/>
          </a:prstGeom>
          <a:noFill/>
          <a:ln>
            <a:noFill/>
          </a:ln>
        </p:spPr>
        <p:txBody>
          <a:bodyPr vert="horz" wrap="square" lIns="0" tIns="0" rIns="0" bIns="0" rtlCol="0" anchor="ctr"/>
          <a:lstStyle/>
          <a:p>
            <a:pPr algn="l"/>
            <a:r>
              <a:rPr kumimoji="1" lang="en-US" altLang="zh-CN" sz="3200">
                <a:ln w="12700">
                  <a:noFill/>
                </a:ln>
                <a:solidFill>
                  <a:schemeClr val="tx1">
                    <a:lumMod val="85000"/>
                    <a:lumOff val="15000"/>
                  </a:schemeClr>
                </a:solidFill>
                <a:latin typeface="Source Han Sans CN Bold"/>
                <a:ea typeface="Source Han Sans CN Bold"/>
                <a:cs typeface="Source Han Sans CN Bold"/>
              </a:rPr>
              <a:t>语音识别与语音生成</a:t>
            </a:r>
            <a:endParaRPr kumimoji="1" lang="zh-CN" altLang="en-US"/>
          </a:p>
        </p:txBody>
      </p:sp>
    </p:spTree>
    <p:extLst>
      <p:ext uri="{BB962C8B-B14F-4D97-AF65-F5344CB8AC3E}">
        <p14:creationId xmlns:p14="http://schemas.microsoft.com/office/powerpoint/2010/main" val="37807589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394CF-A1AD-CD57-50A3-136A71D28D94}"/>
              </a:ext>
            </a:extLst>
          </p:cNvPr>
          <p:cNvSpPr>
            <a:spLocks noGrp="1"/>
          </p:cNvSpPr>
          <p:nvPr>
            <p:ph type="title"/>
          </p:nvPr>
        </p:nvSpPr>
        <p:spPr/>
        <p:txBody>
          <a:bodyPr>
            <a:normAutofit fontScale="90000"/>
          </a:bodyPr>
          <a:lstStyle/>
          <a:p>
            <a:endParaRPr lang="zh-CN" altLang="en-US"/>
          </a:p>
        </p:txBody>
      </p:sp>
      <p:sp>
        <p:nvSpPr>
          <p:cNvPr id="3" name="标题 1">
            <a:extLst>
              <a:ext uri="{FF2B5EF4-FFF2-40B4-BE49-F238E27FC236}">
                <a16:creationId xmlns:a16="http://schemas.microsoft.com/office/drawing/2014/main" id="{F8063C36-792C-BC85-7E95-334E2D48ED51}"/>
              </a:ext>
            </a:extLst>
          </p:cNvPr>
          <p:cNvSpPr txBox="1"/>
          <p:nvPr/>
        </p:nvSpPr>
        <p:spPr>
          <a:xfrm>
            <a:off x="3432676" y="1584157"/>
            <a:ext cx="7491663" cy="1467855"/>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a:extLst>
              <a:ext uri="{FF2B5EF4-FFF2-40B4-BE49-F238E27FC236}">
                <a16:creationId xmlns:a16="http://schemas.microsoft.com/office/drawing/2014/main" id="{20114BC0-E50C-007B-6318-11F2B2458862}"/>
              </a:ext>
            </a:extLst>
          </p:cNvPr>
          <p:cNvSpPr txBox="1"/>
          <p:nvPr/>
        </p:nvSpPr>
        <p:spPr>
          <a:xfrm>
            <a:off x="1315117" y="1207168"/>
            <a:ext cx="2221834" cy="2221832"/>
          </a:xfrm>
          <a:prstGeom prst="plus">
            <a:avLst>
              <a:gd name="adj" fmla="val 13085"/>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pic>
        <p:nvPicPr>
          <p:cNvPr id="5" name="图片 4">
            <a:extLst>
              <a:ext uri="{FF2B5EF4-FFF2-40B4-BE49-F238E27FC236}">
                <a16:creationId xmlns:a16="http://schemas.microsoft.com/office/drawing/2014/main" id="{EE436314-45F1-E584-BB35-2D5379C97E61}"/>
              </a:ext>
            </a:extLst>
          </p:cNvPr>
          <p:cNvPicPr>
            <a:picLocks noChangeAspect="1"/>
          </p:cNvPicPr>
          <p:nvPr/>
        </p:nvPicPr>
        <p:blipFill>
          <a:blip r:embed="rId2">
            <a:alphaModFix/>
          </a:blip>
          <a:srcRect/>
          <a:stretch>
            <a:fillRect/>
          </a:stretch>
        </p:blipFill>
        <p:spPr>
          <a:xfrm>
            <a:off x="1483561" y="1375611"/>
            <a:ext cx="1884947" cy="1884947"/>
          </a:xfrm>
          <a:prstGeom prst="rect">
            <a:avLst/>
          </a:prstGeom>
        </p:spPr>
      </p:pic>
      <p:sp>
        <p:nvSpPr>
          <p:cNvPr id="6" name="标题 1">
            <a:extLst>
              <a:ext uri="{FF2B5EF4-FFF2-40B4-BE49-F238E27FC236}">
                <a16:creationId xmlns:a16="http://schemas.microsoft.com/office/drawing/2014/main" id="{3ED05B74-AF70-F70F-43FE-624CF49AF5B1}"/>
              </a:ext>
            </a:extLst>
          </p:cNvPr>
          <p:cNvSpPr txBox="1"/>
          <p:nvPr/>
        </p:nvSpPr>
        <p:spPr>
          <a:xfrm flipV="1">
            <a:off x="10924339" y="1291389"/>
            <a:ext cx="208548" cy="208548"/>
          </a:xfrm>
          <a:prstGeom prst="plus">
            <a:avLst>
              <a:gd name="adj" fmla="val 38335"/>
            </a:avLst>
          </a:prstGeom>
          <a:solidFill>
            <a:schemeClr val="bg1"/>
          </a:solidFill>
          <a:ln w="12700" cap="sq">
            <a:solidFill>
              <a:schemeClr val="accent1">
                <a:lumMod val="60000"/>
                <a:lumOff val="40000"/>
              </a:schemeClr>
            </a:solidFill>
            <a:miter/>
          </a:ln>
        </p:spPr>
        <p:txBody>
          <a:bodyPr vert="horz" wrap="square" lIns="91440" tIns="45720" rIns="91440" bIns="45720" rtlCol="0" anchor="ctr"/>
          <a:lstStyle/>
          <a:p>
            <a:pPr algn="ctr"/>
            <a:endParaRPr kumimoji="1" lang="zh-CN" altLang="en-US"/>
          </a:p>
        </p:txBody>
      </p:sp>
      <p:sp>
        <p:nvSpPr>
          <p:cNvPr id="7" name="标题 1">
            <a:extLst>
              <a:ext uri="{FF2B5EF4-FFF2-40B4-BE49-F238E27FC236}">
                <a16:creationId xmlns:a16="http://schemas.microsoft.com/office/drawing/2014/main" id="{E3D69A8B-31E6-830A-0A90-749F0DC4B4AE}"/>
              </a:ext>
            </a:extLst>
          </p:cNvPr>
          <p:cNvSpPr txBox="1"/>
          <p:nvPr/>
        </p:nvSpPr>
        <p:spPr>
          <a:xfrm flipV="1">
            <a:off x="1046413" y="3156284"/>
            <a:ext cx="208548" cy="208548"/>
          </a:xfrm>
          <a:prstGeom prst="plus">
            <a:avLst>
              <a:gd name="adj" fmla="val 38335"/>
            </a:avLst>
          </a:prstGeom>
          <a:solidFill>
            <a:schemeClr val="bg1"/>
          </a:solidFill>
          <a:ln w="12700" cap="sq">
            <a:solidFill>
              <a:schemeClr val="accent1">
                <a:lumMod val="40000"/>
                <a:lumOff val="60000"/>
              </a:schemeClr>
            </a:solidFill>
            <a:miter/>
          </a:ln>
        </p:spPr>
        <p:txBody>
          <a:bodyPr vert="horz" wrap="square" lIns="91440" tIns="45720" rIns="91440" bIns="45720" rtlCol="0" anchor="ctr"/>
          <a:lstStyle/>
          <a:p>
            <a:pPr algn="ctr"/>
            <a:endParaRPr kumimoji="1" lang="zh-CN" altLang="en-US"/>
          </a:p>
        </p:txBody>
      </p:sp>
      <p:sp>
        <p:nvSpPr>
          <p:cNvPr id="8" name="标题 1">
            <a:extLst>
              <a:ext uri="{FF2B5EF4-FFF2-40B4-BE49-F238E27FC236}">
                <a16:creationId xmlns:a16="http://schemas.microsoft.com/office/drawing/2014/main" id="{1FB4EE56-2CCB-4ABB-5A94-D86D940BAD7A}"/>
              </a:ext>
            </a:extLst>
          </p:cNvPr>
          <p:cNvSpPr txBox="1"/>
          <p:nvPr/>
        </p:nvSpPr>
        <p:spPr>
          <a:xfrm>
            <a:off x="3705394" y="2191752"/>
            <a:ext cx="7082921" cy="826169"/>
          </a:xfrm>
          <a:prstGeom prst="rect">
            <a:avLst/>
          </a:prstGeom>
          <a:noFill/>
          <a:ln cap="sq">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推荐算法利用AI大模型分析用户兴趣和行为，提供个性化的推荐服务。
个性化推荐通过对比用户和商品的特征，进行智能匹配和推荐。
这些应用可以帮助用户发现感兴趣的产品和内容，提升用户体验。</a:t>
            </a:r>
            <a:endParaRPr kumimoji="1" lang="zh-CN" altLang="en-US"/>
          </a:p>
        </p:txBody>
      </p:sp>
      <p:sp>
        <p:nvSpPr>
          <p:cNvPr id="9" name="标题 1">
            <a:extLst>
              <a:ext uri="{FF2B5EF4-FFF2-40B4-BE49-F238E27FC236}">
                <a16:creationId xmlns:a16="http://schemas.microsoft.com/office/drawing/2014/main" id="{881CA857-7B37-AC7C-4958-525002646638}"/>
              </a:ext>
            </a:extLst>
          </p:cNvPr>
          <p:cNvSpPr txBox="1"/>
          <p:nvPr/>
        </p:nvSpPr>
        <p:spPr>
          <a:xfrm>
            <a:off x="3705392" y="1736553"/>
            <a:ext cx="7082919" cy="433139"/>
          </a:xfrm>
          <a:prstGeom prst="rect">
            <a:avLst/>
          </a:prstGeom>
          <a:noFill/>
          <a:ln cap="sq">
            <a:noFill/>
          </a:ln>
        </p:spPr>
        <p:txBody>
          <a:bodyPr vert="horz" wrap="square" lIns="0" tIns="0" rIns="0" bIns="0" rtlCol="0" anchor="b"/>
          <a:lstStyle/>
          <a:p>
            <a:pPr algn="l"/>
            <a:r>
              <a:rPr kumimoji="1" lang="en-US" altLang="zh-CN" sz="1600">
                <a:ln w="12700">
                  <a:noFill/>
                </a:ln>
                <a:solidFill>
                  <a:schemeClr val="accent1"/>
                </a:solidFill>
                <a:latin typeface="Source Han Sans CN Bold"/>
                <a:ea typeface="Source Han Sans CN Bold"/>
                <a:cs typeface="Source Han Sans CN Bold"/>
              </a:rPr>
              <a:t>推荐算法与个性化推荐</a:t>
            </a:r>
            <a:endParaRPr kumimoji="1" lang="zh-CN" altLang="en-US"/>
          </a:p>
        </p:txBody>
      </p:sp>
      <p:sp>
        <p:nvSpPr>
          <p:cNvPr id="10" name="标题 1">
            <a:extLst>
              <a:ext uri="{FF2B5EF4-FFF2-40B4-BE49-F238E27FC236}">
                <a16:creationId xmlns:a16="http://schemas.microsoft.com/office/drawing/2014/main" id="{149363AA-521F-0D26-25C5-19671B347FDF}"/>
              </a:ext>
            </a:extLst>
          </p:cNvPr>
          <p:cNvSpPr txBox="1"/>
          <p:nvPr/>
        </p:nvSpPr>
        <p:spPr>
          <a:xfrm>
            <a:off x="3432676" y="4223088"/>
            <a:ext cx="7491663" cy="1467855"/>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1" name="标题 1">
            <a:extLst>
              <a:ext uri="{FF2B5EF4-FFF2-40B4-BE49-F238E27FC236}">
                <a16:creationId xmlns:a16="http://schemas.microsoft.com/office/drawing/2014/main" id="{235AEFB7-86E7-425F-C38A-B179AEC3C5A1}"/>
              </a:ext>
            </a:extLst>
          </p:cNvPr>
          <p:cNvSpPr txBox="1"/>
          <p:nvPr/>
        </p:nvSpPr>
        <p:spPr>
          <a:xfrm>
            <a:off x="1315117" y="3846099"/>
            <a:ext cx="2221834" cy="2221832"/>
          </a:xfrm>
          <a:prstGeom prst="plus">
            <a:avLst>
              <a:gd name="adj" fmla="val 13085"/>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pic>
        <p:nvPicPr>
          <p:cNvPr id="12" name="图片 11">
            <a:extLst>
              <a:ext uri="{FF2B5EF4-FFF2-40B4-BE49-F238E27FC236}">
                <a16:creationId xmlns:a16="http://schemas.microsoft.com/office/drawing/2014/main" id="{F103B4DE-FF63-4DB9-69CE-DE72279E7295}"/>
              </a:ext>
            </a:extLst>
          </p:cNvPr>
          <p:cNvPicPr>
            <a:picLocks noChangeAspect="1"/>
          </p:cNvPicPr>
          <p:nvPr/>
        </p:nvPicPr>
        <p:blipFill>
          <a:blip r:embed="rId2">
            <a:alphaModFix/>
          </a:blip>
          <a:srcRect/>
          <a:stretch>
            <a:fillRect/>
          </a:stretch>
        </p:blipFill>
        <p:spPr>
          <a:xfrm>
            <a:off x="1483561" y="4014542"/>
            <a:ext cx="1884947" cy="1884947"/>
          </a:xfrm>
          <a:prstGeom prst="rect">
            <a:avLst/>
          </a:prstGeom>
        </p:spPr>
      </p:pic>
      <p:sp>
        <p:nvSpPr>
          <p:cNvPr id="13" name="标题 1">
            <a:extLst>
              <a:ext uri="{FF2B5EF4-FFF2-40B4-BE49-F238E27FC236}">
                <a16:creationId xmlns:a16="http://schemas.microsoft.com/office/drawing/2014/main" id="{29C482BD-263D-FE6F-D972-DF7D63086E32}"/>
              </a:ext>
            </a:extLst>
          </p:cNvPr>
          <p:cNvSpPr txBox="1"/>
          <p:nvPr/>
        </p:nvSpPr>
        <p:spPr>
          <a:xfrm flipV="1">
            <a:off x="10924339" y="3930320"/>
            <a:ext cx="208548" cy="208548"/>
          </a:xfrm>
          <a:prstGeom prst="plus">
            <a:avLst>
              <a:gd name="adj" fmla="val 38335"/>
            </a:avLst>
          </a:prstGeom>
          <a:solidFill>
            <a:schemeClr val="bg1"/>
          </a:solidFill>
          <a:ln w="12700" cap="sq">
            <a:solidFill>
              <a:schemeClr val="accent1">
                <a:lumMod val="60000"/>
                <a:lumOff val="40000"/>
              </a:schemeClr>
            </a:solidFill>
            <a:miter/>
          </a:ln>
        </p:spPr>
        <p:txBody>
          <a:bodyPr vert="horz" wrap="square" lIns="91440" tIns="45720" rIns="91440" bIns="45720" rtlCol="0" anchor="ctr"/>
          <a:lstStyle/>
          <a:p>
            <a:pPr algn="ctr"/>
            <a:endParaRPr kumimoji="1" lang="zh-CN" altLang="en-US"/>
          </a:p>
        </p:txBody>
      </p:sp>
      <p:sp>
        <p:nvSpPr>
          <p:cNvPr id="14" name="标题 1">
            <a:extLst>
              <a:ext uri="{FF2B5EF4-FFF2-40B4-BE49-F238E27FC236}">
                <a16:creationId xmlns:a16="http://schemas.microsoft.com/office/drawing/2014/main" id="{2BFDC79E-0B6A-1045-5307-644C5866CDD7}"/>
              </a:ext>
            </a:extLst>
          </p:cNvPr>
          <p:cNvSpPr txBox="1"/>
          <p:nvPr/>
        </p:nvSpPr>
        <p:spPr>
          <a:xfrm flipV="1">
            <a:off x="1046413" y="5795215"/>
            <a:ext cx="208548" cy="208548"/>
          </a:xfrm>
          <a:prstGeom prst="plus">
            <a:avLst>
              <a:gd name="adj" fmla="val 38335"/>
            </a:avLst>
          </a:prstGeom>
          <a:solidFill>
            <a:schemeClr val="bg1"/>
          </a:solidFill>
          <a:ln w="12700" cap="sq">
            <a:solidFill>
              <a:schemeClr val="accent1">
                <a:lumMod val="40000"/>
                <a:lumOff val="60000"/>
              </a:schemeClr>
            </a:solidFill>
            <a:miter/>
          </a:ln>
        </p:spPr>
        <p:txBody>
          <a:bodyPr vert="horz" wrap="square" lIns="91440" tIns="45720" rIns="91440" bIns="45720" rtlCol="0" anchor="ctr"/>
          <a:lstStyle/>
          <a:p>
            <a:pPr algn="ctr"/>
            <a:endParaRPr kumimoji="1" lang="zh-CN" altLang="en-US"/>
          </a:p>
        </p:txBody>
      </p:sp>
      <p:sp>
        <p:nvSpPr>
          <p:cNvPr id="15" name="标题 1">
            <a:extLst>
              <a:ext uri="{FF2B5EF4-FFF2-40B4-BE49-F238E27FC236}">
                <a16:creationId xmlns:a16="http://schemas.microsoft.com/office/drawing/2014/main" id="{F82AA0A9-D21A-2D48-C353-D857F37B92D3}"/>
              </a:ext>
            </a:extLst>
          </p:cNvPr>
          <p:cNvSpPr txBox="1"/>
          <p:nvPr/>
        </p:nvSpPr>
        <p:spPr>
          <a:xfrm>
            <a:off x="3705394" y="4830683"/>
            <a:ext cx="7082921" cy="826169"/>
          </a:xfrm>
          <a:prstGeom prst="rect">
            <a:avLst/>
          </a:prstGeom>
          <a:noFill/>
          <a:ln cap="sq">
            <a:noFill/>
          </a:ln>
        </p:spPr>
        <p:txBody>
          <a:bodyPr vert="horz" wrap="square" lIns="0" tIns="0" rIns="0" bIns="0" rtlCol="0" anchor="t"/>
          <a:lstStyle/>
          <a:p>
            <a:pPr algn="l"/>
            <a:r>
              <a:rPr kumimoji="1" lang="en-US" altLang="zh-CN" sz="1400">
                <a:ln w="12700">
                  <a:noFill/>
                </a:ln>
                <a:solidFill>
                  <a:schemeClr val="tx1">
                    <a:lumMod val="85000"/>
                    <a:lumOff val="15000"/>
                  </a:schemeClr>
                </a:solidFill>
                <a:latin typeface="Source Han Sans"/>
                <a:ea typeface="Source Han Sans"/>
                <a:cs typeface="Source Han Sans"/>
              </a:rPr>
              <a:t>智能广告利用AI大模型分析用户画像和广告内容，进行精准广告投放和推荐。
内容推荐根据用户的兴趣和行为，提供个性化的内容推荐。
这些应用可以提高广告效果和内容传播效果，满足用户和广告主的需求。</a:t>
            </a:r>
            <a:endParaRPr kumimoji="1" lang="zh-CN" altLang="en-US"/>
          </a:p>
        </p:txBody>
      </p:sp>
      <p:sp>
        <p:nvSpPr>
          <p:cNvPr id="16" name="标题 1">
            <a:extLst>
              <a:ext uri="{FF2B5EF4-FFF2-40B4-BE49-F238E27FC236}">
                <a16:creationId xmlns:a16="http://schemas.microsoft.com/office/drawing/2014/main" id="{2773F785-4E5D-A64E-FCEA-A9C1A4E4C7BE}"/>
              </a:ext>
            </a:extLst>
          </p:cNvPr>
          <p:cNvSpPr txBox="1"/>
          <p:nvPr/>
        </p:nvSpPr>
        <p:spPr>
          <a:xfrm>
            <a:off x="3705392" y="4375484"/>
            <a:ext cx="7082919" cy="433139"/>
          </a:xfrm>
          <a:prstGeom prst="rect">
            <a:avLst/>
          </a:prstGeom>
          <a:noFill/>
          <a:ln cap="sq">
            <a:noFill/>
          </a:ln>
        </p:spPr>
        <p:txBody>
          <a:bodyPr vert="horz" wrap="square" lIns="0" tIns="0" rIns="0" bIns="0" rtlCol="0" anchor="b"/>
          <a:lstStyle/>
          <a:p>
            <a:pPr algn="l"/>
            <a:r>
              <a:rPr kumimoji="1" lang="en-US" altLang="zh-CN" sz="1600">
                <a:ln w="12700">
                  <a:noFill/>
                </a:ln>
                <a:solidFill>
                  <a:schemeClr val="accent1"/>
                </a:solidFill>
                <a:latin typeface="Source Han Sans CN Bold"/>
                <a:ea typeface="Source Han Sans CN Bold"/>
                <a:cs typeface="Source Han Sans CN Bold"/>
              </a:rPr>
              <a:t>智能广告与内容推荐</a:t>
            </a:r>
            <a:endParaRPr kumimoji="1" lang="zh-CN" altLang="en-US"/>
          </a:p>
        </p:txBody>
      </p:sp>
      <p:sp>
        <p:nvSpPr>
          <p:cNvPr id="17" name="标题 1">
            <a:extLst>
              <a:ext uri="{FF2B5EF4-FFF2-40B4-BE49-F238E27FC236}">
                <a16:creationId xmlns:a16="http://schemas.microsoft.com/office/drawing/2014/main" id="{14EFCF7C-34A7-DFCE-4332-DB8487F51444}"/>
              </a:ext>
            </a:extLst>
          </p:cNvPr>
          <p:cNvSpPr txBox="1"/>
          <p:nvPr/>
        </p:nvSpPr>
        <p:spPr>
          <a:xfrm flipH="1">
            <a:off x="0" y="0"/>
            <a:ext cx="1008000" cy="1008000"/>
          </a:xfrm>
          <a:custGeom>
            <a:avLst/>
            <a:gdLst>
              <a:gd name="connsiteX0" fmla="*/ 1008000 w 1008000"/>
              <a:gd name="connsiteY0" fmla="*/ 0 h 1008000"/>
              <a:gd name="connsiteX1" fmla="*/ 870392 w 1008000"/>
              <a:gd name="connsiteY1" fmla="*/ 0 h 1008000"/>
              <a:gd name="connsiteX2" fmla="*/ 713360 w 1008000"/>
              <a:gd name="connsiteY2" fmla="*/ 0 h 1008000"/>
              <a:gd name="connsiteX3" fmla="*/ 48404 w 1008000"/>
              <a:gd name="connsiteY3" fmla="*/ 0 h 1008000"/>
              <a:gd name="connsiteX4" fmla="*/ 14261 w 1008000"/>
              <a:gd name="connsiteY4" fmla="*/ 82628 h 1008000"/>
              <a:gd name="connsiteX5" fmla="*/ 765717 w 1008000"/>
              <a:gd name="connsiteY5" fmla="*/ 836017 h 1008000"/>
              <a:gd name="connsiteX6" fmla="*/ 772508 w 1008000"/>
              <a:gd name="connsiteY6" fmla="*/ 841197 h 1008000"/>
              <a:gd name="connsiteX7" fmla="*/ 776419 w 1008000"/>
              <a:gd name="connsiteY7" fmla="*/ 844157 h 1008000"/>
              <a:gd name="connsiteX8" fmla="*/ 925586 w 1008000"/>
              <a:gd name="connsiteY8" fmla="*/ 993725 h 1008000"/>
              <a:gd name="connsiteX9" fmla="*/ 1008000 w 1008000"/>
              <a:gd name="connsiteY9" fmla="*/ 959508 h 1008000"/>
              <a:gd name="connsiteX10" fmla="*/ 1008000 w 1008000"/>
              <a:gd name="connsiteY10" fmla="*/ 294640 h 1008000"/>
              <a:gd name="connsiteX11" fmla="*/ 1008000 w 1008000"/>
              <a:gd name="connsiteY11" fmla="*/ 137994 h 1008000"/>
            </a:gdLst>
            <a:ahLst/>
            <a:cxnLst/>
            <a:rect l="l" t="t" r="r" b="b"/>
            <a:pathLst>
              <a:path w="1008000" h="1008000">
                <a:moveTo>
                  <a:pt x="1008000" y="0"/>
                </a:moveTo>
                <a:lnTo>
                  <a:pt x="870392" y="0"/>
                </a:lnTo>
                <a:lnTo>
                  <a:pt x="713360" y="0"/>
                </a:lnTo>
                <a:lnTo>
                  <a:pt x="48404" y="0"/>
                </a:lnTo>
                <a:cubicBezTo>
                  <a:pt x="5389" y="0"/>
                  <a:pt x="-16207" y="52140"/>
                  <a:pt x="14261" y="82628"/>
                </a:cubicBezTo>
                <a:lnTo>
                  <a:pt x="765717" y="836017"/>
                </a:lnTo>
                <a:cubicBezTo>
                  <a:pt x="767729" y="838052"/>
                  <a:pt x="770016" y="839795"/>
                  <a:pt x="772508" y="841197"/>
                </a:cubicBezTo>
                <a:cubicBezTo>
                  <a:pt x="773944" y="841993"/>
                  <a:pt x="775262" y="842990"/>
                  <a:pt x="776419" y="844157"/>
                </a:cubicBezTo>
                <a:lnTo>
                  <a:pt x="925586" y="993725"/>
                </a:lnTo>
                <a:cubicBezTo>
                  <a:pt x="955995" y="1024227"/>
                  <a:pt x="1008000" y="1002605"/>
                  <a:pt x="1008000" y="959508"/>
                </a:cubicBezTo>
                <a:lnTo>
                  <a:pt x="1008000" y="294640"/>
                </a:lnTo>
                <a:lnTo>
                  <a:pt x="1008000" y="137994"/>
                </a:lnTo>
                <a:close/>
              </a:path>
            </a:pathLst>
          </a:custGeom>
          <a:solidFill>
            <a:schemeClr val="accent1"/>
          </a:solidFill>
          <a:ln w="3584" cap="flat">
            <a:noFill/>
            <a:miter/>
          </a:ln>
          <a:effectLst>
            <a:outerShdw blurRad="317500" dist="190500" dir="8100000" algn="tr" rotWithShape="0">
              <a:schemeClr val="tx1">
                <a:lumMod val="50000"/>
                <a:lumOff val="50000"/>
                <a:alpha val="30000"/>
              </a:schemeClr>
            </a:outerShdw>
          </a:effectLst>
        </p:spPr>
        <p:txBody>
          <a:bodyPr vert="horz" wrap="square" lIns="91440" tIns="45720" rIns="91440" bIns="45720" rtlCol="0" anchor="ctr"/>
          <a:lstStyle/>
          <a:p>
            <a:pPr algn="l"/>
            <a:endParaRPr kumimoji="1" lang="zh-CN" altLang="en-US"/>
          </a:p>
        </p:txBody>
      </p:sp>
      <p:sp>
        <p:nvSpPr>
          <p:cNvPr id="18" name="标题 1">
            <a:extLst>
              <a:ext uri="{FF2B5EF4-FFF2-40B4-BE49-F238E27FC236}">
                <a16:creationId xmlns:a16="http://schemas.microsoft.com/office/drawing/2014/main" id="{25F9EF2B-B8B6-995C-554D-CB2633AC81FF}"/>
              </a:ext>
            </a:extLst>
          </p:cNvPr>
          <p:cNvSpPr txBox="1"/>
          <p:nvPr/>
        </p:nvSpPr>
        <p:spPr>
          <a:xfrm>
            <a:off x="855292" y="420464"/>
            <a:ext cx="10567087" cy="432000"/>
          </a:xfrm>
          <a:prstGeom prst="rect">
            <a:avLst/>
          </a:prstGeom>
          <a:noFill/>
          <a:ln>
            <a:noFill/>
          </a:ln>
        </p:spPr>
        <p:txBody>
          <a:bodyPr vert="horz" wrap="square" lIns="0" tIns="0" rIns="0" bIns="0" rtlCol="0" anchor="ctr"/>
          <a:lstStyle/>
          <a:p>
            <a:pPr algn="l"/>
            <a:r>
              <a:rPr kumimoji="1" lang="en-US" altLang="zh-CN" sz="3200">
                <a:ln w="12700">
                  <a:noFill/>
                </a:ln>
                <a:solidFill>
                  <a:schemeClr val="tx1">
                    <a:lumMod val="85000"/>
                    <a:lumOff val="15000"/>
                  </a:schemeClr>
                </a:solidFill>
                <a:latin typeface="Source Han Sans CN Bold"/>
                <a:ea typeface="Source Han Sans CN Bold"/>
                <a:cs typeface="Source Han Sans CN Bold"/>
              </a:rPr>
              <a:t>智能推荐与个性化服务</a:t>
            </a:r>
            <a:endParaRPr kumimoji="1" lang="zh-CN" altLang="en-US"/>
          </a:p>
        </p:txBody>
      </p:sp>
    </p:spTree>
    <p:extLst>
      <p:ext uri="{BB962C8B-B14F-4D97-AF65-F5344CB8AC3E}">
        <p14:creationId xmlns:p14="http://schemas.microsoft.com/office/powerpoint/2010/main" val="266490754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81DCD-38A5-FBD1-7239-A3BCD2093525}"/>
              </a:ext>
            </a:extLst>
          </p:cNvPr>
          <p:cNvSpPr>
            <a:spLocks noGrp="1"/>
          </p:cNvSpPr>
          <p:nvPr>
            <p:ph type="title"/>
          </p:nvPr>
        </p:nvSpPr>
        <p:spPr>
          <a:xfrm>
            <a:off x="4149380" y="2520605"/>
            <a:ext cx="3059288" cy="2513034"/>
          </a:xfrm>
        </p:spPr>
        <p:txBody>
          <a:bodyPr>
            <a:noAutofit/>
          </a:bodyPr>
          <a:lstStyle/>
          <a:p>
            <a:r>
              <a:rPr lang="zh-CN" altLang="en-US" sz="5400" dirty="0"/>
              <a:t>谢谢</a:t>
            </a:r>
          </a:p>
        </p:txBody>
      </p:sp>
    </p:spTree>
    <p:extLst>
      <p:ext uri="{BB962C8B-B14F-4D97-AF65-F5344CB8AC3E}">
        <p14:creationId xmlns:p14="http://schemas.microsoft.com/office/powerpoint/2010/main" val="24181297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3884"/>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SUBCATEGORY" val="0"/>
  <p:tag name="KSO_WM_TEMPLATE_MASTER_TYPE" val="1"/>
  <p:tag name="KSO_WM_TEMPLATE_COLOR_TYPE" val="1"/>
  <p:tag name="KSO_WM_TAG_VERSION" val="1.0"/>
  <p:tag name="KSO_WM_BEAUTIFY_FLAG" val="#wm#"/>
  <p:tag name="KSO_WM_TEMPLATE_CATEGORY" val="custom"/>
  <p:tag name="KSO_WM_TEMPLATE_INDEX" val="20203884"/>
  <p:tag name="KSO_WM_TEMPLATE_MASTER_THUMB_INDEX" val="12"/>
  <p:tag name="KSO_WM_TEMPLATE_THUMBS_INDEX" val="1、4、7、8、11、14、15、16、17、18、19、20、21、22、23、24、25、26"/>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4"/>
  <p:tag name="KSO_WM_UNIT_ID" val="_1*y*4"/>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y*5"/>
  <p:tag name="KSO_WM_UNIT_LAYERLEVEL" val="1"/>
  <p:tag name="KSO_WM_TAG_VERSION" val="1.0"/>
  <p:tag name="KSO_WM_BEAUTIFY_FLAG" val="#wm#"/>
  <p:tag name="KSO_WM_UNIT_TYPE" val="y"/>
  <p:tag name="KSO_WM_UNIT_INDEX" val="5"/>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2"/>
  <p:tag name="KSO_WM_UNIT_ID" val="_1*y*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3"/>
  <p:tag name="KSO_WM_UNIT_ID" val="_1*y*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1"/>
  <p:tag name="KSO_WM_UNIT_LAYERLEVEL" val="1"/>
  <p:tag name="KSO_WM_TAG_VERSION" val="1.0"/>
  <p:tag name="KSO_WM_BEAUTIFY_FLAG" val="#wm#"/>
  <p:tag name="KSO_WM_UNIT_TYPE" val="i"/>
  <p:tag name="KSO_WM_UNIT_INDEX" val="1"/>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5"/>
  <p:tag name="KSO_WM_UNIT_LAYERLEVEL" val="1"/>
  <p:tag name="KSO_WM_TAG_VERSION" val="1.0"/>
  <p:tag name="KSO_WM_BEAUTIFY_FLAG" val="#wm#"/>
  <p:tag name="KSO_WM_UNIT_TYPE" val="i"/>
  <p:tag name="KSO_WM_UNIT_INDEX" val="5"/>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2"/>
  <p:tag name="KSO_WM_UNIT_LAYERLEVEL" val="1"/>
  <p:tag name="KSO_WM_TAG_VERSION" val="1.0"/>
  <p:tag name="KSO_WM_BEAUTIFY_FLAG" val="#wm#"/>
  <p:tag name="KSO_WM_UNIT_TYPE" val="i"/>
  <p:tag name="KSO_WM_UNIT_INDEX" val="2"/>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3"/>
  <p:tag name="KSO_WM_UNIT_LAYERLEVEL" val="1"/>
  <p:tag name="KSO_WM_TAG_VERSION" val="1.0"/>
  <p:tag name="KSO_WM_BEAUTIFY_FLAG" val="#wm#"/>
  <p:tag name="KSO_WM_UNIT_TYPE" val="i"/>
  <p:tag name="KSO_WM_UNIT_INDEX" val="3"/>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i*4"/>
  <p:tag name="KSO_WM_UNIT_LAYERLEVEL" val="1"/>
  <p:tag name="KSO_WM_TAG_VERSION" val="1.0"/>
  <p:tag name="KSO_WM_BEAUTIFY_FLAG" val="#wm#"/>
  <p:tag name="KSO_WM_UNIT_TYPE" val="i"/>
  <p:tag name="KSO_WM_UNIT_INDEX" val="4"/>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2*i*2"/>
  <p:tag name="KSO_WM_UNIT_LAYERLEVEL" val="1"/>
  <p:tag name="KSO_WM_TAG_VERSION" val="1.0"/>
  <p:tag name="KSO_WM_BEAUTIFY_FLAG" val="#wm#"/>
  <p:tag name="KSO_WM_SLIDE_BACKGROUND_TYPE" val="general"/>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2*i*3"/>
  <p:tag name="KSO_WM_UNIT_LAYERLEVEL" val="1"/>
  <p:tag name="KSO_WM_TAG_VERSION" val="1.0"/>
  <p:tag name="KSO_WM_BEAUTIFY_FLAG" val="#wm#"/>
  <p:tag name="KSO_WM_SLIDE_BACKGROUND_TYPE" val="general"/>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2*i*4"/>
  <p:tag name="KSO_WM_UNIT_LAYERLEVEL" val="1"/>
  <p:tag name="KSO_WM_TAG_VERSION" val="1.0"/>
  <p:tag name="KSO_WM_BEAUTIFY_FLAG" val="#wm#"/>
  <p:tag name="KSO_WM_SLIDE_BACKGROUND_TYPE" val="general"/>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3*i*1"/>
  <p:tag name="KSO_WM_UNIT_LAYERLEVEL" val="1"/>
  <p:tag name="KSO_WM_TAG_VERSION" val="1.0"/>
  <p:tag name="KSO_WM_BEAUTIFY_FLAG" val="#wm#"/>
  <p:tag name="KSO_WM_UNIT_SUBTYPE" val="h"/>
  <p:tag name="KSO_WM_SLIDE_BACKGROUND_TYPE" val="frame"/>
  <p:tag name="KSO_WM_SLIDE_BK_DARK_LIGHT" val="2"/>
  <p:tag name="KSO_WM_UNIT_BK_DARK_LIGHT" val="2"/>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3*i*2"/>
  <p:tag name="KSO_WM_UNIT_LAYERLEVEL" val="1"/>
  <p:tag name="KSO_WM_TAG_VERSION" val="1.0"/>
  <p:tag name="KSO_WM_BEAUTIFY_FLAG" val="#wm#"/>
  <p:tag name="KSO_WM_SLIDE_BACKGROUND_TYPE" val="frame"/>
  <p:tag name="KSO_WM_SLIDE_BK_DARK_LIGHT" val="2"/>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frame"/>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2"/>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3*i*4"/>
  <p:tag name="KSO_WM_UNIT_LAYERLEVEL" val="1"/>
  <p:tag name="KSO_WM_TAG_VERSION" val="1.0"/>
  <p:tag name="KSO_WM_BEAUTIFY_FLAG" val="#wm#"/>
  <p:tag name="KSO_WM_SLIDE_BACKGROUND_TYPE" val="frame"/>
  <p:tag name="KSO_WM_SLIDE_BK_DARK_LIGHT" val="2"/>
</p:tagLst>
</file>

<file path=ppt/tags/tag114.xml><?xml version="1.0" encoding="utf-8"?>
<p:tagLst xmlns:a="http://schemas.openxmlformats.org/drawingml/2006/main" xmlns:r="http://schemas.openxmlformats.org/officeDocument/2006/relationships" xmlns:p="http://schemas.openxmlformats.org/presentationml/2006/main">
  <p:tag name="KSO_WM_SLIDE_BACKGROUND_TYPE" val="leftRight"/>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4*i*5"/>
  <p:tag name="KSO_WM_UNIT_LAYERLEVEL" val="1"/>
  <p:tag name="KSO_WM_TAG_VERSION" val="1.0"/>
  <p:tag name="KSO_WM_BEAUTIFY_FLAG" val="#wm#"/>
  <p:tag name="KSO_WM_SLIDE_BACKGROUND_TYPE" val="leftRight"/>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i*1"/>
  <p:tag name="KSO_WM_UNIT_LAYERLEVEL" val="1"/>
  <p:tag name="KSO_WM_TAG_VERSION" val="1.0"/>
  <p:tag name="KSO_WM_BEAUTIFY_FLAG" val="#wm#"/>
  <p:tag name="KSO_WM_UNIT_TYPE" val="i"/>
  <p:tag name="KSO_WM_UNIT_INDEX" val="1"/>
  <p:tag name="KSO_WM_UNIT_SUBTYPE" val="h"/>
  <p:tag name="KSO_WM_SLIDE_BACKGROUND_TYPE" val="leftRight"/>
  <p:tag name="KSO_WM_UNIT_BK_DARK_LIGHT" val="2"/>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4*i*2"/>
  <p:tag name="KSO_WM_UNIT_LAYERLEVEL" val="1"/>
  <p:tag name="KSO_WM_TAG_VERSION" val="1.0"/>
  <p:tag name="KSO_WM_BEAUTIFY_FLAG" val="#wm#"/>
  <p:tag name="KSO_WM_SLIDE_BACKGROUND_TYPE" val="leftRight"/>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4*i*3"/>
  <p:tag name="KSO_WM_UNIT_LAYERLEVEL" val="1"/>
  <p:tag name="KSO_WM_TAG_VERSION" val="1.0"/>
  <p:tag name="KSO_WM_BEAUTIFY_FLAG" val="#wm#"/>
  <p:tag name="KSO_WM_SLIDE_BACKGROUND_TYPE" val="leftRight"/>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5*i*2"/>
  <p:tag name="KSO_WM_UNIT_LAYERLEVEL" val="1"/>
  <p:tag name="KSO_WM_TAG_VERSION" val="1.0"/>
  <p:tag name="KSO_WM_BEAUTIFY_FLAG" val="#wm#"/>
  <p:tag name="KSO_WM_SLIDE_BACKGROUND_TYPE" val="topBottom"/>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5*i*3"/>
  <p:tag name="KSO_WM_UNIT_LAYERLEVEL" val="1"/>
  <p:tag name="KSO_WM_TAG_VERSION" val="1.0"/>
  <p:tag name="KSO_WM_BEAUTIFY_FLAG" val="#wm#"/>
  <p:tag name="KSO_WM_SLIDE_BACKGROUND_TYPE" val="topBottom"/>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5*i*4"/>
  <p:tag name="KSO_WM_UNIT_LAYERLEVEL" val="1"/>
  <p:tag name="KSO_WM_TAG_VERSION" val="1.0"/>
  <p:tag name="KSO_WM_BEAUTIFY_FLAG" val="#wm#"/>
  <p:tag name="KSO_WM_SLIDE_BACKGROUND_TYPE" val="topBottom"/>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i*1"/>
  <p:tag name="KSO_WM_UNIT_LAYERLEVEL" val="1"/>
  <p:tag name="KSO_WM_TAG_VERSION" val="1.0"/>
  <p:tag name="KSO_WM_BEAUTIFY_FLAG" val="#wm#"/>
  <p:tag name="KSO_WM_UNIT_TYPE" val="i"/>
  <p:tag name="KSO_WM_UNIT_INDEX" val="1"/>
  <p:tag name="KSO_WM_UNIT_SUBTYPE" val="h"/>
  <p:tag name="KSO_WM_SLIDE_BACKGROUND_TYPE" val="topBottom"/>
  <p:tag name="KSO_WM_UNIT_BK_DARK_LIGHT" val="2"/>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6*i*4"/>
  <p:tag name="KSO_WM_UNIT_LAYERLEVEL" val="1"/>
  <p:tag name="KSO_WM_TAG_VERSION" val="1.0"/>
  <p:tag name="KSO_WM_BEAUTIFY_FLAG" val="#wm#"/>
  <p:tag name="KSO_WM_SLIDE_BACKGROUND_TYPE" val="bottomTop"/>
</p:tagLst>
</file>

<file path=ppt/tags/tag136.xml><?xml version="1.0" encoding="utf-8"?>
<p:tagLst xmlns:a="http://schemas.openxmlformats.org/drawingml/2006/main" xmlns:r="http://schemas.openxmlformats.org/officeDocument/2006/relationships" xmlns:p="http://schemas.openxmlformats.org/presentationml/2006/main">
  <p:tag name="KSO_WM_SLIDE_BACKGROUND_TYPE" val="bottomTop"/>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i*1"/>
  <p:tag name="KSO_WM_UNIT_LAYERLEVEL" val="1"/>
  <p:tag name="KSO_WM_TAG_VERSION" val="1.0"/>
  <p:tag name="KSO_WM_BEAUTIFY_FLAG" val="#wm#"/>
  <p:tag name="KSO_WM_UNIT_TYPE" val="i"/>
  <p:tag name="KSO_WM_UNIT_INDEX" val="1"/>
  <p:tag name="KSO_WM_UNIT_SUBTYPE" val="h"/>
  <p:tag name="KSO_WM_SLIDE_BACKGROUND_TYPE" val="bottomTop"/>
  <p:tag name="KSO_WM_UNIT_BK_DARK_LIGHT" val="2"/>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6*i*2"/>
  <p:tag name="KSO_WM_UNIT_LAYERLEVEL" val="1"/>
  <p:tag name="KSO_WM_TAG_VERSION" val="1.0"/>
  <p:tag name="KSO_WM_BEAUTIFY_FLAG" val="#wm#"/>
  <p:tag name="KSO_WM_SLIDE_BACKGROUND_TYPE" val="bottomTop"/>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6*i*3"/>
  <p:tag name="KSO_WM_UNIT_LAYERLEVEL" val="1"/>
  <p:tag name="KSO_WM_TAG_VERSION" val="1.0"/>
  <p:tag name="KSO_WM_BEAUTIFY_FLAG" val="#wm#"/>
  <p:tag name="KSO_WM_SLIDE_BACKGROUND_TYPE" val="bottomTop"/>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7*i*2"/>
  <p:tag name="KSO_WM_UNIT_LAYERLEVEL" val="1"/>
  <p:tag name="KSO_WM_TAG_VERSION" val="1.0"/>
  <p:tag name="KSO_WM_BEAUTIFY_FLAG" val="#wm#"/>
  <p:tag name="KSO_WM_SLIDE_BACKGROUND_TYPE" val="navigation"/>
</p:tagLst>
</file>

<file path=ppt/tags/tag1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7*i*3"/>
  <p:tag name="KSO_WM_UNIT_LAYERLEVEL" val="1"/>
  <p:tag name="KSO_WM_TAG_VERSION" val="1.0"/>
  <p:tag name="KSO_WM_BEAUTIFY_FLAG" val="#wm#"/>
  <p:tag name="KSO_WM_SLIDE_BACKGROUND_TYPE" val="navigation"/>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7*i*4"/>
  <p:tag name="KSO_WM_UNIT_LAYERLEVEL" val="1"/>
  <p:tag name="KSO_WM_TAG_VERSION" val="1.0"/>
  <p:tag name="KSO_WM_BEAUTIFY_FLAG" val="#wm#"/>
  <p:tag name="KSO_WM_SLIDE_BACKGROUND_TYPE" val="navigation"/>
</p:tagLst>
</file>

<file path=ppt/tags/tag1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i*1"/>
  <p:tag name="KSO_WM_UNIT_LAYERLEVEL" val="1"/>
  <p:tag name="KSO_WM_TAG_VERSION" val="1.0"/>
  <p:tag name="KSO_WM_BEAUTIFY_FLAG" val="#wm#"/>
  <p:tag name="KSO_WM_UNIT_TYPE" val="i"/>
  <p:tag name="KSO_WM_UNIT_INDEX" val="1"/>
  <p:tag name="KSO_WM_UNIT_SUBTYPE" val="h"/>
  <p:tag name="KSO_WM_SLIDE_BACKGROUND_TYPE" val="navigation"/>
  <p:tag name="KSO_WM_UNIT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i*1"/>
  <p:tag name="KSO_WM_UNIT_LAYERLEVEL" val="1"/>
  <p:tag name="KSO_WM_TAG_VERSION" val="1.0"/>
  <p:tag name="KSO_WM_BEAUTIFY_FLAG" val="#wm#"/>
  <p:tag name="KSO_WM_UNIT_TYPE" val="i"/>
  <p:tag name="KSO_WM_UNIT_INDEX" val="1"/>
  <p:tag name="KSO_WM_UNIT_SUBTYPE" val="h"/>
  <p:tag name="KSO_WM_SLIDE_BACKGROUND_TYPE" val="belt"/>
  <p:tag name="KSO_WM_SLIDE_BK_DARK_LIGHT" val="2"/>
  <p:tag name="KSO_WM_UNIT_BK_DARK_LIGHT" val="2"/>
</p:tagLst>
</file>

<file path=ppt/tags/tag159.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0.xml><?xml version="1.0" encoding="utf-8"?>
<p:tagLst xmlns:a="http://schemas.openxmlformats.org/drawingml/2006/main" xmlns:r="http://schemas.openxmlformats.org/officeDocument/2006/relationships" xmlns:p="http://schemas.openxmlformats.org/presentationml/2006/main">
  <p:tag name="KSO_WM_SLIDE_BACKGROUND_TYPE" val="belt"/>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2"/>
</p:tagLst>
</file>

<file path=ppt/tags/tag1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8*i*1"/>
  <p:tag name="KSO_WM_UNIT_LAYERLEVEL" val="1"/>
  <p:tag name="KSO_WM_TAG_VERSION" val="1.0"/>
  <p:tag name="KSO_WM_BEAUTIFY_FLAG" val="#wm#"/>
  <p:tag name="KSO_WM_SLIDE_BACKGROUND_TYPE" val="belt"/>
  <p:tag name="KSO_WM_SLIDE_BK_DARK_LIGHT" val="2"/>
</p:tagLst>
</file>

<file path=ppt/tags/tag1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8*i*2"/>
  <p:tag name="KSO_WM_UNIT_LAYERLEVEL" val="1"/>
  <p:tag name="KSO_WM_TAG_VERSION" val="1.0"/>
  <p:tag name="KSO_WM_BEAUTIFY_FLAG" val="#wm#"/>
  <p:tag name="KSO_WM_SLIDE_BACKGROUND_TYPE" val="belt"/>
  <p:tag name="KSO_WM_SLIDE_BK_DARK_LIGHT" val="2"/>
</p:tagLst>
</file>

<file path=ppt/tags/tag170.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3884_1*a*1"/>
  <p:tag name="KSO_WM_TEMPLATE_CATEGORY" val="custom"/>
  <p:tag name="KSO_WM_TEMPLATE_INDEX" val="20203884"/>
  <p:tag name="KSO_WM_UNIT_LAYERLEVEL" val="1"/>
  <p:tag name="KSO_WM_TAG_VERSION" val="1.0"/>
  <p:tag name="KSO_WM_BEAUTIFY_FLAG" val="#wm#"/>
  <p:tag name="KSO_WM_UNIT_PRESET_TEXT" val="简约工作汇报模板"/>
  <p:tag name="KSO_WM_UNIT_ISNUMDGMTITLE" val="0"/>
</p:tagLst>
</file>

<file path=ppt/tags/tag17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3884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3884"/>
  <p:tag name="KSO_WM_SLIDE_LAYOUT" val="a_b"/>
  <p:tag name="KSO_WM_SLIDE_LAYOUT_CNT" val="1_3"/>
  <p:tag name="KSO_WM_TEMPLATE_THUMBS_INDEX" val="1、4、7、8、11、14、15、16、17、18、19、20、21、22、23、24、25、26"/>
  <p:tag name="KSO_WM_TEMPLATE_MASTER_THUMB_INDEX" val="12"/>
  <p:tag name="KSO_WM_SLIDE_MODEL_TYPE" val="cover"/>
</p:tagLst>
</file>

<file path=ppt/tags/tag17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汇报人姓名"/>
  <p:tag name="KSO_WM_UNIT_NOCLEAR" val="0"/>
  <p:tag name="KSO_WM_UNIT_VALUE" val="30"/>
  <p:tag name="KSO_WM_UNIT_HIGHLIGHT" val="0"/>
  <p:tag name="KSO_WM_UNIT_COMPATIBLE" val="0"/>
  <p:tag name="KSO_WM_UNIT_DIAGRAM_ISNUMVISUAL" val="0"/>
  <p:tag name="KSO_WM_UNIT_DIAGRAM_ISREFERUNIT" val="0"/>
  <p:tag name="KSO_WM_UNIT_TYPE" val="b"/>
  <p:tag name="KSO_WM_UNIT_INDEX" val="2"/>
  <p:tag name="KSO_WM_UNIT_ID" val="custom20203884_1*b*2"/>
  <p:tag name="KSO_WM_TEMPLATE_CATEGORY" val="custom"/>
  <p:tag name="KSO_WM_TEMPLATE_INDEX" val="20203884"/>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1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1_1"/>
  <p:tag name="KSO_WM_UNIT_TEXT_FILL_FORE_SCHEMECOLOR_INDEX" val="5"/>
  <p:tag name="KSO_WM_UNIT_TEXT_FILL_TYPE" val="1"/>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3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3_1"/>
  <p:tag name="KSO_WM_UNIT_TEXT_FILL_FORE_SCHEMECOLOR_INDEX" val="5"/>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2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2_1"/>
  <p:tag name="KSO_WM_UNIT_TEXT_FILL_FORE_SCHEMECOLOR_INDEX" val="5"/>
  <p:tag name="KSO_WM_UNIT_TEXT_FILL_TYPE" val="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2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2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i*1_4_1"/>
  <p:tag name="KSO_WM_TEMPLATE_CATEGORY" val="custom"/>
  <p:tag name="KSO_WM_TEMPLATE_INDEX" val="20203884"/>
  <p:tag name="KSO_WM_UNIT_LAYERLEVEL" val="1_1_1"/>
  <p:tag name="KSO_WM_TAG_VERSION" val="1.0"/>
  <p:tag name="KSO_WM_BEAUTIFY_FLAG" val="#wm#"/>
  <p:tag name="KSO_WM_DIAGRAM_GROUP_CODE" val="l1-1"/>
  <p:tag name="KSO_WM_UNIT_TYPE" val="l_h_i"/>
  <p:tag name="KSO_WM_UNIT_INDEX" val="1_4_1"/>
  <p:tag name="KSO_WM_UNIT_TEXT_FILL_FORE_SCHEMECOLOR_INDEX" val="5"/>
  <p:tag name="KSO_WM_UNIT_TEXT_FILL_TYPE" val="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l_h_a*1_3_1"/>
  <p:tag name="KSO_WM_TEMPLATE_CATEGORY" val="custom"/>
  <p:tag name="KSO_WM_TEMPLATE_INDEX" val="20203884"/>
  <p:tag name="KSO_WM_UNIT_LAYERLEVEL" val="1_1_1"/>
  <p:tag name="KSO_WM_TAG_VERSION" val="1.0"/>
  <p:tag name="KSO_WM_BEAUTIFY_FLAG" val="#wm#"/>
  <p:tag name="KSO_WM_UNIT_ISCONTENTSTITLE" val="0"/>
  <p:tag name="KSO_WM_UNIT_NOCLEAR" val="0"/>
  <p:tag name="KSO_WM_DIAGRAM_GROUP_CODE" val="l1-1"/>
  <p:tag name="KSO_WM_UNIT_TYPE" val="l_h_a"/>
  <p:tag name="KSO_WM_UNIT_INDEX" val="1_3_1"/>
  <p:tag name="KSO_WM_UNIT_PRESET_TEXT" val="单击此处添加标题"/>
  <p:tag name="KSO_WM_UNIT_TEXT_FILL_FORE_SCHEMECOLOR_INDEX" val="13"/>
  <p:tag name="KSO_WM_UNIT_TEXT_FILL_TYPE" val="1"/>
  <p:tag name="KSO_WM_UNIT_USESOURCEFORMAT_APPLY" val="1"/>
  <p:tag name="KSO_WM_UNIT_VALUE" val="10"/>
  <p:tag name="KSO_WM_UNIT_ISNUMDGMTITLE" val="0"/>
</p:tagLst>
</file>

<file path=ppt/tags/tag184.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6.xml><?xml version="1.0" encoding="utf-8"?>
<p:tagLst xmlns:a="http://schemas.openxmlformats.org/drawingml/2006/main" xmlns:r="http://schemas.openxmlformats.org/officeDocument/2006/relationships" xmlns:p="http://schemas.openxmlformats.org/presentationml/2006/main">
  <p:tag name="KSO_WM_SLIDE_ID" val="custom20203884_4"/>
  <p:tag name="KSO_WM_TEMPLATE_SUBCATEGORY" val="0"/>
  <p:tag name="KSO_WM_TEMPLATE_MASTER_TYPE" val="1"/>
  <p:tag name="KSO_WM_TEMPLATE_COLOR_TYPE" val="1"/>
  <p:tag name="KSO_WM_SLIDE_ITEM_CNT" val="4"/>
  <p:tag name="KSO_WM_SLIDE_INDEX" val="4"/>
  <p:tag name="KSO_WM_DIAGRAM_GROUP_CODE" val="l1-1"/>
  <p:tag name="KSO_WM_SLIDE_DIAGTYPE" val="l"/>
  <p:tag name="KSO_WM_TAG_VERSION" val="1.0"/>
  <p:tag name="KSO_WM_BEAUTIFY_FLAG" val="#wm#"/>
  <p:tag name="KSO_WM_TEMPLATE_CATEGORY" val="custom"/>
  <p:tag name="KSO_WM_TEMPLATE_INDEX" val="20203884"/>
  <p:tag name="KSO_WM_SLIDE_LAYOUT" val="a_l"/>
  <p:tag name="KSO_WM_SLIDE_LAYOUT_CNT" val="1_1"/>
  <p:tag name="KSO_WM_SLIDE_TYPE" val="contents"/>
  <p:tag name="KSO_WM_SLIDE_SUBTYPE" val="diag"/>
</p:tagLst>
</file>

<file path=ppt/tags/tag1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03884_4*a*1"/>
  <p:tag name="KSO_WM_TEMPLATE_CATEGORY" val="custom"/>
  <p:tag name="KSO_WM_TEMPLATE_INDEX" val="20203884"/>
  <p:tag name="KSO_WM_UNIT_LAYERLEVEL" val="1"/>
  <p:tag name="KSO_WM_TAG_VERSION" val="1.0"/>
  <p:tag name="KSO_WM_BEAUTIFY_FLAG" val="#wm#"/>
  <p:tag name="KSO_WM_UNIT_ISCONTENTSTITLE" val="1"/>
  <p:tag name="KSO_WM_UNIT_PRESET_TEXT" val="CONTENTS"/>
  <p:tag name="KSO_WM_UNIT_NOCLEAR" val="0"/>
  <p:tag name="KSO_WM_UNIT_VALUE" val="7"/>
  <p:tag name="KSO_WM_DIAGRAM_GROUP_CODE" val="l1-1"/>
  <p:tag name="KSO_WM_UNIT_TYPE" val="a"/>
  <p:tag name="KSO_WM_UNIT_INDEX" val="1"/>
  <p:tag name="KSO_WM_UNIT_TEXT_FILL_FORE_SCHEMECOLOR_INDEX" val="13"/>
  <p:tag name="KSO_WM_UNIT_TEXT_FILL_TYPE" val="1"/>
  <p:tag name="KSO_WM_UNIT_USESOURCEFORMAT_APPLY" val="1"/>
  <p:tag name="KSO_WM_UNIT_ISNUMDGMTITLE" val="0"/>
</p:tagLst>
</file>

<file path=ppt/tags/tag1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818_4*i*4"/>
  <p:tag name="KSO_WM_TEMPLATE_CATEGORY" val="diagram"/>
  <p:tag name="KSO_WM_TEMPLATE_INDEX" val="160818"/>
  <p:tag name="KSO_WM_UNIT_INDEX" val="4"/>
</p:tagLst>
</file>

<file path=ppt/tags/tag189.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8"/>
  <p:tag name="KSO_WM_UNIT_TYPE" val="p_i"/>
  <p:tag name="KSO_WM_UNIT_INDEX" val="1_1"/>
  <p:tag name="KSO_WM_UNIT_ID" val="259*p_i*1_1"/>
  <p:tag name="KSO_WM_UNIT_CLEAR" val="1"/>
  <p:tag name="KSO_WM_UNIT_LAYERLEVEL" val="1_1"/>
  <p:tag name="KSO_WM_BEAUTIFY_FLAG" val="#wm#"/>
  <p:tag name="KSO_WM_TAG_VERSION" val="1.0"/>
  <p:tag name="KSO_WM_DIAGRAM_GROUP_CODE" val="p1-1"/>
  <p:tag name="KSO_WM_UNIT_LINE_FORE_SCHEMECOLOR_INDEX" val="8"/>
  <p:tag name="KSO_WM_UNIT_LINE_FILL_TYPE" val="2"/>
  <p:tag name="KSO_WM_UNIT_DIAGRAM_SCHEMECOLOR_ID" val="1"/>
  <p:tag name="KSO_WM_UNIT_USESOURCEFORMAT_APPLY" val="1"/>
</p:tagLst>
</file>

<file path=ppt/tags/tag190.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8"/>
  <p:tag name="KSO_WM_UNIT_TYPE" val="p_i"/>
  <p:tag name="KSO_WM_UNIT_INDEX" val="1_4"/>
  <p:tag name="KSO_WM_UNIT_ID" val="259*p_i*1_4"/>
  <p:tag name="KSO_WM_UNIT_CLEAR" val="1"/>
  <p:tag name="KSO_WM_UNIT_LAYERLEVEL" val="1_1"/>
  <p:tag name="KSO_WM_BEAUTIFY_FLAG" val="#wm#"/>
  <p:tag name="KSO_WM_TAG_VERSION" val="1.0"/>
  <p:tag name="KSO_WM_DIAGRAM_GROUP_CODE" val="p1-1"/>
  <p:tag name="KSO_WM_UNIT_LINE_FORE_SCHEMECOLOR_INDEX" val="8"/>
  <p:tag name="KSO_WM_UNIT_LINE_FILL_TYPE" val="2"/>
  <p:tag name="KSO_WM_UNIT_DIAGRAM_SCHEMECOLOR_ID" val="1"/>
  <p:tag name="KSO_WM_UNIT_USESOURCEFORMAT_APPLY" val="1"/>
</p:tagLst>
</file>

<file path=ppt/tags/tag191.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8"/>
  <p:tag name="KSO_WM_UNIT_TYPE" val="p_i"/>
  <p:tag name="KSO_WM_UNIT_INDEX" val="1_2"/>
  <p:tag name="KSO_WM_UNIT_ID" val="259*p_i*1_2"/>
  <p:tag name="KSO_WM_UNIT_CLEAR" val="1"/>
  <p:tag name="KSO_WM_UNIT_LAYERLEVEL" val="1_1"/>
  <p:tag name="KSO_WM_BEAUTIFY_FLAG" val="#wm#"/>
  <p:tag name="KSO_WM_TAG_VERSION" val="1.0"/>
  <p:tag name="KSO_WM_DIAGRAM_GROUP_CODE" val="p1-1"/>
  <p:tag name="KSO_WM_UNIT_LINE_FORE_SCHEMECOLOR_INDEX" val="8"/>
  <p:tag name="KSO_WM_UNIT_LINE_FILL_TYPE" val="2"/>
  <p:tag name="KSO_WM_UNIT_DIAGRAM_SCHEMECOLOR_ID" val="1"/>
  <p:tag name="KSO_WM_UNIT_USESOURCEFORMAT_APPLY" val="1"/>
</p:tagLst>
</file>

<file path=ppt/tags/tag192.xml><?xml version="1.0" encoding="utf-8"?>
<p:tagLst xmlns:a="http://schemas.openxmlformats.org/drawingml/2006/main" xmlns:r="http://schemas.openxmlformats.org/officeDocument/2006/relationships" xmlns:p="http://schemas.openxmlformats.org/presentationml/2006/main">
  <p:tag name="KSO_WM_TEMPLATE_CATEGORY" val="diagram"/>
  <p:tag name="KSO_WM_TEMPLATE_INDEX" val="160818"/>
  <p:tag name="KSO_WM_UNIT_TYPE" val="p_i"/>
  <p:tag name="KSO_WM_UNIT_INDEX" val="1_3"/>
  <p:tag name="KSO_WM_UNIT_ID" val="259*p_i*1_3"/>
  <p:tag name="KSO_WM_UNIT_CLEAR" val="1"/>
  <p:tag name="KSO_WM_UNIT_LAYERLEVEL" val="1_1"/>
  <p:tag name="KSO_WM_BEAUTIFY_FLAG" val="#wm#"/>
  <p:tag name="KSO_WM_TAG_VERSION" val="1.0"/>
  <p:tag name="KSO_WM_DIAGRAM_GROUP_CODE" val="p1-1"/>
  <p:tag name="KSO_WM_UNIT_LINE_FORE_SCHEMECOLOR_INDEX" val="8"/>
  <p:tag name="KSO_WM_UNIT_LINE_FILL_TYPE" val="2"/>
  <p:tag name="KSO_WM_UNIT_DIAGRAM_SCHEMECOLOR_ID" val="1"/>
  <p:tag name="KSO_WM_UNIT_USESOURCEFORMAT_APPLY" val="1"/>
</p:tagLst>
</file>

<file path=ppt/theme/theme1.xml><?xml version="1.0" encoding="utf-8"?>
<a:theme xmlns:a="http://schemas.openxmlformats.org/drawingml/2006/main" name="Office 主题​​">
  <a:themeElements>
    <a:clrScheme name="自定义 5">
      <a:dk1>
        <a:sysClr val="windowText" lastClr="000000"/>
      </a:dk1>
      <a:lt1>
        <a:sysClr val="window" lastClr="FFFFFF"/>
      </a:lt1>
      <a:dk2>
        <a:srgbClr val="002842"/>
      </a:dk2>
      <a:lt2>
        <a:srgbClr val="FFFFFF"/>
      </a:lt2>
      <a:accent1>
        <a:srgbClr val="5195A5"/>
      </a:accent1>
      <a:accent2>
        <a:srgbClr val="8CA26C"/>
      </a:accent2>
      <a:accent3>
        <a:srgbClr val="C5B331"/>
      </a:accent3>
      <a:accent4>
        <a:srgbClr val="E1A215"/>
      </a:accent4>
      <a:accent5>
        <a:srgbClr val="E87A20"/>
      </a:accent5>
      <a:accent6>
        <a:srgbClr val="DD431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879</TotalTime>
  <Words>8043</Words>
  <Application>Microsoft Office PowerPoint</Application>
  <PresentationFormat>宽屏</PresentationFormat>
  <Paragraphs>595</Paragraphs>
  <Slides>75</Slides>
  <Notes>2</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91" baseType="lpstr">
      <vt:lpstr>-apple-system</vt:lpstr>
      <vt:lpstr>OPPOSans H</vt:lpstr>
      <vt:lpstr>OPPOSans R</vt:lpstr>
      <vt:lpstr>PingFangMedium</vt:lpstr>
      <vt:lpstr>Source Han Sans</vt:lpstr>
      <vt:lpstr>Source Han Sans CN Bold</vt:lpstr>
      <vt:lpstr>等线</vt:lpstr>
      <vt:lpstr>华文中宋</vt:lpstr>
      <vt:lpstr>苹方 中等</vt:lpstr>
      <vt:lpstr>微软雅黑</vt:lpstr>
      <vt:lpstr>Arial</vt:lpstr>
      <vt:lpstr>Calibri</vt:lpstr>
      <vt:lpstr>Cambria Math</vt:lpstr>
      <vt:lpstr>Wingdings</vt:lpstr>
      <vt:lpstr>Office 主题​​</vt:lpstr>
      <vt:lpstr>公式</vt:lpstr>
      <vt:lpstr>机器学习</vt:lpstr>
      <vt:lpstr>PowerPoint 演示文稿</vt:lpstr>
      <vt:lpstr>PowerPoint 演示文稿</vt:lpstr>
      <vt:lpstr>PowerPoint 演示文稿</vt:lpstr>
      <vt:lpstr>PowerPoint 演示文稿</vt:lpstr>
      <vt:lpstr>机器学习的任务分类</vt:lpstr>
      <vt:lpstr>有监督学习（supervised learning）</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模拟的评估方法与选择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P-R曲线</vt:lpstr>
      <vt:lpstr> ROC曲线与AUC</vt:lpstr>
      <vt:lpstr> ROC曲线</vt:lpstr>
      <vt:lpstr>AUC</vt:lpstr>
      <vt:lpstr>PowerPoint 演示文稿</vt:lpstr>
      <vt:lpstr>PowerPoint 演示文稿</vt:lpstr>
      <vt:lpstr>PowerPoint 演示文稿</vt:lpstr>
      <vt:lpstr>大模型技术的兴起与应用</vt:lpstr>
      <vt:lpstr>PowerPoint 演示文稿</vt:lpstr>
      <vt:lpstr>PowerPoint 演示文稿</vt:lpstr>
      <vt:lpstr>AI大模型的应用领域 </vt:lpstr>
      <vt:lpstr>PowerPoint 演示文稿</vt:lpstr>
      <vt:lpstr>PowerPoint 演示文稿</vt:lpstr>
      <vt:lpstr>PowerPoint 演示文稿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课程介绍</dc:title>
  <dc:creator>邵欣怡</dc:creator>
  <cp:lastModifiedBy>HAIBIN LIU</cp:lastModifiedBy>
  <cp:revision>38</cp:revision>
  <dcterms:created xsi:type="dcterms:W3CDTF">2021-03-01T12:12:00Z</dcterms:created>
  <dcterms:modified xsi:type="dcterms:W3CDTF">2024-03-03T04:58:19Z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2052-11.1.0.9192</vt:lpwstr>
  </property>
</Properties>
</file>