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heme/theme2.xml" ContentType="application/vnd.openxmlformats-officedocument.them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1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63" r:id="rId4"/>
    <p:sldId id="308" r:id="rId5"/>
    <p:sldId id="293" r:id="rId6"/>
    <p:sldId id="291" r:id="rId7"/>
    <p:sldId id="290" r:id="rId8"/>
    <p:sldId id="292" r:id="rId9"/>
    <p:sldId id="309" r:id="rId10"/>
    <p:sldId id="310" r:id="rId11"/>
    <p:sldId id="311" r:id="rId12"/>
    <p:sldId id="312" r:id="rId13"/>
    <p:sldId id="313" r:id="rId14"/>
    <p:sldId id="314" r:id="rId15"/>
    <p:sldId id="26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tags" Target="../tags/tag93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5" Type="http://schemas.openxmlformats.org/officeDocument/2006/relationships/slideMaster" Target="../slideMasters/slideMaster1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tags" Target="../tags/tag9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24" Type="http://schemas.openxmlformats.org/officeDocument/2006/relationships/tags" Target="../tags/tag96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tags" Target="../tags/tag95.xml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tags" Target="../tags/tag9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9.xml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1"/>
            </p:custDataLst>
          </p:nvPr>
        </p:nvSpPr>
        <p:spPr>
          <a:xfrm>
            <a:off x="9070340" y="0"/>
            <a:ext cx="3121660" cy="2059940"/>
          </a:xfrm>
          <a:custGeom>
            <a:avLst/>
            <a:gdLst>
              <a:gd name="connsiteX0" fmla="*/ 3121594 w 3121594"/>
              <a:gd name="connsiteY0" fmla="*/ 2059935 h 2059935"/>
              <a:gd name="connsiteX1" fmla="*/ 3121594 w 3121594"/>
              <a:gd name="connsiteY1" fmla="*/ 0 h 2059935"/>
              <a:gd name="connsiteX2" fmla="*/ 0 w 3121594"/>
              <a:gd name="connsiteY2" fmla="*/ 0 h 205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21594" h="2059935">
                <a:moveTo>
                  <a:pt x="3121594" y="2059935"/>
                </a:moveTo>
                <a:lnTo>
                  <a:pt x="312159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0" y="4744778"/>
            <a:ext cx="5066665" cy="2120842"/>
            <a:chOff x="0" y="5477"/>
            <a:chExt cx="12744" cy="5335"/>
          </a:xfrm>
        </p:grpSpPr>
        <p:sp>
          <p:nvSpPr>
            <p:cNvPr id="23" name="任意多边形: 形状 22"/>
            <p:cNvSpPr/>
            <p:nvPr>
              <p:custDataLst>
                <p:tags r:id="rId12"/>
              </p:custDataLst>
            </p:nvPr>
          </p:nvSpPr>
          <p:spPr>
            <a:xfrm>
              <a:off x="2" y="5477"/>
              <a:ext cx="12742" cy="5335"/>
            </a:xfrm>
            <a:custGeom>
              <a:avLst/>
              <a:gdLst>
                <a:gd name="connsiteX0" fmla="*/ 0 w 7228154"/>
                <a:gd name="connsiteY0" fmla="*/ 0 h 4082474"/>
                <a:gd name="connsiteX1" fmla="*/ 0 w 7228154"/>
                <a:gd name="connsiteY1" fmla="*/ 4082475 h 4082474"/>
                <a:gd name="connsiteX2" fmla="*/ 7228154 w 7228154"/>
                <a:gd name="connsiteY2" fmla="*/ 4082475 h 408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28154" h="4082474">
                  <a:moveTo>
                    <a:pt x="0" y="0"/>
                  </a:moveTo>
                  <a:lnTo>
                    <a:pt x="0" y="4082475"/>
                  </a:lnTo>
                  <a:lnTo>
                    <a:pt x="7228154" y="4082475"/>
                  </a:lnTo>
                  <a:close/>
                </a:path>
              </a:pathLst>
            </a:custGeom>
            <a:solidFill>
              <a:schemeClr val="accent4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4" name="任意多边形: 形状 23"/>
            <p:cNvSpPr/>
            <p:nvPr>
              <p:custDataLst>
                <p:tags r:id="rId13"/>
              </p:custDataLst>
            </p:nvPr>
          </p:nvSpPr>
          <p:spPr>
            <a:xfrm>
              <a:off x="0" y="6151"/>
              <a:ext cx="11383" cy="4661"/>
            </a:xfrm>
            <a:custGeom>
              <a:avLst/>
              <a:gdLst>
                <a:gd name="connsiteX0" fmla="*/ 0 w 7228154"/>
                <a:gd name="connsiteY0" fmla="*/ 0 h 4082474"/>
                <a:gd name="connsiteX1" fmla="*/ 0 w 7228154"/>
                <a:gd name="connsiteY1" fmla="*/ 4082475 h 4082474"/>
                <a:gd name="connsiteX2" fmla="*/ 7228155 w 7228154"/>
                <a:gd name="connsiteY2" fmla="*/ 4082475 h 408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28154" h="4082474">
                  <a:moveTo>
                    <a:pt x="0" y="0"/>
                  </a:moveTo>
                  <a:lnTo>
                    <a:pt x="0" y="4082475"/>
                  </a:lnTo>
                  <a:lnTo>
                    <a:pt x="7228155" y="4082475"/>
                  </a:lnTo>
                  <a:close/>
                </a:path>
              </a:pathLst>
            </a:custGeom>
            <a:solidFill>
              <a:schemeClr val="accent6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25" name="任意多边形: 形状 24"/>
          <p:cNvSpPr/>
          <p:nvPr>
            <p:custDataLst>
              <p:tags r:id="rId3"/>
            </p:custDataLst>
          </p:nvPr>
        </p:nvSpPr>
        <p:spPr>
          <a:xfrm>
            <a:off x="0" y="0"/>
            <a:ext cx="2552700" cy="4409440"/>
          </a:xfrm>
          <a:custGeom>
            <a:avLst/>
            <a:gdLst>
              <a:gd name="connsiteX0" fmla="*/ 0 w 7837895"/>
              <a:gd name="connsiteY0" fmla="*/ 4409530 h 4409529"/>
              <a:gd name="connsiteX1" fmla="*/ 0 w 7837895"/>
              <a:gd name="connsiteY1" fmla="*/ 0 h 4409529"/>
              <a:gd name="connsiteX2" fmla="*/ 7837896 w 7837895"/>
              <a:gd name="connsiteY2" fmla="*/ 0 h 4409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37895" h="4409529">
                <a:moveTo>
                  <a:pt x="0" y="4409530"/>
                </a:moveTo>
                <a:lnTo>
                  <a:pt x="0" y="0"/>
                </a:lnTo>
                <a:lnTo>
                  <a:pt x="7837896" y="0"/>
                </a:lnTo>
                <a:close/>
              </a:path>
            </a:pathLst>
          </a:custGeom>
          <a:solidFill>
            <a:schemeClr val="accent1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26" name="直接连接符 25"/>
          <p:cNvCxnSpPr/>
          <p:nvPr>
            <p:custDataLst>
              <p:tags r:id="rId4"/>
            </p:custDataLst>
          </p:nvPr>
        </p:nvCxnSpPr>
        <p:spPr>
          <a:xfrm>
            <a:off x="2800732" y="3622040"/>
            <a:ext cx="659053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755527" y="1331623"/>
            <a:ext cx="8680946" cy="2121978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2192655" y="3713619"/>
            <a:ext cx="7896859" cy="511698"/>
          </a:xfrm>
        </p:spPr>
        <p:txBody>
          <a:bodyPr lIns="90170" tIns="46990" rIns="90170" bIns="46990" anchor="ctr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2552700" y="4299889"/>
            <a:ext cx="7107238" cy="51169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  <p:custDataLst>
              <p:tags r:id="rId11"/>
            </p:custDataLst>
          </p:nvPr>
        </p:nvSpPr>
        <p:spPr>
          <a:xfrm>
            <a:off x="2552700" y="4790718"/>
            <a:ext cx="7107238" cy="51169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-1" y="0"/>
            <a:ext cx="442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82928">
              <a:shade val="50000"/>
            </a:srgbClr>
          </a:lnRef>
          <a:fillRef idx="1">
            <a:srgbClr val="282928"/>
          </a:fillRef>
          <a:effectRef idx="0">
            <a:srgbClr val="282928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2"/>
            </p:custDataLst>
          </p:nvPr>
        </p:nvSpPr>
        <p:spPr>
          <a:xfrm rot="18900000">
            <a:off x="3955998" y="2955611"/>
            <a:ext cx="946777" cy="946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 rot="18900000">
            <a:off x="4227003" y="3226617"/>
            <a:ext cx="404767" cy="4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rgbClr val="282928">
              <a:shade val="50000"/>
            </a:srgbClr>
          </a:lnRef>
          <a:fillRef idx="1">
            <a:srgbClr val="282928"/>
          </a:fillRef>
          <a:effectRef idx="0">
            <a:srgbClr val="282928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310135" y="2170322"/>
            <a:ext cx="6015208" cy="2357611"/>
          </a:xfrm>
        </p:spPr>
        <p:txBody>
          <a:bodyPr lIns="90000" tIns="46800" rIns="90000" bIns="46800" anchor="ctr" anchorCtr="0">
            <a:normAutofit/>
          </a:bodyPr>
          <a:lstStyle>
            <a:lvl1pPr>
              <a:defRPr sz="7200" u="none" strike="noStrike" kern="1200" cap="none" spc="3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34"/>
          <p:cNvGrpSpPr/>
          <p:nvPr>
            <p:custDataLst>
              <p:tags r:id="rId1"/>
            </p:custDataLst>
          </p:nvPr>
        </p:nvGrpSpPr>
        <p:grpSpPr>
          <a:xfrm>
            <a:off x="9783683" y="0"/>
            <a:ext cx="2416749" cy="6869016"/>
            <a:chOff x="9761381" y="0"/>
            <a:chExt cx="2416749" cy="6869016"/>
          </a:xfrm>
          <a:solidFill>
            <a:srgbClr val="0894A5"/>
          </a:solidFill>
        </p:grpSpPr>
        <p:sp>
          <p:nvSpPr>
            <p:cNvPr id="7" name="任意多边形: 形状 3"/>
            <p:cNvSpPr/>
            <p:nvPr>
              <p:custDataLst>
                <p:tags r:id="rId7"/>
              </p:custDataLst>
            </p:nvPr>
          </p:nvSpPr>
          <p:spPr>
            <a:xfrm>
              <a:off x="9761381" y="0"/>
              <a:ext cx="2158624" cy="4069248"/>
            </a:xfrm>
            <a:custGeom>
              <a:avLst/>
              <a:gdLst>
                <a:gd name="connsiteX0" fmla="*/ 2158625 w 2158624"/>
                <a:gd name="connsiteY0" fmla="*/ 4069249 h 4069248"/>
                <a:gd name="connsiteX1" fmla="*/ 2158625 w 2158624"/>
                <a:gd name="connsiteY1" fmla="*/ 0 h 4069248"/>
                <a:gd name="connsiteX2" fmla="*/ 0 w 2158624"/>
                <a:gd name="connsiteY2" fmla="*/ 0 h 40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8624" h="4069248">
                  <a:moveTo>
                    <a:pt x="2158625" y="4069249"/>
                  </a:moveTo>
                  <a:lnTo>
                    <a:pt x="2158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6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4"/>
            <p:cNvSpPr/>
            <p:nvPr>
              <p:custDataLst>
                <p:tags r:id="rId8"/>
              </p:custDataLst>
            </p:nvPr>
          </p:nvSpPr>
          <p:spPr>
            <a:xfrm>
              <a:off x="10019506" y="0"/>
              <a:ext cx="2158624" cy="4069248"/>
            </a:xfrm>
            <a:custGeom>
              <a:avLst/>
              <a:gdLst>
                <a:gd name="connsiteX0" fmla="*/ 2158625 w 2158624"/>
                <a:gd name="connsiteY0" fmla="*/ 4069249 h 4069248"/>
                <a:gd name="connsiteX1" fmla="*/ 2158625 w 2158624"/>
                <a:gd name="connsiteY1" fmla="*/ 0 h 4069248"/>
                <a:gd name="connsiteX2" fmla="*/ 0 w 2158624"/>
                <a:gd name="connsiteY2" fmla="*/ 0 h 40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8624" h="4069248">
                  <a:moveTo>
                    <a:pt x="2158625" y="4069249"/>
                  </a:moveTo>
                  <a:lnTo>
                    <a:pt x="2158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6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9" name="任意多边形: 形状 5"/>
            <p:cNvSpPr/>
            <p:nvPr>
              <p:custDataLst>
                <p:tags r:id="rId9"/>
              </p:custDataLst>
            </p:nvPr>
          </p:nvSpPr>
          <p:spPr>
            <a:xfrm>
              <a:off x="9837300" y="2473317"/>
              <a:ext cx="2340830" cy="4395699"/>
            </a:xfrm>
            <a:custGeom>
              <a:avLst/>
              <a:gdLst>
                <a:gd name="connsiteX0" fmla="*/ 2340830 w 2340830"/>
                <a:gd name="connsiteY0" fmla="*/ 0 h 4395699"/>
                <a:gd name="connsiteX1" fmla="*/ 2340830 w 2340830"/>
                <a:gd name="connsiteY1" fmla="*/ 4395700 h 4395699"/>
                <a:gd name="connsiteX2" fmla="*/ 0 w 2340830"/>
                <a:gd name="connsiteY2" fmla="*/ 4395700 h 4395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0830" h="4395699">
                  <a:moveTo>
                    <a:pt x="2340830" y="0"/>
                  </a:moveTo>
                  <a:lnTo>
                    <a:pt x="2340830" y="4395700"/>
                  </a:lnTo>
                  <a:lnTo>
                    <a:pt x="0" y="4395700"/>
                  </a:lnTo>
                  <a:close/>
                </a:path>
              </a:pathLst>
            </a:custGeom>
            <a:solidFill>
              <a:schemeClr val="accent1"/>
            </a:solidFill>
            <a:ln w="6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0" name="任意多边形: 形状 6"/>
          <p:cNvSpPr/>
          <p:nvPr>
            <p:custDataLst>
              <p:tags r:id="rId2"/>
            </p:custDataLst>
          </p:nvPr>
        </p:nvSpPr>
        <p:spPr>
          <a:xfrm>
            <a:off x="0" y="5755540"/>
            <a:ext cx="965434" cy="1113476"/>
          </a:xfrm>
          <a:custGeom>
            <a:avLst/>
            <a:gdLst>
              <a:gd name="connsiteX0" fmla="*/ 0 w 965434"/>
              <a:gd name="connsiteY0" fmla="*/ 0 h 1113476"/>
              <a:gd name="connsiteX1" fmla="*/ 0 w 965434"/>
              <a:gd name="connsiteY1" fmla="*/ 1113476 h 1113476"/>
              <a:gd name="connsiteX2" fmla="*/ 965434 w 965434"/>
              <a:gd name="connsiteY2" fmla="*/ 1113476 h 111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434" h="1113476">
                <a:moveTo>
                  <a:pt x="0" y="0"/>
                </a:moveTo>
                <a:lnTo>
                  <a:pt x="0" y="1113476"/>
                </a:lnTo>
                <a:lnTo>
                  <a:pt x="965434" y="111347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2021/5/12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73660" y="4859655"/>
            <a:ext cx="5760085" cy="1998345"/>
            <a:chOff x="4151937" y="5109029"/>
            <a:chExt cx="2721846" cy="944356"/>
          </a:xfrm>
        </p:grpSpPr>
        <p:sp>
          <p:nvSpPr>
            <p:cNvPr id="13" name="等腰三角形 12"/>
            <p:cNvSpPr/>
            <p:nvPr>
              <p:custDataLst>
                <p:tags r:id="rId16"/>
              </p:custDataLst>
            </p:nvPr>
          </p:nvSpPr>
          <p:spPr>
            <a:xfrm>
              <a:off x="4565168" y="5109029"/>
              <a:ext cx="1912727" cy="94435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>
              <p:custDataLst>
                <p:tags r:id="rId17"/>
              </p:custDataLst>
            </p:nvPr>
          </p:nvSpPr>
          <p:spPr>
            <a:xfrm>
              <a:off x="5562405" y="5405929"/>
              <a:ext cx="1311378" cy="647456"/>
            </a:xfrm>
            <a:prstGeom prst="triangl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>
              <p:custDataLst>
                <p:tags r:id="rId18"/>
              </p:custDataLst>
            </p:nvPr>
          </p:nvSpPr>
          <p:spPr>
            <a:xfrm>
              <a:off x="4786508" y="5720585"/>
              <a:ext cx="674063" cy="33280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>
              <p:custDataLst>
                <p:tags r:id="rId19"/>
              </p:custDataLst>
            </p:nvPr>
          </p:nvSpPr>
          <p:spPr>
            <a:xfrm>
              <a:off x="4151937" y="5645342"/>
              <a:ext cx="826463" cy="40804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等腰三角形 22"/>
            <p:cNvSpPr/>
            <p:nvPr>
              <p:custDataLst>
                <p:tags r:id="rId20"/>
              </p:custDataLst>
            </p:nvPr>
          </p:nvSpPr>
          <p:spPr>
            <a:xfrm>
              <a:off x="6313124" y="5516676"/>
              <a:ext cx="266605" cy="13162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>
              <p:custDataLst>
                <p:tags r:id="rId21"/>
              </p:custDataLst>
            </p:nvPr>
          </p:nvSpPr>
          <p:spPr>
            <a:xfrm>
              <a:off x="5572277" y="5720585"/>
              <a:ext cx="431377" cy="21298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>
              <p:custDataLst>
                <p:tags r:id="rId22"/>
              </p:custDataLst>
            </p:nvPr>
          </p:nvSpPr>
          <p:spPr>
            <a:xfrm>
              <a:off x="5618478" y="5234511"/>
              <a:ext cx="169487" cy="8368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>
              <p:custDataLst>
                <p:tags r:id="rId23"/>
              </p:custDataLst>
            </p:nvPr>
          </p:nvSpPr>
          <p:spPr>
            <a:xfrm>
              <a:off x="4565168" y="5348993"/>
              <a:ext cx="266605" cy="131629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24"/>
              </p:custDataLst>
            </p:nvPr>
          </p:nvSpPr>
          <p:spPr>
            <a:xfrm>
              <a:off x="4202503" y="5803305"/>
              <a:ext cx="169487" cy="83680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>
            <p:custDataLst>
              <p:tags r:id="rId2"/>
            </p:custDataLst>
          </p:nvPr>
        </p:nvGrpSpPr>
        <p:grpSpPr>
          <a:xfrm rot="10800000">
            <a:off x="6449060" y="0"/>
            <a:ext cx="5737860" cy="1990725"/>
            <a:chOff x="4151937" y="5109029"/>
            <a:chExt cx="2721846" cy="944356"/>
          </a:xfrm>
        </p:grpSpPr>
        <p:sp>
          <p:nvSpPr>
            <p:cNvPr id="29" name="等腰三角形 28"/>
            <p:cNvSpPr/>
            <p:nvPr>
              <p:custDataLst>
                <p:tags r:id="rId7"/>
              </p:custDataLst>
            </p:nvPr>
          </p:nvSpPr>
          <p:spPr>
            <a:xfrm>
              <a:off x="4565168" y="5109029"/>
              <a:ext cx="1912727" cy="94435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等腰三角形 29"/>
            <p:cNvSpPr/>
            <p:nvPr>
              <p:custDataLst>
                <p:tags r:id="rId8"/>
              </p:custDataLst>
            </p:nvPr>
          </p:nvSpPr>
          <p:spPr>
            <a:xfrm>
              <a:off x="5562405" y="5405929"/>
              <a:ext cx="1311378" cy="647456"/>
            </a:xfrm>
            <a:prstGeom prst="triangl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>
              <p:custDataLst>
                <p:tags r:id="rId9"/>
              </p:custDataLst>
            </p:nvPr>
          </p:nvSpPr>
          <p:spPr>
            <a:xfrm>
              <a:off x="4786508" y="5720585"/>
              <a:ext cx="674063" cy="33280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>
              <p:custDataLst>
                <p:tags r:id="rId10"/>
              </p:custDataLst>
            </p:nvPr>
          </p:nvSpPr>
          <p:spPr>
            <a:xfrm>
              <a:off x="4151937" y="5645342"/>
              <a:ext cx="826463" cy="40804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>
              <p:custDataLst>
                <p:tags r:id="rId11"/>
              </p:custDataLst>
            </p:nvPr>
          </p:nvSpPr>
          <p:spPr>
            <a:xfrm>
              <a:off x="6313124" y="5516676"/>
              <a:ext cx="266605" cy="13162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>
              <p:custDataLst>
                <p:tags r:id="rId12"/>
              </p:custDataLst>
            </p:nvPr>
          </p:nvSpPr>
          <p:spPr>
            <a:xfrm>
              <a:off x="5572277" y="5720585"/>
              <a:ext cx="431377" cy="21298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>
              <p:custDataLst>
                <p:tags r:id="rId13"/>
              </p:custDataLst>
            </p:nvPr>
          </p:nvSpPr>
          <p:spPr>
            <a:xfrm>
              <a:off x="5618478" y="5234511"/>
              <a:ext cx="169487" cy="8368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>
              <p:custDataLst>
                <p:tags r:id="rId14"/>
              </p:custDataLst>
            </p:nvPr>
          </p:nvSpPr>
          <p:spPr>
            <a:xfrm>
              <a:off x="4565168" y="5348993"/>
              <a:ext cx="266605" cy="131629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等腰三角形 36"/>
            <p:cNvSpPr/>
            <p:nvPr>
              <p:custDataLst>
                <p:tags r:id="rId15"/>
              </p:custDataLst>
            </p:nvPr>
          </p:nvSpPr>
          <p:spPr>
            <a:xfrm>
              <a:off x="4202503" y="5803305"/>
              <a:ext cx="169487" cy="83680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793365" y="2295525"/>
            <a:ext cx="6605270" cy="1950085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3"/>
          <p:cNvSpPr/>
          <p:nvPr>
            <p:custDataLst>
              <p:tags r:id="rId1"/>
            </p:custDataLst>
          </p:nvPr>
        </p:nvSpPr>
        <p:spPr>
          <a:xfrm>
            <a:off x="4930775" y="6114415"/>
            <a:ext cx="7261225" cy="66421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4"/>
          <p:cNvSpPr/>
          <p:nvPr>
            <p:custDataLst>
              <p:tags r:id="rId2"/>
            </p:custDataLst>
          </p:nvPr>
        </p:nvSpPr>
        <p:spPr>
          <a:xfrm>
            <a:off x="4930775" y="6193790"/>
            <a:ext cx="7261225" cy="66421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7"/>
          <p:cNvSpPr/>
          <p:nvPr>
            <p:custDataLst>
              <p:tags r:id="rId3"/>
            </p:custDataLst>
          </p:nvPr>
        </p:nvSpPr>
        <p:spPr>
          <a:xfrm>
            <a:off x="0" y="6148705"/>
            <a:ext cx="7843520" cy="72009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5"/>
          <p:cNvSpPr/>
          <p:nvPr>
            <p:custDataLst>
              <p:tags r:id="rId2"/>
            </p:custDataLst>
          </p:nvPr>
        </p:nvSpPr>
        <p:spPr>
          <a:xfrm rot="8220000">
            <a:off x="-495300" y="549275"/>
            <a:ext cx="1016635" cy="10521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90" h="1128">
                <a:moveTo>
                  <a:pt x="0" y="0"/>
                </a:moveTo>
                <a:lnTo>
                  <a:pt x="1090" y="0"/>
                </a:lnTo>
                <a:lnTo>
                  <a:pt x="38" y="1128"/>
                </a:lnTo>
                <a:lnTo>
                  <a:pt x="0" y="11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rgbClr val="0894A5">
              <a:shade val="50000"/>
            </a:srgbClr>
          </a:lnRef>
          <a:fillRef idx="1">
            <a:srgbClr val="0894A5"/>
          </a:fillRef>
          <a:effectRef idx="0">
            <a:srgbClr val="0894A5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292205" y="4382135"/>
            <a:ext cx="899160" cy="2477770"/>
            <a:chOff x="17783" y="6171"/>
            <a:chExt cx="1416" cy="4632"/>
          </a:xfrm>
        </p:grpSpPr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7783" y="6641"/>
              <a:ext cx="1417" cy="4162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41" h="7481">
                  <a:moveTo>
                    <a:pt x="3741" y="0"/>
                  </a:moveTo>
                  <a:lnTo>
                    <a:pt x="3741" y="1"/>
                  </a:lnTo>
                  <a:lnTo>
                    <a:pt x="3741" y="7481"/>
                  </a:lnTo>
                  <a:lnTo>
                    <a:pt x="3741" y="7481"/>
                  </a:lnTo>
                  <a:lnTo>
                    <a:pt x="0" y="3741"/>
                  </a:lnTo>
                  <a:lnTo>
                    <a:pt x="37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rgbClr val="0894A5">
                <a:shade val="50000"/>
              </a:srgbClr>
            </a:lnRef>
            <a:fillRef idx="1">
              <a:srgbClr val="0894A5"/>
            </a:fillRef>
            <a:effectRef idx="0">
              <a:srgbClr val="0894A5"/>
            </a:effectRef>
            <a:fontRef idx="minor">
              <a:sysClr val="window" lastClr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17783" y="6171"/>
              <a:ext cx="1417" cy="4162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41" h="7481">
                  <a:moveTo>
                    <a:pt x="3741" y="0"/>
                  </a:moveTo>
                  <a:lnTo>
                    <a:pt x="3741" y="1"/>
                  </a:lnTo>
                  <a:lnTo>
                    <a:pt x="3741" y="7481"/>
                  </a:lnTo>
                  <a:lnTo>
                    <a:pt x="3741" y="7481"/>
                  </a:lnTo>
                  <a:lnTo>
                    <a:pt x="0" y="3741"/>
                  </a:lnTo>
                  <a:lnTo>
                    <a:pt x="3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rgbClr val="0894A5">
                <a:shade val="50000"/>
              </a:srgbClr>
            </a:lnRef>
            <a:fillRef idx="1">
              <a:srgbClr val="0894A5"/>
            </a:fillRef>
            <a:effectRef idx="0">
              <a:srgbClr val="0894A5"/>
            </a:effectRef>
            <a:fontRef idx="minor">
              <a:sysClr val="window" lastClr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7926070" y="6221730"/>
            <a:ext cx="4265930" cy="640080"/>
            <a:chOff x="6681" y="8932"/>
            <a:chExt cx="12521" cy="1880"/>
          </a:xfrm>
        </p:grpSpPr>
        <p:sp>
          <p:nvSpPr>
            <p:cNvPr id="12" name="任意多边形: 形状 3"/>
            <p:cNvSpPr/>
            <p:nvPr>
              <p:custDataLst>
                <p:tags r:id="rId10"/>
              </p:custDataLst>
            </p:nvPr>
          </p:nvSpPr>
          <p:spPr>
            <a:xfrm>
              <a:off x="6681" y="8932"/>
              <a:ext cx="12521" cy="1880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4"/>
            <p:cNvSpPr/>
            <p:nvPr>
              <p:custDataLst>
                <p:tags r:id="rId11"/>
              </p:custDataLst>
            </p:nvPr>
          </p:nvSpPr>
          <p:spPr>
            <a:xfrm>
              <a:off x="7765" y="9076"/>
              <a:ext cx="11435" cy="1724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任意多边形: 形状 9"/>
          <p:cNvSpPr/>
          <p:nvPr>
            <p:custDataLst>
              <p:tags r:id="rId2"/>
            </p:custDataLst>
          </p:nvPr>
        </p:nvSpPr>
        <p:spPr>
          <a:xfrm>
            <a:off x="11525250" y="0"/>
            <a:ext cx="666750" cy="769620"/>
          </a:xfrm>
          <a:custGeom>
            <a:avLst/>
            <a:gdLst>
              <a:gd name="connsiteX0" fmla="*/ 969010 w 969009"/>
              <a:gd name="connsiteY0" fmla="*/ 1117600 h 1117600"/>
              <a:gd name="connsiteX1" fmla="*/ 969010 w 969009"/>
              <a:gd name="connsiteY1" fmla="*/ 0 h 1117600"/>
              <a:gd name="connsiteX2" fmla="*/ 0 w 969009"/>
              <a:gd name="connsiteY2" fmla="*/ 0 h 111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9009" h="1117600">
                <a:moveTo>
                  <a:pt x="969010" y="1117600"/>
                </a:moveTo>
                <a:lnTo>
                  <a:pt x="96901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3"/>
          <p:cNvSpPr/>
          <p:nvPr>
            <p:custDataLst>
              <p:tags r:id="rId1"/>
            </p:custDataLst>
          </p:nvPr>
        </p:nvSpPr>
        <p:spPr>
          <a:xfrm>
            <a:off x="4930775" y="6388735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4"/>
          <p:cNvSpPr/>
          <p:nvPr>
            <p:custDataLst>
              <p:tags r:id="rId2"/>
            </p:custDataLst>
          </p:nvPr>
        </p:nvSpPr>
        <p:spPr>
          <a:xfrm>
            <a:off x="4930775" y="6438900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7"/>
          <p:cNvSpPr/>
          <p:nvPr>
            <p:custDataLst>
              <p:tags r:id="rId3"/>
            </p:custDataLst>
          </p:nvPr>
        </p:nvSpPr>
        <p:spPr>
          <a:xfrm>
            <a:off x="0" y="6414135"/>
            <a:ext cx="7843520" cy="45466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7"/>
          <p:cNvSpPr/>
          <p:nvPr>
            <p:custDataLst>
              <p:tags r:id="rId1"/>
            </p:custDataLst>
          </p:nvPr>
        </p:nvSpPr>
        <p:spPr>
          <a:xfrm rot="10800000">
            <a:off x="568960" y="0"/>
            <a:ext cx="11623040" cy="45466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 rot="10800000">
            <a:off x="-635" y="0"/>
            <a:ext cx="4265930" cy="640080"/>
            <a:chOff x="6681" y="8932"/>
            <a:chExt cx="12521" cy="1880"/>
          </a:xfrm>
        </p:grpSpPr>
        <p:sp>
          <p:nvSpPr>
            <p:cNvPr id="14" name="任意多边形: 形状 3"/>
            <p:cNvSpPr/>
            <p:nvPr>
              <p:custDataLst>
                <p:tags r:id="rId10"/>
              </p:custDataLst>
            </p:nvPr>
          </p:nvSpPr>
          <p:spPr>
            <a:xfrm>
              <a:off x="6681" y="8932"/>
              <a:ext cx="12521" cy="1880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4"/>
            <p:cNvSpPr/>
            <p:nvPr>
              <p:custDataLst>
                <p:tags r:id="rId11"/>
              </p:custDataLst>
            </p:nvPr>
          </p:nvSpPr>
          <p:spPr>
            <a:xfrm>
              <a:off x="7765" y="9076"/>
              <a:ext cx="11435" cy="1724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3"/>
          <p:cNvSpPr/>
          <p:nvPr>
            <p:custDataLst>
              <p:tags r:id="rId1"/>
            </p:custDataLst>
          </p:nvPr>
        </p:nvSpPr>
        <p:spPr>
          <a:xfrm>
            <a:off x="4930775" y="6388735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4"/>
          <p:cNvSpPr/>
          <p:nvPr>
            <p:custDataLst>
              <p:tags r:id="rId2"/>
            </p:custDataLst>
          </p:nvPr>
        </p:nvSpPr>
        <p:spPr>
          <a:xfrm>
            <a:off x="4930775" y="6438900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7"/>
          <p:cNvSpPr/>
          <p:nvPr>
            <p:custDataLst>
              <p:tags r:id="rId3"/>
            </p:custDataLst>
          </p:nvPr>
        </p:nvSpPr>
        <p:spPr>
          <a:xfrm>
            <a:off x="0" y="6414135"/>
            <a:ext cx="7843520" cy="45466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 rot="10800000">
            <a:off x="10848975" y="3707765"/>
            <a:ext cx="1343025" cy="3265170"/>
            <a:chOff x="0" y="606"/>
            <a:chExt cx="1437" cy="8628"/>
          </a:xfrm>
        </p:grpSpPr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5400000">
              <a:off x="-3067" y="3673"/>
              <a:ext cx="7571" cy="143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>
              <p:custDataLst>
                <p:tags r:id="rId12"/>
              </p:custDataLst>
            </p:nvPr>
          </p:nvSpPr>
          <p:spPr>
            <a:xfrm rot="5400000">
              <a:off x="-3067" y="4730"/>
              <a:ext cx="7571" cy="14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0" y="113665"/>
            <a:ext cx="1343025" cy="3265170"/>
            <a:chOff x="0" y="606"/>
            <a:chExt cx="1437" cy="8628"/>
          </a:xfrm>
        </p:grpSpPr>
        <p:sp>
          <p:nvSpPr>
            <p:cNvPr id="17" name="等腰三角形 16"/>
            <p:cNvSpPr/>
            <p:nvPr>
              <p:custDataLst>
                <p:tags r:id="rId9"/>
              </p:custDataLst>
            </p:nvPr>
          </p:nvSpPr>
          <p:spPr>
            <a:xfrm rot="5400000">
              <a:off x="-3067" y="3673"/>
              <a:ext cx="7571" cy="143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>
              <p:custDataLst>
                <p:tags r:id="rId10"/>
              </p:custDataLst>
            </p:nvPr>
          </p:nvSpPr>
          <p:spPr>
            <a:xfrm rot="5400000">
              <a:off x="-3067" y="4730"/>
              <a:ext cx="7571" cy="14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8.png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6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7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8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逻辑回归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-473034" y="0"/>
            <a:ext cx="7107238" cy="511698"/>
          </a:xfrm>
        </p:spPr>
        <p:txBody>
          <a:bodyPr/>
          <a:lstStyle/>
          <a:p>
            <a:r>
              <a:rPr lang="zh-CN" altLang="en-US" dirty="0"/>
              <a:t>监督学习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>
            <p:custDataLst>
              <p:tags r:id="rId2"/>
            </p:custDataLst>
          </p:nvPr>
        </p:nvSpPr>
        <p:spPr>
          <a:xfrm>
            <a:off x="1605879" y="2674460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01.</a:t>
            </a:r>
          </a:p>
        </p:txBody>
      </p:sp>
      <p:sp>
        <p:nvSpPr>
          <p:cNvPr id="88" name="矩形 87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3"/>
            </p:custDataLst>
          </p:nvPr>
        </p:nvSpPr>
        <p:spPr>
          <a:xfrm>
            <a:off x="2574916" y="2613025"/>
            <a:ext cx="3063204" cy="69024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 fontScale="92500"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400" spc="150" dirty="0">
                <a:solidFill>
                  <a:schemeClr val="accent1"/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微软雅黑" panose="020B0503020204020204" charset="-122"/>
                <a:sym typeface="+mn-lt"/>
              </a:rPr>
              <a:t>逻辑回归模型的原理</a:t>
            </a:r>
          </a:p>
        </p:txBody>
      </p:sp>
      <p:sp>
        <p:nvSpPr>
          <p:cNvPr id="90" name="矩形 89"/>
          <p:cNvSpPr/>
          <p:nvPr>
            <p:custDataLst>
              <p:tags r:id="rId4"/>
            </p:custDataLst>
          </p:nvPr>
        </p:nvSpPr>
        <p:spPr>
          <a:xfrm>
            <a:off x="1605879" y="4520286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3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03.</a:t>
            </a:r>
          </a:p>
        </p:txBody>
      </p:sp>
      <p:sp>
        <p:nvSpPr>
          <p:cNvPr id="91" name="矩形 90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5"/>
            </p:custDataLst>
          </p:nvPr>
        </p:nvSpPr>
        <p:spPr>
          <a:xfrm>
            <a:off x="2578129" y="4567054"/>
            <a:ext cx="3059991" cy="59118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 fontScale="92500" lnSpcReduction="20000"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400" spc="150" dirty="0">
                <a:solidFill>
                  <a:schemeClr val="accent1"/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微软雅黑" panose="020B0503020204020204" charset="-122"/>
                <a:sym typeface="+mn-lt"/>
              </a:rPr>
              <a:t>逻辑回归模型的评估与优化</a:t>
            </a:r>
          </a:p>
        </p:txBody>
      </p:sp>
      <p:sp>
        <p:nvSpPr>
          <p:cNvPr id="93" name="矩形 92"/>
          <p:cNvSpPr/>
          <p:nvPr>
            <p:custDataLst>
              <p:tags r:id="rId6"/>
            </p:custDataLst>
          </p:nvPr>
        </p:nvSpPr>
        <p:spPr>
          <a:xfrm>
            <a:off x="5777194" y="2674460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02.</a:t>
            </a:r>
          </a:p>
        </p:txBody>
      </p:sp>
      <p:sp>
        <p:nvSpPr>
          <p:cNvPr id="94" name="矩形 93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7"/>
            </p:custDataLst>
          </p:nvPr>
        </p:nvSpPr>
        <p:spPr>
          <a:xfrm>
            <a:off x="6885305" y="2613025"/>
            <a:ext cx="3202278" cy="60134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 fontScale="92500"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400" spc="150" dirty="0">
                <a:solidFill>
                  <a:schemeClr val="accent1"/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微软雅黑" panose="020B0503020204020204" charset="-122"/>
                <a:sym typeface="+mn-lt"/>
              </a:rPr>
              <a:t>逻辑回归模型参数估计</a:t>
            </a:r>
          </a:p>
        </p:txBody>
      </p:sp>
      <p:sp>
        <p:nvSpPr>
          <p:cNvPr id="97" name="矩形 96"/>
          <p:cNvSpPr/>
          <p:nvPr>
            <p:custDataLst>
              <p:tags r:id="rId8"/>
            </p:custDataLst>
          </p:nvPr>
        </p:nvSpPr>
        <p:spPr>
          <a:xfrm>
            <a:off x="5777194" y="4520286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4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04.</a:t>
            </a:r>
          </a:p>
        </p:txBody>
      </p:sp>
      <p:sp>
        <p:nvSpPr>
          <p:cNvPr id="98" name="矩形 97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9"/>
            </p:custDataLst>
          </p:nvPr>
        </p:nvSpPr>
        <p:spPr>
          <a:xfrm>
            <a:off x="6897370" y="4458970"/>
            <a:ext cx="2863850" cy="59118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100" dirty="0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实验分析</a:t>
            </a:r>
            <a:endParaRPr lang="zh-CN" altLang="en-US" sz="2400" b="1" spc="100" dirty="0">
              <a:solidFill>
                <a:schemeClr val="accent4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1" name="文本框 100"/>
          <p:cNvSpPr txBox="1"/>
          <p:nvPr>
            <p:custDataLst>
              <p:tags r:id="rId10"/>
            </p:custDataLst>
          </p:nvPr>
        </p:nvSpPr>
        <p:spPr>
          <a:xfrm>
            <a:off x="715645" y="817880"/>
            <a:ext cx="4610100" cy="121348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5400" b="1" spc="1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n-ea"/>
                <a:sym typeface="+mn-lt"/>
              </a:rPr>
              <a:t>学习目标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4132E-71BD-46B8-BC3A-F8F202A1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1" y="416597"/>
            <a:ext cx="5917349" cy="44196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对数几率回归（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linear model</a:t>
            </a:r>
            <a:r>
              <a:rPr lang="zh-CN" altLang="en-US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CAE526-B164-4331-8AC5-0C8E38A07982}"/>
              </a:ext>
            </a:extLst>
          </p:cNvPr>
          <p:cNvSpPr txBox="1"/>
          <p:nvPr/>
        </p:nvSpPr>
        <p:spPr>
          <a:xfrm>
            <a:off x="297402" y="1067085"/>
            <a:ext cx="6098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线性回归不仅可以用于回归任务，还可以用于分类任务。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4C93E3-40EF-4C7B-8AB2-E8722571D2F1}"/>
              </a:ext>
            </a:extLst>
          </p:cNvPr>
          <p:cNvSpPr txBox="1"/>
          <p:nvPr/>
        </p:nvSpPr>
        <p:spPr>
          <a:xfrm>
            <a:off x="297402" y="1644941"/>
            <a:ext cx="6098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二分类模型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D00A76-6902-48BE-B301-9E9F9F1B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25" y="2014272"/>
            <a:ext cx="7289538" cy="47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3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9F3BFF5-B737-4D9A-9659-593011A8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04" y="1722268"/>
            <a:ext cx="9241654" cy="46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7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C1978B4-DD29-48EF-8C6D-13BE818418F1}"/>
              </a:ext>
            </a:extLst>
          </p:cNvPr>
          <p:cNvSpPr txBox="1"/>
          <p:nvPr/>
        </p:nvSpPr>
        <p:spPr>
          <a:xfrm>
            <a:off x="119849" y="330239"/>
            <a:ext cx="6098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ym typeface="+mn-ea"/>
              </a:rPr>
              <a:t>逻辑回归的基本假设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E9BEBA-C455-414A-A217-0AB7EA5E59A7}"/>
              </a:ext>
            </a:extLst>
          </p:cNvPr>
          <p:cNvSpPr txBox="1"/>
          <p:nvPr/>
        </p:nvSpPr>
        <p:spPr>
          <a:xfrm>
            <a:off x="119849" y="1133296"/>
            <a:ext cx="954214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逻辑回归的基本假设：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/>
              <a:t>因变量为二分类的分类变量或某事件的发生率，并且是数值型变量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/>
              <a:t>残差和因变量都要服从二项分布，二项分布对应的是分类变量，所以不是正态分布，进而不是用最小二乘法，而是最大似然法来解决方程估计和检验问题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/>
              <a:t>自变量和Logistic概率是线性关系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/>
              <a:t>各观测对象间相互独立，共线性问题会影响逻辑回归的参数估计和预测</a:t>
            </a:r>
          </a:p>
        </p:txBody>
      </p:sp>
    </p:spTree>
    <p:extLst>
      <p:ext uri="{BB962C8B-B14F-4D97-AF65-F5344CB8AC3E}">
        <p14:creationId xmlns:p14="http://schemas.microsoft.com/office/powerpoint/2010/main" val="199874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E71823F-177C-4D1E-8F8D-DDF0CBD8DB2D}"/>
              </a:ext>
            </a:extLst>
          </p:cNvPr>
          <p:cNvSpPr txBox="1"/>
          <p:nvPr/>
        </p:nvSpPr>
        <p:spPr>
          <a:xfrm>
            <a:off x="332913" y="312483"/>
            <a:ext cx="6098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参数估计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40C6CB-1284-4DC8-9EBF-580D8B468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1" y="793643"/>
            <a:ext cx="6396361" cy="56328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8A4637-E0FC-41DD-8212-9E9C15FAB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398" y="1716627"/>
            <a:ext cx="4399025" cy="266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8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>
            <a:extLst>
              <a:ext uri="{FF2B5EF4-FFF2-40B4-BE49-F238E27FC236}">
                <a16:creationId xmlns:a16="http://schemas.microsoft.com/office/drawing/2014/main" id="{86A4FF82-BD17-4D19-A86C-497495FD63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9EC9C3-30FD-490E-88F0-EE73708E69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4855" y="165100"/>
            <a:ext cx="8868410" cy="7493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bg2"/>
                </a:solidFill>
                <a:sym typeface="+mn-ea"/>
              </a:rPr>
              <a:t>逻辑回归案例：莺尾花数据集</a:t>
            </a:r>
            <a:endParaRPr kumimoji="0" lang="zh-CN" altLang="en-US" sz="3200" b="1" i="0" u="none" strike="noStrike" kern="1200" cap="none" spc="0" normalizeH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60D8764-D829-4539-B1C3-317E92CEF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370" y="2506345"/>
            <a:ext cx="2758440" cy="353631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110D2CC-8453-476F-BCB2-7864182CB8B7}"/>
              </a:ext>
            </a:extLst>
          </p:cNvPr>
          <p:cNvSpPr txBox="1"/>
          <p:nvPr/>
        </p:nvSpPr>
        <p:spPr>
          <a:xfrm>
            <a:off x="1395095" y="1617980"/>
            <a:ext cx="8978265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Iris数据集全称为Andersors lris Data，莺尾花的测量数据，包含150个观察样本，包括萼长、萼宽、瓣长、瓣宽，以及分类标签。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6C1AE6-278D-49C3-B1DE-73E92EA36DD9}"/>
              </a:ext>
            </a:extLst>
          </p:cNvPr>
          <p:cNvSpPr txBox="1"/>
          <p:nvPr/>
        </p:nvSpPr>
        <p:spPr>
          <a:xfrm>
            <a:off x="1828165" y="4614545"/>
            <a:ext cx="5625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ym typeface="+mn-ea"/>
              </a:rPr>
              <a:t>杂色莺尾                         山鸢尾                 维吉尼亚鸢尾</a:t>
            </a:r>
            <a:endParaRPr lang="zh-CN" altLang="en-US" sz="1600"/>
          </a:p>
          <a:p>
            <a:pPr algn="l"/>
            <a:r>
              <a:rPr lang="zh-CN" altLang="en-US" sz="1600">
                <a:sym typeface="+mn-ea"/>
              </a:rPr>
              <a:t>  Setosa                        Versicolour                 Virginica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C5E2619-25D2-4B91-983D-F2A8CADBA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180" y="2720975"/>
            <a:ext cx="1607820" cy="1805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018649A-7E99-42A0-B0FB-8E4F44385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2205" y="2720975"/>
            <a:ext cx="1616075" cy="180594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87A5FD2-3FB8-4329-A4F9-F88FEEE438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2585" y="2720975"/>
            <a:ext cx="1569720" cy="17526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1BC54E3-659C-44BA-9AE8-E6BDDF6FA18B}"/>
              </a:ext>
            </a:extLst>
          </p:cNvPr>
          <p:cNvSpPr/>
          <p:nvPr/>
        </p:nvSpPr>
        <p:spPr>
          <a:xfrm>
            <a:off x="7404735" y="2319020"/>
            <a:ext cx="3587115" cy="230441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580C1E-0156-48A5-A613-67A2909EF86F}"/>
              </a:ext>
            </a:extLst>
          </p:cNvPr>
          <p:cNvSpPr/>
          <p:nvPr/>
        </p:nvSpPr>
        <p:spPr>
          <a:xfrm>
            <a:off x="9339580" y="2883535"/>
            <a:ext cx="1188720" cy="1027430"/>
          </a:xfrm>
          <a:prstGeom prst="rect">
            <a:avLst/>
          </a:prstGeom>
          <a:solidFill>
            <a:schemeClr val="accent6">
              <a:lumMod val="60000"/>
              <a:lumOff val="40000"/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/>
              <a:t>0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400135-AB3B-466C-9227-1F5CD4008520}"/>
              </a:ext>
            </a:extLst>
          </p:cNvPr>
          <p:cNvSpPr txBox="1"/>
          <p:nvPr/>
        </p:nvSpPr>
        <p:spPr>
          <a:xfrm>
            <a:off x="1395095" y="5258435"/>
            <a:ext cx="60585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/>
              <a:t>只使用两个类的数据，其中每类40条用于训练，10条用于测试。整个训练数据集共有80条数据，测试数据集有20条数据。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F1EDE5-7247-42D3-8836-C33FA85762FA}"/>
              </a:ext>
            </a:extLst>
          </p:cNvPr>
          <p:cNvSpPr/>
          <p:nvPr/>
        </p:nvSpPr>
        <p:spPr>
          <a:xfrm>
            <a:off x="9339580" y="3911600"/>
            <a:ext cx="1188720" cy="711835"/>
          </a:xfrm>
          <a:prstGeom prst="rect">
            <a:avLst/>
          </a:prstGeom>
          <a:solidFill>
            <a:schemeClr val="accent6">
              <a:lumMod val="60000"/>
              <a:lumOff val="40000"/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262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0" grpId="1" animBg="1"/>
      <p:bldP spid="21" grpId="0" bldLvl="0" animBg="1"/>
      <p:bldP spid="21" grpId="1" animBg="1"/>
      <p:bldP spid="22" grpId="0"/>
      <p:bldP spid="22" grpId="1"/>
      <p:bldP spid="23" grpId="0" bldLvl="0" animBg="1"/>
      <p:bldP spid="2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54376F8D-85B6-41E6-8D8E-6CD63519D59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240" y="287359"/>
            <a:ext cx="9626400" cy="723600"/>
          </a:xfrm>
        </p:spPr>
        <p:txBody>
          <a:bodyPr/>
          <a:lstStyle/>
          <a:p>
            <a:r>
              <a:rPr lang="zh-CN" altLang="en-US">
                <a:sym typeface="+mn-ea"/>
              </a:rPr>
              <a:t>逻辑回归案例：BGA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4D051B-9685-4F51-9E1D-D65F0AA4B86D}"/>
              </a:ext>
            </a:extLst>
          </p:cNvPr>
          <p:cNvSpPr txBox="1"/>
          <p:nvPr/>
        </p:nvSpPr>
        <p:spPr>
          <a:xfrm>
            <a:off x="1538747" y="1796415"/>
            <a:ext cx="9391015" cy="370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根据数据和任务说明，列出逻辑回归方程：y’=β</a:t>
            </a:r>
            <a:r>
              <a:rPr lang="zh-CN" altLang="en-US" baseline="-25000" dirty="0"/>
              <a:t>o</a:t>
            </a:r>
            <a:r>
              <a:rPr lang="zh-CN" altLang="en-US" dirty="0"/>
              <a:t>+β</a:t>
            </a:r>
            <a:r>
              <a:rPr lang="en-US" altLang="zh-CN" baseline="-25000" dirty="0"/>
              <a:t>1</a:t>
            </a:r>
            <a:r>
              <a:rPr lang="zh-CN" altLang="en-US" dirty="0"/>
              <a:t>x</a:t>
            </a:r>
            <a:r>
              <a:rPr lang="zh-CN" altLang="en-US" baseline="-25000" dirty="0"/>
              <a:t>1</a:t>
            </a:r>
            <a:r>
              <a:rPr lang="zh-CN" altLang="en-US" dirty="0"/>
              <a:t>+β</a:t>
            </a:r>
            <a:r>
              <a:rPr lang="zh-CN" altLang="en-US" baseline="-25000" dirty="0"/>
              <a:t>2</a:t>
            </a:r>
            <a:r>
              <a:rPr lang="zh-CN" altLang="en-US" dirty="0"/>
              <a:t>x</a:t>
            </a:r>
            <a:r>
              <a:rPr lang="zh-CN" altLang="en-US" baseline="-25000" dirty="0"/>
              <a:t>2</a:t>
            </a:r>
            <a:r>
              <a:rPr lang="zh-CN" altLang="en-US" dirty="0"/>
              <a:t>+β</a:t>
            </a:r>
            <a:r>
              <a:rPr lang="zh-CN" altLang="en-US" baseline="-25000" dirty="0"/>
              <a:t>3</a:t>
            </a:r>
            <a:r>
              <a:rPr lang="zh-CN" altLang="en-US" dirty="0"/>
              <a:t>x</a:t>
            </a:r>
            <a:r>
              <a:rPr lang="en-US" altLang="zh-CN" baseline="-25000" dirty="0"/>
              <a:t>3</a:t>
            </a:r>
            <a:r>
              <a:rPr lang="zh-CN" altLang="en-US" dirty="0"/>
              <a:t>+β4x4，其中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当前参数取值      (β</a:t>
            </a:r>
            <a:r>
              <a:rPr lang="zh-CN" altLang="en-US" baseline="-25000" dirty="0"/>
              <a:t>o</a:t>
            </a:r>
            <a:r>
              <a:rPr lang="zh-CN" altLang="en-US" dirty="0"/>
              <a:t>,</a:t>
            </a:r>
            <a:r>
              <a:rPr lang="zh-CN" altLang="en-US" dirty="0">
                <a:sym typeface="+mn-ea"/>
              </a:rPr>
              <a:t>β</a:t>
            </a:r>
            <a:r>
              <a:rPr lang="zh-CN" altLang="en-US" baseline="-25000" dirty="0"/>
              <a:t>1</a:t>
            </a:r>
            <a:r>
              <a:rPr lang="zh-CN" altLang="en-US" dirty="0"/>
              <a:t>,β</a:t>
            </a:r>
            <a:r>
              <a:rPr lang="zh-CN" altLang="en-US" baseline="-25000" dirty="0"/>
              <a:t>2</a:t>
            </a:r>
            <a:r>
              <a:rPr lang="zh-CN" altLang="en-US" dirty="0"/>
              <a:t>,β</a:t>
            </a:r>
            <a:r>
              <a:rPr lang="zh-CN" altLang="en-US" baseline="-25000" dirty="0"/>
              <a:t>3</a:t>
            </a:r>
            <a:r>
              <a:rPr lang="zh-CN" altLang="en-US" dirty="0"/>
              <a:t>,β</a:t>
            </a:r>
            <a:r>
              <a:rPr lang="zh-CN" altLang="en-US" baseline="-25000" dirty="0"/>
              <a:t>4</a:t>
            </a:r>
            <a:r>
              <a:rPr lang="zh-CN" altLang="en-US" dirty="0"/>
              <a:t>)</a:t>
            </a:r>
            <a:r>
              <a:rPr lang="zh-CN" altLang="en-US" baseline="30000" dirty="0"/>
              <a:t>T</a:t>
            </a:r>
            <a:r>
              <a:rPr lang="zh-CN" altLang="en-US" dirty="0"/>
              <a:t>=(1,1,1,1,1)</a:t>
            </a:r>
            <a:r>
              <a:rPr lang="zh-CN" altLang="en-US" baseline="30000" dirty="0"/>
              <a:t>T </a:t>
            </a:r>
            <a:r>
              <a:rPr lang="zh-CN" altLang="en-US" dirty="0"/>
              <a:t>, α=0.01,MaxLoops =10000,currLoop =1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计算当前参数下的估计值（以4条数据为例）：</a:t>
            </a:r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xβ</a:t>
            </a:r>
            <a:r>
              <a:rPr lang="en-US" altLang="zh-CN" sz="2000" dirty="0"/>
              <a:t>=</a:t>
            </a:r>
            <a:r>
              <a:rPr lang="zh-CN" altLang="en-US" sz="3200" dirty="0"/>
              <a:t>（                ）</a:t>
            </a:r>
            <a:r>
              <a:rPr lang="en-US" altLang="zh-CN" sz="1400" dirty="0"/>
              <a:t>*</a:t>
            </a:r>
            <a:r>
              <a:rPr lang="zh-CN" altLang="en-US" sz="3200" dirty="0"/>
              <a:t>（  ）</a:t>
            </a:r>
            <a:r>
              <a:rPr lang="en-US" altLang="zh-CN" sz="1600" dirty="0"/>
              <a:t>=</a:t>
            </a:r>
            <a:r>
              <a:rPr lang="zh-CN" altLang="en-US" sz="3200" dirty="0"/>
              <a:t>（      ）</a:t>
            </a:r>
          </a:p>
          <a:p>
            <a:pPr>
              <a:lnSpc>
                <a:spcPct val="140000"/>
              </a:lnSpc>
            </a:pPr>
            <a:endParaRPr lang="zh-CN" altLang="en-US" sz="3200" dirty="0"/>
          </a:p>
          <a:p>
            <a:pPr>
              <a:lnSpc>
                <a:spcPct val="140000"/>
              </a:lnSpc>
            </a:pPr>
            <a:r>
              <a:rPr lang="en-US" altLang="zh-CN" dirty="0">
                <a:sym typeface="+mn-ea"/>
              </a:rPr>
              <a:t>f</a:t>
            </a:r>
            <a:r>
              <a:rPr lang="zh-CN" altLang="en-US" dirty="0">
                <a:sym typeface="+mn-ea"/>
              </a:rPr>
              <a:t>（xβ）</a:t>
            </a:r>
            <a:r>
              <a:rPr lang="en-US" altLang="zh-CN" sz="3200" dirty="0">
                <a:sym typeface="+mn-ea"/>
              </a:rPr>
              <a:t>=</a:t>
            </a:r>
            <a:r>
              <a:rPr lang="zh-CN" altLang="en-US" sz="3200" dirty="0">
                <a:sym typeface="+mn-ea"/>
              </a:rPr>
              <a:t>（          ）</a:t>
            </a:r>
            <a:r>
              <a:rPr lang="en-US" altLang="zh-CN" sz="3200" dirty="0">
                <a:sym typeface="+mn-ea"/>
              </a:rPr>
              <a:t>=</a:t>
            </a:r>
            <a:r>
              <a:rPr lang="zh-CN" altLang="en-US" sz="3200" dirty="0">
                <a:sym typeface="+mn-ea"/>
              </a:rPr>
              <a:t>（           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28DD84C-1E6D-4E54-8995-419700442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44675"/>
            <a:ext cx="1188720" cy="4114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EA3EC2C-E845-4D59-B18D-2644F662F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315" y="3014345"/>
            <a:ext cx="2545080" cy="12725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8660B54-11D9-4ADC-8081-0CEAF3FD794E}"/>
              </a:ext>
            </a:extLst>
          </p:cNvPr>
          <p:cNvSpPr txBox="1"/>
          <p:nvPr/>
        </p:nvSpPr>
        <p:spPr>
          <a:xfrm>
            <a:off x="2436495" y="3328670"/>
            <a:ext cx="26898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1  5.1  3.5  1.4  0.2</a:t>
            </a:r>
          </a:p>
          <a:p>
            <a:r>
              <a:rPr lang="en-US" altLang="zh-CN" sz="1600"/>
              <a:t>1  4.9   3    1.4  0.2</a:t>
            </a:r>
          </a:p>
          <a:p>
            <a:r>
              <a:rPr lang="en-US" altLang="zh-CN" sz="1600"/>
              <a:t>1   7    3.2  4.7  1.4</a:t>
            </a:r>
          </a:p>
          <a:p>
            <a:r>
              <a:rPr lang="en-US" altLang="zh-CN" sz="1600"/>
              <a:t>1  6.4  3.2  4.5  1.5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7B6174-A519-416F-9721-8FB945B88563}"/>
              </a:ext>
            </a:extLst>
          </p:cNvPr>
          <p:cNvSpPr txBox="1"/>
          <p:nvPr/>
        </p:nvSpPr>
        <p:spPr>
          <a:xfrm>
            <a:off x="5163820" y="3248025"/>
            <a:ext cx="342265" cy="107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6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6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6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600"/>
              <a:t>1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3E9048-3115-48CF-88D9-878B29DA92C1}"/>
              </a:ext>
            </a:extLst>
          </p:cNvPr>
          <p:cNvSpPr txBox="1"/>
          <p:nvPr/>
        </p:nvSpPr>
        <p:spPr>
          <a:xfrm>
            <a:off x="6352540" y="3248025"/>
            <a:ext cx="8159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11.2</a:t>
            </a:r>
          </a:p>
          <a:p>
            <a:r>
              <a:rPr lang="en-US" altLang="zh-CN" sz="1600"/>
              <a:t>10.5</a:t>
            </a:r>
          </a:p>
          <a:p>
            <a:r>
              <a:rPr lang="en-US" altLang="zh-CN" sz="1600"/>
              <a:t>17.3</a:t>
            </a:r>
          </a:p>
          <a:p>
            <a:r>
              <a:rPr lang="en-US" altLang="zh-CN" sz="1600"/>
              <a:t>16.6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FF749E-A61C-4BC3-B4B5-7D202666A106}"/>
              </a:ext>
            </a:extLst>
          </p:cNvPr>
          <p:cNvSpPr txBox="1"/>
          <p:nvPr/>
        </p:nvSpPr>
        <p:spPr>
          <a:xfrm>
            <a:off x="5126355" y="4682490"/>
            <a:ext cx="15011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0.99998633</a:t>
            </a:r>
          </a:p>
          <a:p>
            <a:r>
              <a:rPr lang="en-US" altLang="zh-CN" sz="1600"/>
              <a:t>0.99997246</a:t>
            </a:r>
          </a:p>
          <a:p>
            <a:r>
              <a:rPr lang="en-US" altLang="zh-CN" sz="1600"/>
              <a:t>0.99999997</a:t>
            </a:r>
          </a:p>
          <a:p>
            <a:r>
              <a:rPr lang="en-US" altLang="zh-CN" sz="1600"/>
              <a:t>0.99999994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C7FE3CE-2F2D-43DD-BED8-C6C2BA004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230" y="4404995"/>
            <a:ext cx="1063625" cy="16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5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8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9BE327D4-1F24-4AF2-962E-020A58278976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34975" y="303146"/>
            <a:ext cx="9626400" cy="723600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/>
              <a:t>逻辑回归案例：</a:t>
            </a:r>
            <a:r>
              <a:rPr lang="en-US" altLang="zh-CN" dirty="0"/>
              <a:t>BGA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7E1EC4-E830-4D6B-834B-E0DF87765A0A}"/>
              </a:ext>
            </a:extLst>
          </p:cNvPr>
          <p:cNvSpPr txBox="1"/>
          <p:nvPr/>
        </p:nvSpPr>
        <p:spPr>
          <a:xfrm>
            <a:off x="1572260" y="1764030"/>
            <a:ext cx="9391015" cy="4722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根据数据和任务说明，列出逻辑回归方程：y’=β</a:t>
            </a:r>
            <a:r>
              <a:rPr lang="zh-CN" altLang="en-US" baseline="-25000" dirty="0"/>
              <a:t>o</a:t>
            </a:r>
            <a:r>
              <a:rPr lang="zh-CN" altLang="en-US" dirty="0"/>
              <a:t>+β</a:t>
            </a:r>
            <a:r>
              <a:rPr lang="en-US" altLang="zh-CN" baseline="-25000" dirty="0"/>
              <a:t>1</a:t>
            </a:r>
            <a:r>
              <a:rPr lang="zh-CN" altLang="en-US" dirty="0"/>
              <a:t>x</a:t>
            </a:r>
            <a:r>
              <a:rPr lang="zh-CN" altLang="en-US" baseline="-25000" dirty="0"/>
              <a:t>1</a:t>
            </a:r>
            <a:r>
              <a:rPr lang="zh-CN" altLang="en-US" dirty="0"/>
              <a:t>+β</a:t>
            </a:r>
            <a:r>
              <a:rPr lang="zh-CN" altLang="en-US" baseline="-25000" dirty="0"/>
              <a:t>2</a:t>
            </a:r>
            <a:r>
              <a:rPr lang="zh-CN" altLang="en-US" dirty="0"/>
              <a:t>x</a:t>
            </a:r>
            <a:r>
              <a:rPr lang="zh-CN" altLang="en-US" baseline="-25000" dirty="0"/>
              <a:t>2</a:t>
            </a:r>
            <a:r>
              <a:rPr lang="zh-CN" altLang="en-US" dirty="0"/>
              <a:t>+β</a:t>
            </a:r>
            <a:r>
              <a:rPr lang="zh-CN" altLang="en-US" baseline="-25000" dirty="0"/>
              <a:t>3</a:t>
            </a:r>
            <a:r>
              <a:rPr lang="zh-CN" altLang="en-US" dirty="0"/>
              <a:t>x</a:t>
            </a:r>
            <a:r>
              <a:rPr lang="en-US" altLang="zh-CN" baseline="-25000" dirty="0"/>
              <a:t>3</a:t>
            </a:r>
            <a:r>
              <a:rPr lang="zh-CN" altLang="en-US" dirty="0"/>
              <a:t>+β</a:t>
            </a:r>
            <a:r>
              <a:rPr lang="zh-CN" altLang="en-US" baseline="-25000" dirty="0"/>
              <a:t>4</a:t>
            </a:r>
            <a:r>
              <a:rPr lang="zh-CN" altLang="en-US" dirty="0"/>
              <a:t>x</a:t>
            </a:r>
            <a:r>
              <a:rPr lang="zh-CN" altLang="en-US" baseline="-25000" dirty="0"/>
              <a:t>4</a:t>
            </a:r>
            <a:r>
              <a:rPr lang="zh-CN" altLang="en-US" dirty="0"/>
              <a:t>，其中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当前参数取值      (β</a:t>
            </a:r>
            <a:r>
              <a:rPr lang="zh-CN" altLang="en-US" baseline="-25000" dirty="0"/>
              <a:t>o</a:t>
            </a:r>
            <a:r>
              <a:rPr lang="zh-CN" altLang="en-US" dirty="0"/>
              <a:t>,</a:t>
            </a:r>
            <a:r>
              <a:rPr lang="zh-CN" altLang="en-US" dirty="0">
                <a:sym typeface="+mn-ea"/>
              </a:rPr>
              <a:t>β</a:t>
            </a:r>
            <a:r>
              <a:rPr lang="zh-CN" altLang="en-US" baseline="-25000" dirty="0"/>
              <a:t>1</a:t>
            </a:r>
            <a:r>
              <a:rPr lang="zh-CN" altLang="en-US" dirty="0"/>
              <a:t>,β</a:t>
            </a:r>
            <a:r>
              <a:rPr lang="zh-CN" altLang="en-US" baseline="-25000" dirty="0"/>
              <a:t>2</a:t>
            </a:r>
            <a:r>
              <a:rPr lang="zh-CN" altLang="en-US" dirty="0"/>
              <a:t>,β</a:t>
            </a:r>
            <a:r>
              <a:rPr lang="zh-CN" altLang="en-US" baseline="-25000" dirty="0"/>
              <a:t>3</a:t>
            </a:r>
            <a:r>
              <a:rPr lang="zh-CN" altLang="en-US" dirty="0"/>
              <a:t>,β</a:t>
            </a:r>
            <a:r>
              <a:rPr lang="zh-CN" altLang="en-US" baseline="-25000" dirty="0"/>
              <a:t>4</a:t>
            </a:r>
            <a:r>
              <a:rPr lang="zh-CN" altLang="en-US" dirty="0"/>
              <a:t>)</a:t>
            </a:r>
            <a:r>
              <a:rPr lang="zh-CN" altLang="en-US" baseline="30000" dirty="0"/>
              <a:t>T</a:t>
            </a:r>
            <a:r>
              <a:rPr lang="zh-CN" altLang="en-US" dirty="0"/>
              <a:t>=(1,1,1,1,1)</a:t>
            </a:r>
            <a:r>
              <a:rPr lang="zh-CN" altLang="en-US" baseline="30000" dirty="0"/>
              <a:t>T </a:t>
            </a:r>
            <a:r>
              <a:rPr lang="zh-CN" altLang="en-US" dirty="0"/>
              <a:t>, α=0.01,MaxLoops =10000,currLoop =1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计算梯度：</a:t>
            </a:r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r>
              <a:rPr lang="en-US" altLang="zh-CN" sz="2000" dirty="0"/>
              <a:t>=</a:t>
            </a:r>
            <a:r>
              <a:rPr lang="zh-CN" altLang="en-US" sz="3200" dirty="0"/>
              <a:t>（                ）</a:t>
            </a:r>
            <a:r>
              <a:rPr lang="en-US" altLang="zh-CN" sz="1400" dirty="0"/>
              <a:t>*</a:t>
            </a:r>
            <a:r>
              <a:rPr lang="zh-CN" altLang="en-US" sz="3200" dirty="0"/>
              <a:t>（（  ）</a:t>
            </a:r>
            <a:r>
              <a:rPr lang="en-US" altLang="zh-CN" sz="3200" dirty="0"/>
              <a:t>-</a:t>
            </a:r>
            <a:r>
              <a:rPr lang="zh-CN" altLang="en-US" sz="3200" dirty="0"/>
              <a:t>（          ））</a:t>
            </a:r>
            <a:r>
              <a:rPr lang="en-US" altLang="zh-CN" sz="1600" dirty="0"/>
              <a:t>=</a:t>
            </a:r>
            <a:r>
              <a:rPr lang="zh-CN" altLang="en-US" sz="3200" dirty="0"/>
              <a:t>（           ）</a:t>
            </a:r>
          </a:p>
          <a:p>
            <a:pPr>
              <a:lnSpc>
                <a:spcPct val="60000"/>
              </a:lnSpc>
            </a:pPr>
            <a:endParaRPr lang="zh-CN" altLang="en-US" sz="3200" dirty="0"/>
          </a:p>
          <a:p>
            <a:pPr>
              <a:lnSpc>
                <a:spcPct val="140000"/>
              </a:lnSpc>
            </a:pPr>
            <a:r>
              <a:rPr lang="zh-CN" altLang="en-US" sz="1600" dirty="0"/>
              <a:t>按梯度更新回归参数：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ym typeface="+mn-ea"/>
              </a:rPr>
              <a:t>β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/>
              <a:t>1</a:t>
            </a:r>
            <a:r>
              <a:rPr lang="zh-CN" altLang="en-US" sz="1600" baseline="30000" dirty="0"/>
              <a:t>）</a:t>
            </a:r>
            <a:r>
              <a:rPr lang="en-US" altLang="zh-CN" sz="1600" baseline="30000" dirty="0"/>
              <a:t>=</a:t>
            </a:r>
            <a:r>
              <a:rPr lang="zh-CN" altLang="en-US" sz="2000" dirty="0">
                <a:sym typeface="+mn-ea"/>
              </a:rPr>
              <a:t>β</a:t>
            </a:r>
            <a:r>
              <a:rPr lang="zh-CN" altLang="en-US" sz="2000" baseline="30000" dirty="0">
                <a:sym typeface="+mn-ea"/>
              </a:rPr>
              <a:t>（</a:t>
            </a:r>
            <a:r>
              <a:rPr lang="en-US" altLang="zh-CN" sz="2000" baseline="30000" dirty="0">
                <a:sym typeface="+mn-ea"/>
              </a:rPr>
              <a:t>1</a:t>
            </a:r>
            <a:r>
              <a:rPr lang="zh-CN" altLang="en-US" sz="2000" baseline="30000" dirty="0">
                <a:sym typeface="+mn-ea"/>
              </a:rPr>
              <a:t>）</a:t>
            </a:r>
            <a:r>
              <a:rPr lang="en-US" altLang="zh-CN" sz="2000" dirty="0">
                <a:sym typeface="+mn-ea"/>
              </a:rPr>
              <a:t>+</a:t>
            </a:r>
            <a:r>
              <a:rPr lang="zh-CN" altLang="en-US" sz="2000" dirty="0">
                <a:sym typeface="+mn-ea"/>
              </a:rPr>
              <a:t>α▽</a:t>
            </a:r>
            <a:r>
              <a:rPr lang="en-US" altLang="zh-CN" sz="3200" dirty="0">
                <a:sym typeface="+mn-ea"/>
              </a:rPr>
              <a:t>=</a:t>
            </a:r>
            <a:r>
              <a:rPr lang="zh-CN" altLang="en-US" sz="4400" dirty="0">
                <a:sym typeface="+mn-ea"/>
              </a:rPr>
              <a:t>（ ）</a:t>
            </a:r>
            <a:r>
              <a:rPr lang="en-US" altLang="zh-CN" dirty="0">
                <a:sym typeface="+mn-ea"/>
              </a:rPr>
              <a:t>+0.01*</a:t>
            </a:r>
            <a:r>
              <a:rPr lang="zh-CN" altLang="en-US" sz="4400" dirty="0">
                <a:sym typeface="+mn-ea"/>
              </a:rPr>
              <a:t>（       ）</a:t>
            </a:r>
            <a:r>
              <a:rPr lang="en-US" altLang="zh-CN" sz="2000" dirty="0">
                <a:sym typeface="+mn-ea"/>
              </a:rPr>
              <a:t>=</a:t>
            </a:r>
            <a:r>
              <a:rPr lang="zh-CN" altLang="en-US" sz="4400" dirty="0">
                <a:sym typeface="+mn-ea"/>
              </a:rPr>
              <a:t>（       ）</a:t>
            </a:r>
            <a:endParaRPr lang="zh-CN" altLang="en-US" sz="3200" dirty="0"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3200" dirty="0"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10C5D2-BC90-4A45-933E-FA8990974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44675"/>
            <a:ext cx="1188720" cy="4114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2212D37-2606-46F7-AFE6-A96EECDA2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855" y="2571115"/>
            <a:ext cx="2283460" cy="114173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81934F3-A4C2-4C6E-AB47-DC8FEA1A3547}"/>
              </a:ext>
            </a:extLst>
          </p:cNvPr>
          <p:cNvSpPr txBox="1"/>
          <p:nvPr/>
        </p:nvSpPr>
        <p:spPr>
          <a:xfrm>
            <a:off x="2245360" y="3712845"/>
            <a:ext cx="1884680" cy="1059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400"/>
              <a:t>  1     1    1       1</a:t>
            </a:r>
          </a:p>
          <a:p>
            <a:pPr>
              <a:lnSpc>
                <a:spcPct val="90000"/>
              </a:lnSpc>
            </a:pPr>
            <a:r>
              <a:rPr lang="en-US" altLang="zh-CN" sz="1400"/>
              <a:t>5.1   4.9    7     6.4</a:t>
            </a:r>
          </a:p>
          <a:p>
            <a:pPr>
              <a:lnSpc>
                <a:spcPct val="90000"/>
              </a:lnSpc>
            </a:pPr>
            <a:r>
              <a:rPr lang="en-US" altLang="zh-CN" sz="1400"/>
              <a:t>3.5    3     3.2   3.2</a:t>
            </a:r>
          </a:p>
          <a:p>
            <a:pPr>
              <a:lnSpc>
                <a:spcPct val="90000"/>
              </a:lnSpc>
            </a:pPr>
            <a:r>
              <a:rPr lang="en-US" altLang="zh-CN" sz="1400"/>
              <a:t>1.4   1.4   4.7   4.5</a:t>
            </a:r>
          </a:p>
          <a:p>
            <a:pPr>
              <a:lnSpc>
                <a:spcPct val="90000"/>
              </a:lnSpc>
            </a:pPr>
            <a:r>
              <a:rPr lang="en-US" altLang="zh-CN" sz="1400"/>
              <a:t>0.2    0.2  1.4  1.5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3E1491-98EA-42A4-A99F-5B4F4B503081}"/>
              </a:ext>
            </a:extLst>
          </p:cNvPr>
          <p:cNvSpPr txBox="1"/>
          <p:nvPr/>
        </p:nvSpPr>
        <p:spPr>
          <a:xfrm>
            <a:off x="5321300" y="3853180"/>
            <a:ext cx="342265" cy="77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400"/>
              <a:t>0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0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BBC11-5F5C-4D96-9A79-89A04AD19316}"/>
              </a:ext>
            </a:extLst>
          </p:cNvPr>
          <p:cNvSpPr txBox="1"/>
          <p:nvPr/>
        </p:nvSpPr>
        <p:spPr>
          <a:xfrm>
            <a:off x="8872855" y="3712845"/>
            <a:ext cx="202501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-1.99995870</a:t>
            </a:r>
          </a:p>
          <a:p>
            <a:r>
              <a:rPr lang="en-US" altLang="zh-CN" sz="1400"/>
              <a:t>-9.99979473</a:t>
            </a:r>
          </a:p>
          <a:p>
            <a:r>
              <a:rPr lang="en-US" altLang="zh-CN" sz="1400"/>
              <a:t>-6.49986924</a:t>
            </a:r>
          </a:p>
          <a:p>
            <a:r>
              <a:rPr lang="en-US" altLang="zh-CN" sz="1400"/>
              <a:t>-2.79994188</a:t>
            </a:r>
          </a:p>
          <a:p>
            <a:r>
              <a:rPr lang="en-US" altLang="zh-CN" sz="1400"/>
              <a:t>-0.39999162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177BFF-A621-44D5-BF02-3EBAAD2A0D5D}"/>
              </a:ext>
            </a:extLst>
          </p:cNvPr>
          <p:cNvSpPr txBox="1"/>
          <p:nvPr/>
        </p:nvSpPr>
        <p:spPr>
          <a:xfrm>
            <a:off x="6416040" y="3731260"/>
            <a:ext cx="15011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0.99998633</a:t>
            </a:r>
          </a:p>
          <a:p>
            <a:r>
              <a:rPr lang="en-US" altLang="zh-CN" sz="1600"/>
              <a:t>0.99997246</a:t>
            </a:r>
          </a:p>
          <a:p>
            <a:r>
              <a:rPr lang="en-US" altLang="zh-CN" sz="1600"/>
              <a:t>0.99999997</a:t>
            </a:r>
          </a:p>
          <a:p>
            <a:r>
              <a:rPr lang="en-US" altLang="zh-CN" sz="1600"/>
              <a:t>0.99999994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1B5A18B-035A-408C-B404-456B0E7DA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260" y="3058795"/>
            <a:ext cx="3749040" cy="58674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547DC6-CE30-4A6A-98DD-9853579E3D94}"/>
              </a:ext>
            </a:extLst>
          </p:cNvPr>
          <p:cNvSpPr txBox="1"/>
          <p:nvPr/>
        </p:nvSpPr>
        <p:spPr>
          <a:xfrm>
            <a:off x="3926840" y="5027930"/>
            <a:ext cx="342265" cy="77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BDA3AE-1D39-411F-A296-2A89FC7492EF}"/>
              </a:ext>
            </a:extLst>
          </p:cNvPr>
          <p:cNvSpPr txBox="1"/>
          <p:nvPr/>
        </p:nvSpPr>
        <p:spPr>
          <a:xfrm>
            <a:off x="5892165" y="4881245"/>
            <a:ext cx="202501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-1.99995870</a:t>
            </a:r>
          </a:p>
          <a:p>
            <a:r>
              <a:rPr lang="en-US" altLang="zh-CN" sz="1400"/>
              <a:t>-9.99979473</a:t>
            </a:r>
          </a:p>
          <a:p>
            <a:r>
              <a:rPr lang="en-US" altLang="zh-CN" sz="1400"/>
              <a:t>-6.49986924</a:t>
            </a:r>
          </a:p>
          <a:p>
            <a:r>
              <a:rPr lang="en-US" altLang="zh-CN" sz="1400"/>
              <a:t>-2.79994188</a:t>
            </a:r>
          </a:p>
          <a:p>
            <a:r>
              <a:rPr lang="en-US" altLang="zh-CN" sz="1400"/>
              <a:t>-0.39999162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A989F-EF93-4B8C-BDBE-3740516A32F8}"/>
              </a:ext>
            </a:extLst>
          </p:cNvPr>
          <p:cNvSpPr txBox="1"/>
          <p:nvPr/>
        </p:nvSpPr>
        <p:spPr>
          <a:xfrm>
            <a:off x="8191500" y="4927600"/>
            <a:ext cx="15011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0.98000041</a:t>
            </a:r>
          </a:p>
          <a:p>
            <a:r>
              <a:rPr lang="en-US" altLang="zh-CN" sz="1600"/>
              <a:t>0.90000205</a:t>
            </a:r>
          </a:p>
          <a:p>
            <a:r>
              <a:rPr lang="en-US" altLang="zh-CN" sz="1600"/>
              <a:t>0.97200058</a:t>
            </a:r>
          </a:p>
          <a:p>
            <a:r>
              <a:rPr lang="en-US" altLang="zh-CN" sz="1600"/>
              <a:t>0.99600008</a:t>
            </a:r>
          </a:p>
        </p:txBody>
      </p:sp>
    </p:spTree>
    <p:extLst>
      <p:ext uri="{BB962C8B-B14F-4D97-AF65-F5344CB8AC3E}">
        <p14:creationId xmlns:p14="http://schemas.microsoft.com/office/powerpoint/2010/main" val="160617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8E5DD87-A561-48E3-8DBA-655DD178D25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43852" y="202080"/>
            <a:ext cx="9626400" cy="723600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/>
              <a:t>逻辑回归案例：</a:t>
            </a:r>
            <a:r>
              <a:rPr lang="en-US" altLang="zh-CN"/>
              <a:t>BGA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0CCF59-7575-48DC-B112-F3FF63607A99}"/>
              </a:ext>
            </a:extLst>
          </p:cNvPr>
          <p:cNvSpPr txBox="1"/>
          <p:nvPr/>
        </p:nvSpPr>
        <p:spPr>
          <a:xfrm>
            <a:off x="1572260" y="1764030"/>
            <a:ext cx="9974580" cy="4095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/>
              <a:t>根据数据和任务说明，列出逻辑回归方程：y’=β</a:t>
            </a:r>
            <a:r>
              <a:rPr lang="zh-CN" altLang="en-US" baseline="-25000"/>
              <a:t>o</a:t>
            </a:r>
            <a:r>
              <a:rPr lang="zh-CN" altLang="en-US"/>
              <a:t>+β</a:t>
            </a:r>
            <a:r>
              <a:rPr lang="en-US" altLang="zh-CN" baseline="-25000"/>
              <a:t>1</a:t>
            </a:r>
            <a:r>
              <a:rPr lang="zh-CN" altLang="en-US"/>
              <a:t>x</a:t>
            </a:r>
            <a:r>
              <a:rPr lang="zh-CN" altLang="en-US" baseline="-25000"/>
              <a:t>1</a:t>
            </a:r>
            <a:r>
              <a:rPr lang="zh-CN" altLang="en-US"/>
              <a:t>+β</a:t>
            </a:r>
            <a:r>
              <a:rPr lang="zh-CN" altLang="en-US" baseline="-25000"/>
              <a:t>2</a:t>
            </a:r>
            <a:r>
              <a:rPr lang="zh-CN" altLang="en-US"/>
              <a:t>x</a:t>
            </a:r>
            <a:r>
              <a:rPr lang="zh-CN" altLang="en-US" baseline="-25000"/>
              <a:t>2</a:t>
            </a:r>
            <a:r>
              <a:rPr lang="zh-CN" altLang="en-US"/>
              <a:t>+β</a:t>
            </a:r>
            <a:r>
              <a:rPr lang="zh-CN" altLang="en-US" baseline="-25000"/>
              <a:t>3</a:t>
            </a:r>
            <a:r>
              <a:rPr lang="zh-CN" altLang="en-US"/>
              <a:t>x</a:t>
            </a:r>
            <a:r>
              <a:rPr lang="en-US" altLang="zh-CN" baseline="-25000"/>
              <a:t>3</a:t>
            </a:r>
            <a:r>
              <a:rPr lang="zh-CN" altLang="en-US"/>
              <a:t>+β4x4，其中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当前参数取值      β=(0.98000041,0.90000205,0.93500131,0.97200058,0.99600008)</a:t>
            </a:r>
            <a:r>
              <a:rPr lang="zh-CN" altLang="en-US" baseline="30000"/>
              <a:t>T</a:t>
            </a:r>
            <a:r>
              <a:rPr lang="zh-CN" altLang="en-US"/>
              <a:t>,α=0.01</a:t>
            </a:r>
          </a:p>
          <a:p>
            <a:pPr>
              <a:lnSpc>
                <a:spcPct val="140000"/>
              </a:lnSpc>
            </a:pPr>
            <a:r>
              <a:rPr lang="zh-CN" altLang="en-US"/>
              <a:t>                                MaxLoops = 10000,currLoop =2</a:t>
            </a:r>
          </a:p>
          <a:p>
            <a:pPr>
              <a:lnSpc>
                <a:spcPct val="140000"/>
              </a:lnSpc>
            </a:pPr>
            <a:r>
              <a:rPr lang="zh-CN" altLang="en-US"/>
              <a:t>计算当前参数下的估计值（以4条数据为例）：</a:t>
            </a:r>
          </a:p>
          <a:p>
            <a:pPr>
              <a:lnSpc>
                <a:spcPct val="140000"/>
              </a:lnSpc>
            </a:pP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 sz="2000"/>
              <a:t>xβ</a:t>
            </a:r>
            <a:r>
              <a:rPr lang="en-US" altLang="zh-CN" sz="2000"/>
              <a:t>=</a:t>
            </a:r>
            <a:r>
              <a:rPr lang="zh-CN" altLang="en-US" sz="3200"/>
              <a:t>（              ）</a:t>
            </a:r>
            <a:r>
              <a:rPr lang="en-US" altLang="zh-CN" sz="1400"/>
              <a:t>*</a:t>
            </a:r>
            <a:r>
              <a:rPr lang="zh-CN" altLang="en-US" sz="3200"/>
              <a:t>（        ）</a:t>
            </a:r>
            <a:r>
              <a:rPr lang="en-US" altLang="zh-CN" sz="1600"/>
              <a:t>=</a:t>
            </a:r>
            <a:r>
              <a:rPr lang="zh-CN" altLang="en-US" sz="3200"/>
              <a:t>（         ）</a:t>
            </a:r>
          </a:p>
          <a:p>
            <a:pPr>
              <a:lnSpc>
                <a:spcPct val="140000"/>
              </a:lnSpc>
            </a:pPr>
            <a:endParaRPr lang="zh-CN" altLang="en-US" sz="3200"/>
          </a:p>
          <a:p>
            <a:pPr>
              <a:lnSpc>
                <a:spcPct val="140000"/>
              </a:lnSpc>
            </a:pP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（xβ）</a:t>
            </a:r>
            <a:r>
              <a:rPr lang="en-US" altLang="zh-CN" sz="32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   ）</a:t>
            </a:r>
            <a:r>
              <a:rPr lang="en-US" altLang="zh-CN" sz="32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  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CB4556-932F-4A97-B94F-6499FE64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44675"/>
            <a:ext cx="1188720" cy="4114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264BEA1-790F-4BBC-B364-DCD5D4F8A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315" y="3014345"/>
            <a:ext cx="2545080" cy="12725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7837581-2B74-406D-B1EF-B93A351F43F3}"/>
              </a:ext>
            </a:extLst>
          </p:cNvPr>
          <p:cNvSpPr txBox="1"/>
          <p:nvPr/>
        </p:nvSpPr>
        <p:spPr>
          <a:xfrm>
            <a:off x="2473960" y="3625850"/>
            <a:ext cx="1742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1  5.1  3.5  1.4  0.2</a:t>
            </a:r>
          </a:p>
          <a:p>
            <a:r>
              <a:rPr lang="en-US" altLang="zh-CN" sz="1400"/>
              <a:t>1  4.9   3    1.4  0.2</a:t>
            </a:r>
          </a:p>
          <a:p>
            <a:r>
              <a:rPr lang="en-US" altLang="zh-CN" sz="1400"/>
              <a:t>1   7    3.2  4.7  1.4</a:t>
            </a:r>
          </a:p>
          <a:p>
            <a:r>
              <a:rPr lang="en-US" altLang="zh-CN" sz="1400"/>
              <a:t>1  6.4  3.2  4.5  1.5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CECE98-F5F9-4BAB-BFA6-E9887101F003}"/>
              </a:ext>
            </a:extLst>
          </p:cNvPr>
          <p:cNvSpPr txBox="1"/>
          <p:nvPr/>
        </p:nvSpPr>
        <p:spPr>
          <a:xfrm>
            <a:off x="6816725" y="3625850"/>
            <a:ext cx="11582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10.4025163</a:t>
            </a:r>
          </a:p>
          <a:p>
            <a:r>
              <a:rPr lang="en-US" altLang="zh-CN" sz="1400"/>
              <a:t>9.7550152</a:t>
            </a:r>
          </a:p>
          <a:p>
            <a:r>
              <a:rPr lang="en-US" altLang="zh-CN" sz="1400"/>
              <a:t>16.2348218</a:t>
            </a:r>
          </a:p>
          <a:p>
            <a:r>
              <a:rPr lang="en-US" altLang="zh-CN" sz="1400"/>
              <a:t>15.6000205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92E70C-192B-4724-89B2-76B1E82C54F6}"/>
              </a:ext>
            </a:extLst>
          </p:cNvPr>
          <p:cNvSpPr txBox="1"/>
          <p:nvPr/>
        </p:nvSpPr>
        <p:spPr>
          <a:xfrm>
            <a:off x="5345430" y="4963160"/>
            <a:ext cx="15011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0.99996964</a:t>
            </a:r>
          </a:p>
          <a:p>
            <a:r>
              <a:rPr lang="en-US" altLang="zh-CN" sz="1600"/>
              <a:t>0.99994200</a:t>
            </a:r>
          </a:p>
          <a:p>
            <a:r>
              <a:rPr lang="en-US" altLang="zh-CN" sz="1600"/>
              <a:t>0.99999991</a:t>
            </a:r>
          </a:p>
          <a:p>
            <a:r>
              <a:rPr lang="en-US" altLang="zh-CN" sz="1600"/>
              <a:t>0.99999983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EC4010-9BC6-4754-90A4-4FB06A159618}"/>
              </a:ext>
            </a:extLst>
          </p:cNvPr>
          <p:cNvSpPr txBox="1"/>
          <p:nvPr/>
        </p:nvSpPr>
        <p:spPr>
          <a:xfrm>
            <a:off x="4851400" y="3625850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0.98000041</a:t>
            </a:r>
          </a:p>
          <a:p>
            <a:r>
              <a:rPr lang="en-US" altLang="zh-CN" sz="1400"/>
              <a:t>0.90000205</a:t>
            </a:r>
          </a:p>
          <a:p>
            <a:r>
              <a:rPr lang="en-US" altLang="zh-CN" sz="1400"/>
              <a:t>0.97200058</a:t>
            </a:r>
          </a:p>
          <a:p>
            <a:r>
              <a:rPr lang="en-US" altLang="zh-CN" sz="1400"/>
              <a:t>0.99600008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E01068-9F9F-4884-A1EA-F9DE1572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860" y="4692015"/>
            <a:ext cx="133223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4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370E704-83D6-4961-9BF2-1217BE066DC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15670" y="275088"/>
            <a:ext cx="9626400" cy="723600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/>
              <a:t>逻辑回归案例：</a:t>
            </a:r>
            <a:r>
              <a:rPr lang="en-US" altLang="zh-CN" dirty="0"/>
              <a:t>BGA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2DB20-8E2C-40E7-BEB2-0BBE309696F3}"/>
              </a:ext>
            </a:extLst>
          </p:cNvPr>
          <p:cNvSpPr txBox="1"/>
          <p:nvPr/>
        </p:nvSpPr>
        <p:spPr>
          <a:xfrm>
            <a:off x="1572260" y="1764030"/>
            <a:ext cx="9391015" cy="4780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/>
              <a:t>根据数据和任务说明，列出逻辑回归方程：y’=β</a:t>
            </a:r>
            <a:r>
              <a:rPr lang="zh-CN" altLang="en-US" baseline="-25000"/>
              <a:t>o</a:t>
            </a:r>
            <a:r>
              <a:rPr lang="zh-CN" altLang="en-US"/>
              <a:t>+β</a:t>
            </a:r>
            <a:r>
              <a:rPr lang="en-US" altLang="zh-CN" baseline="-25000"/>
              <a:t>1</a:t>
            </a:r>
            <a:r>
              <a:rPr lang="zh-CN" altLang="en-US"/>
              <a:t>x</a:t>
            </a:r>
            <a:r>
              <a:rPr lang="zh-CN" altLang="en-US" baseline="-25000"/>
              <a:t>1</a:t>
            </a:r>
            <a:r>
              <a:rPr lang="zh-CN" altLang="en-US"/>
              <a:t>+β</a:t>
            </a:r>
            <a:r>
              <a:rPr lang="zh-CN" altLang="en-US" baseline="-25000"/>
              <a:t>2</a:t>
            </a:r>
            <a:r>
              <a:rPr lang="zh-CN" altLang="en-US"/>
              <a:t>x</a:t>
            </a:r>
            <a:r>
              <a:rPr lang="zh-CN" altLang="en-US" baseline="-25000"/>
              <a:t>2</a:t>
            </a:r>
            <a:r>
              <a:rPr lang="zh-CN" altLang="en-US"/>
              <a:t>+β</a:t>
            </a:r>
            <a:r>
              <a:rPr lang="zh-CN" altLang="en-US" baseline="-25000"/>
              <a:t>3</a:t>
            </a:r>
            <a:r>
              <a:rPr lang="zh-CN" altLang="en-US"/>
              <a:t>x</a:t>
            </a:r>
            <a:r>
              <a:rPr lang="en-US" altLang="zh-CN" baseline="-25000"/>
              <a:t>3</a:t>
            </a:r>
            <a:r>
              <a:rPr lang="zh-CN" altLang="en-US"/>
              <a:t>+β4x4，其中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当前参数取值    </a:t>
            </a:r>
            <a:r>
              <a:rPr lang="zh-CN" altLang="en-US">
                <a:sym typeface="+mn-ea"/>
              </a:rPr>
              <a:t>β=(0.98000041,0.90000205,0.93500131,0.97200058,0.99600008)</a:t>
            </a:r>
            <a:r>
              <a:rPr lang="zh-CN" altLang="en-US" baseline="30000">
                <a:sym typeface="+mn-ea"/>
              </a:rPr>
              <a:t>T</a:t>
            </a:r>
            <a:r>
              <a:rPr lang="zh-CN" altLang="en-US">
                <a:sym typeface="+mn-ea"/>
              </a:rPr>
              <a:t>,α=0.01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>
                <a:sym typeface="+mn-ea"/>
              </a:rPr>
              <a:t>                                MaxLoops = 10000,currLoop =2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计算梯度：</a:t>
            </a:r>
          </a:p>
          <a:p>
            <a:pPr>
              <a:lnSpc>
                <a:spcPct val="140000"/>
              </a:lnSpc>
            </a:pPr>
            <a:endParaRPr lang="zh-CN" altLang="en-US"/>
          </a:p>
          <a:p>
            <a:pPr>
              <a:lnSpc>
                <a:spcPct val="180000"/>
              </a:lnSpc>
            </a:pPr>
            <a:r>
              <a:rPr lang="en-US" altLang="zh-CN" sz="2000"/>
              <a:t>=</a:t>
            </a:r>
            <a:r>
              <a:rPr lang="zh-CN" altLang="en-US" sz="3200"/>
              <a:t>（             ）</a:t>
            </a:r>
            <a:r>
              <a:rPr lang="en-US" altLang="zh-CN" sz="1400"/>
              <a:t>*</a:t>
            </a:r>
            <a:r>
              <a:rPr lang="zh-CN" altLang="en-US" sz="3200"/>
              <a:t>（（  ）</a:t>
            </a:r>
            <a:r>
              <a:rPr lang="en-US" altLang="zh-CN" sz="3200"/>
              <a:t>-</a:t>
            </a:r>
            <a:r>
              <a:rPr lang="zh-CN" altLang="en-US" sz="3200"/>
              <a:t>（          ））</a:t>
            </a:r>
            <a:r>
              <a:rPr lang="en-US" altLang="zh-CN" sz="1600"/>
              <a:t>=</a:t>
            </a:r>
            <a:r>
              <a:rPr lang="zh-CN" altLang="en-US" sz="3200"/>
              <a:t>（           ）</a:t>
            </a:r>
          </a:p>
          <a:p>
            <a:pPr>
              <a:lnSpc>
                <a:spcPct val="60000"/>
              </a:lnSpc>
            </a:pPr>
            <a:endParaRPr lang="zh-CN" altLang="en-US" sz="3200"/>
          </a:p>
          <a:p>
            <a:pPr>
              <a:lnSpc>
                <a:spcPct val="140000"/>
              </a:lnSpc>
            </a:pPr>
            <a:r>
              <a:rPr lang="zh-CN" altLang="en-US" sz="1600"/>
              <a:t>按梯度更新回归参数：</a:t>
            </a:r>
          </a:p>
          <a:p>
            <a:pPr>
              <a:lnSpc>
                <a:spcPct val="100000"/>
              </a:lnSpc>
            </a:pPr>
            <a:r>
              <a:rPr lang="zh-CN" altLang="en-US">
                <a:sym typeface="+mn-ea"/>
              </a:rPr>
              <a:t>β</a:t>
            </a:r>
            <a:r>
              <a:rPr lang="zh-CN" altLang="en-US" sz="1600" baseline="30000"/>
              <a:t>（</a:t>
            </a:r>
            <a:r>
              <a:rPr lang="en-US" altLang="zh-CN" sz="1600" baseline="30000"/>
              <a:t>1</a:t>
            </a:r>
            <a:r>
              <a:rPr lang="zh-CN" altLang="en-US" sz="1600" baseline="30000"/>
              <a:t>）</a:t>
            </a:r>
            <a:r>
              <a:rPr lang="en-US" altLang="zh-CN" sz="1600" baseline="30000"/>
              <a:t>=</a:t>
            </a:r>
            <a:r>
              <a:rPr lang="zh-CN" altLang="en-US" sz="2000">
                <a:sym typeface="+mn-ea"/>
              </a:rPr>
              <a:t>β</a:t>
            </a:r>
            <a:r>
              <a:rPr lang="zh-CN" altLang="en-US" sz="2000" baseline="30000">
                <a:sym typeface="+mn-ea"/>
              </a:rPr>
              <a:t>（</a:t>
            </a:r>
            <a:r>
              <a:rPr lang="en-US" altLang="zh-CN" sz="2000" baseline="30000">
                <a:sym typeface="+mn-ea"/>
              </a:rPr>
              <a:t>1</a:t>
            </a:r>
            <a:r>
              <a:rPr lang="zh-CN" altLang="en-US" sz="2000" baseline="30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+</a:t>
            </a:r>
            <a:r>
              <a:rPr lang="zh-CN" altLang="en-US" sz="2000">
                <a:sym typeface="+mn-ea"/>
              </a:rPr>
              <a:t>α▽</a:t>
            </a:r>
            <a:r>
              <a:rPr lang="en-US" altLang="zh-CN" sz="3200">
                <a:sym typeface="+mn-ea"/>
              </a:rPr>
              <a:t>=</a:t>
            </a:r>
            <a:r>
              <a:rPr lang="zh-CN" altLang="en-US" sz="4400">
                <a:sym typeface="+mn-ea"/>
              </a:rPr>
              <a:t>（      ）</a:t>
            </a:r>
            <a:r>
              <a:rPr lang="en-US" altLang="zh-CN">
                <a:sym typeface="+mn-ea"/>
              </a:rPr>
              <a:t>+0.01*</a:t>
            </a:r>
            <a:r>
              <a:rPr lang="zh-CN" altLang="en-US" sz="4400">
                <a:sym typeface="+mn-ea"/>
              </a:rPr>
              <a:t>（       ）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4400">
                <a:sym typeface="+mn-ea"/>
              </a:rPr>
              <a:t>（     ）</a:t>
            </a:r>
            <a:endParaRPr lang="zh-CN" altLang="en-US" sz="3200"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3200"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9A1EB2-771D-4E8F-A06D-A55AEBBCC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44675"/>
            <a:ext cx="1188720" cy="4114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778C6A3-AE49-49A1-A198-0F7EE5E76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855" y="2571115"/>
            <a:ext cx="2283460" cy="114173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D391334-E072-491A-82A4-374AA851A835}"/>
              </a:ext>
            </a:extLst>
          </p:cNvPr>
          <p:cNvSpPr txBox="1"/>
          <p:nvPr/>
        </p:nvSpPr>
        <p:spPr>
          <a:xfrm>
            <a:off x="2255520" y="3784600"/>
            <a:ext cx="1884680" cy="921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200"/>
              <a:t>  1     1    1       1</a:t>
            </a:r>
          </a:p>
          <a:p>
            <a:pPr>
              <a:lnSpc>
                <a:spcPct val="90000"/>
              </a:lnSpc>
            </a:pPr>
            <a:r>
              <a:rPr lang="en-US" altLang="zh-CN" sz="1200"/>
              <a:t>5.1   4.9    7     6.4</a:t>
            </a:r>
          </a:p>
          <a:p>
            <a:pPr>
              <a:lnSpc>
                <a:spcPct val="90000"/>
              </a:lnSpc>
            </a:pPr>
            <a:r>
              <a:rPr lang="en-US" altLang="zh-CN" sz="1200"/>
              <a:t>3.5    3     3.2   3.2</a:t>
            </a:r>
          </a:p>
          <a:p>
            <a:pPr>
              <a:lnSpc>
                <a:spcPct val="90000"/>
              </a:lnSpc>
            </a:pPr>
            <a:r>
              <a:rPr lang="en-US" altLang="zh-CN" sz="1200"/>
              <a:t>1.4   1.4   4.7   4.5</a:t>
            </a:r>
          </a:p>
          <a:p>
            <a:pPr>
              <a:lnSpc>
                <a:spcPct val="90000"/>
              </a:lnSpc>
            </a:pPr>
            <a:r>
              <a:rPr lang="en-US" altLang="zh-CN" sz="1200"/>
              <a:t>0.2    0.2  1.4  1.5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2E73C3-1F21-4C9D-91CF-0AD09599A334}"/>
              </a:ext>
            </a:extLst>
          </p:cNvPr>
          <p:cNvSpPr txBox="1"/>
          <p:nvPr/>
        </p:nvSpPr>
        <p:spPr>
          <a:xfrm>
            <a:off x="4928870" y="3856355"/>
            <a:ext cx="342265" cy="77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400"/>
              <a:t>0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0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CFD695-012A-49D3-B2C9-1915DDD1ADC9}"/>
              </a:ext>
            </a:extLst>
          </p:cNvPr>
          <p:cNvSpPr txBox="1"/>
          <p:nvPr/>
        </p:nvSpPr>
        <p:spPr>
          <a:xfrm>
            <a:off x="8641715" y="3713480"/>
            <a:ext cx="202501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-1.99991139</a:t>
            </a:r>
          </a:p>
          <a:p>
            <a:r>
              <a:rPr lang="en-US" altLang="zh-CN" sz="1400"/>
              <a:t>-9.99979473</a:t>
            </a:r>
          </a:p>
          <a:p>
            <a:r>
              <a:rPr lang="en-US" altLang="zh-CN" sz="1400"/>
              <a:t>-6.49986924</a:t>
            </a:r>
          </a:p>
          <a:p>
            <a:r>
              <a:rPr lang="en-US" altLang="zh-CN" sz="1400"/>
              <a:t>-2.79994188</a:t>
            </a:r>
          </a:p>
          <a:p>
            <a:r>
              <a:rPr lang="en-US" altLang="zh-CN" sz="1400"/>
              <a:t>-0.39999162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1DA193-14D6-4CFA-9626-5E9DA254C004}"/>
              </a:ext>
            </a:extLst>
          </p:cNvPr>
          <p:cNvSpPr txBox="1"/>
          <p:nvPr/>
        </p:nvSpPr>
        <p:spPr>
          <a:xfrm>
            <a:off x="6164580" y="3784600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0.99996964</a:t>
            </a:r>
          </a:p>
          <a:p>
            <a:r>
              <a:rPr lang="en-US" altLang="zh-CN" sz="1400"/>
              <a:t>0.99994200</a:t>
            </a:r>
          </a:p>
          <a:p>
            <a:r>
              <a:rPr lang="en-US" altLang="zh-CN" sz="1400"/>
              <a:t>0.99999991</a:t>
            </a:r>
          </a:p>
          <a:p>
            <a:r>
              <a:rPr lang="en-US" altLang="zh-CN" sz="1400"/>
              <a:t>0.99999983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53D070-AF75-472C-9FA2-313ED268B8BB}"/>
              </a:ext>
            </a:extLst>
          </p:cNvPr>
          <p:cNvSpPr txBox="1"/>
          <p:nvPr/>
        </p:nvSpPr>
        <p:spPr>
          <a:xfrm>
            <a:off x="5260975" y="5076825"/>
            <a:ext cx="342265" cy="77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  <a:p>
            <a:pPr>
              <a:lnSpc>
                <a:spcPct val="80000"/>
              </a:lnSpc>
            </a:pPr>
            <a:r>
              <a:rPr lang="en-US" altLang="zh-CN" sz="1400"/>
              <a:t>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C63B18-DA0F-4616-A281-92E8EFBA0C44}"/>
              </a:ext>
            </a:extLst>
          </p:cNvPr>
          <p:cNvSpPr txBox="1"/>
          <p:nvPr/>
        </p:nvSpPr>
        <p:spPr>
          <a:xfrm>
            <a:off x="6547485" y="4881880"/>
            <a:ext cx="202501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-1.99991139</a:t>
            </a:r>
          </a:p>
          <a:p>
            <a:r>
              <a:rPr lang="en-US" altLang="zh-CN" sz="1400"/>
              <a:t>-9.99955929</a:t>
            </a:r>
          </a:p>
          <a:p>
            <a:r>
              <a:rPr lang="en-US" altLang="zh-CN" sz="1400"/>
              <a:t>-6.49971894</a:t>
            </a:r>
          </a:p>
          <a:p>
            <a:r>
              <a:rPr lang="en-US" altLang="zh-CN" sz="1400"/>
              <a:t>-2.79987513</a:t>
            </a:r>
          </a:p>
          <a:p>
            <a:r>
              <a:rPr lang="en-US" altLang="zh-CN" sz="1400"/>
              <a:t>-0.39998195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104A49-5C84-49F2-B523-A1F9268D744C}"/>
              </a:ext>
            </a:extLst>
          </p:cNvPr>
          <p:cNvSpPr txBox="1"/>
          <p:nvPr/>
        </p:nvSpPr>
        <p:spPr>
          <a:xfrm>
            <a:off x="3869055" y="5025390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0.98000041</a:t>
            </a:r>
          </a:p>
          <a:p>
            <a:r>
              <a:rPr lang="en-US" altLang="zh-CN" sz="1400"/>
              <a:t>0.90000205</a:t>
            </a:r>
          </a:p>
          <a:p>
            <a:r>
              <a:rPr lang="en-US" altLang="zh-CN" sz="1400"/>
              <a:t>0.97200058</a:t>
            </a:r>
          </a:p>
          <a:p>
            <a:r>
              <a:rPr lang="en-US" altLang="zh-CN" sz="1400"/>
              <a:t>0.99600008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659581-12F9-43E7-AD49-1C2DCBF213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1210" b="81881"/>
          <a:stretch>
            <a:fillRect/>
          </a:stretch>
        </p:blipFill>
        <p:spPr>
          <a:xfrm>
            <a:off x="1572260" y="3269615"/>
            <a:ext cx="3924300" cy="4438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A34D368-7BE4-4D80-821A-29BADA992A58}"/>
              </a:ext>
            </a:extLst>
          </p:cNvPr>
          <p:cNvSpPr txBox="1"/>
          <p:nvPr/>
        </p:nvSpPr>
        <p:spPr>
          <a:xfrm>
            <a:off x="8903335" y="4994275"/>
            <a:ext cx="150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0.96000130</a:t>
            </a:r>
          </a:p>
          <a:p>
            <a:r>
              <a:rPr lang="en-US" altLang="zh-CN" sz="1200"/>
              <a:t>0.80000646</a:t>
            </a:r>
          </a:p>
          <a:p>
            <a:r>
              <a:rPr lang="en-US" altLang="zh-CN" sz="1200"/>
              <a:t>0.87000412</a:t>
            </a:r>
          </a:p>
          <a:p>
            <a:r>
              <a:rPr lang="en-US" altLang="zh-CN" sz="1200"/>
              <a:t>0.94400183</a:t>
            </a:r>
          </a:p>
          <a:p>
            <a:r>
              <a:rPr lang="en-US" altLang="zh-CN" sz="1200"/>
              <a:t>0.99200026</a:t>
            </a:r>
          </a:p>
        </p:txBody>
      </p:sp>
    </p:spTree>
    <p:extLst>
      <p:ext uri="{BB962C8B-B14F-4D97-AF65-F5344CB8AC3E}">
        <p14:creationId xmlns:p14="http://schemas.microsoft.com/office/powerpoint/2010/main" val="406607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5" grpId="0"/>
      <p:bldP spid="1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D6F00-7FE4-40FB-8390-C2EA8E28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A34572BA-AEF1-458E-8397-9A6437848C54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182540" y="866295"/>
            <a:ext cx="9626400" cy="723600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/>
              <a:t>逻辑回归案例：</a:t>
            </a:r>
            <a:r>
              <a:rPr lang="en-US" altLang="zh-CN"/>
              <a:t>BGA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3D964F-6DCD-4694-BE78-5503152B067C}"/>
              </a:ext>
            </a:extLst>
          </p:cNvPr>
          <p:cNvSpPr txBox="1"/>
          <p:nvPr/>
        </p:nvSpPr>
        <p:spPr>
          <a:xfrm>
            <a:off x="1572260" y="1764030"/>
            <a:ext cx="9974580" cy="4141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根据数据和任务说明，列出逻辑回归方程：y’=β</a:t>
            </a:r>
            <a:r>
              <a:rPr lang="zh-CN" altLang="en-US" baseline="-25000" dirty="0"/>
              <a:t>o</a:t>
            </a:r>
            <a:r>
              <a:rPr lang="zh-CN" altLang="en-US" dirty="0"/>
              <a:t>+β</a:t>
            </a:r>
            <a:r>
              <a:rPr lang="en-US" altLang="zh-CN" baseline="-25000" dirty="0"/>
              <a:t>1</a:t>
            </a:r>
            <a:r>
              <a:rPr lang="zh-CN" altLang="en-US" dirty="0"/>
              <a:t>x</a:t>
            </a:r>
            <a:r>
              <a:rPr lang="zh-CN" altLang="en-US" baseline="-25000" dirty="0"/>
              <a:t>1</a:t>
            </a:r>
            <a:r>
              <a:rPr lang="zh-CN" altLang="en-US" dirty="0"/>
              <a:t>+β</a:t>
            </a:r>
            <a:r>
              <a:rPr lang="zh-CN" altLang="en-US" baseline="-25000" dirty="0"/>
              <a:t>2</a:t>
            </a:r>
            <a:r>
              <a:rPr lang="zh-CN" altLang="en-US" dirty="0"/>
              <a:t>x</a:t>
            </a:r>
            <a:r>
              <a:rPr lang="zh-CN" altLang="en-US" baseline="-25000" dirty="0"/>
              <a:t>2</a:t>
            </a:r>
            <a:r>
              <a:rPr lang="zh-CN" altLang="en-US" dirty="0"/>
              <a:t>+β</a:t>
            </a:r>
            <a:r>
              <a:rPr lang="zh-CN" altLang="en-US" baseline="-25000" dirty="0"/>
              <a:t>3</a:t>
            </a:r>
            <a:r>
              <a:rPr lang="zh-CN" altLang="en-US" dirty="0"/>
              <a:t>x</a:t>
            </a:r>
            <a:r>
              <a:rPr lang="en-US" altLang="zh-CN" baseline="-25000" dirty="0"/>
              <a:t>3</a:t>
            </a:r>
            <a:r>
              <a:rPr lang="zh-CN" altLang="en-US" dirty="0"/>
              <a:t>+β4x4，其中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当前参数取值      β =(0.96000130,0.80000646,0.87000412,0.94400183,0.99200026)</a:t>
            </a:r>
            <a:r>
              <a:rPr lang="zh-CN" altLang="en-US" baseline="30000" dirty="0"/>
              <a:t>T</a:t>
            </a:r>
            <a:r>
              <a:rPr lang="zh-CN" altLang="en-US" dirty="0"/>
              <a:t>,α=0.01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                                 MaxLoops =10000,currLoop = 10000</a:t>
            </a:r>
          </a:p>
          <a:p>
            <a:pPr>
              <a:lnSpc>
                <a:spcPct val="3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r>
              <a:rPr lang="zh-CN" altLang="en-US" sz="2000" dirty="0">
                <a:sym typeface="+mn-ea"/>
              </a:rPr>
              <a:t>β</a:t>
            </a:r>
            <a:r>
              <a:rPr lang="zh-CN" altLang="en-US" sz="2000" baseline="30000" dirty="0">
                <a:sym typeface="+mn-ea"/>
              </a:rPr>
              <a:t>（</a:t>
            </a:r>
            <a:r>
              <a:rPr lang="en-US" altLang="zh-CN" sz="2000" baseline="30000" dirty="0">
                <a:sym typeface="+mn-ea"/>
              </a:rPr>
              <a:t>10000</a:t>
            </a:r>
            <a:r>
              <a:rPr lang="zh-CN" altLang="en-US" sz="2000" baseline="30000" dirty="0">
                <a:sym typeface="+mn-ea"/>
              </a:rPr>
              <a:t>）</a:t>
            </a:r>
            <a:r>
              <a:rPr lang="en-US" altLang="zh-CN" sz="2000" dirty="0">
                <a:sym typeface="+mn-ea"/>
              </a:rPr>
              <a:t>=</a:t>
            </a:r>
            <a:r>
              <a:rPr lang="zh-CN" altLang="en-US" sz="2800" dirty="0">
                <a:sym typeface="+mn-ea"/>
              </a:rPr>
              <a:t>（         ）</a:t>
            </a:r>
            <a:endParaRPr lang="zh-CN" altLang="en-US" sz="2000" dirty="0"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xβ</a:t>
            </a:r>
            <a:r>
              <a:rPr lang="en-US" altLang="zh-CN" sz="2000" dirty="0"/>
              <a:t>=</a:t>
            </a:r>
            <a:r>
              <a:rPr lang="zh-CN" altLang="en-US" sz="3200" dirty="0"/>
              <a:t>（              ）</a:t>
            </a:r>
            <a:r>
              <a:rPr lang="en-US" altLang="zh-CN" sz="1400" dirty="0"/>
              <a:t>*</a:t>
            </a:r>
            <a:r>
              <a:rPr lang="zh-CN" altLang="en-US" sz="3200" dirty="0"/>
              <a:t>（        ）</a:t>
            </a:r>
            <a:r>
              <a:rPr lang="en-US" altLang="zh-CN" sz="1600" dirty="0"/>
              <a:t>=</a:t>
            </a:r>
            <a:r>
              <a:rPr lang="zh-CN" altLang="en-US" sz="3200" dirty="0"/>
              <a:t>（         ）</a:t>
            </a:r>
          </a:p>
          <a:p>
            <a:pPr>
              <a:lnSpc>
                <a:spcPct val="140000"/>
              </a:lnSpc>
            </a:pPr>
            <a:endParaRPr lang="zh-CN" altLang="en-US" sz="3200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f</a:t>
            </a:r>
            <a:r>
              <a:rPr lang="zh-CN" altLang="en-US" dirty="0">
                <a:sym typeface="+mn-ea"/>
              </a:rPr>
              <a:t>（xβ）</a:t>
            </a:r>
            <a:r>
              <a:rPr lang="en-US" altLang="zh-CN" sz="3200" dirty="0">
                <a:sym typeface="+mn-ea"/>
              </a:rPr>
              <a:t>=</a:t>
            </a:r>
            <a:r>
              <a:rPr lang="zh-CN" altLang="en-US" sz="3200" dirty="0">
                <a:sym typeface="+mn-ea"/>
              </a:rPr>
              <a:t>（             ）</a:t>
            </a:r>
            <a:r>
              <a:rPr lang="en-US" altLang="zh-CN" sz="3200" dirty="0">
                <a:sym typeface="+mn-ea"/>
              </a:rPr>
              <a:t>=</a:t>
            </a:r>
            <a:r>
              <a:rPr lang="zh-CN" altLang="en-US" sz="3200" dirty="0">
                <a:sym typeface="+mn-ea"/>
              </a:rPr>
              <a:t>（           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1A36F-FE80-42BF-ADFF-DF0578E4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44675"/>
            <a:ext cx="1188720" cy="4114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6ADF6D-029B-46C1-9EA8-4A9A2B641BEC}"/>
              </a:ext>
            </a:extLst>
          </p:cNvPr>
          <p:cNvSpPr txBox="1"/>
          <p:nvPr/>
        </p:nvSpPr>
        <p:spPr>
          <a:xfrm>
            <a:off x="2443480" y="4017010"/>
            <a:ext cx="1742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1  5.1  3.5  1.4  0.2</a:t>
            </a:r>
          </a:p>
          <a:p>
            <a:r>
              <a:rPr lang="en-US" altLang="zh-CN" sz="1400"/>
              <a:t>1  4.9   3    1.4  0.2</a:t>
            </a:r>
          </a:p>
          <a:p>
            <a:r>
              <a:rPr lang="en-US" altLang="zh-CN" sz="1400"/>
              <a:t>1   7    3.2  4.7  1.4</a:t>
            </a:r>
          </a:p>
          <a:p>
            <a:r>
              <a:rPr lang="en-US" altLang="zh-CN" sz="1400"/>
              <a:t>1  6.4  3.2  4.5  1.5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615832-E8D8-468F-B5B9-189111DCA70B}"/>
              </a:ext>
            </a:extLst>
          </p:cNvPr>
          <p:cNvSpPr txBox="1"/>
          <p:nvPr/>
        </p:nvSpPr>
        <p:spPr>
          <a:xfrm>
            <a:off x="6786245" y="3905885"/>
            <a:ext cx="11582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-7.1002445</a:t>
            </a:r>
          </a:p>
          <a:p>
            <a:r>
              <a:rPr lang="en-US" altLang="zh-CN" sz="1400"/>
              <a:t>-5.9064818</a:t>
            </a:r>
          </a:p>
          <a:p>
            <a:r>
              <a:rPr lang="en-US" altLang="zh-CN" sz="1400"/>
              <a:t>6.6210425</a:t>
            </a:r>
          </a:p>
          <a:p>
            <a:r>
              <a:rPr lang="en-US" altLang="zh-CN" sz="1400"/>
              <a:t>6.8551047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8CDFF-4440-40C5-A975-38F4F6C42252}"/>
              </a:ext>
            </a:extLst>
          </p:cNvPr>
          <p:cNvSpPr txBox="1"/>
          <p:nvPr/>
        </p:nvSpPr>
        <p:spPr>
          <a:xfrm>
            <a:off x="5516245" y="5034280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0.00082422332</a:t>
            </a:r>
          </a:p>
          <a:p>
            <a:r>
              <a:rPr lang="en-US" altLang="zh-CN" sz="1400"/>
              <a:t>0.00271435910</a:t>
            </a:r>
          </a:p>
          <a:p>
            <a:r>
              <a:rPr lang="en-US" altLang="zh-CN" sz="1400"/>
              <a:t>0.99866973040</a:t>
            </a:r>
          </a:p>
          <a:p>
            <a:r>
              <a:rPr lang="en-US" altLang="zh-CN" sz="1400"/>
              <a:t>0.99894704864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369FA0-F5AD-4B25-8C1D-B332158FB5D2}"/>
              </a:ext>
            </a:extLst>
          </p:cNvPr>
          <p:cNvSpPr txBox="1"/>
          <p:nvPr/>
        </p:nvSpPr>
        <p:spPr>
          <a:xfrm>
            <a:off x="4820920" y="3905885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ym typeface="+mn-ea"/>
              </a:rPr>
              <a:t>0.09021331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-0.26840292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3.84051880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2.41124247</a:t>
            </a:r>
            <a:endParaRPr lang="en-US" altLang="zh-CN" sz="1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BC1141-1863-4A0C-B49D-F822EF24FB53}"/>
              </a:ext>
            </a:extLst>
          </p:cNvPr>
          <p:cNvSpPr txBox="1"/>
          <p:nvPr/>
        </p:nvSpPr>
        <p:spPr>
          <a:xfrm>
            <a:off x="3020695" y="2952750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0.09021331</a:t>
            </a:r>
          </a:p>
          <a:p>
            <a:r>
              <a:rPr lang="en-US" altLang="zh-CN" sz="1400"/>
              <a:t>-0.26840292</a:t>
            </a:r>
          </a:p>
          <a:p>
            <a:r>
              <a:rPr lang="en-US" altLang="zh-CN" sz="1400"/>
              <a:t>3.84051880</a:t>
            </a:r>
          </a:p>
          <a:p>
            <a:r>
              <a:rPr lang="en-US" altLang="zh-CN" sz="1400"/>
              <a:t>2.41124247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166C80-2A6C-45BF-B3CE-E41682558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695" y="4970145"/>
            <a:ext cx="1501775" cy="164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D87B922-402A-4627-AB81-692D01E82167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12825" y="370823"/>
            <a:ext cx="9626400" cy="723600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/>
              <a:t>逻辑回归案例：</a:t>
            </a:r>
            <a:r>
              <a:rPr lang="en-US" altLang="zh-CN"/>
              <a:t>BGA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DF0C88-C495-4D54-9C77-F8817AD2AB7C}"/>
              </a:ext>
            </a:extLst>
          </p:cNvPr>
          <p:cNvSpPr txBox="1"/>
          <p:nvPr/>
        </p:nvSpPr>
        <p:spPr>
          <a:xfrm>
            <a:off x="1279525" y="1673225"/>
            <a:ext cx="9974580" cy="3667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/>
              <a:t>根据数据和任务说明，列出逻辑回归方程：y’=β</a:t>
            </a:r>
            <a:r>
              <a:rPr lang="zh-CN" altLang="en-US" baseline="-25000"/>
              <a:t>o</a:t>
            </a:r>
            <a:r>
              <a:rPr lang="zh-CN" altLang="en-US"/>
              <a:t>+β</a:t>
            </a:r>
            <a:r>
              <a:rPr lang="en-US" altLang="zh-CN" baseline="-25000"/>
              <a:t>1</a:t>
            </a:r>
            <a:r>
              <a:rPr lang="zh-CN" altLang="en-US"/>
              <a:t>x</a:t>
            </a:r>
            <a:r>
              <a:rPr lang="zh-CN" altLang="en-US" baseline="-25000"/>
              <a:t>1</a:t>
            </a:r>
            <a:r>
              <a:rPr lang="zh-CN" altLang="en-US"/>
              <a:t>+β</a:t>
            </a:r>
            <a:r>
              <a:rPr lang="zh-CN" altLang="en-US" baseline="-25000"/>
              <a:t>2</a:t>
            </a:r>
            <a:r>
              <a:rPr lang="zh-CN" altLang="en-US"/>
              <a:t>x</a:t>
            </a:r>
            <a:r>
              <a:rPr lang="zh-CN" altLang="en-US" baseline="-25000"/>
              <a:t>2</a:t>
            </a:r>
            <a:r>
              <a:rPr lang="zh-CN" altLang="en-US"/>
              <a:t>+β</a:t>
            </a:r>
            <a:r>
              <a:rPr lang="zh-CN" altLang="en-US" baseline="-25000"/>
              <a:t>3</a:t>
            </a:r>
            <a:r>
              <a:rPr lang="zh-CN" altLang="en-US"/>
              <a:t>x</a:t>
            </a:r>
            <a:r>
              <a:rPr lang="en-US" altLang="zh-CN" baseline="-25000"/>
              <a:t>3</a:t>
            </a:r>
            <a:r>
              <a:rPr lang="zh-CN" altLang="en-US"/>
              <a:t>+β4x4，其中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当前参数取值      β =(0.96000130,0.80000646,0.87000412,0.94400183,0.99200026)</a:t>
            </a:r>
            <a:r>
              <a:rPr lang="zh-CN" altLang="en-US" baseline="30000"/>
              <a:t>T</a:t>
            </a:r>
            <a:r>
              <a:rPr lang="zh-CN" altLang="en-US"/>
              <a:t>,α=0.01</a:t>
            </a:r>
          </a:p>
          <a:p>
            <a:pPr>
              <a:lnSpc>
                <a:spcPct val="140000"/>
              </a:lnSpc>
            </a:pPr>
            <a:r>
              <a:rPr lang="zh-CN" altLang="en-US"/>
              <a:t>                                 MaxLoops =10000,currLoop = 10000</a:t>
            </a:r>
          </a:p>
          <a:p>
            <a:pPr>
              <a:lnSpc>
                <a:spcPct val="140000"/>
              </a:lnSpc>
            </a:pPr>
            <a:r>
              <a:rPr lang="zh-CN" altLang="en-US"/>
              <a:t>通过误差大小控制，退出循环，例如要求误差 ε≤0.05     currLoop=426</a:t>
            </a:r>
          </a:p>
          <a:p>
            <a:pPr>
              <a:lnSpc>
                <a:spcPct val="30000"/>
              </a:lnSpc>
            </a:pPr>
            <a:endParaRPr lang="zh-CN" altLang="en-US"/>
          </a:p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β</a:t>
            </a:r>
            <a:r>
              <a:rPr lang="zh-CN" altLang="en-US" sz="2000" baseline="30000">
                <a:sym typeface="+mn-ea"/>
              </a:rPr>
              <a:t>（</a:t>
            </a:r>
            <a:r>
              <a:rPr lang="en-US" altLang="zh-CN" sz="2000" baseline="30000">
                <a:sym typeface="+mn-ea"/>
              </a:rPr>
              <a:t>426</a:t>
            </a:r>
            <a:r>
              <a:rPr lang="zh-CN" altLang="en-US" sz="2000" baseline="30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800">
                <a:sym typeface="+mn-ea"/>
              </a:rPr>
              <a:t>（           ）</a:t>
            </a:r>
            <a:endParaRPr lang="zh-CN" altLang="en-US" sz="2000"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3200"/>
          </a:p>
          <a:p>
            <a:pPr>
              <a:lnSpc>
                <a:spcPct val="80000"/>
              </a:lnSpc>
            </a:pP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（xβ）</a:t>
            </a:r>
            <a:r>
              <a:rPr lang="en-US" altLang="zh-CN" sz="32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  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3528DD-9B99-49AC-92A0-3A8144A8E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44675"/>
            <a:ext cx="1188720" cy="4114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35E7B42-8AE8-49C2-B211-8AF08E22644C}"/>
              </a:ext>
            </a:extLst>
          </p:cNvPr>
          <p:cNvSpPr txBox="1"/>
          <p:nvPr/>
        </p:nvSpPr>
        <p:spPr>
          <a:xfrm>
            <a:off x="5026025" y="3524885"/>
            <a:ext cx="1742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1  5.1  3.5  1.4  0.2</a:t>
            </a:r>
          </a:p>
          <a:p>
            <a:r>
              <a:rPr lang="en-US" altLang="zh-CN" sz="1400"/>
              <a:t>1  4.9   3    1.4  0.2</a:t>
            </a:r>
          </a:p>
          <a:p>
            <a:r>
              <a:rPr lang="en-US" altLang="zh-CN" sz="1400"/>
              <a:t>1   7    3.2  4.7  1.4</a:t>
            </a:r>
          </a:p>
          <a:p>
            <a:r>
              <a:rPr lang="en-US" altLang="zh-CN" sz="1400"/>
              <a:t>1  6.4  3.2  4.5  1.5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C4D157-0691-4517-B20D-56896011D36A}"/>
              </a:ext>
            </a:extLst>
          </p:cNvPr>
          <p:cNvSpPr txBox="1"/>
          <p:nvPr/>
        </p:nvSpPr>
        <p:spPr>
          <a:xfrm>
            <a:off x="9469755" y="3413125"/>
            <a:ext cx="11582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-3.5100311</a:t>
            </a:r>
          </a:p>
          <a:p>
            <a:r>
              <a:rPr lang="en-US" altLang="zh-CN" sz="1400"/>
              <a:t>-2.9460223</a:t>
            </a:r>
          </a:p>
          <a:p>
            <a:r>
              <a:rPr lang="en-US" altLang="zh-CN" sz="1400"/>
              <a:t>3.4694546</a:t>
            </a:r>
          </a:p>
          <a:p>
            <a:r>
              <a:rPr lang="en-US" altLang="zh-CN" sz="1400"/>
              <a:t>3.7297718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42C8B6-02FC-4914-9E24-7EF7159C4EDB}"/>
              </a:ext>
            </a:extLst>
          </p:cNvPr>
          <p:cNvSpPr txBox="1"/>
          <p:nvPr/>
        </p:nvSpPr>
        <p:spPr>
          <a:xfrm>
            <a:off x="2715895" y="4546600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0.029028158</a:t>
            </a:r>
          </a:p>
          <a:p>
            <a:r>
              <a:rPr lang="en-US" altLang="zh-CN" sz="1400"/>
              <a:t>0.049924847</a:t>
            </a:r>
          </a:p>
          <a:p>
            <a:r>
              <a:rPr lang="en-US" altLang="zh-CN" sz="1400"/>
              <a:t>0.969806051</a:t>
            </a:r>
          </a:p>
          <a:p>
            <a:r>
              <a:rPr lang="en-US" altLang="zh-CN" sz="1400"/>
              <a:t>0.976564110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6E62A9-D49C-40C3-858D-A36CBC0BC3F9}"/>
              </a:ext>
            </a:extLst>
          </p:cNvPr>
          <p:cNvSpPr txBox="1"/>
          <p:nvPr/>
        </p:nvSpPr>
        <p:spPr>
          <a:xfrm>
            <a:off x="7504430" y="3309620"/>
            <a:ext cx="15011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ym typeface="+mn-ea"/>
              </a:rPr>
              <a:t>0.44614058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-0.82450451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-0.79821592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1.95073776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1.55762074</a:t>
            </a:r>
            <a:endParaRPr lang="en-US" altLang="zh-CN" sz="1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77C1E7-2C48-4009-AE01-C5E00D314335}"/>
              </a:ext>
            </a:extLst>
          </p:cNvPr>
          <p:cNvSpPr txBox="1"/>
          <p:nvPr/>
        </p:nvSpPr>
        <p:spPr>
          <a:xfrm>
            <a:off x="2564130" y="3305810"/>
            <a:ext cx="15011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0.44614058</a:t>
            </a:r>
          </a:p>
          <a:p>
            <a:r>
              <a:rPr lang="en-US" altLang="zh-CN" sz="1400"/>
              <a:t>-0.82450451</a:t>
            </a:r>
          </a:p>
          <a:p>
            <a:r>
              <a:rPr lang="en-US" altLang="zh-CN" sz="1400"/>
              <a:t>-0.79821592</a:t>
            </a:r>
          </a:p>
          <a:p>
            <a:r>
              <a:rPr lang="en-US" altLang="zh-CN" sz="1400"/>
              <a:t>1.95073776</a:t>
            </a:r>
          </a:p>
          <a:p>
            <a:r>
              <a:rPr lang="en-US" altLang="zh-CN" sz="1400"/>
              <a:t>1.55762074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D12F6F-986E-43F0-BC6A-849CF5E32102}"/>
              </a:ext>
            </a:extLst>
          </p:cNvPr>
          <p:cNvSpPr txBox="1"/>
          <p:nvPr/>
        </p:nvSpPr>
        <p:spPr>
          <a:xfrm>
            <a:off x="4217035" y="3413760"/>
            <a:ext cx="6847840" cy="780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000">
                <a:sym typeface="+mn-ea"/>
              </a:rPr>
              <a:t>xβ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     ）</a:t>
            </a:r>
            <a:r>
              <a:rPr lang="en-US" altLang="zh-CN" sz="1400">
                <a:sym typeface="+mn-ea"/>
              </a:rPr>
              <a:t>*</a:t>
            </a:r>
            <a:r>
              <a:rPr lang="zh-CN" altLang="en-US" sz="3200">
                <a:sym typeface="+mn-ea"/>
              </a:rPr>
              <a:t>（         ）</a:t>
            </a:r>
            <a:r>
              <a:rPr lang="en-US" altLang="zh-CN" sz="16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）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10402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0FF3B63F-6874-41E7-9372-3F94D84CD67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182540" y="866295"/>
            <a:ext cx="9626400" cy="723600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/>
              <a:t>逻辑回归案例：</a:t>
            </a:r>
            <a:r>
              <a:rPr lang="en-US" altLang="zh-CN"/>
              <a:t>BGA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36BE90-CDAC-43F1-B2A8-E776008D124A}"/>
              </a:ext>
            </a:extLst>
          </p:cNvPr>
          <p:cNvSpPr txBox="1"/>
          <p:nvPr/>
        </p:nvSpPr>
        <p:spPr>
          <a:xfrm>
            <a:off x="1279525" y="1673225"/>
            <a:ext cx="9974580" cy="3804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30000"/>
              </a:lnSpc>
            </a:pPr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 sz="2000">
                <a:sym typeface="+mn-ea"/>
              </a:rPr>
              <a:t>使用测试数据预测：</a:t>
            </a:r>
          </a:p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β</a:t>
            </a:r>
            <a:r>
              <a:rPr lang="zh-CN" altLang="en-US" sz="2000" baseline="30000">
                <a:sym typeface="+mn-ea"/>
              </a:rPr>
              <a:t>（</a:t>
            </a:r>
            <a:r>
              <a:rPr lang="en-US" altLang="zh-CN" sz="2000" baseline="30000">
                <a:sym typeface="+mn-ea"/>
              </a:rPr>
              <a:t>426</a:t>
            </a:r>
            <a:r>
              <a:rPr lang="zh-CN" altLang="en-US" sz="2000" baseline="30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800">
                <a:sym typeface="+mn-ea"/>
              </a:rPr>
              <a:t>（           ）</a:t>
            </a:r>
            <a:endParaRPr lang="zh-CN" altLang="en-US" sz="2000"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3200"/>
          </a:p>
          <a:p>
            <a:pPr>
              <a:lnSpc>
                <a:spcPct val="140000"/>
              </a:lnSpc>
            </a:pPr>
            <a:endParaRPr lang="zh-CN" altLang="en-US" sz="3200"/>
          </a:p>
          <a:p>
            <a:pPr>
              <a:lnSpc>
                <a:spcPct val="140000"/>
              </a:lnSpc>
            </a:pPr>
            <a:endParaRPr lang="zh-CN" altLang="en-US" sz="3200"/>
          </a:p>
          <a:p>
            <a:pPr>
              <a:lnSpc>
                <a:spcPct val="80000"/>
              </a:lnSpc>
            </a:pP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（xβ）</a:t>
            </a:r>
            <a:r>
              <a:rPr lang="en-US" altLang="zh-CN" sz="32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  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43C2A-42D0-442E-AA52-73D365FC4D7A}"/>
              </a:ext>
            </a:extLst>
          </p:cNvPr>
          <p:cNvSpPr txBox="1"/>
          <p:nvPr/>
        </p:nvSpPr>
        <p:spPr>
          <a:xfrm>
            <a:off x="2113915" y="3434080"/>
            <a:ext cx="1742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1  5.1  3.5  1.3  0.3</a:t>
            </a:r>
          </a:p>
          <a:p>
            <a:r>
              <a:rPr lang="en-US" altLang="zh-CN" sz="1400"/>
              <a:t>1  4.5  2.3  1.3  0.3</a:t>
            </a:r>
          </a:p>
          <a:p>
            <a:r>
              <a:rPr lang="en-US" altLang="zh-CN" sz="1400"/>
              <a:t>1  5.5  2.6  4.4  1.2</a:t>
            </a:r>
          </a:p>
          <a:p>
            <a:r>
              <a:rPr lang="en-US" altLang="zh-CN" sz="1400"/>
              <a:t>1  6.1    3   4.6  1.4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BCE85F-6A9E-4EAC-A7E6-419345142A5A}"/>
              </a:ext>
            </a:extLst>
          </p:cNvPr>
          <p:cNvSpPr txBox="1"/>
          <p:nvPr/>
        </p:nvSpPr>
        <p:spPr>
          <a:xfrm>
            <a:off x="6557645" y="3326765"/>
            <a:ext cx="11988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-1.3378036</a:t>
            </a:r>
          </a:p>
          <a:p>
            <a:r>
              <a:rPr lang="en-US" altLang="zh-CN" sz="1400"/>
              <a:t>-1.0147794</a:t>
            </a:r>
          </a:p>
          <a:p>
            <a:r>
              <a:rPr lang="en-US" altLang="zh-CN" sz="1400"/>
              <a:t> 1.0216084</a:t>
            </a:r>
          </a:p>
          <a:p>
            <a:r>
              <a:rPr lang="en-US" altLang="zh-CN" sz="1400"/>
              <a:t> 1.1086410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1C716A-4E31-4AD3-B269-1619618F3AFD}"/>
              </a:ext>
            </a:extLst>
          </p:cNvPr>
          <p:cNvSpPr txBox="1"/>
          <p:nvPr/>
        </p:nvSpPr>
        <p:spPr>
          <a:xfrm>
            <a:off x="2796540" y="4770755"/>
            <a:ext cx="1501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0.20787149</a:t>
            </a:r>
          </a:p>
          <a:p>
            <a:r>
              <a:rPr lang="en-US" altLang="zh-CN" sz="1400"/>
              <a:t>0.26604555</a:t>
            </a:r>
          </a:p>
          <a:p>
            <a:r>
              <a:rPr lang="en-US" altLang="zh-CN" sz="1400"/>
              <a:t>0.73528578</a:t>
            </a:r>
          </a:p>
          <a:p>
            <a:r>
              <a:rPr lang="en-US" altLang="zh-CN" sz="1400"/>
              <a:t>0.75187567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C0DD16-BE77-4B91-9E60-55E6402F9EF1}"/>
              </a:ext>
            </a:extLst>
          </p:cNvPr>
          <p:cNvSpPr txBox="1"/>
          <p:nvPr/>
        </p:nvSpPr>
        <p:spPr>
          <a:xfrm>
            <a:off x="4592320" y="3218815"/>
            <a:ext cx="15011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ym typeface="+mn-ea"/>
              </a:rPr>
              <a:t>0.44614058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-0.82450451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-0.79821592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1.95073776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1.55762074</a:t>
            </a:r>
            <a:endParaRPr lang="en-US" altLang="zh-CN" sz="1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994FC0-ECF1-4416-B3C6-0026F6B018C9}"/>
              </a:ext>
            </a:extLst>
          </p:cNvPr>
          <p:cNvSpPr txBox="1"/>
          <p:nvPr/>
        </p:nvSpPr>
        <p:spPr>
          <a:xfrm>
            <a:off x="2543810" y="2076450"/>
            <a:ext cx="15011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0.44614058</a:t>
            </a:r>
          </a:p>
          <a:p>
            <a:r>
              <a:rPr lang="en-US" altLang="zh-CN" sz="1400"/>
              <a:t>-0.82450451</a:t>
            </a:r>
          </a:p>
          <a:p>
            <a:r>
              <a:rPr lang="en-US" altLang="zh-CN" sz="1400"/>
              <a:t>-0.79821592</a:t>
            </a:r>
          </a:p>
          <a:p>
            <a:r>
              <a:rPr lang="en-US" altLang="zh-CN" sz="1400"/>
              <a:t>1.95073776</a:t>
            </a:r>
          </a:p>
          <a:p>
            <a:r>
              <a:rPr lang="en-US" altLang="zh-CN" sz="1400"/>
              <a:t>1.55762074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85D9C6-7A39-4166-9801-B6B4576DCFF5}"/>
              </a:ext>
            </a:extLst>
          </p:cNvPr>
          <p:cNvSpPr txBox="1"/>
          <p:nvPr/>
        </p:nvSpPr>
        <p:spPr>
          <a:xfrm>
            <a:off x="1279525" y="3413125"/>
            <a:ext cx="6847840" cy="780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000">
                <a:sym typeface="+mn-ea"/>
              </a:rPr>
              <a:t>xβ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     ）</a:t>
            </a:r>
            <a:r>
              <a:rPr lang="en-US" altLang="zh-CN" sz="1400">
                <a:sym typeface="+mn-ea"/>
              </a:rPr>
              <a:t>*</a:t>
            </a:r>
            <a:r>
              <a:rPr lang="zh-CN" altLang="en-US" sz="3200">
                <a:sym typeface="+mn-ea"/>
              </a:rPr>
              <a:t>（         ）</a:t>
            </a:r>
            <a:r>
              <a:rPr lang="en-US" altLang="zh-CN" sz="16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（         ）</a:t>
            </a:r>
            <a:endParaRPr lang="zh-CN" altLang="en-US" sz="32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0CC4424-24A2-4251-ABB5-B7D4D71B7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335" y="1734185"/>
            <a:ext cx="2611755" cy="131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61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8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8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884"/>
  <p:tag name="KSO_WM_TEMPLATE_MASTER_THUMB_INDEX" val="12"/>
  <p:tag name="KSO_WM_TEMPLATE_THUMBS_INDEX" val="1、4、7、8、11、14、15、16、17、18、19、20、21、22、23、24、25、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SLIDE_BACKGROUND_TYPE" val="genera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  <p:tag name="KSO_WM_SLIDE_BACKGROUND_TYPE" val="genera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  <p:tag name="KSO_WM_SLIDE_BACKGROUND_TYPE" val="genera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4*i*5"/>
  <p:tag name="KSO_WM_UNIT_LAYERLEVEL" val="1"/>
  <p:tag name="KSO_WM_TAG_VERSION" val="1.0"/>
  <p:tag name="KSO_WM_BEAUTIFY_FLAG" val="#wm#"/>
  <p:tag name="KSO_WM_SLIDE_BACKGROUND_TYPE" val="left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UNIT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  <p:tag name="KSO_WM_SLIDE_BACKGROUND_TYPE" val="left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  <p:tag name="KSO_WM_SLIDE_BACKGROUND_TYPE" val="left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  <p:tag name="KSO_WM_SLIDE_BACKGROUND_TYPE" val="topBotto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  <p:tag name="KSO_WM_SLIDE_BACKGROUND_TYPE" val="topBotto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  <p:tag name="KSO_WM_SLIDE_BACKGROUND_TYPE" val="topBotto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UNIT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  <p:tag name="KSO_WM_SLIDE_BACKGROUND_TYPE" val="bottomTop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  <p:tag name="KSO_WM_SLIDE_BACKGROUND_TYPE" val="bottomTop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  <p:tag name="KSO_WM_SLIDE_BACKGROUND_TYPE" val="bottomTop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  <p:tag name="KSO_WM_SLIDE_BACKGROUND_TYPE" val="navigatio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  <p:tag name="KSO_WM_SLIDE_BACKGROUND_TYPE" val="navigation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  <p:tag name="KSO_WM_SLIDE_BACKGROUND_TYPE" val="navigation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UNIT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884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884"/>
  <p:tag name="KSO_WM_SLIDE_LAYOUT" val="a_b"/>
  <p:tag name="KSO_WM_SLIDE_LAYOUT_CNT" val="1_3"/>
  <p:tag name="KSO_WM_TEMPLATE_THUMBS_INDEX" val="1、4、7、8、11、14、15、16、17、18、19、20、21、22、23、24、25、26"/>
  <p:tag name="KSO_WM_TEMPLATE_MASTER_THUMB_INDEX" val="12"/>
  <p:tag name="KSO_WM_SLIDE_MODEL_TYPE" val="cov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1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简约工作汇报模板"/>
  <p:tag name="KSO_WM_UNIT_ISNUMDGMTITLE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3884_1*b*2"/>
  <p:tag name="KSO_WM_TEMPLATE_CATEGORY" val="custom"/>
  <p:tag name="KSO_WM_TEMPLATE_INDEX" val="20203884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884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3884"/>
  <p:tag name="KSO_WM_SLIDE_LAYOUT" val="a_l"/>
  <p:tag name="KSO_WM_SLIDE_LAYOUT_CNT" val="1_1"/>
  <p:tag name="KSO_WM_SLIDE_TYPE" val="contents"/>
  <p:tag name="KSO_WM_SLIDE_SUBTYPE" val="dia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1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UNIT_TEXT_FILL_FORE_SCHEMECOLOR_INDEX" val="5"/>
  <p:tag name="KSO_WM_UNIT_TEXT_FILL_TYPE" val="1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1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1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NUMDGMTITLE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3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3_1"/>
  <p:tag name="KSO_WM_UNIT_TEXT_FILL_FORE_SCHEMECOLOR_INDEX" val="5"/>
  <p:tag name="KSO_WM_UNIT_TEXT_FILL_TYPE" val="1"/>
  <p:tag name="KSO_WM_UNIT_USESOURCEFORMAT_APPLY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3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3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VALUE" val="10"/>
  <p:tag name="KSO_WM_UNIT_ISNUMDGMTITLE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2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2_1"/>
  <p:tag name="KSO_WM_UNIT_TEXT_FILL_FORE_SCHEMECOLOR_INDEX" val="5"/>
  <p:tag name="KSO_WM_UNIT_TEXT_FILL_TYPE" val="1"/>
  <p:tag name="KSO_WM_UNIT_USESOURCEFORMAT_APPLY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2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2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VALUE" val="10"/>
  <p:tag name="KSO_WM_UNIT_ISNUMDGMTITLE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4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4_1"/>
  <p:tag name="KSO_WM_UNIT_TEXT_FILL_FORE_SCHEMECOLOR_INDEX" val="5"/>
  <p:tag name="KSO_WM_UNIT_TEXT_FILL_TYPE" val="1"/>
  <p:tag name="KSO_WM_UNIT_USESOURCEFORMAT_APPLY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4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4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NUMDGMTITLE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7"/>
  <p:tag name="KSO_WM_DIAGRAM_GROUP_CODE" val="l1-1"/>
  <p:tag name="KSO_WM_UNIT_TYPE" val="a"/>
  <p:tag name="KSO_WM_UNIT_INDEX" val="1"/>
  <p:tag name="KSO_WM_UNIT_TEXT_FILL_FORE_SCHEMECOLOR_INDEX" val="13"/>
  <p:tag name="KSO_WM_UNIT_TEXT_FILL_TYPE" val="1"/>
  <p:tag name="KSO_WM_UNIT_USESOURCEFORMAT_APPLY" val="1"/>
  <p:tag name="KSO_WM_UNIT_ISNUMDGMTITLE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6"/>
  <p:tag name="KSO_WM_UNIT_ID" val="custom20204426_8*i*6"/>
  <p:tag name="KSO_WM_TEMPLATE_CATEGORY" val="custom"/>
  <p:tag name="KSO_WM_TEMPLATE_INDEX" val="20204426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16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ISNUMDGMTITLE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20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单击此处添加标题"/>
  <p:tag name="KSO_WM_UNIT_ISNUMDGMTITLE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884_26"/>
  <p:tag name="KSO_WM_TEMPLATE_SUBCATEGORY" val="0"/>
  <p:tag name="KSO_WM_TEMPLATE_MASTER_TYPE" val="1"/>
  <p:tag name="KSO_WM_TEMPLATE_COLOR_TYPE" val="1"/>
  <p:tag name="KSO_WM_SLIDE_ITEM_CNT" val="0"/>
  <p:tag name="KSO_WM_SLIDE_INDEX" val="26"/>
  <p:tag name="KSO_WM_TAG_VERSION" val="1.0"/>
  <p:tag name="KSO_WM_BEAUTIFY_FLAG" val="#wm#"/>
  <p:tag name="KSO_WM_TEMPLATE_CATEGORY" val="custom"/>
  <p:tag name="KSO_WM_TEMPLATE_INDEX" val="20203884"/>
  <p:tag name="KSO_WM_SLIDE_TYPE" val="endPage"/>
  <p:tag name="KSO_WM_SLIDE_SUBTYPE" val="pureTxt"/>
  <p:tag name="KSO_WM_SLIDE_LAYOUT" val="a"/>
  <p:tag name="KSO_WM_SLIDE_LAYOUT_CNT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26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5"/>
  <p:tag name="KSO_WM_UNIT_TYPE" val="a"/>
  <p:tag name="KSO_WM_UNIT_INDEX" val="1"/>
  <p:tag name="KSO_WM_UNIT_PRESET_TEXT" val="THANKS"/>
  <p:tag name="KSO_WM_UNIT_ISNUMDGMTITLE" val="0"/>
</p:tagLst>
</file>

<file path=ppt/theme/theme1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002842"/>
      </a:dk2>
      <a:lt2>
        <a:srgbClr val="FFFFFF"/>
      </a:lt2>
      <a:accent1>
        <a:srgbClr val="5195A5"/>
      </a:accent1>
      <a:accent2>
        <a:srgbClr val="8CA26C"/>
      </a:accent2>
      <a:accent3>
        <a:srgbClr val="C5B331"/>
      </a:accent3>
      <a:accent4>
        <a:srgbClr val="E1A215"/>
      </a:accent4>
      <a:accent5>
        <a:srgbClr val="E87A20"/>
      </a:accent5>
      <a:accent6>
        <a:srgbClr val="DD431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1323</Words>
  <Application>Microsoft Office PowerPoint</Application>
  <PresentationFormat>宽屏</PresentationFormat>
  <Paragraphs>259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微软雅黑</vt:lpstr>
      <vt:lpstr>Arial</vt:lpstr>
      <vt:lpstr>Calibri</vt:lpstr>
      <vt:lpstr>Open Sans</vt:lpstr>
      <vt:lpstr>Wingdings</vt:lpstr>
      <vt:lpstr>Office 主题​​</vt:lpstr>
      <vt:lpstr>逻辑回归</vt:lpstr>
      <vt:lpstr>PowerPoint 演示文稿</vt:lpstr>
      <vt:lpstr>对数几率回归（linear model）</vt:lpstr>
      <vt:lpstr>PowerPoint 演示文稿</vt:lpstr>
      <vt:lpstr>PowerPoint 演示文稿</vt:lpstr>
      <vt:lpstr>PowerPoint 演示文稿</vt:lpstr>
      <vt:lpstr>PowerPoint 演示文稿</vt:lpstr>
      <vt:lpstr>逻辑回归案例：BGA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课程介绍</dc:title>
  <dc:creator>邵欣怡</dc:creator>
  <cp:lastModifiedBy>LIU HAIBIN</cp:lastModifiedBy>
  <cp:revision>43</cp:revision>
  <dcterms:created xsi:type="dcterms:W3CDTF">2021-03-01T12:12:00Z</dcterms:created>
  <dcterms:modified xsi:type="dcterms:W3CDTF">2021-05-12T02:32:11Z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</Properties>
</file>