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heme/theme2.xml" ContentType="application/vnd.openxmlformats-officedocument.theme+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notesSlides/notesSlide1.xml" ContentType="application/vnd.openxmlformats-officedocument.presentationml.notesSlide+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7" r:id="rId2"/>
    <p:sldId id="259" r:id="rId3"/>
    <p:sldId id="263" r:id="rId4"/>
    <p:sldId id="308" r:id="rId5"/>
    <p:sldId id="293" r:id="rId6"/>
    <p:sldId id="291" r:id="rId7"/>
    <p:sldId id="290" r:id="rId8"/>
    <p:sldId id="292" r:id="rId9"/>
    <p:sldId id="296" r:id="rId10"/>
    <p:sldId id="297" r:id="rId11"/>
    <p:sldId id="298" r:id="rId12"/>
    <p:sldId id="260"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6" d="100"/>
          <a:sy n="86" d="100"/>
        </p:scale>
        <p:origin x="36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2021/5/12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tags" Target="../tags/tag19.xml"/><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tags" Target="../tags/tag18.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tags" Target="../tags/tag17.xml"/><Relationship Id="rId5" Type="http://schemas.openxmlformats.org/officeDocument/2006/relationships/tags" Target="../tags/tag11.xml"/><Relationship Id="rId10" Type="http://schemas.openxmlformats.org/officeDocument/2006/relationships/tags" Target="../tags/tag16.xml"/><Relationship Id="rId4" Type="http://schemas.openxmlformats.org/officeDocument/2006/relationships/tags" Target="../tags/tag10.xml"/><Relationship Id="rId9" Type="http://schemas.openxmlformats.org/officeDocument/2006/relationships/tags" Target="../tags/tag15.xml"/><Relationship Id="rId1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slideMaster" Target="../slideMasters/slideMaster1.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5.xml"/><Relationship Id="rId3" Type="http://schemas.openxmlformats.org/officeDocument/2006/relationships/tags" Target="../tags/tag40.xml"/><Relationship Id="rId7" Type="http://schemas.openxmlformats.org/officeDocument/2006/relationships/tags" Target="../tags/tag4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3.xml"/><Relationship Id="rId3" Type="http://schemas.openxmlformats.org/officeDocument/2006/relationships/tags" Target="../tags/tag48.xml"/><Relationship Id="rId7" Type="http://schemas.openxmlformats.org/officeDocument/2006/relationships/tags" Target="../tags/tag5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5" Type="http://schemas.openxmlformats.org/officeDocument/2006/relationships/tags" Target="../tags/tag50.xml"/><Relationship Id="rId10" Type="http://schemas.openxmlformats.org/officeDocument/2006/relationships/slideMaster" Target="../slideMasters/slideMaster1.xml"/><Relationship Id="rId4" Type="http://schemas.openxmlformats.org/officeDocument/2006/relationships/tags" Target="../tags/tag49.xml"/><Relationship Id="rId9" Type="http://schemas.openxmlformats.org/officeDocument/2006/relationships/tags" Target="../tags/tag54.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slideMaster" Target="../slideMasters/slideMaster1.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slideMaster" Target="../slideMasters/slideMaster1.xml"/><Relationship Id="rId5" Type="http://schemas.openxmlformats.org/officeDocument/2006/relationships/tags" Target="../tags/tag68.xml"/><Relationship Id="rId4" Type="http://schemas.openxmlformats.org/officeDocument/2006/relationships/tags" Target="../tags/tag6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slideMaster" Target="../slideMasters/slideMaster1.xml"/><Relationship Id="rId4" Type="http://schemas.openxmlformats.org/officeDocument/2006/relationships/tags" Target="../tags/tag72.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tags" Target="../tags/tag85.xml"/><Relationship Id="rId18" Type="http://schemas.openxmlformats.org/officeDocument/2006/relationships/tags" Target="../tags/tag90.xml"/><Relationship Id="rId3" Type="http://schemas.openxmlformats.org/officeDocument/2006/relationships/tags" Target="../tags/tag75.xml"/><Relationship Id="rId21" Type="http://schemas.openxmlformats.org/officeDocument/2006/relationships/tags" Target="../tags/tag93.xml"/><Relationship Id="rId7" Type="http://schemas.openxmlformats.org/officeDocument/2006/relationships/tags" Target="../tags/tag79.xml"/><Relationship Id="rId12" Type="http://schemas.openxmlformats.org/officeDocument/2006/relationships/tags" Target="../tags/tag84.xml"/><Relationship Id="rId17" Type="http://schemas.openxmlformats.org/officeDocument/2006/relationships/tags" Target="../tags/tag89.xml"/><Relationship Id="rId25" Type="http://schemas.openxmlformats.org/officeDocument/2006/relationships/slideMaster" Target="../slideMasters/slideMaster1.xml"/><Relationship Id="rId2" Type="http://schemas.openxmlformats.org/officeDocument/2006/relationships/tags" Target="../tags/tag74.xml"/><Relationship Id="rId16" Type="http://schemas.openxmlformats.org/officeDocument/2006/relationships/tags" Target="../tags/tag88.xml"/><Relationship Id="rId20" Type="http://schemas.openxmlformats.org/officeDocument/2006/relationships/tags" Target="../tags/tag92.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24" Type="http://schemas.openxmlformats.org/officeDocument/2006/relationships/tags" Target="../tags/tag96.xml"/><Relationship Id="rId5" Type="http://schemas.openxmlformats.org/officeDocument/2006/relationships/tags" Target="../tags/tag77.xml"/><Relationship Id="rId15" Type="http://schemas.openxmlformats.org/officeDocument/2006/relationships/tags" Target="../tags/tag87.xml"/><Relationship Id="rId23" Type="http://schemas.openxmlformats.org/officeDocument/2006/relationships/tags" Target="../tags/tag95.xml"/><Relationship Id="rId10" Type="http://schemas.openxmlformats.org/officeDocument/2006/relationships/tags" Target="../tags/tag82.xml"/><Relationship Id="rId19" Type="http://schemas.openxmlformats.org/officeDocument/2006/relationships/tags" Target="../tags/tag91.xml"/><Relationship Id="rId4" Type="http://schemas.openxmlformats.org/officeDocument/2006/relationships/tags" Target="../tags/tag76.xml"/><Relationship Id="rId9" Type="http://schemas.openxmlformats.org/officeDocument/2006/relationships/tags" Target="../tags/tag81.xml"/><Relationship Id="rId14" Type="http://schemas.openxmlformats.org/officeDocument/2006/relationships/tags" Target="../tags/tag86.xml"/><Relationship Id="rId22" Type="http://schemas.openxmlformats.org/officeDocument/2006/relationships/tags" Target="../tags/tag94.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slideMaster" Target="../slideMasters/slideMaster1.xml"/><Relationship Id="rId5" Type="http://schemas.openxmlformats.org/officeDocument/2006/relationships/tags" Target="../tags/tag108.xml"/><Relationship Id="rId10" Type="http://schemas.openxmlformats.org/officeDocument/2006/relationships/tags" Target="../tags/tag113.xml"/><Relationship Id="rId4" Type="http://schemas.openxmlformats.org/officeDocument/2006/relationships/tags" Target="../tags/tag107.xml"/><Relationship Id="rId9" Type="http://schemas.openxmlformats.org/officeDocument/2006/relationships/tags" Target="../tags/tag112.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21.xml"/><Relationship Id="rId3" Type="http://schemas.openxmlformats.org/officeDocument/2006/relationships/tags" Target="../tags/tag116.xml"/><Relationship Id="rId7" Type="http://schemas.openxmlformats.org/officeDocument/2006/relationships/tags" Target="../tags/tag120.xml"/><Relationship Id="rId12" Type="http://schemas.openxmlformats.org/officeDocument/2006/relationships/slideMaster" Target="../slideMasters/slideMaster1.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tags" Target="../tags/tag124.xml"/><Relationship Id="rId5" Type="http://schemas.openxmlformats.org/officeDocument/2006/relationships/tags" Target="../tags/tag118.xml"/><Relationship Id="rId10" Type="http://schemas.openxmlformats.org/officeDocument/2006/relationships/tags" Target="../tags/tag123.xml"/><Relationship Id="rId4" Type="http://schemas.openxmlformats.org/officeDocument/2006/relationships/tags" Target="../tags/tag117.xml"/><Relationship Id="rId9" Type="http://schemas.openxmlformats.org/officeDocument/2006/relationships/tags" Target="../tags/tag122.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32.xml"/><Relationship Id="rId3" Type="http://schemas.openxmlformats.org/officeDocument/2006/relationships/tags" Target="../tags/tag127.xml"/><Relationship Id="rId7" Type="http://schemas.openxmlformats.org/officeDocument/2006/relationships/tags" Target="../tags/tag131.xml"/><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tags" Target="../tags/tag130.xml"/><Relationship Id="rId11" Type="http://schemas.openxmlformats.org/officeDocument/2006/relationships/slideMaster" Target="../slideMasters/slideMaster1.xml"/><Relationship Id="rId5" Type="http://schemas.openxmlformats.org/officeDocument/2006/relationships/tags" Target="../tags/tag129.xml"/><Relationship Id="rId10" Type="http://schemas.openxmlformats.org/officeDocument/2006/relationships/tags" Target="../tags/tag134.xml"/><Relationship Id="rId4" Type="http://schemas.openxmlformats.org/officeDocument/2006/relationships/tags" Target="../tags/tag128.xml"/><Relationship Id="rId9" Type="http://schemas.openxmlformats.org/officeDocument/2006/relationships/tags" Target="../tags/tag133.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42.xml"/><Relationship Id="rId3" Type="http://schemas.openxmlformats.org/officeDocument/2006/relationships/tags" Target="../tags/tag137.xml"/><Relationship Id="rId7" Type="http://schemas.openxmlformats.org/officeDocument/2006/relationships/tags" Target="../tags/tag141.xml"/><Relationship Id="rId12" Type="http://schemas.openxmlformats.org/officeDocument/2006/relationships/slideMaster" Target="../slideMasters/slideMaster1.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tags" Target="../tags/tag140.xml"/><Relationship Id="rId11" Type="http://schemas.openxmlformats.org/officeDocument/2006/relationships/tags" Target="../tags/tag145.xml"/><Relationship Id="rId5" Type="http://schemas.openxmlformats.org/officeDocument/2006/relationships/tags" Target="../tags/tag139.xml"/><Relationship Id="rId10" Type="http://schemas.openxmlformats.org/officeDocument/2006/relationships/tags" Target="../tags/tag144.xml"/><Relationship Id="rId4" Type="http://schemas.openxmlformats.org/officeDocument/2006/relationships/tags" Target="../tags/tag138.xml"/><Relationship Id="rId9" Type="http://schemas.openxmlformats.org/officeDocument/2006/relationships/tags" Target="../tags/tag143.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53.xml"/><Relationship Id="rId13" Type="http://schemas.openxmlformats.org/officeDocument/2006/relationships/slideMaster" Target="../slideMasters/slideMaster1.xml"/><Relationship Id="rId3" Type="http://schemas.openxmlformats.org/officeDocument/2006/relationships/tags" Target="../tags/tag148.xml"/><Relationship Id="rId7" Type="http://schemas.openxmlformats.org/officeDocument/2006/relationships/tags" Target="../tags/tag152.xml"/><Relationship Id="rId12" Type="http://schemas.openxmlformats.org/officeDocument/2006/relationships/tags" Target="../tags/tag157.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tags" Target="../tags/tag151.xml"/><Relationship Id="rId11" Type="http://schemas.openxmlformats.org/officeDocument/2006/relationships/tags" Target="../tags/tag156.xml"/><Relationship Id="rId5" Type="http://schemas.openxmlformats.org/officeDocument/2006/relationships/tags" Target="../tags/tag150.xml"/><Relationship Id="rId10" Type="http://schemas.openxmlformats.org/officeDocument/2006/relationships/tags" Target="../tags/tag155.xml"/><Relationship Id="rId4" Type="http://schemas.openxmlformats.org/officeDocument/2006/relationships/tags" Target="../tags/tag149.xml"/><Relationship Id="rId9" Type="http://schemas.openxmlformats.org/officeDocument/2006/relationships/tags" Target="../tags/tag154.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65.xml"/><Relationship Id="rId13" Type="http://schemas.openxmlformats.org/officeDocument/2006/relationships/slideMaster" Target="../slideMasters/slideMaster1.xml"/><Relationship Id="rId3" Type="http://schemas.openxmlformats.org/officeDocument/2006/relationships/tags" Target="../tags/tag160.xml"/><Relationship Id="rId7" Type="http://schemas.openxmlformats.org/officeDocument/2006/relationships/tags" Target="../tags/tag164.xml"/><Relationship Id="rId12" Type="http://schemas.openxmlformats.org/officeDocument/2006/relationships/tags" Target="../tags/tag169.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tags" Target="../tags/tag163.xml"/><Relationship Id="rId11" Type="http://schemas.openxmlformats.org/officeDocument/2006/relationships/tags" Target="../tags/tag168.xml"/><Relationship Id="rId5" Type="http://schemas.openxmlformats.org/officeDocument/2006/relationships/tags" Target="../tags/tag162.xml"/><Relationship Id="rId10" Type="http://schemas.openxmlformats.org/officeDocument/2006/relationships/tags" Target="../tags/tag167.xml"/><Relationship Id="rId4" Type="http://schemas.openxmlformats.org/officeDocument/2006/relationships/tags" Target="../tags/tag161.xml"/><Relationship Id="rId9" Type="http://schemas.openxmlformats.org/officeDocument/2006/relationships/tags" Target="../tags/tag16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13" name="任意多边形: 形状 12"/>
          <p:cNvSpPr/>
          <p:nvPr>
            <p:custDataLst>
              <p:tags r:id="rId1"/>
            </p:custDataLst>
          </p:nvPr>
        </p:nvSpPr>
        <p:spPr>
          <a:xfrm>
            <a:off x="9070340" y="0"/>
            <a:ext cx="3121660" cy="2059940"/>
          </a:xfrm>
          <a:custGeom>
            <a:avLst/>
            <a:gdLst>
              <a:gd name="connsiteX0" fmla="*/ 3121594 w 3121594"/>
              <a:gd name="connsiteY0" fmla="*/ 2059935 h 2059935"/>
              <a:gd name="connsiteX1" fmla="*/ 3121594 w 3121594"/>
              <a:gd name="connsiteY1" fmla="*/ 0 h 2059935"/>
              <a:gd name="connsiteX2" fmla="*/ 0 w 3121594"/>
              <a:gd name="connsiteY2" fmla="*/ 0 h 2059935"/>
            </a:gdLst>
            <a:ahLst/>
            <a:cxnLst>
              <a:cxn ang="0">
                <a:pos x="connsiteX0" y="connsiteY0"/>
              </a:cxn>
              <a:cxn ang="0">
                <a:pos x="connsiteX1" y="connsiteY1"/>
              </a:cxn>
              <a:cxn ang="0">
                <a:pos x="connsiteX2" y="connsiteY2"/>
              </a:cxn>
            </a:cxnLst>
            <a:rect l="l" t="t" r="r" b="b"/>
            <a:pathLst>
              <a:path w="3121594" h="2059935">
                <a:moveTo>
                  <a:pt x="3121594" y="2059935"/>
                </a:moveTo>
                <a:lnTo>
                  <a:pt x="3121594" y="0"/>
                </a:lnTo>
                <a:lnTo>
                  <a:pt x="0" y="0"/>
                </a:lnTo>
                <a:close/>
              </a:path>
            </a:pathLst>
          </a:custGeom>
          <a:solidFill>
            <a:schemeClr val="accent6"/>
          </a:solidFill>
          <a:ln w="6335" cap="flat">
            <a:noFill/>
            <a:prstDash val="solid"/>
            <a:miter/>
          </a:ln>
        </p:spPr>
        <p:txBody>
          <a:bodyPr rtlCol="0" anchor="ctr"/>
          <a:lstStyle/>
          <a:p>
            <a:endParaRPr lang="zh-CN" altLang="en-US"/>
          </a:p>
        </p:txBody>
      </p:sp>
      <p:grpSp>
        <p:nvGrpSpPr>
          <p:cNvPr id="14" name="组合 13"/>
          <p:cNvGrpSpPr/>
          <p:nvPr>
            <p:custDataLst>
              <p:tags r:id="rId2"/>
            </p:custDataLst>
          </p:nvPr>
        </p:nvGrpSpPr>
        <p:grpSpPr>
          <a:xfrm>
            <a:off x="0" y="4744778"/>
            <a:ext cx="5066665" cy="2120842"/>
            <a:chOff x="0" y="5477"/>
            <a:chExt cx="12744" cy="5335"/>
          </a:xfrm>
        </p:grpSpPr>
        <p:sp>
          <p:nvSpPr>
            <p:cNvPr id="23" name="任意多边形: 形状 22"/>
            <p:cNvSpPr/>
            <p:nvPr>
              <p:custDataLst>
                <p:tags r:id="rId12"/>
              </p:custDataLst>
            </p:nvPr>
          </p:nvSpPr>
          <p:spPr>
            <a:xfrm>
              <a:off x="2" y="5477"/>
              <a:ext cx="12742" cy="5335"/>
            </a:xfrm>
            <a:custGeom>
              <a:avLst/>
              <a:gdLst>
                <a:gd name="connsiteX0" fmla="*/ 0 w 7228154"/>
                <a:gd name="connsiteY0" fmla="*/ 0 h 4082474"/>
                <a:gd name="connsiteX1" fmla="*/ 0 w 7228154"/>
                <a:gd name="connsiteY1" fmla="*/ 4082475 h 4082474"/>
                <a:gd name="connsiteX2" fmla="*/ 7228154 w 7228154"/>
                <a:gd name="connsiteY2" fmla="*/ 4082475 h 4082474"/>
              </a:gdLst>
              <a:ahLst/>
              <a:cxnLst>
                <a:cxn ang="0">
                  <a:pos x="connsiteX0" y="connsiteY0"/>
                </a:cxn>
                <a:cxn ang="0">
                  <a:pos x="connsiteX1" y="connsiteY1"/>
                </a:cxn>
                <a:cxn ang="0">
                  <a:pos x="connsiteX2" y="connsiteY2"/>
                </a:cxn>
              </a:cxnLst>
              <a:rect l="l" t="t" r="r" b="b"/>
              <a:pathLst>
                <a:path w="7228154" h="4082474">
                  <a:moveTo>
                    <a:pt x="0" y="0"/>
                  </a:moveTo>
                  <a:lnTo>
                    <a:pt x="0" y="4082475"/>
                  </a:lnTo>
                  <a:lnTo>
                    <a:pt x="7228154" y="4082475"/>
                  </a:lnTo>
                  <a:close/>
                </a:path>
              </a:pathLst>
            </a:custGeom>
            <a:solidFill>
              <a:schemeClr val="accent4"/>
            </a:solidFill>
            <a:ln w="6335" cap="flat">
              <a:noFill/>
              <a:prstDash val="solid"/>
              <a:miter/>
            </a:ln>
          </p:spPr>
          <p:txBody>
            <a:bodyPr rtlCol="0" anchor="ctr"/>
            <a:lstStyle/>
            <a:p>
              <a:endParaRPr lang="zh-CN" altLang="en-US" dirty="0"/>
            </a:p>
          </p:txBody>
        </p:sp>
        <p:sp>
          <p:nvSpPr>
            <p:cNvPr id="24" name="任意多边形: 形状 23"/>
            <p:cNvSpPr/>
            <p:nvPr>
              <p:custDataLst>
                <p:tags r:id="rId13"/>
              </p:custDataLst>
            </p:nvPr>
          </p:nvSpPr>
          <p:spPr>
            <a:xfrm>
              <a:off x="0" y="6151"/>
              <a:ext cx="11383" cy="4661"/>
            </a:xfrm>
            <a:custGeom>
              <a:avLst/>
              <a:gdLst>
                <a:gd name="connsiteX0" fmla="*/ 0 w 7228154"/>
                <a:gd name="connsiteY0" fmla="*/ 0 h 4082474"/>
                <a:gd name="connsiteX1" fmla="*/ 0 w 7228154"/>
                <a:gd name="connsiteY1" fmla="*/ 4082475 h 4082474"/>
                <a:gd name="connsiteX2" fmla="*/ 7228155 w 7228154"/>
                <a:gd name="connsiteY2" fmla="*/ 4082475 h 4082474"/>
              </a:gdLst>
              <a:ahLst/>
              <a:cxnLst>
                <a:cxn ang="0">
                  <a:pos x="connsiteX0" y="connsiteY0"/>
                </a:cxn>
                <a:cxn ang="0">
                  <a:pos x="connsiteX1" y="connsiteY1"/>
                </a:cxn>
                <a:cxn ang="0">
                  <a:pos x="connsiteX2" y="connsiteY2"/>
                </a:cxn>
              </a:cxnLst>
              <a:rect l="l" t="t" r="r" b="b"/>
              <a:pathLst>
                <a:path w="7228154" h="4082474">
                  <a:moveTo>
                    <a:pt x="0" y="0"/>
                  </a:moveTo>
                  <a:lnTo>
                    <a:pt x="0" y="4082475"/>
                  </a:lnTo>
                  <a:lnTo>
                    <a:pt x="7228155" y="4082475"/>
                  </a:lnTo>
                  <a:close/>
                </a:path>
              </a:pathLst>
            </a:custGeom>
            <a:solidFill>
              <a:schemeClr val="accent6"/>
            </a:solidFill>
            <a:ln w="6335" cap="flat">
              <a:noFill/>
              <a:prstDash val="solid"/>
              <a:miter/>
            </a:ln>
          </p:spPr>
          <p:txBody>
            <a:bodyPr rtlCol="0" anchor="ctr"/>
            <a:lstStyle/>
            <a:p>
              <a:endParaRPr lang="zh-CN" altLang="en-US" dirty="0"/>
            </a:p>
          </p:txBody>
        </p:sp>
      </p:grpSp>
      <p:sp>
        <p:nvSpPr>
          <p:cNvPr id="25" name="任意多边形: 形状 24"/>
          <p:cNvSpPr/>
          <p:nvPr>
            <p:custDataLst>
              <p:tags r:id="rId3"/>
            </p:custDataLst>
          </p:nvPr>
        </p:nvSpPr>
        <p:spPr>
          <a:xfrm>
            <a:off x="0" y="0"/>
            <a:ext cx="2552700" cy="4409440"/>
          </a:xfrm>
          <a:custGeom>
            <a:avLst/>
            <a:gdLst>
              <a:gd name="connsiteX0" fmla="*/ 0 w 7837895"/>
              <a:gd name="connsiteY0" fmla="*/ 4409530 h 4409529"/>
              <a:gd name="connsiteX1" fmla="*/ 0 w 7837895"/>
              <a:gd name="connsiteY1" fmla="*/ 0 h 4409529"/>
              <a:gd name="connsiteX2" fmla="*/ 7837896 w 7837895"/>
              <a:gd name="connsiteY2" fmla="*/ 0 h 4409529"/>
            </a:gdLst>
            <a:ahLst/>
            <a:cxnLst>
              <a:cxn ang="0">
                <a:pos x="connsiteX0" y="connsiteY0"/>
              </a:cxn>
              <a:cxn ang="0">
                <a:pos x="connsiteX1" y="connsiteY1"/>
              </a:cxn>
              <a:cxn ang="0">
                <a:pos x="connsiteX2" y="connsiteY2"/>
              </a:cxn>
            </a:cxnLst>
            <a:rect l="l" t="t" r="r" b="b"/>
            <a:pathLst>
              <a:path w="7837895" h="4409529">
                <a:moveTo>
                  <a:pt x="0" y="4409530"/>
                </a:moveTo>
                <a:lnTo>
                  <a:pt x="0" y="0"/>
                </a:lnTo>
                <a:lnTo>
                  <a:pt x="7837896" y="0"/>
                </a:lnTo>
                <a:close/>
              </a:path>
            </a:pathLst>
          </a:custGeom>
          <a:solidFill>
            <a:schemeClr val="accent1"/>
          </a:solidFill>
          <a:ln w="6335" cap="flat">
            <a:noFill/>
            <a:prstDash val="solid"/>
            <a:miter/>
          </a:ln>
        </p:spPr>
        <p:txBody>
          <a:bodyPr rtlCol="0" anchor="ctr"/>
          <a:lstStyle/>
          <a:p>
            <a:endParaRPr lang="zh-CN" altLang="en-US" dirty="0"/>
          </a:p>
        </p:txBody>
      </p:sp>
      <p:cxnSp>
        <p:nvCxnSpPr>
          <p:cNvPr id="26" name="直接连接符 25"/>
          <p:cNvCxnSpPr/>
          <p:nvPr>
            <p:custDataLst>
              <p:tags r:id="rId4"/>
            </p:custDataLst>
          </p:nvPr>
        </p:nvCxnSpPr>
        <p:spPr>
          <a:xfrm>
            <a:off x="2800732" y="3622040"/>
            <a:ext cx="659053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5"/>
            </p:custDataLst>
          </p:nvPr>
        </p:nvSpPr>
        <p:spPr>
          <a:xfrm>
            <a:off x="1755527" y="1331623"/>
            <a:ext cx="8680946" cy="2121978"/>
          </a:xfrm>
        </p:spPr>
        <p:txBody>
          <a:bodyPr lIns="90000" tIns="46800" rIns="90000" bIns="0" anchor="b" anchorCtr="0">
            <a:normAutofit/>
          </a:bodyPr>
          <a:lstStyle>
            <a:lvl1pPr algn="ctr">
              <a:defRPr sz="5400" spc="600" baseline="0">
                <a:solidFill>
                  <a:schemeClr val="tx1">
                    <a:lumMod val="75000"/>
                    <a:lumOff val="25000"/>
                  </a:schemeClr>
                </a:solidFill>
                <a:latin typeface="Arial" panose="020B0604020202020204" pitchFamily="34" charset="0"/>
                <a:ea typeface="汉仪旗黑-85S" panose="00020600040101010101" pitchFamily="18" charset="-122"/>
              </a:defRPr>
            </a:lvl1pPr>
          </a:lstStyle>
          <a:p>
            <a:r>
              <a:rPr lang="zh-CN" altLang="en-US" dirty="0"/>
              <a:t>单击此处编辑标题</a:t>
            </a:r>
          </a:p>
        </p:txBody>
      </p:sp>
      <p:sp>
        <p:nvSpPr>
          <p:cNvPr id="3" name="副标题 2"/>
          <p:cNvSpPr>
            <a:spLocks noGrp="1"/>
          </p:cNvSpPr>
          <p:nvPr>
            <p:ph type="subTitle" idx="1" hasCustomPrompt="1"/>
            <p:custDataLst>
              <p:tags r:id="rId6"/>
            </p:custDataLst>
          </p:nvPr>
        </p:nvSpPr>
        <p:spPr>
          <a:xfrm>
            <a:off x="2192655" y="3713619"/>
            <a:ext cx="7896859" cy="511698"/>
          </a:xfrm>
        </p:spPr>
        <p:txBody>
          <a:bodyPr lIns="90170" tIns="46990" rIns="90170" bIns="46990" anchor="ctr" anchorCtr="0">
            <a:normAutofit/>
          </a:bodyPr>
          <a:lstStyle>
            <a:lvl1pPr marL="0" indent="0" algn="ctr" eaLnBrk="1" fontAlgn="auto" latinLnBrk="0" hangingPunct="1">
              <a:lnSpc>
                <a:spcPct val="100000"/>
              </a:lnSpc>
              <a:buNone/>
              <a:defRPr sz="2400" u="none" strike="noStrike" kern="1200" cap="none" spc="200" normalizeH="0" baseline="0">
                <a:solidFill>
                  <a:schemeClr val="tx1">
                    <a:lumMod val="75000"/>
                    <a:lumOff val="2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7"/>
            </p:custDataLst>
          </p:nvPr>
        </p:nvSpPr>
        <p:spPr/>
        <p:txBody>
          <a:bodyPr/>
          <a:lstStyle/>
          <a:p>
            <a:fld id="{760FBDFE-C587-4B4C-A407-44438C67B59E}" type="datetimeFigureOut">
              <a:rPr lang="zh-CN" altLang="en-US" smtClean="0"/>
              <a:t>2021/5/12</a:t>
            </a:fld>
            <a:endParaRPr lang="zh-CN" altLang="en-US"/>
          </a:p>
        </p:txBody>
      </p:sp>
      <p:sp>
        <p:nvSpPr>
          <p:cNvPr id="17" name="页脚占位符 16"/>
          <p:cNvSpPr>
            <a:spLocks noGrp="1"/>
          </p:cNvSpPr>
          <p:nvPr>
            <p:ph type="ftr" sz="quarter" idx="11"/>
            <p:custDataLst>
              <p:tags r:id="rId8"/>
            </p:custDataLst>
          </p:nvPr>
        </p:nvSpPr>
        <p:spPr/>
        <p:txBody>
          <a:bodyPr/>
          <a:lstStyle/>
          <a:p>
            <a:endParaRPr lang="zh-CN" altLang="en-US" dirty="0"/>
          </a:p>
        </p:txBody>
      </p:sp>
      <p:sp>
        <p:nvSpPr>
          <p:cNvPr id="18" name="灯片编号占位符 17"/>
          <p:cNvSpPr>
            <a:spLocks noGrp="1"/>
          </p:cNvSpPr>
          <p:nvPr>
            <p:ph type="sldNum" sz="quarter" idx="12"/>
            <p:custDataLst>
              <p:tags r:id="rId9"/>
            </p:custDataLst>
          </p:nvPr>
        </p:nvSpPr>
        <p:spPr/>
        <p:txBody>
          <a:bodyPr/>
          <a:lstStyle/>
          <a:p>
            <a:fld id="{49AE70B2-8BF9-45C0-BB95-33D1B9D3A854}" type="slidenum">
              <a:rPr lang="zh-CN" altLang="en-US" smtClean="0"/>
              <a:t>‹#›</a:t>
            </a:fld>
            <a:endParaRPr lang="zh-CN" altLang="en-US" dirty="0"/>
          </a:p>
        </p:txBody>
      </p:sp>
      <p:sp>
        <p:nvSpPr>
          <p:cNvPr id="5" name="文本占位符 4"/>
          <p:cNvSpPr>
            <a:spLocks noGrp="1"/>
          </p:cNvSpPr>
          <p:nvPr>
            <p:ph type="body" sz="quarter" idx="13" hasCustomPrompt="1"/>
            <p:custDataLst>
              <p:tags r:id="rId10"/>
            </p:custDataLst>
          </p:nvPr>
        </p:nvSpPr>
        <p:spPr>
          <a:xfrm>
            <a:off x="2552700" y="4299889"/>
            <a:ext cx="7107238" cy="511698"/>
          </a:xfrm>
        </p:spPr>
        <p:txBody>
          <a:bodyPr lIns="90000" tIns="46800" rIns="90000" bIns="46800">
            <a:normAutofit/>
          </a:bodyPr>
          <a:lstStyle>
            <a:lvl1pPr marL="0" indent="0" algn="ctr">
              <a:buNone/>
              <a:defRPr sz="1800">
                <a:solidFill>
                  <a:schemeClr val="tx1">
                    <a:lumMod val="75000"/>
                    <a:lumOff val="25000"/>
                  </a:schemeClr>
                </a:solidFill>
              </a:defRPr>
            </a:lvl1pPr>
          </a:lstStyle>
          <a:p>
            <a:pPr lvl="0"/>
            <a:r>
              <a:rPr lang="zh-CN" altLang="en-US" dirty="0"/>
              <a:t>单击此处编辑文本</a:t>
            </a:r>
          </a:p>
        </p:txBody>
      </p:sp>
      <p:sp>
        <p:nvSpPr>
          <p:cNvPr id="7" name="文本占位符 6"/>
          <p:cNvSpPr>
            <a:spLocks noGrp="1"/>
          </p:cNvSpPr>
          <p:nvPr>
            <p:ph type="body" sz="quarter" idx="14" hasCustomPrompt="1"/>
            <p:custDataLst>
              <p:tags r:id="rId11"/>
            </p:custDataLst>
          </p:nvPr>
        </p:nvSpPr>
        <p:spPr>
          <a:xfrm>
            <a:off x="2552700" y="4790718"/>
            <a:ext cx="7107238" cy="511698"/>
          </a:xfrm>
        </p:spPr>
        <p:txBody>
          <a:bodyPr lIns="90000" tIns="46800" rIns="90000" bIns="46800">
            <a:normAutofit/>
          </a:bodyPr>
          <a:lstStyle>
            <a:lvl1pPr marL="0" indent="0" algn="ctr">
              <a:buNone/>
              <a:defRPr sz="1800">
                <a:solidFill>
                  <a:schemeClr val="tx1">
                    <a:lumMod val="75000"/>
                    <a:lumOff val="25000"/>
                  </a:schemeClr>
                </a:solidFill>
              </a:defRPr>
            </a:lvl1pPr>
          </a:lstStyle>
          <a:p>
            <a:pPr lvl="0"/>
            <a:r>
              <a:rPr lang="zh-CN" altLang="en-US" dirty="0"/>
              <a:t>单击此处编辑文本</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2021/5/12</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1" y="0"/>
            <a:ext cx="4429387" cy="6858000"/>
          </a:xfrm>
          <a:prstGeom prst="rect">
            <a:avLst/>
          </a:prstGeom>
          <a:solidFill>
            <a:schemeClr val="accent1"/>
          </a:solidFill>
          <a:ln>
            <a:noFill/>
          </a:ln>
        </p:spPr>
        <p:style>
          <a:lnRef idx="2">
            <a:srgbClr val="282928">
              <a:shade val="50000"/>
            </a:srgbClr>
          </a:lnRef>
          <a:fillRef idx="1">
            <a:srgbClr val="282928"/>
          </a:fillRef>
          <a:effectRef idx="0">
            <a:srgbClr val="282928"/>
          </a:effectRef>
          <a:fontRef idx="minor">
            <a:sysClr val="window" lastClr="FFFFFF"/>
          </a:fontRef>
        </p:style>
        <p:txBody>
          <a:bodyPr rtlCol="0" anchor="ctr"/>
          <a:lstStyle/>
          <a:p>
            <a:pPr algn="ctr"/>
            <a:endParaRPr lang="zh-CN" altLang="en-US"/>
          </a:p>
        </p:txBody>
      </p:sp>
      <p:sp>
        <p:nvSpPr>
          <p:cNvPr id="54" name="矩形 53"/>
          <p:cNvSpPr/>
          <p:nvPr>
            <p:custDataLst>
              <p:tags r:id="rId2"/>
            </p:custDataLst>
          </p:nvPr>
        </p:nvSpPr>
        <p:spPr>
          <a:xfrm rot="18900000">
            <a:off x="3955998" y="2955611"/>
            <a:ext cx="946777" cy="946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custDataLst>
              <p:tags r:id="rId3"/>
            </p:custDataLst>
          </p:nvPr>
        </p:nvSpPr>
        <p:spPr>
          <a:xfrm rot="18900000">
            <a:off x="4227003" y="3226617"/>
            <a:ext cx="404767" cy="404767"/>
          </a:xfrm>
          <a:prstGeom prst="rect">
            <a:avLst/>
          </a:prstGeom>
          <a:solidFill>
            <a:schemeClr val="accent4"/>
          </a:solidFill>
          <a:ln>
            <a:noFill/>
          </a:ln>
        </p:spPr>
        <p:style>
          <a:lnRef idx="2">
            <a:srgbClr val="282928">
              <a:shade val="50000"/>
            </a:srgbClr>
          </a:lnRef>
          <a:fillRef idx="1">
            <a:srgbClr val="282928"/>
          </a:fillRef>
          <a:effectRef idx="0">
            <a:srgbClr val="282928"/>
          </a:effectRef>
          <a:fontRef idx="minor">
            <a:sysClr val="window" lastClr="FFFFFF"/>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5310135" y="2170322"/>
            <a:ext cx="6015208" cy="2357611"/>
          </a:xfrm>
        </p:spPr>
        <p:txBody>
          <a:bodyPr lIns="90000" tIns="46800" rIns="90000" bIns="46800" anchor="ctr" anchorCtr="0">
            <a:normAutofit/>
          </a:bodyPr>
          <a:lstStyle>
            <a:lvl1pPr>
              <a:defRPr sz="7200" u="none" strike="noStrike" kern="1200" cap="none" spc="300" normalizeH="0" baseline="0">
                <a:solidFill>
                  <a:schemeClr val="tx1">
                    <a:lumMod val="75000"/>
                    <a:lumOff val="25000"/>
                  </a:schemeClr>
                </a:solidFill>
                <a:uFillTx/>
                <a:latin typeface="Arial" panose="020B0604020202020204" pitchFamily="34" charset="0"/>
                <a:ea typeface="汉仪旗黑-85S" panose="00020600040101010101" pitchFamily="18" charset="-122"/>
              </a:defRPr>
            </a:lvl1pPr>
          </a:lstStyle>
          <a:p>
            <a:r>
              <a:rPr lang="zh-CN" altLang="en-US" dirty="0"/>
              <a:t>单击此处编辑标题</a:t>
            </a: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t>2021/5/12</a:t>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238877" y="952508"/>
            <a:ext cx="5283242" cy="5388907"/>
          </a:xfrm>
        </p:spPr>
        <p:txBody>
          <a:bodyPr>
            <a:no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2021/5/12</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2021/5/12</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6" name="图形 34"/>
          <p:cNvGrpSpPr/>
          <p:nvPr>
            <p:custDataLst>
              <p:tags r:id="rId1"/>
            </p:custDataLst>
          </p:nvPr>
        </p:nvGrpSpPr>
        <p:grpSpPr>
          <a:xfrm>
            <a:off x="9783683" y="0"/>
            <a:ext cx="2416749" cy="6869016"/>
            <a:chOff x="9761381" y="0"/>
            <a:chExt cx="2416749" cy="6869016"/>
          </a:xfrm>
          <a:solidFill>
            <a:srgbClr val="0894A5"/>
          </a:solidFill>
        </p:grpSpPr>
        <p:sp>
          <p:nvSpPr>
            <p:cNvPr id="7" name="任意多边形: 形状 3"/>
            <p:cNvSpPr/>
            <p:nvPr>
              <p:custDataLst>
                <p:tags r:id="rId7"/>
              </p:custDataLst>
            </p:nvPr>
          </p:nvSpPr>
          <p:spPr>
            <a:xfrm>
              <a:off x="9761381" y="0"/>
              <a:ext cx="2158624" cy="4069248"/>
            </a:xfrm>
            <a:custGeom>
              <a:avLst/>
              <a:gdLst>
                <a:gd name="connsiteX0" fmla="*/ 2158625 w 2158624"/>
                <a:gd name="connsiteY0" fmla="*/ 4069249 h 4069248"/>
                <a:gd name="connsiteX1" fmla="*/ 2158625 w 2158624"/>
                <a:gd name="connsiteY1" fmla="*/ 0 h 4069248"/>
                <a:gd name="connsiteX2" fmla="*/ 0 w 2158624"/>
                <a:gd name="connsiteY2" fmla="*/ 0 h 4069248"/>
              </a:gdLst>
              <a:ahLst/>
              <a:cxnLst>
                <a:cxn ang="0">
                  <a:pos x="connsiteX0" y="connsiteY0"/>
                </a:cxn>
                <a:cxn ang="0">
                  <a:pos x="connsiteX1" y="connsiteY1"/>
                </a:cxn>
                <a:cxn ang="0">
                  <a:pos x="connsiteX2" y="connsiteY2"/>
                </a:cxn>
              </a:cxnLst>
              <a:rect l="l" t="t" r="r" b="b"/>
              <a:pathLst>
                <a:path w="2158624" h="4069248">
                  <a:moveTo>
                    <a:pt x="2158625" y="4069249"/>
                  </a:moveTo>
                  <a:lnTo>
                    <a:pt x="2158625" y="0"/>
                  </a:lnTo>
                  <a:lnTo>
                    <a:pt x="0" y="0"/>
                  </a:lnTo>
                  <a:close/>
                </a:path>
              </a:pathLst>
            </a:custGeom>
            <a:solidFill>
              <a:schemeClr val="accent4"/>
            </a:solidFill>
            <a:ln w="6325" cap="flat">
              <a:noFill/>
              <a:prstDash val="solid"/>
              <a:miter/>
            </a:ln>
          </p:spPr>
          <p:txBody>
            <a:bodyPr rtlCol="0" anchor="ctr"/>
            <a:lstStyle/>
            <a:p>
              <a:endParaRPr lang="zh-CN" altLang="en-US"/>
            </a:p>
          </p:txBody>
        </p:sp>
        <p:sp>
          <p:nvSpPr>
            <p:cNvPr id="8" name="任意多边形: 形状 4"/>
            <p:cNvSpPr/>
            <p:nvPr>
              <p:custDataLst>
                <p:tags r:id="rId8"/>
              </p:custDataLst>
            </p:nvPr>
          </p:nvSpPr>
          <p:spPr>
            <a:xfrm>
              <a:off x="10019506" y="0"/>
              <a:ext cx="2158624" cy="4069248"/>
            </a:xfrm>
            <a:custGeom>
              <a:avLst/>
              <a:gdLst>
                <a:gd name="connsiteX0" fmla="*/ 2158625 w 2158624"/>
                <a:gd name="connsiteY0" fmla="*/ 4069249 h 4069248"/>
                <a:gd name="connsiteX1" fmla="*/ 2158625 w 2158624"/>
                <a:gd name="connsiteY1" fmla="*/ 0 h 4069248"/>
                <a:gd name="connsiteX2" fmla="*/ 0 w 2158624"/>
                <a:gd name="connsiteY2" fmla="*/ 0 h 4069248"/>
              </a:gdLst>
              <a:ahLst/>
              <a:cxnLst>
                <a:cxn ang="0">
                  <a:pos x="connsiteX0" y="connsiteY0"/>
                </a:cxn>
                <a:cxn ang="0">
                  <a:pos x="connsiteX1" y="connsiteY1"/>
                </a:cxn>
                <a:cxn ang="0">
                  <a:pos x="connsiteX2" y="connsiteY2"/>
                </a:cxn>
              </a:cxnLst>
              <a:rect l="l" t="t" r="r" b="b"/>
              <a:pathLst>
                <a:path w="2158624" h="4069248">
                  <a:moveTo>
                    <a:pt x="2158625" y="4069249"/>
                  </a:moveTo>
                  <a:lnTo>
                    <a:pt x="2158625" y="0"/>
                  </a:lnTo>
                  <a:lnTo>
                    <a:pt x="0" y="0"/>
                  </a:lnTo>
                  <a:close/>
                </a:path>
              </a:pathLst>
            </a:custGeom>
            <a:solidFill>
              <a:schemeClr val="accent6"/>
            </a:solidFill>
            <a:ln w="6325" cap="flat">
              <a:noFill/>
              <a:prstDash val="solid"/>
              <a:miter/>
            </a:ln>
          </p:spPr>
          <p:txBody>
            <a:bodyPr rtlCol="0" anchor="ctr"/>
            <a:lstStyle/>
            <a:p>
              <a:endParaRPr lang="zh-CN" altLang="en-US" dirty="0"/>
            </a:p>
          </p:txBody>
        </p:sp>
        <p:sp>
          <p:nvSpPr>
            <p:cNvPr id="9" name="任意多边形: 形状 5"/>
            <p:cNvSpPr/>
            <p:nvPr>
              <p:custDataLst>
                <p:tags r:id="rId9"/>
              </p:custDataLst>
            </p:nvPr>
          </p:nvSpPr>
          <p:spPr>
            <a:xfrm>
              <a:off x="9837300" y="2473317"/>
              <a:ext cx="2340830" cy="4395699"/>
            </a:xfrm>
            <a:custGeom>
              <a:avLst/>
              <a:gdLst>
                <a:gd name="connsiteX0" fmla="*/ 2340830 w 2340830"/>
                <a:gd name="connsiteY0" fmla="*/ 0 h 4395699"/>
                <a:gd name="connsiteX1" fmla="*/ 2340830 w 2340830"/>
                <a:gd name="connsiteY1" fmla="*/ 4395700 h 4395699"/>
                <a:gd name="connsiteX2" fmla="*/ 0 w 2340830"/>
                <a:gd name="connsiteY2" fmla="*/ 4395700 h 4395699"/>
              </a:gdLst>
              <a:ahLst/>
              <a:cxnLst>
                <a:cxn ang="0">
                  <a:pos x="connsiteX0" y="connsiteY0"/>
                </a:cxn>
                <a:cxn ang="0">
                  <a:pos x="connsiteX1" y="connsiteY1"/>
                </a:cxn>
                <a:cxn ang="0">
                  <a:pos x="connsiteX2" y="connsiteY2"/>
                </a:cxn>
              </a:cxnLst>
              <a:rect l="l" t="t" r="r" b="b"/>
              <a:pathLst>
                <a:path w="2340830" h="4395699">
                  <a:moveTo>
                    <a:pt x="2340830" y="0"/>
                  </a:moveTo>
                  <a:lnTo>
                    <a:pt x="2340830" y="4395700"/>
                  </a:lnTo>
                  <a:lnTo>
                    <a:pt x="0" y="4395700"/>
                  </a:lnTo>
                  <a:close/>
                </a:path>
              </a:pathLst>
            </a:custGeom>
            <a:solidFill>
              <a:schemeClr val="accent1"/>
            </a:solidFill>
            <a:ln w="6325" cap="flat">
              <a:noFill/>
              <a:prstDash val="solid"/>
              <a:miter/>
            </a:ln>
          </p:spPr>
          <p:txBody>
            <a:bodyPr rtlCol="0" anchor="ctr"/>
            <a:lstStyle/>
            <a:p>
              <a:endParaRPr lang="zh-CN" altLang="en-US"/>
            </a:p>
          </p:txBody>
        </p:sp>
      </p:grpSp>
      <p:sp>
        <p:nvSpPr>
          <p:cNvPr id="10" name="任意多边形: 形状 6"/>
          <p:cNvSpPr/>
          <p:nvPr>
            <p:custDataLst>
              <p:tags r:id="rId2"/>
            </p:custDataLst>
          </p:nvPr>
        </p:nvSpPr>
        <p:spPr>
          <a:xfrm>
            <a:off x="0" y="5755540"/>
            <a:ext cx="965434" cy="1113476"/>
          </a:xfrm>
          <a:custGeom>
            <a:avLst/>
            <a:gdLst>
              <a:gd name="connsiteX0" fmla="*/ 0 w 965434"/>
              <a:gd name="connsiteY0" fmla="*/ 0 h 1113476"/>
              <a:gd name="connsiteX1" fmla="*/ 0 w 965434"/>
              <a:gd name="connsiteY1" fmla="*/ 1113476 h 1113476"/>
              <a:gd name="connsiteX2" fmla="*/ 965434 w 965434"/>
              <a:gd name="connsiteY2" fmla="*/ 1113476 h 1113476"/>
            </a:gdLst>
            <a:ahLst/>
            <a:cxnLst>
              <a:cxn ang="0">
                <a:pos x="connsiteX0" y="connsiteY0"/>
              </a:cxn>
              <a:cxn ang="0">
                <a:pos x="connsiteX1" y="connsiteY1"/>
              </a:cxn>
              <a:cxn ang="0">
                <a:pos x="connsiteX2" y="connsiteY2"/>
              </a:cxn>
            </a:cxnLst>
            <a:rect l="l" t="t" r="r" b="b"/>
            <a:pathLst>
              <a:path w="965434" h="1113476">
                <a:moveTo>
                  <a:pt x="0" y="0"/>
                </a:moveTo>
                <a:lnTo>
                  <a:pt x="0" y="1113476"/>
                </a:lnTo>
                <a:lnTo>
                  <a:pt x="965434" y="1113476"/>
                </a:lnTo>
                <a:close/>
              </a:path>
            </a:pathLst>
          </a:custGeom>
          <a:solidFill>
            <a:schemeClr val="accent1">
              <a:lumMod val="50000"/>
            </a:schemeClr>
          </a:solidFill>
          <a:ln w="6325" cap="flat">
            <a:noFill/>
            <a:prstDash val="solid"/>
            <a:miter/>
          </a:ln>
        </p:spPr>
        <p:txBody>
          <a:bodyPr rtlCol="0" anchor="ctr"/>
          <a:lstStyle/>
          <a:p>
            <a:endParaRPr lang="zh-CN" altLang="en-US"/>
          </a:p>
        </p:txBody>
      </p:sp>
      <p:sp>
        <p:nvSpPr>
          <p:cNvPr id="2" name="标题 1"/>
          <p:cNvSpPr>
            <a:spLocks noGrp="1"/>
          </p:cNvSpPr>
          <p:nvPr>
            <p:ph type="title"/>
            <p:custDataLst>
              <p:tags r:id="rId3"/>
            </p:custDataLst>
          </p:nvPr>
        </p:nvSpPr>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2021/5/12</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2021/5/12</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2021/5/12</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2021/5/12</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2021/5/12</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73660" y="4859655"/>
            <a:ext cx="5760085" cy="1998345"/>
            <a:chOff x="4151937" y="5109029"/>
            <a:chExt cx="2721846" cy="944356"/>
          </a:xfrm>
        </p:grpSpPr>
        <p:sp>
          <p:nvSpPr>
            <p:cNvPr id="13" name="等腰三角形 12"/>
            <p:cNvSpPr/>
            <p:nvPr>
              <p:custDataLst>
                <p:tags r:id="rId16"/>
              </p:custDataLst>
            </p:nvPr>
          </p:nvSpPr>
          <p:spPr>
            <a:xfrm>
              <a:off x="4565168" y="5109029"/>
              <a:ext cx="1912727" cy="944356"/>
            </a:xfrm>
            <a:prstGeom prst="triangle">
              <a:avLst/>
            </a:prstGeom>
            <a:solidFill>
              <a:schemeClr val="accent6"/>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14" name="等腰三角形 13"/>
            <p:cNvSpPr/>
            <p:nvPr>
              <p:custDataLst>
                <p:tags r:id="rId17"/>
              </p:custDataLst>
            </p:nvPr>
          </p:nvSpPr>
          <p:spPr>
            <a:xfrm>
              <a:off x="5562405" y="5405929"/>
              <a:ext cx="1311378" cy="647456"/>
            </a:xfrm>
            <a:prstGeom prst="triangle">
              <a:avLst/>
            </a:prstGeom>
            <a:solidFill>
              <a:schemeClr val="accent1">
                <a:alpha val="92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0" name="等腰三角形 19"/>
            <p:cNvSpPr/>
            <p:nvPr>
              <p:custDataLst>
                <p:tags r:id="rId18"/>
              </p:custDataLst>
            </p:nvPr>
          </p:nvSpPr>
          <p:spPr>
            <a:xfrm>
              <a:off x="4786508" y="5720585"/>
              <a:ext cx="674063" cy="33280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2" name="等腰三角形 21"/>
            <p:cNvSpPr/>
            <p:nvPr>
              <p:custDataLst>
                <p:tags r:id="rId19"/>
              </p:custDataLst>
            </p:nvPr>
          </p:nvSpPr>
          <p:spPr>
            <a:xfrm>
              <a:off x="4151937" y="5645342"/>
              <a:ext cx="826463" cy="408043"/>
            </a:xfrm>
            <a:prstGeom prst="triangle">
              <a:avLst/>
            </a:prstGeom>
            <a:solidFill>
              <a:schemeClr val="accent4">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dirty="0"/>
            </a:p>
          </p:txBody>
        </p:sp>
        <p:sp>
          <p:nvSpPr>
            <p:cNvPr id="23" name="等腰三角形 22"/>
            <p:cNvSpPr/>
            <p:nvPr>
              <p:custDataLst>
                <p:tags r:id="rId20"/>
              </p:custDataLst>
            </p:nvPr>
          </p:nvSpPr>
          <p:spPr>
            <a:xfrm>
              <a:off x="6313124" y="5516676"/>
              <a:ext cx="266605" cy="131629"/>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4" name="等腰三角形 23"/>
            <p:cNvSpPr/>
            <p:nvPr>
              <p:custDataLst>
                <p:tags r:id="rId21"/>
              </p:custDataLst>
            </p:nvPr>
          </p:nvSpPr>
          <p:spPr>
            <a:xfrm>
              <a:off x="5572277" y="5720585"/>
              <a:ext cx="431377" cy="212981"/>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5" name="等腰三角形 24"/>
            <p:cNvSpPr/>
            <p:nvPr>
              <p:custDataLst>
                <p:tags r:id="rId22"/>
              </p:custDataLst>
            </p:nvPr>
          </p:nvSpPr>
          <p:spPr>
            <a:xfrm>
              <a:off x="5618478" y="5234511"/>
              <a:ext cx="169487" cy="8368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6" name="等腰三角形 25"/>
            <p:cNvSpPr/>
            <p:nvPr>
              <p:custDataLst>
                <p:tags r:id="rId23"/>
              </p:custDataLst>
            </p:nvPr>
          </p:nvSpPr>
          <p:spPr>
            <a:xfrm>
              <a:off x="4565168" y="5348993"/>
              <a:ext cx="266605" cy="131629"/>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7" name="等腰三角形 26"/>
            <p:cNvSpPr/>
            <p:nvPr>
              <p:custDataLst>
                <p:tags r:id="rId24"/>
              </p:custDataLst>
            </p:nvPr>
          </p:nvSpPr>
          <p:spPr>
            <a:xfrm>
              <a:off x="4202503" y="5803305"/>
              <a:ext cx="169487" cy="83680"/>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grpSp>
      <p:grpSp>
        <p:nvGrpSpPr>
          <p:cNvPr id="28" name="组合 27"/>
          <p:cNvGrpSpPr/>
          <p:nvPr>
            <p:custDataLst>
              <p:tags r:id="rId2"/>
            </p:custDataLst>
          </p:nvPr>
        </p:nvGrpSpPr>
        <p:grpSpPr>
          <a:xfrm rot="10800000">
            <a:off x="6449060" y="0"/>
            <a:ext cx="5737860" cy="1990725"/>
            <a:chOff x="4151937" y="5109029"/>
            <a:chExt cx="2721846" cy="944356"/>
          </a:xfrm>
        </p:grpSpPr>
        <p:sp>
          <p:nvSpPr>
            <p:cNvPr id="29" name="等腰三角形 28"/>
            <p:cNvSpPr/>
            <p:nvPr>
              <p:custDataLst>
                <p:tags r:id="rId7"/>
              </p:custDataLst>
            </p:nvPr>
          </p:nvSpPr>
          <p:spPr>
            <a:xfrm>
              <a:off x="4565168" y="5109029"/>
              <a:ext cx="1912727" cy="944356"/>
            </a:xfrm>
            <a:prstGeom prst="triangle">
              <a:avLst/>
            </a:prstGeom>
            <a:solidFill>
              <a:schemeClr val="accent6"/>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dirty="0"/>
            </a:p>
          </p:txBody>
        </p:sp>
        <p:sp>
          <p:nvSpPr>
            <p:cNvPr id="30" name="等腰三角形 29"/>
            <p:cNvSpPr/>
            <p:nvPr>
              <p:custDataLst>
                <p:tags r:id="rId8"/>
              </p:custDataLst>
            </p:nvPr>
          </p:nvSpPr>
          <p:spPr>
            <a:xfrm>
              <a:off x="5562405" y="5405929"/>
              <a:ext cx="1311378" cy="647456"/>
            </a:xfrm>
            <a:prstGeom prst="triangle">
              <a:avLst/>
            </a:prstGeom>
            <a:solidFill>
              <a:schemeClr val="accent1">
                <a:alpha val="92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1" name="等腰三角形 30"/>
            <p:cNvSpPr/>
            <p:nvPr>
              <p:custDataLst>
                <p:tags r:id="rId9"/>
              </p:custDataLst>
            </p:nvPr>
          </p:nvSpPr>
          <p:spPr>
            <a:xfrm>
              <a:off x="4786508" y="5720585"/>
              <a:ext cx="674063" cy="33280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2" name="等腰三角形 31"/>
            <p:cNvSpPr/>
            <p:nvPr>
              <p:custDataLst>
                <p:tags r:id="rId10"/>
              </p:custDataLst>
            </p:nvPr>
          </p:nvSpPr>
          <p:spPr>
            <a:xfrm>
              <a:off x="4151937" y="5645342"/>
              <a:ext cx="826463" cy="408043"/>
            </a:xfrm>
            <a:prstGeom prst="triangle">
              <a:avLst/>
            </a:prstGeom>
            <a:solidFill>
              <a:schemeClr val="accent4">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3" name="等腰三角形 32"/>
            <p:cNvSpPr/>
            <p:nvPr>
              <p:custDataLst>
                <p:tags r:id="rId11"/>
              </p:custDataLst>
            </p:nvPr>
          </p:nvSpPr>
          <p:spPr>
            <a:xfrm>
              <a:off x="6313124" y="5516676"/>
              <a:ext cx="266605" cy="131629"/>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4" name="等腰三角形 33"/>
            <p:cNvSpPr/>
            <p:nvPr>
              <p:custDataLst>
                <p:tags r:id="rId12"/>
              </p:custDataLst>
            </p:nvPr>
          </p:nvSpPr>
          <p:spPr>
            <a:xfrm>
              <a:off x="5572277" y="5720585"/>
              <a:ext cx="431377" cy="212981"/>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5" name="等腰三角形 34"/>
            <p:cNvSpPr/>
            <p:nvPr>
              <p:custDataLst>
                <p:tags r:id="rId13"/>
              </p:custDataLst>
            </p:nvPr>
          </p:nvSpPr>
          <p:spPr>
            <a:xfrm>
              <a:off x="5618478" y="5234511"/>
              <a:ext cx="169487" cy="8368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6" name="等腰三角形 35"/>
            <p:cNvSpPr/>
            <p:nvPr>
              <p:custDataLst>
                <p:tags r:id="rId14"/>
              </p:custDataLst>
            </p:nvPr>
          </p:nvSpPr>
          <p:spPr>
            <a:xfrm>
              <a:off x="4565168" y="5348993"/>
              <a:ext cx="266605" cy="131629"/>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7" name="等腰三角形 36"/>
            <p:cNvSpPr/>
            <p:nvPr>
              <p:custDataLst>
                <p:tags r:id="rId15"/>
              </p:custDataLst>
            </p:nvPr>
          </p:nvSpPr>
          <p:spPr>
            <a:xfrm>
              <a:off x="4202503" y="5803305"/>
              <a:ext cx="169487" cy="83680"/>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grpSp>
      <p:sp>
        <p:nvSpPr>
          <p:cNvPr id="2" name="标题 1"/>
          <p:cNvSpPr>
            <a:spLocks noGrp="1"/>
          </p:cNvSpPr>
          <p:nvPr>
            <p:ph type="title" hasCustomPrompt="1"/>
            <p:custDataLst>
              <p:tags r:id="rId3"/>
            </p:custDataLst>
          </p:nvPr>
        </p:nvSpPr>
        <p:spPr>
          <a:xfrm>
            <a:off x="2793365" y="2295525"/>
            <a:ext cx="6605270" cy="1950085"/>
          </a:xfrm>
        </p:spPr>
        <p:txBody>
          <a:bodyPr vert="horz" lIns="90170" tIns="46990" rIns="90170" bIns="46990" rtlCol="0" anchor="ctr" anchorCtr="0">
            <a:normAutofit/>
          </a:bodyPr>
          <a:lstStyle>
            <a:lvl1pPr marL="0" marR="0" algn="ctr" defTabSz="914400" rtl="0" eaLnBrk="1" fontAlgn="auto" latinLnBrk="0" hangingPunct="1">
              <a:lnSpc>
                <a:spcPct val="100000"/>
              </a:lnSpc>
              <a:buNone/>
              <a:defRPr kumimoji="0" lang="zh-CN" altLang="en-US" sz="9600" b="1" i="0" u="none" strike="noStrike" kern="1200" cap="none" spc="600" normalizeH="0" baseline="0" noProof="1" dirty="0">
                <a:solidFill>
                  <a:schemeClr val="tx1">
                    <a:lumMod val="75000"/>
                    <a:lumOff val="25000"/>
                  </a:schemeClr>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2021/5/12</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9" name="任意多边形: 形状 3"/>
          <p:cNvSpPr/>
          <p:nvPr>
            <p:custDataLst>
              <p:tags r:id="rId1"/>
            </p:custDataLst>
          </p:nvPr>
        </p:nvSpPr>
        <p:spPr>
          <a:xfrm>
            <a:off x="4930775" y="6114415"/>
            <a:ext cx="7261225" cy="66421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0" name="任意多边形: 形状 4"/>
          <p:cNvSpPr/>
          <p:nvPr>
            <p:custDataLst>
              <p:tags r:id="rId2"/>
            </p:custDataLst>
          </p:nvPr>
        </p:nvSpPr>
        <p:spPr>
          <a:xfrm>
            <a:off x="4930775" y="6193790"/>
            <a:ext cx="7261225" cy="66421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sp>
        <p:nvSpPr>
          <p:cNvPr id="11" name="任意多边形: 形状 7"/>
          <p:cNvSpPr/>
          <p:nvPr>
            <p:custDataLst>
              <p:tags r:id="rId3"/>
            </p:custDataLst>
          </p:nvPr>
        </p:nvSpPr>
        <p:spPr>
          <a:xfrm>
            <a:off x="0" y="6148705"/>
            <a:ext cx="7843520" cy="72009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a:p>
        </p:txBody>
      </p:sp>
      <p:sp>
        <p:nvSpPr>
          <p:cNvPr id="2" name="标题 1"/>
          <p:cNvSpPr>
            <a:spLocks noGrp="1"/>
          </p:cNvSpPr>
          <p:nvPr>
            <p:ph type="title"/>
            <p:custDataLst>
              <p:tags r:id="rId4"/>
            </p:custDataLst>
          </p:nvPr>
        </p:nvSpPr>
        <p:spPr/>
        <p:txBody>
          <a:bodyPr/>
          <a:lstStyle>
            <a:lvl1pPr>
              <a:defRPr baseline="0">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2021/5/12</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p:custDataLst>
              <p:tags r:id="rId1"/>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15"/>
          <p:cNvSpPr/>
          <p:nvPr>
            <p:custDataLst>
              <p:tags r:id="rId2"/>
            </p:custDataLst>
          </p:nvPr>
        </p:nvSpPr>
        <p:spPr>
          <a:xfrm rot="8220000">
            <a:off x="-495300" y="549275"/>
            <a:ext cx="1016635" cy="1052195"/>
          </a:xfrm>
          <a:custGeom>
            <a:avLst/>
            <a:gdLst/>
            <a:ahLst/>
            <a:cxnLst>
              <a:cxn ang="3">
                <a:pos x="hc" y="t"/>
              </a:cxn>
              <a:cxn ang="cd2">
                <a:pos x="l" y="vc"/>
              </a:cxn>
              <a:cxn ang="cd4">
                <a:pos x="hc" y="b"/>
              </a:cxn>
              <a:cxn ang="0">
                <a:pos x="r" y="vc"/>
              </a:cxn>
            </a:cxnLst>
            <a:rect l="l" t="t" r="r" b="b"/>
            <a:pathLst>
              <a:path w="1090" h="1128">
                <a:moveTo>
                  <a:pt x="0" y="0"/>
                </a:moveTo>
                <a:lnTo>
                  <a:pt x="1090" y="0"/>
                </a:lnTo>
                <a:lnTo>
                  <a:pt x="38" y="1128"/>
                </a:lnTo>
                <a:lnTo>
                  <a:pt x="0" y="1128"/>
                </a:lnTo>
                <a:lnTo>
                  <a:pt x="0" y="0"/>
                </a:lnTo>
                <a:close/>
              </a:path>
            </a:pathLst>
          </a:custGeom>
          <a:solidFill>
            <a:schemeClr val="accent1"/>
          </a:solidFill>
          <a:ln>
            <a:noFill/>
          </a:ln>
        </p:spPr>
        <p:style>
          <a:lnRef idx="2">
            <a:srgbClr val="0894A5">
              <a:shade val="50000"/>
            </a:srgbClr>
          </a:lnRef>
          <a:fillRef idx="1">
            <a:srgbClr val="0894A5"/>
          </a:fillRef>
          <a:effectRef idx="0">
            <a:srgbClr val="0894A5"/>
          </a:effectRef>
          <a:fontRef idx="minor">
            <a:sysClr val="window" lastClr="FFFFFF"/>
          </a:fontRef>
        </p:style>
        <p:txBody>
          <a:bodyPr wrap="square" rtlCol="0" anchor="ctr">
            <a:noAutofit/>
          </a:bodyPr>
          <a:lstStyle/>
          <a:p>
            <a:pPr algn="ctr"/>
            <a:endParaRPr lang="zh-CN" altLang="en-US"/>
          </a:p>
        </p:txBody>
      </p:sp>
      <p:grpSp>
        <p:nvGrpSpPr>
          <p:cNvPr id="11" name="组合 10"/>
          <p:cNvGrpSpPr/>
          <p:nvPr>
            <p:custDataLst>
              <p:tags r:id="rId3"/>
            </p:custDataLst>
          </p:nvPr>
        </p:nvGrpSpPr>
        <p:grpSpPr>
          <a:xfrm>
            <a:off x="11292205" y="4382135"/>
            <a:ext cx="899160" cy="2477770"/>
            <a:chOff x="17783" y="6171"/>
            <a:chExt cx="1416" cy="4632"/>
          </a:xfrm>
        </p:grpSpPr>
        <p:sp>
          <p:nvSpPr>
            <p:cNvPr id="12" name="任意多边形 11"/>
            <p:cNvSpPr/>
            <p:nvPr>
              <p:custDataLst>
                <p:tags r:id="rId9"/>
              </p:custDataLst>
            </p:nvPr>
          </p:nvSpPr>
          <p:spPr>
            <a:xfrm>
              <a:off x="17783" y="6641"/>
              <a:ext cx="1417" cy="4162"/>
            </a:xfrm>
            <a:custGeom>
              <a:avLst/>
              <a:gdLst>
                <a:gd name="ir" fmla="*/ w 3 4"/>
                <a:gd name="ib" fmla="*/ h 3 4"/>
              </a:gdLst>
              <a:ahLst/>
              <a:cxnLst>
                <a:cxn ang="3">
                  <a:pos x="hc" y="t"/>
                </a:cxn>
                <a:cxn ang="cd2">
                  <a:pos x="l" y="vc"/>
                </a:cxn>
                <a:cxn ang="cd4">
                  <a:pos x="hc" y="b"/>
                </a:cxn>
                <a:cxn ang="0">
                  <a:pos x="r" y="vc"/>
                </a:cxn>
              </a:cxnLst>
              <a:rect l="l" t="t" r="r" b="b"/>
              <a:pathLst>
                <a:path w="3741" h="7481">
                  <a:moveTo>
                    <a:pt x="3741" y="0"/>
                  </a:moveTo>
                  <a:lnTo>
                    <a:pt x="3741" y="1"/>
                  </a:lnTo>
                  <a:lnTo>
                    <a:pt x="3741" y="7481"/>
                  </a:lnTo>
                  <a:lnTo>
                    <a:pt x="3741" y="7481"/>
                  </a:lnTo>
                  <a:lnTo>
                    <a:pt x="0" y="3741"/>
                  </a:lnTo>
                  <a:lnTo>
                    <a:pt x="3741" y="0"/>
                  </a:lnTo>
                  <a:close/>
                </a:path>
              </a:pathLst>
            </a:custGeom>
            <a:solidFill>
              <a:schemeClr val="accent6"/>
            </a:solidFill>
            <a:ln>
              <a:noFill/>
            </a:ln>
          </p:spPr>
          <p:style>
            <a:lnRef idx="2">
              <a:srgbClr val="0894A5">
                <a:shade val="50000"/>
              </a:srgbClr>
            </a:lnRef>
            <a:fillRef idx="1">
              <a:srgbClr val="0894A5"/>
            </a:fillRef>
            <a:effectRef idx="0">
              <a:srgbClr val="0894A5"/>
            </a:effectRef>
            <a:fontRef idx="minor">
              <a:sysClr val="window" lastClr="FFFFFF"/>
            </a:fontRef>
          </p:style>
          <p:txBody>
            <a:bodyPr wrap="square" rtlCol="0" anchor="ctr">
              <a:noAutofit/>
            </a:bodyPr>
            <a:lstStyle/>
            <a:p>
              <a:pPr algn="ctr"/>
              <a:endParaRPr lang="zh-CN" altLang="en-US"/>
            </a:p>
          </p:txBody>
        </p:sp>
        <p:sp>
          <p:nvSpPr>
            <p:cNvPr id="13" name="任意多边形 11"/>
            <p:cNvSpPr/>
            <p:nvPr>
              <p:custDataLst>
                <p:tags r:id="rId10"/>
              </p:custDataLst>
            </p:nvPr>
          </p:nvSpPr>
          <p:spPr>
            <a:xfrm>
              <a:off x="17783" y="6171"/>
              <a:ext cx="1417" cy="4162"/>
            </a:xfrm>
            <a:custGeom>
              <a:avLst/>
              <a:gdLst>
                <a:gd name="ir" fmla="*/ w 3 4"/>
                <a:gd name="ib" fmla="*/ h 3 4"/>
              </a:gdLst>
              <a:ahLst/>
              <a:cxnLst>
                <a:cxn ang="3">
                  <a:pos x="hc" y="t"/>
                </a:cxn>
                <a:cxn ang="cd2">
                  <a:pos x="l" y="vc"/>
                </a:cxn>
                <a:cxn ang="cd4">
                  <a:pos x="hc" y="b"/>
                </a:cxn>
                <a:cxn ang="0">
                  <a:pos x="r" y="vc"/>
                </a:cxn>
              </a:cxnLst>
              <a:rect l="l" t="t" r="r" b="b"/>
              <a:pathLst>
                <a:path w="3741" h="7481">
                  <a:moveTo>
                    <a:pt x="3741" y="0"/>
                  </a:moveTo>
                  <a:lnTo>
                    <a:pt x="3741" y="1"/>
                  </a:lnTo>
                  <a:lnTo>
                    <a:pt x="3741" y="7481"/>
                  </a:lnTo>
                  <a:lnTo>
                    <a:pt x="3741" y="7481"/>
                  </a:lnTo>
                  <a:lnTo>
                    <a:pt x="0" y="3741"/>
                  </a:lnTo>
                  <a:lnTo>
                    <a:pt x="3741" y="0"/>
                  </a:lnTo>
                  <a:close/>
                </a:path>
              </a:pathLst>
            </a:custGeom>
            <a:solidFill>
              <a:schemeClr val="accent1"/>
            </a:solidFill>
            <a:ln>
              <a:noFill/>
            </a:ln>
          </p:spPr>
          <p:style>
            <a:lnRef idx="2">
              <a:srgbClr val="0894A5">
                <a:shade val="50000"/>
              </a:srgbClr>
            </a:lnRef>
            <a:fillRef idx="1">
              <a:srgbClr val="0894A5"/>
            </a:fillRef>
            <a:effectRef idx="0">
              <a:srgbClr val="0894A5"/>
            </a:effectRef>
            <a:fontRef idx="minor">
              <a:sysClr val="window" lastClr="FFFFFF"/>
            </a:fontRef>
          </p:style>
          <p:txBody>
            <a:bodyPr wrap="square" rtlCol="0" anchor="ctr">
              <a:noAutofit/>
            </a:bodyPr>
            <a:lstStyle/>
            <a:p>
              <a:pPr algn="ctr"/>
              <a:endParaRPr lang="zh-CN" altLang="en-US"/>
            </a:p>
          </p:txBody>
        </p:sp>
      </p:gr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2021/5/12</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grpSp>
        <p:nvGrpSpPr>
          <p:cNvPr id="11" name="组合 10"/>
          <p:cNvGrpSpPr/>
          <p:nvPr>
            <p:custDataLst>
              <p:tags r:id="rId1"/>
            </p:custDataLst>
          </p:nvPr>
        </p:nvGrpSpPr>
        <p:grpSpPr>
          <a:xfrm>
            <a:off x="7926070" y="6221730"/>
            <a:ext cx="4265930" cy="640080"/>
            <a:chOff x="6681" y="8932"/>
            <a:chExt cx="12521" cy="1880"/>
          </a:xfrm>
        </p:grpSpPr>
        <p:sp>
          <p:nvSpPr>
            <p:cNvPr id="12" name="任意多边形: 形状 3"/>
            <p:cNvSpPr/>
            <p:nvPr>
              <p:custDataLst>
                <p:tags r:id="rId10"/>
              </p:custDataLst>
            </p:nvPr>
          </p:nvSpPr>
          <p:spPr>
            <a:xfrm>
              <a:off x="6681" y="8932"/>
              <a:ext cx="12521" cy="188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3" name="任意多边形: 形状 4"/>
            <p:cNvSpPr/>
            <p:nvPr>
              <p:custDataLst>
                <p:tags r:id="rId11"/>
              </p:custDataLst>
            </p:nvPr>
          </p:nvSpPr>
          <p:spPr>
            <a:xfrm>
              <a:off x="7765" y="9076"/>
              <a:ext cx="11435" cy="1724"/>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grpSp>
      <p:sp>
        <p:nvSpPr>
          <p:cNvPr id="14" name="任意多边形: 形状 9"/>
          <p:cNvSpPr/>
          <p:nvPr>
            <p:custDataLst>
              <p:tags r:id="rId2"/>
            </p:custDataLst>
          </p:nvPr>
        </p:nvSpPr>
        <p:spPr>
          <a:xfrm>
            <a:off x="11525250" y="0"/>
            <a:ext cx="666750" cy="769620"/>
          </a:xfrm>
          <a:custGeom>
            <a:avLst/>
            <a:gdLst>
              <a:gd name="connsiteX0" fmla="*/ 969010 w 969009"/>
              <a:gd name="connsiteY0" fmla="*/ 1117600 h 1117600"/>
              <a:gd name="connsiteX1" fmla="*/ 969010 w 969009"/>
              <a:gd name="connsiteY1" fmla="*/ 0 h 1117600"/>
              <a:gd name="connsiteX2" fmla="*/ 0 w 969009"/>
              <a:gd name="connsiteY2" fmla="*/ 0 h 1117600"/>
            </a:gdLst>
            <a:ahLst/>
            <a:cxnLst>
              <a:cxn ang="0">
                <a:pos x="connsiteX0" y="connsiteY0"/>
              </a:cxn>
              <a:cxn ang="0">
                <a:pos x="connsiteX1" y="connsiteY1"/>
              </a:cxn>
              <a:cxn ang="0">
                <a:pos x="connsiteX2" y="connsiteY2"/>
              </a:cxn>
            </a:cxnLst>
            <a:rect l="l" t="t" r="r" b="b"/>
            <a:pathLst>
              <a:path w="969009" h="1117600">
                <a:moveTo>
                  <a:pt x="969010" y="1117600"/>
                </a:moveTo>
                <a:lnTo>
                  <a:pt x="969010" y="0"/>
                </a:lnTo>
                <a:lnTo>
                  <a:pt x="0" y="0"/>
                </a:lnTo>
                <a:close/>
              </a:path>
            </a:pathLst>
          </a:custGeom>
          <a:solidFill>
            <a:schemeClr val="accent1">
              <a:lumMod val="50000"/>
            </a:schemeClr>
          </a:solidFill>
          <a:ln w="6350" cap="flat">
            <a:noFill/>
            <a:prstDash val="solid"/>
            <a:miter/>
          </a:ln>
        </p:spPr>
        <p:txBody>
          <a:bodyPr rtlCol="0" anchor="ctr"/>
          <a:lstStyle/>
          <a:p>
            <a:endParaRPr lang="zh-CN" altLang="en-US"/>
          </a:p>
        </p:txBody>
      </p:sp>
      <p:sp>
        <p:nvSpPr>
          <p:cNvPr id="8" name="矩形 7"/>
          <p:cNvSpPr/>
          <p:nvPr>
            <p:custDataLst>
              <p:tags r:id="rId3"/>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bg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2021/5/12</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bg1"/>
                </a:solidFill>
                <a:latin typeface="Arial" panose="020B0604020202020204" pitchFamily="34" charset="0"/>
                <a:ea typeface="微软雅黑" panose="020B0503020204020204" charset="-122"/>
              </a:defRPr>
            </a:lvl1pPr>
            <a:lvl2pPr>
              <a:defRPr baseline="0">
                <a:solidFill>
                  <a:schemeClr val="bg1"/>
                </a:solidFill>
                <a:latin typeface="Arial" panose="020B0604020202020204" pitchFamily="34" charset="0"/>
                <a:ea typeface="微软雅黑" panose="020B0503020204020204" charset="-122"/>
              </a:defRPr>
            </a:lvl2pPr>
            <a:lvl3pPr>
              <a:defRPr baseline="0">
                <a:solidFill>
                  <a:schemeClr val="bg1"/>
                </a:solidFill>
                <a:latin typeface="Arial" panose="020B0604020202020204" pitchFamily="34" charset="0"/>
                <a:ea typeface="微软雅黑" panose="020B0503020204020204" charset="-122"/>
              </a:defRPr>
            </a:lvl3pPr>
            <a:lvl4pPr>
              <a:defRPr baseline="0">
                <a:solidFill>
                  <a:schemeClr val="bg1"/>
                </a:solidFill>
                <a:latin typeface="Arial" panose="020B0604020202020204" pitchFamily="34" charset="0"/>
                <a:ea typeface="微软雅黑" panose="020B0503020204020204" charset="-122"/>
              </a:defRPr>
            </a:lvl4pPr>
            <a:lvl5pPr>
              <a:defRPr baseline="0">
                <a:solidFill>
                  <a:schemeClr val="bg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3" name="任意多边形: 形状 3"/>
          <p:cNvSpPr/>
          <p:nvPr>
            <p:custDataLst>
              <p:tags r:id="rId1"/>
            </p:custDataLst>
          </p:nvPr>
        </p:nvSpPr>
        <p:spPr>
          <a:xfrm>
            <a:off x="4930775" y="6388735"/>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4" name="任意多边形: 形状 4"/>
          <p:cNvSpPr/>
          <p:nvPr>
            <p:custDataLst>
              <p:tags r:id="rId2"/>
            </p:custDataLst>
          </p:nvPr>
        </p:nvSpPr>
        <p:spPr>
          <a:xfrm>
            <a:off x="4930775" y="6438900"/>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sp>
        <p:nvSpPr>
          <p:cNvPr id="15" name="任意多边形: 形状 7"/>
          <p:cNvSpPr/>
          <p:nvPr>
            <p:custDataLst>
              <p:tags r:id="rId3"/>
            </p:custDataLst>
          </p:nvPr>
        </p:nvSpPr>
        <p:spPr>
          <a:xfrm>
            <a:off x="0" y="6414135"/>
            <a:ext cx="7843520" cy="45466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a:p>
        </p:txBody>
      </p:sp>
      <p:sp>
        <p:nvSpPr>
          <p:cNvPr id="10" name="矩形 9"/>
          <p:cNvSpPr/>
          <p:nvPr>
            <p:custDataLst>
              <p:tags r:id="rId4"/>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bg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2021/5/12</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2" name="任意多边形: 形状 7"/>
          <p:cNvSpPr/>
          <p:nvPr>
            <p:custDataLst>
              <p:tags r:id="rId1"/>
            </p:custDataLst>
          </p:nvPr>
        </p:nvSpPr>
        <p:spPr>
          <a:xfrm rot="10800000">
            <a:off x="568960" y="0"/>
            <a:ext cx="11623040" cy="45466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a:p>
        </p:txBody>
      </p:sp>
      <p:grpSp>
        <p:nvGrpSpPr>
          <p:cNvPr id="13" name="组合 12"/>
          <p:cNvGrpSpPr/>
          <p:nvPr>
            <p:custDataLst>
              <p:tags r:id="rId2"/>
            </p:custDataLst>
          </p:nvPr>
        </p:nvGrpSpPr>
        <p:grpSpPr>
          <a:xfrm rot="10800000">
            <a:off x="-635" y="0"/>
            <a:ext cx="4265930" cy="640080"/>
            <a:chOff x="6681" y="8932"/>
            <a:chExt cx="12521" cy="1880"/>
          </a:xfrm>
        </p:grpSpPr>
        <p:sp>
          <p:nvSpPr>
            <p:cNvPr id="14" name="任意多边形: 形状 3"/>
            <p:cNvSpPr/>
            <p:nvPr>
              <p:custDataLst>
                <p:tags r:id="rId10"/>
              </p:custDataLst>
            </p:nvPr>
          </p:nvSpPr>
          <p:spPr>
            <a:xfrm>
              <a:off x="6681" y="8932"/>
              <a:ext cx="12521" cy="188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5" name="任意多边形: 形状 4"/>
            <p:cNvSpPr/>
            <p:nvPr>
              <p:custDataLst>
                <p:tags r:id="rId11"/>
              </p:custDataLst>
            </p:nvPr>
          </p:nvSpPr>
          <p:spPr>
            <a:xfrm>
              <a:off x="7765" y="9076"/>
              <a:ext cx="11435" cy="1724"/>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grpSp>
      <p:sp>
        <p:nvSpPr>
          <p:cNvPr id="8" name="矩形 7"/>
          <p:cNvSpPr/>
          <p:nvPr>
            <p:custDataLst>
              <p:tags r:id="rId3"/>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2021/5/12</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5" name="任意多边形: 形状 3"/>
          <p:cNvSpPr/>
          <p:nvPr>
            <p:custDataLst>
              <p:tags r:id="rId1"/>
            </p:custDataLst>
          </p:nvPr>
        </p:nvSpPr>
        <p:spPr>
          <a:xfrm>
            <a:off x="4930775" y="6388735"/>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6" name="任意多边形: 形状 4"/>
          <p:cNvSpPr/>
          <p:nvPr>
            <p:custDataLst>
              <p:tags r:id="rId2"/>
            </p:custDataLst>
          </p:nvPr>
        </p:nvSpPr>
        <p:spPr>
          <a:xfrm>
            <a:off x="4930775" y="6438900"/>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sp>
        <p:nvSpPr>
          <p:cNvPr id="17" name="任意多边形: 形状 7"/>
          <p:cNvSpPr/>
          <p:nvPr>
            <p:custDataLst>
              <p:tags r:id="rId3"/>
            </p:custDataLst>
          </p:nvPr>
        </p:nvSpPr>
        <p:spPr>
          <a:xfrm>
            <a:off x="0" y="6414135"/>
            <a:ext cx="7843520" cy="45466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dirty="0"/>
          </a:p>
        </p:txBody>
      </p:sp>
      <p:sp>
        <p:nvSpPr>
          <p:cNvPr id="10" name="矩形 9"/>
          <p:cNvSpPr/>
          <p:nvPr>
            <p:custDataLst>
              <p:tags r:id="rId4"/>
            </p:custDataLst>
          </p:nvPr>
        </p:nvSpPr>
        <p:spPr>
          <a:xfrm>
            <a:off x="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5"/>
            </p:custDataLst>
          </p:nvPr>
        </p:nvSpPr>
        <p:spPr>
          <a:xfrm>
            <a:off x="579600" y="237600"/>
            <a:ext cx="11037600" cy="441964"/>
          </a:xfrm>
        </p:spPr>
        <p:txBody>
          <a:bodyPr>
            <a:normAutofit/>
          </a:bodyPr>
          <a:lstStyle>
            <a:lvl1pPr>
              <a:defRPr sz="2800" baseline="0">
                <a:solidFill>
                  <a:schemeClr val="bg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2021/5/12</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9"/>
            </p:custDataLst>
          </p:nvPr>
        </p:nvSpPr>
        <p:spPr>
          <a:xfrm>
            <a:off x="579600" y="1663200"/>
            <a:ext cx="53424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10"/>
            </p:custDataLst>
          </p:nvPr>
        </p:nvSpPr>
        <p:spPr>
          <a:xfrm>
            <a:off x="6242400" y="1663200"/>
            <a:ext cx="53676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1"/>
            </p:custDataLst>
          </p:nvPr>
        </p:nvSpPr>
        <p:spPr>
          <a:xfrm>
            <a:off x="572400" y="4816800"/>
            <a:ext cx="53424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2"/>
            </p:custDataLst>
          </p:nvPr>
        </p:nvSpPr>
        <p:spPr>
          <a:xfrm>
            <a:off x="6253200" y="4813200"/>
            <a:ext cx="53676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grpSp>
        <p:nvGrpSpPr>
          <p:cNvPr id="12" name="组合 11"/>
          <p:cNvGrpSpPr/>
          <p:nvPr>
            <p:custDataLst>
              <p:tags r:id="rId2"/>
            </p:custDataLst>
          </p:nvPr>
        </p:nvGrpSpPr>
        <p:grpSpPr>
          <a:xfrm rot="10800000">
            <a:off x="10848975" y="3707765"/>
            <a:ext cx="1343025" cy="3265170"/>
            <a:chOff x="0" y="606"/>
            <a:chExt cx="1437" cy="8628"/>
          </a:xfrm>
        </p:grpSpPr>
        <p:sp>
          <p:nvSpPr>
            <p:cNvPr id="14" name="等腰三角形 13"/>
            <p:cNvSpPr/>
            <p:nvPr>
              <p:custDataLst>
                <p:tags r:id="rId11"/>
              </p:custDataLst>
            </p:nvPr>
          </p:nvSpPr>
          <p:spPr>
            <a:xfrm rot="5400000">
              <a:off x="-3067" y="3673"/>
              <a:ext cx="7571" cy="1437"/>
            </a:xfrm>
            <a:prstGeom prst="triangle">
              <a:avLst/>
            </a:prstGeom>
            <a:solidFill>
              <a:schemeClr val="accent6"/>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sp>
          <p:nvSpPr>
            <p:cNvPr id="15" name="等腰三角形 14"/>
            <p:cNvSpPr/>
            <p:nvPr>
              <p:custDataLst>
                <p:tags r:id="rId12"/>
              </p:custDataLst>
            </p:nvPr>
          </p:nvSpPr>
          <p:spPr>
            <a:xfrm rot="5400000">
              <a:off x="-3067" y="4730"/>
              <a:ext cx="7571" cy="1437"/>
            </a:xfrm>
            <a:prstGeom prst="triangle">
              <a:avLst/>
            </a:prstGeom>
            <a:solidFill>
              <a:schemeClr val="accent1"/>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grpSp>
      <p:grpSp>
        <p:nvGrpSpPr>
          <p:cNvPr id="16" name="组合 15"/>
          <p:cNvGrpSpPr/>
          <p:nvPr>
            <p:custDataLst>
              <p:tags r:id="rId3"/>
            </p:custDataLst>
          </p:nvPr>
        </p:nvGrpSpPr>
        <p:grpSpPr>
          <a:xfrm>
            <a:off x="0" y="113665"/>
            <a:ext cx="1343025" cy="3265170"/>
            <a:chOff x="0" y="606"/>
            <a:chExt cx="1437" cy="8628"/>
          </a:xfrm>
        </p:grpSpPr>
        <p:sp>
          <p:nvSpPr>
            <p:cNvPr id="17" name="等腰三角形 16"/>
            <p:cNvSpPr/>
            <p:nvPr>
              <p:custDataLst>
                <p:tags r:id="rId9"/>
              </p:custDataLst>
            </p:nvPr>
          </p:nvSpPr>
          <p:spPr>
            <a:xfrm rot="5400000">
              <a:off x="-3067" y="3673"/>
              <a:ext cx="7571" cy="1437"/>
            </a:xfrm>
            <a:prstGeom prst="triangle">
              <a:avLst/>
            </a:prstGeom>
            <a:solidFill>
              <a:schemeClr val="accent6"/>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sp>
          <p:nvSpPr>
            <p:cNvPr id="18" name="等腰三角形 17"/>
            <p:cNvSpPr/>
            <p:nvPr>
              <p:custDataLst>
                <p:tags r:id="rId10"/>
              </p:custDataLst>
            </p:nvPr>
          </p:nvSpPr>
          <p:spPr>
            <a:xfrm rot="5400000">
              <a:off x="-3067" y="4730"/>
              <a:ext cx="7571" cy="1437"/>
            </a:xfrm>
            <a:prstGeom prst="triangle">
              <a:avLst/>
            </a:prstGeom>
            <a:solidFill>
              <a:schemeClr val="accent1"/>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grpSp>
      <p:sp>
        <p:nvSpPr>
          <p:cNvPr id="2" name="标题 1"/>
          <p:cNvSpPr>
            <a:spLocks noGrp="1"/>
          </p:cNvSpPr>
          <p:nvPr>
            <p:ph type="title" hasCustomPrompt="1"/>
            <p:custDataLst>
              <p:tags r:id="rId4"/>
            </p:custDataLst>
          </p:nvPr>
        </p:nvSpPr>
        <p:spPr>
          <a:xfrm>
            <a:off x="1522800" y="1339200"/>
            <a:ext cx="9144000" cy="2386800"/>
          </a:xfrm>
        </p:spPr>
        <p:txBody>
          <a:bodyPr anchor="b">
            <a:normAutofit/>
          </a:bodyPr>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2021/5/12</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2021/5/12</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6.xml"/><Relationship Id="rId3" Type="http://schemas.openxmlformats.org/officeDocument/2006/relationships/slideLayout" Target="../slideLayouts/slideLayout3.xml"/><Relationship Id="rId21"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2021/5/12</a:t>
            </a:fld>
            <a:endParaRPr lang="zh-CN" altLang="en-US"/>
          </a:p>
        </p:txBody>
      </p:sp>
      <p:sp>
        <p:nvSpPr>
          <p:cNvPr id="5" name="页脚占位符 4"/>
          <p:cNvSpPr>
            <a:spLocks noGrp="1"/>
          </p:cNvSpPr>
          <p:nvPr>
            <p:ph type="ftr" sz="quarter" idx="3"/>
            <p:custDataLst>
              <p:tags r:id="rId24"/>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lumMod val="85000"/>
              <a:lumOff val="15000"/>
            </a:schemeClr>
          </a:solidFill>
          <a:uFillTx/>
          <a:latin typeface="微软雅黑" panose="020B0503020204020204" charset="-122"/>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180.xml"/><Relationship Id="rId3" Type="http://schemas.openxmlformats.org/officeDocument/2006/relationships/tags" Target="../tags/tag175.xml"/><Relationship Id="rId7" Type="http://schemas.openxmlformats.org/officeDocument/2006/relationships/tags" Target="../tags/tag179.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tags" Target="../tags/tag178.xml"/><Relationship Id="rId11" Type="http://schemas.openxmlformats.org/officeDocument/2006/relationships/slideLayout" Target="../slideLayouts/slideLayout6.xml"/><Relationship Id="rId5" Type="http://schemas.openxmlformats.org/officeDocument/2006/relationships/tags" Target="../tags/tag177.xml"/><Relationship Id="rId10" Type="http://schemas.openxmlformats.org/officeDocument/2006/relationships/tags" Target="../tags/tag182.xml"/><Relationship Id="rId4" Type="http://schemas.openxmlformats.org/officeDocument/2006/relationships/tags" Target="../tags/tag176.xml"/><Relationship Id="rId9" Type="http://schemas.openxmlformats.org/officeDocument/2006/relationships/tags" Target="../tags/tag18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84.xml"/><Relationship Id="rId1" Type="http://schemas.openxmlformats.org/officeDocument/2006/relationships/tags" Target="../tags/tag18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p:txBody>
          <a:bodyPr/>
          <a:lstStyle/>
          <a:p>
            <a:r>
              <a:rPr lang="zh-CN" altLang="en-US" dirty="0"/>
              <a:t>线性回归</a:t>
            </a:r>
          </a:p>
        </p:txBody>
      </p:sp>
      <p:sp>
        <p:nvSpPr>
          <p:cNvPr id="5" name="文本占位符 4"/>
          <p:cNvSpPr>
            <a:spLocks noGrp="1"/>
          </p:cNvSpPr>
          <p:nvPr>
            <p:ph type="body" sz="quarter" idx="13"/>
            <p:custDataLst>
              <p:tags r:id="rId3"/>
            </p:custDataLst>
          </p:nvPr>
        </p:nvSpPr>
        <p:spPr>
          <a:xfrm>
            <a:off x="-473034" y="0"/>
            <a:ext cx="7107238" cy="511698"/>
          </a:xfrm>
        </p:spPr>
        <p:txBody>
          <a:bodyPr/>
          <a:lstStyle/>
          <a:p>
            <a:r>
              <a:rPr lang="zh-CN" altLang="en-US" dirty="0"/>
              <a:t>监督学习</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矩形 86"/>
          <p:cNvSpPr/>
          <p:nvPr>
            <p:custDataLst>
              <p:tags r:id="rId2"/>
            </p:custDataLst>
          </p:nvPr>
        </p:nvSpPr>
        <p:spPr>
          <a:xfrm>
            <a:off x="1605879" y="2674460"/>
            <a:ext cx="1116963" cy="829945"/>
          </a:xfrm>
          <a:prstGeom prst="rect">
            <a:avLst/>
          </a:prstGeom>
          <a:noFill/>
        </p:spPr>
        <p:txBody>
          <a:bodyPr wrap="square">
            <a:normAutofit/>
          </a:bodyPr>
          <a:lstStyle/>
          <a:p>
            <a:r>
              <a:rPr lang="en-US" altLang="zh-CN" sz="4800" b="1" spc="-200" dirty="0">
                <a:solidFill>
                  <a:schemeClr val="accent1"/>
                </a:solidFill>
                <a:uFillTx/>
                <a:latin typeface="Arial" panose="020B0604020202020204" pitchFamily="34" charset="0"/>
                <a:ea typeface="微软雅黑" panose="020B0503020204020204" charset="-122"/>
                <a:cs typeface="+mn-ea"/>
                <a:sym typeface="+mn-lt"/>
              </a:rPr>
              <a:t>01.</a:t>
            </a:r>
          </a:p>
        </p:txBody>
      </p:sp>
      <p:sp>
        <p:nvSpPr>
          <p:cNvPr id="88" name="矩形 87"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3"/>
            </p:custDataLst>
          </p:nvPr>
        </p:nvSpPr>
        <p:spPr>
          <a:xfrm>
            <a:off x="2713990" y="2613025"/>
            <a:ext cx="2863850" cy="690245"/>
          </a:xfrm>
          <a:prstGeom prst="rect">
            <a:avLst/>
          </a:prstGeom>
          <a:ln>
            <a:noFill/>
          </a:ln>
        </p:spPr>
        <p:txBody>
          <a:bodyPr wrap="square" lIns="90000" tIns="46800" rIns="90000" bIns="0" anchor="b" anchorCtr="0">
            <a:normAutofit/>
          </a:bodyPr>
          <a:lstStyle/>
          <a:p>
            <a:pPr>
              <a:lnSpc>
                <a:spcPct val="100000"/>
              </a:lnSpc>
            </a:pPr>
            <a:r>
              <a:rPr lang="zh-CN" altLang="en-US" sz="2400" b="1" spc="100" dirty="0">
                <a:solidFill>
                  <a:schemeClr val="accent1"/>
                </a:solidFill>
                <a:uFillTx/>
                <a:latin typeface="Arial" panose="020B0604020202020204" pitchFamily="34" charset="0"/>
                <a:ea typeface="微软雅黑" panose="020B0503020204020204" charset="-122"/>
                <a:cs typeface="+mn-ea"/>
                <a:sym typeface="+mn-lt"/>
              </a:rPr>
              <a:t>了解回归概念</a:t>
            </a:r>
          </a:p>
        </p:txBody>
      </p:sp>
      <p:sp>
        <p:nvSpPr>
          <p:cNvPr id="90" name="矩形 89"/>
          <p:cNvSpPr/>
          <p:nvPr>
            <p:custDataLst>
              <p:tags r:id="rId4"/>
            </p:custDataLst>
          </p:nvPr>
        </p:nvSpPr>
        <p:spPr>
          <a:xfrm>
            <a:off x="1605879" y="4520286"/>
            <a:ext cx="1116963" cy="829945"/>
          </a:xfrm>
          <a:prstGeom prst="rect">
            <a:avLst/>
          </a:prstGeom>
          <a:noFill/>
        </p:spPr>
        <p:txBody>
          <a:bodyPr wrap="square">
            <a:normAutofit/>
          </a:bodyPr>
          <a:lstStyle/>
          <a:p>
            <a:r>
              <a:rPr lang="en-US" altLang="zh-CN" sz="4800" b="1" spc="-200" dirty="0">
                <a:solidFill>
                  <a:schemeClr val="accent3"/>
                </a:solidFill>
                <a:uFillTx/>
                <a:latin typeface="Arial" panose="020B0604020202020204" pitchFamily="34" charset="0"/>
                <a:ea typeface="微软雅黑" panose="020B0503020204020204" charset="-122"/>
                <a:cs typeface="+mn-ea"/>
                <a:sym typeface="+mn-lt"/>
              </a:rPr>
              <a:t>03.</a:t>
            </a:r>
          </a:p>
        </p:txBody>
      </p:sp>
      <p:sp>
        <p:nvSpPr>
          <p:cNvPr id="91" name="矩形 90"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5"/>
            </p:custDataLst>
          </p:nvPr>
        </p:nvSpPr>
        <p:spPr>
          <a:xfrm>
            <a:off x="2713990" y="4458970"/>
            <a:ext cx="2863850" cy="591185"/>
          </a:xfrm>
          <a:prstGeom prst="rect">
            <a:avLst/>
          </a:prstGeom>
          <a:ln>
            <a:noFill/>
          </a:ln>
        </p:spPr>
        <p:txBody>
          <a:bodyPr wrap="square" lIns="90000" tIns="46800" rIns="90000" bIns="0" anchor="b" anchorCtr="0">
            <a:normAutofit fontScale="92500" lnSpcReduction="20000"/>
          </a:bodyPr>
          <a:lstStyle/>
          <a:p>
            <a:pPr lvl="0" algn="l">
              <a:buClrTx/>
              <a:buSzTx/>
              <a:buFontTx/>
            </a:pPr>
            <a:r>
              <a:rPr lang="zh-CN" altLang="en-US" sz="2400" b="1" spc="100" dirty="0">
                <a:solidFill>
                  <a:schemeClr val="accent2"/>
                </a:solidFill>
                <a:uFillTx/>
                <a:latin typeface="Arial" panose="020B0604020202020204" pitchFamily="34" charset="0"/>
                <a:ea typeface="微软雅黑" panose="020B0503020204020204" charset="-122"/>
                <a:cs typeface="+mn-ea"/>
                <a:sym typeface="+mn-lt"/>
              </a:rPr>
              <a:t>掌握求解线性回归模型的算法）</a:t>
            </a:r>
            <a:endParaRPr lang="zh-CN" altLang="en-US" sz="2400" b="1" spc="100" dirty="0">
              <a:solidFill>
                <a:schemeClr val="accent3"/>
              </a:solidFill>
              <a:uFillTx/>
              <a:latin typeface="Arial" panose="020B0604020202020204" pitchFamily="34" charset="0"/>
              <a:ea typeface="微软雅黑" panose="020B0503020204020204" charset="-122"/>
              <a:cs typeface="+mn-ea"/>
              <a:sym typeface="+mn-lt"/>
            </a:endParaRPr>
          </a:p>
        </p:txBody>
      </p:sp>
      <p:sp>
        <p:nvSpPr>
          <p:cNvPr id="93" name="矩形 92"/>
          <p:cNvSpPr/>
          <p:nvPr>
            <p:custDataLst>
              <p:tags r:id="rId6"/>
            </p:custDataLst>
          </p:nvPr>
        </p:nvSpPr>
        <p:spPr>
          <a:xfrm>
            <a:off x="5777194" y="2674460"/>
            <a:ext cx="1116963" cy="829945"/>
          </a:xfrm>
          <a:prstGeom prst="rect">
            <a:avLst/>
          </a:prstGeom>
          <a:noFill/>
        </p:spPr>
        <p:txBody>
          <a:bodyPr wrap="square">
            <a:normAutofit/>
          </a:bodyPr>
          <a:lstStyle/>
          <a:p>
            <a:r>
              <a:rPr lang="en-US" altLang="zh-CN" sz="4800" b="1" spc="-200" dirty="0">
                <a:solidFill>
                  <a:schemeClr val="accent2"/>
                </a:solidFill>
                <a:uFillTx/>
                <a:latin typeface="Arial" panose="020B0604020202020204" pitchFamily="34" charset="0"/>
                <a:ea typeface="微软雅黑" panose="020B0503020204020204" charset="-122"/>
                <a:cs typeface="+mn-ea"/>
                <a:sym typeface="+mn-lt"/>
              </a:rPr>
              <a:t>02.</a:t>
            </a:r>
          </a:p>
        </p:txBody>
      </p:sp>
      <p:sp>
        <p:nvSpPr>
          <p:cNvPr id="94" name="矩形 93"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7"/>
            </p:custDataLst>
          </p:nvPr>
        </p:nvSpPr>
        <p:spPr>
          <a:xfrm>
            <a:off x="6885305" y="2613025"/>
            <a:ext cx="3202278" cy="601345"/>
          </a:xfrm>
          <a:prstGeom prst="rect">
            <a:avLst/>
          </a:prstGeom>
          <a:ln>
            <a:noFill/>
          </a:ln>
        </p:spPr>
        <p:txBody>
          <a:bodyPr wrap="square" lIns="90000" tIns="46800" rIns="90000" bIns="0" anchor="b" anchorCtr="0">
            <a:normAutofit fontScale="92500"/>
          </a:bodyPr>
          <a:lstStyle/>
          <a:p>
            <a:pPr lvl="0" algn="l">
              <a:buClrTx/>
              <a:buSzTx/>
              <a:buFontTx/>
            </a:pPr>
            <a:r>
              <a:rPr lang="zh-CN" altLang="en-US" sz="2400" b="1" spc="100" dirty="0">
                <a:solidFill>
                  <a:schemeClr val="accent2"/>
                </a:solidFill>
                <a:uFillTx/>
                <a:latin typeface="Arial" panose="020B0604020202020204" pitchFamily="34" charset="0"/>
                <a:ea typeface="微软雅黑" panose="020B0503020204020204" charset="-122"/>
                <a:cs typeface="+mn-ea"/>
                <a:sym typeface="+mn-lt"/>
              </a:rPr>
              <a:t>掌握</a:t>
            </a:r>
            <a:r>
              <a:rPr lang="zh-CN" altLang="en-US" sz="2400" b="1" spc="100" dirty="0">
                <a:solidFill>
                  <a:schemeClr val="accent2"/>
                </a:solidFill>
                <a:latin typeface="Arial" panose="020B0604020202020204" pitchFamily="34" charset="0"/>
                <a:ea typeface="微软雅黑" panose="020B0503020204020204" charset="-122"/>
                <a:cs typeface="+mn-ea"/>
                <a:sym typeface="+mn-lt"/>
              </a:rPr>
              <a:t>线性回归的三要素</a:t>
            </a:r>
            <a:endParaRPr lang="zh-CN" altLang="en-US" sz="2400" b="1" spc="100" dirty="0">
              <a:solidFill>
                <a:schemeClr val="accent2"/>
              </a:solidFill>
              <a:uFillTx/>
              <a:latin typeface="Arial" panose="020B0604020202020204" pitchFamily="34" charset="0"/>
              <a:ea typeface="微软雅黑" panose="020B0503020204020204" charset="-122"/>
              <a:cs typeface="+mn-ea"/>
              <a:sym typeface="+mn-lt"/>
            </a:endParaRPr>
          </a:p>
        </p:txBody>
      </p:sp>
      <p:sp>
        <p:nvSpPr>
          <p:cNvPr id="97" name="矩形 96"/>
          <p:cNvSpPr/>
          <p:nvPr>
            <p:custDataLst>
              <p:tags r:id="rId8"/>
            </p:custDataLst>
          </p:nvPr>
        </p:nvSpPr>
        <p:spPr>
          <a:xfrm>
            <a:off x="5777194" y="4520286"/>
            <a:ext cx="1116963" cy="829945"/>
          </a:xfrm>
          <a:prstGeom prst="rect">
            <a:avLst/>
          </a:prstGeom>
          <a:noFill/>
        </p:spPr>
        <p:txBody>
          <a:bodyPr wrap="square">
            <a:normAutofit/>
          </a:bodyPr>
          <a:lstStyle/>
          <a:p>
            <a:r>
              <a:rPr lang="en-US" altLang="zh-CN" sz="4800" b="1" spc="-200" dirty="0">
                <a:solidFill>
                  <a:schemeClr val="accent4"/>
                </a:solidFill>
                <a:uFillTx/>
                <a:latin typeface="Arial" panose="020B0604020202020204" pitchFamily="34" charset="0"/>
                <a:ea typeface="微软雅黑" panose="020B0503020204020204" charset="-122"/>
                <a:cs typeface="+mn-ea"/>
                <a:sym typeface="+mn-lt"/>
              </a:rPr>
              <a:t>04.</a:t>
            </a:r>
          </a:p>
        </p:txBody>
      </p:sp>
      <p:sp>
        <p:nvSpPr>
          <p:cNvPr id="98" name="矩形 97"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9"/>
            </p:custDataLst>
          </p:nvPr>
        </p:nvSpPr>
        <p:spPr>
          <a:xfrm>
            <a:off x="6897370" y="4458970"/>
            <a:ext cx="2863850" cy="591185"/>
          </a:xfrm>
          <a:prstGeom prst="rect">
            <a:avLst/>
          </a:prstGeom>
          <a:ln>
            <a:noFill/>
          </a:ln>
        </p:spPr>
        <p:txBody>
          <a:bodyPr wrap="square" lIns="90000" tIns="46800" rIns="90000" bIns="0" anchor="b" anchorCtr="0">
            <a:normAutofit/>
          </a:bodyPr>
          <a:lstStyle/>
          <a:p>
            <a:pPr lvl="0" algn="l">
              <a:buClrTx/>
              <a:buSzTx/>
              <a:buFontTx/>
            </a:pPr>
            <a:r>
              <a:rPr lang="zh-CN" altLang="en-US" sz="2400" b="1" spc="100" dirty="0">
                <a:solidFill>
                  <a:schemeClr val="accent2"/>
                </a:solidFill>
                <a:uFillTx/>
                <a:latin typeface="Arial" panose="020B0604020202020204" pitchFamily="34" charset="0"/>
                <a:ea typeface="微软雅黑" panose="020B0503020204020204" charset="-122"/>
                <a:cs typeface="+mn-ea"/>
                <a:sym typeface="+mn-lt"/>
              </a:rPr>
              <a:t>实验分析</a:t>
            </a:r>
            <a:endParaRPr lang="zh-CN" altLang="en-US" sz="2400" b="1" spc="100" dirty="0">
              <a:solidFill>
                <a:schemeClr val="accent4"/>
              </a:solidFill>
              <a:uFillTx/>
              <a:latin typeface="Arial" panose="020B0604020202020204" pitchFamily="34" charset="0"/>
              <a:ea typeface="微软雅黑" panose="020B0503020204020204" charset="-122"/>
              <a:cs typeface="+mn-ea"/>
              <a:sym typeface="+mn-lt"/>
            </a:endParaRPr>
          </a:p>
        </p:txBody>
      </p:sp>
      <p:sp>
        <p:nvSpPr>
          <p:cNvPr id="101" name="文本框 100"/>
          <p:cNvSpPr txBox="1"/>
          <p:nvPr>
            <p:custDataLst>
              <p:tags r:id="rId10"/>
            </p:custDataLst>
          </p:nvPr>
        </p:nvSpPr>
        <p:spPr>
          <a:xfrm>
            <a:off x="715645" y="817880"/>
            <a:ext cx="4610100" cy="1213485"/>
          </a:xfrm>
          <a:prstGeom prst="rect">
            <a:avLst/>
          </a:prstGeom>
          <a:noFill/>
        </p:spPr>
        <p:txBody>
          <a:bodyPr wrap="square" rtlCol="0" anchor="ctr" anchorCtr="0">
            <a:normAutofit/>
          </a:bodyPr>
          <a:lstStyle/>
          <a:p>
            <a:pPr algn="l">
              <a:lnSpc>
                <a:spcPct val="100000"/>
              </a:lnSpc>
            </a:pPr>
            <a:r>
              <a:rPr lang="en-US" altLang="zh-CN" sz="5400" b="1" spc="100" dirty="0">
                <a:solidFill>
                  <a:schemeClr val="tx1">
                    <a:lumMod val="85000"/>
                    <a:lumOff val="15000"/>
                  </a:schemeClr>
                </a:solidFill>
                <a:uFillTx/>
                <a:latin typeface="Arial" panose="020B0604020202020204" pitchFamily="34" charset="0"/>
                <a:ea typeface="汉仪旗黑-85S" panose="00020600040101010101" pitchFamily="18" charset="-122"/>
                <a:cs typeface="+mn-ea"/>
                <a:sym typeface="+mn-lt"/>
              </a:rPr>
              <a:t>学习目标</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04132E-71BD-46B8-BC3A-F8F202A1D5E4}"/>
              </a:ext>
            </a:extLst>
          </p:cNvPr>
          <p:cNvSpPr>
            <a:spLocks noGrp="1"/>
          </p:cNvSpPr>
          <p:nvPr>
            <p:ph type="title"/>
          </p:nvPr>
        </p:nvSpPr>
        <p:spPr>
          <a:xfrm>
            <a:off x="101711" y="416597"/>
            <a:ext cx="5917349" cy="441964"/>
          </a:xfrm>
        </p:spPr>
        <p:txBody>
          <a:bodyPr>
            <a:normAutofit fontScale="90000"/>
          </a:bodyPr>
          <a:lstStyle/>
          <a:p>
            <a:pPr algn="ctr"/>
            <a:r>
              <a:rPr lang="zh-CN" altLang="en-US" b="1" i="0" dirty="0">
                <a:solidFill>
                  <a:srgbClr val="333333"/>
                </a:solidFill>
                <a:effectLst/>
                <a:latin typeface="Open Sans" panose="020B0606030504020204" pitchFamily="34" charset="0"/>
              </a:rPr>
              <a:t>线性模型（</a:t>
            </a:r>
            <a:r>
              <a:rPr lang="en-US" altLang="zh-CN" b="0" i="0" dirty="0">
                <a:solidFill>
                  <a:srgbClr val="333333"/>
                </a:solidFill>
                <a:effectLst/>
                <a:latin typeface="Arial" panose="020B0604020202020204" pitchFamily="34" charset="0"/>
              </a:rPr>
              <a:t>linear model</a:t>
            </a:r>
            <a:r>
              <a:rPr lang="zh-CN" altLang="en-US" dirty="0"/>
              <a:t>）</a:t>
            </a:r>
          </a:p>
        </p:txBody>
      </p:sp>
      <p:pic>
        <p:nvPicPr>
          <p:cNvPr id="4" name="图片 3">
            <a:extLst>
              <a:ext uri="{FF2B5EF4-FFF2-40B4-BE49-F238E27FC236}">
                <a16:creationId xmlns:a16="http://schemas.microsoft.com/office/drawing/2014/main" id="{0BAF8E58-D8AE-4292-AC39-F029BF28E029}"/>
              </a:ext>
            </a:extLst>
          </p:cNvPr>
          <p:cNvPicPr>
            <a:picLocks noChangeAspect="1"/>
          </p:cNvPicPr>
          <p:nvPr/>
        </p:nvPicPr>
        <p:blipFill>
          <a:blip r:embed="rId2"/>
          <a:stretch>
            <a:fillRect/>
          </a:stretch>
        </p:blipFill>
        <p:spPr>
          <a:xfrm>
            <a:off x="214312" y="1171852"/>
            <a:ext cx="9613269" cy="4358936"/>
          </a:xfrm>
          <a:prstGeom prst="rect">
            <a:avLst/>
          </a:prstGeom>
        </p:spPr>
      </p:pic>
    </p:spTree>
    <p:extLst>
      <p:ext uri="{BB962C8B-B14F-4D97-AF65-F5344CB8AC3E}">
        <p14:creationId xmlns:p14="http://schemas.microsoft.com/office/powerpoint/2010/main" val="2869233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0A4907-65DE-44DA-8852-3E8347636C68}"/>
              </a:ext>
            </a:extLst>
          </p:cNvPr>
          <p:cNvSpPr>
            <a:spLocks noGrp="1"/>
          </p:cNvSpPr>
          <p:nvPr>
            <p:ph type="title"/>
          </p:nvPr>
        </p:nvSpPr>
        <p:spPr/>
        <p:txBody>
          <a:bodyPr>
            <a:normAutofit fontScale="90000"/>
          </a:bodyPr>
          <a:lstStyle/>
          <a:p>
            <a:r>
              <a:rPr kumimoji="0" lang="zh-CN" altLang="en-US" sz="2400" b="0" i="0" u="none" strike="noStrike" kern="1200" cap="none" spc="0" normalizeH="0" baseline="0" noProof="0" dirty="0">
                <a:ln>
                  <a:noFill/>
                </a:ln>
                <a:solidFill>
                  <a:schemeClr val="tx1"/>
                </a:solidFill>
                <a:effectLst/>
                <a:uLnTx/>
                <a:uFillTx/>
                <a:latin typeface="苹方 中等" panose="020B0400000000000000" pitchFamily="34" charset="-122"/>
                <a:ea typeface="苹方 中等" panose="020B0400000000000000" pitchFamily="34" charset="-122"/>
                <a:cs typeface="+mn-cs"/>
              </a:rPr>
              <a:t>回归</a:t>
            </a:r>
            <a:r>
              <a:rPr lang="zh-CN" altLang="en-US" dirty="0"/>
              <a:t>（</a:t>
            </a:r>
            <a:r>
              <a:rPr lang="en-US" altLang="zh-CN" b="0" i="0" dirty="0">
                <a:solidFill>
                  <a:srgbClr val="333333"/>
                </a:solidFill>
                <a:effectLst/>
                <a:latin typeface="Arial" panose="020B0604020202020204" pitchFamily="34" charset="0"/>
              </a:rPr>
              <a:t>regression</a:t>
            </a:r>
            <a:r>
              <a:rPr lang="zh-CN" altLang="en-US" dirty="0"/>
              <a:t>）</a:t>
            </a:r>
          </a:p>
        </p:txBody>
      </p:sp>
      <p:sp>
        <p:nvSpPr>
          <p:cNvPr id="5" name="文本框 4">
            <a:extLst>
              <a:ext uri="{FF2B5EF4-FFF2-40B4-BE49-F238E27FC236}">
                <a16:creationId xmlns:a16="http://schemas.microsoft.com/office/drawing/2014/main" id="{296AD3B5-06E5-4F5A-9D1A-1CB1E33FCB8E}"/>
              </a:ext>
            </a:extLst>
          </p:cNvPr>
          <p:cNvSpPr txBox="1"/>
          <p:nvPr/>
        </p:nvSpPr>
        <p:spPr>
          <a:xfrm>
            <a:off x="0" y="903731"/>
            <a:ext cx="9849774" cy="646331"/>
          </a:xfrm>
          <a:prstGeom prst="rect">
            <a:avLst/>
          </a:prstGeom>
          <a:noFill/>
        </p:spPr>
        <p:txBody>
          <a:bodyPr wrap="square">
            <a:spAutoFit/>
          </a:bodyPr>
          <a:lstStyle/>
          <a:p>
            <a:r>
              <a:rPr lang="zh-CN" altLang="en-US" sz="1800" dirty="0"/>
              <a:t>回归是处理两个或两个以上变量之间互相依赖的定量关系的一种统计方法和技术，变量之间的关系并非确定的函数关系，通过一定的概率分布来描述</a:t>
            </a:r>
            <a:r>
              <a:rPr lang="zh-CN" altLang="en-US" sz="1800" dirty="0">
                <a:solidFill>
                  <a:schemeClr val="bg1"/>
                </a:solidFill>
              </a:rPr>
              <a:t>。</a:t>
            </a:r>
          </a:p>
        </p:txBody>
      </p:sp>
      <p:pic>
        <p:nvPicPr>
          <p:cNvPr id="6" name="图片 5">
            <a:extLst>
              <a:ext uri="{FF2B5EF4-FFF2-40B4-BE49-F238E27FC236}">
                <a16:creationId xmlns:a16="http://schemas.microsoft.com/office/drawing/2014/main" id="{E807C032-C1C2-4064-A831-DE40BDD8501A}"/>
              </a:ext>
            </a:extLst>
          </p:cNvPr>
          <p:cNvPicPr>
            <a:picLocks noChangeAspect="1"/>
          </p:cNvPicPr>
          <p:nvPr/>
        </p:nvPicPr>
        <p:blipFill>
          <a:blip r:embed="rId2"/>
          <a:stretch>
            <a:fillRect/>
          </a:stretch>
        </p:blipFill>
        <p:spPr>
          <a:xfrm>
            <a:off x="0" y="1568599"/>
            <a:ext cx="4434205" cy="4226460"/>
          </a:xfrm>
          <a:prstGeom prst="rect">
            <a:avLst/>
          </a:prstGeom>
        </p:spPr>
      </p:pic>
      <p:sp>
        <p:nvSpPr>
          <p:cNvPr id="7" name="文本框 6">
            <a:extLst>
              <a:ext uri="{FF2B5EF4-FFF2-40B4-BE49-F238E27FC236}">
                <a16:creationId xmlns:a16="http://schemas.microsoft.com/office/drawing/2014/main" id="{B2F808E6-5B47-4DFE-A6DD-ECF4D2E7CE9E}"/>
              </a:ext>
            </a:extLst>
          </p:cNvPr>
          <p:cNvSpPr txBox="1"/>
          <p:nvPr/>
        </p:nvSpPr>
        <p:spPr>
          <a:xfrm>
            <a:off x="4434205" y="1568599"/>
            <a:ext cx="7324269" cy="4401205"/>
          </a:xfrm>
          <a:prstGeom prst="rect">
            <a:avLst/>
          </a:prstGeom>
          <a:noFill/>
        </p:spPr>
        <p:txBody>
          <a:bodyPr wrap="square" rtlCol="0">
            <a:spAutoFit/>
          </a:bodyPr>
          <a:lstStyle/>
          <a:p>
            <a:r>
              <a:rPr lang="zh-CN" altLang="en-US" sz="2000" dirty="0"/>
              <a:t>19世纪80年代高尔顿就开始思考父代和子</a:t>
            </a:r>
          </a:p>
          <a:p>
            <a:r>
              <a:rPr lang="zh-CN" altLang="en-US" sz="2000" dirty="0"/>
              <a:t>代的相似性问题。搜集了1074对父母及孩</a:t>
            </a:r>
          </a:p>
          <a:p>
            <a:r>
              <a:rPr lang="zh-CN" altLang="en-US" sz="2000" dirty="0"/>
              <a:t>子的身高，将结果描成散点图，发现趋势近</a:t>
            </a:r>
          </a:p>
          <a:p>
            <a:r>
              <a:rPr lang="zh-CN" altLang="en-US" sz="2000" dirty="0"/>
              <a:t>乎一条直线。总的来说是父母平均身高X增</a:t>
            </a:r>
          </a:p>
          <a:p>
            <a:r>
              <a:rPr lang="zh-CN" altLang="en-US" sz="2000" dirty="0"/>
              <a:t>加时，其子的身高Y也倾向于增加。</a:t>
            </a:r>
          </a:p>
          <a:p>
            <a:r>
              <a:rPr lang="zh-CN" altLang="en-US" sz="2000" dirty="0"/>
              <a:t>他计算了这些父母身高的平均值为68英寸，孩子的平均身高为69英寸，他猜想儿子的身高应该是父母身高+1英寸，结果并非如此，当父母身高低于平均身高时，其孩子的身高要高于猜想的身高，当父母身高高于平均身高时，孩子身高低于猜想的身高。高尔顿对此研究后得出的解释是自然界有一种约束力，使人类身高在一定时期是相对稳定的。如果父母身高（或矮了），其子女比他们更高矮），则人类身材将向高、矮两个极端分化。自然界不这样做，它让身高有一种回归到中心的作用。这个性质被Galton成为“</a:t>
            </a:r>
            <a:r>
              <a:rPr lang="zh-CN" altLang="en-US" sz="2000" b="1" dirty="0"/>
              <a:t>回归”</a:t>
            </a:r>
            <a:r>
              <a:rPr lang="zh-CN" altLang="en-US" sz="2000" dirty="0"/>
              <a:t>。质被Galton成为“</a:t>
            </a:r>
            <a:r>
              <a:rPr lang="zh-CN" altLang="en-US" sz="2000" b="1" dirty="0"/>
              <a:t>回归”</a:t>
            </a:r>
            <a:r>
              <a:rPr lang="zh-CN" altLang="en-US" sz="2000" dirty="0"/>
              <a:t>。</a:t>
            </a:r>
          </a:p>
        </p:txBody>
      </p:sp>
      <p:pic>
        <p:nvPicPr>
          <p:cNvPr id="8" name="图片 7">
            <a:extLst>
              <a:ext uri="{FF2B5EF4-FFF2-40B4-BE49-F238E27FC236}">
                <a16:creationId xmlns:a16="http://schemas.microsoft.com/office/drawing/2014/main" id="{0A7912EC-8C93-4F71-A356-282BF4C4F31C}"/>
              </a:ext>
            </a:extLst>
          </p:cNvPr>
          <p:cNvPicPr>
            <a:picLocks noChangeAspect="1"/>
          </p:cNvPicPr>
          <p:nvPr/>
        </p:nvPicPr>
        <p:blipFill>
          <a:blip r:embed="rId3"/>
          <a:srcRect b="13828"/>
          <a:stretch>
            <a:fillRect/>
          </a:stretch>
        </p:blipFill>
        <p:spPr>
          <a:xfrm>
            <a:off x="9773828" y="997842"/>
            <a:ext cx="1845945" cy="1955165"/>
          </a:xfrm>
          <a:prstGeom prst="rect">
            <a:avLst/>
          </a:prstGeom>
        </p:spPr>
      </p:pic>
    </p:spTree>
    <p:extLst>
      <p:ext uri="{BB962C8B-B14F-4D97-AF65-F5344CB8AC3E}">
        <p14:creationId xmlns:p14="http://schemas.microsoft.com/office/powerpoint/2010/main" val="2878175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par>
                                <p:cTn id="11" presetID="3"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D1655-909B-4169-938B-E9120A27955B}"/>
              </a:ext>
            </a:extLst>
          </p:cNvPr>
          <p:cNvSpPr>
            <a:spLocks noGrp="1"/>
          </p:cNvSpPr>
          <p:nvPr>
            <p:ph type="title"/>
          </p:nvPr>
        </p:nvSpPr>
        <p:spPr/>
        <p:txBody>
          <a:bodyPr>
            <a:normAutofit fontScale="90000"/>
          </a:bodyPr>
          <a:lstStyle/>
          <a:p>
            <a:r>
              <a:rPr lang="zh-CN" altLang="en-US" b="1" i="0" dirty="0">
                <a:solidFill>
                  <a:srgbClr val="333333"/>
                </a:solidFill>
                <a:effectLst/>
                <a:latin typeface="Open Sans" panose="020B0606030504020204" pitchFamily="34" charset="0"/>
              </a:rPr>
              <a:t>线性回归</a:t>
            </a:r>
            <a:r>
              <a:rPr lang="zh-CN" altLang="en-US" dirty="0"/>
              <a:t>（</a:t>
            </a:r>
            <a:r>
              <a:rPr lang="en-US" altLang="zh-CN" b="0" i="0" dirty="0">
                <a:solidFill>
                  <a:srgbClr val="333333"/>
                </a:solidFill>
                <a:effectLst/>
                <a:latin typeface="Arial" panose="020B0604020202020204" pitchFamily="34" charset="0"/>
              </a:rPr>
              <a:t>Decision Tree</a:t>
            </a:r>
            <a:r>
              <a:rPr lang="zh-CN" altLang="en-US" dirty="0"/>
              <a:t>）</a:t>
            </a:r>
          </a:p>
        </p:txBody>
      </p:sp>
      <p:sp>
        <p:nvSpPr>
          <p:cNvPr id="7" name="文本框 6">
            <a:extLst>
              <a:ext uri="{FF2B5EF4-FFF2-40B4-BE49-F238E27FC236}">
                <a16:creationId xmlns:a16="http://schemas.microsoft.com/office/drawing/2014/main" id="{22421132-F237-4C06-9EA9-C9BDF5C87110}"/>
              </a:ext>
            </a:extLst>
          </p:cNvPr>
          <p:cNvSpPr txBox="1"/>
          <p:nvPr/>
        </p:nvSpPr>
        <p:spPr>
          <a:xfrm>
            <a:off x="311829" y="928476"/>
            <a:ext cx="10305415" cy="398780"/>
          </a:xfrm>
          <a:prstGeom prst="rect">
            <a:avLst/>
          </a:prstGeom>
          <a:noFill/>
        </p:spPr>
        <p:txBody>
          <a:bodyPr wrap="square" rtlCol="0">
            <a:spAutoFit/>
          </a:bodyPr>
          <a:lstStyle/>
          <a:p>
            <a:r>
              <a:rPr lang="zh-CN" altLang="en-US" sz="2000" dirty="0"/>
              <a:t>变量之间X、Y之间存在某种密切的联系，但并非严格</a:t>
            </a:r>
            <a:r>
              <a:rPr lang="zh-CN" altLang="en-US" sz="2000" dirty="0">
                <a:solidFill>
                  <a:schemeClr val="bg1"/>
                </a:solidFill>
              </a:rPr>
              <a:t>的函数关系（非确定性关系）。</a:t>
            </a:r>
          </a:p>
        </p:txBody>
      </p:sp>
      <p:pic>
        <p:nvPicPr>
          <p:cNvPr id="9" name="图片 8">
            <a:extLst>
              <a:ext uri="{FF2B5EF4-FFF2-40B4-BE49-F238E27FC236}">
                <a16:creationId xmlns:a16="http://schemas.microsoft.com/office/drawing/2014/main" id="{C98044AA-CF30-470F-B0C3-234BC54B514C}"/>
              </a:ext>
            </a:extLst>
          </p:cNvPr>
          <p:cNvPicPr>
            <a:picLocks noChangeAspect="1"/>
          </p:cNvPicPr>
          <p:nvPr/>
        </p:nvPicPr>
        <p:blipFill>
          <a:blip r:embed="rId2"/>
          <a:stretch>
            <a:fillRect/>
          </a:stretch>
        </p:blipFill>
        <p:spPr>
          <a:xfrm>
            <a:off x="574570" y="2532638"/>
            <a:ext cx="3220720" cy="2929255"/>
          </a:xfrm>
          <a:prstGeom prst="rect">
            <a:avLst/>
          </a:prstGeom>
        </p:spPr>
      </p:pic>
      <p:pic>
        <p:nvPicPr>
          <p:cNvPr id="11" name="图片 10">
            <a:extLst>
              <a:ext uri="{FF2B5EF4-FFF2-40B4-BE49-F238E27FC236}">
                <a16:creationId xmlns:a16="http://schemas.microsoft.com/office/drawing/2014/main" id="{A58488BD-5412-4239-B55D-274C4B6E6900}"/>
              </a:ext>
            </a:extLst>
          </p:cNvPr>
          <p:cNvPicPr>
            <a:picLocks noChangeAspect="1"/>
          </p:cNvPicPr>
          <p:nvPr/>
        </p:nvPicPr>
        <p:blipFill>
          <a:blip r:embed="rId3"/>
          <a:stretch>
            <a:fillRect/>
          </a:stretch>
        </p:blipFill>
        <p:spPr>
          <a:xfrm>
            <a:off x="4989090" y="2532638"/>
            <a:ext cx="3333115" cy="2931795"/>
          </a:xfrm>
          <a:prstGeom prst="rect">
            <a:avLst/>
          </a:prstGeom>
        </p:spPr>
      </p:pic>
      <p:sp>
        <p:nvSpPr>
          <p:cNvPr id="12" name="文本框 11">
            <a:extLst>
              <a:ext uri="{FF2B5EF4-FFF2-40B4-BE49-F238E27FC236}">
                <a16:creationId xmlns:a16="http://schemas.microsoft.com/office/drawing/2014/main" id="{269F6613-76F4-4824-8235-5ADBA5FDAD31}"/>
              </a:ext>
            </a:extLst>
          </p:cNvPr>
          <p:cNvSpPr txBox="1"/>
          <p:nvPr/>
        </p:nvSpPr>
        <p:spPr>
          <a:xfrm>
            <a:off x="8556520" y="4030603"/>
            <a:ext cx="1569085" cy="368300"/>
          </a:xfrm>
          <a:prstGeom prst="rect">
            <a:avLst/>
          </a:prstGeom>
          <a:noFill/>
        </p:spPr>
        <p:txBody>
          <a:bodyPr wrap="square" rtlCol="0">
            <a:spAutoFit/>
          </a:bodyPr>
          <a:lstStyle/>
          <a:p>
            <a:r>
              <a:rPr lang="en-US" altLang="zh-CN" b="1">
                <a:solidFill>
                  <a:srgbClr val="FF0000"/>
                </a:solidFill>
              </a:rPr>
              <a:t>y=4+0.3+1.7</a:t>
            </a:r>
            <a:endParaRPr lang="zh-CN" altLang="en-US" b="1">
              <a:solidFill>
                <a:srgbClr val="FF0000"/>
              </a:solidFill>
            </a:endParaRPr>
          </a:p>
        </p:txBody>
      </p:sp>
      <p:cxnSp>
        <p:nvCxnSpPr>
          <p:cNvPr id="13" name="直接箭头连接符 12">
            <a:extLst>
              <a:ext uri="{FF2B5EF4-FFF2-40B4-BE49-F238E27FC236}">
                <a16:creationId xmlns:a16="http://schemas.microsoft.com/office/drawing/2014/main" id="{A9EEF77E-406E-4BA4-BA6E-9E0AB74557CE}"/>
              </a:ext>
            </a:extLst>
          </p:cNvPr>
          <p:cNvCxnSpPr/>
          <p:nvPr/>
        </p:nvCxnSpPr>
        <p:spPr>
          <a:xfrm>
            <a:off x="9844886" y="4398903"/>
            <a:ext cx="0" cy="66421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文本框 13">
            <a:extLst>
              <a:ext uri="{FF2B5EF4-FFF2-40B4-BE49-F238E27FC236}">
                <a16:creationId xmlns:a16="http://schemas.microsoft.com/office/drawing/2014/main" id="{0A27B556-4F8C-45AC-AF7B-98496BC9047C}"/>
              </a:ext>
            </a:extLst>
          </p:cNvPr>
          <p:cNvSpPr txBox="1"/>
          <p:nvPr/>
        </p:nvSpPr>
        <p:spPr>
          <a:xfrm>
            <a:off x="9606175" y="5044698"/>
            <a:ext cx="407035" cy="521970"/>
          </a:xfrm>
          <a:prstGeom prst="rect">
            <a:avLst/>
          </a:prstGeom>
          <a:noFill/>
        </p:spPr>
        <p:txBody>
          <a:bodyPr wrap="square" rtlCol="0">
            <a:spAutoFit/>
          </a:bodyPr>
          <a:lstStyle/>
          <a:p>
            <a:r>
              <a:rPr lang="en-US" altLang="zh-CN" sz="2800" b="1" dirty="0"/>
              <a:t>ε</a:t>
            </a:r>
          </a:p>
        </p:txBody>
      </p:sp>
      <p:sp>
        <p:nvSpPr>
          <p:cNvPr id="15" name="文本框 14">
            <a:extLst>
              <a:ext uri="{FF2B5EF4-FFF2-40B4-BE49-F238E27FC236}">
                <a16:creationId xmlns:a16="http://schemas.microsoft.com/office/drawing/2014/main" id="{5FEAA295-C2ED-4A02-9F4B-8414443FC2B0}"/>
              </a:ext>
            </a:extLst>
          </p:cNvPr>
          <p:cNvSpPr txBox="1"/>
          <p:nvPr/>
        </p:nvSpPr>
        <p:spPr>
          <a:xfrm>
            <a:off x="311829" y="1340074"/>
            <a:ext cx="9754275" cy="954107"/>
          </a:xfrm>
          <a:prstGeom prst="rect">
            <a:avLst/>
          </a:prstGeom>
          <a:noFill/>
        </p:spPr>
        <p:txBody>
          <a:bodyPr wrap="square">
            <a:spAutoFit/>
          </a:bodyPr>
          <a:lstStyle/>
          <a:p>
            <a:r>
              <a:rPr lang="zh-CN" altLang="en-US" sz="2000" b="1" dirty="0"/>
              <a:t>线性回归(Linear Regression)：</a:t>
            </a:r>
            <a:r>
              <a:rPr lang="zh-CN" altLang="en-US" sz="1800" dirty="0"/>
              <a:t>在回归分析中，如果自变量和因变量之间存在着线性关系，则被称作线性回归。如果只有一个因变量一个自变量，则被称作一元线性回归，如果有一个因变量多个自变量，则被称作多元回归。</a:t>
            </a:r>
          </a:p>
        </p:txBody>
      </p:sp>
    </p:spTree>
    <p:extLst>
      <p:ext uri="{BB962C8B-B14F-4D97-AF65-F5344CB8AC3E}">
        <p14:creationId xmlns:p14="http://schemas.microsoft.com/office/powerpoint/2010/main" val="1998745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par>
                                <p:cTn id="11" presetID="3" presetClass="entr" presetSubtype="1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linds(horizontal)">
                                      <p:cBhvr>
                                        <p:cTn id="13" dur="500"/>
                                        <p:tgtEl>
                                          <p:spTgt spid="11"/>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linds(horizontal)">
                                      <p:cBhvr>
                                        <p:cTn id="16" dur="500"/>
                                        <p:tgtEl>
                                          <p:spTgt spid="12"/>
                                        </p:tgtEl>
                                      </p:cBhvr>
                                    </p:animEffect>
                                  </p:childTnLst>
                                </p:cTn>
                              </p:par>
                              <p:par>
                                <p:cTn id="17" presetID="3" presetClass="entr" presetSubtype="1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blinds(horizontal)">
                                      <p:cBhvr>
                                        <p:cTn id="19" dur="500"/>
                                        <p:tgtEl>
                                          <p:spTgt spid="13"/>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linds(horizontal)">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2" grpId="0"/>
      <p:bldP spid="12" grpId="1"/>
      <p:bldP spid="14" grpId="0"/>
      <p:bldP spid="14"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DB9CBFD-68C8-4160-90A7-66D0BC0DA22F}"/>
              </a:ext>
            </a:extLst>
          </p:cNvPr>
          <p:cNvSpPr txBox="1"/>
          <p:nvPr/>
        </p:nvSpPr>
        <p:spPr>
          <a:xfrm>
            <a:off x="951520" y="208400"/>
            <a:ext cx="30276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ym typeface="+mn-ea"/>
              </a:rPr>
              <a:t>模型的一般形式</a:t>
            </a:r>
            <a:endPar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endParaRPr>
          </a:p>
        </p:txBody>
      </p:sp>
      <p:sp>
        <p:nvSpPr>
          <p:cNvPr id="28" name="文本框 27">
            <a:extLst>
              <a:ext uri="{FF2B5EF4-FFF2-40B4-BE49-F238E27FC236}">
                <a16:creationId xmlns:a16="http://schemas.microsoft.com/office/drawing/2014/main" id="{CCA94031-CE6A-49ED-9591-FD3A0C227A48}"/>
              </a:ext>
            </a:extLst>
          </p:cNvPr>
          <p:cNvSpPr txBox="1"/>
          <p:nvPr/>
        </p:nvSpPr>
        <p:spPr>
          <a:xfrm>
            <a:off x="554990" y="1268710"/>
            <a:ext cx="10547350" cy="461665"/>
          </a:xfrm>
          <a:prstGeom prst="rect">
            <a:avLst/>
          </a:prstGeom>
          <a:noFill/>
        </p:spPr>
        <p:txBody>
          <a:bodyPr wrap="square" rtlCol="0">
            <a:spAutoFit/>
          </a:bodyPr>
          <a:lstStyle/>
          <a:p>
            <a:r>
              <a:rPr lang="zh-CN" altLang="en-US" sz="2400" dirty="0">
                <a:sym typeface="+mn-ea"/>
              </a:rPr>
              <a:t>回归模型的一般形式为：</a:t>
            </a:r>
            <a:r>
              <a:rPr lang="en-US" altLang="zh-CN" sz="2400" dirty="0"/>
              <a:t>                  </a:t>
            </a:r>
            <a:r>
              <a:rPr lang="zh-CN" altLang="en-US" sz="2400" dirty="0"/>
              <a:t>y=f(×</a:t>
            </a:r>
            <a:r>
              <a:rPr lang="zh-CN" altLang="en-US" sz="2400" baseline="-25000" dirty="0"/>
              <a:t>1</a:t>
            </a:r>
            <a:r>
              <a:rPr lang="zh-CN" altLang="en-US" sz="2400" dirty="0"/>
              <a:t>,×</a:t>
            </a:r>
            <a:r>
              <a:rPr lang="zh-CN" altLang="en-US" sz="2400" baseline="-25000" dirty="0"/>
              <a:t>2</a:t>
            </a:r>
            <a:r>
              <a:rPr lang="zh-CN" altLang="en-US" sz="2400" dirty="0"/>
              <a:t>,x</a:t>
            </a:r>
            <a:r>
              <a:rPr lang="zh-CN" altLang="en-US" sz="2400" baseline="-25000" dirty="0"/>
              <a:t>3</a:t>
            </a:r>
            <a:r>
              <a:rPr lang="zh-CN" altLang="en-US" sz="2400" dirty="0"/>
              <a:t>,…,×</a:t>
            </a:r>
            <a:r>
              <a:rPr lang="zh-CN" altLang="en-US" sz="2400" baseline="-25000" dirty="0"/>
              <a:t>p</a:t>
            </a:r>
            <a:r>
              <a:rPr lang="zh-CN" altLang="en-US" sz="2400" dirty="0"/>
              <a:t>)+ε</a:t>
            </a:r>
          </a:p>
        </p:txBody>
      </p:sp>
      <p:sp>
        <p:nvSpPr>
          <p:cNvPr id="29" name="矩形 28">
            <a:extLst>
              <a:ext uri="{FF2B5EF4-FFF2-40B4-BE49-F238E27FC236}">
                <a16:creationId xmlns:a16="http://schemas.microsoft.com/office/drawing/2014/main" id="{136B6461-4F13-4F02-AFF7-29081ACCEA85}"/>
              </a:ext>
            </a:extLst>
          </p:cNvPr>
          <p:cNvSpPr/>
          <p:nvPr/>
        </p:nvSpPr>
        <p:spPr>
          <a:xfrm>
            <a:off x="6050280" y="1224915"/>
            <a:ext cx="1991995" cy="51308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箭头连接符 29">
            <a:extLst>
              <a:ext uri="{FF2B5EF4-FFF2-40B4-BE49-F238E27FC236}">
                <a16:creationId xmlns:a16="http://schemas.microsoft.com/office/drawing/2014/main" id="{4672807F-F384-408B-BCA6-64E6504CC7B1}"/>
              </a:ext>
            </a:extLst>
          </p:cNvPr>
          <p:cNvCxnSpPr/>
          <p:nvPr/>
        </p:nvCxnSpPr>
        <p:spPr>
          <a:xfrm flipH="1">
            <a:off x="7045960" y="1737995"/>
            <a:ext cx="635" cy="483235"/>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90B31B22-C927-4BFB-9F0F-61665390D22F}"/>
              </a:ext>
            </a:extLst>
          </p:cNvPr>
          <p:cNvSpPr txBox="1"/>
          <p:nvPr/>
        </p:nvSpPr>
        <p:spPr>
          <a:xfrm>
            <a:off x="6609080" y="2221230"/>
            <a:ext cx="1432560" cy="368300"/>
          </a:xfrm>
          <a:prstGeom prst="rect">
            <a:avLst/>
          </a:prstGeom>
          <a:noFill/>
        </p:spPr>
        <p:txBody>
          <a:bodyPr wrap="square" rtlCol="0">
            <a:spAutoFit/>
          </a:bodyPr>
          <a:lstStyle/>
          <a:p>
            <a:r>
              <a:rPr lang="zh-CN" altLang="en-US" dirty="0"/>
              <a:t>确定关系</a:t>
            </a:r>
          </a:p>
        </p:txBody>
      </p:sp>
      <p:sp>
        <p:nvSpPr>
          <p:cNvPr id="32" name="矩形 31">
            <a:extLst>
              <a:ext uri="{FF2B5EF4-FFF2-40B4-BE49-F238E27FC236}">
                <a16:creationId xmlns:a16="http://schemas.microsoft.com/office/drawing/2014/main" id="{42D17B92-A764-4A73-B8C1-AB0D9344D39E}"/>
              </a:ext>
            </a:extLst>
          </p:cNvPr>
          <p:cNvSpPr/>
          <p:nvPr/>
        </p:nvSpPr>
        <p:spPr>
          <a:xfrm>
            <a:off x="8191500" y="1240790"/>
            <a:ext cx="259080" cy="45275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箭头连接符 32">
            <a:extLst>
              <a:ext uri="{FF2B5EF4-FFF2-40B4-BE49-F238E27FC236}">
                <a16:creationId xmlns:a16="http://schemas.microsoft.com/office/drawing/2014/main" id="{23AA708A-686C-486E-89B7-E9A75AF49C36}"/>
              </a:ext>
            </a:extLst>
          </p:cNvPr>
          <p:cNvCxnSpPr/>
          <p:nvPr/>
        </p:nvCxnSpPr>
        <p:spPr>
          <a:xfrm>
            <a:off x="8295005" y="1693545"/>
            <a:ext cx="7620" cy="377825"/>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27DDAD8C-A156-452E-9607-180317682541}"/>
              </a:ext>
            </a:extLst>
          </p:cNvPr>
          <p:cNvSpPr txBox="1"/>
          <p:nvPr/>
        </p:nvSpPr>
        <p:spPr>
          <a:xfrm>
            <a:off x="7770495" y="2221230"/>
            <a:ext cx="1508760" cy="645160"/>
          </a:xfrm>
          <a:prstGeom prst="rect">
            <a:avLst/>
          </a:prstGeom>
          <a:noFill/>
        </p:spPr>
        <p:txBody>
          <a:bodyPr wrap="square" rtlCol="0">
            <a:spAutoFit/>
          </a:bodyPr>
          <a:lstStyle/>
          <a:p>
            <a:r>
              <a:rPr lang="en-US" altLang="zh-CN" dirty="0">
                <a:solidFill>
                  <a:schemeClr val="bg1"/>
                </a:solidFill>
              </a:rPr>
              <a:t> </a:t>
            </a:r>
            <a:r>
              <a:rPr lang="zh-CN" altLang="en-US" dirty="0"/>
              <a:t>随机误差</a:t>
            </a:r>
          </a:p>
          <a:p>
            <a:r>
              <a:rPr lang="zh-CN" altLang="en-US" dirty="0">
                <a:solidFill>
                  <a:schemeClr val="bg1"/>
                </a:solidFill>
              </a:rPr>
              <a:t>（扰动项）</a:t>
            </a:r>
          </a:p>
        </p:txBody>
      </p:sp>
      <p:sp>
        <p:nvSpPr>
          <p:cNvPr id="35" name="左大括号 34">
            <a:extLst>
              <a:ext uri="{FF2B5EF4-FFF2-40B4-BE49-F238E27FC236}">
                <a16:creationId xmlns:a16="http://schemas.microsoft.com/office/drawing/2014/main" id="{D0444903-FDDB-4B5E-A443-D3594652773B}"/>
              </a:ext>
            </a:extLst>
          </p:cNvPr>
          <p:cNvSpPr/>
          <p:nvPr/>
        </p:nvSpPr>
        <p:spPr>
          <a:xfrm>
            <a:off x="9067800" y="1741805"/>
            <a:ext cx="482600" cy="1327785"/>
          </a:xfrm>
          <a:prstGeom prst="leftBrac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DAA08116-0039-4AF2-A68E-55C63915DF98}"/>
              </a:ext>
            </a:extLst>
          </p:cNvPr>
          <p:cNvSpPr txBox="1"/>
          <p:nvPr/>
        </p:nvSpPr>
        <p:spPr>
          <a:xfrm>
            <a:off x="9550400" y="1666875"/>
            <a:ext cx="1707515" cy="1476375"/>
          </a:xfrm>
          <a:prstGeom prst="rect">
            <a:avLst/>
          </a:prstGeom>
          <a:noFill/>
        </p:spPr>
        <p:txBody>
          <a:bodyPr wrap="square" rtlCol="0">
            <a:spAutoFit/>
          </a:bodyPr>
          <a:lstStyle/>
          <a:p>
            <a:r>
              <a:rPr lang="zh-CN" altLang="en-US" dirty="0"/>
              <a:t>影响因素缺失</a:t>
            </a:r>
          </a:p>
          <a:p>
            <a:endParaRPr lang="zh-CN" altLang="en-US" dirty="0"/>
          </a:p>
          <a:p>
            <a:r>
              <a:rPr lang="zh-CN" altLang="en-US" dirty="0"/>
              <a:t>观测/测量误差</a:t>
            </a:r>
          </a:p>
          <a:p>
            <a:endParaRPr lang="zh-CN" altLang="en-US" dirty="0"/>
          </a:p>
          <a:p>
            <a:r>
              <a:rPr lang="zh-CN" altLang="en-US" dirty="0"/>
              <a:t>其他随机误差</a:t>
            </a:r>
          </a:p>
        </p:txBody>
      </p:sp>
      <p:sp>
        <p:nvSpPr>
          <p:cNvPr id="37" name="文本框 36">
            <a:extLst>
              <a:ext uri="{FF2B5EF4-FFF2-40B4-BE49-F238E27FC236}">
                <a16:creationId xmlns:a16="http://schemas.microsoft.com/office/drawing/2014/main" id="{39ABD6AA-B35B-4292-BEA9-D3A5064A1F1C}"/>
              </a:ext>
            </a:extLst>
          </p:cNvPr>
          <p:cNvSpPr txBox="1"/>
          <p:nvPr/>
        </p:nvSpPr>
        <p:spPr>
          <a:xfrm>
            <a:off x="743585" y="3341370"/>
            <a:ext cx="5085080" cy="2676525"/>
          </a:xfrm>
          <a:prstGeom prst="rect">
            <a:avLst/>
          </a:prstGeom>
          <a:noFill/>
        </p:spPr>
        <p:txBody>
          <a:bodyPr wrap="square" rtlCol="0">
            <a:spAutoFit/>
          </a:bodyPr>
          <a:lstStyle/>
          <a:p>
            <a:pPr>
              <a:lnSpc>
                <a:spcPct val="140000"/>
              </a:lnSpc>
            </a:pPr>
            <a:r>
              <a:rPr lang="zh-CN" altLang="en-US" sz="2000" dirty="0"/>
              <a:t>当f(x1,x2,x3,…,xp)为线性函数，即：</a:t>
            </a:r>
          </a:p>
          <a:p>
            <a:pPr>
              <a:lnSpc>
                <a:spcPct val="140000"/>
              </a:lnSpc>
            </a:pPr>
            <a:endParaRPr lang="zh-CN" altLang="en-US" sz="2000" dirty="0"/>
          </a:p>
          <a:p>
            <a:pPr>
              <a:lnSpc>
                <a:spcPct val="140000"/>
              </a:lnSpc>
            </a:pPr>
            <a:r>
              <a:rPr lang="zh-CN" altLang="en-US" sz="2000" dirty="0"/>
              <a:t>y=f(x1,x2,x3,…,xp)+ε</a:t>
            </a:r>
          </a:p>
          <a:p>
            <a:pPr>
              <a:lnSpc>
                <a:spcPct val="140000"/>
              </a:lnSpc>
            </a:pPr>
            <a:r>
              <a:rPr lang="zh-CN" altLang="en-US" sz="2000" dirty="0"/>
              <a:t>  =βo+ β1x1 +β2x2 +…+βpxp+ε</a:t>
            </a:r>
          </a:p>
          <a:p>
            <a:pPr>
              <a:lnSpc>
                <a:spcPct val="140000"/>
              </a:lnSpc>
            </a:pPr>
            <a:endParaRPr lang="zh-CN" altLang="en-US" sz="2000" dirty="0"/>
          </a:p>
          <a:p>
            <a:pPr>
              <a:lnSpc>
                <a:spcPct val="140000"/>
              </a:lnSpc>
            </a:pPr>
            <a:r>
              <a:rPr lang="zh-CN" altLang="en-US" sz="2000" dirty="0"/>
              <a:t>βo，β2，…，βp被称作回归系数</a:t>
            </a:r>
          </a:p>
        </p:txBody>
      </p:sp>
      <p:pic>
        <p:nvPicPr>
          <p:cNvPr id="38" name="图片 37">
            <a:extLst>
              <a:ext uri="{FF2B5EF4-FFF2-40B4-BE49-F238E27FC236}">
                <a16:creationId xmlns:a16="http://schemas.microsoft.com/office/drawing/2014/main" id="{8C63511C-D42A-4E7F-8386-B38FA7A27948}"/>
              </a:ext>
            </a:extLst>
          </p:cNvPr>
          <p:cNvPicPr>
            <a:picLocks noChangeAspect="1"/>
          </p:cNvPicPr>
          <p:nvPr/>
        </p:nvPicPr>
        <p:blipFill>
          <a:blip r:embed="rId2"/>
          <a:stretch>
            <a:fillRect/>
          </a:stretch>
        </p:blipFill>
        <p:spPr>
          <a:xfrm>
            <a:off x="5946140" y="3341370"/>
            <a:ext cx="3333115" cy="2931795"/>
          </a:xfrm>
          <a:prstGeom prst="rect">
            <a:avLst/>
          </a:prstGeom>
        </p:spPr>
      </p:pic>
      <p:cxnSp>
        <p:nvCxnSpPr>
          <p:cNvPr id="39" name="直接连接符 38">
            <a:extLst>
              <a:ext uri="{FF2B5EF4-FFF2-40B4-BE49-F238E27FC236}">
                <a16:creationId xmlns:a16="http://schemas.microsoft.com/office/drawing/2014/main" id="{49EC20F6-4606-4711-AEFD-D75648DC0F7E}"/>
              </a:ext>
            </a:extLst>
          </p:cNvPr>
          <p:cNvCxnSpPr/>
          <p:nvPr/>
        </p:nvCxnSpPr>
        <p:spPr>
          <a:xfrm flipV="1">
            <a:off x="6240145" y="3757930"/>
            <a:ext cx="2338705" cy="2095500"/>
          </a:xfrm>
          <a:prstGeom prst="line">
            <a:avLst/>
          </a:prstGeom>
          <a:ln w="31750" cmpd="sng">
            <a:solidFill>
              <a:srgbClr val="FF0000"/>
            </a:solidFill>
            <a:prstDash val="lgDash"/>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A155CEA2-CA39-47EC-90E0-B73747617F7D}"/>
              </a:ext>
            </a:extLst>
          </p:cNvPr>
          <p:cNvSpPr txBox="1"/>
          <p:nvPr/>
        </p:nvSpPr>
        <p:spPr>
          <a:xfrm>
            <a:off x="8382000" y="4204335"/>
            <a:ext cx="1569085" cy="368300"/>
          </a:xfrm>
          <a:prstGeom prst="rect">
            <a:avLst/>
          </a:prstGeom>
          <a:noFill/>
        </p:spPr>
        <p:txBody>
          <a:bodyPr wrap="square" rtlCol="0">
            <a:spAutoFit/>
          </a:bodyPr>
          <a:lstStyle/>
          <a:p>
            <a:r>
              <a:rPr lang="en-US" altLang="zh-CN" b="1">
                <a:solidFill>
                  <a:srgbClr val="FF0000"/>
                </a:solidFill>
              </a:rPr>
              <a:t>y=x+0.3</a:t>
            </a:r>
            <a:endParaRPr lang="zh-CN" altLang="en-US" b="1">
              <a:solidFill>
                <a:srgbClr val="FF0000"/>
              </a:solidFill>
            </a:endParaRPr>
          </a:p>
        </p:txBody>
      </p:sp>
      <p:sp>
        <p:nvSpPr>
          <p:cNvPr id="41" name="文本框 40">
            <a:extLst>
              <a:ext uri="{FF2B5EF4-FFF2-40B4-BE49-F238E27FC236}">
                <a16:creationId xmlns:a16="http://schemas.microsoft.com/office/drawing/2014/main" id="{83E85903-6176-4498-82F4-F517DA24E413}"/>
              </a:ext>
            </a:extLst>
          </p:cNvPr>
          <p:cNvSpPr txBox="1"/>
          <p:nvPr/>
        </p:nvSpPr>
        <p:spPr>
          <a:xfrm>
            <a:off x="9513570" y="4839335"/>
            <a:ext cx="1569085" cy="368300"/>
          </a:xfrm>
          <a:prstGeom prst="rect">
            <a:avLst/>
          </a:prstGeom>
          <a:noFill/>
        </p:spPr>
        <p:txBody>
          <a:bodyPr wrap="square" rtlCol="0">
            <a:spAutoFit/>
          </a:bodyPr>
          <a:lstStyle/>
          <a:p>
            <a:r>
              <a:rPr lang="en-US" altLang="zh-CN" b="1">
                <a:solidFill>
                  <a:srgbClr val="FF0000"/>
                </a:solidFill>
              </a:rPr>
              <a:t>y=4+0.3+1.7</a:t>
            </a:r>
            <a:endParaRPr lang="zh-CN" altLang="en-US" b="1">
              <a:solidFill>
                <a:srgbClr val="FF0000"/>
              </a:solidFill>
            </a:endParaRPr>
          </a:p>
        </p:txBody>
      </p:sp>
    </p:spTree>
    <p:extLst>
      <p:ext uri="{BB962C8B-B14F-4D97-AF65-F5344CB8AC3E}">
        <p14:creationId xmlns:p14="http://schemas.microsoft.com/office/powerpoint/2010/main" val="459285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75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blinds(horizontal)">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blinds(horizontal)">
                                      <p:cBhvr>
                                        <p:cTn id="17" dur="500"/>
                                        <p:tgtEl>
                                          <p:spTgt spid="29"/>
                                        </p:tgtEl>
                                      </p:cBhvr>
                                    </p:animEffect>
                                  </p:childTnLst>
                                </p:cTn>
                              </p:par>
                              <p:par>
                                <p:cTn id="18" presetID="3" presetClass="entr" presetSubtype="10" fill="hold"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blinds(horizontal)">
                                      <p:cBhvr>
                                        <p:cTn id="20" dur="500"/>
                                        <p:tgtEl>
                                          <p:spTgt spid="30"/>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blinds(horizontal)">
                                      <p:cBhvr>
                                        <p:cTn id="23" dur="500"/>
                                        <p:tgtEl>
                                          <p:spTgt spid="31"/>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blinds(horizontal)">
                                      <p:cBhvr>
                                        <p:cTn id="28" dur="500"/>
                                        <p:tgtEl>
                                          <p:spTgt spid="32"/>
                                        </p:tgtEl>
                                      </p:cBhvr>
                                    </p:animEffect>
                                  </p:childTnLst>
                                </p:cTn>
                              </p:par>
                              <p:par>
                                <p:cTn id="29" presetID="3" presetClass="entr" presetSubtype="1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blinds(horizontal)">
                                      <p:cBhvr>
                                        <p:cTn id="31" dur="500"/>
                                        <p:tgtEl>
                                          <p:spTgt spid="33"/>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blinds(horizontal)">
                                      <p:cBhvr>
                                        <p:cTn id="34" dur="500"/>
                                        <p:tgtEl>
                                          <p:spTgt spid="35"/>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blinds(horizontal)">
                                      <p:cBhvr>
                                        <p:cTn id="37" dur="500"/>
                                        <p:tgtEl>
                                          <p:spTgt spid="36"/>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blinds(horizontal)">
                                      <p:cBhvr>
                                        <p:cTn id="40" dur="500"/>
                                        <p:tgtEl>
                                          <p:spTgt spid="34"/>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blinds(horizontal)">
                                      <p:cBhvr>
                                        <p:cTn id="45" dur="500"/>
                                        <p:tgtEl>
                                          <p:spTgt spid="37"/>
                                        </p:tgtEl>
                                      </p:cBhvr>
                                    </p:animEffect>
                                  </p:childTnLst>
                                </p:cTn>
                              </p:par>
                              <p:par>
                                <p:cTn id="46" presetID="3" presetClass="entr" presetSubtype="10" fill="hold" nodeType="with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blinds(horizontal)">
                                      <p:cBhvr>
                                        <p:cTn id="48" dur="500"/>
                                        <p:tgtEl>
                                          <p:spTgt spid="38"/>
                                        </p:tgtEl>
                                      </p:cBhvr>
                                    </p:animEffect>
                                  </p:childTnLst>
                                </p:cTn>
                              </p:par>
                              <p:par>
                                <p:cTn id="49" presetID="3" presetClass="entr" presetSubtype="10" fill="hold"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blinds(horizontal)">
                                      <p:cBhvr>
                                        <p:cTn id="51" dur="500"/>
                                        <p:tgtEl>
                                          <p:spTgt spid="39"/>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40"/>
                                        </p:tgtEl>
                                        <p:attrNameLst>
                                          <p:attrName>style.visibility</p:attrName>
                                        </p:attrNameLst>
                                      </p:cBhvr>
                                      <p:to>
                                        <p:strVal val="visible"/>
                                      </p:to>
                                    </p:set>
                                    <p:animEffect transition="in" filter="blinds(horizontal)">
                                      <p:cBhvr>
                                        <p:cTn id="54" dur="500"/>
                                        <p:tgtEl>
                                          <p:spTgt spid="40"/>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blinds(horizontal)">
                                      <p:cBhvr>
                                        <p:cTn id="5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8" grpId="0"/>
      <p:bldP spid="28" grpId="1"/>
      <p:bldP spid="29" grpId="0" animBg="1"/>
      <p:bldP spid="29" grpId="1" animBg="1"/>
      <p:bldP spid="31" grpId="0"/>
      <p:bldP spid="31" grpId="1"/>
      <p:bldP spid="32" grpId="0" animBg="1"/>
      <p:bldP spid="32" grpId="1" animBg="1"/>
      <p:bldP spid="34" grpId="0"/>
      <p:bldP spid="34" grpId="1"/>
      <p:bldP spid="35" grpId="0" animBg="1"/>
      <p:bldP spid="35" grpId="1" animBg="1"/>
      <p:bldP spid="36" grpId="0"/>
      <p:bldP spid="36" grpId="1"/>
      <p:bldP spid="37" grpId="0"/>
      <p:bldP spid="37" grpId="1"/>
      <p:bldP spid="40" grpId="0"/>
      <p:bldP spid="40" grpId="1"/>
      <p:bldP spid="41" grpId="0"/>
      <p:bldP spid="41"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16EEE2A-ED3D-4AFF-86DD-ED71153A0E48}"/>
              </a:ext>
            </a:extLst>
          </p:cNvPr>
          <p:cNvSpPr txBox="1"/>
          <p:nvPr/>
        </p:nvSpPr>
        <p:spPr>
          <a:xfrm>
            <a:off x="270769" y="445648"/>
            <a:ext cx="6098958"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sym typeface="+mn-ea"/>
              </a:rPr>
              <a:t>几个基本假设</a:t>
            </a:r>
            <a:endParaRPr kumimoji="0" lang="zh-CN" altLang="en-US" sz="28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endParaRPr>
          </a:p>
        </p:txBody>
      </p:sp>
      <p:sp>
        <p:nvSpPr>
          <p:cNvPr id="6" name="文本框 5">
            <a:extLst>
              <a:ext uri="{FF2B5EF4-FFF2-40B4-BE49-F238E27FC236}">
                <a16:creationId xmlns:a16="http://schemas.microsoft.com/office/drawing/2014/main" id="{44793788-CEB1-4D6D-B59E-782959E60063}"/>
              </a:ext>
            </a:extLst>
          </p:cNvPr>
          <p:cNvSpPr txBox="1"/>
          <p:nvPr/>
        </p:nvSpPr>
        <p:spPr>
          <a:xfrm>
            <a:off x="121340" y="1187099"/>
            <a:ext cx="10713085" cy="3291840"/>
          </a:xfrm>
          <a:prstGeom prst="rect">
            <a:avLst/>
          </a:prstGeom>
          <a:noFill/>
        </p:spPr>
        <p:txBody>
          <a:bodyPr wrap="square" rtlCol="0">
            <a:spAutoFit/>
          </a:bodyPr>
          <a:lstStyle/>
          <a:p>
            <a:pPr>
              <a:lnSpc>
                <a:spcPct val="130000"/>
              </a:lnSpc>
            </a:pPr>
            <a:r>
              <a:rPr lang="zh-CN" altLang="en-US" sz="2000" dirty="0"/>
              <a:t>线性回归有几个基本的前置假设条件：</a:t>
            </a:r>
          </a:p>
          <a:p>
            <a:pPr marL="342900" indent="-342900">
              <a:lnSpc>
                <a:spcPct val="130000"/>
              </a:lnSpc>
              <a:buFont typeface="Wingdings" panose="05000000000000000000" charset="0"/>
              <a:buChar char="n"/>
            </a:pPr>
            <a:r>
              <a:rPr lang="zh-CN" altLang="en-US" sz="2000" dirty="0"/>
              <a:t>零均值：随机误差项均值为0，保证未考虑的因素对被解释变量没有系统性的影响</a:t>
            </a:r>
          </a:p>
          <a:p>
            <a:pPr marL="342900" indent="-342900">
              <a:lnSpc>
                <a:spcPct val="130000"/>
              </a:lnSpc>
              <a:buFont typeface="Wingdings" panose="05000000000000000000" charset="0"/>
              <a:buChar char="n"/>
            </a:pPr>
            <a:r>
              <a:rPr lang="zh-CN" altLang="en-US" sz="2000" dirty="0"/>
              <a:t>同方差：随机误差项方差相同，在给定x的情况下，ε的条件方差为某个常数σ2</a:t>
            </a:r>
          </a:p>
          <a:p>
            <a:pPr marL="342900" indent="-342900">
              <a:lnSpc>
                <a:spcPct val="130000"/>
              </a:lnSpc>
              <a:buFont typeface="Wingdings" panose="05000000000000000000" charset="0"/>
              <a:buChar char="n"/>
            </a:pPr>
            <a:r>
              <a:rPr lang="zh-CN" altLang="en-US" sz="2000" dirty="0"/>
              <a:t>无自相关：两个ε之间不相关，COV(ε</a:t>
            </a:r>
            <a:r>
              <a:rPr lang="zh-CN" altLang="en-US" sz="2000" baseline="-25000" dirty="0"/>
              <a:t>i</a:t>
            </a:r>
            <a:r>
              <a:rPr lang="zh-CN" altLang="en-US" sz="2000" dirty="0"/>
              <a:t>，ε</a:t>
            </a:r>
            <a:r>
              <a:rPr lang="zh-CN" altLang="en-US" sz="2000" baseline="-25000" dirty="0"/>
              <a:t>j</a:t>
            </a:r>
            <a:r>
              <a:rPr lang="zh-CN" altLang="en-US" sz="2000" dirty="0"/>
              <a:t>）=0,i≠j</a:t>
            </a:r>
          </a:p>
          <a:p>
            <a:pPr marL="342900" indent="-342900">
              <a:lnSpc>
                <a:spcPct val="130000"/>
              </a:lnSpc>
              <a:buFont typeface="Wingdings" panose="05000000000000000000" charset="0"/>
              <a:buChar char="n"/>
            </a:pPr>
            <a:r>
              <a:rPr lang="zh-CN" altLang="en-US" sz="2000" dirty="0"/>
              <a:t>正态分布：e符合正态分布Ei~N(0,σ2)</a:t>
            </a:r>
          </a:p>
          <a:p>
            <a:pPr marL="342900" indent="-342900">
              <a:lnSpc>
                <a:spcPct val="130000"/>
              </a:lnSpc>
              <a:buFont typeface="Wingdings" panose="05000000000000000000" charset="0"/>
              <a:buChar char="n"/>
            </a:pPr>
            <a:r>
              <a:rPr lang="zh-CN" altLang="en-US" sz="2000" dirty="0"/>
              <a:t>解释变量x</a:t>
            </a:r>
            <a:r>
              <a:rPr lang="zh-CN" altLang="en-US" sz="2000" baseline="-25000" dirty="0"/>
              <a:t>1</a:t>
            </a:r>
            <a:r>
              <a:rPr lang="zh-CN" altLang="en-US" sz="2000" dirty="0"/>
              <a:t>,x</a:t>
            </a:r>
            <a:r>
              <a:rPr lang="zh-CN" altLang="en-US" sz="2000" baseline="-25000" dirty="0"/>
              <a:t>2</a:t>
            </a:r>
            <a:r>
              <a:rPr lang="zh-CN" altLang="en-US" sz="2000" dirty="0"/>
              <a:t>，…，×</a:t>
            </a:r>
            <a:r>
              <a:rPr lang="zh-CN" altLang="en-US" sz="2000" baseline="-25000" dirty="0"/>
              <a:t>p</a:t>
            </a:r>
            <a:r>
              <a:rPr lang="zh-CN" altLang="en-US" sz="2000" dirty="0"/>
              <a:t>是非随机变量，其观测值是常数</a:t>
            </a:r>
          </a:p>
          <a:p>
            <a:pPr marL="342900" indent="-342900">
              <a:lnSpc>
                <a:spcPct val="130000"/>
              </a:lnSpc>
              <a:buFont typeface="Wingdings" panose="05000000000000000000" charset="0"/>
              <a:buChar char="n"/>
            </a:pPr>
            <a:r>
              <a:rPr lang="zh-CN" altLang="en-US" sz="2000" dirty="0"/>
              <a:t>解释变量之间不存在精确的线性关系</a:t>
            </a:r>
          </a:p>
          <a:p>
            <a:pPr marL="342900" indent="-342900">
              <a:lnSpc>
                <a:spcPct val="130000"/>
              </a:lnSpc>
              <a:buFont typeface="Wingdings" panose="05000000000000000000" charset="0"/>
              <a:buChar char="n"/>
            </a:pPr>
            <a:r>
              <a:rPr lang="zh-CN" altLang="en-US" sz="2000" dirty="0"/>
              <a:t>样本个数要多于解释变量的个数</a:t>
            </a:r>
          </a:p>
        </p:txBody>
      </p:sp>
    </p:spTree>
    <p:extLst>
      <p:ext uri="{BB962C8B-B14F-4D97-AF65-F5344CB8AC3E}">
        <p14:creationId xmlns:p14="http://schemas.microsoft.com/office/powerpoint/2010/main" val="1182626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8F053B4-AB04-487E-BD69-4DEBDF6EE51B}"/>
              </a:ext>
            </a:extLst>
          </p:cNvPr>
          <p:cNvSpPr>
            <a:spLocks noGrp="1"/>
          </p:cNvSpPr>
          <p:nvPr>
            <p:ph type="title"/>
          </p:nvPr>
        </p:nvSpPr>
        <p:spPr>
          <a:xfrm>
            <a:off x="192905" y="439700"/>
            <a:ext cx="10852237" cy="441964"/>
          </a:xfrm>
        </p:spPr>
        <p:txBody>
          <a:bodyPr>
            <a:normAutofit fontScale="90000"/>
          </a:bodyPr>
          <a:lstStyle/>
          <a:p>
            <a:r>
              <a:rPr lang="zh-CN" altLang="en-US" b="1" i="0" dirty="0">
                <a:solidFill>
                  <a:srgbClr val="333333"/>
                </a:solidFill>
                <a:effectLst/>
                <a:latin typeface="Open Sans" panose="020B0606030504020204" pitchFamily="34" charset="0"/>
              </a:rPr>
              <a:t>问题</a:t>
            </a:r>
            <a:br>
              <a:rPr lang="zh-CN" altLang="en-US" b="1" i="0" dirty="0">
                <a:solidFill>
                  <a:srgbClr val="333333"/>
                </a:solidFill>
                <a:effectLst/>
                <a:latin typeface="Open Sans" panose="020B0606030504020204" pitchFamily="34" charset="0"/>
              </a:rPr>
            </a:br>
            <a:endParaRPr lang="zh-CN" altLang="en-US" dirty="0"/>
          </a:p>
        </p:txBody>
      </p:sp>
      <p:pic>
        <p:nvPicPr>
          <p:cNvPr id="7" name="图片 6">
            <a:extLst>
              <a:ext uri="{FF2B5EF4-FFF2-40B4-BE49-F238E27FC236}">
                <a16:creationId xmlns:a16="http://schemas.microsoft.com/office/drawing/2014/main" id="{23B93C07-E1EF-4F3F-991E-D90CF93499B3}"/>
              </a:ext>
            </a:extLst>
          </p:cNvPr>
          <p:cNvPicPr>
            <a:picLocks noChangeAspect="1"/>
          </p:cNvPicPr>
          <p:nvPr/>
        </p:nvPicPr>
        <p:blipFill>
          <a:blip r:embed="rId2"/>
          <a:stretch>
            <a:fillRect/>
          </a:stretch>
        </p:blipFill>
        <p:spPr>
          <a:xfrm>
            <a:off x="192905" y="1290036"/>
            <a:ext cx="9492633" cy="4686300"/>
          </a:xfrm>
          <a:prstGeom prst="rect">
            <a:avLst/>
          </a:prstGeom>
        </p:spPr>
      </p:pic>
    </p:spTree>
    <p:extLst>
      <p:ext uri="{BB962C8B-B14F-4D97-AF65-F5344CB8AC3E}">
        <p14:creationId xmlns:p14="http://schemas.microsoft.com/office/powerpoint/2010/main" val="1903156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F12C509E-F3CD-450D-AF7D-B01BF57AF752}"/>
              </a:ext>
            </a:extLst>
          </p:cNvPr>
          <p:cNvSpPr txBox="1"/>
          <p:nvPr/>
        </p:nvSpPr>
        <p:spPr>
          <a:xfrm>
            <a:off x="192405" y="248920"/>
            <a:ext cx="34340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ym typeface="+mn-ea"/>
              </a:rPr>
              <a:t>一元线性回归模型</a:t>
            </a:r>
            <a:endPar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endParaRPr>
          </a:p>
        </p:txBody>
      </p:sp>
      <p:sp>
        <p:nvSpPr>
          <p:cNvPr id="28" name="文本框 27">
            <a:extLst>
              <a:ext uri="{FF2B5EF4-FFF2-40B4-BE49-F238E27FC236}">
                <a16:creationId xmlns:a16="http://schemas.microsoft.com/office/drawing/2014/main" id="{2D2DF955-DC29-4571-A3ED-040571B0852B}"/>
              </a:ext>
            </a:extLst>
          </p:cNvPr>
          <p:cNvSpPr txBox="1"/>
          <p:nvPr/>
        </p:nvSpPr>
        <p:spPr>
          <a:xfrm>
            <a:off x="112394" y="1121368"/>
            <a:ext cx="10720705" cy="1198880"/>
          </a:xfrm>
          <a:prstGeom prst="rect">
            <a:avLst/>
          </a:prstGeom>
          <a:noFill/>
        </p:spPr>
        <p:txBody>
          <a:bodyPr wrap="square" rtlCol="0">
            <a:spAutoFit/>
          </a:bodyPr>
          <a:lstStyle/>
          <a:p>
            <a:r>
              <a:rPr lang="zh-CN" altLang="en-US" sz="2400" dirty="0"/>
              <a:t>在研究某一现象时，主要关心与影响该现象最主要因素关系时，两者有密切关系，但并非一个变量唯一确定另一个变量，可以使用一元线性回归模型。</a:t>
            </a:r>
          </a:p>
          <a:p>
            <a:endParaRPr lang="zh-CN" altLang="en-US" sz="2400" dirty="0">
              <a:solidFill>
                <a:schemeClr val="bg1"/>
              </a:solidFill>
            </a:endParaRPr>
          </a:p>
        </p:txBody>
      </p:sp>
      <p:sp>
        <p:nvSpPr>
          <p:cNvPr id="29" name="文本框 28">
            <a:extLst>
              <a:ext uri="{FF2B5EF4-FFF2-40B4-BE49-F238E27FC236}">
                <a16:creationId xmlns:a16="http://schemas.microsoft.com/office/drawing/2014/main" id="{3113719A-968C-4106-B336-8D7310DE85F5}"/>
              </a:ext>
            </a:extLst>
          </p:cNvPr>
          <p:cNvSpPr txBox="1"/>
          <p:nvPr/>
        </p:nvSpPr>
        <p:spPr>
          <a:xfrm>
            <a:off x="951230" y="2417445"/>
            <a:ext cx="10720705" cy="829945"/>
          </a:xfrm>
          <a:prstGeom prst="rect">
            <a:avLst/>
          </a:prstGeom>
          <a:noFill/>
        </p:spPr>
        <p:txBody>
          <a:bodyPr wrap="square" rtlCol="0">
            <a:spAutoFit/>
          </a:bodyPr>
          <a:lstStyle/>
          <a:p>
            <a:r>
              <a:rPr lang="zh-CN" altLang="en-US" sz="2000" dirty="0"/>
              <a:t>一元线性理论回归模型为：</a:t>
            </a:r>
            <a:r>
              <a:rPr lang="zh-CN" altLang="en-US" sz="2400" dirty="0"/>
              <a:t>y = β</a:t>
            </a:r>
            <a:r>
              <a:rPr lang="zh-CN" altLang="en-US" sz="2400" baseline="-25000" dirty="0"/>
              <a:t>o </a:t>
            </a:r>
            <a:r>
              <a:rPr lang="zh-CN" altLang="en-US" sz="2400" dirty="0"/>
              <a:t>+ β</a:t>
            </a:r>
            <a:r>
              <a:rPr lang="zh-CN" altLang="en-US" sz="2400" baseline="-25000" dirty="0"/>
              <a:t>1 </a:t>
            </a:r>
            <a:r>
              <a:rPr lang="zh-CN" altLang="en-US" sz="2400" dirty="0"/>
              <a:t>x + ε</a:t>
            </a:r>
          </a:p>
          <a:p>
            <a:endParaRPr lang="zh-CN" altLang="en-US" sz="2400" dirty="0">
              <a:solidFill>
                <a:schemeClr val="bg1"/>
              </a:solidFill>
            </a:endParaRPr>
          </a:p>
        </p:txBody>
      </p:sp>
      <p:sp>
        <p:nvSpPr>
          <p:cNvPr id="30" name="文本框 29">
            <a:extLst>
              <a:ext uri="{FF2B5EF4-FFF2-40B4-BE49-F238E27FC236}">
                <a16:creationId xmlns:a16="http://schemas.microsoft.com/office/drawing/2014/main" id="{B11EE97C-89A2-469E-9424-9A5F75698B94}"/>
              </a:ext>
            </a:extLst>
          </p:cNvPr>
          <p:cNvSpPr txBox="1"/>
          <p:nvPr/>
        </p:nvSpPr>
        <p:spPr>
          <a:xfrm>
            <a:off x="2291716" y="3352800"/>
            <a:ext cx="1630680" cy="645160"/>
          </a:xfrm>
          <a:prstGeom prst="rect">
            <a:avLst/>
          </a:prstGeom>
          <a:noFill/>
        </p:spPr>
        <p:txBody>
          <a:bodyPr wrap="square" rtlCol="0">
            <a:spAutoFit/>
          </a:bodyPr>
          <a:lstStyle/>
          <a:p>
            <a:r>
              <a:rPr lang="zh-CN" altLang="en-US" dirty="0"/>
              <a:t>被解释变量</a:t>
            </a:r>
          </a:p>
          <a:p>
            <a:r>
              <a:rPr lang="zh-CN" altLang="en-US" dirty="0"/>
              <a:t>   因变量</a:t>
            </a:r>
          </a:p>
        </p:txBody>
      </p:sp>
      <p:cxnSp>
        <p:nvCxnSpPr>
          <p:cNvPr id="31" name="直接箭头连接符 30">
            <a:extLst>
              <a:ext uri="{FF2B5EF4-FFF2-40B4-BE49-F238E27FC236}">
                <a16:creationId xmlns:a16="http://schemas.microsoft.com/office/drawing/2014/main" id="{99FB4FF3-46D7-4D36-8D96-659F6F69FB99}"/>
              </a:ext>
            </a:extLst>
          </p:cNvPr>
          <p:cNvCxnSpPr/>
          <p:nvPr/>
        </p:nvCxnSpPr>
        <p:spPr>
          <a:xfrm flipH="1">
            <a:off x="3470275" y="2825115"/>
            <a:ext cx="452120" cy="422275"/>
          </a:xfrm>
          <a:prstGeom prst="straightConnector1">
            <a:avLst/>
          </a:prstGeom>
          <a:ln w="2222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AAA4C880-771C-4C26-B016-7038FA5DAA7B}"/>
              </a:ext>
            </a:extLst>
          </p:cNvPr>
          <p:cNvCxnSpPr/>
          <p:nvPr/>
        </p:nvCxnSpPr>
        <p:spPr>
          <a:xfrm flipH="1">
            <a:off x="4204335" y="2825115"/>
            <a:ext cx="452120" cy="42227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a:extLst>
              <a:ext uri="{FF2B5EF4-FFF2-40B4-BE49-F238E27FC236}">
                <a16:creationId xmlns:a16="http://schemas.microsoft.com/office/drawing/2014/main" id="{E2C13C08-FE2D-43F8-B157-8E59B6EC430C}"/>
              </a:ext>
            </a:extLst>
          </p:cNvPr>
          <p:cNvCxnSpPr/>
          <p:nvPr/>
        </p:nvCxnSpPr>
        <p:spPr>
          <a:xfrm flipH="1">
            <a:off x="4944110" y="2809875"/>
            <a:ext cx="336550" cy="43751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4" name="直接箭头连接符 33">
            <a:extLst>
              <a:ext uri="{FF2B5EF4-FFF2-40B4-BE49-F238E27FC236}">
                <a16:creationId xmlns:a16="http://schemas.microsoft.com/office/drawing/2014/main" id="{37FAA7E3-D7F4-4636-A79B-AB6482CFF5F0}"/>
              </a:ext>
            </a:extLst>
          </p:cNvPr>
          <p:cNvCxnSpPr/>
          <p:nvPr/>
        </p:nvCxnSpPr>
        <p:spPr>
          <a:xfrm>
            <a:off x="5642610" y="2870200"/>
            <a:ext cx="302260" cy="39243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5" name="文本框 34">
            <a:extLst>
              <a:ext uri="{FF2B5EF4-FFF2-40B4-BE49-F238E27FC236}">
                <a16:creationId xmlns:a16="http://schemas.microsoft.com/office/drawing/2014/main" id="{E3140147-5FB8-4565-9F87-5FCB08EF5FC5}"/>
              </a:ext>
            </a:extLst>
          </p:cNvPr>
          <p:cNvSpPr txBox="1"/>
          <p:nvPr/>
        </p:nvSpPr>
        <p:spPr>
          <a:xfrm>
            <a:off x="5537200" y="3337560"/>
            <a:ext cx="1607185" cy="675640"/>
          </a:xfrm>
          <a:prstGeom prst="rect">
            <a:avLst/>
          </a:prstGeom>
          <a:noFill/>
        </p:spPr>
        <p:txBody>
          <a:bodyPr wrap="square" rtlCol="0">
            <a:spAutoFit/>
          </a:bodyPr>
          <a:lstStyle/>
          <a:p>
            <a:r>
              <a:rPr lang="en-US" altLang="zh-CN" sz="2000" dirty="0"/>
              <a:t>  </a:t>
            </a:r>
            <a:r>
              <a:rPr lang="zh-CN" altLang="en-US" dirty="0"/>
              <a:t>解释变量</a:t>
            </a:r>
          </a:p>
          <a:p>
            <a:r>
              <a:rPr lang="zh-CN" altLang="en-US" dirty="0">
                <a:solidFill>
                  <a:schemeClr val="bg1"/>
                </a:solidFill>
              </a:rPr>
              <a:t>   自变量</a:t>
            </a:r>
          </a:p>
        </p:txBody>
      </p:sp>
      <p:sp>
        <p:nvSpPr>
          <p:cNvPr id="36" name="文本框 35">
            <a:extLst>
              <a:ext uri="{FF2B5EF4-FFF2-40B4-BE49-F238E27FC236}">
                <a16:creationId xmlns:a16="http://schemas.microsoft.com/office/drawing/2014/main" id="{3D6999A6-176C-4D08-8E5B-DC0752F02283}"/>
              </a:ext>
            </a:extLst>
          </p:cNvPr>
          <p:cNvSpPr txBox="1"/>
          <p:nvPr/>
        </p:nvSpPr>
        <p:spPr>
          <a:xfrm>
            <a:off x="3626485" y="3352800"/>
            <a:ext cx="1607185" cy="368300"/>
          </a:xfrm>
          <a:prstGeom prst="rect">
            <a:avLst/>
          </a:prstGeom>
          <a:noFill/>
        </p:spPr>
        <p:txBody>
          <a:bodyPr wrap="square" rtlCol="0">
            <a:spAutoFit/>
          </a:bodyPr>
          <a:lstStyle/>
          <a:p>
            <a:r>
              <a:rPr lang="zh-CN" altLang="en-US" dirty="0"/>
              <a:t>回归常数</a:t>
            </a:r>
          </a:p>
        </p:txBody>
      </p:sp>
      <p:sp>
        <p:nvSpPr>
          <p:cNvPr id="37" name="文本框 36">
            <a:extLst>
              <a:ext uri="{FF2B5EF4-FFF2-40B4-BE49-F238E27FC236}">
                <a16:creationId xmlns:a16="http://schemas.microsoft.com/office/drawing/2014/main" id="{9801CCE2-C591-46B2-9A3A-6D148DF9F123}"/>
              </a:ext>
            </a:extLst>
          </p:cNvPr>
          <p:cNvSpPr txBox="1"/>
          <p:nvPr/>
        </p:nvSpPr>
        <p:spPr>
          <a:xfrm>
            <a:off x="4669155" y="3352800"/>
            <a:ext cx="1607185" cy="368300"/>
          </a:xfrm>
          <a:prstGeom prst="rect">
            <a:avLst/>
          </a:prstGeom>
          <a:noFill/>
        </p:spPr>
        <p:txBody>
          <a:bodyPr wrap="square" rtlCol="0">
            <a:spAutoFit/>
          </a:bodyPr>
          <a:lstStyle/>
          <a:p>
            <a:r>
              <a:rPr lang="zh-CN" altLang="en-US" dirty="0"/>
              <a:t>回归系数</a:t>
            </a:r>
          </a:p>
        </p:txBody>
      </p:sp>
      <p:cxnSp>
        <p:nvCxnSpPr>
          <p:cNvPr id="38" name="直接箭头连接符 37">
            <a:extLst>
              <a:ext uri="{FF2B5EF4-FFF2-40B4-BE49-F238E27FC236}">
                <a16:creationId xmlns:a16="http://schemas.microsoft.com/office/drawing/2014/main" id="{A1113A9B-6B5C-4006-A54C-BCEF55090432}"/>
              </a:ext>
            </a:extLst>
          </p:cNvPr>
          <p:cNvCxnSpPr/>
          <p:nvPr/>
        </p:nvCxnSpPr>
        <p:spPr>
          <a:xfrm>
            <a:off x="6110605" y="2794635"/>
            <a:ext cx="739140" cy="54292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9" name="文本框 38">
            <a:extLst>
              <a:ext uri="{FF2B5EF4-FFF2-40B4-BE49-F238E27FC236}">
                <a16:creationId xmlns:a16="http://schemas.microsoft.com/office/drawing/2014/main" id="{55A23ECF-6E54-4DAB-B79F-655A05F406B1}"/>
              </a:ext>
            </a:extLst>
          </p:cNvPr>
          <p:cNvSpPr txBox="1"/>
          <p:nvPr/>
        </p:nvSpPr>
        <p:spPr>
          <a:xfrm>
            <a:off x="6849745" y="3383280"/>
            <a:ext cx="1327785" cy="368300"/>
          </a:xfrm>
          <a:prstGeom prst="rect">
            <a:avLst/>
          </a:prstGeom>
          <a:noFill/>
        </p:spPr>
        <p:txBody>
          <a:bodyPr wrap="square" rtlCol="0">
            <a:spAutoFit/>
          </a:bodyPr>
          <a:lstStyle/>
          <a:p>
            <a:r>
              <a:rPr lang="zh-CN" altLang="en-US" dirty="0">
                <a:ln w="0"/>
                <a:effectLst>
                  <a:outerShdw blurRad="38100" dist="19050" dir="2700000" algn="tl" rotWithShape="0">
                    <a:schemeClr val="dk1">
                      <a:alpha val="40000"/>
                    </a:schemeClr>
                  </a:outerShdw>
                </a:effectLst>
              </a:rPr>
              <a:t>随机误差</a:t>
            </a:r>
          </a:p>
        </p:txBody>
      </p:sp>
      <p:sp>
        <p:nvSpPr>
          <p:cNvPr id="40" name="左大括号 39">
            <a:extLst>
              <a:ext uri="{FF2B5EF4-FFF2-40B4-BE49-F238E27FC236}">
                <a16:creationId xmlns:a16="http://schemas.microsoft.com/office/drawing/2014/main" id="{AC6C698F-016B-4B4C-9E88-FAB7228F4273}"/>
              </a:ext>
            </a:extLst>
          </p:cNvPr>
          <p:cNvSpPr/>
          <p:nvPr/>
        </p:nvSpPr>
        <p:spPr>
          <a:xfrm>
            <a:off x="7996555" y="3129280"/>
            <a:ext cx="332105" cy="814705"/>
          </a:xfrm>
          <a:prstGeom prst="leftBrac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CA969B08-6258-4D4A-AF63-BC3E73292410}"/>
              </a:ext>
            </a:extLst>
          </p:cNvPr>
          <p:cNvSpPr txBox="1"/>
          <p:nvPr/>
        </p:nvSpPr>
        <p:spPr>
          <a:xfrm>
            <a:off x="8479155" y="2967990"/>
            <a:ext cx="1572260" cy="1198880"/>
          </a:xfrm>
          <a:prstGeom prst="rect">
            <a:avLst/>
          </a:prstGeom>
          <a:noFill/>
        </p:spPr>
        <p:txBody>
          <a:bodyPr wrap="square" rtlCol="0">
            <a:spAutoFit/>
          </a:bodyPr>
          <a:lstStyle/>
          <a:p>
            <a:r>
              <a:rPr lang="zh-CN" altLang="en-US" sz="2400" dirty="0"/>
              <a:t>E(ε)=0</a:t>
            </a:r>
          </a:p>
          <a:p>
            <a:endParaRPr lang="zh-CN" altLang="en-US" sz="2400" dirty="0"/>
          </a:p>
          <a:p>
            <a:r>
              <a:rPr lang="zh-CN" altLang="en-US" sz="2400" dirty="0"/>
              <a:t>var(ε)=σ</a:t>
            </a:r>
            <a:r>
              <a:rPr lang="zh-CN" altLang="en-US" sz="2400" baseline="30000" dirty="0"/>
              <a:t>2</a:t>
            </a:r>
          </a:p>
        </p:txBody>
      </p:sp>
      <p:sp>
        <p:nvSpPr>
          <p:cNvPr id="42" name="文本框 41">
            <a:extLst>
              <a:ext uri="{FF2B5EF4-FFF2-40B4-BE49-F238E27FC236}">
                <a16:creationId xmlns:a16="http://schemas.microsoft.com/office/drawing/2014/main" id="{30652874-2E03-437F-AF67-A05509240685}"/>
              </a:ext>
            </a:extLst>
          </p:cNvPr>
          <p:cNvSpPr txBox="1"/>
          <p:nvPr/>
        </p:nvSpPr>
        <p:spPr>
          <a:xfrm>
            <a:off x="274265" y="4163060"/>
            <a:ext cx="10290810" cy="706755"/>
          </a:xfrm>
          <a:prstGeom prst="rect">
            <a:avLst/>
          </a:prstGeom>
          <a:noFill/>
        </p:spPr>
        <p:txBody>
          <a:bodyPr wrap="square" rtlCol="0">
            <a:spAutoFit/>
          </a:bodyPr>
          <a:lstStyle/>
          <a:p>
            <a:r>
              <a:rPr lang="zh-CN" altLang="en-US" sz="2000" dirty="0">
                <a:ln w="0"/>
                <a:effectLst>
                  <a:outerShdw blurRad="38100" dist="19050" dir="2700000" algn="tl" rotWithShape="0">
                    <a:schemeClr val="dk1">
                      <a:alpha val="40000"/>
                    </a:schemeClr>
                  </a:outerShdw>
                </a:effectLst>
              </a:rPr>
              <a:t>一元线性回归方程：E(y)=E（βo+β1x+ε)=&gt;y=βo+β1x</a:t>
            </a:r>
          </a:p>
          <a:p>
            <a:endParaRPr lang="zh-CN" altLang="en-US" sz="2000" dirty="0">
              <a:solidFill>
                <a:schemeClr val="bg1"/>
              </a:solidFill>
            </a:endParaRPr>
          </a:p>
        </p:txBody>
      </p:sp>
      <p:sp>
        <p:nvSpPr>
          <p:cNvPr id="43" name="文本框 42">
            <a:extLst>
              <a:ext uri="{FF2B5EF4-FFF2-40B4-BE49-F238E27FC236}">
                <a16:creationId xmlns:a16="http://schemas.microsoft.com/office/drawing/2014/main" id="{8F7D40B9-3264-427D-BDF9-3D046AABECF7}"/>
              </a:ext>
            </a:extLst>
          </p:cNvPr>
          <p:cNvSpPr txBox="1"/>
          <p:nvPr/>
        </p:nvSpPr>
        <p:spPr>
          <a:xfrm>
            <a:off x="274265" y="4729162"/>
            <a:ext cx="10290810" cy="706755"/>
          </a:xfrm>
          <a:prstGeom prst="rect">
            <a:avLst/>
          </a:prstGeom>
          <a:noFill/>
        </p:spPr>
        <p:txBody>
          <a:bodyPr wrap="square" rtlCol="0">
            <a:spAutoFit/>
          </a:bodyPr>
          <a:lstStyle/>
          <a:p>
            <a:r>
              <a:rPr lang="zh-CN" altLang="en-US" sz="2000" dirty="0">
                <a:ln w="0"/>
                <a:effectLst>
                  <a:outerShdw blurRad="38100" dist="19050" dir="2700000" algn="tl" rotWithShape="0">
                    <a:schemeClr val="dk1">
                      <a:alpha val="40000"/>
                    </a:schemeClr>
                  </a:outerShdw>
                </a:effectLst>
              </a:rPr>
              <a:t>回归方程从平均意义上表达了变量y与x的统计规律性。</a:t>
            </a:r>
          </a:p>
          <a:p>
            <a:endParaRPr lang="zh-CN" altLang="en-US" sz="2000" dirty="0">
              <a:solidFill>
                <a:schemeClr val="bg1"/>
              </a:solidFill>
            </a:endParaRPr>
          </a:p>
        </p:txBody>
      </p:sp>
      <p:sp>
        <p:nvSpPr>
          <p:cNvPr id="44" name="文本框 43">
            <a:extLst>
              <a:ext uri="{FF2B5EF4-FFF2-40B4-BE49-F238E27FC236}">
                <a16:creationId xmlns:a16="http://schemas.microsoft.com/office/drawing/2014/main" id="{744A6849-AF5F-4CAD-AC33-33B5BE6750DF}"/>
              </a:ext>
            </a:extLst>
          </p:cNvPr>
          <p:cNvSpPr txBox="1"/>
          <p:nvPr/>
        </p:nvSpPr>
        <p:spPr>
          <a:xfrm>
            <a:off x="88265" y="5285974"/>
            <a:ext cx="10290810" cy="398780"/>
          </a:xfrm>
          <a:prstGeom prst="rect">
            <a:avLst/>
          </a:prstGeom>
          <a:noFill/>
        </p:spPr>
        <p:txBody>
          <a:bodyPr wrap="square" rtlCol="0">
            <a:spAutoFit/>
          </a:bodyPr>
          <a:lstStyle/>
          <a:p>
            <a:r>
              <a:rPr lang="zh-CN" altLang="en-US" sz="2000" dirty="0">
                <a:ln w="0"/>
                <a:effectLst>
                  <a:outerShdw blurRad="38100" dist="19050" dir="2700000" algn="tl" rotWithShape="0">
                    <a:schemeClr val="dk1">
                      <a:alpha val="40000"/>
                    </a:schemeClr>
                  </a:outerShdw>
                </a:effectLst>
              </a:rPr>
              <a:t>回归分析的主要任务就是通过n组样本的观察值，对β</a:t>
            </a:r>
            <a:r>
              <a:rPr lang="zh-CN" altLang="en-US" sz="2000" baseline="-25000" dirty="0">
                <a:ln w="0"/>
                <a:effectLst>
                  <a:outerShdw blurRad="38100" dist="19050" dir="2700000" algn="tl" rotWithShape="0">
                    <a:schemeClr val="dk1">
                      <a:alpha val="40000"/>
                    </a:schemeClr>
                  </a:outerShdw>
                </a:effectLst>
              </a:rPr>
              <a:t>o</a:t>
            </a:r>
            <a:r>
              <a:rPr lang="zh-CN" altLang="en-US" sz="2000" dirty="0">
                <a:ln w="0"/>
                <a:effectLst>
                  <a:outerShdw blurRad="38100" dist="19050" dir="2700000" algn="tl" rotWithShape="0">
                    <a:schemeClr val="dk1">
                      <a:alpha val="40000"/>
                    </a:schemeClr>
                  </a:outerShdw>
                </a:effectLst>
              </a:rPr>
              <a:t>、β</a:t>
            </a:r>
            <a:r>
              <a:rPr lang="en-US" altLang="zh-CN" sz="2000" baseline="-25000" dirty="0">
                <a:ln w="0"/>
                <a:effectLst>
                  <a:outerShdw blurRad="38100" dist="19050" dir="2700000" algn="tl" rotWithShape="0">
                    <a:schemeClr val="dk1">
                      <a:alpha val="40000"/>
                    </a:schemeClr>
                  </a:outerShdw>
                </a:effectLst>
              </a:rPr>
              <a:t>1</a:t>
            </a:r>
            <a:r>
              <a:rPr lang="zh-CN" altLang="en-US" sz="2000" dirty="0">
                <a:ln w="0"/>
                <a:effectLst>
                  <a:outerShdw blurRad="38100" dist="19050" dir="2700000" algn="tl" rotWithShape="0">
                    <a:schemeClr val="dk1">
                      <a:alpha val="40000"/>
                    </a:schemeClr>
                  </a:outerShdw>
                </a:effectLst>
              </a:rPr>
              <a:t>进行估计，得到最终方程。</a:t>
            </a:r>
          </a:p>
        </p:txBody>
      </p:sp>
    </p:spTree>
    <p:extLst>
      <p:ext uri="{BB962C8B-B14F-4D97-AF65-F5344CB8AC3E}">
        <p14:creationId xmlns:p14="http://schemas.microsoft.com/office/powerpoint/2010/main" val="536159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blinds(horizontal)">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blinds(horizontal)">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blinds(horizontal)">
                                      <p:cBhvr>
                                        <p:cTn id="22" dur="500"/>
                                        <p:tgtEl>
                                          <p:spTgt spid="31"/>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blinds(horizontal)">
                                      <p:cBhvr>
                                        <p:cTn id="25" dur="500"/>
                                        <p:tgtEl>
                                          <p:spTgt spid="30"/>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blinds(horizontal)">
                                      <p:cBhvr>
                                        <p:cTn id="30" dur="500"/>
                                        <p:tgtEl>
                                          <p:spTgt spid="35"/>
                                        </p:tgtEl>
                                      </p:cBhvr>
                                    </p:animEffect>
                                  </p:childTnLst>
                                </p:cTn>
                              </p:par>
                              <p:par>
                                <p:cTn id="31" presetID="3" presetClass="entr" presetSubtype="10"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blinds(horizontal)">
                                      <p:cBhvr>
                                        <p:cTn id="33" dur="500"/>
                                        <p:tgtEl>
                                          <p:spTgt spid="34"/>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blinds(horizontal)">
                                      <p:cBhvr>
                                        <p:cTn id="36" dur="500"/>
                                        <p:tgtEl>
                                          <p:spTgt spid="37"/>
                                        </p:tgtEl>
                                      </p:cBhvr>
                                    </p:animEffect>
                                  </p:childTnLst>
                                </p:cTn>
                              </p:par>
                              <p:par>
                                <p:cTn id="37" presetID="3" presetClass="entr" presetSubtype="1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blinds(horizontal)">
                                      <p:cBhvr>
                                        <p:cTn id="39" dur="500"/>
                                        <p:tgtEl>
                                          <p:spTgt spid="33"/>
                                        </p:tgtEl>
                                      </p:cBhvr>
                                    </p:animEffect>
                                  </p:childTnLst>
                                </p:cTn>
                              </p:par>
                              <p:par>
                                <p:cTn id="40" presetID="3" presetClass="entr" presetSubtype="10" fill="hold" nodeType="with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blinds(horizontal)">
                                      <p:cBhvr>
                                        <p:cTn id="42" dur="500"/>
                                        <p:tgtEl>
                                          <p:spTgt spid="32"/>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blinds(horizontal)">
                                      <p:cBhvr>
                                        <p:cTn id="45" dur="500"/>
                                        <p:tgtEl>
                                          <p:spTgt spid="36"/>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blinds(horizontal)">
                                      <p:cBhvr>
                                        <p:cTn id="50" dur="500"/>
                                        <p:tgtEl>
                                          <p:spTgt spid="38"/>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blinds(horizontal)">
                                      <p:cBhvr>
                                        <p:cTn id="53" dur="500"/>
                                        <p:tgtEl>
                                          <p:spTgt spid="39"/>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blinds(horizontal)">
                                      <p:cBhvr>
                                        <p:cTn id="56" dur="500"/>
                                        <p:tgtEl>
                                          <p:spTgt spid="40"/>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blinds(horizontal)">
                                      <p:cBhvr>
                                        <p:cTn id="59" dur="500"/>
                                        <p:tgtEl>
                                          <p:spTgt spid="41"/>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blinds(horizontal)">
                                      <p:cBhvr>
                                        <p:cTn id="64" dur="500"/>
                                        <p:tgtEl>
                                          <p:spTgt spid="42"/>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43"/>
                                        </p:tgtEl>
                                        <p:attrNameLst>
                                          <p:attrName>style.visibility</p:attrName>
                                        </p:attrNameLst>
                                      </p:cBhvr>
                                      <p:to>
                                        <p:strVal val="visible"/>
                                      </p:to>
                                    </p:set>
                                    <p:animEffect transition="in" filter="blinds(horizontal)">
                                      <p:cBhvr>
                                        <p:cTn id="69" dur="500"/>
                                        <p:tgtEl>
                                          <p:spTgt spid="43"/>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44"/>
                                        </p:tgtEl>
                                        <p:attrNameLst>
                                          <p:attrName>style.visibility</p:attrName>
                                        </p:attrNameLst>
                                      </p:cBhvr>
                                      <p:to>
                                        <p:strVal val="visible"/>
                                      </p:to>
                                    </p:set>
                                    <p:animEffect transition="in" filter="blinds(horizontal)">
                                      <p:cBhvr>
                                        <p:cTn id="7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8" grpId="0"/>
      <p:bldP spid="28" grpId="1"/>
      <p:bldP spid="29" grpId="0"/>
      <p:bldP spid="29" grpId="1"/>
      <p:bldP spid="30" grpId="0"/>
      <p:bldP spid="30" grpId="1"/>
      <p:bldP spid="35" grpId="0"/>
      <p:bldP spid="35" grpId="1"/>
      <p:bldP spid="36" grpId="0"/>
      <p:bldP spid="36" grpId="1"/>
      <p:bldP spid="37" grpId="0"/>
      <p:bldP spid="37" grpId="1"/>
      <p:bldP spid="39" grpId="0"/>
      <p:bldP spid="39" grpId="1"/>
      <p:bldP spid="40" grpId="0" animBg="1"/>
      <p:bldP spid="40" grpId="1" animBg="1"/>
      <p:bldP spid="41" grpId="0"/>
      <p:bldP spid="41" grpId="1"/>
      <p:bldP spid="42" grpId="0"/>
      <p:bldP spid="42" grpId="1"/>
      <p:bldP spid="43" grpId="0"/>
      <p:bldP spid="43" grpId="1"/>
      <p:bldP spid="4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052A07AA-836B-418F-913C-E8F5A2E5B91F}"/>
              </a:ext>
            </a:extLst>
          </p:cNvPr>
          <p:cNvSpPr txBox="1"/>
          <p:nvPr/>
        </p:nvSpPr>
        <p:spPr>
          <a:xfrm>
            <a:off x="951520" y="208400"/>
            <a:ext cx="46532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ym typeface="+mn-ea"/>
              </a:rPr>
              <a:t>参数估计：最小二乘估计</a:t>
            </a:r>
            <a:endPar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endParaRPr>
          </a:p>
        </p:txBody>
      </p:sp>
      <p:sp>
        <p:nvSpPr>
          <p:cNvPr id="28" name="文本框 27">
            <a:extLst>
              <a:ext uri="{FF2B5EF4-FFF2-40B4-BE49-F238E27FC236}">
                <a16:creationId xmlns:a16="http://schemas.microsoft.com/office/drawing/2014/main" id="{BAD95F19-8482-40ED-8036-5AD0DC2BBC30}"/>
              </a:ext>
            </a:extLst>
          </p:cNvPr>
          <p:cNvSpPr txBox="1"/>
          <p:nvPr/>
        </p:nvSpPr>
        <p:spPr>
          <a:xfrm>
            <a:off x="7620" y="868997"/>
            <a:ext cx="11447780" cy="1383665"/>
          </a:xfrm>
          <a:prstGeom prst="rect">
            <a:avLst/>
          </a:prstGeom>
          <a:noFill/>
        </p:spPr>
        <p:txBody>
          <a:bodyPr wrap="square" rtlCol="0">
            <a:spAutoFit/>
          </a:bodyPr>
          <a:lstStyle/>
          <a:p>
            <a:r>
              <a:rPr lang="zh-CN" altLang="en-US" sz="2400" b="1" dirty="0"/>
              <a:t>最小二乘估计(</a:t>
            </a:r>
            <a:r>
              <a:rPr lang="zh-CN" altLang="en-US" sz="2400" b="1" i="1" dirty="0"/>
              <a:t>Least Square Estimation，OLE</a:t>
            </a:r>
            <a:r>
              <a:rPr lang="zh-CN" altLang="en-US" sz="2400" b="1" dirty="0"/>
              <a:t>)：</a:t>
            </a:r>
            <a:r>
              <a:rPr lang="zh-CN" altLang="en-US" sz="2000" dirty="0"/>
              <a:t>根据观察数据，寻找参数po、pi的估计值βo、β1，使观测值和回归预测值的离差平方和达到极小。估计值β</a:t>
            </a:r>
            <a:r>
              <a:rPr lang="zh-CN" altLang="en-US" sz="2000" baseline="-25000" dirty="0"/>
              <a:t>o</a:t>
            </a:r>
            <a:r>
              <a:rPr lang="zh-CN" altLang="en-US" sz="2000" dirty="0"/>
              <a:t>、β1称作回归参数βo、β1的最小二乘估计。</a:t>
            </a:r>
          </a:p>
          <a:p>
            <a:endParaRPr lang="zh-CN" altLang="en-US" sz="2000" dirty="0">
              <a:solidFill>
                <a:schemeClr val="bg1"/>
              </a:solidFill>
            </a:endParaRPr>
          </a:p>
        </p:txBody>
      </p:sp>
      <p:sp>
        <p:nvSpPr>
          <p:cNvPr id="29" name="文本框 28">
            <a:extLst>
              <a:ext uri="{FF2B5EF4-FFF2-40B4-BE49-F238E27FC236}">
                <a16:creationId xmlns:a16="http://schemas.microsoft.com/office/drawing/2014/main" id="{A53733FC-CE82-4355-9667-5E6D247D08AB}"/>
              </a:ext>
            </a:extLst>
          </p:cNvPr>
          <p:cNvSpPr txBox="1"/>
          <p:nvPr/>
        </p:nvSpPr>
        <p:spPr>
          <a:xfrm>
            <a:off x="4805717" y="1791652"/>
            <a:ext cx="6998335" cy="829945"/>
          </a:xfrm>
          <a:prstGeom prst="rect">
            <a:avLst/>
          </a:prstGeom>
          <a:noFill/>
        </p:spPr>
        <p:txBody>
          <a:bodyPr wrap="square" rtlCol="0">
            <a:spAutoFit/>
          </a:bodyPr>
          <a:lstStyle/>
          <a:p>
            <a:r>
              <a:rPr lang="zh-CN" altLang="en-US" sz="2400" dirty="0">
                <a:sym typeface="+mn-ea"/>
              </a:rPr>
              <a:t>离差平方和:</a:t>
            </a:r>
            <a:endParaRPr lang="zh-CN" altLang="en-US" sz="2400" dirty="0"/>
          </a:p>
          <a:p>
            <a:endParaRPr lang="zh-CN" altLang="en-US" sz="2400" dirty="0">
              <a:solidFill>
                <a:schemeClr val="bg1"/>
              </a:solidFill>
            </a:endParaRPr>
          </a:p>
        </p:txBody>
      </p:sp>
      <p:pic>
        <p:nvPicPr>
          <p:cNvPr id="30" name="图片 29">
            <a:extLst>
              <a:ext uri="{FF2B5EF4-FFF2-40B4-BE49-F238E27FC236}">
                <a16:creationId xmlns:a16="http://schemas.microsoft.com/office/drawing/2014/main" id="{98F90154-3140-4E43-9C87-57FF827450E9}"/>
              </a:ext>
            </a:extLst>
          </p:cNvPr>
          <p:cNvPicPr>
            <a:picLocks noChangeAspect="1"/>
          </p:cNvPicPr>
          <p:nvPr/>
        </p:nvPicPr>
        <p:blipFill>
          <a:blip r:embed="rId2"/>
          <a:stretch>
            <a:fillRect/>
          </a:stretch>
        </p:blipFill>
        <p:spPr>
          <a:xfrm>
            <a:off x="40640" y="2303144"/>
            <a:ext cx="4653915" cy="3358515"/>
          </a:xfrm>
          <a:prstGeom prst="rect">
            <a:avLst/>
          </a:prstGeom>
        </p:spPr>
      </p:pic>
      <p:pic>
        <p:nvPicPr>
          <p:cNvPr id="31" name="图片 30">
            <a:extLst>
              <a:ext uri="{FF2B5EF4-FFF2-40B4-BE49-F238E27FC236}">
                <a16:creationId xmlns:a16="http://schemas.microsoft.com/office/drawing/2014/main" id="{396EB697-2719-405B-84FD-9CF5CC7E3A1D}"/>
              </a:ext>
            </a:extLst>
          </p:cNvPr>
          <p:cNvPicPr>
            <a:picLocks noChangeAspect="1"/>
          </p:cNvPicPr>
          <p:nvPr/>
        </p:nvPicPr>
        <p:blipFill>
          <a:blip r:embed="rId3"/>
          <a:stretch>
            <a:fillRect/>
          </a:stretch>
        </p:blipFill>
        <p:spPr>
          <a:xfrm>
            <a:off x="6784657" y="1838850"/>
            <a:ext cx="4105275" cy="710565"/>
          </a:xfrm>
          <a:prstGeom prst="rect">
            <a:avLst/>
          </a:prstGeom>
        </p:spPr>
      </p:pic>
      <p:pic>
        <p:nvPicPr>
          <p:cNvPr id="32" name="图片 31">
            <a:extLst>
              <a:ext uri="{FF2B5EF4-FFF2-40B4-BE49-F238E27FC236}">
                <a16:creationId xmlns:a16="http://schemas.microsoft.com/office/drawing/2014/main" id="{8C235686-3841-4047-B4EB-3F295285F186}"/>
              </a:ext>
            </a:extLst>
          </p:cNvPr>
          <p:cNvPicPr>
            <a:picLocks noChangeAspect="1"/>
          </p:cNvPicPr>
          <p:nvPr/>
        </p:nvPicPr>
        <p:blipFill>
          <a:blip r:embed="rId4"/>
          <a:stretch>
            <a:fillRect/>
          </a:stretch>
        </p:blipFill>
        <p:spPr>
          <a:xfrm>
            <a:off x="11430" y="2293962"/>
            <a:ext cx="4653280" cy="3397885"/>
          </a:xfrm>
          <a:prstGeom prst="rect">
            <a:avLst/>
          </a:prstGeom>
        </p:spPr>
      </p:pic>
      <p:pic>
        <p:nvPicPr>
          <p:cNvPr id="33" name="图片 32">
            <a:extLst>
              <a:ext uri="{FF2B5EF4-FFF2-40B4-BE49-F238E27FC236}">
                <a16:creationId xmlns:a16="http://schemas.microsoft.com/office/drawing/2014/main" id="{811198C8-06D7-499E-B49A-0876F28E3B12}"/>
              </a:ext>
            </a:extLst>
          </p:cNvPr>
          <p:cNvPicPr>
            <a:picLocks noChangeAspect="1"/>
          </p:cNvPicPr>
          <p:nvPr/>
        </p:nvPicPr>
        <p:blipFill>
          <a:blip r:embed="rId5"/>
          <a:stretch>
            <a:fillRect/>
          </a:stretch>
        </p:blipFill>
        <p:spPr>
          <a:xfrm>
            <a:off x="4947602" y="3429000"/>
            <a:ext cx="5942330" cy="802005"/>
          </a:xfrm>
          <a:prstGeom prst="rect">
            <a:avLst/>
          </a:prstGeom>
        </p:spPr>
      </p:pic>
      <p:sp>
        <p:nvSpPr>
          <p:cNvPr id="34" name="文本框 33">
            <a:extLst>
              <a:ext uri="{FF2B5EF4-FFF2-40B4-BE49-F238E27FC236}">
                <a16:creationId xmlns:a16="http://schemas.microsoft.com/office/drawing/2014/main" id="{F40F1DB5-1BD5-4DCE-892A-BB5B5AAA9E56}"/>
              </a:ext>
            </a:extLst>
          </p:cNvPr>
          <p:cNvSpPr txBox="1"/>
          <p:nvPr/>
        </p:nvSpPr>
        <p:spPr>
          <a:xfrm>
            <a:off x="4842204" y="2941319"/>
            <a:ext cx="6998335" cy="460375"/>
          </a:xfrm>
          <a:prstGeom prst="rect">
            <a:avLst/>
          </a:prstGeom>
          <a:noFill/>
        </p:spPr>
        <p:txBody>
          <a:bodyPr wrap="square" rtlCol="0">
            <a:spAutoFit/>
          </a:bodyPr>
          <a:lstStyle/>
          <a:p>
            <a:r>
              <a:rPr lang="zh-CN" altLang="en-US" sz="2400" dirty="0">
                <a:sym typeface="+mn-ea"/>
              </a:rPr>
              <a:t>估计值β</a:t>
            </a:r>
            <a:r>
              <a:rPr lang="zh-CN" altLang="en-US" sz="2400" baseline="-25000" dirty="0">
                <a:sym typeface="+mn-ea"/>
              </a:rPr>
              <a:t>o</a:t>
            </a:r>
            <a:r>
              <a:rPr lang="zh-CN" altLang="en-US" sz="2400" dirty="0">
                <a:sym typeface="+mn-ea"/>
              </a:rPr>
              <a:t>、β1满足：</a:t>
            </a:r>
          </a:p>
        </p:txBody>
      </p:sp>
      <p:sp>
        <p:nvSpPr>
          <p:cNvPr id="35" name="文本框 34">
            <a:extLst>
              <a:ext uri="{FF2B5EF4-FFF2-40B4-BE49-F238E27FC236}">
                <a16:creationId xmlns:a16="http://schemas.microsoft.com/office/drawing/2014/main" id="{7C9C90B0-37B4-4139-ADC1-6E8D2732CC4B}"/>
              </a:ext>
            </a:extLst>
          </p:cNvPr>
          <p:cNvSpPr txBox="1"/>
          <p:nvPr/>
        </p:nvSpPr>
        <p:spPr>
          <a:xfrm>
            <a:off x="4842204" y="4359910"/>
            <a:ext cx="6211570" cy="1014730"/>
          </a:xfrm>
          <a:prstGeom prst="rect">
            <a:avLst/>
          </a:prstGeom>
          <a:noFill/>
        </p:spPr>
        <p:txBody>
          <a:bodyPr wrap="square" rtlCol="0">
            <a:spAutoFit/>
          </a:bodyPr>
          <a:lstStyle/>
          <a:p>
            <a:r>
              <a:rPr lang="zh-CN" altLang="en-US" sz="2000" dirty="0"/>
              <a:t>Q(β。，β</a:t>
            </a:r>
            <a:r>
              <a:rPr lang="zh-CN" altLang="en-US" sz="2000" baseline="-25000" dirty="0"/>
              <a:t>1</a:t>
            </a:r>
            <a:r>
              <a:rPr lang="zh-CN" altLang="en-US" sz="2000" dirty="0"/>
              <a:t>）是非负二次函数，有最小值。其最小值的求法为求其偏导数，令其分别等于零，求解方程组即可。</a:t>
            </a:r>
          </a:p>
        </p:txBody>
      </p:sp>
      <p:pic>
        <p:nvPicPr>
          <p:cNvPr id="36" name="图片 35">
            <a:extLst>
              <a:ext uri="{FF2B5EF4-FFF2-40B4-BE49-F238E27FC236}">
                <a16:creationId xmlns:a16="http://schemas.microsoft.com/office/drawing/2014/main" id="{3CC9D17B-D4F6-4398-9941-B96BDDC62E91}"/>
              </a:ext>
            </a:extLst>
          </p:cNvPr>
          <p:cNvPicPr>
            <a:picLocks noChangeAspect="1"/>
          </p:cNvPicPr>
          <p:nvPr/>
        </p:nvPicPr>
        <p:blipFill>
          <a:blip r:embed="rId6"/>
          <a:srcRect b="44220"/>
          <a:stretch>
            <a:fillRect/>
          </a:stretch>
        </p:blipFill>
        <p:spPr>
          <a:xfrm>
            <a:off x="780414" y="5906680"/>
            <a:ext cx="3174365" cy="614680"/>
          </a:xfrm>
          <a:prstGeom prst="rect">
            <a:avLst/>
          </a:prstGeom>
        </p:spPr>
      </p:pic>
      <p:pic>
        <p:nvPicPr>
          <p:cNvPr id="37" name="图片 36">
            <a:extLst>
              <a:ext uri="{FF2B5EF4-FFF2-40B4-BE49-F238E27FC236}">
                <a16:creationId xmlns:a16="http://schemas.microsoft.com/office/drawing/2014/main" id="{35DD542E-3E8A-4607-BACA-17C6AB418971}"/>
              </a:ext>
            </a:extLst>
          </p:cNvPr>
          <p:cNvPicPr>
            <a:picLocks noChangeAspect="1"/>
          </p:cNvPicPr>
          <p:nvPr/>
        </p:nvPicPr>
        <p:blipFill>
          <a:blip r:embed="rId6"/>
          <a:srcRect t="53333"/>
          <a:stretch>
            <a:fillRect/>
          </a:stretch>
        </p:blipFill>
        <p:spPr>
          <a:xfrm>
            <a:off x="4033849" y="5923012"/>
            <a:ext cx="3578225" cy="579755"/>
          </a:xfrm>
          <a:prstGeom prst="rect">
            <a:avLst/>
          </a:prstGeom>
        </p:spPr>
      </p:pic>
      <p:sp>
        <p:nvSpPr>
          <p:cNvPr id="38" name="左大括号 37">
            <a:extLst>
              <a:ext uri="{FF2B5EF4-FFF2-40B4-BE49-F238E27FC236}">
                <a16:creationId xmlns:a16="http://schemas.microsoft.com/office/drawing/2014/main" id="{BBF1F5B0-C1BE-4FF3-A84B-14746B6FDC99}"/>
              </a:ext>
            </a:extLst>
          </p:cNvPr>
          <p:cNvSpPr/>
          <p:nvPr/>
        </p:nvSpPr>
        <p:spPr>
          <a:xfrm>
            <a:off x="8204835" y="5212430"/>
            <a:ext cx="945515" cy="1159510"/>
          </a:xfrm>
          <a:prstGeom prst="leftBrace">
            <a:avLst/>
          </a:prstGeom>
          <a:ln w="254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39" name="右箭头 12">
            <a:extLst>
              <a:ext uri="{FF2B5EF4-FFF2-40B4-BE49-F238E27FC236}">
                <a16:creationId xmlns:a16="http://schemas.microsoft.com/office/drawing/2014/main" id="{1DAF5D10-0536-4BCF-8916-BCE5C0711F52}"/>
              </a:ext>
            </a:extLst>
          </p:cNvPr>
          <p:cNvSpPr/>
          <p:nvPr/>
        </p:nvSpPr>
        <p:spPr>
          <a:xfrm>
            <a:off x="9180195" y="5573395"/>
            <a:ext cx="945515" cy="578485"/>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a:extLst>
              <a:ext uri="{FF2B5EF4-FFF2-40B4-BE49-F238E27FC236}">
                <a16:creationId xmlns:a16="http://schemas.microsoft.com/office/drawing/2014/main" id="{8BB78CC7-0207-4F6D-8833-57C0A87976B6}"/>
              </a:ext>
            </a:extLst>
          </p:cNvPr>
          <p:cNvPicPr>
            <a:picLocks noChangeAspect="1"/>
          </p:cNvPicPr>
          <p:nvPr/>
        </p:nvPicPr>
        <p:blipFill>
          <a:blip r:embed="rId7"/>
          <a:stretch>
            <a:fillRect/>
          </a:stretch>
        </p:blipFill>
        <p:spPr>
          <a:xfrm>
            <a:off x="7947989" y="5306410"/>
            <a:ext cx="2000250" cy="971550"/>
          </a:xfrm>
          <a:prstGeom prst="rect">
            <a:avLst/>
          </a:prstGeom>
        </p:spPr>
      </p:pic>
    </p:spTree>
    <p:extLst>
      <p:ext uri="{BB962C8B-B14F-4D97-AF65-F5344CB8AC3E}">
        <p14:creationId xmlns:p14="http://schemas.microsoft.com/office/powerpoint/2010/main" val="1119166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blinds(horizontal)">
                                      <p:cBhvr>
                                        <p:cTn id="12" dur="500"/>
                                        <p:tgtEl>
                                          <p:spTgt spid="28"/>
                                        </p:tgtEl>
                                      </p:cBhvr>
                                    </p:animEffect>
                                  </p:childTnLst>
                                </p:cTn>
                              </p:par>
                              <p:par>
                                <p:cTn id="13" presetID="3" presetClass="entr" presetSubtype="1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blinds(horizontal)">
                                      <p:cBhvr>
                                        <p:cTn id="15"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blinds(horizontal)">
                                      <p:cBhvr>
                                        <p:cTn id="20" dur="500"/>
                                        <p:tgtEl>
                                          <p:spTgt spid="31"/>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blinds(horizontal)">
                                      <p:cBhvr>
                                        <p:cTn id="23" dur="5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blinds(horizontal)">
                                      <p:cBhvr>
                                        <p:cTn id="28" dur="500"/>
                                        <p:tgtEl>
                                          <p:spTgt spid="32"/>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blinds(horizontal)">
                                      <p:cBhvr>
                                        <p:cTn id="33" dur="500"/>
                                        <p:tgtEl>
                                          <p:spTgt spid="33"/>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blinds(horizontal)">
                                      <p:cBhvr>
                                        <p:cTn id="36" dur="500"/>
                                        <p:tgtEl>
                                          <p:spTgt spid="34"/>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blinds(horizontal)">
                                      <p:cBhvr>
                                        <p:cTn id="41" dur="500"/>
                                        <p:tgtEl>
                                          <p:spTgt spid="3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grpId="2" nodeType="clickEffect">
                                  <p:stCondLst>
                                    <p:cond delay="0"/>
                                  </p:stCondLst>
                                  <p:childTnLst>
                                    <p:set>
                                      <p:cBhvr>
                                        <p:cTn id="45" dur="1" fill="hold">
                                          <p:stCondLst>
                                            <p:cond delay="0"/>
                                          </p:stCondLst>
                                        </p:cTn>
                                        <p:tgtEl>
                                          <p:spTgt spid="35"/>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blinds(horizontal)">
                                      <p:cBhvr>
                                        <p:cTn id="50" dur="500"/>
                                        <p:tgtEl>
                                          <p:spTgt spid="38"/>
                                        </p:tgtEl>
                                      </p:cBhvr>
                                    </p:animEffect>
                                  </p:childTnLst>
                                </p:cTn>
                              </p:par>
                              <p:par>
                                <p:cTn id="51" presetID="3" presetClass="entr" presetSubtype="10" fill="hold"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blinds(horizontal)">
                                      <p:cBhvr>
                                        <p:cTn id="53" dur="500"/>
                                        <p:tgtEl>
                                          <p:spTgt spid="36"/>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blinds(horizontal)">
                                      <p:cBhvr>
                                        <p:cTn id="58" dur="500"/>
                                        <p:tgtEl>
                                          <p:spTgt spid="37"/>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blinds(horizontal)">
                                      <p:cBhvr>
                                        <p:cTn id="63" dur="500"/>
                                        <p:tgtEl>
                                          <p:spTgt spid="40"/>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blinds(horizontal)">
                                      <p:cBhvr>
                                        <p:cTn id="6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8" grpId="0"/>
      <p:bldP spid="28" grpId="1"/>
      <p:bldP spid="29" grpId="0"/>
      <p:bldP spid="29" grpId="1"/>
      <p:bldP spid="34" grpId="0"/>
      <p:bldP spid="34" grpId="1"/>
      <p:bldP spid="35" grpId="0"/>
      <p:bldP spid="35" grpId="1"/>
      <p:bldP spid="35" grpId="2"/>
      <p:bldP spid="38" grpId="0" animBg="1"/>
      <p:bldP spid="38" grpId="1" animBg="1"/>
      <p:bldP spid="39" grpId="0" animBg="1"/>
      <p:bldP spid="39"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70D47E6-6EF2-4F71-94A7-C6E4A1F67C01}"/>
              </a:ext>
            </a:extLst>
          </p:cNvPr>
          <p:cNvSpPr txBox="1"/>
          <p:nvPr/>
        </p:nvSpPr>
        <p:spPr>
          <a:xfrm>
            <a:off x="951520" y="208400"/>
            <a:ext cx="46532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ym typeface="+mn-ea"/>
              </a:rPr>
              <a:t>参数估计：最小二乘估计</a:t>
            </a:r>
            <a:endPar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endParaRPr>
          </a:p>
        </p:txBody>
      </p:sp>
      <p:grpSp>
        <p:nvGrpSpPr>
          <p:cNvPr id="5" name="组合 4">
            <a:extLst>
              <a:ext uri="{FF2B5EF4-FFF2-40B4-BE49-F238E27FC236}">
                <a16:creationId xmlns:a16="http://schemas.microsoft.com/office/drawing/2014/main" id="{6F73CCF2-C65C-48B1-BBB8-C4B298203969}"/>
              </a:ext>
            </a:extLst>
          </p:cNvPr>
          <p:cNvGrpSpPr/>
          <p:nvPr/>
        </p:nvGrpSpPr>
        <p:grpSpPr>
          <a:xfrm>
            <a:off x="274265" y="222655"/>
            <a:ext cx="563089" cy="556264"/>
            <a:chOff x="318716" y="199386"/>
            <a:chExt cx="608244" cy="600871"/>
          </a:xfrm>
        </p:grpSpPr>
        <p:sp>
          <p:nvSpPr>
            <p:cNvPr id="6" name="任意多边形 1">
              <a:extLst>
                <a:ext uri="{FF2B5EF4-FFF2-40B4-BE49-F238E27FC236}">
                  <a16:creationId xmlns:a16="http://schemas.microsoft.com/office/drawing/2014/main" id="{8B305E5F-3382-4CF5-936E-6084CC8FEA93}"/>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 name="任意多边形 2">
              <a:extLst>
                <a:ext uri="{FF2B5EF4-FFF2-40B4-BE49-F238E27FC236}">
                  <a16:creationId xmlns:a16="http://schemas.microsoft.com/office/drawing/2014/main" id="{537DF4D2-6D62-4D36-AD04-9456728EC9E5}"/>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42B8FD78-1BDB-4E52-B825-E65A1A9BFFC0}"/>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87D6792F-2D1F-4A22-9B07-9871A82D7D09}"/>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90393210-EAE7-460C-9959-F38A68845A9F}"/>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65B829E0-0A1B-478C-A328-68906CDB6A39}"/>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A791BED1-B4BC-47A7-9431-5222DD2CF333}"/>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EAE79B31-BE91-4201-BCF7-85E700A1CA77}"/>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8E211C6B-51DD-4122-99EE-769FB6588A9B}"/>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57CB1043-359A-449E-9ACF-07A6BD47B5D2}"/>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535007CF-F843-410C-B068-F2428221766F}"/>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461F949B-72E5-4D4E-B7F4-335A7B2B5591}"/>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A748EFBF-602D-464B-A45C-4378AD1C9CD4}"/>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椭圆 18">
              <a:extLst>
                <a:ext uri="{FF2B5EF4-FFF2-40B4-BE49-F238E27FC236}">
                  <a16:creationId xmlns:a16="http://schemas.microsoft.com/office/drawing/2014/main" id="{C34727B1-F59F-4D89-A8EB-D915B4F71A48}"/>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9F3E4645-2300-44DA-BAC7-B4A62FC74A78}"/>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6285C084-7D7C-4BA3-B74D-2E94F81D6F59}"/>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C652C01D-E036-4E65-92E4-542CF4583E2B}"/>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97AEBE91-F071-4DF6-8E1C-BA469B0933A7}"/>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21F04680-3D65-4595-9EDD-9CB388BADA19}"/>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5" name="任意多边形: 形状 24">
              <a:extLst>
                <a:ext uri="{FF2B5EF4-FFF2-40B4-BE49-F238E27FC236}">
                  <a16:creationId xmlns:a16="http://schemas.microsoft.com/office/drawing/2014/main" id="{F23B2E66-5D0C-43B6-9E09-DE5CAC67FDA6}"/>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6" name="文本框 25">
            <a:extLst>
              <a:ext uri="{FF2B5EF4-FFF2-40B4-BE49-F238E27FC236}">
                <a16:creationId xmlns:a16="http://schemas.microsoft.com/office/drawing/2014/main" id="{0DEFEF13-074F-4A93-A7D2-0F77DE06CCD9}"/>
              </a:ext>
            </a:extLst>
          </p:cNvPr>
          <p:cNvSpPr txBox="1"/>
          <p:nvPr/>
        </p:nvSpPr>
        <p:spPr>
          <a:xfrm>
            <a:off x="642620" y="1074420"/>
            <a:ext cx="10864215" cy="829945"/>
          </a:xfrm>
          <a:prstGeom prst="rect">
            <a:avLst/>
          </a:prstGeom>
          <a:noFill/>
        </p:spPr>
        <p:txBody>
          <a:bodyPr wrap="square" rtlCol="0">
            <a:spAutoFit/>
          </a:bodyPr>
          <a:lstStyle/>
          <a:p>
            <a:r>
              <a:rPr lang="zh-CN" altLang="en-US" sz="2400" dirty="0"/>
              <a:t>已知两组数据x、y，使用一元线性回归模型拟合两者之间的关系：y=β</a:t>
            </a:r>
            <a:r>
              <a:rPr lang="zh-CN" altLang="en-US" sz="2400" baseline="-25000" dirty="0"/>
              <a:t>o</a:t>
            </a:r>
            <a:r>
              <a:rPr lang="zh-CN" altLang="en-US" sz="2400" dirty="0"/>
              <a:t>+β</a:t>
            </a:r>
            <a:r>
              <a:rPr lang="en-US" altLang="zh-CN" sz="2400" baseline="-25000" dirty="0"/>
              <a:t>1</a:t>
            </a:r>
            <a:r>
              <a:rPr lang="zh-CN" altLang="en-US" sz="2400" dirty="0"/>
              <a:t>x。采用最小二乘估计回归方程中的系数βo、β1，得到最终的回归方程</a:t>
            </a:r>
            <a:r>
              <a:rPr lang="zh-CN" altLang="en-US" sz="2000" dirty="0"/>
              <a:t>。</a:t>
            </a:r>
          </a:p>
        </p:txBody>
      </p:sp>
      <p:pic>
        <p:nvPicPr>
          <p:cNvPr id="27" name="图片 26">
            <a:extLst>
              <a:ext uri="{FF2B5EF4-FFF2-40B4-BE49-F238E27FC236}">
                <a16:creationId xmlns:a16="http://schemas.microsoft.com/office/drawing/2014/main" id="{69C87D55-050D-494E-9D64-E52430C52D72}"/>
              </a:ext>
            </a:extLst>
          </p:cNvPr>
          <p:cNvPicPr>
            <a:picLocks noChangeAspect="1"/>
          </p:cNvPicPr>
          <p:nvPr/>
        </p:nvPicPr>
        <p:blipFill>
          <a:blip r:embed="rId2"/>
          <a:stretch>
            <a:fillRect/>
          </a:stretch>
        </p:blipFill>
        <p:spPr>
          <a:xfrm>
            <a:off x="951230" y="2740660"/>
            <a:ext cx="821055" cy="3194685"/>
          </a:xfrm>
          <a:prstGeom prst="rect">
            <a:avLst/>
          </a:prstGeom>
        </p:spPr>
      </p:pic>
      <p:pic>
        <p:nvPicPr>
          <p:cNvPr id="28" name="图片 27">
            <a:extLst>
              <a:ext uri="{FF2B5EF4-FFF2-40B4-BE49-F238E27FC236}">
                <a16:creationId xmlns:a16="http://schemas.microsoft.com/office/drawing/2014/main" id="{BA4F3F3F-1F96-4225-9E5F-6195CCF14C02}"/>
              </a:ext>
            </a:extLst>
          </p:cNvPr>
          <p:cNvPicPr>
            <a:picLocks noChangeAspect="1"/>
          </p:cNvPicPr>
          <p:nvPr/>
        </p:nvPicPr>
        <p:blipFill>
          <a:blip r:embed="rId3"/>
          <a:stretch>
            <a:fillRect/>
          </a:stretch>
        </p:blipFill>
        <p:spPr>
          <a:xfrm>
            <a:off x="1989455" y="2740660"/>
            <a:ext cx="4378325" cy="3195320"/>
          </a:xfrm>
          <a:prstGeom prst="rect">
            <a:avLst/>
          </a:prstGeom>
        </p:spPr>
      </p:pic>
      <p:pic>
        <p:nvPicPr>
          <p:cNvPr id="29" name="图片 28">
            <a:extLst>
              <a:ext uri="{FF2B5EF4-FFF2-40B4-BE49-F238E27FC236}">
                <a16:creationId xmlns:a16="http://schemas.microsoft.com/office/drawing/2014/main" id="{2879F89A-B76B-4182-9B0C-FEBF8F3291E2}"/>
              </a:ext>
            </a:extLst>
          </p:cNvPr>
          <p:cNvPicPr>
            <a:picLocks noChangeAspect="1"/>
          </p:cNvPicPr>
          <p:nvPr/>
        </p:nvPicPr>
        <p:blipFill>
          <a:blip r:embed="rId4"/>
          <a:stretch>
            <a:fillRect/>
          </a:stretch>
        </p:blipFill>
        <p:spPr>
          <a:xfrm>
            <a:off x="6635115" y="2455545"/>
            <a:ext cx="3493770" cy="948690"/>
          </a:xfrm>
          <a:prstGeom prst="rect">
            <a:avLst/>
          </a:prstGeom>
        </p:spPr>
      </p:pic>
      <p:sp>
        <p:nvSpPr>
          <p:cNvPr id="30" name="文本框 29">
            <a:extLst>
              <a:ext uri="{FF2B5EF4-FFF2-40B4-BE49-F238E27FC236}">
                <a16:creationId xmlns:a16="http://schemas.microsoft.com/office/drawing/2014/main" id="{0450E89E-FAB9-4269-A16F-C0DF2746FE50}"/>
              </a:ext>
            </a:extLst>
          </p:cNvPr>
          <p:cNvSpPr txBox="1"/>
          <p:nvPr/>
        </p:nvSpPr>
        <p:spPr>
          <a:xfrm>
            <a:off x="6635115" y="3677285"/>
            <a:ext cx="4933950" cy="706755"/>
          </a:xfrm>
          <a:prstGeom prst="rect">
            <a:avLst/>
          </a:prstGeom>
          <a:noFill/>
        </p:spPr>
        <p:txBody>
          <a:bodyPr wrap="square" rtlCol="0">
            <a:spAutoFit/>
          </a:bodyPr>
          <a:lstStyle/>
          <a:p>
            <a:r>
              <a:rPr lang="zh-CN" altLang="en-US" sz="2000" dirty="0"/>
              <a:t>计算x=3.28,y=26.4133代入得：β</a:t>
            </a:r>
            <a:r>
              <a:rPr lang="zh-CN" altLang="en-US" sz="2000" baseline="-25000" dirty="0"/>
              <a:t>1</a:t>
            </a:r>
            <a:r>
              <a:rPr lang="zh-CN" altLang="en-US" sz="2000" dirty="0"/>
              <a:t>=4.919</a:t>
            </a:r>
          </a:p>
          <a:p>
            <a:endParaRPr lang="zh-CN" altLang="en-US" sz="2000" dirty="0">
              <a:solidFill>
                <a:schemeClr val="bg1"/>
              </a:solidFill>
            </a:endParaRPr>
          </a:p>
        </p:txBody>
      </p:sp>
      <p:sp>
        <p:nvSpPr>
          <p:cNvPr id="31" name="文本框 30">
            <a:extLst>
              <a:ext uri="{FF2B5EF4-FFF2-40B4-BE49-F238E27FC236}">
                <a16:creationId xmlns:a16="http://schemas.microsoft.com/office/drawing/2014/main" id="{12BE3F66-3D96-4669-BCAC-1E4C75BF557E}"/>
              </a:ext>
            </a:extLst>
          </p:cNvPr>
          <p:cNvSpPr txBox="1"/>
          <p:nvPr/>
        </p:nvSpPr>
        <p:spPr>
          <a:xfrm>
            <a:off x="6663055" y="4258945"/>
            <a:ext cx="4843780" cy="706755"/>
          </a:xfrm>
          <a:prstGeom prst="rect">
            <a:avLst/>
          </a:prstGeom>
          <a:noFill/>
        </p:spPr>
        <p:txBody>
          <a:bodyPr wrap="square" rtlCol="0">
            <a:spAutoFit/>
          </a:bodyPr>
          <a:lstStyle/>
          <a:p>
            <a:r>
              <a:rPr lang="zh-CN" altLang="en-US" sz="2000" dirty="0">
                <a:sym typeface="+mn-ea"/>
              </a:rPr>
              <a:t>利用β1计算得到β</a:t>
            </a:r>
            <a:r>
              <a:rPr lang="zh-CN" altLang="en-US" sz="2000" baseline="-25000" dirty="0">
                <a:sym typeface="+mn-ea"/>
              </a:rPr>
              <a:t>o</a:t>
            </a:r>
            <a:r>
              <a:rPr lang="zh-CN" altLang="en-US" sz="2000" dirty="0">
                <a:sym typeface="+mn-ea"/>
              </a:rPr>
              <a:t>：β</a:t>
            </a:r>
            <a:r>
              <a:rPr lang="zh-CN" altLang="en-US" sz="2000" baseline="-25000" dirty="0">
                <a:sym typeface="+mn-ea"/>
              </a:rPr>
              <a:t>o</a:t>
            </a:r>
            <a:r>
              <a:rPr lang="zh-CN" altLang="en-US" sz="2000" dirty="0">
                <a:sym typeface="+mn-ea"/>
              </a:rPr>
              <a:t>=10.278</a:t>
            </a:r>
            <a:endParaRPr lang="zh-CN" altLang="en-US" sz="2000" dirty="0"/>
          </a:p>
          <a:p>
            <a:endParaRPr lang="zh-CN" altLang="en-US" sz="2000" dirty="0">
              <a:solidFill>
                <a:schemeClr val="bg1"/>
              </a:solidFill>
            </a:endParaRPr>
          </a:p>
        </p:txBody>
      </p:sp>
      <p:sp>
        <p:nvSpPr>
          <p:cNvPr id="32" name="文本框 31">
            <a:extLst>
              <a:ext uri="{FF2B5EF4-FFF2-40B4-BE49-F238E27FC236}">
                <a16:creationId xmlns:a16="http://schemas.microsoft.com/office/drawing/2014/main" id="{FF988A27-F2A8-4231-977E-72721B736F41}"/>
              </a:ext>
            </a:extLst>
          </p:cNvPr>
          <p:cNvSpPr txBox="1"/>
          <p:nvPr/>
        </p:nvSpPr>
        <p:spPr>
          <a:xfrm>
            <a:off x="6663055" y="4826635"/>
            <a:ext cx="4843780" cy="1014730"/>
          </a:xfrm>
          <a:prstGeom prst="rect">
            <a:avLst/>
          </a:prstGeom>
          <a:noFill/>
        </p:spPr>
        <p:txBody>
          <a:bodyPr wrap="square" rtlCol="0">
            <a:spAutoFit/>
          </a:bodyPr>
          <a:lstStyle/>
          <a:p>
            <a:r>
              <a:rPr lang="zh-CN" altLang="en-US" sz="2000" dirty="0">
                <a:sym typeface="+mn-ea"/>
              </a:rPr>
              <a:t>最终的回归方程为：</a:t>
            </a:r>
            <a:endParaRPr lang="zh-CN" altLang="en-US" sz="2000" dirty="0"/>
          </a:p>
          <a:p>
            <a:r>
              <a:rPr lang="zh-CN" altLang="en-US" sz="2000" dirty="0">
                <a:sym typeface="+mn-ea"/>
              </a:rPr>
              <a:t>                y= 10.2 78+4.919x</a:t>
            </a:r>
            <a:endParaRPr lang="zh-CN" altLang="en-US" sz="2000" dirty="0"/>
          </a:p>
          <a:p>
            <a:endParaRPr lang="zh-CN" altLang="en-US" sz="2000" dirty="0">
              <a:solidFill>
                <a:schemeClr val="bg1"/>
              </a:solidFill>
            </a:endParaRPr>
          </a:p>
        </p:txBody>
      </p:sp>
    </p:spTree>
    <p:extLst>
      <p:ext uri="{BB962C8B-B14F-4D97-AF65-F5344CB8AC3E}">
        <p14:creationId xmlns:p14="http://schemas.microsoft.com/office/powerpoint/2010/main" val="2867129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par>
                                <p:cTn id="11" presetID="8" presetClass="emph" presetSubtype="0" fill="hold" nodeType="withEffect">
                                  <p:stCondLst>
                                    <p:cond delay="250"/>
                                  </p:stCondLst>
                                  <p:childTnLst>
                                    <p:animRot by="-21600000">
                                      <p:cBhvr>
                                        <p:cTn id="12" dur="2000" fill="hold"/>
                                        <p:tgtEl>
                                          <p:spTgt spid="5"/>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blinds(horizontal)">
                                      <p:cBhvr>
                                        <p:cTn id="20" dur="500"/>
                                        <p:tgtEl>
                                          <p:spTgt spid="26"/>
                                        </p:tgtEl>
                                      </p:cBhvr>
                                    </p:animEffect>
                                  </p:childTnLst>
                                </p:cTn>
                              </p:par>
                              <p:par>
                                <p:cTn id="21" presetID="3" presetClass="entr" presetSubtype="1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blinds(horizontal)">
                                      <p:cBhvr>
                                        <p:cTn id="23" dur="500"/>
                                        <p:tgtEl>
                                          <p:spTgt spid="27"/>
                                        </p:tgtEl>
                                      </p:cBhvr>
                                    </p:animEffect>
                                  </p:childTnLst>
                                </p:cTn>
                              </p:par>
                              <p:par>
                                <p:cTn id="24" presetID="3" presetClass="entr" presetSubtype="10" fill="hold"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blinds(horizontal)">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blinds(horizontal)">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blinds(horizontal)">
                                      <p:cBhvr>
                                        <p:cTn id="36" dur="500"/>
                                        <p:tgtEl>
                                          <p:spTgt spid="30"/>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blinds(horizontal)">
                                      <p:cBhvr>
                                        <p:cTn id="41" dur="500"/>
                                        <p:tgtEl>
                                          <p:spTgt spid="31"/>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blinds(horizontal)">
                                      <p:cBhvr>
                                        <p:cTn id="4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6" grpId="0"/>
      <p:bldP spid="26" grpId="1"/>
      <p:bldP spid="30" grpId="0"/>
      <p:bldP spid="30" grpId="1"/>
      <p:bldP spid="31" grpId="0"/>
      <p:bldP spid="31" grpId="1"/>
      <p:bldP spid="32" grpId="0"/>
      <p:bldP spid="32"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2"/>
            </p:custDataLst>
          </p:nvPr>
        </p:nvSpPr>
        <p:spPr/>
        <p:txBody>
          <a:bodyPr/>
          <a:lstStyle/>
          <a:p>
            <a:r>
              <a:rPr lang="en-US" altLang="zh-CN" dirty="0"/>
              <a:t>THANKS</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3884"/>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3884"/>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3884"/>
  <p:tag name="KSO_WM_TEMPLATE_MASTER_THUMB_INDEX" val="12"/>
  <p:tag name="KSO_WM_TEMPLATE_THUMBS_INDEX" val="1、4、7、8、11、14、15、16、17、18、19、20、21、22、23、24、25、26"/>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_1*y*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4"/>
  <p:tag name="KSO_WM_UNIT_ID" val="_1*y*4"/>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2"/>
  <p:tag name="KSO_WM_UNIT_ID" val="_1*y*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3"/>
  <p:tag name="KSO_WM_UNIT_ID" val="_1*y*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1"/>
  <p:tag name="KSO_WM_UNIT_LAYERLEVEL" val="1"/>
  <p:tag name="KSO_WM_TAG_VERSION" val="1.0"/>
  <p:tag name="KSO_WM_BEAUTIFY_FLAG" val="#wm#"/>
  <p:tag name="KSO_WM_UNIT_TYPE" val="i"/>
  <p:tag name="KSO_WM_UNIT_INDEX" val="1"/>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5"/>
  <p:tag name="KSO_WM_UNIT_LAYERLEVEL" val="1"/>
  <p:tag name="KSO_WM_TAG_VERSION" val="1.0"/>
  <p:tag name="KSO_WM_BEAUTIFY_FLAG" val="#wm#"/>
  <p:tag name="KSO_WM_UNIT_TYPE" val="i"/>
  <p:tag name="KSO_WM_UNIT_INDEX" val="5"/>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2"/>
  <p:tag name="KSO_WM_UNIT_LAYERLEVEL" val="1"/>
  <p:tag name="KSO_WM_TAG_VERSION" val="1.0"/>
  <p:tag name="KSO_WM_BEAUTIFY_FLAG" val="#wm#"/>
  <p:tag name="KSO_WM_UNIT_TYPE" val="i"/>
  <p:tag name="KSO_WM_UNIT_INDEX" val="2"/>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3"/>
  <p:tag name="KSO_WM_UNIT_LAYERLEVEL" val="1"/>
  <p:tag name="KSO_WM_TAG_VERSION" val="1.0"/>
  <p:tag name="KSO_WM_BEAUTIFY_FLAG" val="#wm#"/>
  <p:tag name="KSO_WM_UNIT_TYPE" val="i"/>
  <p:tag name="KSO_WM_UNIT_INDEX" val="3"/>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4"/>
  <p:tag name="KSO_WM_UNIT_LAYERLEVEL" val="1"/>
  <p:tag name="KSO_WM_TAG_VERSION" val="1.0"/>
  <p:tag name="KSO_WM_BEAUTIFY_FLAG" val="#wm#"/>
  <p:tag name="KSO_WM_UNIT_TYPE" val="i"/>
  <p:tag name="KSO_WM_UNIT_INDEX" val="4"/>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2*i*3"/>
  <p:tag name="KSO_WM_UNIT_LAYERLEVEL" val="1"/>
  <p:tag name="KSO_WM_TAG_VERSION" val="1.0"/>
  <p:tag name="KSO_WM_BEAUTIFY_FLAG" val="#wm#"/>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2*i*4"/>
  <p:tag name="KSO_WM_UNIT_LAYERLEVEL" val="1"/>
  <p:tag name="KSO_WM_TAG_VERSION" val="1.0"/>
  <p:tag name="KSO_WM_BEAUTIFY_FLAG" val="#wm#"/>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3*i*2"/>
  <p:tag name="KSO_WM_UNIT_LAYERLEVEL" val="1"/>
  <p:tag name="KSO_WM_TAG_VERSION" val="1.0"/>
  <p:tag name="KSO_WM_BEAUTIFY_FLAG" val="#wm#"/>
  <p:tag name="KSO_WM_SLIDE_BACKGROUND_TYPE" val="frame"/>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3*i*4"/>
  <p:tag name="KSO_WM_UNIT_LAYERLEVEL" val="1"/>
  <p:tag name="KSO_WM_TAG_VERSION" val="1.0"/>
  <p:tag name="KSO_WM_BEAUTIFY_FLAG" val="#wm#"/>
  <p:tag name="KSO_WM_SLIDE_BACKGROUND_TYPE" val="frame"/>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3*i*4"/>
  <p:tag name="KSO_WM_UNIT_LAYERLEVEL" val="1"/>
  <p:tag name="KSO_WM_TAG_VERSION" val="1.0"/>
  <p:tag name="KSO_WM_BEAUTIFY_FLAG" val="#wm#"/>
  <p:tag name="KSO_WM_SLIDE_BACKGROUND_TYPE" val="frame"/>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4*i*5"/>
  <p:tag name="KSO_WM_UNIT_LAYERLEVEL" val="1"/>
  <p:tag name="KSO_WM_TAG_VERSION" val="1.0"/>
  <p:tag name="KSO_WM_BEAUTIFY_FLAG" val="#wm#"/>
  <p:tag name="KSO_WM_SLIDE_BACKGROUND_TYPE" val="leftRight"/>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UNIT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4*i*2"/>
  <p:tag name="KSO_WM_UNIT_LAYERLEVEL" val="1"/>
  <p:tag name="KSO_WM_TAG_VERSION" val="1.0"/>
  <p:tag name="KSO_WM_BEAUTIFY_FLAG" val="#wm#"/>
  <p:tag name="KSO_WM_SLIDE_BACKGROUND_TYPE" val="leftRight"/>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4*i*3"/>
  <p:tag name="KSO_WM_UNIT_LAYERLEVEL" val="1"/>
  <p:tag name="KSO_WM_TAG_VERSION" val="1.0"/>
  <p:tag name="KSO_WM_BEAUTIFY_FLAG" val="#wm#"/>
  <p:tag name="KSO_WM_SLIDE_BACKGROUND_TYPE" val="leftRight"/>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5*i*2"/>
  <p:tag name="KSO_WM_UNIT_LAYERLEVEL" val="1"/>
  <p:tag name="KSO_WM_TAG_VERSION" val="1.0"/>
  <p:tag name="KSO_WM_BEAUTIFY_FLAG" val="#wm#"/>
  <p:tag name="KSO_WM_SLIDE_BACKGROUND_TYPE" val="topBotto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5*i*3"/>
  <p:tag name="KSO_WM_UNIT_LAYERLEVEL" val="1"/>
  <p:tag name="KSO_WM_TAG_VERSION" val="1.0"/>
  <p:tag name="KSO_WM_BEAUTIFY_FLAG" val="#wm#"/>
  <p:tag name="KSO_WM_SLIDE_BACKGROUND_TYPE" val="topBotto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5*i*4"/>
  <p:tag name="KSO_WM_UNIT_LAYERLEVEL" val="1"/>
  <p:tag name="KSO_WM_TAG_VERSION" val="1.0"/>
  <p:tag name="KSO_WM_BEAUTIFY_FLAG" val="#wm#"/>
  <p:tag name="KSO_WM_SLIDE_BACKGROUND_TYPE" val="topBotto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UNIT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6*i*4"/>
  <p:tag name="KSO_WM_UNIT_LAYERLEVEL" val="1"/>
  <p:tag name="KSO_WM_TAG_VERSION" val="1.0"/>
  <p:tag name="KSO_WM_BEAUTIFY_FLAG" val="#wm#"/>
  <p:tag name="KSO_WM_SLIDE_BACKGROUND_TYPE" val="bottomTop"/>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UNIT_BK_DARK_LIGHT" val="2"/>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6*i*2"/>
  <p:tag name="KSO_WM_UNIT_LAYERLEVEL" val="1"/>
  <p:tag name="KSO_WM_TAG_VERSION" val="1.0"/>
  <p:tag name="KSO_WM_BEAUTIFY_FLAG" val="#wm#"/>
  <p:tag name="KSO_WM_SLIDE_BACKGROUND_TYPE" val="bottomTop"/>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6*i*3"/>
  <p:tag name="KSO_WM_UNIT_LAYERLEVEL" val="1"/>
  <p:tag name="KSO_WM_TAG_VERSION" val="1.0"/>
  <p:tag name="KSO_WM_BEAUTIFY_FLAG" val="#wm#"/>
  <p:tag name="KSO_WM_SLIDE_BACKGROUND_TYPE" val="bottomTop"/>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7*i*2"/>
  <p:tag name="KSO_WM_UNIT_LAYERLEVEL" val="1"/>
  <p:tag name="KSO_WM_TAG_VERSION" val="1.0"/>
  <p:tag name="KSO_WM_BEAUTIFY_FLAG" val="#wm#"/>
  <p:tag name="KSO_WM_SLIDE_BACKGROUND_TYPE" val="navigation"/>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7*i*3"/>
  <p:tag name="KSO_WM_UNIT_LAYERLEVEL" val="1"/>
  <p:tag name="KSO_WM_TAG_VERSION" val="1.0"/>
  <p:tag name="KSO_WM_BEAUTIFY_FLAG" val="#wm#"/>
  <p:tag name="KSO_WM_SLIDE_BACKGROUND_TYPE" val="navigation"/>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7*i*4"/>
  <p:tag name="KSO_WM_UNIT_LAYERLEVEL" val="1"/>
  <p:tag name="KSO_WM_TAG_VERSION" val="1.0"/>
  <p:tag name="KSO_WM_BEAUTIFY_FLAG" val="#wm#"/>
  <p:tag name="KSO_WM_SLIDE_BACKGROUND_TYPE" val="navigation"/>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UNIT_BK_DARK_LIGHT" val="2"/>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59.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160.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8*i*1"/>
  <p:tag name="KSO_WM_UNIT_LAYERLEVEL" val="1"/>
  <p:tag name="KSO_WM_TAG_VERSION" val="1.0"/>
  <p:tag name="KSO_WM_BEAUTIFY_FLAG" val="#wm#"/>
  <p:tag name="KSO_WM_SLIDE_BACKGROUND_TYPE" val="belt"/>
  <p:tag name="KSO_WM_SLIDE_BK_DARK_LIGHT" val="2"/>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8*i*2"/>
  <p:tag name="KSO_WM_UNIT_LAYERLEVEL" val="1"/>
  <p:tag name="KSO_WM_TAG_VERSION" val="1.0"/>
  <p:tag name="KSO_WM_BEAUTIFY_FLAG" val="#wm#"/>
  <p:tag name="KSO_WM_SLIDE_BACKGROUND_TYPE" val="belt"/>
  <p:tag name="KSO_WM_SLIDE_BK_DARK_LIGHT" val="2"/>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8*i*1"/>
  <p:tag name="KSO_WM_UNIT_LAYERLEVEL" val="1"/>
  <p:tag name="KSO_WM_TAG_VERSION" val="1.0"/>
  <p:tag name="KSO_WM_BEAUTIFY_FLAG" val="#wm#"/>
  <p:tag name="KSO_WM_SLIDE_BACKGROUND_TYPE" val="belt"/>
  <p:tag name="KSO_WM_SLIDE_BK_DARK_LIGHT" val="2"/>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8*i*2"/>
  <p:tag name="KSO_WM_UNIT_LAYERLEVEL" val="1"/>
  <p:tag name="KSO_WM_TAG_VERSION" val="1.0"/>
  <p:tag name="KSO_WM_BEAUTIFY_FLAG" val="#wm#"/>
  <p:tag name="KSO_WM_SLIDE_BACKGROUND_TYPE" val="belt"/>
  <p:tag name="KSO_WM_SLIDE_BK_DARK_LIGHT" val="2"/>
</p:tagLst>
</file>

<file path=ppt/tags/tag170.xml><?xml version="1.0" encoding="utf-8"?>
<p:tagLst xmlns:a="http://schemas.openxmlformats.org/drawingml/2006/main" xmlns:r="http://schemas.openxmlformats.org/officeDocument/2006/relationships" xmlns:p="http://schemas.openxmlformats.org/presentationml/2006/main">
  <p:tag name="KSO_WM_SLIDE_ID" val="custom20203884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3884"/>
  <p:tag name="KSO_WM_SLIDE_LAYOUT" val="a_b"/>
  <p:tag name="KSO_WM_SLIDE_LAYOUT_CNT" val="1_3"/>
  <p:tag name="KSO_WM_TEMPLATE_THUMBS_INDEX" val="1、4、7、8、11、14、15、16、17、18、19、20、21、22、23、24、25、26"/>
  <p:tag name="KSO_WM_TEMPLATE_MASTER_THUMB_INDEX" val="12"/>
  <p:tag name="KSO_WM_SLIDE_MODEL_TYPE" val="cover"/>
</p:tagLst>
</file>

<file path=ppt/tags/tag17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3884_1*a*1"/>
  <p:tag name="KSO_WM_TEMPLATE_CATEGORY" val="custom"/>
  <p:tag name="KSO_WM_TEMPLATE_INDEX" val="20203884"/>
  <p:tag name="KSO_WM_UNIT_LAYERLEVEL" val="1"/>
  <p:tag name="KSO_WM_TAG_VERSION" val="1.0"/>
  <p:tag name="KSO_WM_BEAUTIFY_FLAG" val="#wm#"/>
  <p:tag name="KSO_WM_UNIT_PRESET_TEXT" val="简约工作汇报模板"/>
  <p:tag name="KSO_WM_UNIT_ISNUMDGMTITLE" val="0"/>
</p:tagLst>
</file>

<file path=ppt/tags/tag17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汇报人姓名"/>
  <p:tag name="KSO_WM_UNIT_NOCLEAR" val="0"/>
  <p:tag name="KSO_WM_UNIT_VALUE" val="30"/>
  <p:tag name="KSO_WM_UNIT_HIGHLIGHT" val="0"/>
  <p:tag name="KSO_WM_UNIT_COMPATIBLE" val="0"/>
  <p:tag name="KSO_WM_UNIT_DIAGRAM_ISNUMVISUAL" val="0"/>
  <p:tag name="KSO_WM_UNIT_DIAGRAM_ISREFERUNIT" val="0"/>
  <p:tag name="KSO_WM_UNIT_TYPE" val="b"/>
  <p:tag name="KSO_WM_UNIT_INDEX" val="2"/>
  <p:tag name="KSO_WM_UNIT_ID" val="custom20203884_1*b*2"/>
  <p:tag name="KSO_WM_TEMPLATE_CATEGORY" val="custom"/>
  <p:tag name="KSO_WM_TEMPLATE_INDEX" val="20203884"/>
  <p:tag name="KSO_WM_UNIT_LAYERLEVEL" val="1"/>
  <p:tag name="KSO_WM_TAG_VERSION" val="1.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SLIDE_ID" val="custom20203884_4"/>
  <p:tag name="KSO_WM_TEMPLATE_SUBCATEGORY" val="0"/>
  <p:tag name="KSO_WM_TEMPLATE_MASTER_TYPE" val="1"/>
  <p:tag name="KSO_WM_TEMPLATE_COLOR_TYPE" val="1"/>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3884"/>
  <p:tag name="KSO_WM_SLIDE_LAYOUT" val="a_l"/>
  <p:tag name="KSO_WM_SLIDE_LAYOUT_CNT" val="1_1"/>
  <p:tag name="KSO_WM_SLIDE_TYPE" val="contents"/>
  <p:tag name="KSO_WM_SLIDE_SUBTYPE" val="diag"/>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1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1_1"/>
  <p:tag name="KSO_WM_UNIT_TEXT_FILL_FORE_SCHEMECOLOR_INDEX" val="5"/>
  <p:tag name="KSO_WM_UNIT_TEXT_FILL_TYPE" val="1"/>
  <p:tag name="KSO_WM_UNIT_USESOURCEFORMAT_APPLY" val="1"/>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1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1_1"/>
  <p:tag name="KSO_WM_UNIT_PRESET_TEXT" val="单击此处添加标题"/>
  <p:tag name="KSO_WM_UNIT_TEXT_FILL_FORE_SCHEMECOLOR_INDEX" val="13"/>
  <p:tag name="KSO_WM_UNIT_TEXT_FILL_TYPE" val="1"/>
  <p:tag name="KSO_WM_UNIT_USESOURCEFORMAT_APPLY" val="1"/>
  <p:tag name="KSO_WM_UNIT_ISNUMDGMTITLE" val="0"/>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3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3_1"/>
  <p:tag name="KSO_WM_UNIT_TEXT_FILL_FORE_SCHEMECOLOR_INDEX" val="5"/>
  <p:tag name="KSO_WM_UNIT_TEXT_FILL_TYPE" val="1"/>
  <p:tag name="KSO_WM_UNIT_USESOURCEFORMAT_APPLY" val="1"/>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3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3_1"/>
  <p:tag name="KSO_WM_UNIT_PRESET_TEXT" val="单击此处添加标题"/>
  <p:tag name="KSO_WM_UNIT_TEXT_FILL_FORE_SCHEMECOLOR_INDEX" val="13"/>
  <p:tag name="KSO_WM_UNIT_TEXT_FILL_TYPE" val="1"/>
  <p:tag name="KSO_WM_UNIT_USESOURCEFORMAT_APPLY" val="1"/>
  <p:tag name="KSO_WM_UNIT_VALUE" val="10"/>
  <p:tag name="KSO_WM_UNIT_ISNUMDGMTITLE" val="0"/>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2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2_1"/>
  <p:tag name="KSO_WM_UNIT_TEXT_FILL_FORE_SCHEMECOLOR_INDEX" val="5"/>
  <p:tag name="KSO_WM_UNIT_TEXT_FILL_TYPE" val="1"/>
  <p:tag name="KSO_WM_UNIT_USESOURCEFORMAT_APPLY" val="1"/>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2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2_1"/>
  <p:tag name="KSO_WM_UNIT_PRESET_TEXT" val="单击此处添加标题"/>
  <p:tag name="KSO_WM_UNIT_TEXT_FILL_FORE_SCHEMECOLOR_INDEX" val="13"/>
  <p:tag name="KSO_WM_UNIT_TEXT_FILL_TYPE" val="1"/>
  <p:tag name="KSO_WM_UNIT_USESOURCEFORMAT_APPLY" val="1"/>
  <p:tag name="KSO_WM_UNIT_VALUE" val="10"/>
  <p:tag name="KSO_WM_UNIT_ISNUMDGMTITLE" val="0"/>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4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4_1"/>
  <p:tag name="KSO_WM_UNIT_TEXT_FILL_FORE_SCHEMECOLOR_INDEX" val="5"/>
  <p:tag name="KSO_WM_UNIT_TEXT_FILL_TYPE" val="1"/>
  <p:tag name="KSO_WM_UNIT_USESOURCEFORMAT_APPLY" val="1"/>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4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4_1"/>
  <p:tag name="KSO_WM_UNIT_PRESET_TEXT" val="单击此处添加标题"/>
  <p:tag name="KSO_WM_UNIT_TEXT_FILL_FORE_SCHEMECOLOR_INDEX" val="13"/>
  <p:tag name="KSO_WM_UNIT_TEXT_FILL_TYPE" val="1"/>
  <p:tag name="KSO_WM_UNIT_USESOURCEFORMAT_APPLY" val="1"/>
  <p:tag name="KSO_WM_UNIT_ISNUMDGMTITLE" val="0"/>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a*1"/>
  <p:tag name="KSO_WM_TEMPLATE_CATEGORY" val="custom"/>
  <p:tag name="KSO_WM_TEMPLATE_INDEX" val="20203884"/>
  <p:tag name="KSO_WM_UNIT_LAYERLEVEL" val="1"/>
  <p:tag name="KSO_WM_TAG_VERSION" val="1.0"/>
  <p:tag name="KSO_WM_BEAUTIFY_FLAG" val="#wm#"/>
  <p:tag name="KSO_WM_UNIT_ISCONTENTSTITLE" val="1"/>
  <p:tag name="KSO_WM_UNIT_PRESET_TEXT" val="CONTENTS"/>
  <p:tag name="KSO_WM_UNIT_NOCLEAR" val="0"/>
  <p:tag name="KSO_WM_UNIT_VALUE" val="7"/>
  <p:tag name="KSO_WM_DIAGRAM_GROUP_CODE" val="l1-1"/>
  <p:tag name="KSO_WM_UNIT_TYPE" val="a"/>
  <p:tag name="KSO_WM_UNIT_INDEX" val="1"/>
  <p:tag name="KSO_WM_UNIT_TEXT_FILL_FORE_SCHEMECOLOR_INDEX" val="13"/>
  <p:tag name="KSO_WM_UNIT_TEXT_FILL_TYPE" val="1"/>
  <p:tag name="KSO_WM_UNIT_USESOURCEFORMAT_APPLY" val="1"/>
  <p:tag name="KSO_WM_UNIT_ISNUMDGMTITLE" val="0"/>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03884_26"/>
  <p:tag name="KSO_WM_TEMPLATE_SUBCATEGORY" val="0"/>
  <p:tag name="KSO_WM_TEMPLATE_MASTER_TYPE" val="1"/>
  <p:tag name="KSO_WM_TEMPLATE_COLOR_TYPE" val="1"/>
  <p:tag name="KSO_WM_SLIDE_ITEM_CNT" val="0"/>
  <p:tag name="KSO_WM_SLIDE_INDEX" val="26"/>
  <p:tag name="KSO_WM_TAG_VERSION" val="1.0"/>
  <p:tag name="KSO_WM_BEAUTIFY_FLAG" val="#wm#"/>
  <p:tag name="KSO_WM_TEMPLATE_CATEGORY" val="custom"/>
  <p:tag name="KSO_WM_TEMPLATE_INDEX" val="20203884"/>
  <p:tag name="KSO_WM_SLIDE_TYPE" val="endPage"/>
  <p:tag name="KSO_WM_SLIDE_SUBTYPE" val="pureTxt"/>
  <p:tag name="KSO_WM_SLIDE_LAYOUT" val="a"/>
  <p:tag name="KSO_WM_SLIDE_LAYOUT_CNT" val="1"/>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26*a*1"/>
  <p:tag name="KSO_WM_TEMPLATE_CATEGORY" val="custom"/>
  <p:tag name="KSO_WM_TEMPLATE_INDEX" val="20203884"/>
  <p:tag name="KSO_WM_UNIT_LAYERLEVEL" val="1"/>
  <p:tag name="KSO_WM_TAG_VERSION" val="1.0"/>
  <p:tag name="KSO_WM_BEAUTIFY_FLAG" val="#wm#"/>
  <p:tag name="KSO_WM_UNIT_ISCONTENTSTITLE" val="0"/>
  <p:tag name="KSO_WM_UNIT_NOCLEAR" val="1"/>
  <p:tag name="KSO_WM_UNIT_VALUE" val="5"/>
  <p:tag name="KSO_WM_UNIT_TYPE" val="a"/>
  <p:tag name="KSO_WM_UNIT_INDEX" val="1"/>
  <p:tag name="KSO_WM_UNIT_PRESET_TEXT" val="THANKS"/>
  <p:tag name="KSO_WM_UNIT_ISNUMDGMTITLE" val="0"/>
</p:tagLst>
</file>

<file path=ppt/theme/theme1.xml><?xml version="1.0" encoding="utf-8"?>
<a:theme xmlns:a="http://schemas.openxmlformats.org/drawingml/2006/main" name="Office 主题​​">
  <a:themeElements>
    <a:clrScheme name="自定义 5">
      <a:dk1>
        <a:sysClr val="windowText" lastClr="000000"/>
      </a:dk1>
      <a:lt1>
        <a:sysClr val="window" lastClr="FFFFFF"/>
      </a:lt1>
      <a:dk2>
        <a:srgbClr val="002842"/>
      </a:dk2>
      <a:lt2>
        <a:srgbClr val="FFFFFF"/>
      </a:lt2>
      <a:accent1>
        <a:srgbClr val="5195A5"/>
      </a:accent1>
      <a:accent2>
        <a:srgbClr val="8CA26C"/>
      </a:accent2>
      <a:accent3>
        <a:srgbClr val="C5B331"/>
      </a:accent3>
      <a:accent4>
        <a:srgbClr val="E1A215"/>
      </a:accent4>
      <a:accent5>
        <a:srgbClr val="E87A20"/>
      </a:accent5>
      <a:accent6>
        <a:srgbClr val="DD4319"/>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532</TotalTime>
  <Words>1001</Words>
  <Application>Microsoft Office PowerPoint</Application>
  <PresentationFormat>宽屏</PresentationFormat>
  <Paragraphs>81</Paragraphs>
  <Slides>12</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苹方 中等</vt:lpstr>
      <vt:lpstr>微软雅黑</vt:lpstr>
      <vt:lpstr>Arial</vt:lpstr>
      <vt:lpstr>Calibri</vt:lpstr>
      <vt:lpstr>Open Sans</vt:lpstr>
      <vt:lpstr>Wingdings</vt:lpstr>
      <vt:lpstr>等线</vt:lpstr>
      <vt:lpstr>Office 主题​​</vt:lpstr>
      <vt:lpstr>线性回归</vt:lpstr>
      <vt:lpstr>PowerPoint 演示文稿</vt:lpstr>
      <vt:lpstr>线性模型（linear model）</vt:lpstr>
      <vt:lpstr>回归（regression）</vt:lpstr>
      <vt:lpstr>线性回归（Decision Tree）</vt:lpstr>
      <vt:lpstr>PowerPoint 演示文稿</vt:lpstr>
      <vt:lpstr>PowerPoint 演示文稿</vt:lpstr>
      <vt:lpstr>问题 </vt:lpstr>
      <vt:lpstr>PowerPoint 演示文稿</vt:lpstr>
      <vt:lpstr>PowerPoint 演示文稿</vt:lpstr>
      <vt:lpstr>PowerPoint 演示文稿</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课程介绍</dc:title>
  <dc:creator>邵欣怡</dc:creator>
  <cp:lastModifiedBy>LIU HAIBIN</cp:lastModifiedBy>
  <cp:revision>40</cp:revision>
  <dcterms:created xsi:type="dcterms:W3CDTF">2021-03-01T12:12:00Z</dcterms:created>
  <dcterms:modified xsi:type="dcterms:W3CDTF">2021-05-12T02:05:41Z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2052-11.1.0.9192</vt:lpwstr>
  </property>
</Properties>
</file>