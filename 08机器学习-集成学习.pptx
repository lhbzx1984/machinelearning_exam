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media/image10.jpg" ContentType="image/png"/>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handoutMasterIdLst>
    <p:handoutMasterId r:id="rId53"/>
  </p:handoutMasterIdLst>
  <p:sldIdLst>
    <p:sldId id="696" r:id="rId2"/>
    <p:sldId id="1018" r:id="rId3"/>
    <p:sldId id="1026" r:id="rId4"/>
    <p:sldId id="1043" r:id="rId5"/>
    <p:sldId id="1052" r:id="rId6"/>
    <p:sldId id="1053" r:id="rId7"/>
    <p:sldId id="1028" r:id="rId8"/>
    <p:sldId id="1031" r:id="rId9"/>
    <p:sldId id="1032" r:id="rId10"/>
    <p:sldId id="1034" r:id="rId11"/>
    <p:sldId id="1035" r:id="rId12"/>
    <p:sldId id="1045" r:id="rId13"/>
    <p:sldId id="1047" r:id="rId14"/>
    <p:sldId id="1054" r:id="rId15"/>
    <p:sldId id="1038" r:id="rId16"/>
    <p:sldId id="1037" r:id="rId17"/>
    <p:sldId id="1040" r:id="rId18"/>
    <p:sldId id="1055" r:id="rId19"/>
    <p:sldId id="374" r:id="rId20"/>
    <p:sldId id="375" r:id="rId21"/>
    <p:sldId id="376" r:id="rId22"/>
    <p:sldId id="377" r:id="rId23"/>
    <p:sldId id="378" r:id="rId24"/>
    <p:sldId id="379" r:id="rId25"/>
    <p:sldId id="380" r:id="rId26"/>
    <p:sldId id="1041" r:id="rId27"/>
    <p:sldId id="381" r:id="rId28"/>
    <p:sldId id="1056" r:id="rId29"/>
    <p:sldId id="382" r:id="rId30"/>
    <p:sldId id="383" r:id="rId31"/>
    <p:sldId id="384" r:id="rId32"/>
    <p:sldId id="385" r:id="rId33"/>
    <p:sldId id="1024" r:id="rId34"/>
    <p:sldId id="1065" r:id="rId35"/>
    <p:sldId id="1044" r:id="rId36"/>
    <p:sldId id="1048" r:id="rId37"/>
    <p:sldId id="1049" r:id="rId38"/>
    <p:sldId id="1050" r:id="rId39"/>
    <p:sldId id="1064" r:id="rId40"/>
    <p:sldId id="1069" r:id="rId41"/>
    <p:sldId id="1066" r:id="rId42"/>
    <p:sldId id="1070" r:id="rId43"/>
    <p:sldId id="1060" r:id="rId44"/>
    <p:sldId id="1068" r:id="rId45"/>
    <p:sldId id="1061" r:id="rId46"/>
    <p:sldId id="1072" r:id="rId47"/>
    <p:sldId id="1059" r:id="rId48"/>
    <p:sldId id="1003" r:id="rId49"/>
    <p:sldId id="1071" r:id="rId50"/>
    <p:sldId id="916" r:id="rId51"/>
  </p:sldIdLst>
  <p:sldSz cx="12192000" cy="6858000"/>
  <p:notesSz cx="6811963" cy="9945688"/>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266">
          <p15:clr>
            <a:srgbClr val="A4A3A4"/>
          </p15:clr>
        </p15:guide>
        <p15:guide id="2" pos="381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9900"/>
    <a:srgbClr val="A3D6D9"/>
    <a:srgbClr val="004586"/>
    <a:srgbClr val="00B0F0"/>
    <a:srgbClr val="0066CC"/>
    <a:srgbClr val="0070C0"/>
    <a:srgbClr val="DFF1F2"/>
    <a:srgbClr val="1C2948"/>
    <a:srgbClr val="FBBC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01" autoAdjust="0"/>
    <p:restoredTop sz="84491" autoAdjust="0"/>
  </p:normalViewPr>
  <p:slideViewPr>
    <p:cSldViewPr snapToGrid="0">
      <p:cViewPr varScale="1">
        <p:scale>
          <a:sx n="133" d="100"/>
          <a:sy n="133" d="100"/>
        </p:scale>
        <p:origin x="680" y="76"/>
      </p:cViewPr>
      <p:guideLst>
        <p:guide orient="horz" pos="2266"/>
        <p:guide pos="3814"/>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52054" cy="496744"/>
          </a:xfrm>
          <a:prstGeom prst="rect">
            <a:avLst/>
          </a:prstGeom>
        </p:spPr>
        <p:txBody>
          <a:bodyPr vert="horz" lIns="88395" tIns="44198" rIns="88395" bIns="44198" rtlCol="0"/>
          <a:lstStyle>
            <a:lvl1pPr algn="l">
              <a:defRPr sz="1200"/>
            </a:lvl1pPr>
          </a:lstStyle>
          <a:p>
            <a:endParaRPr lang="zh-CN" altLang="en-US"/>
          </a:p>
        </p:txBody>
      </p:sp>
      <p:sp>
        <p:nvSpPr>
          <p:cNvPr id="3" name="日期占位符 2"/>
          <p:cNvSpPr>
            <a:spLocks noGrp="1"/>
          </p:cNvSpPr>
          <p:nvPr>
            <p:ph type="dt" sz="quarter" idx="1"/>
          </p:nvPr>
        </p:nvSpPr>
        <p:spPr>
          <a:xfrm>
            <a:off x="3858387" y="1"/>
            <a:ext cx="2952054" cy="496744"/>
          </a:xfrm>
          <a:prstGeom prst="rect">
            <a:avLst/>
          </a:prstGeom>
        </p:spPr>
        <p:txBody>
          <a:bodyPr vert="horz" lIns="88395" tIns="44198" rIns="88395" bIns="44198" rtlCol="0"/>
          <a:lstStyle>
            <a:lvl1pPr algn="r">
              <a:defRPr sz="1200"/>
            </a:lvl1pPr>
          </a:lstStyle>
          <a:p>
            <a:fld id="{33F7A549-B379-4C34-825B-70BFB0F88B3A}" type="datetimeFigureOut">
              <a:rPr lang="zh-CN" altLang="en-US" smtClean="0"/>
              <a:t>2022-12-03</a:t>
            </a:fld>
            <a:endParaRPr lang="zh-CN" altLang="en-US"/>
          </a:p>
        </p:txBody>
      </p:sp>
      <p:sp>
        <p:nvSpPr>
          <p:cNvPr id="4" name="页脚占位符 3"/>
          <p:cNvSpPr>
            <a:spLocks noGrp="1"/>
          </p:cNvSpPr>
          <p:nvPr>
            <p:ph type="ftr" sz="quarter" idx="2"/>
          </p:nvPr>
        </p:nvSpPr>
        <p:spPr>
          <a:xfrm>
            <a:off x="0" y="9447401"/>
            <a:ext cx="2952054" cy="496744"/>
          </a:xfrm>
          <a:prstGeom prst="rect">
            <a:avLst/>
          </a:prstGeom>
        </p:spPr>
        <p:txBody>
          <a:bodyPr vert="horz" lIns="88395" tIns="44198" rIns="88395" bIns="44198"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8387" y="9447401"/>
            <a:ext cx="2952054" cy="496744"/>
          </a:xfrm>
          <a:prstGeom prst="rect">
            <a:avLst/>
          </a:prstGeom>
        </p:spPr>
        <p:txBody>
          <a:bodyPr vert="horz" lIns="88395" tIns="44198" rIns="88395" bIns="44198" rtlCol="0" anchor="b"/>
          <a:lstStyle>
            <a:lvl1pPr algn="r">
              <a:defRPr sz="1200"/>
            </a:lvl1pPr>
          </a:lstStyle>
          <a:p>
            <a:fld id="{2EC52559-07F0-4EB5-B465-6612A229963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3" name="Rectangle 3"/>
          <p:cNvSpPr>
            <a:spLocks noGrp="1" noChangeArrowheads="1"/>
          </p:cNvSpPr>
          <p:nvPr>
            <p:ph type="dt" idx="1"/>
          </p:nvPr>
        </p:nvSpPr>
        <p:spPr bwMode="auto">
          <a:xfrm>
            <a:off x="3858537"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algn="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2075" y="746125"/>
            <a:ext cx="6627813" cy="372903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5" name="Rectangle 5"/>
          <p:cNvSpPr>
            <a:spLocks noGrp="1" noChangeArrowheads="1"/>
          </p:cNvSpPr>
          <p:nvPr>
            <p:ph type="body" sz="quarter" idx="3"/>
          </p:nvPr>
        </p:nvSpPr>
        <p:spPr bwMode="auto">
          <a:xfrm>
            <a:off x="681197" y="4724202"/>
            <a:ext cx="5449570" cy="4475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p:cNvSpPr>
            <a:spLocks noGrp="1" noChangeArrowheads="1"/>
          </p:cNvSpPr>
          <p:nvPr>
            <p:ph type="ftr" sz="quarter" idx="4"/>
          </p:nvPr>
        </p:nvSpPr>
        <p:spPr bwMode="auto">
          <a:xfrm>
            <a:off x="1"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7" name="Rectangle 7"/>
          <p:cNvSpPr>
            <a:spLocks noGrp="1" noChangeArrowheads="1"/>
          </p:cNvSpPr>
          <p:nvPr>
            <p:ph type="sldNum" sz="quarter" idx="5"/>
          </p:nvPr>
        </p:nvSpPr>
        <p:spPr bwMode="auto">
          <a:xfrm>
            <a:off x="3858537"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algn="r" eaLnBrk="1" hangingPunct="1">
              <a:defRPr sz="1300" smtClean="0">
                <a:ea typeface="宋体" panose="02010600030101010101" pitchFamily="2" charset="-122"/>
              </a:defRPr>
            </a:lvl1pPr>
          </a:lstStyle>
          <a:p>
            <a:pPr>
              <a:defRPr/>
            </a:pPr>
            <a:fld id="{6020F7E6-B6AB-4685-9920-66673A4976C0}"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2</a:t>
            </a:fld>
            <a:endParaRPr lang="en-US" altLang="zh-CN"/>
          </a:p>
        </p:txBody>
      </p:sp>
    </p:spTree>
    <p:extLst>
      <p:ext uri="{BB962C8B-B14F-4D97-AF65-F5344CB8AC3E}">
        <p14:creationId xmlns:p14="http://schemas.microsoft.com/office/powerpoint/2010/main" val="4050522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3</a:t>
            </a:fld>
            <a:endParaRPr lang="en-US" altLang="zh-CN"/>
          </a:p>
        </p:txBody>
      </p:sp>
    </p:spTree>
    <p:extLst>
      <p:ext uri="{BB962C8B-B14F-4D97-AF65-F5344CB8AC3E}">
        <p14:creationId xmlns:p14="http://schemas.microsoft.com/office/powerpoint/2010/main" val="437479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4</a:t>
            </a:fld>
            <a:endParaRPr lang="en-US" altLang="zh-CN"/>
          </a:p>
        </p:txBody>
      </p:sp>
    </p:spTree>
    <p:extLst>
      <p:ext uri="{BB962C8B-B14F-4D97-AF65-F5344CB8AC3E}">
        <p14:creationId xmlns:p14="http://schemas.microsoft.com/office/powerpoint/2010/main" val="508335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5</a:t>
            </a:fld>
            <a:endParaRPr lang="zh-CN" altLang="en-US"/>
          </a:p>
        </p:txBody>
      </p:sp>
    </p:spTree>
    <p:extLst>
      <p:ext uri="{BB962C8B-B14F-4D97-AF65-F5344CB8AC3E}">
        <p14:creationId xmlns:p14="http://schemas.microsoft.com/office/powerpoint/2010/main" val="2736582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6</a:t>
            </a:fld>
            <a:endParaRPr lang="zh-CN" altLang="en-US"/>
          </a:p>
        </p:txBody>
      </p:sp>
    </p:spTree>
    <p:extLst>
      <p:ext uri="{BB962C8B-B14F-4D97-AF65-F5344CB8AC3E}">
        <p14:creationId xmlns:p14="http://schemas.microsoft.com/office/powerpoint/2010/main" val="1574913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7</a:t>
            </a:fld>
            <a:endParaRPr lang="zh-CN" altLang="en-US"/>
          </a:p>
        </p:txBody>
      </p:sp>
    </p:spTree>
    <p:extLst>
      <p:ext uri="{BB962C8B-B14F-4D97-AF65-F5344CB8AC3E}">
        <p14:creationId xmlns:p14="http://schemas.microsoft.com/office/powerpoint/2010/main" val="35207669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8</a:t>
            </a:fld>
            <a:endParaRPr lang="zh-CN" altLang="en-US"/>
          </a:p>
        </p:txBody>
      </p:sp>
    </p:spTree>
    <p:extLst>
      <p:ext uri="{BB962C8B-B14F-4D97-AF65-F5344CB8AC3E}">
        <p14:creationId xmlns:p14="http://schemas.microsoft.com/office/powerpoint/2010/main" val="3793608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9</a:t>
            </a:fld>
            <a:endParaRPr lang="zh-CN" altLang="en-US"/>
          </a:p>
        </p:txBody>
      </p:sp>
    </p:spTree>
    <p:extLst>
      <p:ext uri="{BB962C8B-B14F-4D97-AF65-F5344CB8AC3E}">
        <p14:creationId xmlns:p14="http://schemas.microsoft.com/office/powerpoint/2010/main" val="2315789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10</a:t>
            </a:fld>
            <a:endParaRPr lang="en-US" altLang="zh-CN"/>
          </a:p>
        </p:txBody>
      </p:sp>
    </p:spTree>
    <p:extLst>
      <p:ext uri="{BB962C8B-B14F-4D97-AF65-F5344CB8AC3E}">
        <p14:creationId xmlns:p14="http://schemas.microsoft.com/office/powerpoint/2010/main" val="4016653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11</a:t>
            </a:fld>
            <a:endParaRPr lang="en-US" altLang="zh-CN"/>
          </a:p>
        </p:txBody>
      </p:sp>
    </p:spTree>
    <p:extLst>
      <p:ext uri="{BB962C8B-B14F-4D97-AF65-F5344CB8AC3E}">
        <p14:creationId xmlns:p14="http://schemas.microsoft.com/office/powerpoint/2010/main" val="3527751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12</a:t>
            </a:fld>
            <a:endParaRPr lang="en-US" altLang="zh-CN"/>
          </a:p>
        </p:txBody>
      </p:sp>
    </p:spTree>
    <p:extLst>
      <p:ext uri="{BB962C8B-B14F-4D97-AF65-F5344CB8AC3E}">
        <p14:creationId xmlns:p14="http://schemas.microsoft.com/office/powerpoint/2010/main" val="14120252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13</a:t>
            </a:fld>
            <a:endParaRPr lang="en-US" altLang="zh-CN"/>
          </a:p>
        </p:txBody>
      </p:sp>
    </p:spTree>
    <p:extLst>
      <p:ext uri="{BB962C8B-B14F-4D97-AF65-F5344CB8AC3E}">
        <p14:creationId xmlns:p14="http://schemas.microsoft.com/office/powerpoint/2010/main" val="3620600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14</a:t>
            </a:fld>
            <a:endParaRPr lang="en-US" altLang="zh-CN"/>
          </a:p>
        </p:txBody>
      </p:sp>
    </p:spTree>
    <p:extLst>
      <p:ext uri="{BB962C8B-B14F-4D97-AF65-F5344CB8AC3E}">
        <p14:creationId xmlns:p14="http://schemas.microsoft.com/office/powerpoint/2010/main" val="39639557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15</a:t>
            </a:fld>
            <a:endParaRPr lang="en-US" altLang="zh-CN"/>
          </a:p>
        </p:txBody>
      </p:sp>
    </p:spTree>
    <p:extLst>
      <p:ext uri="{BB962C8B-B14F-4D97-AF65-F5344CB8AC3E}">
        <p14:creationId xmlns:p14="http://schemas.microsoft.com/office/powerpoint/2010/main" val="9918310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18</a:t>
            </a:fld>
            <a:endParaRPr lang="en-US" altLang="zh-CN"/>
          </a:p>
        </p:txBody>
      </p:sp>
    </p:spTree>
    <p:extLst>
      <p:ext uri="{BB962C8B-B14F-4D97-AF65-F5344CB8AC3E}">
        <p14:creationId xmlns:p14="http://schemas.microsoft.com/office/powerpoint/2010/main" val="4159258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20</a:t>
            </a:fld>
            <a:endParaRPr lang="en-US" altLang="zh-CN"/>
          </a:p>
        </p:txBody>
      </p:sp>
    </p:spTree>
    <p:extLst>
      <p:ext uri="{BB962C8B-B14F-4D97-AF65-F5344CB8AC3E}">
        <p14:creationId xmlns:p14="http://schemas.microsoft.com/office/powerpoint/2010/main" val="25882373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22</a:t>
            </a:fld>
            <a:endParaRPr lang="en-US" altLang="zh-CN"/>
          </a:p>
        </p:txBody>
      </p:sp>
    </p:spTree>
    <p:extLst>
      <p:ext uri="{BB962C8B-B14F-4D97-AF65-F5344CB8AC3E}">
        <p14:creationId xmlns:p14="http://schemas.microsoft.com/office/powerpoint/2010/main" val="26946009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23</a:t>
            </a:fld>
            <a:endParaRPr lang="en-US" altLang="zh-CN"/>
          </a:p>
        </p:txBody>
      </p:sp>
    </p:spTree>
    <p:extLst>
      <p:ext uri="{BB962C8B-B14F-4D97-AF65-F5344CB8AC3E}">
        <p14:creationId xmlns:p14="http://schemas.microsoft.com/office/powerpoint/2010/main" val="26062516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24</a:t>
            </a:fld>
            <a:endParaRPr lang="zh-CN" altLang="en-US"/>
          </a:p>
        </p:txBody>
      </p:sp>
    </p:spTree>
    <p:extLst>
      <p:ext uri="{BB962C8B-B14F-4D97-AF65-F5344CB8AC3E}">
        <p14:creationId xmlns:p14="http://schemas.microsoft.com/office/powerpoint/2010/main" val="31572487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25</a:t>
            </a:fld>
            <a:endParaRPr lang="en-US" altLang="zh-CN"/>
          </a:p>
        </p:txBody>
      </p:sp>
    </p:spTree>
    <p:extLst>
      <p:ext uri="{BB962C8B-B14F-4D97-AF65-F5344CB8AC3E}">
        <p14:creationId xmlns:p14="http://schemas.microsoft.com/office/powerpoint/2010/main" val="39718279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26</a:t>
            </a:fld>
            <a:endParaRPr lang="en-US" altLang="zh-CN"/>
          </a:p>
        </p:txBody>
      </p:sp>
    </p:spTree>
    <p:extLst>
      <p:ext uri="{BB962C8B-B14F-4D97-AF65-F5344CB8AC3E}">
        <p14:creationId xmlns:p14="http://schemas.microsoft.com/office/powerpoint/2010/main" val="36209940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30</a:t>
            </a:fld>
            <a:endParaRPr lang="en-US" altLang="zh-CN"/>
          </a:p>
        </p:txBody>
      </p:sp>
    </p:spTree>
    <p:extLst>
      <p:ext uri="{BB962C8B-B14F-4D97-AF65-F5344CB8AC3E}">
        <p14:creationId xmlns:p14="http://schemas.microsoft.com/office/powerpoint/2010/main" val="14917287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35</a:t>
            </a:fld>
            <a:endParaRPr lang="en-US" altLang="zh-CN"/>
          </a:p>
        </p:txBody>
      </p:sp>
    </p:spTree>
    <p:extLst>
      <p:ext uri="{BB962C8B-B14F-4D97-AF65-F5344CB8AC3E}">
        <p14:creationId xmlns:p14="http://schemas.microsoft.com/office/powerpoint/2010/main" val="24325757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36</a:t>
            </a:fld>
            <a:endParaRPr lang="en-US" altLang="zh-CN"/>
          </a:p>
        </p:txBody>
      </p:sp>
    </p:spTree>
    <p:extLst>
      <p:ext uri="{BB962C8B-B14F-4D97-AF65-F5344CB8AC3E}">
        <p14:creationId xmlns:p14="http://schemas.microsoft.com/office/powerpoint/2010/main" val="21735499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37</a:t>
            </a:fld>
            <a:endParaRPr lang="en-US" altLang="zh-CN"/>
          </a:p>
        </p:txBody>
      </p:sp>
    </p:spTree>
    <p:extLst>
      <p:ext uri="{BB962C8B-B14F-4D97-AF65-F5344CB8AC3E}">
        <p14:creationId xmlns:p14="http://schemas.microsoft.com/office/powerpoint/2010/main" val="29540391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38</a:t>
            </a:fld>
            <a:endParaRPr lang="en-US" altLang="zh-CN"/>
          </a:p>
        </p:txBody>
      </p:sp>
    </p:spTree>
    <p:extLst>
      <p:ext uri="{BB962C8B-B14F-4D97-AF65-F5344CB8AC3E}">
        <p14:creationId xmlns:p14="http://schemas.microsoft.com/office/powerpoint/2010/main" val="34508439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39</a:t>
            </a:fld>
            <a:endParaRPr lang="en-US" altLang="zh-CN"/>
          </a:p>
        </p:txBody>
      </p:sp>
    </p:spTree>
    <p:extLst>
      <p:ext uri="{BB962C8B-B14F-4D97-AF65-F5344CB8AC3E}">
        <p14:creationId xmlns:p14="http://schemas.microsoft.com/office/powerpoint/2010/main" val="34396480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https://zhuanlan.zhihu.com/p/149522630</a:t>
            </a:r>
          </a:p>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40</a:t>
            </a:fld>
            <a:endParaRPr lang="en-US" altLang="zh-CN"/>
          </a:p>
        </p:txBody>
      </p:sp>
    </p:spTree>
    <p:extLst>
      <p:ext uri="{BB962C8B-B14F-4D97-AF65-F5344CB8AC3E}">
        <p14:creationId xmlns:p14="http://schemas.microsoft.com/office/powerpoint/2010/main" val="15779623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41</a:t>
            </a:fld>
            <a:endParaRPr lang="en-US" altLang="zh-CN"/>
          </a:p>
        </p:txBody>
      </p:sp>
    </p:spTree>
    <p:extLst>
      <p:ext uri="{BB962C8B-B14F-4D97-AF65-F5344CB8AC3E}">
        <p14:creationId xmlns:p14="http://schemas.microsoft.com/office/powerpoint/2010/main" val="21755245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42</a:t>
            </a:fld>
            <a:endParaRPr lang="en-US" altLang="zh-CN"/>
          </a:p>
        </p:txBody>
      </p:sp>
    </p:spTree>
    <p:extLst>
      <p:ext uri="{BB962C8B-B14F-4D97-AF65-F5344CB8AC3E}">
        <p14:creationId xmlns:p14="http://schemas.microsoft.com/office/powerpoint/2010/main" val="30014106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43</a:t>
            </a:fld>
            <a:endParaRPr lang="en-US" altLang="zh-CN"/>
          </a:p>
        </p:txBody>
      </p:sp>
    </p:spTree>
    <p:extLst>
      <p:ext uri="{BB962C8B-B14F-4D97-AF65-F5344CB8AC3E}">
        <p14:creationId xmlns:p14="http://schemas.microsoft.com/office/powerpoint/2010/main" val="36040617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这里为了对比的更加清楚，我们先来看一下 </a:t>
            </a:r>
            <a:r>
              <a:rPr lang="en-US" altLang="zh-CN" dirty="0" err="1"/>
              <a:t>xgboost</a:t>
            </a:r>
            <a:r>
              <a:rPr lang="zh-CN" altLang="en-US" dirty="0"/>
              <a:t>的预排序算法那是怎么确定候选分裂点的，首先是按照特征的大小进行从小到大排序，然后在每个不同值的地方画一个分裂点，看下图</a:t>
            </a:r>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44</a:t>
            </a:fld>
            <a:endParaRPr lang="en-US" altLang="zh-CN"/>
          </a:p>
        </p:txBody>
      </p:sp>
    </p:spTree>
    <p:extLst>
      <p:ext uri="{BB962C8B-B14F-4D97-AF65-F5344CB8AC3E}">
        <p14:creationId xmlns:p14="http://schemas.microsoft.com/office/powerpoint/2010/main" val="7325235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45</a:t>
            </a:fld>
            <a:endParaRPr lang="en-US" altLang="zh-CN"/>
          </a:p>
        </p:txBody>
      </p:sp>
    </p:spTree>
    <p:extLst>
      <p:ext uri="{BB962C8B-B14F-4D97-AF65-F5344CB8AC3E}">
        <p14:creationId xmlns:p14="http://schemas.microsoft.com/office/powerpoint/2010/main" val="31836072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46</a:t>
            </a:fld>
            <a:endParaRPr lang="en-US" altLang="zh-CN"/>
          </a:p>
        </p:txBody>
      </p:sp>
    </p:spTree>
    <p:extLst>
      <p:ext uri="{BB962C8B-B14F-4D97-AF65-F5344CB8AC3E}">
        <p14:creationId xmlns:p14="http://schemas.microsoft.com/office/powerpoint/2010/main" val="25628289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47</a:t>
            </a:fld>
            <a:endParaRPr lang="en-US" altLang="zh-CN"/>
          </a:p>
        </p:txBody>
      </p:sp>
    </p:spTree>
    <p:extLst>
      <p:ext uri="{BB962C8B-B14F-4D97-AF65-F5344CB8AC3E}">
        <p14:creationId xmlns:p14="http://schemas.microsoft.com/office/powerpoint/2010/main" val="31300482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50</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609600" y="1600203"/>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36567" y="222253"/>
            <a:ext cx="2880784" cy="59039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94219" y="222253"/>
            <a:ext cx="8439149" cy="590391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表格占位符 2"/>
          <p:cNvSpPr>
            <a:spLocks noGrp="1"/>
          </p:cNvSpPr>
          <p:nvPr>
            <p:ph type="tbl" idx="1"/>
          </p:nvPr>
        </p:nvSpPr>
        <p:spPr>
          <a:xfrm>
            <a:off x="609600" y="1600201"/>
            <a:ext cx="10972800" cy="4530725"/>
          </a:xfrm>
        </p:spPr>
        <p:txBody>
          <a:bodyPr/>
          <a:lstStyle/>
          <a:p>
            <a:pPr lvl="0"/>
            <a:endParaRPr lang="zh-CN" altLang="en-US" noProof="0"/>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fld id="{18A54C05-12C6-4ED5-8C42-25DA65BDDB23}" type="slidenum">
              <a:rPr lang="en-US" altLang="zh-CN"/>
              <a:pPr/>
              <a:t>‹#›</a:t>
            </a:fld>
            <a:endParaRPr lang="en-US" altLang="zh-CN"/>
          </a:p>
        </p:txBody>
      </p:sp>
    </p:spTree>
    <p:extLst>
      <p:ext uri="{BB962C8B-B14F-4D97-AF65-F5344CB8AC3E}">
        <p14:creationId xmlns:p14="http://schemas.microsoft.com/office/powerpoint/2010/main" val="4000605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userDrawn="1"/>
        </p:nvSpPr>
        <p:spPr bwMode="auto">
          <a:xfrm>
            <a:off x="0" y="1000125"/>
            <a:ext cx="646113" cy="261938"/>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7" name="Rectangle 10"/>
          <p:cNvSpPr>
            <a:spLocks noChangeArrowheads="1"/>
          </p:cNvSpPr>
          <p:nvPr userDrawn="1"/>
        </p:nvSpPr>
        <p:spPr bwMode="auto">
          <a:xfrm>
            <a:off x="703263" y="996950"/>
            <a:ext cx="11488737" cy="261938"/>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8" name="Text Box 11"/>
          <p:cNvSpPr txBox="1">
            <a:spLocks noChangeArrowheads="1"/>
          </p:cNvSpPr>
          <p:nvPr userDrawn="1"/>
        </p:nvSpPr>
        <p:spPr bwMode="auto">
          <a:xfrm>
            <a:off x="261938" y="963613"/>
            <a:ext cx="403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微软雅黑" panose="020B0503020204020204" pitchFamily="34" charset="-122"/>
              </a:defRPr>
            </a:lvl1pPr>
            <a:lvl2pPr marL="742950" indent="-285750">
              <a:defRPr sz="2400">
                <a:solidFill>
                  <a:schemeClr val="tx1"/>
                </a:solidFill>
                <a:latin typeface="Arial" panose="020B0604020202020204" pitchFamily="34" charset="0"/>
                <a:ea typeface="微软雅黑" panose="020B0503020204020204" pitchFamily="34" charset="-122"/>
              </a:defRPr>
            </a:lvl2pPr>
            <a:lvl3pPr marL="1143000" indent="-228600">
              <a:defRPr sz="2400">
                <a:solidFill>
                  <a:schemeClr val="tx1"/>
                </a:solidFill>
                <a:latin typeface="Arial" panose="020B0604020202020204" pitchFamily="34" charset="0"/>
                <a:ea typeface="微软雅黑" panose="020B0503020204020204" pitchFamily="34" charset="-122"/>
              </a:defRPr>
            </a:lvl3pPr>
            <a:lvl4pPr marL="1600200" indent="-228600">
              <a:defRPr sz="2400">
                <a:solidFill>
                  <a:schemeClr val="tx1"/>
                </a:solidFill>
                <a:latin typeface="Arial" panose="020B0604020202020204" pitchFamily="34" charset="0"/>
                <a:ea typeface="微软雅黑" panose="020B0503020204020204" pitchFamily="34" charset="-122"/>
              </a:defRPr>
            </a:lvl4pPr>
            <a:lvl5pPr marL="2057400" indent="-22860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algn="r" eaLnBrk="1" hangingPunct="1">
              <a:defRPr/>
            </a:pPr>
            <a:fld id="{679EA1FA-98DD-462E-800D-6ADA9E20B4EE}" type="slidenum">
              <a:rPr lang="en-US" altLang="zh-CN" sz="1400" b="1" smtClean="0">
                <a:solidFill>
                  <a:schemeClr val="bg1"/>
                </a:solidFill>
                <a:ea typeface="宋体" panose="02010600030101010101" pitchFamily="2" charset="-122"/>
              </a:rPr>
              <a:t>‹#›</a:t>
            </a:fld>
            <a:endParaRPr lang="en-US" altLang="zh-CN" sz="1400" b="1">
              <a:solidFill>
                <a:schemeClr val="bg1"/>
              </a:solidFill>
              <a:ea typeface="宋体" panose="02010600030101010101" pitchFamily="2" charset="-122"/>
            </a:endParaRPr>
          </a:p>
        </p:txBody>
      </p:sp>
      <p:sp>
        <p:nvSpPr>
          <p:cNvPr id="1029" name="Rectangle 12"/>
          <p:cNvSpPr>
            <a:spLocks noGrp="1" noChangeArrowheads="1"/>
          </p:cNvSpPr>
          <p:nvPr>
            <p:ph type="title"/>
          </p:nvPr>
        </p:nvSpPr>
        <p:spPr bwMode="auto">
          <a:xfrm>
            <a:off x="293688" y="222250"/>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p:titleStyle>
    <p:bodyStyle>
      <a:lvl1pPr marL="341630" indent="-341630" algn="l" rtl="0" eaLnBrk="0" fontAlgn="base" hangingPunct="0">
        <a:spcBef>
          <a:spcPct val="20000"/>
        </a:spcBef>
        <a:spcAft>
          <a:spcPct val="0"/>
        </a:spcAft>
        <a:buChar char="•"/>
        <a:defRPr sz="3200">
          <a:solidFill>
            <a:schemeClr val="tx1"/>
          </a:solidFill>
          <a:latin typeface="+mn-lt"/>
          <a:ea typeface="+mn-ea"/>
          <a:cs typeface="+mn-cs"/>
        </a:defRPr>
      </a:lvl1pPr>
      <a:lvl2pPr marL="741680" indent="-284480" algn="l" rtl="0" eaLnBrk="0" fontAlgn="base" hangingPunct="0">
        <a:spcBef>
          <a:spcPct val="20000"/>
        </a:spcBef>
        <a:spcAft>
          <a:spcPct val="0"/>
        </a:spcAft>
        <a:buChar char="–"/>
        <a:defRPr sz="2800">
          <a:solidFill>
            <a:schemeClr val="tx1"/>
          </a:solidFill>
          <a:latin typeface="+mn-lt"/>
          <a:ea typeface="+mn-ea"/>
        </a:defRPr>
      </a:lvl2pPr>
      <a:lvl3pPr marL="1141730" indent="-227330" algn="l" rtl="0" eaLnBrk="0" fontAlgn="base" hangingPunct="0">
        <a:spcBef>
          <a:spcPct val="20000"/>
        </a:spcBef>
        <a:spcAft>
          <a:spcPct val="0"/>
        </a:spcAft>
        <a:buChar char="•"/>
        <a:defRPr sz="2400">
          <a:solidFill>
            <a:schemeClr val="tx1"/>
          </a:solidFill>
          <a:latin typeface="+mn-lt"/>
          <a:ea typeface="+mn-ea"/>
        </a:defRPr>
      </a:lvl3pPr>
      <a:lvl4pPr marL="1598930" indent="-227330" algn="l" rtl="0" eaLnBrk="0" fontAlgn="base" hangingPunct="0">
        <a:spcBef>
          <a:spcPct val="20000"/>
        </a:spcBef>
        <a:spcAft>
          <a:spcPct val="0"/>
        </a:spcAft>
        <a:buChar char="–"/>
        <a:defRPr sz="2000">
          <a:solidFill>
            <a:schemeClr val="tx1"/>
          </a:solidFill>
          <a:latin typeface="+mn-lt"/>
          <a:ea typeface="+mn-ea"/>
        </a:defRPr>
      </a:lvl4pPr>
      <a:lvl5pPr marL="2056130" indent="-22733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3.png"/><Relationship Id="rId3" Type="http://schemas.openxmlformats.org/officeDocument/2006/relationships/image" Target="../media/image3.jpg"/><Relationship Id="rId7" Type="http://schemas.openxmlformats.org/officeDocument/2006/relationships/image" Target="../media/image6.png"/><Relationship Id="rId12" Type="http://schemas.openxmlformats.org/officeDocument/2006/relationships/image" Target="../media/image12.png"/><Relationship Id="rId2" Type="http://schemas.openxmlformats.org/officeDocument/2006/relationships/notesSlide" Target="../notesSlides/notesSlide16.xml"/><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1.png"/><Relationship Id="rId5" Type="http://schemas.openxmlformats.org/officeDocument/2006/relationships/image" Target="../media/image4.png"/><Relationship Id="rId15" Type="http://schemas.openxmlformats.org/officeDocument/2006/relationships/image" Target="../media/image15.png"/><Relationship Id="rId10" Type="http://schemas.openxmlformats.org/officeDocument/2006/relationships/image" Target="../media/image9.png"/><Relationship Id="rId4" Type="http://schemas.openxmlformats.org/officeDocument/2006/relationships/hyperlink" Target="https://www.hippopx.com/zh/golfer-golfing-golf-swing-lefty-left-handed-man-golf-ball-350675" TargetMode="External"/><Relationship Id="rId9" Type="http://schemas.openxmlformats.org/officeDocument/2006/relationships/image" Target="../media/image8.png"/><Relationship Id="rId14" Type="http://schemas.openxmlformats.org/officeDocument/2006/relationships/image" Target="../media/image14.png"/></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21.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png"/><Relationship Id="rId7"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90.png"/><Relationship Id="rId7"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9" Type="http://schemas.openxmlformats.org/officeDocument/2006/relationships/image" Target="../media/image59.png"/></Relationships>
</file>

<file path=ppt/slides/_rels/slide23.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42.png"/><Relationship Id="rId7" Type="http://schemas.openxmlformats.org/officeDocument/2006/relationships/image" Target="../media/image7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740.png"/><Relationship Id="rId5" Type="http://schemas.openxmlformats.org/officeDocument/2006/relationships/image" Target="../media/image44.png"/><Relationship Id="rId10" Type="http://schemas.openxmlformats.org/officeDocument/2006/relationships/image" Target="../media/image46.png"/><Relationship Id="rId4" Type="http://schemas.openxmlformats.org/officeDocument/2006/relationships/image" Target="../media/image43.png"/><Relationship Id="rId9" Type="http://schemas.openxmlformats.org/officeDocument/2006/relationships/image" Target="../media/image720.png"/></Relationships>
</file>

<file path=ppt/slides/_rels/slide24.xml.rels><?xml version="1.0" encoding="UTF-8" standalone="yes"?>
<Relationships xmlns="http://schemas.openxmlformats.org/package/2006/relationships"><Relationship Id="rId3" Type="http://schemas.openxmlformats.org/officeDocument/2006/relationships/image" Target="../media/image75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770.png"/><Relationship Id="rId4" Type="http://schemas.openxmlformats.org/officeDocument/2006/relationships/image" Target="../media/image760.png"/></Relationships>
</file>

<file path=ppt/slides/_rels/slide25.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47.png"/><Relationship Id="rId7" Type="http://schemas.openxmlformats.org/officeDocument/2006/relationships/image" Target="../media/image6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65.png"/><Relationship Id="rId4" Type="http://schemas.openxmlformats.org/officeDocument/2006/relationships/image" Target="../media/image48.png"/><Relationship Id="rId9" Type="http://schemas.openxmlformats.org/officeDocument/2006/relationships/image" Target="../media/image6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66.png"/><Relationship Id="rId7" Type="http://schemas.openxmlformats.org/officeDocument/2006/relationships/image" Target="../media/image73.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68.png"/><Relationship Id="rId10" Type="http://schemas.openxmlformats.org/officeDocument/2006/relationships/image" Target="../media/image660.png"/><Relationship Id="rId4" Type="http://schemas.openxmlformats.org/officeDocument/2006/relationships/image" Target="../media/image69.png"/><Relationship Id="rId9" Type="http://schemas.openxmlformats.org/officeDocument/2006/relationships/image" Target="../media/image76.png"/></Relationships>
</file>

<file path=ppt/slides/_rels/slide29.xml.rels><?xml version="1.0" encoding="UTF-8" standalone="yes"?>
<Relationships xmlns="http://schemas.openxmlformats.org/package/2006/relationships"><Relationship Id="rId3" Type="http://schemas.openxmlformats.org/officeDocument/2006/relationships/image" Target="../media/image680.png"/><Relationship Id="rId7" Type="http://schemas.openxmlformats.org/officeDocument/2006/relationships/image" Target="../media/image82.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81.png"/><Relationship Id="rId5" Type="http://schemas.microsoft.com/office/2007/relationships/hdphoto" Target="../media/hdphoto1.wdp"/><Relationship Id="rId4" Type="http://schemas.openxmlformats.org/officeDocument/2006/relationships/image" Target="../media/image5.jpeg"/></Relationships>
</file>

<file path=ppt/slides/_rels/slide30.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77.png"/><Relationship Id="rId7" Type="http://schemas.openxmlformats.org/officeDocument/2006/relationships/image" Target="../media/image84.png"/><Relationship Id="rId12"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30.png"/><Relationship Id="rId11" Type="http://schemas.openxmlformats.org/officeDocument/2006/relationships/image" Target="../media/image78.png"/><Relationship Id="rId5" Type="http://schemas.openxmlformats.org/officeDocument/2006/relationships/image" Target="../media/image721.png"/><Relationship Id="rId10" Type="http://schemas.openxmlformats.org/officeDocument/2006/relationships/image" Target="../media/image87.png"/><Relationship Id="rId4" Type="http://schemas.openxmlformats.org/officeDocument/2006/relationships/image" Target="../media/image690.png"/><Relationship Id="rId9" Type="http://schemas.openxmlformats.org/officeDocument/2006/relationships/image" Target="../media/image741.png"/></Relationships>
</file>

<file path=ppt/slides/_rels/slide31.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 Id="rId9" Type="http://schemas.openxmlformats.org/officeDocument/2006/relationships/image" Target="../media/image95.png"/></Relationships>
</file>

<file path=ppt/slides/_rels/slide32.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6.jpeg"/><Relationship Id="rId7" Type="http://schemas.openxmlformats.org/officeDocument/2006/relationships/image" Target="../media/image8.jpeg"/><Relationship Id="rId2" Type="http://schemas.openxmlformats.org/officeDocument/2006/relationships/image" Target="../media/image97.png"/><Relationship Id="rId1" Type="http://schemas.openxmlformats.org/officeDocument/2006/relationships/slideLayout" Target="../slideLayouts/slideLayout2.xml"/><Relationship Id="rId6" Type="http://schemas.microsoft.com/office/2007/relationships/hdphoto" Target="../media/hdphoto3.wdp"/><Relationship Id="rId11" Type="http://schemas.openxmlformats.org/officeDocument/2006/relationships/image" Target="../media/image1190.png"/><Relationship Id="rId5" Type="http://schemas.openxmlformats.org/officeDocument/2006/relationships/image" Target="../media/image7.jpeg"/><Relationship Id="rId10" Type="http://schemas.microsoft.com/office/2007/relationships/hdphoto" Target="../media/hdphoto5.wdp"/><Relationship Id="rId4" Type="http://schemas.microsoft.com/office/2007/relationships/hdphoto" Target="../media/hdphoto2.wdp"/><Relationship Id="rId9" Type="http://schemas.openxmlformats.org/officeDocument/2006/relationships/image" Target="../media/image9.jpeg"/></Relationships>
</file>

<file path=ppt/slides/_rels/slide3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86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8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10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860.png"/></Relationships>
</file>

<file path=ppt/slides/_rels/slide44.xml.rels><?xml version="1.0" encoding="UTF-8" standalone="yes"?>
<Relationships xmlns="http://schemas.openxmlformats.org/package/2006/relationships"><Relationship Id="rId3" Type="http://schemas.openxmlformats.org/officeDocument/2006/relationships/image" Target="../media/image104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107.png"/></Relationships>
</file>

<file path=ppt/slides/_rels/slide4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18" Type="http://schemas.openxmlformats.org/officeDocument/2006/relationships/image" Target="../media/image133.png"/><Relationship Id="rId3" Type="http://schemas.openxmlformats.org/officeDocument/2006/relationships/image" Target="../media/image101.png"/><Relationship Id="rId21" Type="http://schemas.openxmlformats.org/officeDocument/2006/relationships/image" Target="../media/image136.png"/><Relationship Id="rId7" Type="http://schemas.openxmlformats.org/officeDocument/2006/relationships/image" Target="../media/image122.png"/><Relationship Id="rId12" Type="http://schemas.openxmlformats.org/officeDocument/2006/relationships/image" Target="../media/image127.png"/><Relationship Id="rId17" Type="http://schemas.openxmlformats.org/officeDocument/2006/relationships/image" Target="../media/image132.png"/><Relationship Id="rId2" Type="http://schemas.openxmlformats.org/officeDocument/2006/relationships/notesSlide" Target="../notesSlides/notesSlide35.xml"/><Relationship Id="rId16" Type="http://schemas.openxmlformats.org/officeDocument/2006/relationships/image" Target="../media/image131.png"/><Relationship Id="rId20"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image" Target="../media/image121.png"/><Relationship Id="rId11" Type="http://schemas.openxmlformats.org/officeDocument/2006/relationships/image" Target="../media/image126.png"/><Relationship Id="rId5" Type="http://schemas.openxmlformats.org/officeDocument/2006/relationships/image" Target="../media/image120.png"/><Relationship Id="rId15" Type="http://schemas.openxmlformats.org/officeDocument/2006/relationships/image" Target="../media/image130.png"/><Relationship Id="rId10" Type="http://schemas.openxmlformats.org/officeDocument/2006/relationships/image" Target="../media/image125.png"/><Relationship Id="rId19" Type="http://schemas.openxmlformats.org/officeDocument/2006/relationships/image" Target="../media/image134.png"/><Relationship Id="rId4" Type="http://schemas.openxmlformats.org/officeDocument/2006/relationships/image" Target="../media/image109.png"/><Relationship Id="rId9" Type="http://schemas.openxmlformats.org/officeDocument/2006/relationships/image" Target="../media/image124.png"/><Relationship Id="rId14" Type="http://schemas.openxmlformats.org/officeDocument/2006/relationships/image" Target="../media/image129.png"/><Relationship Id="rId22" Type="http://schemas.openxmlformats.org/officeDocument/2006/relationships/image" Target="../media/image13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温大钟楼"/>
          <p:cNvPicPr>
            <a:picLocks noChangeAspect="1"/>
          </p:cNvPicPr>
          <p:nvPr/>
        </p:nvPicPr>
        <p:blipFill>
          <a:blip r:embed="rId3"/>
          <a:srcRect t="15490" b="23685"/>
          <a:stretch>
            <a:fillRect/>
          </a:stretch>
        </p:blipFill>
        <p:spPr>
          <a:xfrm>
            <a:off x="0" y="0"/>
            <a:ext cx="12192000" cy="3002280"/>
          </a:xfrm>
          <a:prstGeom prst="rect">
            <a:avLst/>
          </a:prstGeom>
        </p:spPr>
      </p:pic>
      <p:sp>
        <p:nvSpPr>
          <p:cNvPr id="9230" name="矩形 13"/>
          <p:cNvSpPr>
            <a:spLocks noChangeArrowheads="1"/>
          </p:cNvSpPr>
          <p:nvPr/>
        </p:nvSpPr>
        <p:spPr bwMode="auto">
          <a:xfrm>
            <a:off x="5200631" y="4962165"/>
            <a:ext cx="2459990" cy="460375"/>
          </a:xfrm>
          <a:prstGeom prst="rect">
            <a:avLst/>
          </a:prstGeom>
          <a:noFill/>
          <a:ln w="9525">
            <a:noFill/>
            <a:miter lim="800000"/>
          </a:ln>
        </p:spPr>
        <p:txBody>
          <a:bodyPr wrap="square">
            <a:spAutoFit/>
          </a:bodyPr>
          <a:lstStyle/>
          <a:p>
            <a:pPr eaLnBrk="1" hangingPunct="1"/>
            <a:r>
              <a:rPr lang="en-US" altLang="zh-CN" sz="2400" b="1" dirty="0">
                <a:latin typeface="Times New Roman" panose="02020603050405020304" pitchFamily="18" charset="0"/>
                <a:ea typeface="微软雅黑" panose="020B0503020204020204" pitchFamily="34" charset="-122"/>
              </a:rPr>
              <a:t>2022</a:t>
            </a:r>
            <a:r>
              <a:rPr lang="zh-CN" altLang="en-US" sz="2400" b="1" dirty="0">
                <a:latin typeface="Times New Roman" panose="02020603050405020304" pitchFamily="18" charset="0"/>
                <a:ea typeface="微软雅黑" panose="020B0503020204020204" pitchFamily="34" charset="-122"/>
              </a:rPr>
              <a:t>年</a:t>
            </a:r>
            <a:r>
              <a:rPr lang="en-US" altLang="zh-CN" sz="2400" b="1" dirty="0">
                <a:latin typeface="Times New Roman" panose="02020603050405020304" pitchFamily="18" charset="0"/>
                <a:ea typeface="微软雅黑" panose="020B0503020204020204" pitchFamily="34" charset="-122"/>
              </a:rPr>
              <a:t>12</a:t>
            </a:r>
            <a:r>
              <a:rPr lang="zh-CN" altLang="zh-CN" sz="2400" b="1" dirty="0">
                <a:latin typeface="Times New Roman" panose="02020603050405020304" pitchFamily="18" charset="0"/>
                <a:ea typeface="微软雅黑" panose="020B0503020204020204" pitchFamily="34" charset="-122"/>
              </a:rPr>
              <a:t>月</a:t>
            </a:r>
          </a:p>
        </p:txBody>
      </p:sp>
      <p:sp>
        <p:nvSpPr>
          <p:cNvPr id="3074" name="Rectangle 2"/>
          <p:cNvSpPr>
            <a:spLocks noGrp="1" noChangeArrowheads="1"/>
          </p:cNvSpPr>
          <p:nvPr>
            <p:ph type="ctrTitle"/>
          </p:nvPr>
        </p:nvSpPr>
        <p:spPr>
          <a:xfrm>
            <a:off x="-1904" y="2668905"/>
            <a:ext cx="12199426" cy="2234691"/>
          </a:xfrm>
          <a:solidFill>
            <a:srgbClr val="0070C0"/>
          </a:solidFill>
          <a:effectLst>
            <a:outerShdw blurRad="50800" dist="38100" dir="2700000" algn="tl" rotWithShape="0">
              <a:prstClr val="black">
                <a:alpha val="40000"/>
              </a:prstClr>
            </a:outerShdw>
          </a:effectLst>
        </p:spPr>
        <p:txBody>
          <a:bodyPr/>
          <a:lstStyle/>
          <a:p>
            <a:pPr eaLnBrk="1" hangingPunct="1"/>
            <a:r>
              <a:rPr lang="zh-CN" altLang="en-US" sz="4800" dirty="0">
                <a:solidFill>
                  <a:schemeClr val="bg1"/>
                </a:solidFill>
                <a:latin typeface="微软雅黑" panose="020B0503020204020204" pitchFamily="34" charset="-122"/>
                <a:ea typeface="微软雅黑" panose="020B0503020204020204" pitchFamily="34" charset="-122"/>
                <a:sym typeface="+mn-ea"/>
              </a:rPr>
              <a:t>机器学习</a:t>
            </a:r>
            <a:r>
              <a:rPr lang="en-US" altLang="zh-CN" sz="4800" dirty="0">
                <a:solidFill>
                  <a:schemeClr val="bg1"/>
                </a:solidFill>
                <a:latin typeface="微软雅黑" panose="020B0503020204020204" pitchFamily="34" charset="-122"/>
                <a:ea typeface="微软雅黑" panose="020B0503020204020204" pitchFamily="34" charset="-122"/>
                <a:sym typeface="+mn-ea"/>
              </a:rPr>
              <a:t>-</a:t>
            </a:r>
            <a:r>
              <a:rPr lang="zh-CN" altLang="en-US" sz="4800" dirty="0">
                <a:solidFill>
                  <a:schemeClr val="bg1"/>
                </a:solidFill>
                <a:latin typeface="微软雅黑" panose="020B0503020204020204" pitchFamily="34" charset="-122"/>
                <a:ea typeface="微软雅黑" panose="020B0503020204020204" pitchFamily="34" charset="-122"/>
                <a:sym typeface="+mn-ea"/>
              </a:rPr>
              <a:t>集成学习</a:t>
            </a:r>
            <a:br>
              <a:rPr lang="en-US" altLang="zh-CN" sz="4800" dirty="0">
                <a:solidFill>
                  <a:schemeClr val="bg1"/>
                </a:solidFill>
                <a:latin typeface="微软雅黑" panose="020B0503020204020204" pitchFamily="34" charset="-122"/>
                <a:ea typeface="微软雅黑" panose="020B0503020204020204" pitchFamily="34" charset="-122"/>
                <a:sym typeface="+mn-ea"/>
              </a:rPr>
            </a:br>
            <a:br>
              <a:rPr lang="en-US" altLang="zh-CN" sz="4800" dirty="0">
                <a:solidFill>
                  <a:schemeClr val="bg1"/>
                </a:solidFill>
                <a:latin typeface="微软雅黑" panose="020B0503020204020204" pitchFamily="34" charset="-122"/>
                <a:ea typeface="微软雅黑" panose="020B0503020204020204" pitchFamily="34" charset="-122"/>
                <a:sym typeface="+mn-ea"/>
              </a:rPr>
            </a:br>
            <a:r>
              <a:rPr lang="zh-CN" altLang="en-US" sz="2400" dirty="0">
                <a:solidFill>
                  <a:schemeClr val="bg1"/>
                </a:solidFill>
                <a:latin typeface="微软雅黑" panose="020B0503020204020204" pitchFamily="34" charset="-122"/>
                <a:ea typeface="微软雅黑" panose="020B0503020204020204" pitchFamily="34" charset="-122"/>
                <a:sym typeface="+mn-ea"/>
              </a:rPr>
              <a:t>黄海广 副教授</a:t>
            </a:r>
            <a:endParaRPr lang="zh-CN" altLang="en-US" sz="2400" dirty="0">
              <a:solidFill>
                <a:schemeClr val="bg1"/>
              </a:solidFill>
              <a:latin typeface="+mj-ea"/>
            </a:endParaRPr>
          </a:p>
        </p:txBody>
      </p:sp>
      <p:pic>
        <p:nvPicPr>
          <p:cNvPr id="6" name="图片 5" descr="成品210x120mm 250g铜版纸单面打印各一张未转曲"/>
          <p:cNvPicPr>
            <a:picLocks noChangeAspect="1"/>
          </p:cNvPicPr>
          <p:nvPr/>
        </p:nvPicPr>
        <p:blipFill>
          <a:blip r:embed="rId4"/>
          <a:stretch>
            <a:fillRect/>
          </a:stretch>
        </p:blipFill>
        <p:spPr>
          <a:xfrm>
            <a:off x="516890" y="311785"/>
            <a:ext cx="2200910" cy="658495"/>
          </a:xfrm>
          <a:prstGeom prst="rect">
            <a:avLst/>
          </a:prstGeom>
          <a:effectLst>
            <a:outerShdw blurRad="50800" dist="38100" dir="2700000" algn="tl" rotWithShape="0">
              <a:schemeClr val="bg1">
                <a:alpha val="100000"/>
              </a:schemeClr>
            </a:outerShdw>
          </a:effectLst>
        </p:spPr>
      </p:pic>
    </p:spTree>
  </p:cSld>
  <p:clrMapOvr>
    <a:masterClrMapping/>
  </p:clrMapOvr>
  <mc:AlternateContent xmlns:mc="http://schemas.openxmlformats.org/markup-compatibility/2006" xmlns:p14="http://schemas.microsoft.com/office/powerpoint/2010/main">
    <mc:Choice Requires="p14">
      <p:transition spd="slow" p14:dur="999" advTm="7175"/>
    </mc:Choice>
    <mc:Fallback xmlns="">
      <p:transition spd="slow" advTm="717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本章目录</a:t>
            </a: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01 </a:t>
            </a:r>
            <a:r>
              <a:rPr lang="en-US" altLang="zh-CN" sz="4000" dirty="0">
                <a:latin typeface="Impact" pitchFamily="34" charset="0"/>
                <a:ea typeface="微软雅黑" pitchFamily="34" charset="-122"/>
              </a:rPr>
              <a:t> </a:t>
            </a:r>
            <a:r>
              <a:rPr lang="en-US" altLang="zh-CN" sz="3600" dirty="0">
                <a:latin typeface="Impact" pitchFamily="34" charset="0"/>
                <a:ea typeface="微软雅黑" pitchFamily="34" charset="-122"/>
              </a:rPr>
              <a:t>  </a:t>
            </a:r>
            <a:r>
              <a:rPr lang="zh-CN" altLang="en-US" sz="3600" dirty="0">
                <a:latin typeface="Impact" pitchFamily="34" charset="0"/>
                <a:ea typeface="微软雅黑" pitchFamily="34" charset="-122"/>
              </a:rPr>
              <a:t>集成学习方法概述</a:t>
            </a:r>
            <a:endParaRPr lang="en-US" altLang="zh-CN" sz="3600" dirty="0">
              <a:latin typeface="Impact" pitchFamily="34" charset="0"/>
              <a:ea typeface="微软雅黑"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02    AdaBoost</a:t>
            </a:r>
            <a:r>
              <a:rPr lang="zh-CN" altLang="en-US" sz="3600" dirty="0">
                <a:latin typeface="Impact" pitchFamily="34" charset="0"/>
                <a:ea typeface="微软雅黑" pitchFamily="34" charset="-122"/>
              </a:rPr>
              <a:t>和</a:t>
            </a:r>
            <a:r>
              <a:rPr lang="en-US" altLang="zh-CN" sz="3600" dirty="0">
                <a:latin typeface="Impact" pitchFamily="34" charset="0"/>
                <a:ea typeface="微软雅黑" pitchFamily="34" charset="-122"/>
              </a:rPr>
              <a:t>GBDT</a:t>
            </a:r>
            <a:r>
              <a:rPr lang="zh-CN" altLang="en-US" sz="3600" dirty="0">
                <a:latin typeface="Impact" pitchFamily="34" charset="0"/>
                <a:ea typeface="微软雅黑" pitchFamily="34" charset="-122"/>
              </a:rPr>
              <a:t>算法</a:t>
            </a: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03    </a:t>
            </a:r>
            <a:r>
              <a:rPr lang="en-US" altLang="zh-CN" sz="3600" dirty="0" err="1">
                <a:latin typeface="Impact" pitchFamily="34" charset="0"/>
                <a:ea typeface="微软雅黑" pitchFamily="34" charset="-122"/>
              </a:rPr>
              <a:t>XGBoost</a:t>
            </a:r>
            <a:endParaRPr lang="zh-CN" altLang="en-US" sz="3600" dirty="0">
              <a:latin typeface="Impact" pitchFamily="34" charset="0"/>
              <a:ea typeface="微软雅黑"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04    </a:t>
            </a:r>
            <a:r>
              <a:rPr lang="en-US" altLang="zh-CN" sz="3600" dirty="0" err="1">
                <a:latin typeface="Impact" pitchFamily="34" charset="0"/>
                <a:ea typeface="微软雅黑" pitchFamily="34" charset="-122"/>
              </a:rPr>
              <a:t>LightGBM</a:t>
            </a:r>
            <a:endParaRPr lang="zh-CN" altLang="en-US" sz="3600" dirty="0">
              <a:latin typeface="Impact" pitchFamily="34" charset="0"/>
              <a:ea typeface="微软雅黑" pitchFamily="34" charset="-122"/>
            </a:endParaRPr>
          </a:p>
        </p:txBody>
      </p:sp>
    </p:spTree>
    <p:extLst>
      <p:ext uri="{BB962C8B-B14F-4D97-AF65-F5344CB8AC3E}">
        <p14:creationId xmlns:p14="http://schemas.microsoft.com/office/powerpoint/2010/main" val="920164863"/>
      </p:ext>
    </p:extLst>
  </p:cSld>
  <p:clrMapOvr>
    <a:masterClrMapping/>
  </p:clrMapOvr>
  <p:transition advTm="800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a:extLst>
              <a:ext uri="{FF2B5EF4-FFF2-40B4-BE49-F238E27FC236}">
                <a16:creationId xmlns:a16="http://schemas.microsoft.com/office/drawing/2014/main" id="{CAE08E35-DEC9-4689-915B-1B27E7F9279D}"/>
              </a:ext>
            </a:extLst>
          </p:cNvPr>
          <p:cNvSpPr/>
          <p:nvPr/>
        </p:nvSpPr>
        <p:spPr>
          <a:xfrm>
            <a:off x="2691358" y="1892442"/>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集成学习方法概述</a:t>
            </a: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01 </a:t>
            </a:r>
            <a:r>
              <a:rPr lang="en-US" altLang="zh-CN" sz="4000" dirty="0">
                <a:solidFill>
                  <a:schemeClr val="bg1"/>
                </a:solidFill>
                <a:latin typeface="Impact" pitchFamily="34" charset="0"/>
                <a:ea typeface="微软雅黑" pitchFamily="34" charset="-122"/>
              </a:rPr>
              <a:t> </a:t>
            </a:r>
            <a:r>
              <a:rPr lang="en-US" altLang="zh-CN" sz="3600" dirty="0">
                <a:solidFill>
                  <a:schemeClr val="bg1"/>
                </a:solidFill>
                <a:latin typeface="Impact" pitchFamily="34" charset="0"/>
                <a:ea typeface="微软雅黑" pitchFamily="34" charset="-122"/>
              </a:rPr>
              <a:t>  </a:t>
            </a:r>
            <a:r>
              <a:rPr lang="zh-CN" altLang="en-US" sz="3600" dirty="0">
                <a:solidFill>
                  <a:schemeClr val="bg1"/>
                </a:solidFill>
                <a:latin typeface="Impact" pitchFamily="34" charset="0"/>
                <a:ea typeface="微软雅黑" pitchFamily="34" charset="-122"/>
              </a:rPr>
              <a:t>集成学习方法概述</a:t>
            </a:r>
            <a:endParaRPr lang="en-US" altLang="zh-CN" sz="3600" dirty="0">
              <a:solidFill>
                <a:schemeClr val="bg1"/>
              </a:solidFill>
              <a:latin typeface="Impact" pitchFamily="34" charset="0"/>
              <a:ea typeface="微软雅黑" pitchFamily="34" charset="-122"/>
            </a:endParaRPr>
          </a:p>
        </p:txBody>
      </p:sp>
      <p:sp>
        <p:nvSpPr>
          <p:cNvPr id="8" name="TextBox 10">
            <a:extLst>
              <a:ext uri="{FF2B5EF4-FFF2-40B4-BE49-F238E27FC236}">
                <a16:creationId xmlns:a16="http://schemas.microsoft.com/office/drawing/2014/main" id="{9BE43E83-03B8-4699-AB74-C8EEEC383F30}"/>
              </a:ext>
            </a:extLst>
          </p:cNvPr>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02    AdaBoost</a:t>
            </a:r>
            <a:r>
              <a:rPr lang="zh-CN" altLang="en-US" sz="3600" dirty="0">
                <a:latin typeface="Impact" pitchFamily="34" charset="0"/>
                <a:ea typeface="微软雅黑" pitchFamily="34" charset="-122"/>
              </a:rPr>
              <a:t>和</a:t>
            </a:r>
            <a:r>
              <a:rPr lang="en-US" altLang="zh-CN" sz="3600" dirty="0">
                <a:latin typeface="Impact" pitchFamily="34" charset="0"/>
                <a:ea typeface="微软雅黑" pitchFamily="34" charset="-122"/>
              </a:rPr>
              <a:t>GBDT</a:t>
            </a:r>
            <a:r>
              <a:rPr lang="zh-CN" altLang="en-US" sz="3600" dirty="0">
                <a:latin typeface="Impact" pitchFamily="34" charset="0"/>
                <a:ea typeface="微软雅黑" pitchFamily="34" charset="-122"/>
              </a:rPr>
              <a:t>算法</a:t>
            </a:r>
          </a:p>
        </p:txBody>
      </p:sp>
      <p:sp>
        <p:nvSpPr>
          <p:cNvPr id="9" name="TextBox 11">
            <a:extLst>
              <a:ext uri="{FF2B5EF4-FFF2-40B4-BE49-F238E27FC236}">
                <a16:creationId xmlns:a16="http://schemas.microsoft.com/office/drawing/2014/main" id="{34978614-EBE8-42CE-98D3-1A12F275A36E}"/>
              </a:ext>
            </a:extLst>
          </p:cNvPr>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03    </a:t>
            </a:r>
            <a:r>
              <a:rPr lang="en-US" altLang="zh-CN" sz="3600" dirty="0" err="1">
                <a:latin typeface="Impact" pitchFamily="34" charset="0"/>
                <a:ea typeface="微软雅黑" pitchFamily="34" charset="-122"/>
              </a:rPr>
              <a:t>XGBoost</a:t>
            </a:r>
            <a:endParaRPr lang="zh-CN" altLang="en-US" sz="3600" dirty="0">
              <a:latin typeface="Impact" pitchFamily="34" charset="0"/>
              <a:ea typeface="微软雅黑" pitchFamily="34" charset="-122"/>
            </a:endParaRPr>
          </a:p>
        </p:txBody>
      </p:sp>
      <p:sp>
        <p:nvSpPr>
          <p:cNvPr id="10" name="TextBox 10">
            <a:extLst>
              <a:ext uri="{FF2B5EF4-FFF2-40B4-BE49-F238E27FC236}">
                <a16:creationId xmlns:a16="http://schemas.microsoft.com/office/drawing/2014/main" id="{C420D502-7B94-4817-BEB4-B1C83D329CB1}"/>
              </a:ext>
            </a:extLst>
          </p:cNvPr>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04    </a:t>
            </a:r>
            <a:r>
              <a:rPr lang="en-US" altLang="zh-CN" sz="3600" dirty="0" err="1">
                <a:latin typeface="Impact" pitchFamily="34" charset="0"/>
                <a:ea typeface="微软雅黑" pitchFamily="34" charset="-122"/>
              </a:rPr>
              <a:t>LightGBM</a:t>
            </a:r>
            <a:endParaRPr lang="zh-CN" altLang="en-US" sz="3600" dirty="0">
              <a:latin typeface="Impact" pitchFamily="34" charset="0"/>
              <a:ea typeface="微软雅黑" pitchFamily="34" charset="-122"/>
            </a:endParaRPr>
          </a:p>
        </p:txBody>
      </p:sp>
    </p:spTree>
    <p:extLst>
      <p:ext uri="{BB962C8B-B14F-4D97-AF65-F5344CB8AC3E}">
        <p14:creationId xmlns:p14="http://schemas.microsoft.com/office/powerpoint/2010/main" val="3159294296"/>
      </p:ext>
    </p:extLst>
  </p:cSld>
  <p:clrMapOvr>
    <a:masterClrMapping/>
  </p:clrMapOvr>
  <p:transition advTm="800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文本框 77">
            <a:extLst>
              <a:ext uri="{FF2B5EF4-FFF2-40B4-BE49-F238E27FC236}">
                <a16:creationId xmlns:a16="http://schemas.microsoft.com/office/drawing/2014/main" id="{606F0487-E08F-4D0D-875F-870EBC03E770}"/>
              </a:ext>
            </a:extLst>
          </p:cNvPr>
          <p:cNvSpPr txBox="1"/>
          <p:nvPr/>
        </p:nvSpPr>
        <p:spPr>
          <a:xfrm>
            <a:off x="504824" y="1198625"/>
            <a:ext cx="10887075" cy="1689052"/>
          </a:xfrm>
          <a:prstGeom prst="rect">
            <a:avLst/>
          </a:prstGeom>
          <a:noFill/>
        </p:spPr>
        <p:txBody>
          <a:bodyPr wrap="square">
            <a:spAutoFit/>
          </a:bodyPr>
          <a:lstStyle/>
          <a:p>
            <a:pPr lvl="0" algn="just">
              <a:lnSpc>
                <a:spcPct val="150000"/>
              </a:lnSpc>
            </a:pPr>
            <a:r>
              <a:rPr lang="zh-CN" altLang="zh-CN" sz="2400" b="1" dirty="0">
                <a:latin typeface="+mj-ea"/>
                <a:ea typeface="+mj-ea"/>
              </a:rPr>
              <a:t>Bagging</a:t>
            </a:r>
          </a:p>
          <a:p>
            <a:pPr lvl="0" algn="just">
              <a:lnSpc>
                <a:spcPct val="150000"/>
              </a:lnSpc>
            </a:pPr>
            <a:r>
              <a:rPr lang="zh-CN" altLang="zh-CN" dirty="0">
                <a:latin typeface="+mj-ea"/>
                <a:ea typeface="+mj-ea"/>
              </a:rPr>
              <a:t>从训练集中进行子抽样组成每个基模型所需要的子训练集，对所有基模型预测的结果进行综合产生最终的预测结果：</a:t>
            </a:r>
            <a:endParaRPr lang="zh-CN" altLang="zh-CN" sz="1050" dirty="0">
              <a:latin typeface="+mj-ea"/>
              <a:ea typeface="+mj-ea"/>
            </a:endParaRPr>
          </a:p>
        </p:txBody>
      </p:sp>
      <p:sp>
        <p:nvSpPr>
          <p:cNvPr id="79" name="文本框 22">
            <a:extLst>
              <a:ext uri="{FF2B5EF4-FFF2-40B4-BE49-F238E27FC236}">
                <a16:creationId xmlns:a16="http://schemas.microsoft.com/office/drawing/2014/main" id="{B49822C0-349E-41E2-A52F-3441437179A8}"/>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集成学习</a:t>
            </a:r>
          </a:p>
        </p:txBody>
      </p:sp>
      <p:grpSp>
        <p:nvGrpSpPr>
          <p:cNvPr id="29" name="组合 28">
            <a:extLst>
              <a:ext uri="{FF2B5EF4-FFF2-40B4-BE49-F238E27FC236}">
                <a16:creationId xmlns:a16="http://schemas.microsoft.com/office/drawing/2014/main" id="{E0438A88-238D-4992-942D-6E0311590AE5}"/>
              </a:ext>
            </a:extLst>
          </p:cNvPr>
          <p:cNvGrpSpPr/>
          <p:nvPr/>
        </p:nvGrpSpPr>
        <p:grpSpPr>
          <a:xfrm>
            <a:off x="2232074" y="2991729"/>
            <a:ext cx="7188591" cy="3194210"/>
            <a:chOff x="1455803" y="2914686"/>
            <a:chExt cx="7978930" cy="3843339"/>
          </a:xfrm>
        </p:grpSpPr>
        <p:sp>
          <p:nvSpPr>
            <p:cNvPr id="30" name="矩形: 圆角 29">
              <a:extLst>
                <a:ext uri="{FF2B5EF4-FFF2-40B4-BE49-F238E27FC236}">
                  <a16:creationId xmlns:a16="http://schemas.microsoft.com/office/drawing/2014/main" id="{6CAF9FE8-C43F-4466-B054-FDCABF53BE11}"/>
                </a:ext>
              </a:extLst>
            </p:cNvPr>
            <p:cNvSpPr/>
            <p:nvPr/>
          </p:nvSpPr>
          <p:spPr>
            <a:xfrm>
              <a:off x="5595937" y="2914686"/>
              <a:ext cx="1905000" cy="38433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31" name="Google Shape;3379;p54">
              <a:extLst>
                <a:ext uri="{FF2B5EF4-FFF2-40B4-BE49-F238E27FC236}">
                  <a16:creationId xmlns:a16="http://schemas.microsoft.com/office/drawing/2014/main" id="{1B3F7ABE-957A-46C0-9A07-31B9174D2DFB}"/>
                </a:ext>
              </a:extLst>
            </p:cNvPr>
            <p:cNvSpPr/>
            <p:nvPr/>
          </p:nvSpPr>
          <p:spPr>
            <a:xfrm>
              <a:off x="3410137" y="5957737"/>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模型</a:t>
              </a:r>
              <a:r>
                <a:rPr lang="en-US" altLang="zh-CN" sz="2000" dirty="0"/>
                <a:t>n</a:t>
              </a:r>
              <a:endParaRPr sz="2000" dirty="0"/>
            </a:p>
          </p:txBody>
        </p:sp>
        <p:sp>
          <p:nvSpPr>
            <p:cNvPr id="32" name="Google Shape;3381;p54">
              <a:extLst>
                <a:ext uri="{FF2B5EF4-FFF2-40B4-BE49-F238E27FC236}">
                  <a16:creationId xmlns:a16="http://schemas.microsoft.com/office/drawing/2014/main" id="{3BFEF079-6ECC-4303-B356-6ABDFDFE4C72}"/>
                </a:ext>
              </a:extLst>
            </p:cNvPr>
            <p:cNvSpPr/>
            <p:nvPr/>
          </p:nvSpPr>
          <p:spPr>
            <a:xfrm>
              <a:off x="3410137" y="4979911"/>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2000" dirty="0"/>
                <a:t>……</a:t>
              </a:r>
              <a:endParaRPr sz="2000" dirty="0"/>
            </a:p>
          </p:txBody>
        </p:sp>
        <p:sp>
          <p:nvSpPr>
            <p:cNvPr id="33" name="Google Shape;3382;p54">
              <a:extLst>
                <a:ext uri="{FF2B5EF4-FFF2-40B4-BE49-F238E27FC236}">
                  <a16:creationId xmlns:a16="http://schemas.microsoft.com/office/drawing/2014/main" id="{3D84A528-B3A8-4903-A161-BADFA8FC7EF9}"/>
                </a:ext>
              </a:extLst>
            </p:cNvPr>
            <p:cNvSpPr/>
            <p:nvPr/>
          </p:nvSpPr>
          <p:spPr>
            <a:xfrm>
              <a:off x="3410137" y="3102600"/>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模型</a:t>
              </a:r>
              <a:r>
                <a:rPr lang="en-US" altLang="zh-CN" sz="2000" dirty="0"/>
                <a:t>1</a:t>
              </a:r>
              <a:endParaRPr sz="2000" dirty="0"/>
            </a:p>
          </p:txBody>
        </p:sp>
        <p:sp>
          <p:nvSpPr>
            <p:cNvPr id="34" name="Google Shape;3383;p54">
              <a:extLst>
                <a:ext uri="{FF2B5EF4-FFF2-40B4-BE49-F238E27FC236}">
                  <a16:creationId xmlns:a16="http://schemas.microsoft.com/office/drawing/2014/main" id="{7E758D12-6239-40E4-97DF-6F1C61B67B83}"/>
                </a:ext>
              </a:extLst>
            </p:cNvPr>
            <p:cNvSpPr/>
            <p:nvPr/>
          </p:nvSpPr>
          <p:spPr>
            <a:xfrm>
              <a:off x="3410137" y="4048162"/>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模型</a:t>
              </a:r>
              <a:r>
                <a:rPr lang="en-US" altLang="zh-CN" sz="2000" dirty="0"/>
                <a:t>2</a:t>
              </a:r>
              <a:endParaRPr sz="2000" dirty="0"/>
            </a:p>
          </p:txBody>
        </p:sp>
        <p:cxnSp>
          <p:nvCxnSpPr>
            <p:cNvPr id="35" name="Google Shape;3386;p54">
              <a:extLst>
                <a:ext uri="{FF2B5EF4-FFF2-40B4-BE49-F238E27FC236}">
                  <a16:creationId xmlns:a16="http://schemas.microsoft.com/office/drawing/2014/main" id="{77606BB7-AE3C-4646-9D5A-F7725DC69C87}"/>
                </a:ext>
              </a:extLst>
            </p:cNvPr>
            <p:cNvCxnSpPr>
              <a:cxnSpLocks/>
              <a:endCxn id="32" idx="1"/>
            </p:cNvCxnSpPr>
            <p:nvPr/>
          </p:nvCxnSpPr>
          <p:spPr>
            <a:xfrm>
              <a:off x="2305416" y="4654885"/>
              <a:ext cx="1104721" cy="651426"/>
            </a:xfrm>
            <a:prstGeom prst="straightConnector1">
              <a:avLst/>
            </a:prstGeom>
            <a:noFill/>
            <a:ln w="19050" cap="flat" cmpd="sng">
              <a:solidFill>
                <a:schemeClr val="dk2"/>
              </a:solidFill>
              <a:prstDash val="solid"/>
              <a:round/>
              <a:headEnd type="none" w="med" len="med"/>
              <a:tailEnd type="triangle" w="med" len="med"/>
            </a:ln>
          </p:spPr>
        </p:cxnSp>
        <p:cxnSp>
          <p:nvCxnSpPr>
            <p:cNvPr id="36" name="Google Shape;3387;p54">
              <a:extLst>
                <a:ext uri="{FF2B5EF4-FFF2-40B4-BE49-F238E27FC236}">
                  <a16:creationId xmlns:a16="http://schemas.microsoft.com/office/drawing/2014/main" id="{770E20B5-3084-4EEE-B0AF-F837026C4509}"/>
                </a:ext>
              </a:extLst>
            </p:cNvPr>
            <p:cNvCxnSpPr>
              <a:cxnSpLocks/>
              <a:endCxn id="33" idx="1"/>
            </p:cNvCxnSpPr>
            <p:nvPr/>
          </p:nvCxnSpPr>
          <p:spPr>
            <a:xfrm flipV="1">
              <a:off x="2305416" y="3429000"/>
              <a:ext cx="1104721" cy="1225885"/>
            </a:xfrm>
            <a:prstGeom prst="straightConnector1">
              <a:avLst/>
            </a:prstGeom>
            <a:noFill/>
            <a:ln w="19050" cap="flat" cmpd="sng">
              <a:solidFill>
                <a:schemeClr val="dk2"/>
              </a:solidFill>
              <a:prstDash val="solid"/>
              <a:round/>
              <a:headEnd type="none" w="med" len="med"/>
              <a:tailEnd type="triangle" w="med" len="med"/>
            </a:ln>
          </p:spPr>
        </p:cxnSp>
        <p:cxnSp>
          <p:nvCxnSpPr>
            <p:cNvPr id="37" name="Google Shape;3388;p54">
              <a:extLst>
                <a:ext uri="{FF2B5EF4-FFF2-40B4-BE49-F238E27FC236}">
                  <a16:creationId xmlns:a16="http://schemas.microsoft.com/office/drawing/2014/main" id="{8A8329DB-E911-4314-8AE3-50C4BD8559DC}"/>
                </a:ext>
              </a:extLst>
            </p:cNvPr>
            <p:cNvCxnSpPr>
              <a:cxnSpLocks/>
              <a:endCxn id="31" idx="1"/>
            </p:cNvCxnSpPr>
            <p:nvPr/>
          </p:nvCxnSpPr>
          <p:spPr>
            <a:xfrm>
              <a:off x="2305416" y="4654885"/>
              <a:ext cx="1104721" cy="1629252"/>
            </a:xfrm>
            <a:prstGeom prst="straightConnector1">
              <a:avLst/>
            </a:prstGeom>
            <a:noFill/>
            <a:ln w="19050" cap="flat" cmpd="sng">
              <a:solidFill>
                <a:schemeClr val="dk2"/>
              </a:solidFill>
              <a:prstDash val="solid"/>
              <a:round/>
              <a:headEnd type="none" w="med" len="med"/>
              <a:tailEnd type="triangle" w="med" len="med"/>
            </a:ln>
          </p:spPr>
        </p:cxnSp>
        <p:cxnSp>
          <p:nvCxnSpPr>
            <p:cNvPr id="38" name="Google Shape;3386;p54">
              <a:extLst>
                <a:ext uri="{FF2B5EF4-FFF2-40B4-BE49-F238E27FC236}">
                  <a16:creationId xmlns:a16="http://schemas.microsoft.com/office/drawing/2014/main" id="{EB28F418-6D97-4B54-8465-196FE029968D}"/>
                </a:ext>
              </a:extLst>
            </p:cNvPr>
            <p:cNvCxnSpPr>
              <a:cxnSpLocks/>
            </p:cNvCxnSpPr>
            <p:nvPr/>
          </p:nvCxnSpPr>
          <p:spPr>
            <a:xfrm flipV="1">
              <a:off x="2305416" y="4429640"/>
              <a:ext cx="1108926" cy="228702"/>
            </a:xfrm>
            <a:prstGeom prst="straightConnector1">
              <a:avLst/>
            </a:prstGeom>
            <a:noFill/>
            <a:ln w="19050" cap="flat" cmpd="sng">
              <a:solidFill>
                <a:schemeClr val="dk2"/>
              </a:solidFill>
              <a:prstDash val="solid"/>
              <a:round/>
              <a:headEnd type="none" w="med" len="med"/>
              <a:tailEnd type="triangle" w="med" len="med"/>
            </a:ln>
          </p:spPr>
        </p:cxnSp>
        <p:sp>
          <p:nvSpPr>
            <p:cNvPr id="39" name="Google Shape;3379;p54">
              <a:extLst>
                <a:ext uri="{FF2B5EF4-FFF2-40B4-BE49-F238E27FC236}">
                  <a16:creationId xmlns:a16="http://schemas.microsoft.com/office/drawing/2014/main" id="{5E5365CC-D47B-403A-B4DB-4052CB2E6DE9}"/>
                </a:ext>
              </a:extLst>
            </p:cNvPr>
            <p:cNvSpPr/>
            <p:nvPr/>
          </p:nvSpPr>
          <p:spPr>
            <a:xfrm>
              <a:off x="5800912" y="5957737"/>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预测</a:t>
              </a:r>
              <a:r>
                <a:rPr lang="en-US" altLang="zh-CN" sz="2000" dirty="0"/>
                <a:t>n</a:t>
              </a:r>
              <a:endParaRPr sz="2000" dirty="0"/>
            </a:p>
          </p:txBody>
        </p:sp>
        <p:sp>
          <p:nvSpPr>
            <p:cNvPr id="40" name="Google Shape;3381;p54">
              <a:extLst>
                <a:ext uri="{FF2B5EF4-FFF2-40B4-BE49-F238E27FC236}">
                  <a16:creationId xmlns:a16="http://schemas.microsoft.com/office/drawing/2014/main" id="{F2EB050C-67D1-4240-BF83-E92557D84151}"/>
                </a:ext>
              </a:extLst>
            </p:cNvPr>
            <p:cNvSpPr/>
            <p:nvPr/>
          </p:nvSpPr>
          <p:spPr>
            <a:xfrm>
              <a:off x="5800912" y="4979911"/>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2000" dirty="0"/>
                <a:t>……</a:t>
              </a:r>
              <a:endParaRPr sz="2000" dirty="0"/>
            </a:p>
          </p:txBody>
        </p:sp>
        <p:sp>
          <p:nvSpPr>
            <p:cNvPr id="42" name="Google Shape;3382;p54">
              <a:extLst>
                <a:ext uri="{FF2B5EF4-FFF2-40B4-BE49-F238E27FC236}">
                  <a16:creationId xmlns:a16="http://schemas.microsoft.com/office/drawing/2014/main" id="{72779E1A-A849-4EB1-ABA3-787DCE2334BA}"/>
                </a:ext>
              </a:extLst>
            </p:cNvPr>
            <p:cNvSpPr/>
            <p:nvPr/>
          </p:nvSpPr>
          <p:spPr>
            <a:xfrm>
              <a:off x="5800912" y="3102600"/>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预测</a:t>
              </a:r>
              <a:r>
                <a:rPr lang="en-US" altLang="zh-CN" sz="2000" dirty="0"/>
                <a:t>1</a:t>
              </a:r>
              <a:endParaRPr sz="2000" dirty="0"/>
            </a:p>
          </p:txBody>
        </p:sp>
        <p:sp>
          <p:nvSpPr>
            <p:cNvPr id="48" name="Google Shape;3383;p54">
              <a:extLst>
                <a:ext uri="{FF2B5EF4-FFF2-40B4-BE49-F238E27FC236}">
                  <a16:creationId xmlns:a16="http://schemas.microsoft.com/office/drawing/2014/main" id="{A8081C71-2FF0-4BB4-B08D-03FB6AA2E96F}"/>
                </a:ext>
              </a:extLst>
            </p:cNvPr>
            <p:cNvSpPr/>
            <p:nvPr/>
          </p:nvSpPr>
          <p:spPr>
            <a:xfrm>
              <a:off x="5800912" y="4048162"/>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预测</a:t>
              </a:r>
              <a:r>
                <a:rPr lang="en-US" altLang="zh-CN" sz="2000" dirty="0"/>
                <a:t>2</a:t>
              </a:r>
              <a:endParaRPr sz="2000" dirty="0"/>
            </a:p>
          </p:txBody>
        </p:sp>
        <p:cxnSp>
          <p:nvCxnSpPr>
            <p:cNvPr id="49" name="Google Shape;3386;p54">
              <a:extLst>
                <a:ext uri="{FF2B5EF4-FFF2-40B4-BE49-F238E27FC236}">
                  <a16:creationId xmlns:a16="http://schemas.microsoft.com/office/drawing/2014/main" id="{B2DA613F-9640-40C5-99D8-437F9412B027}"/>
                </a:ext>
              </a:extLst>
            </p:cNvPr>
            <p:cNvCxnSpPr>
              <a:cxnSpLocks/>
              <a:stCxn id="33" idx="3"/>
              <a:endCxn id="42" idx="1"/>
            </p:cNvCxnSpPr>
            <p:nvPr/>
          </p:nvCxnSpPr>
          <p:spPr>
            <a:xfrm>
              <a:off x="4906537" y="3429000"/>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57" name="Google Shape;3386;p54">
              <a:extLst>
                <a:ext uri="{FF2B5EF4-FFF2-40B4-BE49-F238E27FC236}">
                  <a16:creationId xmlns:a16="http://schemas.microsoft.com/office/drawing/2014/main" id="{262341CC-7CAD-4797-B0FB-A34112F08BA8}"/>
                </a:ext>
              </a:extLst>
            </p:cNvPr>
            <p:cNvCxnSpPr>
              <a:cxnSpLocks/>
            </p:cNvCxnSpPr>
            <p:nvPr/>
          </p:nvCxnSpPr>
          <p:spPr>
            <a:xfrm>
              <a:off x="4906536" y="6284100"/>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58" name="Google Shape;3386;p54">
              <a:extLst>
                <a:ext uri="{FF2B5EF4-FFF2-40B4-BE49-F238E27FC236}">
                  <a16:creationId xmlns:a16="http://schemas.microsoft.com/office/drawing/2014/main" id="{E22CE0FC-62DE-42C1-931C-B66025C88F60}"/>
                </a:ext>
              </a:extLst>
            </p:cNvPr>
            <p:cNvCxnSpPr>
              <a:cxnSpLocks/>
            </p:cNvCxnSpPr>
            <p:nvPr/>
          </p:nvCxnSpPr>
          <p:spPr>
            <a:xfrm>
              <a:off x="4906537" y="5306274"/>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59" name="Google Shape;3386;p54">
              <a:extLst>
                <a:ext uri="{FF2B5EF4-FFF2-40B4-BE49-F238E27FC236}">
                  <a16:creationId xmlns:a16="http://schemas.microsoft.com/office/drawing/2014/main" id="{F1582475-37AE-45DA-B5C2-3F9FC6EFF2E4}"/>
                </a:ext>
              </a:extLst>
            </p:cNvPr>
            <p:cNvCxnSpPr>
              <a:cxnSpLocks/>
            </p:cNvCxnSpPr>
            <p:nvPr/>
          </p:nvCxnSpPr>
          <p:spPr>
            <a:xfrm>
              <a:off x="4906537" y="4374525"/>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60" name="Google Shape;3386;p54">
              <a:extLst>
                <a:ext uri="{FF2B5EF4-FFF2-40B4-BE49-F238E27FC236}">
                  <a16:creationId xmlns:a16="http://schemas.microsoft.com/office/drawing/2014/main" id="{F47D3808-56DD-4353-80DC-06E44E269AA8}"/>
                </a:ext>
              </a:extLst>
            </p:cNvPr>
            <p:cNvCxnSpPr>
              <a:cxnSpLocks/>
              <a:stCxn id="42" idx="3"/>
            </p:cNvCxnSpPr>
            <p:nvPr/>
          </p:nvCxnSpPr>
          <p:spPr>
            <a:xfrm>
              <a:off x="7297312" y="3429000"/>
              <a:ext cx="1389581" cy="1108762"/>
            </a:xfrm>
            <a:prstGeom prst="straightConnector1">
              <a:avLst/>
            </a:prstGeom>
            <a:noFill/>
            <a:ln w="19050" cap="flat" cmpd="sng">
              <a:solidFill>
                <a:schemeClr val="dk2"/>
              </a:solidFill>
              <a:prstDash val="solid"/>
              <a:round/>
              <a:headEnd type="none" w="med" len="med"/>
              <a:tailEnd type="triangle" w="med" len="med"/>
            </a:ln>
          </p:spPr>
        </p:cxnSp>
        <p:cxnSp>
          <p:nvCxnSpPr>
            <p:cNvPr id="61" name="Google Shape;3386;p54">
              <a:extLst>
                <a:ext uri="{FF2B5EF4-FFF2-40B4-BE49-F238E27FC236}">
                  <a16:creationId xmlns:a16="http://schemas.microsoft.com/office/drawing/2014/main" id="{2CA4ED83-7EB3-4CD5-82CC-7513BB11244F}"/>
                </a:ext>
              </a:extLst>
            </p:cNvPr>
            <p:cNvCxnSpPr>
              <a:cxnSpLocks/>
              <a:stCxn id="48" idx="3"/>
            </p:cNvCxnSpPr>
            <p:nvPr/>
          </p:nvCxnSpPr>
          <p:spPr>
            <a:xfrm>
              <a:off x="7297312" y="4374562"/>
              <a:ext cx="1389581" cy="326400"/>
            </a:xfrm>
            <a:prstGeom prst="straightConnector1">
              <a:avLst/>
            </a:prstGeom>
            <a:noFill/>
            <a:ln w="19050" cap="flat" cmpd="sng">
              <a:solidFill>
                <a:schemeClr val="dk2"/>
              </a:solidFill>
              <a:prstDash val="solid"/>
              <a:round/>
              <a:headEnd type="none" w="med" len="med"/>
              <a:tailEnd type="triangle" w="med" len="med"/>
            </a:ln>
          </p:spPr>
        </p:cxnSp>
        <p:cxnSp>
          <p:nvCxnSpPr>
            <p:cNvPr id="62" name="Google Shape;3386;p54">
              <a:extLst>
                <a:ext uri="{FF2B5EF4-FFF2-40B4-BE49-F238E27FC236}">
                  <a16:creationId xmlns:a16="http://schemas.microsoft.com/office/drawing/2014/main" id="{2266EA9D-C92A-4738-BDB7-ECBE2624E4B0}"/>
                </a:ext>
              </a:extLst>
            </p:cNvPr>
            <p:cNvCxnSpPr>
              <a:cxnSpLocks/>
            </p:cNvCxnSpPr>
            <p:nvPr/>
          </p:nvCxnSpPr>
          <p:spPr>
            <a:xfrm flipV="1">
              <a:off x="7297312" y="4700962"/>
              <a:ext cx="1389581" cy="579028"/>
            </a:xfrm>
            <a:prstGeom prst="straightConnector1">
              <a:avLst/>
            </a:prstGeom>
            <a:noFill/>
            <a:ln w="19050" cap="flat" cmpd="sng">
              <a:solidFill>
                <a:schemeClr val="dk2"/>
              </a:solidFill>
              <a:prstDash val="solid"/>
              <a:round/>
              <a:headEnd type="none" w="med" len="med"/>
              <a:tailEnd type="triangle" w="med" len="med"/>
            </a:ln>
          </p:spPr>
        </p:cxnSp>
        <p:cxnSp>
          <p:nvCxnSpPr>
            <p:cNvPr id="63" name="Google Shape;3386;p54">
              <a:extLst>
                <a:ext uri="{FF2B5EF4-FFF2-40B4-BE49-F238E27FC236}">
                  <a16:creationId xmlns:a16="http://schemas.microsoft.com/office/drawing/2014/main" id="{F7A9E2FF-7410-45D1-A64D-66DF5BEBAC05}"/>
                </a:ext>
              </a:extLst>
            </p:cNvPr>
            <p:cNvCxnSpPr>
              <a:cxnSpLocks/>
              <a:stCxn id="39" idx="3"/>
            </p:cNvCxnSpPr>
            <p:nvPr/>
          </p:nvCxnSpPr>
          <p:spPr>
            <a:xfrm flipV="1">
              <a:off x="7297312" y="4841143"/>
              <a:ext cx="1389581" cy="1442994"/>
            </a:xfrm>
            <a:prstGeom prst="straightConnector1">
              <a:avLst/>
            </a:prstGeom>
            <a:noFill/>
            <a:ln w="19050" cap="flat" cmpd="sng">
              <a:solidFill>
                <a:schemeClr val="dk2"/>
              </a:solidFill>
              <a:prstDash val="solid"/>
              <a:round/>
              <a:headEnd type="none" w="med" len="med"/>
              <a:tailEnd type="triangle" w="med" len="med"/>
            </a:ln>
          </p:spPr>
        </p:cxnSp>
        <p:sp>
          <p:nvSpPr>
            <p:cNvPr id="64" name="矩形: 圆角 63">
              <a:extLst>
                <a:ext uri="{FF2B5EF4-FFF2-40B4-BE49-F238E27FC236}">
                  <a16:creationId xmlns:a16="http://schemas.microsoft.com/office/drawing/2014/main" id="{ECA397E4-79A3-4208-8C84-A3F9DA192EBE}"/>
                </a:ext>
              </a:extLst>
            </p:cNvPr>
            <p:cNvSpPr/>
            <p:nvPr/>
          </p:nvSpPr>
          <p:spPr>
            <a:xfrm>
              <a:off x="1455803" y="3755400"/>
              <a:ext cx="915868" cy="1664912"/>
            </a:xfrm>
            <a:prstGeom prst="roundRect">
              <a:avLst/>
            </a:prstGeom>
            <a:ln>
              <a:solidFill>
                <a:schemeClr val="bg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mj-ea"/>
                  <a:ea typeface="+mj-ea"/>
                </a:rPr>
                <a:t>训练数据</a:t>
              </a:r>
            </a:p>
          </p:txBody>
        </p:sp>
        <p:sp>
          <p:nvSpPr>
            <p:cNvPr id="65" name="Google Shape;3380;p54">
              <a:extLst>
                <a:ext uri="{FF2B5EF4-FFF2-40B4-BE49-F238E27FC236}">
                  <a16:creationId xmlns:a16="http://schemas.microsoft.com/office/drawing/2014/main" id="{A6C70F9A-9B93-4075-B6E0-6D90723821F8}"/>
                </a:ext>
              </a:extLst>
            </p:cNvPr>
            <p:cNvSpPr/>
            <p:nvPr/>
          </p:nvSpPr>
          <p:spPr>
            <a:xfrm>
              <a:off x="8686893" y="3837137"/>
              <a:ext cx="747840" cy="1583175"/>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800" dirty="0"/>
                <a:t>最终预测结果</a:t>
              </a:r>
              <a:endParaRPr sz="1800" dirty="0"/>
            </a:p>
          </p:txBody>
        </p:sp>
        <p:sp>
          <p:nvSpPr>
            <p:cNvPr id="66" name="矩形: 圆角 65">
              <a:extLst>
                <a:ext uri="{FF2B5EF4-FFF2-40B4-BE49-F238E27FC236}">
                  <a16:creationId xmlns:a16="http://schemas.microsoft.com/office/drawing/2014/main" id="{E48A2BDB-0601-4279-9A32-FCC60846B485}"/>
                </a:ext>
              </a:extLst>
            </p:cNvPr>
            <p:cNvSpPr/>
            <p:nvPr/>
          </p:nvSpPr>
          <p:spPr>
            <a:xfrm>
              <a:off x="8190337" y="5746712"/>
              <a:ext cx="791266" cy="989287"/>
            </a:xfrm>
            <a:prstGeom prst="roundRect">
              <a:avLst/>
            </a:prstGeom>
            <a:ln>
              <a:solidFill>
                <a:schemeClr val="bg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600" dirty="0">
                  <a:latin typeface="+mj-ea"/>
                  <a:ea typeface="+mj-ea"/>
                </a:rPr>
                <a:t>测试数据</a:t>
              </a:r>
            </a:p>
          </p:txBody>
        </p:sp>
        <p:cxnSp>
          <p:nvCxnSpPr>
            <p:cNvPr id="67" name="Google Shape;3386;p54">
              <a:extLst>
                <a:ext uri="{FF2B5EF4-FFF2-40B4-BE49-F238E27FC236}">
                  <a16:creationId xmlns:a16="http://schemas.microsoft.com/office/drawing/2014/main" id="{4D229457-D145-439E-82C4-565C0F99F0F0}"/>
                </a:ext>
              </a:extLst>
            </p:cNvPr>
            <p:cNvCxnSpPr>
              <a:cxnSpLocks/>
            </p:cNvCxnSpPr>
            <p:nvPr/>
          </p:nvCxnSpPr>
          <p:spPr>
            <a:xfrm flipH="1">
              <a:off x="7500937" y="6349814"/>
              <a:ext cx="689400" cy="1"/>
            </a:xfrm>
            <a:prstGeom prst="straightConnector1">
              <a:avLst/>
            </a:prstGeom>
            <a:noFill/>
            <a:ln w="19050" cap="flat" cmpd="sng">
              <a:solidFill>
                <a:schemeClr val="dk2"/>
              </a:solidFill>
              <a:prstDash val="solid"/>
              <a:round/>
              <a:headEnd type="none" w="med" len="med"/>
              <a:tailEnd type="triangle" w="med" len="med"/>
            </a:ln>
          </p:spPr>
        </p:cxnSp>
      </p:grpSp>
    </p:spTree>
    <p:extLst>
      <p:ext uri="{BB962C8B-B14F-4D97-AF65-F5344CB8AC3E}">
        <p14:creationId xmlns:p14="http://schemas.microsoft.com/office/powerpoint/2010/main" val="554830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文本框 3"/>
          <p:cNvSpPr txBox="1"/>
          <p:nvPr/>
        </p:nvSpPr>
        <p:spPr>
          <a:xfrm>
            <a:off x="604060" y="1488113"/>
            <a:ext cx="3251503" cy="4370427"/>
          </a:xfrm>
          <a:prstGeom prst="rect">
            <a:avLst/>
          </a:prstGeom>
          <a:noFill/>
        </p:spPr>
        <p:txBody>
          <a:bodyPr wrap="square" rtlCol="0">
            <a:spAutoFit/>
          </a:bodyPr>
          <a:lstStyle/>
          <a:p>
            <a:pPr lvl="0"/>
            <a:r>
              <a:rPr lang="zh-CN" altLang="zh-CN" sz="2400" b="1" dirty="0">
                <a:latin typeface="+mj-ea"/>
                <a:ea typeface="+mj-ea"/>
              </a:rPr>
              <a:t>Boosting</a:t>
            </a:r>
          </a:p>
          <a:p>
            <a:pPr lvl="0"/>
            <a:endParaRPr lang="en-US" altLang="zh-CN" sz="2000" dirty="0">
              <a:latin typeface="+mj-ea"/>
              <a:ea typeface="+mj-ea"/>
            </a:endParaRPr>
          </a:p>
          <a:p>
            <a:pPr lvl="0">
              <a:lnSpc>
                <a:spcPct val="150000"/>
              </a:lnSpc>
            </a:pPr>
            <a:r>
              <a:rPr lang="zh-CN" altLang="zh-CN" sz="2000" dirty="0">
                <a:latin typeface="+mj-ea"/>
                <a:ea typeface="+mj-ea"/>
              </a:rPr>
              <a:t>训练过程为阶梯状，基模型按次序一一进行训练（实现上可以做到并行），基模型的训练集按照某种策略每次都进行一定的转化。对所有基模型预测的结果进行线性综合产生最终的预测结果</a:t>
            </a:r>
            <a:r>
              <a:rPr lang="zh-CN" altLang="en-US" sz="2000" dirty="0">
                <a:latin typeface="+mj-ea"/>
                <a:ea typeface="+mj-ea"/>
              </a:rPr>
              <a:t>。</a:t>
            </a:r>
            <a:endParaRPr lang="zh-CN" altLang="zh-CN" sz="1100" dirty="0">
              <a:latin typeface="+mj-ea"/>
              <a:ea typeface="+mj-ea"/>
            </a:endParaRPr>
          </a:p>
          <a:p>
            <a:endParaRPr lang="zh-CN" altLang="en-US" dirty="0">
              <a:latin typeface="+mj-ea"/>
              <a:ea typeface="+mj-ea"/>
            </a:endParaRPr>
          </a:p>
        </p:txBody>
      </p:sp>
      <p:sp>
        <p:nvSpPr>
          <p:cNvPr id="7" name="文本框 22">
            <a:extLst>
              <a:ext uri="{FF2B5EF4-FFF2-40B4-BE49-F238E27FC236}">
                <a16:creationId xmlns:a16="http://schemas.microsoft.com/office/drawing/2014/main" id="{7C6900A0-F172-46C8-BC49-04331057154C}"/>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集成学习</a:t>
            </a:r>
          </a:p>
        </p:txBody>
      </p:sp>
      <p:grpSp>
        <p:nvGrpSpPr>
          <p:cNvPr id="115" name="组合 114">
            <a:extLst>
              <a:ext uri="{FF2B5EF4-FFF2-40B4-BE49-F238E27FC236}">
                <a16:creationId xmlns:a16="http://schemas.microsoft.com/office/drawing/2014/main" id="{F8B11E09-A94B-4714-B1FE-F9659D21E8CC}"/>
              </a:ext>
            </a:extLst>
          </p:cNvPr>
          <p:cNvGrpSpPr/>
          <p:nvPr/>
        </p:nvGrpSpPr>
        <p:grpSpPr>
          <a:xfrm>
            <a:off x="4514849" y="1852613"/>
            <a:ext cx="7354645" cy="3664675"/>
            <a:chOff x="4514849" y="1852613"/>
            <a:chExt cx="7354645" cy="3664675"/>
          </a:xfrm>
        </p:grpSpPr>
        <p:grpSp>
          <p:nvGrpSpPr>
            <p:cNvPr id="111" name="组合 110">
              <a:extLst>
                <a:ext uri="{FF2B5EF4-FFF2-40B4-BE49-F238E27FC236}">
                  <a16:creationId xmlns:a16="http://schemas.microsoft.com/office/drawing/2014/main" id="{141DE081-7463-4DD1-915D-9D7D261579D0}"/>
                </a:ext>
              </a:extLst>
            </p:cNvPr>
            <p:cNvGrpSpPr/>
            <p:nvPr/>
          </p:nvGrpSpPr>
          <p:grpSpPr>
            <a:xfrm>
              <a:off x="4514849" y="1852613"/>
              <a:ext cx="7354645" cy="3615873"/>
              <a:chOff x="4171733" y="1625147"/>
              <a:chExt cx="7697762" cy="3843339"/>
            </a:xfrm>
          </p:grpSpPr>
          <p:cxnSp>
            <p:nvCxnSpPr>
              <p:cNvPr id="76" name="Google Shape;3386;p54">
                <a:extLst>
                  <a:ext uri="{FF2B5EF4-FFF2-40B4-BE49-F238E27FC236}">
                    <a16:creationId xmlns:a16="http://schemas.microsoft.com/office/drawing/2014/main" id="{AAAAE02D-5778-4A9E-BE2B-B457FAC0E17B}"/>
                  </a:ext>
                </a:extLst>
              </p:cNvPr>
              <p:cNvCxnSpPr>
                <a:cxnSpLocks/>
              </p:cNvCxnSpPr>
              <p:nvPr/>
            </p:nvCxnSpPr>
            <p:spPr>
              <a:xfrm>
                <a:off x="6463601" y="2134660"/>
                <a:ext cx="0" cy="737582"/>
              </a:xfrm>
              <a:prstGeom prst="straightConnector1">
                <a:avLst/>
              </a:prstGeom>
              <a:noFill/>
              <a:ln w="19050" cap="flat" cmpd="sng">
                <a:solidFill>
                  <a:schemeClr val="dk2"/>
                </a:solidFill>
                <a:prstDash val="solid"/>
                <a:round/>
                <a:headEnd type="none" w="med" len="med"/>
                <a:tailEnd type="triangle" w="med" len="med"/>
              </a:ln>
            </p:spPr>
          </p:cxnSp>
          <p:cxnSp>
            <p:nvCxnSpPr>
              <p:cNvPr id="65" name="Google Shape;3386;p54">
                <a:extLst>
                  <a:ext uri="{FF2B5EF4-FFF2-40B4-BE49-F238E27FC236}">
                    <a16:creationId xmlns:a16="http://schemas.microsoft.com/office/drawing/2014/main" id="{8EF554F0-78ED-40AB-998F-66BACF747762}"/>
                  </a:ext>
                </a:extLst>
              </p:cNvPr>
              <p:cNvCxnSpPr>
                <a:cxnSpLocks/>
              </p:cNvCxnSpPr>
              <p:nvPr/>
            </p:nvCxnSpPr>
            <p:spPr>
              <a:xfrm>
                <a:off x="6636595" y="3088349"/>
                <a:ext cx="0" cy="737582"/>
              </a:xfrm>
              <a:prstGeom prst="straightConnector1">
                <a:avLst/>
              </a:prstGeom>
              <a:noFill/>
              <a:ln w="19050" cap="flat" cmpd="sng">
                <a:solidFill>
                  <a:schemeClr val="dk2"/>
                </a:solidFill>
                <a:prstDash val="solid"/>
                <a:round/>
                <a:headEnd type="none" w="med" len="med"/>
                <a:tailEnd type="triangle" w="med" len="med"/>
              </a:ln>
            </p:spPr>
          </p:cxnSp>
          <p:cxnSp>
            <p:nvCxnSpPr>
              <p:cNvPr id="67" name="Google Shape;3386;p54">
                <a:extLst>
                  <a:ext uri="{FF2B5EF4-FFF2-40B4-BE49-F238E27FC236}">
                    <a16:creationId xmlns:a16="http://schemas.microsoft.com/office/drawing/2014/main" id="{52170519-7A68-4A20-85ED-8F313544BA89}"/>
                  </a:ext>
                </a:extLst>
              </p:cNvPr>
              <p:cNvCxnSpPr>
                <a:cxnSpLocks/>
              </p:cNvCxnSpPr>
              <p:nvPr/>
            </p:nvCxnSpPr>
            <p:spPr>
              <a:xfrm>
                <a:off x="6974377" y="4238541"/>
                <a:ext cx="0" cy="532388"/>
              </a:xfrm>
              <a:prstGeom prst="straightConnector1">
                <a:avLst/>
              </a:prstGeom>
              <a:noFill/>
              <a:ln w="19050" cap="flat" cmpd="sng">
                <a:solidFill>
                  <a:schemeClr val="dk2"/>
                </a:solidFill>
                <a:prstDash val="solid"/>
                <a:round/>
                <a:headEnd type="none" w="med" len="med"/>
                <a:tailEnd type="triangle" w="med" len="med"/>
              </a:ln>
            </p:spPr>
          </p:cxnSp>
          <p:sp>
            <p:nvSpPr>
              <p:cNvPr id="8" name="矩形: 圆角 7">
                <a:extLst>
                  <a:ext uri="{FF2B5EF4-FFF2-40B4-BE49-F238E27FC236}">
                    <a16:creationId xmlns:a16="http://schemas.microsoft.com/office/drawing/2014/main" id="{ED3EFDBD-49A7-41A0-A735-7FD178654BDC}"/>
                  </a:ext>
                </a:extLst>
              </p:cNvPr>
              <p:cNvSpPr/>
              <p:nvPr/>
            </p:nvSpPr>
            <p:spPr>
              <a:xfrm>
                <a:off x="8020269" y="1625147"/>
                <a:ext cx="1905000" cy="38433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Google Shape;3379;p54">
                <a:extLst>
                  <a:ext uri="{FF2B5EF4-FFF2-40B4-BE49-F238E27FC236}">
                    <a16:creationId xmlns:a16="http://schemas.microsoft.com/office/drawing/2014/main" id="{7A0868F0-5BF9-4EC6-AC76-9B6D63623126}"/>
                  </a:ext>
                </a:extLst>
              </p:cNvPr>
              <p:cNvSpPr/>
              <p:nvPr/>
            </p:nvSpPr>
            <p:spPr>
              <a:xfrm>
                <a:off x="6216641" y="4770929"/>
                <a:ext cx="1496400" cy="447338"/>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dirty="0"/>
                  <a:t>模型</a:t>
                </a:r>
                <a:r>
                  <a:rPr lang="en-US" altLang="zh-CN" dirty="0"/>
                  <a:t>n</a:t>
                </a:r>
                <a:endParaRPr dirty="0"/>
              </a:p>
            </p:txBody>
          </p:sp>
          <p:sp>
            <p:nvSpPr>
              <p:cNvPr id="11" name="Google Shape;3380;p54">
                <a:extLst>
                  <a:ext uri="{FF2B5EF4-FFF2-40B4-BE49-F238E27FC236}">
                    <a16:creationId xmlns:a16="http://schemas.microsoft.com/office/drawing/2014/main" id="{2916410A-5F29-463E-B0C7-B307D8CD81C2}"/>
                  </a:ext>
                </a:extLst>
              </p:cNvPr>
              <p:cNvSpPr/>
              <p:nvPr/>
            </p:nvSpPr>
            <p:spPr>
              <a:xfrm>
                <a:off x="11121655" y="2761001"/>
                <a:ext cx="747840" cy="1583175"/>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最终预测结果</a:t>
                </a:r>
                <a:endParaRPr sz="2000" dirty="0"/>
              </a:p>
            </p:txBody>
          </p:sp>
          <p:sp>
            <p:nvSpPr>
              <p:cNvPr id="14" name="Google Shape;3383;p54">
                <a:extLst>
                  <a:ext uri="{FF2B5EF4-FFF2-40B4-BE49-F238E27FC236}">
                    <a16:creationId xmlns:a16="http://schemas.microsoft.com/office/drawing/2014/main" id="{4BAD9D2A-9FD8-4F01-A0FA-B348B1AC6DC5}"/>
                  </a:ext>
                </a:extLst>
              </p:cNvPr>
              <p:cNvSpPr/>
              <p:nvPr/>
            </p:nvSpPr>
            <p:spPr>
              <a:xfrm>
                <a:off x="5715401" y="2872242"/>
                <a:ext cx="1496400" cy="425561"/>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dirty="0"/>
                  <a:t>模型</a:t>
                </a:r>
                <a:r>
                  <a:rPr lang="en-US" altLang="zh-CN" dirty="0"/>
                  <a:t>2</a:t>
                </a:r>
                <a:endParaRPr dirty="0"/>
              </a:p>
            </p:txBody>
          </p:sp>
          <p:cxnSp>
            <p:nvCxnSpPr>
              <p:cNvPr id="16" name="Google Shape;3387;p54">
                <a:extLst>
                  <a:ext uri="{FF2B5EF4-FFF2-40B4-BE49-F238E27FC236}">
                    <a16:creationId xmlns:a16="http://schemas.microsoft.com/office/drawing/2014/main" id="{08806736-835E-423C-9978-93E719BECEA3}"/>
                  </a:ext>
                </a:extLst>
              </p:cNvPr>
              <p:cNvCxnSpPr>
                <a:cxnSpLocks/>
                <a:endCxn id="54" idx="1"/>
              </p:cNvCxnSpPr>
              <p:nvPr/>
            </p:nvCxnSpPr>
            <p:spPr>
              <a:xfrm>
                <a:off x="5087601" y="2144880"/>
                <a:ext cx="390376" cy="0"/>
              </a:xfrm>
              <a:prstGeom prst="straightConnector1">
                <a:avLst/>
              </a:prstGeom>
              <a:noFill/>
              <a:ln w="19050" cap="flat" cmpd="sng">
                <a:solidFill>
                  <a:schemeClr val="dk2"/>
                </a:solidFill>
                <a:prstDash val="solid"/>
                <a:round/>
                <a:headEnd type="none" w="med" len="med"/>
                <a:tailEnd type="triangle" w="med" len="med"/>
              </a:ln>
            </p:spPr>
          </p:cxnSp>
          <p:sp>
            <p:nvSpPr>
              <p:cNvPr id="19" name="Google Shape;3379;p54">
                <a:extLst>
                  <a:ext uri="{FF2B5EF4-FFF2-40B4-BE49-F238E27FC236}">
                    <a16:creationId xmlns:a16="http://schemas.microsoft.com/office/drawing/2014/main" id="{8554EB6E-8F49-4273-BD39-FAE927BECF15}"/>
                  </a:ext>
                </a:extLst>
              </p:cNvPr>
              <p:cNvSpPr/>
              <p:nvPr/>
            </p:nvSpPr>
            <p:spPr>
              <a:xfrm>
                <a:off x="8225244" y="4668198"/>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dirty="0"/>
                  <a:t>预测</a:t>
                </a:r>
                <a:r>
                  <a:rPr lang="en-US" altLang="zh-CN" dirty="0"/>
                  <a:t>n</a:t>
                </a:r>
                <a:endParaRPr dirty="0"/>
              </a:p>
            </p:txBody>
          </p:sp>
          <p:sp>
            <p:nvSpPr>
              <p:cNvPr id="20" name="Google Shape;3381;p54">
                <a:extLst>
                  <a:ext uri="{FF2B5EF4-FFF2-40B4-BE49-F238E27FC236}">
                    <a16:creationId xmlns:a16="http://schemas.microsoft.com/office/drawing/2014/main" id="{CF7A647B-0536-4EA1-A939-E94ED4BCB711}"/>
                  </a:ext>
                </a:extLst>
              </p:cNvPr>
              <p:cNvSpPr/>
              <p:nvPr/>
            </p:nvSpPr>
            <p:spPr>
              <a:xfrm>
                <a:off x="8225244" y="3690372"/>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dirty="0"/>
                  <a:t>……</a:t>
                </a:r>
                <a:endParaRPr dirty="0"/>
              </a:p>
            </p:txBody>
          </p:sp>
          <p:sp>
            <p:nvSpPr>
              <p:cNvPr id="21" name="Google Shape;3382;p54">
                <a:extLst>
                  <a:ext uri="{FF2B5EF4-FFF2-40B4-BE49-F238E27FC236}">
                    <a16:creationId xmlns:a16="http://schemas.microsoft.com/office/drawing/2014/main" id="{F9C4D9D2-46C7-4E79-86B0-9583F5A82DA2}"/>
                  </a:ext>
                </a:extLst>
              </p:cNvPr>
              <p:cNvSpPr/>
              <p:nvPr/>
            </p:nvSpPr>
            <p:spPr>
              <a:xfrm>
                <a:off x="8225244" y="1813061"/>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dirty="0"/>
                  <a:t>预测</a:t>
                </a:r>
                <a:r>
                  <a:rPr lang="en-US" altLang="zh-CN" dirty="0"/>
                  <a:t>1</a:t>
                </a:r>
                <a:endParaRPr dirty="0"/>
              </a:p>
            </p:txBody>
          </p:sp>
          <p:sp>
            <p:nvSpPr>
              <p:cNvPr id="22" name="Google Shape;3383;p54">
                <a:extLst>
                  <a:ext uri="{FF2B5EF4-FFF2-40B4-BE49-F238E27FC236}">
                    <a16:creationId xmlns:a16="http://schemas.microsoft.com/office/drawing/2014/main" id="{22F04DE7-7626-4448-A996-489486A07CF6}"/>
                  </a:ext>
                </a:extLst>
              </p:cNvPr>
              <p:cNvSpPr/>
              <p:nvPr/>
            </p:nvSpPr>
            <p:spPr>
              <a:xfrm>
                <a:off x="8225244" y="2758623"/>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dirty="0"/>
                  <a:t>预测</a:t>
                </a:r>
                <a:r>
                  <a:rPr lang="en-US" altLang="zh-CN" dirty="0"/>
                  <a:t>2</a:t>
                </a:r>
                <a:endParaRPr dirty="0"/>
              </a:p>
            </p:txBody>
          </p:sp>
          <p:cxnSp>
            <p:nvCxnSpPr>
              <p:cNvPr id="23" name="Google Shape;3386;p54">
                <a:extLst>
                  <a:ext uri="{FF2B5EF4-FFF2-40B4-BE49-F238E27FC236}">
                    <a16:creationId xmlns:a16="http://schemas.microsoft.com/office/drawing/2014/main" id="{EAEEB3C2-3B22-47E1-8801-322D22A344BB}"/>
                  </a:ext>
                </a:extLst>
              </p:cNvPr>
              <p:cNvCxnSpPr>
                <a:cxnSpLocks/>
                <a:stCxn id="54" idx="3"/>
                <a:endCxn id="21" idx="1"/>
              </p:cNvCxnSpPr>
              <p:nvPr/>
            </p:nvCxnSpPr>
            <p:spPr>
              <a:xfrm flipV="1">
                <a:off x="6974377" y="2139461"/>
                <a:ext cx="1250867" cy="5419"/>
              </a:xfrm>
              <a:prstGeom prst="straightConnector1">
                <a:avLst/>
              </a:prstGeom>
              <a:noFill/>
              <a:ln w="19050" cap="flat" cmpd="sng">
                <a:solidFill>
                  <a:schemeClr val="dk2"/>
                </a:solidFill>
                <a:prstDash val="solid"/>
                <a:round/>
                <a:headEnd type="none" w="med" len="med"/>
                <a:tailEnd type="triangle" w="med" len="med"/>
              </a:ln>
            </p:spPr>
          </p:cxnSp>
          <p:cxnSp>
            <p:nvCxnSpPr>
              <p:cNvPr id="24" name="Google Shape;3386;p54">
                <a:extLst>
                  <a:ext uri="{FF2B5EF4-FFF2-40B4-BE49-F238E27FC236}">
                    <a16:creationId xmlns:a16="http://schemas.microsoft.com/office/drawing/2014/main" id="{61C55602-F89C-4961-AC03-DD9EE8FE5408}"/>
                  </a:ext>
                </a:extLst>
              </p:cNvPr>
              <p:cNvCxnSpPr>
                <a:cxnSpLocks/>
                <a:stCxn id="10" idx="3"/>
                <a:endCxn id="19" idx="1"/>
              </p:cNvCxnSpPr>
              <p:nvPr/>
            </p:nvCxnSpPr>
            <p:spPr>
              <a:xfrm>
                <a:off x="7713041" y="4994598"/>
                <a:ext cx="512203" cy="0"/>
              </a:xfrm>
              <a:prstGeom prst="straightConnector1">
                <a:avLst/>
              </a:prstGeom>
              <a:noFill/>
              <a:ln w="19050" cap="flat" cmpd="sng">
                <a:solidFill>
                  <a:schemeClr val="dk2"/>
                </a:solidFill>
                <a:prstDash val="solid"/>
                <a:round/>
                <a:headEnd type="none" w="med" len="med"/>
                <a:tailEnd type="triangle" w="med" len="med"/>
              </a:ln>
            </p:spPr>
          </p:cxnSp>
          <p:cxnSp>
            <p:nvCxnSpPr>
              <p:cNvPr id="25" name="Google Shape;3386;p54">
                <a:extLst>
                  <a:ext uri="{FF2B5EF4-FFF2-40B4-BE49-F238E27FC236}">
                    <a16:creationId xmlns:a16="http://schemas.microsoft.com/office/drawing/2014/main" id="{BC62E2BD-C8A7-499A-BAFE-6DAA53FFA960}"/>
                  </a:ext>
                </a:extLst>
              </p:cNvPr>
              <p:cNvCxnSpPr>
                <a:cxnSpLocks/>
                <a:stCxn id="55" idx="3"/>
                <a:endCxn id="20" idx="1"/>
              </p:cNvCxnSpPr>
              <p:nvPr/>
            </p:nvCxnSpPr>
            <p:spPr>
              <a:xfrm flipV="1">
                <a:off x="7421499" y="4016772"/>
                <a:ext cx="803745" cy="8989"/>
              </a:xfrm>
              <a:prstGeom prst="straightConnector1">
                <a:avLst/>
              </a:prstGeom>
              <a:noFill/>
              <a:ln w="19050" cap="flat" cmpd="sng">
                <a:solidFill>
                  <a:schemeClr val="dk2"/>
                </a:solidFill>
                <a:prstDash val="solid"/>
                <a:round/>
                <a:headEnd type="none" w="med" len="med"/>
                <a:tailEnd type="triangle" w="med" len="med"/>
              </a:ln>
            </p:spPr>
          </p:cxnSp>
          <p:cxnSp>
            <p:nvCxnSpPr>
              <p:cNvPr id="26" name="Google Shape;3386;p54">
                <a:extLst>
                  <a:ext uri="{FF2B5EF4-FFF2-40B4-BE49-F238E27FC236}">
                    <a16:creationId xmlns:a16="http://schemas.microsoft.com/office/drawing/2014/main" id="{AECC254C-6D28-461B-83BF-A8B97079D2AE}"/>
                  </a:ext>
                </a:extLst>
              </p:cNvPr>
              <p:cNvCxnSpPr>
                <a:cxnSpLocks/>
                <a:stCxn id="14" idx="3"/>
                <a:endCxn id="22" idx="1"/>
              </p:cNvCxnSpPr>
              <p:nvPr/>
            </p:nvCxnSpPr>
            <p:spPr>
              <a:xfrm>
                <a:off x="7211801" y="3085023"/>
                <a:ext cx="1013443" cy="0"/>
              </a:xfrm>
              <a:prstGeom prst="straightConnector1">
                <a:avLst/>
              </a:prstGeom>
              <a:noFill/>
              <a:ln w="19050" cap="flat" cmpd="sng">
                <a:solidFill>
                  <a:schemeClr val="dk2"/>
                </a:solidFill>
                <a:prstDash val="solid"/>
                <a:round/>
                <a:headEnd type="none" w="med" len="med"/>
                <a:tailEnd type="triangle" w="med" len="med"/>
              </a:ln>
            </p:spPr>
          </p:cxnSp>
          <p:cxnSp>
            <p:nvCxnSpPr>
              <p:cNvPr id="27" name="Google Shape;3386;p54">
                <a:extLst>
                  <a:ext uri="{FF2B5EF4-FFF2-40B4-BE49-F238E27FC236}">
                    <a16:creationId xmlns:a16="http://schemas.microsoft.com/office/drawing/2014/main" id="{66BF6062-5667-423C-9698-09489E31BCA5}"/>
                  </a:ext>
                </a:extLst>
              </p:cNvPr>
              <p:cNvCxnSpPr>
                <a:cxnSpLocks/>
                <a:stCxn id="21" idx="3"/>
              </p:cNvCxnSpPr>
              <p:nvPr/>
            </p:nvCxnSpPr>
            <p:spPr>
              <a:xfrm>
                <a:off x="9721644" y="2139461"/>
                <a:ext cx="1400011" cy="1125958"/>
              </a:xfrm>
              <a:prstGeom prst="straightConnector1">
                <a:avLst/>
              </a:prstGeom>
              <a:noFill/>
              <a:ln w="19050" cap="flat" cmpd="sng">
                <a:solidFill>
                  <a:schemeClr val="dk2"/>
                </a:solidFill>
                <a:prstDash val="solid"/>
                <a:round/>
                <a:headEnd type="none" w="med" len="med"/>
                <a:tailEnd type="triangle" w="med" len="med"/>
              </a:ln>
            </p:spPr>
          </p:cxnSp>
          <p:cxnSp>
            <p:nvCxnSpPr>
              <p:cNvPr id="28" name="Google Shape;3386;p54">
                <a:extLst>
                  <a:ext uri="{FF2B5EF4-FFF2-40B4-BE49-F238E27FC236}">
                    <a16:creationId xmlns:a16="http://schemas.microsoft.com/office/drawing/2014/main" id="{77E477E7-420B-4B0E-BF55-5D75598D39F0}"/>
                  </a:ext>
                </a:extLst>
              </p:cNvPr>
              <p:cNvCxnSpPr>
                <a:cxnSpLocks/>
              </p:cNvCxnSpPr>
              <p:nvPr/>
            </p:nvCxnSpPr>
            <p:spPr>
              <a:xfrm>
                <a:off x="9721644" y="3130900"/>
                <a:ext cx="1400011" cy="298100"/>
              </a:xfrm>
              <a:prstGeom prst="straightConnector1">
                <a:avLst/>
              </a:prstGeom>
              <a:noFill/>
              <a:ln w="19050" cap="flat" cmpd="sng">
                <a:solidFill>
                  <a:schemeClr val="dk2"/>
                </a:solidFill>
                <a:prstDash val="solid"/>
                <a:round/>
                <a:headEnd type="none" w="med" len="med"/>
                <a:tailEnd type="triangle" w="med" len="med"/>
              </a:ln>
            </p:spPr>
          </p:cxnSp>
          <p:cxnSp>
            <p:nvCxnSpPr>
              <p:cNvPr id="29" name="Google Shape;3386;p54">
                <a:extLst>
                  <a:ext uri="{FF2B5EF4-FFF2-40B4-BE49-F238E27FC236}">
                    <a16:creationId xmlns:a16="http://schemas.microsoft.com/office/drawing/2014/main" id="{D2BB1BCA-1992-4DE5-B291-1BB6E5BA3458}"/>
                  </a:ext>
                </a:extLst>
              </p:cNvPr>
              <p:cNvCxnSpPr>
                <a:cxnSpLocks/>
                <a:stCxn id="20" idx="3"/>
                <a:endCxn id="11" idx="1"/>
              </p:cNvCxnSpPr>
              <p:nvPr/>
            </p:nvCxnSpPr>
            <p:spPr>
              <a:xfrm flipV="1">
                <a:off x="9721644" y="3552589"/>
                <a:ext cx="1400011" cy="464183"/>
              </a:xfrm>
              <a:prstGeom prst="straightConnector1">
                <a:avLst/>
              </a:prstGeom>
              <a:noFill/>
              <a:ln w="19050" cap="flat" cmpd="sng">
                <a:solidFill>
                  <a:schemeClr val="dk2"/>
                </a:solidFill>
                <a:prstDash val="solid"/>
                <a:round/>
                <a:headEnd type="none" w="med" len="med"/>
                <a:tailEnd type="triangle" w="med" len="med"/>
              </a:ln>
            </p:spPr>
          </p:cxnSp>
          <p:cxnSp>
            <p:nvCxnSpPr>
              <p:cNvPr id="30" name="Google Shape;3386;p54">
                <a:extLst>
                  <a:ext uri="{FF2B5EF4-FFF2-40B4-BE49-F238E27FC236}">
                    <a16:creationId xmlns:a16="http://schemas.microsoft.com/office/drawing/2014/main" id="{5AC9C317-51F8-4721-83D1-17FC0C3B456E}"/>
                  </a:ext>
                </a:extLst>
              </p:cNvPr>
              <p:cNvCxnSpPr>
                <a:cxnSpLocks/>
                <a:stCxn id="19" idx="3"/>
              </p:cNvCxnSpPr>
              <p:nvPr/>
            </p:nvCxnSpPr>
            <p:spPr>
              <a:xfrm flipV="1">
                <a:off x="9721644" y="3825931"/>
                <a:ext cx="1389581" cy="1168667"/>
              </a:xfrm>
              <a:prstGeom prst="straightConnector1">
                <a:avLst/>
              </a:prstGeom>
              <a:noFill/>
              <a:ln w="19050" cap="flat" cmpd="sng">
                <a:solidFill>
                  <a:schemeClr val="dk2"/>
                </a:solidFill>
                <a:prstDash val="solid"/>
                <a:round/>
                <a:headEnd type="none" w="med" len="med"/>
                <a:tailEnd type="triangle" w="med" len="med"/>
              </a:ln>
            </p:spPr>
          </p:cxnSp>
          <p:sp>
            <p:nvSpPr>
              <p:cNvPr id="48" name="文本框 47">
                <a:extLst>
                  <a:ext uri="{FF2B5EF4-FFF2-40B4-BE49-F238E27FC236}">
                    <a16:creationId xmlns:a16="http://schemas.microsoft.com/office/drawing/2014/main" id="{9E1213A0-8540-4DDC-A70B-0F8DFF2209AC}"/>
                  </a:ext>
                </a:extLst>
              </p:cNvPr>
              <p:cNvSpPr txBox="1"/>
              <p:nvPr/>
            </p:nvSpPr>
            <p:spPr>
              <a:xfrm>
                <a:off x="5608533" y="2429988"/>
                <a:ext cx="742778" cy="369332"/>
              </a:xfrm>
              <a:prstGeom prst="rect">
                <a:avLst/>
              </a:prstGeom>
              <a:noFill/>
            </p:spPr>
            <p:txBody>
              <a:bodyPr wrap="square">
                <a:spAutoFit/>
              </a:bodyPr>
              <a:lstStyle/>
              <a:p>
                <a:r>
                  <a:rPr lang="zh-CN" altLang="zh-CN" sz="1800" dirty="0">
                    <a:solidFill>
                      <a:srgbClr val="FF0000"/>
                    </a:solidFill>
                    <a:latin typeface="+mj-ea"/>
                    <a:ea typeface="+mj-ea"/>
                  </a:rPr>
                  <a:t>转化</a:t>
                </a:r>
                <a:endParaRPr lang="zh-CN" altLang="en-US" sz="1800" dirty="0">
                  <a:solidFill>
                    <a:srgbClr val="FF0000"/>
                  </a:solidFill>
                </a:endParaRPr>
              </a:p>
            </p:txBody>
          </p:sp>
          <p:sp>
            <p:nvSpPr>
              <p:cNvPr id="54" name="Google Shape;3383;p54">
                <a:extLst>
                  <a:ext uri="{FF2B5EF4-FFF2-40B4-BE49-F238E27FC236}">
                    <a16:creationId xmlns:a16="http://schemas.microsoft.com/office/drawing/2014/main" id="{48921CE8-9A56-4540-8F84-B71EB9BA2F83}"/>
                  </a:ext>
                </a:extLst>
              </p:cNvPr>
              <p:cNvSpPr/>
              <p:nvPr/>
            </p:nvSpPr>
            <p:spPr>
              <a:xfrm>
                <a:off x="5477977" y="1932099"/>
                <a:ext cx="1496400" cy="425561"/>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dirty="0"/>
                  <a:t>模型</a:t>
                </a:r>
                <a:r>
                  <a:rPr lang="en-US" altLang="zh-CN" dirty="0"/>
                  <a:t>1</a:t>
                </a:r>
                <a:endParaRPr dirty="0"/>
              </a:p>
            </p:txBody>
          </p:sp>
          <p:sp>
            <p:nvSpPr>
              <p:cNvPr id="55" name="Google Shape;3383;p54">
                <a:extLst>
                  <a:ext uri="{FF2B5EF4-FFF2-40B4-BE49-F238E27FC236}">
                    <a16:creationId xmlns:a16="http://schemas.microsoft.com/office/drawing/2014/main" id="{BDDFFFA3-36F1-4AB0-B45A-A722DD88145D}"/>
                  </a:ext>
                </a:extLst>
              </p:cNvPr>
              <p:cNvSpPr/>
              <p:nvPr/>
            </p:nvSpPr>
            <p:spPr>
              <a:xfrm>
                <a:off x="5925099" y="3812980"/>
                <a:ext cx="1496400" cy="425561"/>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dirty="0"/>
                  <a:t>模型</a:t>
                </a:r>
                <a:r>
                  <a:rPr lang="en-US" altLang="zh-CN" dirty="0"/>
                  <a:t>3</a:t>
                </a:r>
                <a:endParaRPr dirty="0"/>
              </a:p>
            </p:txBody>
          </p:sp>
          <p:sp>
            <p:nvSpPr>
              <p:cNvPr id="66" name="文本框 65">
                <a:extLst>
                  <a:ext uri="{FF2B5EF4-FFF2-40B4-BE49-F238E27FC236}">
                    <a16:creationId xmlns:a16="http://schemas.microsoft.com/office/drawing/2014/main" id="{5528A195-2DE8-46C6-9C8E-16A08BC2EDEC}"/>
                  </a:ext>
                </a:extLst>
              </p:cNvPr>
              <p:cNvSpPr txBox="1"/>
              <p:nvPr/>
            </p:nvSpPr>
            <p:spPr>
              <a:xfrm>
                <a:off x="5813667" y="3390811"/>
                <a:ext cx="742778" cy="369332"/>
              </a:xfrm>
              <a:prstGeom prst="rect">
                <a:avLst/>
              </a:prstGeom>
              <a:noFill/>
            </p:spPr>
            <p:txBody>
              <a:bodyPr wrap="square">
                <a:spAutoFit/>
              </a:bodyPr>
              <a:lstStyle/>
              <a:p>
                <a:r>
                  <a:rPr lang="zh-CN" altLang="zh-CN" sz="1800" dirty="0">
                    <a:solidFill>
                      <a:srgbClr val="FF0000"/>
                    </a:solidFill>
                    <a:latin typeface="+mj-ea"/>
                    <a:ea typeface="+mj-ea"/>
                  </a:rPr>
                  <a:t>转化</a:t>
                </a:r>
                <a:endParaRPr lang="zh-CN" altLang="en-US" sz="1800" dirty="0">
                  <a:solidFill>
                    <a:srgbClr val="FF0000"/>
                  </a:solidFill>
                </a:endParaRPr>
              </a:p>
            </p:txBody>
          </p:sp>
          <p:sp>
            <p:nvSpPr>
              <p:cNvPr id="68" name="文本框 67">
                <a:extLst>
                  <a:ext uri="{FF2B5EF4-FFF2-40B4-BE49-F238E27FC236}">
                    <a16:creationId xmlns:a16="http://schemas.microsoft.com/office/drawing/2014/main" id="{A0FA914B-42EB-4F23-8AEC-C9BEDBF940CE}"/>
                  </a:ext>
                </a:extLst>
              </p:cNvPr>
              <p:cNvSpPr txBox="1"/>
              <p:nvPr/>
            </p:nvSpPr>
            <p:spPr>
              <a:xfrm>
                <a:off x="6164273" y="4300506"/>
                <a:ext cx="742778" cy="369332"/>
              </a:xfrm>
              <a:prstGeom prst="rect">
                <a:avLst/>
              </a:prstGeom>
              <a:noFill/>
            </p:spPr>
            <p:txBody>
              <a:bodyPr wrap="square">
                <a:spAutoFit/>
              </a:bodyPr>
              <a:lstStyle/>
              <a:p>
                <a:r>
                  <a:rPr lang="zh-CN" altLang="zh-CN" sz="1800" dirty="0">
                    <a:solidFill>
                      <a:srgbClr val="FF0000"/>
                    </a:solidFill>
                    <a:latin typeface="+mj-ea"/>
                    <a:ea typeface="+mj-ea"/>
                  </a:rPr>
                  <a:t>转化</a:t>
                </a:r>
                <a:endParaRPr lang="zh-CN" altLang="en-US" sz="1800" dirty="0">
                  <a:solidFill>
                    <a:srgbClr val="FF0000"/>
                  </a:solidFill>
                </a:endParaRPr>
              </a:p>
            </p:txBody>
          </p:sp>
          <p:sp>
            <p:nvSpPr>
              <p:cNvPr id="80" name="矩形: 圆角 79">
                <a:extLst>
                  <a:ext uri="{FF2B5EF4-FFF2-40B4-BE49-F238E27FC236}">
                    <a16:creationId xmlns:a16="http://schemas.microsoft.com/office/drawing/2014/main" id="{C3B83345-1A52-4C9F-93EE-BBDC40ACFCD5}"/>
                  </a:ext>
                </a:extLst>
              </p:cNvPr>
              <p:cNvSpPr/>
              <p:nvPr/>
            </p:nvSpPr>
            <p:spPr>
              <a:xfrm>
                <a:off x="4171733" y="1903029"/>
                <a:ext cx="915868" cy="166491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mj-ea"/>
                    <a:ea typeface="+mj-ea"/>
                  </a:rPr>
                  <a:t>训练数据</a:t>
                </a:r>
              </a:p>
            </p:txBody>
          </p:sp>
        </p:grpSp>
        <p:sp>
          <p:nvSpPr>
            <p:cNvPr id="113" name="矩形: 圆角 112">
              <a:extLst>
                <a:ext uri="{FF2B5EF4-FFF2-40B4-BE49-F238E27FC236}">
                  <a16:creationId xmlns:a16="http://schemas.microsoft.com/office/drawing/2014/main" id="{2A2B8B7E-AD64-4EFD-86C1-601A60FA442B}"/>
                </a:ext>
              </a:extLst>
            </p:cNvPr>
            <p:cNvSpPr/>
            <p:nvPr/>
          </p:nvSpPr>
          <p:spPr>
            <a:xfrm>
              <a:off x="10411561" y="4528001"/>
              <a:ext cx="791266" cy="989287"/>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mj-ea"/>
                  <a:ea typeface="+mj-ea"/>
                </a:rPr>
                <a:t>测试数据</a:t>
              </a:r>
            </a:p>
          </p:txBody>
        </p:sp>
        <p:cxnSp>
          <p:nvCxnSpPr>
            <p:cNvPr id="114" name="Google Shape;3386;p54">
              <a:extLst>
                <a:ext uri="{FF2B5EF4-FFF2-40B4-BE49-F238E27FC236}">
                  <a16:creationId xmlns:a16="http://schemas.microsoft.com/office/drawing/2014/main" id="{9B1F9CC4-17D1-45E7-A603-D5E45E8AD6DA}"/>
                </a:ext>
              </a:extLst>
            </p:cNvPr>
            <p:cNvCxnSpPr>
              <a:cxnSpLocks/>
            </p:cNvCxnSpPr>
            <p:nvPr/>
          </p:nvCxnSpPr>
          <p:spPr>
            <a:xfrm flipH="1">
              <a:off x="10015695" y="5131103"/>
              <a:ext cx="395866" cy="0"/>
            </a:xfrm>
            <a:prstGeom prst="straightConnector1">
              <a:avLst/>
            </a:prstGeom>
            <a:noFill/>
            <a:ln w="19050" cap="flat" cmpd="sng">
              <a:solidFill>
                <a:schemeClr val="dk2"/>
              </a:solidFill>
              <a:prstDash val="solid"/>
              <a:round/>
              <a:headEnd type="none" w="med" len="med"/>
              <a:tailEnd type="triangle" w="med" len="med"/>
            </a:ln>
          </p:spPr>
        </p:cxnSp>
      </p:grpSp>
    </p:spTree>
    <p:extLst>
      <p:ext uri="{BB962C8B-B14F-4D97-AF65-F5344CB8AC3E}">
        <p14:creationId xmlns:p14="http://schemas.microsoft.com/office/powerpoint/2010/main" val="1422758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文本框 22">
            <a:extLst>
              <a:ext uri="{FF2B5EF4-FFF2-40B4-BE49-F238E27FC236}">
                <a16:creationId xmlns:a16="http://schemas.microsoft.com/office/drawing/2014/main" id="{52B707EB-3944-480A-BCD3-A2B1DBF1D951}"/>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集成学习</a:t>
            </a:r>
          </a:p>
        </p:txBody>
      </p:sp>
      <p:grpSp>
        <p:nvGrpSpPr>
          <p:cNvPr id="43" name="组合 42">
            <a:extLst>
              <a:ext uri="{FF2B5EF4-FFF2-40B4-BE49-F238E27FC236}">
                <a16:creationId xmlns:a16="http://schemas.microsoft.com/office/drawing/2014/main" id="{CBB45656-FBD6-4A60-8D6D-A3E4250E973C}"/>
              </a:ext>
            </a:extLst>
          </p:cNvPr>
          <p:cNvGrpSpPr/>
          <p:nvPr/>
        </p:nvGrpSpPr>
        <p:grpSpPr>
          <a:xfrm>
            <a:off x="995363" y="3767138"/>
            <a:ext cx="9444091" cy="2608275"/>
            <a:chOff x="349144" y="2713049"/>
            <a:chExt cx="11376185" cy="3843339"/>
          </a:xfrm>
        </p:grpSpPr>
        <p:sp>
          <p:nvSpPr>
            <p:cNvPr id="7" name="矩形: 圆角 6">
              <a:extLst>
                <a:ext uri="{FF2B5EF4-FFF2-40B4-BE49-F238E27FC236}">
                  <a16:creationId xmlns:a16="http://schemas.microsoft.com/office/drawing/2014/main" id="{ACA19187-D32B-46C0-9A45-09051BED9F22}"/>
                </a:ext>
              </a:extLst>
            </p:cNvPr>
            <p:cNvSpPr/>
            <p:nvPr/>
          </p:nvSpPr>
          <p:spPr>
            <a:xfrm>
              <a:off x="4489278" y="2713049"/>
              <a:ext cx="1905000" cy="38433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8" name="Google Shape;3379;p54">
              <a:extLst>
                <a:ext uri="{FF2B5EF4-FFF2-40B4-BE49-F238E27FC236}">
                  <a16:creationId xmlns:a16="http://schemas.microsoft.com/office/drawing/2014/main" id="{5C92145B-91A3-4302-997D-3C95D929B680}"/>
                </a:ext>
              </a:extLst>
            </p:cNvPr>
            <p:cNvSpPr/>
            <p:nvPr/>
          </p:nvSpPr>
          <p:spPr>
            <a:xfrm>
              <a:off x="2303478" y="5756100"/>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模型</a:t>
              </a:r>
              <a:r>
                <a:rPr lang="en-US" altLang="zh-CN" sz="2000" dirty="0"/>
                <a:t>n</a:t>
              </a:r>
              <a:endParaRPr sz="2000" dirty="0"/>
            </a:p>
          </p:txBody>
        </p:sp>
        <p:sp>
          <p:nvSpPr>
            <p:cNvPr id="9" name="Google Shape;3381;p54">
              <a:extLst>
                <a:ext uri="{FF2B5EF4-FFF2-40B4-BE49-F238E27FC236}">
                  <a16:creationId xmlns:a16="http://schemas.microsoft.com/office/drawing/2014/main" id="{5860F1BE-6A6C-47C3-9673-59F731A9D049}"/>
                </a:ext>
              </a:extLst>
            </p:cNvPr>
            <p:cNvSpPr/>
            <p:nvPr/>
          </p:nvSpPr>
          <p:spPr>
            <a:xfrm>
              <a:off x="2303478" y="4778274"/>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2000" dirty="0"/>
                <a:t>……</a:t>
              </a:r>
              <a:endParaRPr sz="2000" dirty="0"/>
            </a:p>
          </p:txBody>
        </p:sp>
        <p:sp>
          <p:nvSpPr>
            <p:cNvPr id="10" name="Google Shape;3382;p54">
              <a:extLst>
                <a:ext uri="{FF2B5EF4-FFF2-40B4-BE49-F238E27FC236}">
                  <a16:creationId xmlns:a16="http://schemas.microsoft.com/office/drawing/2014/main" id="{1136C683-BAF9-4224-ADA9-C24B7096DC00}"/>
                </a:ext>
              </a:extLst>
            </p:cNvPr>
            <p:cNvSpPr/>
            <p:nvPr/>
          </p:nvSpPr>
          <p:spPr>
            <a:xfrm>
              <a:off x="2303478" y="2900963"/>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模型</a:t>
              </a:r>
              <a:r>
                <a:rPr lang="en-US" altLang="zh-CN" sz="2000" dirty="0"/>
                <a:t>1</a:t>
              </a:r>
              <a:endParaRPr sz="2000" dirty="0"/>
            </a:p>
          </p:txBody>
        </p:sp>
        <p:sp>
          <p:nvSpPr>
            <p:cNvPr id="11" name="Google Shape;3383;p54">
              <a:extLst>
                <a:ext uri="{FF2B5EF4-FFF2-40B4-BE49-F238E27FC236}">
                  <a16:creationId xmlns:a16="http://schemas.microsoft.com/office/drawing/2014/main" id="{9496869B-43EC-4532-92E9-2DEB33124ED3}"/>
                </a:ext>
              </a:extLst>
            </p:cNvPr>
            <p:cNvSpPr/>
            <p:nvPr/>
          </p:nvSpPr>
          <p:spPr>
            <a:xfrm>
              <a:off x="2303478" y="3846525"/>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模型</a:t>
              </a:r>
              <a:r>
                <a:rPr lang="en-US" altLang="zh-CN" sz="2000" dirty="0"/>
                <a:t>2</a:t>
              </a:r>
              <a:endParaRPr sz="2000" dirty="0"/>
            </a:p>
          </p:txBody>
        </p:sp>
        <p:cxnSp>
          <p:nvCxnSpPr>
            <p:cNvPr id="12" name="Google Shape;3386;p54">
              <a:extLst>
                <a:ext uri="{FF2B5EF4-FFF2-40B4-BE49-F238E27FC236}">
                  <a16:creationId xmlns:a16="http://schemas.microsoft.com/office/drawing/2014/main" id="{CEFDA0E0-56E0-4886-9292-1D95D25DB343}"/>
                </a:ext>
              </a:extLst>
            </p:cNvPr>
            <p:cNvCxnSpPr>
              <a:cxnSpLocks/>
              <a:endCxn id="9" idx="1"/>
            </p:cNvCxnSpPr>
            <p:nvPr/>
          </p:nvCxnSpPr>
          <p:spPr>
            <a:xfrm>
              <a:off x="1198757" y="4453248"/>
              <a:ext cx="1104721" cy="651426"/>
            </a:xfrm>
            <a:prstGeom prst="straightConnector1">
              <a:avLst/>
            </a:prstGeom>
            <a:noFill/>
            <a:ln w="19050" cap="flat" cmpd="sng">
              <a:solidFill>
                <a:schemeClr val="dk2"/>
              </a:solidFill>
              <a:prstDash val="solid"/>
              <a:round/>
              <a:headEnd type="none" w="med" len="med"/>
              <a:tailEnd type="triangle" w="med" len="med"/>
            </a:ln>
          </p:spPr>
        </p:cxnSp>
        <p:cxnSp>
          <p:nvCxnSpPr>
            <p:cNvPr id="13" name="Google Shape;3387;p54">
              <a:extLst>
                <a:ext uri="{FF2B5EF4-FFF2-40B4-BE49-F238E27FC236}">
                  <a16:creationId xmlns:a16="http://schemas.microsoft.com/office/drawing/2014/main" id="{64C7C5C0-E3A6-4ABE-BA9E-E0E02782C35D}"/>
                </a:ext>
              </a:extLst>
            </p:cNvPr>
            <p:cNvCxnSpPr>
              <a:cxnSpLocks/>
              <a:endCxn id="10" idx="1"/>
            </p:cNvCxnSpPr>
            <p:nvPr/>
          </p:nvCxnSpPr>
          <p:spPr>
            <a:xfrm flipV="1">
              <a:off x="1198757" y="3227363"/>
              <a:ext cx="1104721" cy="1225885"/>
            </a:xfrm>
            <a:prstGeom prst="straightConnector1">
              <a:avLst/>
            </a:prstGeom>
            <a:noFill/>
            <a:ln w="19050" cap="flat" cmpd="sng">
              <a:solidFill>
                <a:schemeClr val="dk2"/>
              </a:solidFill>
              <a:prstDash val="solid"/>
              <a:round/>
              <a:headEnd type="none" w="med" len="med"/>
              <a:tailEnd type="triangle" w="med" len="med"/>
            </a:ln>
          </p:spPr>
        </p:cxnSp>
        <p:cxnSp>
          <p:nvCxnSpPr>
            <p:cNvPr id="14" name="Google Shape;3388;p54">
              <a:extLst>
                <a:ext uri="{FF2B5EF4-FFF2-40B4-BE49-F238E27FC236}">
                  <a16:creationId xmlns:a16="http://schemas.microsoft.com/office/drawing/2014/main" id="{6E039011-2F31-47AD-B6ED-FF2E1EB58D75}"/>
                </a:ext>
              </a:extLst>
            </p:cNvPr>
            <p:cNvCxnSpPr>
              <a:cxnSpLocks/>
              <a:endCxn id="8" idx="1"/>
            </p:cNvCxnSpPr>
            <p:nvPr/>
          </p:nvCxnSpPr>
          <p:spPr>
            <a:xfrm>
              <a:off x="1198757" y="4453248"/>
              <a:ext cx="1104721" cy="1629252"/>
            </a:xfrm>
            <a:prstGeom prst="straightConnector1">
              <a:avLst/>
            </a:prstGeom>
            <a:noFill/>
            <a:ln w="19050" cap="flat" cmpd="sng">
              <a:solidFill>
                <a:schemeClr val="dk2"/>
              </a:solidFill>
              <a:prstDash val="solid"/>
              <a:round/>
              <a:headEnd type="none" w="med" len="med"/>
              <a:tailEnd type="triangle" w="med" len="med"/>
            </a:ln>
          </p:spPr>
        </p:cxnSp>
        <p:cxnSp>
          <p:nvCxnSpPr>
            <p:cNvPr id="15" name="Google Shape;3386;p54">
              <a:extLst>
                <a:ext uri="{FF2B5EF4-FFF2-40B4-BE49-F238E27FC236}">
                  <a16:creationId xmlns:a16="http://schemas.microsoft.com/office/drawing/2014/main" id="{288FA462-93E7-430B-908A-16D362C9B9C6}"/>
                </a:ext>
              </a:extLst>
            </p:cNvPr>
            <p:cNvCxnSpPr>
              <a:cxnSpLocks/>
            </p:cNvCxnSpPr>
            <p:nvPr/>
          </p:nvCxnSpPr>
          <p:spPr>
            <a:xfrm flipV="1">
              <a:off x="1198757" y="4228003"/>
              <a:ext cx="1108926" cy="228702"/>
            </a:xfrm>
            <a:prstGeom prst="straightConnector1">
              <a:avLst/>
            </a:prstGeom>
            <a:noFill/>
            <a:ln w="19050" cap="flat" cmpd="sng">
              <a:solidFill>
                <a:schemeClr val="dk2"/>
              </a:solidFill>
              <a:prstDash val="solid"/>
              <a:round/>
              <a:headEnd type="none" w="med" len="med"/>
              <a:tailEnd type="triangle" w="med" len="med"/>
            </a:ln>
          </p:spPr>
        </p:cxnSp>
        <p:sp>
          <p:nvSpPr>
            <p:cNvPr id="16" name="Google Shape;3379;p54">
              <a:extLst>
                <a:ext uri="{FF2B5EF4-FFF2-40B4-BE49-F238E27FC236}">
                  <a16:creationId xmlns:a16="http://schemas.microsoft.com/office/drawing/2014/main" id="{261BF695-2F2C-4656-839E-8E9AB1AC663A}"/>
                </a:ext>
              </a:extLst>
            </p:cNvPr>
            <p:cNvSpPr/>
            <p:nvPr/>
          </p:nvSpPr>
          <p:spPr>
            <a:xfrm>
              <a:off x="4694253" y="5756100"/>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预测</a:t>
              </a:r>
              <a:r>
                <a:rPr lang="en-US" altLang="zh-CN" sz="2000" dirty="0"/>
                <a:t>n</a:t>
              </a:r>
              <a:endParaRPr sz="2000" dirty="0"/>
            </a:p>
          </p:txBody>
        </p:sp>
        <p:sp>
          <p:nvSpPr>
            <p:cNvPr id="17" name="Google Shape;3381;p54">
              <a:extLst>
                <a:ext uri="{FF2B5EF4-FFF2-40B4-BE49-F238E27FC236}">
                  <a16:creationId xmlns:a16="http://schemas.microsoft.com/office/drawing/2014/main" id="{36C11119-DF8E-4AA9-A25A-9FF7A1675202}"/>
                </a:ext>
              </a:extLst>
            </p:cNvPr>
            <p:cNvSpPr/>
            <p:nvPr/>
          </p:nvSpPr>
          <p:spPr>
            <a:xfrm>
              <a:off x="4694253" y="4778274"/>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2000" dirty="0"/>
                <a:t>……</a:t>
              </a:r>
              <a:endParaRPr sz="2000" dirty="0"/>
            </a:p>
          </p:txBody>
        </p:sp>
        <p:sp>
          <p:nvSpPr>
            <p:cNvPr id="18" name="Google Shape;3382;p54">
              <a:extLst>
                <a:ext uri="{FF2B5EF4-FFF2-40B4-BE49-F238E27FC236}">
                  <a16:creationId xmlns:a16="http://schemas.microsoft.com/office/drawing/2014/main" id="{6010C701-6A2B-4906-B55C-5F9580053C8D}"/>
                </a:ext>
              </a:extLst>
            </p:cNvPr>
            <p:cNvSpPr/>
            <p:nvPr/>
          </p:nvSpPr>
          <p:spPr>
            <a:xfrm>
              <a:off x="4694253" y="2900963"/>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预测</a:t>
              </a:r>
              <a:r>
                <a:rPr lang="en-US" altLang="zh-CN" sz="2000" dirty="0"/>
                <a:t>1</a:t>
              </a:r>
              <a:endParaRPr sz="2000" dirty="0"/>
            </a:p>
          </p:txBody>
        </p:sp>
        <p:sp>
          <p:nvSpPr>
            <p:cNvPr id="19" name="Google Shape;3383;p54">
              <a:extLst>
                <a:ext uri="{FF2B5EF4-FFF2-40B4-BE49-F238E27FC236}">
                  <a16:creationId xmlns:a16="http://schemas.microsoft.com/office/drawing/2014/main" id="{68380E85-B309-432F-8C41-3C9A059726AA}"/>
                </a:ext>
              </a:extLst>
            </p:cNvPr>
            <p:cNvSpPr/>
            <p:nvPr/>
          </p:nvSpPr>
          <p:spPr>
            <a:xfrm>
              <a:off x="4694253" y="3846525"/>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预测</a:t>
              </a:r>
              <a:r>
                <a:rPr lang="en-US" altLang="zh-CN" sz="2000" dirty="0"/>
                <a:t>2</a:t>
              </a:r>
              <a:endParaRPr sz="2000" dirty="0"/>
            </a:p>
          </p:txBody>
        </p:sp>
        <p:cxnSp>
          <p:nvCxnSpPr>
            <p:cNvPr id="20" name="Google Shape;3386;p54">
              <a:extLst>
                <a:ext uri="{FF2B5EF4-FFF2-40B4-BE49-F238E27FC236}">
                  <a16:creationId xmlns:a16="http://schemas.microsoft.com/office/drawing/2014/main" id="{BF5C5D19-07CF-48C1-9B28-B369073FC0DF}"/>
                </a:ext>
              </a:extLst>
            </p:cNvPr>
            <p:cNvCxnSpPr>
              <a:cxnSpLocks/>
              <a:stCxn id="10" idx="3"/>
              <a:endCxn id="18" idx="1"/>
            </p:cNvCxnSpPr>
            <p:nvPr/>
          </p:nvCxnSpPr>
          <p:spPr>
            <a:xfrm>
              <a:off x="3799878" y="3227363"/>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21" name="Google Shape;3386;p54">
              <a:extLst>
                <a:ext uri="{FF2B5EF4-FFF2-40B4-BE49-F238E27FC236}">
                  <a16:creationId xmlns:a16="http://schemas.microsoft.com/office/drawing/2014/main" id="{57A10467-6E2A-4198-BC5F-B0F734A4C5D5}"/>
                </a:ext>
              </a:extLst>
            </p:cNvPr>
            <p:cNvCxnSpPr>
              <a:cxnSpLocks/>
            </p:cNvCxnSpPr>
            <p:nvPr/>
          </p:nvCxnSpPr>
          <p:spPr>
            <a:xfrm>
              <a:off x="3799877" y="6082463"/>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22" name="Google Shape;3386;p54">
              <a:extLst>
                <a:ext uri="{FF2B5EF4-FFF2-40B4-BE49-F238E27FC236}">
                  <a16:creationId xmlns:a16="http://schemas.microsoft.com/office/drawing/2014/main" id="{646FD0AD-1ED4-4BCB-B79A-BA4A3414DC1A}"/>
                </a:ext>
              </a:extLst>
            </p:cNvPr>
            <p:cNvCxnSpPr>
              <a:cxnSpLocks/>
            </p:cNvCxnSpPr>
            <p:nvPr/>
          </p:nvCxnSpPr>
          <p:spPr>
            <a:xfrm>
              <a:off x="3799878" y="5104637"/>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23" name="Google Shape;3386;p54">
              <a:extLst>
                <a:ext uri="{FF2B5EF4-FFF2-40B4-BE49-F238E27FC236}">
                  <a16:creationId xmlns:a16="http://schemas.microsoft.com/office/drawing/2014/main" id="{9BE84FEA-75F1-4D3C-8FAB-E0D1E2258872}"/>
                </a:ext>
              </a:extLst>
            </p:cNvPr>
            <p:cNvCxnSpPr>
              <a:cxnSpLocks/>
            </p:cNvCxnSpPr>
            <p:nvPr/>
          </p:nvCxnSpPr>
          <p:spPr>
            <a:xfrm>
              <a:off x="3799878" y="4172888"/>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24" name="Google Shape;3386;p54">
              <a:extLst>
                <a:ext uri="{FF2B5EF4-FFF2-40B4-BE49-F238E27FC236}">
                  <a16:creationId xmlns:a16="http://schemas.microsoft.com/office/drawing/2014/main" id="{02B605FF-FF7D-4CF1-B4A7-DDC660D69ECD}"/>
                </a:ext>
              </a:extLst>
            </p:cNvPr>
            <p:cNvCxnSpPr>
              <a:cxnSpLocks/>
              <a:stCxn id="18" idx="3"/>
            </p:cNvCxnSpPr>
            <p:nvPr/>
          </p:nvCxnSpPr>
          <p:spPr>
            <a:xfrm>
              <a:off x="6190653" y="3227363"/>
              <a:ext cx="1389581" cy="1108762"/>
            </a:xfrm>
            <a:prstGeom prst="straightConnector1">
              <a:avLst/>
            </a:prstGeom>
            <a:noFill/>
            <a:ln w="19050" cap="flat" cmpd="sng">
              <a:solidFill>
                <a:schemeClr val="dk2"/>
              </a:solidFill>
              <a:prstDash val="solid"/>
              <a:round/>
              <a:headEnd type="none" w="med" len="med"/>
              <a:tailEnd type="triangle" w="med" len="med"/>
            </a:ln>
          </p:spPr>
        </p:cxnSp>
        <p:cxnSp>
          <p:nvCxnSpPr>
            <p:cNvPr id="25" name="Google Shape;3386;p54">
              <a:extLst>
                <a:ext uri="{FF2B5EF4-FFF2-40B4-BE49-F238E27FC236}">
                  <a16:creationId xmlns:a16="http://schemas.microsoft.com/office/drawing/2014/main" id="{238BB844-8392-4FC3-B5F1-F91029934F1D}"/>
                </a:ext>
              </a:extLst>
            </p:cNvPr>
            <p:cNvCxnSpPr>
              <a:cxnSpLocks/>
              <a:stCxn id="19" idx="3"/>
            </p:cNvCxnSpPr>
            <p:nvPr/>
          </p:nvCxnSpPr>
          <p:spPr>
            <a:xfrm>
              <a:off x="6190653" y="4172925"/>
              <a:ext cx="1389581" cy="326400"/>
            </a:xfrm>
            <a:prstGeom prst="straightConnector1">
              <a:avLst/>
            </a:prstGeom>
            <a:noFill/>
            <a:ln w="19050" cap="flat" cmpd="sng">
              <a:solidFill>
                <a:schemeClr val="dk2"/>
              </a:solidFill>
              <a:prstDash val="solid"/>
              <a:round/>
              <a:headEnd type="none" w="med" len="med"/>
              <a:tailEnd type="triangle" w="med" len="med"/>
            </a:ln>
          </p:spPr>
        </p:cxnSp>
        <p:cxnSp>
          <p:nvCxnSpPr>
            <p:cNvPr id="26" name="Google Shape;3386;p54">
              <a:extLst>
                <a:ext uri="{FF2B5EF4-FFF2-40B4-BE49-F238E27FC236}">
                  <a16:creationId xmlns:a16="http://schemas.microsoft.com/office/drawing/2014/main" id="{E4359A8B-21FB-49E6-8FDB-ECF61B047E1C}"/>
                </a:ext>
              </a:extLst>
            </p:cNvPr>
            <p:cNvCxnSpPr>
              <a:cxnSpLocks/>
            </p:cNvCxnSpPr>
            <p:nvPr/>
          </p:nvCxnSpPr>
          <p:spPr>
            <a:xfrm flipV="1">
              <a:off x="6190653" y="4563883"/>
              <a:ext cx="1389581" cy="514470"/>
            </a:xfrm>
            <a:prstGeom prst="straightConnector1">
              <a:avLst/>
            </a:prstGeom>
            <a:noFill/>
            <a:ln w="19050" cap="flat" cmpd="sng">
              <a:solidFill>
                <a:schemeClr val="dk2"/>
              </a:solidFill>
              <a:prstDash val="solid"/>
              <a:round/>
              <a:headEnd type="none" w="med" len="med"/>
              <a:tailEnd type="triangle" w="med" len="med"/>
            </a:ln>
          </p:spPr>
        </p:cxnSp>
        <p:cxnSp>
          <p:nvCxnSpPr>
            <p:cNvPr id="27" name="Google Shape;3386;p54">
              <a:extLst>
                <a:ext uri="{FF2B5EF4-FFF2-40B4-BE49-F238E27FC236}">
                  <a16:creationId xmlns:a16="http://schemas.microsoft.com/office/drawing/2014/main" id="{94933542-4306-4148-8AD9-A80F4F4ADB0F}"/>
                </a:ext>
              </a:extLst>
            </p:cNvPr>
            <p:cNvCxnSpPr>
              <a:cxnSpLocks/>
              <a:stCxn id="16" idx="3"/>
            </p:cNvCxnSpPr>
            <p:nvPr/>
          </p:nvCxnSpPr>
          <p:spPr>
            <a:xfrm flipV="1">
              <a:off x="6190653" y="4673539"/>
              <a:ext cx="1389581" cy="1408961"/>
            </a:xfrm>
            <a:prstGeom prst="straightConnector1">
              <a:avLst/>
            </a:prstGeom>
            <a:noFill/>
            <a:ln w="19050" cap="flat" cmpd="sng">
              <a:solidFill>
                <a:schemeClr val="dk2"/>
              </a:solidFill>
              <a:prstDash val="solid"/>
              <a:round/>
              <a:headEnd type="none" w="med" len="med"/>
              <a:tailEnd type="triangle" w="med" len="med"/>
            </a:ln>
          </p:spPr>
        </p:cxnSp>
        <p:sp>
          <p:nvSpPr>
            <p:cNvPr id="28" name="矩形: 圆角 27">
              <a:extLst>
                <a:ext uri="{FF2B5EF4-FFF2-40B4-BE49-F238E27FC236}">
                  <a16:creationId xmlns:a16="http://schemas.microsoft.com/office/drawing/2014/main" id="{F6CD5C09-3F5B-4384-A89C-8BF4CF5444A2}"/>
                </a:ext>
              </a:extLst>
            </p:cNvPr>
            <p:cNvSpPr/>
            <p:nvPr/>
          </p:nvSpPr>
          <p:spPr>
            <a:xfrm>
              <a:off x="349144" y="3553763"/>
              <a:ext cx="915868" cy="166491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mj-ea"/>
                  <a:ea typeface="+mj-ea"/>
                </a:rPr>
                <a:t>训练数据</a:t>
              </a:r>
            </a:p>
          </p:txBody>
        </p:sp>
        <p:sp>
          <p:nvSpPr>
            <p:cNvPr id="29" name="Google Shape;3380;p54">
              <a:extLst>
                <a:ext uri="{FF2B5EF4-FFF2-40B4-BE49-F238E27FC236}">
                  <a16:creationId xmlns:a16="http://schemas.microsoft.com/office/drawing/2014/main" id="{761A7A8A-B88E-48CA-92E5-4531DBA28A62}"/>
                </a:ext>
              </a:extLst>
            </p:cNvPr>
            <p:cNvSpPr/>
            <p:nvPr/>
          </p:nvSpPr>
          <p:spPr>
            <a:xfrm>
              <a:off x="7580234" y="3632462"/>
              <a:ext cx="747840" cy="1583175"/>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t>第二层数据</a:t>
              </a:r>
              <a:endParaRPr sz="1600" dirty="0"/>
            </a:p>
          </p:txBody>
        </p:sp>
        <p:sp>
          <p:nvSpPr>
            <p:cNvPr id="30" name="Google Shape;3380;p54">
              <a:extLst>
                <a:ext uri="{FF2B5EF4-FFF2-40B4-BE49-F238E27FC236}">
                  <a16:creationId xmlns:a16="http://schemas.microsoft.com/office/drawing/2014/main" id="{46C3B524-6334-4EB4-AFCA-2A8E5FD484E5}"/>
                </a:ext>
              </a:extLst>
            </p:cNvPr>
            <p:cNvSpPr/>
            <p:nvPr/>
          </p:nvSpPr>
          <p:spPr>
            <a:xfrm>
              <a:off x="9054905" y="3635498"/>
              <a:ext cx="1195753" cy="1583175"/>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1600" dirty="0"/>
                <a:t>Stacking</a:t>
              </a:r>
              <a:endParaRPr sz="1600" dirty="0"/>
            </a:p>
          </p:txBody>
        </p:sp>
        <p:cxnSp>
          <p:nvCxnSpPr>
            <p:cNvPr id="31" name="Google Shape;3386;p54">
              <a:extLst>
                <a:ext uri="{FF2B5EF4-FFF2-40B4-BE49-F238E27FC236}">
                  <a16:creationId xmlns:a16="http://schemas.microsoft.com/office/drawing/2014/main" id="{71568AD0-A12F-4670-A1AB-BB1CF25C9E96}"/>
                </a:ext>
              </a:extLst>
            </p:cNvPr>
            <p:cNvCxnSpPr>
              <a:cxnSpLocks/>
            </p:cNvCxnSpPr>
            <p:nvPr/>
          </p:nvCxnSpPr>
          <p:spPr>
            <a:xfrm>
              <a:off x="8328074" y="4453248"/>
              <a:ext cx="726831" cy="0"/>
            </a:xfrm>
            <a:prstGeom prst="straightConnector1">
              <a:avLst/>
            </a:prstGeom>
            <a:noFill/>
            <a:ln w="19050" cap="flat" cmpd="sng">
              <a:solidFill>
                <a:schemeClr val="dk2"/>
              </a:solidFill>
              <a:prstDash val="solid"/>
              <a:round/>
              <a:headEnd type="none" w="med" len="med"/>
              <a:tailEnd type="triangle" w="med" len="med"/>
            </a:ln>
          </p:spPr>
        </p:cxnSp>
        <p:sp>
          <p:nvSpPr>
            <p:cNvPr id="32" name="Google Shape;3380;p54">
              <a:extLst>
                <a:ext uri="{FF2B5EF4-FFF2-40B4-BE49-F238E27FC236}">
                  <a16:creationId xmlns:a16="http://schemas.microsoft.com/office/drawing/2014/main" id="{CBCA174B-93C6-4266-A5FF-F607B73949BB}"/>
                </a:ext>
              </a:extLst>
            </p:cNvPr>
            <p:cNvSpPr/>
            <p:nvPr/>
          </p:nvSpPr>
          <p:spPr>
            <a:xfrm>
              <a:off x="10977489" y="3635498"/>
              <a:ext cx="747840" cy="1583175"/>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t>最终预测结果</a:t>
              </a:r>
              <a:endParaRPr sz="1600" dirty="0"/>
            </a:p>
          </p:txBody>
        </p:sp>
        <p:cxnSp>
          <p:nvCxnSpPr>
            <p:cNvPr id="33" name="Google Shape;3386;p54">
              <a:extLst>
                <a:ext uri="{FF2B5EF4-FFF2-40B4-BE49-F238E27FC236}">
                  <a16:creationId xmlns:a16="http://schemas.microsoft.com/office/drawing/2014/main" id="{85A964FF-213A-443E-A75B-130652478E50}"/>
                </a:ext>
              </a:extLst>
            </p:cNvPr>
            <p:cNvCxnSpPr>
              <a:cxnSpLocks/>
            </p:cNvCxnSpPr>
            <p:nvPr/>
          </p:nvCxnSpPr>
          <p:spPr>
            <a:xfrm>
              <a:off x="10250658" y="4453248"/>
              <a:ext cx="726831" cy="0"/>
            </a:xfrm>
            <a:prstGeom prst="straightConnector1">
              <a:avLst/>
            </a:prstGeom>
            <a:noFill/>
            <a:ln w="19050" cap="flat" cmpd="sng">
              <a:solidFill>
                <a:schemeClr val="dk2"/>
              </a:solidFill>
              <a:prstDash val="solid"/>
              <a:round/>
              <a:headEnd type="none" w="med" len="med"/>
              <a:tailEnd type="triangle" w="med" len="med"/>
            </a:ln>
          </p:spPr>
        </p:cxnSp>
      </p:grpSp>
      <p:sp>
        <p:nvSpPr>
          <p:cNvPr id="36" name="文本框 35">
            <a:extLst>
              <a:ext uri="{FF2B5EF4-FFF2-40B4-BE49-F238E27FC236}">
                <a16:creationId xmlns:a16="http://schemas.microsoft.com/office/drawing/2014/main" id="{3A5BE2C6-2796-42BB-AD7B-6AB8D6F5BFCC}"/>
              </a:ext>
            </a:extLst>
          </p:cNvPr>
          <p:cNvSpPr txBox="1"/>
          <p:nvPr/>
        </p:nvSpPr>
        <p:spPr>
          <a:xfrm>
            <a:off x="620873" y="1394167"/>
            <a:ext cx="10950254" cy="1976951"/>
          </a:xfrm>
          <a:prstGeom prst="rect">
            <a:avLst/>
          </a:prstGeom>
          <a:noFill/>
        </p:spPr>
        <p:txBody>
          <a:bodyPr wrap="square" rtlCol="0">
            <a:spAutoFit/>
          </a:bodyPr>
          <a:lstStyle/>
          <a:p>
            <a:pPr>
              <a:lnSpc>
                <a:spcPct val="150000"/>
              </a:lnSpc>
            </a:pPr>
            <a:r>
              <a:rPr lang="en-US" altLang="zh-CN" sz="2400" b="1" dirty="0">
                <a:latin typeface="+mj-ea"/>
                <a:ea typeface="+mj-ea"/>
              </a:rPr>
              <a:t>Stacking</a:t>
            </a:r>
          </a:p>
          <a:p>
            <a:pPr>
              <a:lnSpc>
                <a:spcPct val="150000"/>
              </a:lnSpc>
            </a:pPr>
            <a:r>
              <a:rPr lang="zh-CN" altLang="en-US" sz="2000" dirty="0">
                <a:latin typeface="+mj-ea"/>
                <a:ea typeface="+mj-ea"/>
              </a:rPr>
              <a:t>将训练好的所有基模型对训练基进行预测，第</a:t>
            </a:r>
            <a:r>
              <a:rPr lang="en-US" altLang="zh-CN" sz="2000" dirty="0">
                <a:latin typeface="+mj-ea"/>
                <a:ea typeface="+mj-ea"/>
              </a:rPr>
              <a:t>j</a:t>
            </a:r>
            <a:r>
              <a:rPr lang="zh-CN" altLang="en-US" sz="2000" dirty="0">
                <a:latin typeface="+mj-ea"/>
                <a:ea typeface="+mj-ea"/>
              </a:rPr>
              <a:t>个基模型对第</a:t>
            </a:r>
            <a:r>
              <a:rPr lang="en-US" altLang="zh-CN" sz="2000" dirty="0" err="1">
                <a:latin typeface="+mj-ea"/>
                <a:ea typeface="+mj-ea"/>
              </a:rPr>
              <a:t>i</a:t>
            </a:r>
            <a:r>
              <a:rPr lang="zh-CN" altLang="en-US" sz="2000" dirty="0">
                <a:latin typeface="+mj-ea"/>
                <a:ea typeface="+mj-ea"/>
              </a:rPr>
              <a:t>个训练样本的预测值将作为新的训练集中第</a:t>
            </a:r>
            <a:r>
              <a:rPr lang="en-US" altLang="zh-CN" sz="2000" dirty="0" err="1">
                <a:latin typeface="+mj-ea"/>
                <a:ea typeface="+mj-ea"/>
              </a:rPr>
              <a:t>i</a:t>
            </a:r>
            <a:r>
              <a:rPr lang="zh-CN" altLang="en-US" sz="2000" dirty="0">
                <a:latin typeface="+mj-ea"/>
                <a:ea typeface="+mj-ea"/>
              </a:rPr>
              <a:t>个样本的第</a:t>
            </a:r>
            <a:r>
              <a:rPr lang="en-US" altLang="zh-CN" sz="2000" dirty="0">
                <a:latin typeface="+mj-ea"/>
                <a:ea typeface="+mj-ea"/>
              </a:rPr>
              <a:t>j</a:t>
            </a:r>
            <a:r>
              <a:rPr lang="zh-CN" altLang="en-US" sz="2000" dirty="0">
                <a:latin typeface="+mj-ea"/>
                <a:ea typeface="+mj-ea"/>
              </a:rPr>
              <a:t>个特征值，最后基于新的训练集进行训练。同理，预测的过程也要先经过所有基模型的预测形成新的测试集，最后再对测试集进行预测。</a:t>
            </a:r>
            <a:endParaRPr lang="zh-CN" altLang="en-US" sz="1600" dirty="0">
              <a:latin typeface="+mj-ea"/>
              <a:ea typeface="+mj-ea"/>
            </a:endParaRPr>
          </a:p>
        </p:txBody>
      </p:sp>
      <p:sp>
        <p:nvSpPr>
          <p:cNvPr id="45" name="矩形: 圆角 44">
            <a:extLst>
              <a:ext uri="{FF2B5EF4-FFF2-40B4-BE49-F238E27FC236}">
                <a16:creationId xmlns:a16="http://schemas.microsoft.com/office/drawing/2014/main" id="{7BF8E9FE-608D-4EB1-BD8A-64CEBBB9A395}"/>
              </a:ext>
            </a:extLst>
          </p:cNvPr>
          <p:cNvSpPr/>
          <p:nvPr/>
        </p:nvSpPr>
        <p:spPr>
          <a:xfrm>
            <a:off x="6417082" y="5740435"/>
            <a:ext cx="791266" cy="77413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mj-ea"/>
                <a:ea typeface="+mj-ea"/>
              </a:rPr>
              <a:t>测试数据</a:t>
            </a:r>
          </a:p>
        </p:txBody>
      </p:sp>
      <p:cxnSp>
        <p:nvCxnSpPr>
          <p:cNvPr id="47" name="Google Shape;3386;p54">
            <a:extLst>
              <a:ext uri="{FF2B5EF4-FFF2-40B4-BE49-F238E27FC236}">
                <a16:creationId xmlns:a16="http://schemas.microsoft.com/office/drawing/2014/main" id="{12675D5B-87DC-4812-9E51-3495A3B1A33E}"/>
              </a:ext>
            </a:extLst>
          </p:cNvPr>
          <p:cNvCxnSpPr>
            <a:cxnSpLocks/>
          </p:cNvCxnSpPr>
          <p:nvPr/>
        </p:nvCxnSpPr>
        <p:spPr>
          <a:xfrm flipH="1">
            <a:off x="6021216" y="6128380"/>
            <a:ext cx="395866" cy="0"/>
          </a:xfrm>
          <a:prstGeom prst="straightConnector1">
            <a:avLst/>
          </a:prstGeom>
          <a:noFill/>
          <a:ln w="19050" cap="flat" cmpd="sng">
            <a:solidFill>
              <a:schemeClr val="tx1"/>
            </a:solidFill>
            <a:prstDash val="solid"/>
            <a:round/>
            <a:headEnd type="none" w="med" len="med"/>
            <a:tailEnd type="triangle" w="med" len="med"/>
          </a:ln>
        </p:spPr>
      </p:cxnSp>
      <p:cxnSp>
        <p:nvCxnSpPr>
          <p:cNvPr id="49" name="Google Shape;3386;p54">
            <a:extLst>
              <a:ext uri="{FF2B5EF4-FFF2-40B4-BE49-F238E27FC236}">
                <a16:creationId xmlns:a16="http://schemas.microsoft.com/office/drawing/2014/main" id="{C7BFAAD0-E0C4-49A5-8217-04FB044FDA22}"/>
              </a:ext>
            </a:extLst>
          </p:cNvPr>
          <p:cNvCxnSpPr>
            <a:cxnSpLocks/>
            <a:stCxn id="45" idx="3"/>
          </p:cNvCxnSpPr>
          <p:nvPr/>
        </p:nvCxnSpPr>
        <p:spPr>
          <a:xfrm flipV="1">
            <a:off x="7208348" y="5124882"/>
            <a:ext cx="1014217" cy="1002618"/>
          </a:xfrm>
          <a:prstGeom prst="straightConnector1">
            <a:avLst/>
          </a:prstGeom>
          <a:noFill/>
          <a:ln w="19050" cap="flat" cmpd="sng">
            <a:solidFill>
              <a:schemeClr val="dk2"/>
            </a:solidFill>
            <a:prstDash val="solid"/>
            <a:round/>
            <a:headEnd type="none" w="med" len="med"/>
            <a:tailEnd type="triangle" w="med" len="med"/>
          </a:ln>
        </p:spPr>
      </p:cxnSp>
    </p:spTree>
    <p:extLst>
      <p:ext uri="{BB962C8B-B14F-4D97-AF65-F5344CB8AC3E}">
        <p14:creationId xmlns:p14="http://schemas.microsoft.com/office/powerpoint/2010/main" val="1891521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文本框 7">
            <a:extLst>
              <a:ext uri="{FF2B5EF4-FFF2-40B4-BE49-F238E27FC236}">
                <a16:creationId xmlns:a16="http://schemas.microsoft.com/office/drawing/2014/main" id="{4B2AC396-7C1E-453D-8208-84A7162B0A6F}"/>
              </a:ext>
            </a:extLst>
          </p:cNvPr>
          <p:cNvSpPr txBox="1"/>
          <p:nvPr/>
        </p:nvSpPr>
        <p:spPr>
          <a:xfrm>
            <a:off x="588038" y="1440123"/>
            <a:ext cx="10042448" cy="5351593"/>
          </a:xfrm>
          <a:prstGeom prst="rect">
            <a:avLst/>
          </a:prstGeom>
          <a:noFill/>
        </p:spPr>
        <p:txBody>
          <a:bodyPr wrap="square">
            <a:spAutoFit/>
          </a:bodyPr>
          <a:lstStyle/>
          <a:p>
            <a:pPr>
              <a:lnSpc>
                <a:spcPct val="150000"/>
              </a:lnSpc>
              <a:spcBef>
                <a:spcPts val="900"/>
              </a:spcBef>
              <a:spcAft>
                <a:spcPts val="900"/>
              </a:spcAft>
            </a:pPr>
            <a:r>
              <a:rPr lang="en-US" altLang="zh-CN" sz="2400" b="1" dirty="0">
                <a:effectLst/>
                <a:latin typeface="+mj-ea"/>
                <a:ea typeface="+mj-ea"/>
                <a:cs typeface="Times New Roman" panose="02020603050405020304" pitchFamily="18" charset="0"/>
              </a:rPr>
              <a:t>Random </a:t>
            </a:r>
            <a:r>
              <a:rPr lang="en-US" altLang="zh-CN" sz="2400" b="1" dirty="0" err="1">
                <a:effectLst/>
                <a:latin typeface="+mj-ea"/>
                <a:ea typeface="+mj-ea"/>
                <a:cs typeface="Times New Roman" panose="02020603050405020304" pitchFamily="18" charset="0"/>
              </a:rPr>
              <a:t>Forest（随机森林</a:t>
            </a:r>
            <a:r>
              <a:rPr lang="en-US" altLang="zh-CN" sz="2400" b="1" dirty="0">
                <a:effectLst/>
                <a:latin typeface="+mj-ea"/>
                <a:ea typeface="+mj-ea"/>
                <a:cs typeface="Times New Roman" panose="02020603050405020304" pitchFamily="18" charset="0"/>
              </a:rPr>
              <a:t>）</a:t>
            </a:r>
          </a:p>
          <a:p>
            <a:pPr>
              <a:lnSpc>
                <a:spcPct val="150000"/>
              </a:lnSpc>
              <a:spcBef>
                <a:spcPts val="900"/>
              </a:spcBef>
              <a:spcAft>
                <a:spcPts val="900"/>
              </a:spcAft>
            </a:pPr>
            <a:r>
              <a:rPr lang="en-US" altLang="zh-CN" sz="2400" dirty="0" err="1">
                <a:effectLst/>
                <a:latin typeface="+mj-ea"/>
                <a:ea typeface="+mj-ea"/>
                <a:cs typeface="Times New Roman" panose="02020603050405020304" pitchFamily="18" charset="0"/>
              </a:rPr>
              <a:t>用随机的方式建立一个森林</a:t>
            </a:r>
            <a:r>
              <a:rPr lang="en-US" altLang="zh-CN" sz="2400" dirty="0">
                <a:effectLst/>
                <a:latin typeface="+mj-ea"/>
                <a:ea typeface="+mj-ea"/>
                <a:cs typeface="Times New Roman" panose="02020603050405020304" pitchFamily="18" charset="0"/>
              </a:rPr>
              <a:t>。</a:t>
            </a:r>
            <a:r>
              <a:rPr lang="zh-CN" altLang="en-US" dirty="0">
                <a:latin typeface="+mj-ea"/>
                <a:ea typeface="+mj-ea"/>
                <a:cs typeface="Times New Roman" panose="02020603050405020304" pitchFamily="18" charset="0"/>
              </a:rPr>
              <a:t>随机森林</a:t>
            </a:r>
            <a:r>
              <a:rPr lang="en-US" altLang="zh-CN" sz="2400" dirty="0">
                <a:effectLst/>
                <a:latin typeface="+mj-ea"/>
                <a:ea typeface="+mj-ea"/>
                <a:cs typeface="Times New Roman" panose="02020603050405020304" pitchFamily="18" charset="0"/>
              </a:rPr>
              <a:t>算法由很多决策树组成，每一棵决策树之间没有关联。建立完森林后，当有新样本进入时，每棵决策树都会分别进行判断，然后基于投票法给出分类结果。</a:t>
            </a:r>
          </a:p>
          <a:p>
            <a:pPr>
              <a:spcBef>
                <a:spcPts val="900"/>
              </a:spcBef>
              <a:spcAft>
                <a:spcPts val="900"/>
              </a:spcAft>
            </a:pPr>
            <a:r>
              <a:rPr lang="en-US" altLang="zh-CN" dirty="0" err="1">
                <a:latin typeface="+mj-ea"/>
                <a:ea typeface="+mj-ea"/>
                <a:cs typeface="Times New Roman" panose="02020603050405020304" pitchFamily="18" charset="0"/>
              </a:rPr>
              <a:t>优点</a:t>
            </a:r>
            <a:endParaRPr lang="zh-CN" altLang="zh-CN" dirty="0">
              <a:latin typeface="+mj-ea"/>
              <a:ea typeface="+mj-ea"/>
              <a:cs typeface="Times New Roman" panose="02020603050405020304" pitchFamily="18" charset="0"/>
            </a:endParaRPr>
          </a:p>
          <a:p>
            <a:pPr marL="342900" lvl="0" indent="-342900">
              <a:spcAft>
                <a:spcPts val="1000"/>
              </a:spcAft>
              <a:buFont typeface="+mj-lt"/>
              <a:buAutoNum type="arabicPeriod"/>
            </a:pPr>
            <a:r>
              <a:rPr lang="en-US" altLang="zh-CN" dirty="0" err="1">
                <a:latin typeface="+mj-ea"/>
                <a:ea typeface="+mj-ea"/>
                <a:cs typeface="Times New Roman" panose="02020603050405020304" pitchFamily="18" charset="0"/>
              </a:rPr>
              <a:t>在数据集上表现良好，相对于其他算法有较大的优势</a:t>
            </a:r>
            <a:endParaRPr lang="zh-CN" altLang="zh-CN" dirty="0">
              <a:latin typeface="+mj-ea"/>
              <a:ea typeface="+mj-ea"/>
              <a:cs typeface="Times New Roman" panose="02020603050405020304" pitchFamily="18" charset="0"/>
            </a:endParaRPr>
          </a:p>
          <a:p>
            <a:pPr marL="342900" lvl="0" indent="-342900">
              <a:spcAft>
                <a:spcPts val="1000"/>
              </a:spcAft>
              <a:buFont typeface="+mj-lt"/>
              <a:buAutoNum type="arabicPeriod"/>
            </a:pPr>
            <a:r>
              <a:rPr lang="en-US" altLang="zh-CN" dirty="0" err="1">
                <a:latin typeface="+mj-ea"/>
                <a:ea typeface="+mj-ea"/>
                <a:cs typeface="Times New Roman" panose="02020603050405020304" pitchFamily="18" charset="0"/>
              </a:rPr>
              <a:t>易于并行化，在大数据集上有很大的优势</a:t>
            </a:r>
            <a:r>
              <a:rPr lang="en-US" altLang="zh-CN" dirty="0">
                <a:latin typeface="+mj-ea"/>
                <a:ea typeface="+mj-ea"/>
                <a:cs typeface="Times New Roman" panose="02020603050405020304" pitchFamily="18" charset="0"/>
              </a:rPr>
              <a:t>；</a:t>
            </a:r>
            <a:endParaRPr lang="zh-CN" altLang="zh-CN" dirty="0">
              <a:latin typeface="+mj-ea"/>
              <a:ea typeface="+mj-ea"/>
              <a:cs typeface="Times New Roman" panose="02020603050405020304" pitchFamily="18" charset="0"/>
            </a:endParaRPr>
          </a:p>
          <a:p>
            <a:pPr marL="342900" lvl="0" indent="-342900">
              <a:spcAft>
                <a:spcPts val="1000"/>
              </a:spcAft>
              <a:buFont typeface="+mj-lt"/>
              <a:buAutoNum type="arabicPeriod"/>
            </a:pPr>
            <a:r>
              <a:rPr lang="en-US" altLang="zh-CN" dirty="0" err="1">
                <a:latin typeface="+mj-ea"/>
                <a:ea typeface="+mj-ea"/>
                <a:cs typeface="Times New Roman" panose="02020603050405020304" pitchFamily="18" charset="0"/>
              </a:rPr>
              <a:t>能够处理高维度数据，不用做特征选择</a:t>
            </a:r>
            <a:r>
              <a:rPr lang="en-US" altLang="zh-CN" dirty="0">
                <a:latin typeface="+mj-ea"/>
                <a:ea typeface="+mj-ea"/>
                <a:cs typeface="Times New Roman" panose="02020603050405020304" pitchFamily="18" charset="0"/>
              </a:rPr>
              <a:t>。</a:t>
            </a:r>
            <a:endParaRPr lang="zh-CN" altLang="zh-CN" dirty="0">
              <a:latin typeface="+mj-ea"/>
              <a:ea typeface="+mj-ea"/>
              <a:cs typeface="Times New Roman" panose="02020603050405020304" pitchFamily="18" charset="0"/>
            </a:endParaRPr>
          </a:p>
          <a:p>
            <a:pPr>
              <a:lnSpc>
                <a:spcPct val="150000"/>
              </a:lnSpc>
              <a:spcBef>
                <a:spcPts val="900"/>
              </a:spcBef>
              <a:spcAft>
                <a:spcPts val="900"/>
              </a:spcAft>
            </a:pPr>
            <a:endParaRPr lang="zh-CN" altLang="zh-CN" sz="2400" dirty="0">
              <a:effectLst/>
              <a:latin typeface="+mj-ea"/>
              <a:ea typeface="+mj-ea"/>
              <a:cs typeface="Times New Roman" panose="02020603050405020304" pitchFamily="18" charset="0"/>
            </a:endParaRPr>
          </a:p>
        </p:txBody>
      </p:sp>
      <p:sp>
        <p:nvSpPr>
          <p:cNvPr id="5" name="文本框 22">
            <a:extLst>
              <a:ext uri="{FF2B5EF4-FFF2-40B4-BE49-F238E27FC236}">
                <a16:creationId xmlns:a16="http://schemas.microsoft.com/office/drawing/2014/main" id="{5D796D6F-5E60-4C2E-9EE2-34E8E7C5567D}"/>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随机森林</a:t>
            </a:r>
          </a:p>
        </p:txBody>
      </p:sp>
    </p:spTree>
    <p:extLst>
      <p:ext uri="{BB962C8B-B14F-4D97-AF65-F5344CB8AC3E}">
        <p14:creationId xmlns:p14="http://schemas.microsoft.com/office/powerpoint/2010/main" val="2606674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文本框 7">
            <a:extLst>
              <a:ext uri="{FF2B5EF4-FFF2-40B4-BE49-F238E27FC236}">
                <a16:creationId xmlns:a16="http://schemas.microsoft.com/office/drawing/2014/main" id="{4B2AC396-7C1E-453D-8208-84A7162B0A6F}"/>
              </a:ext>
            </a:extLst>
          </p:cNvPr>
          <p:cNvSpPr txBox="1"/>
          <p:nvPr/>
        </p:nvSpPr>
        <p:spPr>
          <a:xfrm>
            <a:off x="588038" y="1440123"/>
            <a:ext cx="6117562" cy="4231415"/>
          </a:xfrm>
          <a:prstGeom prst="rect">
            <a:avLst/>
          </a:prstGeom>
          <a:noFill/>
        </p:spPr>
        <p:txBody>
          <a:bodyPr wrap="square">
            <a:spAutoFit/>
          </a:bodyPr>
          <a:lstStyle/>
          <a:p>
            <a:pPr>
              <a:lnSpc>
                <a:spcPct val="150000"/>
              </a:lnSpc>
              <a:spcBef>
                <a:spcPts val="900"/>
              </a:spcBef>
              <a:spcAft>
                <a:spcPts val="900"/>
              </a:spcAft>
            </a:pPr>
            <a:r>
              <a:rPr lang="en-US" altLang="zh-CN" sz="2000" b="1" dirty="0">
                <a:effectLst/>
                <a:latin typeface="+mj-ea"/>
                <a:ea typeface="+mj-ea"/>
                <a:cs typeface="Times New Roman" panose="02020603050405020304" pitchFamily="18" charset="0"/>
              </a:rPr>
              <a:t>Random </a:t>
            </a:r>
            <a:r>
              <a:rPr lang="en-US" altLang="zh-CN" sz="2000" b="1" dirty="0" err="1">
                <a:effectLst/>
                <a:latin typeface="+mj-ea"/>
                <a:ea typeface="+mj-ea"/>
                <a:cs typeface="Times New Roman" panose="02020603050405020304" pitchFamily="18" charset="0"/>
              </a:rPr>
              <a:t>Forest（随机森林）</a:t>
            </a:r>
            <a:r>
              <a:rPr lang="en-US" altLang="zh-CN" sz="2000" dirty="0" err="1">
                <a:effectLst/>
                <a:latin typeface="+mj-ea"/>
                <a:ea typeface="+mj-ea"/>
                <a:cs typeface="Times New Roman" panose="02020603050405020304" pitchFamily="18" charset="0"/>
              </a:rPr>
              <a:t>是</a:t>
            </a:r>
            <a:r>
              <a:rPr lang="en-US" altLang="zh-CN" sz="2000" dirty="0">
                <a:effectLst/>
                <a:latin typeface="+mj-ea"/>
                <a:ea typeface="+mj-ea"/>
                <a:cs typeface="Times New Roman" panose="02020603050405020304" pitchFamily="18" charset="0"/>
              </a:rPr>
              <a:t> Bagging </a:t>
            </a:r>
            <a:r>
              <a:rPr lang="en-US" altLang="zh-CN" sz="2000" dirty="0" err="1">
                <a:effectLst/>
                <a:latin typeface="+mj-ea"/>
                <a:ea typeface="+mj-ea"/>
                <a:cs typeface="Times New Roman" panose="02020603050405020304" pitchFamily="18" charset="0"/>
              </a:rPr>
              <a:t>的扩展变体，它在以决策树为基学习器构建</a:t>
            </a:r>
            <a:r>
              <a:rPr lang="en-US" altLang="zh-CN" sz="2000" dirty="0">
                <a:effectLst/>
                <a:latin typeface="+mj-ea"/>
                <a:ea typeface="+mj-ea"/>
                <a:cs typeface="Times New Roman" panose="02020603050405020304" pitchFamily="18" charset="0"/>
              </a:rPr>
              <a:t> Bagging </a:t>
            </a:r>
            <a:r>
              <a:rPr lang="en-US" altLang="zh-CN" sz="2000" dirty="0" err="1">
                <a:effectLst/>
                <a:latin typeface="+mj-ea"/>
                <a:ea typeface="+mj-ea"/>
                <a:cs typeface="Times New Roman" panose="02020603050405020304" pitchFamily="18" charset="0"/>
              </a:rPr>
              <a:t>集成的基础上，进一步在决策树的训练过程中引入了随机特征选择，因此可以概括</a:t>
            </a:r>
            <a:r>
              <a:rPr lang="en-US" altLang="zh-CN" sz="2000" dirty="0">
                <a:effectLst/>
                <a:latin typeface="+mj-ea"/>
                <a:ea typeface="+mj-ea"/>
                <a:cs typeface="Times New Roman" panose="02020603050405020304" pitchFamily="18" charset="0"/>
              </a:rPr>
              <a:t> </a:t>
            </a:r>
            <a:r>
              <a:rPr lang="zh-CN" altLang="en-US" sz="2000" dirty="0">
                <a:effectLst/>
                <a:latin typeface="+mj-ea"/>
                <a:ea typeface="+mj-ea"/>
                <a:cs typeface="Times New Roman" panose="02020603050405020304" pitchFamily="18" charset="0"/>
              </a:rPr>
              <a:t>随机森林</a:t>
            </a:r>
            <a:r>
              <a:rPr lang="en-US" altLang="zh-CN" sz="2000" dirty="0" err="1">
                <a:effectLst/>
                <a:latin typeface="+mj-ea"/>
                <a:ea typeface="+mj-ea"/>
                <a:cs typeface="Times New Roman" panose="02020603050405020304" pitchFamily="18" charset="0"/>
              </a:rPr>
              <a:t>包括四个部分</a:t>
            </a:r>
            <a:r>
              <a:rPr lang="en-US" altLang="zh-CN" sz="2000" dirty="0">
                <a:effectLst/>
                <a:latin typeface="+mj-ea"/>
                <a:ea typeface="+mj-ea"/>
                <a:cs typeface="Times New Roman" panose="02020603050405020304" pitchFamily="18" charset="0"/>
              </a:rPr>
              <a:t>：</a:t>
            </a:r>
            <a:endParaRPr lang="zh-CN" altLang="zh-CN" sz="2000" dirty="0">
              <a:effectLst/>
              <a:latin typeface="+mj-ea"/>
              <a:ea typeface="+mj-ea"/>
              <a:cs typeface="Times New Roman" panose="02020603050405020304" pitchFamily="18" charset="0"/>
            </a:endParaRPr>
          </a:p>
          <a:p>
            <a:pPr marL="342900" lvl="0" indent="-342900">
              <a:lnSpc>
                <a:spcPct val="150000"/>
              </a:lnSpc>
              <a:spcAft>
                <a:spcPts val="1000"/>
              </a:spcAft>
              <a:buFont typeface="+mj-lt"/>
              <a:buAutoNum type="arabicPeriod"/>
            </a:pPr>
            <a:r>
              <a:rPr lang="en-US" altLang="zh-CN" sz="2000" dirty="0" err="1">
                <a:effectLst/>
                <a:latin typeface="+mj-ea"/>
                <a:ea typeface="+mj-ea"/>
                <a:cs typeface="Times New Roman" panose="02020603050405020304" pitchFamily="18" charset="0"/>
              </a:rPr>
              <a:t>随机选择样本（放回抽样</a:t>
            </a:r>
            <a:r>
              <a:rPr lang="en-US" altLang="zh-CN" sz="2000" dirty="0">
                <a:effectLst/>
                <a:latin typeface="+mj-ea"/>
                <a:ea typeface="+mj-ea"/>
                <a:cs typeface="Times New Roman" panose="02020603050405020304" pitchFamily="18" charset="0"/>
              </a:rPr>
              <a:t>）；</a:t>
            </a:r>
            <a:endParaRPr lang="zh-CN" altLang="zh-CN" sz="2000" dirty="0">
              <a:effectLst/>
              <a:latin typeface="+mj-ea"/>
              <a:ea typeface="+mj-ea"/>
              <a:cs typeface="Times New Roman" panose="02020603050405020304" pitchFamily="18" charset="0"/>
            </a:endParaRPr>
          </a:p>
          <a:p>
            <a:pPr marL="342900" lvl="0" indent="-342900">
              <a:lnSpc>
                <a:spcPct val="150000"/>
              </a:lnSpc>
              <a:spcAft>
                <a:spcPts val="1000"/>
              </a:spcAft>
              <a:buFont typeface="+mj-lt"/>
              <a:buAutoNum type="arabicPeriod"/>
            </a:pPr>
            <a:r>
              <a:rPr lang="en-US" altLang="zh-CN" sz="2000" dirty="0" err="1">
                <a:effectLst/>
                <a:latin typeface="+mj-ea"/>
                <a:ea typeface="+mj-ea"/>
                <a:cs typeface="Times New Roman" panose="02020603050405020304" pitchFamily="18" charset="0"/>
              </a:rPr>
              <a:t>随机选择特征</a:t>
            </a:r>
            <a:r>
              <a:rPr lang="en-US" altLang="zh-CN" sz="2000" dirty="0">
                <a:effectLst/>
                <a:latin typeface="+mj-ea"/>
                <a:ea typeface="+mj-ea"/>
                <a:cs typeface="Times New Roman" panose="02020603050405020304" pitchFamily="18" charset="0"/>
              </a:rPr>
              <a:t>；</a:t>
            </a:r>
            <a:endParaRPr lang="zh-CN" altLang="zh-CN" sz="2000" dirty="0">
              <a:effectLst/>
              <a:latin typeface="+mj-ea"/>
              <a:ea typeface="+mj-ea"/>
              <a:cs typeface="Times New Roman" panose="02020603050405020304" pitchFamily="18" charset="0"/>
            </a:endParaRPr>
          </a:p>
          <a:p>
            <a:pPr marL="342900" lvl="0" indent="-342900">
              <a:lnSpc>
                <a:spcPct val="150000"/>
              </a:lnSpc>
              <a:spcAft>
                <a:spcPts val="1000"/>
              </a:spcAft>
              <a:buFont typeface="+mj-lt"/>
              <a:buAutoNum type="arabicPeriod"/>
            </a:pPr>
            <a:r>
              <a:rPr lang="en-US" altLang="zh-CN" sz="2000" dirty="0" err="1">
                <a:effectLst/>
                <a:latin typeface="+mj-ea"/>
                <a:ea typeface="+mj-ea"/>
                <a:cs typeface="Times New Roman" panose="02020603050405020304" pitchFamily="18" charset="0"/>
              </a:rPr>
              <a:t>构建决策树</a:t>
            </a:r>
            <a:r>
              <a:rPr lang="en-US" altLang="zh-CN" sz="2000" dirty="0">
                <a:effectLst/>
                <a:latin typeface="+mj-ea"/>
                <a:ea typeface="+mj-ea"/>
                <a:cs typeface="Times New Roman" panose="02020603050405020304" pitchFamily="18" charset="0"/>
              </a:rPr>
              <a:t>；</a:t>
            </a:r>
            <a:endParaRPr lang="zh-CN" altLang="zh-CN" sz="2000" dirty="0">
              <a:effectLst/>
              <a:latin typeface="+mj-ea"/>
              <a:ea typeface="+mj-ea"/>
              <a:cs typeface="Times New Roman" panose="02020603050405020304" pitchFamily="18" charset="0"/>
            </a:endParaRPr>
          </a:p>
          <a:p>
            <a:pPr marL="342900" lvl="0" indent="-342900">
              <a:lnSpc>
                <a:spcPct val="150000"/>
              </a:lnSpc>
              <a:spcAft>
                <a:spcPts val="1000"/>
              </a:spcAft>
              <a:buFont typeface="+mj-lt"/>
              <a:buAutoNum type="arabicPeriod"/>
            </a:pPr>
            <a:r>
              <a:rPr lang="en-US" altLang="zh-CN" sz="2000" dirty="0" err="1">
                <a:effectLst/>
                <a:latin typeface="+mj-ea"/>
                <a:ea typeface="+mj-ea"/>
                <a:cs typeface="Times New Roman" panose="02020603050405020304" pitchFamily="18" charset="0"/>
              </a:rPr>
              <a:t>随机森林投票（平均</a:t>
            </a:r>
            <a:r>
              <a:rPr lang="en-US" altLang="zh-CN" sz="2000" dirty="0">
                <a:effectLst/>
                <a:latin typeface="+mj-ea"/>
                <a:ea typeface="+mj-ea"/>
                <a:cs typeface="Times New Roman" panose="02020603050405020304" pitchFamily="18" charset="0"/>
              </a:rPr>
              <a:t>）。</a:t>
            </a:r>
            <a:endParaRPr lang="zh-CN" altLang="zh-CN" sz="2000" dirty="0">
              <a:effectLst/>
              <a:latin typeface="+mj-ea"/>
              <a:ea typeface="+mj-ea"/>
              <a:cs typeface="Times New Roman" panose="02020603050405020304" pitchFamily="18" charset="0"/>
            </a:endParaRPr>
          </a:p>
        </p:txBody>
      </p:sp>
      <p:sp>
        <p:nvSpPr>
          <p:cNvPr id="5" name="文本框 22">
            <a:extLst>
              <a:ext uri="{FF2B5EF4-FFF2-40B4-BE49-F238E27FC236}">
                <a16:creationId xmlns:a16="http://schemas.microsoft.com/office/drawing/2014/main" id="{5D796D6F-5E60-4C2E-9EE2-34E8E7C5567D}"/>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随机森林</a:t>
            </a:r>
          </a:p>
        </p:txBody>
      </p:sp>
      <p:grpSp>
        <p:nvGrpSpPr>
          <p:cNvPr id="6" name="组合 5">
            <a:extLst>
              <a:ext uri="{FF2B5EF4-FFF2-40B4-BE49-F238E27FC236}">
                <a16:creationId xmlns:a16="http://schemas.microsoft.com/office/drawing/2014/main" id="{8BDDBB74-806E-4D7E-B32F-01A588A7B45C}"/>
              </a:ext>
            </a:extLst>
          </p:cNvPr>
          <p:cNvGrpSpPr/>
          <p:nvPr/>
        </p:nvGrpSpPr>
        <p:grpSpPr>
          <a:xfrm>
            <a:off x="6776882" y="1525020"/>
            <a:ext cx="4692976" cy="4275668"/>
            <a:chOff x="6776882" y="1525020"/>
            <a:chExt cx="4692976" cy="4275668"/>
          </a:xfrm>
        </p:grpSpPr>
        <p:sp>
          <p:nvSpPr>
            <p:cNvPr id="7" name="矩形: 圆角 6">
              <a:extLst>
                <a:ext uri="{FF2B5EF4-FFF2-40B4-BE49-F238E27FC236}">
                  <a16:creationId xmlns:a16="http://schemas.microsoft.com/office/drawing/2014/main" id="{D920D8C9-28FB-4EDD-B44F-8FB888FA14DA}"/>
                </a:ext>
              </a:extLst>
            </p:cNvPr>
            <p:cNvSpPr/>
            <p:nvPr/>
          </p:nvSpPr>
          <p:spPr>
            <a:xfrm>
              <a:off x="8479288" y="1525020"/>
              <a:ext cx="1277381" cy="498654"/>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mj-ea"/>
                  <a:ea typeface="+mj-ea"/>
                </a:rPr>
                <a:t>训练数据</a:t>
              </a:r>
            </a:p>
          </p:txBody>
        </p:sp>
        <p:sp>
          <p:nvSpPr>
            <p:cNvPr id="9" name="矩形: 圆角 8">
              <a:extLst>
                <a:ext uri="{FF2B5EF4-FFF2-40B4-BE49-F238E27FC236}">
                  <a16:creationId xmlns:a16="http://schemas.microsoft.com/office/drawing/2014/main" id="{836491EC-C035-409E-A8E1-0E22D9321A2E}"/>
                </a:ext>
              </a:extLst>
            </p:cNvPr>
            <p:cNvSpPr/>
            <p:nvPr/>
          </p:nvSpPr>
          <p:spPr>
            <a:xfrm>
              <a:off x="6799385" y="3870193"/>
              <a:ext cx="4670473" cy="8893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Google Shape;3382;p54">
              <a:extLst>
                <a:ext uri="{FF2B5EF4-FFF2-40B4-BE49-F238E27FC236}">
                  <a16:creationId xmlns:a16="http://schemas.microsoft.com/office/drawing/2014/main" id="{9A85ADB7-7575-465D-ADAB-6D549F288B8A}"/>
                </a:ext>
              </a:extLst>
            </p:cNvPr>
            <p:cNvSpPr/>
            <p:nvPr/>
          </p:nvSpPr>
          <p:spPr>
            <a:xfrm>
              <a:off x="8147272" y="2386818"/>
              <a:ext cx="2025830" cy="449196"/>
            </a:xfrm>
            <a:prstGeom prst="rect">
              <a:avLst/>
            </a:prstGeom>
            <a:solidFill>
              <a:srgbClr val="F3F3F3"/>
            </a:solidFill>
            <a:ln w="19050" cap="flat" cmpd="sng">
              <a:solidFill>
                <a:srgbClr val="00458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1600" dirty="0"/>
                <a:t>Bootstrap</a:t>
              </a:r>
              <a:r>
                <a:rPr lang="zh-CN" altLang="en-US" sz="1600" dirty="0"/>
                <a:t>随机抽取</a:t>
              </a:r>
              <a:endParaRPr sz="1600" dirty="0"/>
            </a:p>
          </p:txBody>
        </p:sp>
        <p:cxnSp>
          <p:nvCxnSpPr>
            <p:cNvPr id="11" name="Google Shape;3386;p54">
              <a:extLst>
                <a:ext uri="{FF2B5EF4-FFF2-40B4-BE49-F238E27FC236}">
                  <a16:creationId xmlns:a16="http://schemas.microsoft.com/office/drawing/2014/main" id="{3C9A4443-DBD3-483C-8C97-88077AC50D47}"/>
                </a:ext>
              </a:extLst>
            </p:cNvPr>
            <p:cNvCxnSpPr>
              <a:cxnSpLocks/>
              <a:stCxn id="23" idx="2"/>
            </p:cNvCxnSpPr>
            <p:nvPr/>
          </p:nvCxnSpPr>
          <p:spPr>
            <a:xfrm flipH="1">
              <a:off x="9397218" y="4495464"/>
              <a:ext cx="306327" cy="671968"/>
            </a:xfrm>
            <a:prstGeom prst="straightConnector1">
              <a:avLst/>
            </a:prstGeom>
            <a:noFill/>
            <a:ln w="19050" cap="flat" cmpd="sng">
              <a:solidFill>
                <a:schemeClr val="dk2"/>
              </a:solidFill>
              <a:prstDash val="solid"/>
              <a:round/>
              <a:headEnd type="none" w="med" len="med"/>
              <a:tailEnd type="triangle" w="med" len="med"/>
            </a:ln>
          </p:spPr>
        </p:cxnSp>
        <p:cxnSp>
          <p:nvCxnSpPr>
            <p:cNvPr id="12" name="Google Shape;3388;p54">
              <a:extLst>
                <a:ext uri="{FF2B5EF4-FFF2-40B4-BE49-F238E27FC236}">
                  <a16:creationId xmlns:a16="http://schemas.microsoft.com/office/drawing/2014/main" id="{422063D0-C728-4D7A-84B1-F48220E110C9}"/>
                </a:ext>
              </a:extLst>
            </p:cNvPr>
            <p:cNvCxnSpPr>
              <a:cxnSpLocks/>
            </p:cNvCxnSpPr>
            <p:nvPr/>
          </p:nvCxnSpPr>
          <p:spPr>
            <a:xfrm>
              <a:off x="7390581" y="3593606"/>
              <a:ext cx="7790" cy="513499"/>
            </a:xfrm>
            <a:prstGeom prst="straightConnector1">
              <a:avLst/>
            </a:prstGeom>
            <a:noFill/>
            <a:ln w="19050" cap="flat" cmpd="sng">
              <a:solidFill>
                <a:schemeClr val="dk2"/>
              </a:solidFill>
              <a:prstDash val="solid"/>
              <a:round/>
              <a:headEnd type="none" w="med" len="med"/>
              <a:tailEnd type="triangle" w="med" len="med"/>
            </a:ln>
          </p:spPr>
        </p:cxnSp>
        <p:cxnSp>
          <p:nvCxnSpPr>
            <p:cNvPr id="13" name="Google Shape;3386;p54">
              <a:extLst>
                <a:ext uri="{FF2B5EF4-FFF2-40B4-BE49-F238E27FC236}">
                  <a16:creationId xmlns:a16="http://schemas.microsoft.com/office/drawing/2014/main" id="{E3DD10D1-67C2-4F5D-982A-3EB393039EC3}"/>
                </a:ext>
              </a:extLst>
            </p:cNvPr>
            <p:cNvCxnSpPr>
              <a:cxnSpLocks/>
            </p:cNvCxnSpPr>
            <p:nvPr/>
          </p:nvCxnSpPr>
          <p:spPr>
            <a:xfrm>
              <a:off x="9491003" y="2835885"/>
              <a:ext cx="204240" cy="388274"/>
            </a:xfrm>
            <a:prstGeom prst="straightConnector1">
              <a:avLst/>
            </a:prstGeom>
            <a:noFill/>
            <a:ln w="19050" cap="flat" cmpd="sng">
              <a:solidFill>
                <a:schemeClr val="dk2"/>
              </a:solidFill>
              <a:prstDash val="solid"/>
              <a:round/>
              <a:headEnd type="none" w="med" len="med"/>
              <a:tailEnd type="triangle" w="med" len="med"/>
            </a:ln>
          </p:spPr>
        </p:cxnSp>
        <p:sp>
          <p:nvSpPr>
            <p:cNvPr id="14" name="Google Shape;3382;p54">
              <a:extLst>
                <a:ext uri="{FF2B5EF4-FFF2-40B4-BE49-F238E27FC236}">
                  <a16:creationId xmlns:a16="http://schemas.microsoft.com/office/drawing/2014/main" id="{A6889AE9-82F6-466C-8EDD-E6403B0EC449}"/>
                </a:ext>
              </a:extLst>
            </p:cNvPr>
            <p:cNvSpPr/>
            <p:nvPr/>
          </p:nvSpPr>
          <p:spPr>
            <a:xfrm>
              <a:off x="6910505" y="3224160"/>
              <a:ext cx="936780" cy="384494"/>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t>决策树</a:t>
              </a:r>
              <a:r>
                <a:rPr lang="en-US" altLang="zh-CN" sz="1600" dirty="0"/>
                <a:t>1</a:t>
              </a:r>
              <a:endParaRPr sz="1600" dirty="0"/>
            </a:p>
          </p:txBody>
        </p:sp>
        <p:sp>
          <p:nvSpPr>
            <p:cNvPr id="15" name="Google Shape;3380;p54">
              <a:extLst>
                <a:ext uri="{FF2B5EF4-FFF2-40B4-BE49-F238E27FC236}">
                  <a16:creationId xmlns:a16="http://schemas.microsoft.com/office/drawing/2014/main" id="{3E76E8A2-6937-4DB5-BD5F-2857577409DC}"/>
                </a:ext>
              </a:extLst>
            </p:cNvPr>
            <p:cNvSpPr/>
            <p:nvPr/>
          </p:nvSpPr>
          <p:spPr>
            <a:xfrm>
              <a:off x="8323576" y="5167432"/>
              <a:ext cx="1848359" cy="633256"/>
            </a:xfrm>
            <a:prstGeom prst="rect">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latin typeface="微软雅黑" panose="020B0503020204020204" pitchFamily="34" charset="-122"/>
                  <a:ea typeface="微软雅黑" panose="020B0503020204020204" pitchFamily="34" charset="-122"/>
                </a:rPr>
                <a:t>最终预测结果</a:t>
              </a:r>
              <a:endParaRPr sz="2000" dirty="0">
                <a:latin typeface="微软雅黑" panose="020B0503020204020204" pitchFamily="34" charset="-122"/>
                <a:ea typeface="微软雅黑" panose="020B0503020204020204" pitchFamily="34" charset="-122"/>
              </a:endParaRPr>
            </a:p>
          </p:txBody>
        </p:sp>
        <p:sp>
          <p:nvSpPr>
            <p:cNvPr id="16" name="矩形: 圆角 15">
              <a:extLst>
                <a:ext uri="{FF2B5EF4-FFF2-40B4-BE49-F238E27FC236}">
                  <a16:creationId xmlns:a16="http://schemas.microsoft.com/office/drawing/2014/main" id="{261E0019-3501-47D1-9D76-2B9C24CFDCFA}"/>
                </a:ext>
              </a:extLst>
            </p:cNvPr>
            <p:cNvSpPr/>
            <p:nvPr/>
          </p:nvSpPr>
          <p:spPr>
            <a:xfrm>
              <a:off x="6776882" y="4998326"/>
              <a:ext cx="763390" cy="714638"/>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mj-ea"/>
                  <a:ea typeface="+mj-ea"/>
                </a:rPr>
                <a:t>测试数据</a:t>
              </a:r>
            </a:p>
          </p:txBody>
        </p:sp>
        <p:cxnSp>
          <p:nvCxnSpPr>
            <p:cNvPr id="17" name="Google Shape;3386;p54">
              <a:extLst>
                <a:ext uri="{FF2B5EF4-FFF2-40B4-BE49-F238E27FC236}">
                  <a16:creationId xmlns:a16="http://schemas.microsoft.com/office/drawing/2014/main" id="{4D0D38F8-608C-4937-AB71-DAB007DF4220}"/>
                </a:ext>
              </a:extLst>
            </p:cNvPr>
            <p:cNvCxnSpPr>
              <a:cxnSpLocks/>
              <a:stCxn id="16" idx="0"/>
            </p:cNvCxnSpPr>
            <p:nvPr/>
          </p:nvCxnSpPr>
          <p:spPr>
            <a:xfrm flipV="1">
              <a:off x="7158577" y="4746686"/>
              <a:ext cx="456734" cy="251640"/>
            </a:xfrm>
            <a:prstGeom prst="straightConnector1">
              <a:avLst/>
            </a:prstGeom>
            <a:noFill/>
            <a:ln w="19050" cap="flat" cmpd="sng">
              <a:solidFill>
                <a:schemeClr val="dk2"/>
              </a:solidFill>
              <a:prstDash val="solid"/>
              <a:round/>
              <a:headEnd type="none" w="med" len="med"/>
              <a:tailEnd type="triangle" w="med" len="med"/>
            </a:ln>
          </p:spPr>
        </p:cxnSp>
        <p:sp>
          <p:nvSpPr>
            <p:cNvPr id="18" name="Google Shape;3382;p54">
              <a:extLst>
                <a:ext uri="{FF2B5EF4-FFF2-40B4-BE49-F238E27FC236}">
                  <a16:creationId xmlns:a16="http://schemas.microsoft.com/office/drawing/2014/main" id="{ED214AD8-BF92-468A-878C-D37B4F31037E}"/>
                </a:ext>
              </a:extLst>
            </p:cNvPr>
            <p:cNvSpPr/>
            <p:nvPr/>
          </p:nvSpPr>
          <p:spPr>
            <a:xfrm>
              <a:off x="10335674" y="3224160"/>
              <a:ext cx="936780" cy="383576"/>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t>决策树</a:t>
              </a:r>
              <a:r>
                <a:rPr lang="en-US" altLang="zh-CN" sz="1600" dirty="0"/>
                <a:t>n</a:t>
              </a:r>
              <a:endParaRPr sz="1600" dirty="0"/>
            </a:p>
          </p:txBody>
        </p:sp>
        <p:sp>
          <p:nvSpPr>
            <p:cNvPr id="19" name="Google Shape;3382;p54">
              <a:extLst>
                <a:ext uri="{FF2B5EF4-FFF2-40B4-BE49-F238E27FC236}">
                  <a16:creationId xmlns:a16="http://schemas.microsoft.com/office/drawing/2014/main" id="{A0123744-D4C8-4EFF-A07A-911F89EA6F90}"/>
                </a:ext>
              </a:extLst>
            </p:cNvPr>
            <p:cNvSpPr/>
            <p:nvPr/>
          </p:nvSpPr>
          <p:spPr>
            <a:xfrm>
              <a:off x="9236321" y="3225078"/>
              <a:ext cx="936780" cy="383576"/>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1600" dirty="0"/>
                <a:t>……</a:t>
              </a:r>
              <a:endParaRPr sz="1600" dirty="0"/>
            </a:p>
          </p:txBody>
        </p:sp>
        <p:sp>
          <p:nvSpPr>
            <p:cNvPr id="20" name="Google Shape;3382;p54">
              <a:extLst>
                <a:ext uri="{FF2B5EF4-FFF2-40B4-BE49-F238E27FC236}">
                  <a16:creationId xmlns:a16="http://schemas.microsoft.com/office/drawing/2014/main" id="{BE51E732-F507-4670-AFCE-A0452493A381}"/>
                </a:ext>
              </a:extLst>
            </p:cNvPr>
            <p:cNvSpPr/>
            <p:nvPr/>
          </p:nvSpPr>
          <p:spPr>
            <a:xfrm>
              <a:off x="8118032" y="3224159"/>
              <a:ext cx="936780" cy="385421"/>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t>决策树</a:t>
              </a:r>
              <a:r>
                <a:rPr lang="en-US" altLang="zh-CN" sz="1600" dirty="0"/>
                <a:t>2</a:t>
              </a:r>
              <a:endParaRPr sz="1600" dirty="0"/>
            </a:p>
          </p:txBody>
        </p:sp>
        <p:sp>
          <p:nvSpPr>
            <p:cNvPr id="21" name="Google Shape;3382;p54">
              <a:extLst>
                <a:ext uri="{FF2B5EF4-FFF2-40B4-BE49-F238E27FC236}">
                  <a16:creationId xmlns:a16="http://schemas.microsoft.com/office/drawing/2014/main" id="{34CFD69C-828A-4721-8426-9BDFB6E373CD}"/>
                </a:ext>
              </a:extLst>
            </p:cNvPr>
            <p:cNvSpPr/>
            <p:nvPr/>
          </p:nvSpPr>
          <p:spPr>
            <a:xfrm>
              <a:off x="6979728" y="4108950"/>
              <a:ext cx="936780" cy="384494"/>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t>预测</a:t>
              </a:r>
              <a:r>
                <a:rPr lang="en-US" altLang="zh-CN" sz="1600" dirty="0"/>
                <a:t>1</a:t>
              </a:r>
              <a:endParaRPr sz="1600" dirty="0"/>
            </a:p>
          </p:txBody>
        </p:sp>
        <p:sp>
          <p:nvSpPr>
            <p:cNvPr id="22" name="Google Shape;3382;p54">
              <a:extLst>
                <a:ext uri="{FF2B5EF4-FFF2-40B4-BE49-F238E27FC236}">
                  <a16:creationId xmlns:a16="http://schemas.microsoft.com/office/drawing/2014/main" id="{BBB35EEB-D425-45B5-839A-97A5B898E93B}"/>
                </a:ext>
              </a:extLst>
            </p:cNvPr>
            <p:cNvSpPr/>
            <p:nvPr/>
          </p:nvSpPr>
          <p:spPr>
            <a:xfrm>
              <a:off x="10335674" y="4108950"/>
              <a:ext cx="936780" cy="383576"/>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t>预测</a:t>
              </a:r>
              <a:r>
                <a:rPr lang="en-US" altLang="zh-CN" sz="1600" dirty="0"/>
                <a:t>n</a:t>
              </a:r>
              <a:endParaRPr sz="1600" dirty="0"/>
            </a:p>
          </p:txBody>
        </p:sp>
        <p:sp>
          <p:nvSpPr>
            <p:cNvPr id="23" name="Google Shape;3382;p54">
              <a:extLst>
                <a:ext uri="{FF2B5EF4-FFF2-40B4-BE49-F238E27FC236}">
                  <a16:creationId xmlns:a16="http://schemas.microsoft.com/office/drawing/2014/main" id="{73A29D97-60FF-4683-9E09-31C27F22E06D}"/>
                </a:ext>
              </a:extLst>
            </p:cNvPr>
            <p:cNvSpPr/>
            <p:nvPr/>
          </p:nvSpPr>
          <p:spPr>
            <a:xfrm>
              <a:off x="9235155" y="4111888"/>
              <a:ext cx="936780" cy="383576"/>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1600" dirty="0"/>
                <a:t>……</a:t>
              </a:r>
              <a:endParaRPr sz="1600" dirty="0"/>
            </a:p>
          </p:txBody>
        </p:sp>
        <p:sp>
          <p:nvSpPr>
            <p:cNvPr id="24" name="Google Shape;3382;p54">
              <a:extLst>
                <a:ext uri="{FF2B5EF4-FFF2-40B4-BE49-F238E27FC236}">
                  <a16:creationId xmlns:a16="http://schemas.microsoft.com/office/drawing/2014/main" id="{3476A54F-B539-44DF-ABF5-A0B94B88A229}"/>
                </a:ext>
              </a:extLst>
            </p:cNvPr>
            <p:cNvSpPr/>
            <p:nvPr/>
          </p:nvSpPr>
          <p:spPr>
            <a:xfrm>
              <a:off x="8118032" y="4107105"/>
              <a:ext cx="936780" cy="385421"/>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t>预测</a:t>
              </a:r>
              <a:r>
                <a:rPr lang="en-US" altLang="zh-CN" sz="1600" dirty="0"/>
                <a:t>2</a:t>
              </a:r>
              <a:endParaRPr sz="1600" dirty="0"/>
            </a:p>
          </p:txBody>
        </p:sp>
        <p:cxnSp>
          <p:nvCxnSpPr>
            <p:cNvPr id="25" name="Google Shape;3386;p54">
              <a:extLst>
                <a:ext uri="{FF2B5EF4-FFF2-40B4-BE49-F238E27FC236}">
                  <a16:creationId xmlns:a16="http://schemas.microsoft.com/office/drawing/2014/main" id="{900C38D7-0119-45AE-9387-3C8243485947}"/>
                </a:ext>
              </a:extLst>
            </p:cNvPr>
            <p:cNvCxnSpPr>
              <a:cxnSpLocks/>
            </p:cNvCxnSpPr>
            <p:nvPr/>
          </p:nvCxnSpPr>
          <p:spPr>
            <a:xfrm flipH="1">
              <a:off x="7394476" y="2842338"/>
              <a:ext cx="1074326" cy="388274"/>
            </a:xfrm>
            <a:prstGeom prst="straightConnector1">
              <a:avLst/>
            </a:prstGeom>
            <a:noFill/>
            <a:ln w="19050" cap="flat" cmpd="sng">
              <a:solidFill>
                <a:schemeClr val="dk2"/>
              </a:solidFill>
              <a:prstDash val="solid"/>
              <a:round/>
              <a:headEnd type="none" w="med" len="med"/>
              <a:tailEnd type="triangle" w="med" len="med"/>
            </a:ln>
          </p:spPr>
        </p:cxnSp>
        <p:cxnSp>
          <p:nvCxnSpPr>
            <p:cNvPr id="26" name="Google Shape;3386;p54">
              <a:extLst>
                <a:ext uri="{FF2B5EF4-FFF2-40B4-BE49-F238E27FC236}">
                  <a16:creationId xmlns:a16="http://schemas.microsoft.com/office/drawing/2014/main" id="{FD38170F-16BA-4410-8778-EC8E7C60B122}"/>
                </a:ext>
              </a:extLst>
            </p:cNvPr>
            <p:cNvCxnSpPr>
              <a:cxnSpLocks/>
              <a:endCxn id="20" idx="0"/>
            </p:cNvCxnSpPr>
            <p:nvPr/>
          </p:nvCxnSpPr>
          <p:spPr>
            <a:xfrm flipH="1">
              <a:off x="8586422" y="2833092"/>
              <a:ext cx="301978" cy="391067"/>
            </a:xfrm>
            <a:prstGeom prst="straightConnector1">
              <a:avLst/>
            </a:prstGeom>
            <a:noFill/>
            <a:ln w="19050" cap="flat" cmpd="sng">
              <a:solidFill>
                <a:schemeClr val="dk2"/>
              </a:solidFill>
              <a:prstDash val="solid"/>
              <a:round/>
              <a:headEnd type="none" w="med" len="med"/>
              <a:tailEnd type="triangle" w="med" len="med"/>
            </a:ln>
          </p:spPr>
        </p:cxnSp>
        <p:cxnSp>
          <p:nvCxnSpPr>
            <p:cNvPr id="27" name="Google Shape;3386;p54">
              <a:extLst>
                <a:ext uri="{FF2B5EF4-FFF2-40B4-BE49-F238E27FC236}">
                  <a16:creationId xmlns:a16="http://schemas.microsoft.com/office/drawing/2014/main" id="{1CB8FB52-8FA1-45BD-9DBB-DCB0A1A543A3}"/>
                </a:ext>
              </a:extLst>
            </p:cNvPr>
            <p:cNvCxnSpPr>
              <a:cxnSpLocks/>
              <a:endCxn id="18" idx="0"/>
            </p:cNvCxnSpPr>
            <p:nvPr/>
          </p:nvCxnSpPr>
          <p:spPr>
            <a:xfrm>
              <a:off x="9778368" y="2842338"/>
              <a:ext cx="1025696" cy="381822"/>
            </a:xfrm>
            <a:prstGeom prst="straightConnector1">
              <a:avLst/>
            </a:prstGeom>
            <a:noFill/>
            <a:ln w="19050" cap="flat" cmpd="sng">
              <a:solidFill>
                <a:schemeClr val="dk2"/>
              </a:solidFill>
              <a:prstDash val="solid"/>
              <a:round/>
              <a:headEnd type="none" w="med" len="med"/>
              <a:tailEnd type="triangle" w="med" len="med"/>
            </a:ln>
          </p:spPr>
        </p:cxnSp>
        <p:cxnSp>
          <p:nvCxnSpPr>
            <p:cNvPr id="28" name="Google Shape;3388;p54">
              <a:extLst>
                <a:ext uri="{FF2B5EF4-FFF2-40B4-BE49-F238E27FC236}">
                  <a16:creationId xmlns:a16="http://schemas.microsoft.com/office/drawing/2014/main" id="{B0DBFE18-3A4F-4196-8AEC-51005F0732C9}"/>
                </a:ext>
              </a:extLst>
            </p:cNvPr>
            <p:cNvCxnSpPr>
              <a:cxnSpLocks/>
            </p:cNvCxnSpPr>
            <p:nvPr/>
          </p:nvCxnSpPr>
          <p:spPr>
            <a:xfrm>
              <a:off x="8571111" y="3607736"/>
              <a:ext cx="7790" cy="513499"/>
            </a:xfrm>
            <a:prstGeom prst="straightConnector1">
              <a:avLst/>
            </a:prstGeom>
            <a:noFill/>
            <a:ln w="19050" cap="flat" cmpd="sng">
              <a:solidFill>
                <a:schemeClr val="dk2"/>
              </a:solidFill>
              <a:prstDash val="solid"/>
              <a:round/>
              <a:headEnd type="none" w="med" len="med"/>
              <a:tailEnd type="triangle" w="med" len="med"/>
            </a:ln>
          </p:spPr>
        </p:cxnSp>
        <p:cxnSp>
          <p:nvCxnSpPr>
            <p:cNvPr id="29" name="Google Shape;3388;p54">
              <a:extLst>
                <a:ext uri="{FF2B5EF4-FFF2-40B4-BE49-F238E27FC236}">
                  <a16:creationId xmlns:a16="http://schemas.microsoft.com/office/drawing/2014/main" id="{D632E175-AD2F-4051-A608-63FEA19B187B}"/>
                </a:ext>
              </a:extLst>
            </p:cNvPr>
            <p:cNvCxnSpPr>
              <a:cxnSpLocks/>
            </p:cNvCxnSpPr>
            <p:nvPr/>
          </p:nvCxnSpPr>
          <p:spPr>
            <a:xfrm>
              <a:off x="10804576" y="3607736"/>
              <a:ext cx="7790" cy="513499"/>
            </a:xfrm>
            <a:prstGeom prst="straightConnector1">
              <a:avLst/>
            </a:prstGeom>
            <a:noFill/>
            <a:ln w="19050" cap="flat" cmpd="sng">
              <a:solidFill>
                <a:schemeClr val="dk2"/>
              </a:solidFill>
              <a:prstDash val="solid"/>
              <a:round/>
              <a:headEnd type="none" w="med" len="med"/>
              <a:tailEnd type="triangle" w="med" len="med"/>
            </a:ln>
          </p:spPr>
        </p:cxnSp>
        <p:cxnSp>
          <p:nvCxnSpPr>
            <p:cNvPr id="30" name="Google Shape;3388;p54">
              <a:extLst>
                <a:ext uri="{FF2B5EF4-FFF2-40B4-BE49-F238E27FC236}">
                  <a16:creationId xmlns:a16="http://schemas.microsoft.com/office/drawing/2014/main" id="{785E1F56-8C20-435F-8948-5C6964D3C38D}"/>
                </a:ext>
              </a:extLst>
            </p:cNvPr>
            <p:cNvCxnSpPr>
              <a:cxnSpLocks/>
            </p:cNvCxnSpPr>
            <p:nvPr/>
          </p:nvCxnSpPr>
          <p:spPr>
            <a:xfrm>
              <a:off x="9696391" y="3613442"/>
              <a:ext cx="7790" cy="513499"/>
            </a:xfrm>
            <a:prstGeom prst="straightConnector1">
              <a:avLst/>
            </a:prstGeom>
            <a:noFill/>
            <a:ln w="19050" cap="flat" cmpd="sng">
              <a:solidFill>
                <a:schemeClr val="dk2"/>
              </a:solidFill>
              <a:prstDash val="solid"/>
              <a:round/>
              <a:headEnd type="none" w="med" len="med"/>
              <a:tailEnd type="triangle" w="med" len="med"/>
            </a:ln>
          </p:spPr>
        </p:cxnSp>
        <p:cxnSp>
          <p:nvCxnSpPr>
            <p:cNvPr id="31" name="Google Shape;3386;p54">
              <a:extLst>
                <a:ext uri="{FF2B5EF4-FFF2-40B4-BE49-F238E27FC236}">
                  <a16:creationId xmlns:a16="http://schemas.microsoft.com/office/drawing/2014/main" id="{D252A9DA-0D00-4E04-B221-D16FE5151314}"/>
                </a:ext>
              </a:extLst>
            </p:cNvPr>
            <p:cNvCxnSpPr>
              <a:cxnSpLocks/>
              <a:stCxn id="24" idx="2"/>
            </p:cNvCxnSpPr>
            <p:nvPr/>
          </p:nvCxnSpPr>
          <p:spPr>
            <a:xfrm>
              <a:off x="8586422" y="4492526"/>
              <a:ext cx="451329" cy="674906"/>
            </a:xfrm>
            <a:prstGeom prst="straightConnector1">
              <a:avLst/>
            </a:prstGeom>
            <a:noFill/>
            <a:ln w="19050" cap="flat" cmpd="sng">
              <a:solidFill>
                <a:schemeClr val="dk2"/>
              </a:solidFill>
              <a:prstDash val="solid"/>
              <a:round/>
              <a:headEnd type="none" w="med" len="med"/>
              <a:tailEnd type="triangle" w="med" len="med"/>
            </a:ln>
          </p:spPr>
        </p:cxnSp>
        <p:cxnSp>
          <p:nvCxnSpPr>
            <p:cNvPr id="32" name="Google Shape;3386;p54">
              <a:extLst>
                <a:ext uri="{FF2B5EF4-FFF2-40B4-BE49-F238E27FC236}">
                  <a16:creationId xmlns:a16="http://schemas.microsoft.com/office/drawing/2014/main" id="{BBCF14BF-AF1A-4CDD-BD4D-6D59957E4386}"/>
                </a:ext>
              </a:extLst>
            </p:cNvPr>
            <p:cNvCxnSpPr>
              <a:cxnSpLocks/>
              <a:stCxn id="22" idx="2"/>
            </p:cNvCxnSpPr>
            <p:nvPr/>
          </p:nvCxnSpPr>
          <p:spPr>
            <a:xfrm flipH="1">
              <a:off x="9703546" y="4492526"/>
              <a:ext cx="1100518" cy="662888"/>
            </a:xfrm>
            <a:prstGeom prst="straightConnector1">
              <a:avLst/>
            </a:prstGeom>
            <a:noFill/>
            <a:ln w="19050" cap="flat" cmpd="sng">
              <a:solidFill>
                <a:schemeClr val="dk2"/>
              </a:solidFill>
              <a:prstDash val="solid"/>
              <a:round/>
              <a:headEnd type="none" w="med" len="med"/>
              <a:tailEnd type="triangle" w="med" len="med"/>
            </a:ln>
          </p:spPr>
        </p:cxnSp>
        <p:cxnSp>
          <p:nvCxnSpPr>
            <p:cNvPr id="33" name="Google Shape;3386;p54">
              <a:extLst>
                <a:ext uri="{FF2B5EF4-FFF2-40B4-BE49-F238E27FC236}">
                  <a16:creationId xmlns:a16="http://schemas.microsoft.com/office/drawing/2014/main" id="{62BFAB12-1EA6-46E3-A06E-AB32039D0C31}"/>
                </a:ext>
              </a:extLst>
            </p:cNvPr>
            <p:cNvCxnSpPr>
              <a:cxnSpLocks/>
            </p:cNvCxnSpPr>
            <p:nvPr/>
          </p:nvCxnSpPr>
          <p:spPr>
            <a:xfrm>
              <a:off x="7481701" y="4497336"/>
              <a:ext cx="1323759" cy="670096"/>
            </a:xfrm>
            <a:prstGeom prst="straightConnector1">
              <a:avLst/>
            </a:prstGeom>
            <a:noFill/>
            <a:ln w="19050" cap="flat" cmpd="sng">
              <a:solidFill>
                <a:schemeClr val="dk2"/>
              </a:solidFill>
              <a:prstDash val="solid"/>
              <a:round/>
              <a:headEnd type="none" w="med" len="med"/>
              <a:tailEnd type="triangle" w="med" len="med"/>
            </a:ln>
          </p:spPr>
        </p:cxnSp>
        <p:sp>
          <p:nvSpPr>
            <p:cNvPr id="34" name="箭头: 下 33">
              <a:extLst>
                <a:ext uri="{FF2B5EF4-FFF2-40B4-BE49-F238E27FC236}">
                  <a16:creationId xmlns:a16="http://schemas.microsoft.com/office/drawing/2014/main" id="{621412B0-0295-48CF-95A9-2F6DC43F844F}"/>
                </a:ext>
              </a:extLst>
            </p:cNvPr>
            <p:cNvSpPr/>
            <p:nvPr/>
          </p:nvSpPr>
          <p:spPr>
            <a:xfrm>
              <a:off x="9110671" y="2035692"/>
              <a:ext cx="49516" cy="344802"/>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ysClr val="windowText" lastClr="000000"/>
                  </a:solidFill>
                </a:ln>
                <a:solidFill>
                  <a:sysClr val="windowText" lastClr="000000"/>
                </a:solidFill>
              </a:endParaRPr>
            </a:p>
          </p:txBody>
        </p:sp>
      </p:grpSp>
    </p:spTree>
    <p:extLst>
      <p:ext uri="{BB962C8B-B14F-4D97-AF65-F5344CB8AC3E}">
        <p14:creationId xmlns:p14="http://schemas.microsoft.com/office/powerpoint/2010/main" val="1100494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文本框 7">
            <a:extLst>
              <a:ext uri="{FF2B5EF4-FFF2-40B4-BE49-F238E27FC236}">
                <a16:creationId xmlns:a16="http://schemas.microsoft.com/office/drawing/2014/main" id="{4B2AC396-7C1E-453D-8208-84A7162B0A6F}"/>
              </a:ext>
            </a:extLst>
          </p:cNvPr>
          <p:cNvSpPr txBox="1"/>
          <p:nvPr/>
        </p:nvSpPr>
        <p:spPr>
          <a:xfrm>
            <a:off x="588039" y="1440123"/>
            <a:ext cx="5212539" cy="4423775"/>
          </a:xfrm>
          <a:prstGeom prst="rect">
            <a:avLst/>
          </a:prstGeom>
          <a:noFill/>
        </p:spPr>
        <p:txBody>
          <a:bodyPr wrap="square">
            <a:spAutoFit/>
          </a:bodyPr>
          <a:lstStyle/>
          <a:p>
            <a:pPr>
              <a:lnSpc>
                <a:spcPct val="150000"/>
              </a:lnSpc>
              <a:spcBef>
                <a:spcPts val="900"/>
              </a:spcBef>
              <a:spcAft>
                <a:spcPts val="900"/>
              </a:spcAft>
            </a:pPr>
            <a:r>
              <a:rPr lang="en-US" altLang="zh-CN" sz="2000" dirty="0" err="1">
                <a:effectLst/>
                <a:latin typeface="+mj-ea"/>
                <a:ea typeface="+mj-ea"/>
                <a:cs typeface="Times New Roman" panose="02020603050405020304" pitchFamily="18" charset="0"/>
              </a:rPr>
              <a:t>随机选择样本和</a:t>
            </a:r>
            <a:r>
              <a:rPr lang="en-US" altLang="zh-CN" sz="2000" dirty="0">
                <a:effectLst/>
                <a:latin typeface="+mj-ea"/>
                <a:ea typeface="+mj-ea"/>
                <a:cs typeface="Times New Roman" panose="02020603050405020304" pitchFamily="18" charset="0"/>
              </a:rPr>
              <a:t> Bagging </a:t>
            </a:r>
            <a:r>
              <a:rPr lang="en-US" altLang="zh-CN" sz="2000" dirty="0" err="1">
                <a:effectLst/>
                <a:latin typeface="+mj-ea"/>
                <a:ea typeface="+mj-ea"/>
                <a:cs typeface="Times New Roman" panose="02020603050405020304" pitchFamily="18" charset="0"/>
              </a:rPr>
              <a:t>相同，采用的是</a:t>
            </a:r>
            <a:r>
              <a:rPr lang="en-US" altLang="zh-CN" sz="2000" dirty="0">
                <a:effectLst/>
                <a:latin typeface="+mj-ea"/>
                <a:ea typeface="+mj-ea"/>
                <a:cs typeface="Times New Roman" panose="02020603050405020304" pitchFamily="18" charset="0"/>
              </a:rPr>
              <a:t> </a:t>
            </a:r>
            <a:r>
              <a:rPr lang="en-US" altLang="zh-CN" sz="2000" dirty="0" err="1">
                <a:effectLst/>
                <a:latin typeface="+mj-ea"/>
                <a:ea typeface="+mj-ea"/>
                <a:cs typeface="Times New Roman" panose="02020603050405020304" pitchFamily="18" charset="0"/>
              </a:rPr>
              <a:t>Bootstraping</a:t>
            </a:r>
            <a:r>
              <a:rPr lang="en-US" altLang="zh-CN" sz="2000" dirty="0">
                <a:effectLst/>
                <a:latin typeface="+mj-ea"/>
                <a:ea typeface="+mj-ea"/>
                <a:cs typeface="Times New Roman" panose="02020603050405020304" pitchFamily="18" charset="0"/>
              </a:rPr>
              <a:t> </a:t>
            </a:r>
            <a:r>
              <a:rPr lang="en-US" altLang="zh-CN" sz="2000" dirty="0" err="1">
                <a:effectLst/>
                <a:latin typeface="+mj-ea"/>
                <a:ea typeface="+mj-ea"/>
                <a:cs typeface="Times New Roman" panose="02020603050405020304" pitchFamily="18" charset="0"/>
              </a:rPr>
              <a:t>自助采样法；</a:t>
            </a:r>
            <a:r>
              <a:rPr lang="en-US" altLang="zh-CN" sz="2000" dirty="0" err="1">
                <a:solidFill>
                  <a:srgbClr val="FF0000"/>
                </a:solidFill>
                <a:effectLst/>
                <a:latin typeface="+mj-ea"/>
                <a:ea typeface="+mj-ea"/>
                <a:cs typeface="Times New Roman" panose="02020603050405020304" pitchFamily="18" charset="0"/>
              </a:rPr>
              <a:t>随机选择</a:t>
            </a:r>
            <a:r>
              <a:rPr lang="en-US" altLang="zh-CN" sz="2000" dirty="0" err="1">
                <a:effectLst/>
                <a:latin typeface="+mj-ea"/>
                <a:ea typeface="+mj-ea"/>
                <a:cs typeface="Times New Roman" panose="02020603050405020304" pitchFamily="18" charset="0"/>
              </a:rPr>
              <a:t>特征是指在每个节点在分裂过程中都是随机选择特征的（区别与每棵树随机选择一批特征</a:t>
            </a:r>
            <a:r>
              <a:rPr lang="en-US" altLang="zh-CN" sz="2000" dirty="0">
                <a:effectLst/>
                <a:latin typeface="+mj-ea"/>
                <a:ea typeface="+mj-ea"/>
                <a:cs typeface="Times New Roman" panose="02020603050405020304" pitchFamily="18" charset="0"/>
              </a:rPr>
              <a:t>）。</a:t>
            </a:r>
            <a:endParaRPr lang="zh-CN" altLang="zh-CN" sz="2000" dirty="0">
              <a:effectLst/>
              <a:latin typeface="+mj-ea"/>
              <a:ea typeface="+mj-ea"/>
              <a:cs typeface="Times New Roman" panose="02020603050405020304" pitchFamily="18" charset="0"/>
            </a:endParaRPr>
          </a:p>
          <a:p>
            <a:pPr>
              <a:lnSpc>
                <a:spcPct val="150000"/>
              </a:lnSpc>
              <a:spcBef>
                <a:spcPts val="900"/>
              </a:spcBef>
              <a:spcAft>
                <a:spcPts val="900"/>
              </a:spcAft>
            </a:pPr>
            <a:r>
              <a:rPr lang="en-US" altLang="zh-CN" sz="2000" dirty="0" err="1">
                <a:effectLst/>
                <a:latin typeface="+mj-ea"/>
                <a:ea typeface="+mj-ea"/>
                <a:cs typeface="Times New Roman" panose="02020603050405020304" pitchFamily="18" charset="0"/>
              </a:rPr>
              <a:t>这种随机性导致随机森林的偏差会有稍微的增加（相比于单棵不随机树</a:t>
            </a:r>
            <a:r>
              <a:rPr lang="en-US" altLang="zh-CN" sz="2000" dirty="0">
                <a:effectLst/>
                <a:latin typeface="+mj-ea"/>
                <a:ea typeface="+mj-ea"/>
                <a:cs typeface="Times New Roman" panose="02020603050405020304" pitchFamily="18" charset="0"/>
              </a:rPr>
              <a:t>），</a:t>
            </a:r>
            <a:r>
              <a:rPr lang="en-US" altLang="zh-CN" sz="2000" dirty="0" err="1">
                <a:effectLst/>
                <a:latin typeface="+mj-ea"/>
                <a:ea typeface="+mj-ea"/>
                <a:cs typeface="Times New Roman" panose="02020603050405020304" pitchFamily="18" charset="0"/>
              </a:rPr>
              <a:t>但是由于随机森林的“平均”特性，会使得它的方差减小，而且方差的减小补偿了偏差的增大，因此总体而言是更好的模型</a:t>
            </a:r>
            <a:r>
              <a:rPr lang="en-US" altLang="zh-CN" sz="2000" dirty="0">
                <a:effectLst/>
                <a:latin typeface="+mj-ea"/>
                <a:ea typeface="+mj-ea"/>
                <a:cs typeface="Times New Roman" panose="02020603050405020304" pitchFamily="18" charset="0"/>
              </a:rPr>
              <a:t>。</a:t>
            </a:r>
            <a:endParaRPr lang="zh-CN" altLang="zh-CN" sz="2000" dirty="0">
              <a:effectLst/>
              <a:latin typeface="+mj-ea"/>
              <a:ea typeface="+mj-ea"/>
              <a:cs typeface="Times New Roman" panose="02020603050405020304" pitchFamily="18" charset="0"/>
            </a:endParaRPr>
          </a:p>
        </p:txBody>
      </p:sp>
      <p:sp>
        <p:nvSpPr>
          <p:cNvPr id="5" name="文本框 22">
            <a:extLst>
              <a:ext uri="{FF2B5EF4-FFF2-40B4-BE49-F238E27FC236}">
                <a16:creationId xmlns:a16="http://schemas.microsoft.com/office/drawing/2014/main" id="{5D796D6F-5E60-4C2E-9EE2-34E8E7C5567D}"/>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随机森林</a:t>
            </a:r>
          </a:p>
        </p:txBody>
      </p:sp>
      <p:grpSp>
        <p:nvGrpSpPr>
          <p:cNvPr id="79" name="组合 78">
            <a:extLst>
              <a:ext uri="{FF2B5EF4-FFF2-40B4-BE49-F238E27FC236}">
                <a16:creationId xmlns:a16="http://schemas.microsoft.com/office/drawing/2014/main" id="{AFD39D3C-EC7B-442F-9756-348342524903}"/>
              </a:ext>
            </a:extLst>
          </p:cNvPr>
          <p:cNvGrpSpPr/>
          <p:nvPr/>
        </p:nvGrpSpPr>
        <p:grpSpPr>
          <a:xfrm>
            <a:off x="6550360" y="1821924"/>
            <a:ext cx="4567234" cy="3449503"/>
            <a:chOff x="7427246" y="1324866"/>
            <a:chExt cx="4567234" cy="3449503"/>
          </a:xfrm>
        </p:grpSpPr>
        <p:sp>
          <p:nvSpPr>
            <p:cNvPr id="6" name="Google Shape;99;p18">
              <a:extLst>
                <a:ext uri="{FF2B5EF4-FFF2-40B4-BE49-F238E27FC236}">
                  <a16:creationId xmlns:a16="http://schemas.microsoft.com/office/drawing/2014/main" id="{A7F36F2F-4A38-4576-A0E5-26099F28FB90}"/>
                </a:ext>
              </a:extLst>
            </p:cNvPr>
            <p:cNvSpPr/>
            <p:nvPr/>
          </p:nvSpPr>
          <p:spPr>
            <a:xfrm>
              <a:off x="7427246" y="1849323"/>
              <a:ext cx="1646416" cy="1644154"/>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2" name="等腰三角形 1">
              <a:extLst>
                <a:ext uri="{FF2B5EF4-FFF2-40B4-BE49-F238E27FC236}">
                  <a16:creationId xmlns:a16="http://schemas.microsoft.com/office/drawing/2014/main" id="{F2A22B6D-F741-478C-8695-4FE2EC2D7D37}"/>
                </a:ext>
              </a:extLst>
            </p:cNvPr>
            <p:cNvSpPr/>
            <p:nvPr/>
          </p:nvSpPr>
          <p:spPr>
            <a:xfrm>
              <a:off x="8123349" y="2213318"/>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59AB4FC8-AB83-4F07-BA28-5141B208DA44}"/>
                </a:ext>
              </a:extLst>
            </p:cNvPr>
            <p:cNvSpPr/>
            <p:nvPr/>
          </p:nvSpPr>
          <p:spPr>
            <a:xfrm>
              <a:off x="8154325" y="2900217"/>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395CD6A5-BED5-40CE-B70B-9F3256E71236}"/>
                </a:ext>
              </a:extLst>
            </p:cNvPr>
            <p:cNvSpPr/>
            <p:nvPr/>
          </p:nvSpPr>
          <p:spPr>
            <a:xfrm>
              <a:off x="8531063" y="2766177"/>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a:extLst>
                <a:ext uri="{FF2B5EF4-FFF2-40B4-BE49-F238E27FC236}">
                  <a16:creationId xmlns:a16="http://schemas.microsoft.com/office/drawing/2014/main" id="{99724211-4CEA-48FE-BA10-9203883CE757}"/>
                </a:ext>
              </a:extLst>
            </p:cNvPr>
            <p:cNvSpPr/>
            <p:nvPr/>
          </p:nvSpPr>
          <p:spPr>
            <a:xfrm>
              <a:off x="8182212" y="3091267"/>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E11FCB36-1F47-45B2-AA88-12317A2ECDAC}"/>
                </a:ext>
              </a:extLst>
            </p:cNvPr>
            <p:cNvSpPr/>
            <p:nvPr/>
          </p:nvSpPr>
          <p:spPr>
            <a:xfrm>
              <a:off x="8456036" y="2201595"/>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F794008A-73CF-4C8C-9FBA-384A81A27EAA}"/>
                </a:ext>
              </a:extLst>
            </p:cNvPr>
            <p:cNvSpPr/>
            <p:nvPr/>
          </p:nvSpPr>
          <p:spPr>
            <a:xfrm>
              <a:off x="8378663" y="2414954"/>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a:extLst>
                <a:ext uri="{FF2B5EF4-FFF2-40B4-BE49-F238E27FC236}">
                  <a16:creationId xmlns:a16="http://schemas.microsoft.com/office/drawing/2014/main" id="{18EFB742-71EA-4453-AC1D-C9A06DF23B7E}"/>
                </a:ext>
              </a:extLst>
            </p:cNvPr>
            <p:cNvSpPr/>
            <p:nvPr/>
          </p:nvSpPr>
          <p:spPr>
            <a:xfrm>
              <a:off x="8012407" y="2567354"/>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E7796389-A97C-4A7B-974D-FEF2DFBB8088}"/>
                </a:ext>
              </a:extLst>
            </p:cNvPr>
            <p:cNvSpPr/>
            <p:nvPr/>
          </p:nvSpPr>
          <p:spPr>
            <a:xfrm>
              <a:off x="8467940" y="2032497"/>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7B9ACA60-9F9B-44D1-86ED-02479F02C0DC}"/>
                </a:ext>
              </a:extLst>
            </p:cNvPr>
            <p:cNvSpPr/>
            <p:nvPr/>
          </p:nvSpPr>
          <p:spPr>
            <a:xfrm>
              <a:off x="7740321" y="2826361"/>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a:extLst>
                <a:ext uri="{FF2B5EF4-FFF2-40B4-BE49-F238E27FC236}">
                  <a16:creationId xmlns:a16="http://schemas.microsoft.com/office/drawing/2014/main" id="{AEDF87FF-C37D-49A9-9609-3D4BC423CE06}"/>
                </a:ext>
              </a:extLst>
            </p:cNvPr>
            <p:cNvSpPr/>
            <p:nvPr/>
          </p:nvSpPr>
          <p:spPr>
            <a:xfrm>
              <a:off x="8568329" y="2963522"/>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E9011783-B1DC-4927-B7A0-AB1AD1D683BC}"/>
                </a:ext>
              </a:extLst>
            </p:cNvPr>
            <p:cNvSpPr/>
            <p:nvPr/>
          </p:nvSpPr>
          <p:spPr>
            <a:xfrm>
              <a:off x="8715612" y="2740749"/>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a:extLst>
                <a:ext uri="{FF2B5EF4-FFF2-40B4-BE49-F238E27FC236}">
                  <a16:creationId xmlns:a16="http://schemas.microsoft.com/office/drawing/2014/main" id="{B1F2AC41-AF17-4100-BCEC-6D5BCB29AF6B}"/>
                </a:ext>
              </a:extLst>
            </p:cNvPr>
            <p:cNvSpPr/>
            <p:nvPr/>
          </p:nvSpPr>
          <p:spPr>
            <a:xfrm>
              <a:off x="7743060" y="2186319"/>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9A52A4BD-F8EB-46EA-8D38-4EB928465B47}"/>
                </a:ext>
              </a:extLst>
            </p:cNvPr>
            <p:cNvSpPr/>
            <p:nvPr/>
          </p:nvSpPr>
          <p:spPr>
            <a:xfrm>
              <a:off x="7980080" y="3261889"/>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5A276AFF-649B-4B86-87E3-F34B00A90D05}"/>
                </a:ext>
              </a:extLst>
            </p:cNvPr>
            <p:cNvSpPr/>
            <p:nvPr/>
          </p:nvSpPr>
          <p:spPr>
            <a:xfrm>
              <a:off x="8092304" y="2762987"/>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a:extLst>
                <a:ext uri="{FF2B5EF4-FFF2-40B4-BE49-F238E27FC236}">
                  <a16:creationId xmlns:a16="http://schemas.microsoft.com/office/drawing/2014/main" id="{E90F121D-0E78-4CE2-B7B8-04B4104CBF76}"/>
                </a:ext>
              </a:extLst>
            </p:cNvPr>
            <p:cNvSpPr/>
            <p:nvPr/>
          </p:nvSpPr>
          <p:spPr>
            <a:xfrm>
              <a:off x="7801923" y="3064268"/>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3E4CAE18-D7A8-450A-BB6A-92EEB7370FBD}"/>
                </a:ext>
              </a:extLst>
            </p:cNvPr>
            <p:cNvSpPr/>
            <p:nvPr/>
          </p:nvSpPr>
          <p:spPr>
            <a:xfrm>
              <a:off x="8033261" y="2006992"/>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9E5F7BB9-2E24-40F1-ABF1-47AD1B87DC40}"/>
                </a:ext>
              </a:extLst>
            </p:cNvPr>
            <p:cNvSpPr/>
            <p:nvPr/>
          </p:nvSpPr>
          <p:spPr>
            <a:xfrm>
              <a:off x="7998374" y="2387955"/>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a:extLst>
                <a:ext uri="{FF2B5EF4-FFF2-40B4-BE49-F238E27FC236}">
                  <a16:creationId xmlns:a16="http://schemas.microsoft.com/office/drawing/2014/main" id="{527AE03F-C401-4A05-B193-20AA89F5C5F4}"/>
                </a:ext>
              </a:extLst>
            </p:cNvPr>
            <p:cNvSpPr/>
            <p:nvPr/>
          </p:nvSpPr>
          <p:spPr>
            <a:xfrm>
              <a:off x="7632118" y="2540355"/>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EA835193-20FD-4CAF-ABEA-F1F565E99315}"/>
                </a:ext>
              </a:extLst>
            </p:cNvPr>
            <p:cNvSpPr/>
            <p:nvPr/>
          </p:nvSpPr>
          <p:spPr>
            <a:xfrm>
              <a:off x="7602949" y="2368028"/>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BA1D55E1-8DF7-4307-930C-71E84C6A1143}"/>
                </a:ext>
              </a:extLst>
            </p:cNvPr>
            <p:cNvSpPr/>
            <p:nvPr/>
          </p:nvSpPr>
          <p:spPr>
            <a:xfrm>
              <a:off x="8486800" y="3189740"/>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a:extLst>
                <a:ext uri="{FF2B5EF4-FFF2-40B4-BE49-F238E27FC236}">
                  <a16:creationId xmlns:a16="http://schemas.microsoft.com/office/drawing/2014/main" id="{F57F0D4D-46E9-4ED8-9A7F-550BA6F032D4}"/>
                </a:ext>
              </a:extLst>
            </p:cNvPr>
            <p:cNvSpPr/>
            <p:nvPr/>
          </p:nvSpPr>
          <p:spPr>
            <a:xfrm>
              <a:off x="8604423" y="2321098"/>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0BC10CCE-3FD2-4C6B-90ED-2AFB756B2BD3}"/>
                </a:ext>
              </a:extLst>
            </p:cNvPr>
            <p:cNvSpPr/>
            <p:nvPr/>
          </p:nvSpPr>
          <p:spPr>
            <a:xfrm>
              <a:off x="8335323" y="2713750"/>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1521CC67-EC8C-408B-8CF3-8B64D587B243}"/>
                </a:ext>
              </a:extLst>
            </p:cNvPr>
            <p:cNvSpPr/>
            <p:nvPr/>
          </p:nvSpPr>
          <p:spPr>
            <a:xfrm>
              <a:off x="8210843" y="1957755"/>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Google Shape;108;p18">
              <a:extLst>
                <a:ext uri="{FF2B5EF4-FFF2-40B4-BE49-F238E27FC236}">
                  <a16:creationId xmlns:a16="http://schemas.microsoft.com/office/drawing/2014/main" id="{D4C81A60-6219-406D-8194-0CC2213E192B}"/>
                </a:ext>
              </a:extLst>
            </p:cNvPr>
            <p:cNvSpPr/>
            <p:nvPr/>
          </p:nvSpPr>
          <p:spPr>
            <a:xfrm>
              <a:off x="10063808" y="1324866"/>
              <a:ext cx="811500" cy="780600"/>
            </a:xfrm>
            <a:prstGeom prst="ellipse">
              <a:avLst/>
            </a:prstGeom>
            <a:gradFill>
              <a:gsLst>
                <a:gs pos="0">
                  <a:srgbClr val="E0EDBA">
                    <a:alpha val="79215"/>
                  </a:srgbClr>
                </a:gs>
                <a:gs pos="100000">
                  <a:srgbClr val="DE87F1">
                    <a:alpha val="48235"/>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37" name="Google Shape;108;p18">
              <a:extLst>
                <a:ext uri="{FF2B5EF4-FFF2-40B4-BE49-F238E27FC236}">
                  <a16:creationId xmlns:a16="http://schemas.microsoft.com/office/drawing/2014/main" id="{C13A42A4-CD83-4493-B9E6-15B06D1C84E5}"/>
                </a:ext>
              </a:extLst>
            </p:cNvPr>
            <p:cNvSpPr/>
            <p:nvPr/>
          </p:nvSpPr>
          <p:spPr>
            <a:xfrm>
              <a:off x="10102452" y="2414954"/>
              <a:ext cx="811500" cy="780600"/>
            </a:xfrm>
            <a:prstGeom prst="ellipse">
              <a:avLst/>
            </a:prstGeom>
            <a:gradFill>
              <a:gsLst>
                <a:gs pos="0">
                  <a:srgbClr val="E0EDBA">
                    <a:alpha val="79215"/>
                  </a:srgbClr>
                </a:gs>
                <a:gs pos="100000">
                  <a:srgbClr val="DE87F1">
                    <a:alpha val="48235"/>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sp>
          <p:nvSpPr>
            <p:cNvPr id="38" name="Google Shape;108;p18">
              <a:extLst>
                <a:ext uri="{FF2B5EF4-FFF2-40B4-BE49-F238E27FC236}">
                  <a16:creationId xmlns:a16="http://schemas.microsoft.com/office/drawing/2014/main" id="{9A07FB5E-DBA3-41A4-A010-AA67A8A1150D}"/>
                </a:ext>
              </a:extLst>
            </p:cNvPr>
            <p:cNvSpPr/>
            <p:nvPr/>
          </p:nvSpPr>
          <p:spPr>
            <a:xfrm>
              <a:off x="10102452" y="3493027"/>
              <a:ext cx="811500" cy="780600"/>
            </a:xfrm>
            <a:prstGeom prst="ellipse">
              <a:avLst/>
            </a:prstGeom>
            <a:gradFill>
              <a:gsLst>
                <a:gs pos="0">
                  <a:srgbClr val="E0EDBA">
                    <a:alpha val="79215"/>
                  </a:srgbClr>
                </a:gs>
                <a:gs pos="100000">
                  <a:srgbClr val="DE87F1">
                    <a:alpha val="48235"/>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endParaRPr>
            </a:p>
          </p:txBody>
        </p:sp>
        <p:cxnSp>
          <p:nvCxnSpPr>
            <p:cNvPr id="9" name="连接符: 曲线 8">
              <a:extLst>
                <a:ext uri="{FF2B5EF4-FFF2-40B4-BE49-F238E27FC236}">
                  <a16:creationId xmlns:a16="http://schemas.microsoft.com/office/drawing/2014/main" id="{8B6E8480-5623-458A-B525-E00F9F21963E}"/>
                </a:ext>
              </a:extLst>
            </p:cNvPr>
            <p:cNvCxnSpPr>
              <a:cxnSpLocks/>
              <a:stCxn id="6" idx="7"/>
            </p:cNvCxnSpPr>
            <p:nvPr/>
          </p:nvCxnSpPr>
          <p:spPr>
            <a:xfrm rot="5400000" flipH="1" flipV="1">
              <a:off x="9193828" y="1181480"/>
              <a:ext cx="547347" cy="1269902"/>
            </a:xfrm>
            <a:prstGeom prst="curvedConnector2">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3" name="连接符: 曲线 42">
              <a:extLst>
                <a:ext uri="{FF2B5EF4-FFF2-40B4-BE49-F238E27FC236}">
                  <a16:creationId xmlns:a16="http://schemas.microsoft.com/office/drawing/2014/main" id="{AD454C40-F8C1-45B0-821C-E6E556633875}"/>
                </a:ext>
              </a:extLst>
            </p:cNvPr>
            <p:cNvCxnSpPr>
              <a:cxnSpLocks/>
              <a:endCxn id="38" idx="2"/>
            </p:cNvCxnSpPr>
            <p:nvPr/>
          </p:nvCxnSpPr>
          <p:spPr>
            <a:xfrm>
              <a:off x="8995547" y="3033776"/>
              <a:ext cx="1106905" cy="849551"/>
            </a:xfrm>
            <a:prstGeom prst="curvedConnector3">
              <a:avLst>
                <a:gd name="adj1" fmla="val 50000"/>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4" name="连接符: 曲线 43">
              <a:extLst>
                <a:ext uri="{FF2B5EF4-FFF2-40B4-BE49-F238E27FC236}">
                  <a16:creationId xmlns:a16="http://schemas.microsoft.com/office/drawing/2014/main" id="{B5F83DA4-E852-4BED-923A-3DB4C8FB7EAF}"/>
                </a:ext>
              </a:extLst>
            </p:cNvPr>
            <p:cNvCxnSpPr>
              <a:cxnSpLocks/>
            </p:cNvCxnSpPr>
            <p:nvPr/>
          </p:nvCxnSpPr>
          <p:spPr>
            <a:xfrm>
              <a:off x="9062266" y="2745440"/>
              <a:ext cx="1067688" cy="218082"/>
            </a:xfrm>
            <a:prstGeom prst="curvedConnector3">
              <a:avLst>
                <a:gd name="adj1" fmla="val 50000"/>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7" name="连接符: 曲线 46">
              <a:extLst>
                <a:ext uri="{FF2B5EF4-FFF2-40B4-BE49-F238E27FC236}">
                  <a16:creationId xmlns:a16="http://schemas.microsoft.com/office/drawing/2014/main" id="{1B66AAB9-52A9-4736-BE0C-7592CE946239}"/>
                </a:ext>
              </a:extLst>
            </p:cNvPr>
            <p:cNvCxnSpPr>
              <a:cxnSpLocks/>
              <a:stCxn id="37" idx="1"/>
              <a:endCxn id="6" idx="6"/>
            </p:cNvCxnSpPr>
            <p:nvPr/>
          </p:nvCxnSpPr>
          <p:spPr>
            <a:xfrm rot="16200000" flipH="1" flipV="1">
              <a:off x="9576413" y="2026519"/>
              <a:ext cx="142130" cy="1147631"/>
            </a:xfrm>
            <a:prstGeom prst="curvedConnector4">
              <a:avLst>
                <a:gd name="adj1" fmla="val -55262"/>
                <a:gd name="adj2" fmla="val 55178"/>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3" name="连接符: 曲线 52">
              <a:extLst>
                <a:ext uri="{FF2B5EF4-FFF2-40B4-BE49-F238E27FC236}">
                  <a16:creationId xmlns:a16="http://schemas.microsoft.com/office/drawing/2014/main" id="{9F17B4DB-04BB-4C40-8FFC-2A628F9D834A}"/>
                </a:ext>
              </a:extLst>
            </p:cNvPr>
            <p:cNvCxnSpPr>
              <a:cxnSpLocks/>
              <a:stCxn id="36" idx="3"/>
            </p:cNvCxnSpPr>
            <p:nvPr/>
          </p:nvCxnSpPr>
          <p:spPr>
            <a:xfrm rot="5400000">
              <a:off x="9433193" y="1460578"/>
              <a:ext cx="218884" cy="1280029"/>
            </a:xfrm>
            <a:prstGeom prst="curvedConnector2">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5" name="连接符: 曲线 54">
              <a:extLst>
                <a:ext uri="{FF2B5EF4-FFF2-40B4-BE49-F238E27FC236}">
                  <a16:creationId xmlns:a16="http://schemas.microsoft.com/office/drawing/2014/main" id="{F90A152E-CBD4-4E0A-965B-1382010E7672}"/>
                </a:ext>
              </a:extLst>
            </p:cNvPr>
            <p:cNvCxnSpPr>
              <a:cxnSpLocks/>
              <a:endCxn id="6" idx="5"/>
            </p:cNvCxnSpPr>
            <p:nvPr/>
          </p:nvCxnSpPr>
          <p:spPr>
            <a:xfrm rot="10800000">
              <a:off x="8832550" y="3252697"/>
              <a:ext cx="1269902" cy="689177"/>
            </a:xfrm>
            <a:prstGeom prst="curvedConnector2">
              <a:avLst/>
            </a:prstGeom>
            <a:ln>
              <a:tailEnd type="triangle"/>
            </a:ln>
          </p:spPr>
          <p:style>
            <a:lnRef idx="1">
              <a:schemeClr val="accent6"/>
            </a:lnRef>
            <a:fillRef idx="0">
              <a:schemeClr val="accent6"/>
            </a:fillRef>
            <a:effectRef idx="0">
              <a:schemeClr val="accent6"/>
            </a:effectRef>
            <a:fontRef idx="minor">
              <a:schemeClr val="tx1"/>
            </a:fontRef>
          </p:style>
        </p:cxnSp>
        <p:sp>
          <p:nvSpPr>
            <p:cNvPr id="61" name="矩形 60">
              <a:extLst>
                <a:ext uri="{FF2B5EF4-FFF2-40B4-BE49-F238E27FC236}">
                  <a16:creationId xmlns:a16="http://schemas.microsoft.com/office/drawing/2014/main" id="{B8E48C90-1381-4D21-A9BC-AFA256703B6B}"/>
                </a:ext>
              </a:extLst>
            </p:cNvPr>
            <p:cNvSpPr/>
            <p:nvPr/>
          </p:nvSpPr>
          <p:spPr>
            <a:xfrm>
              <a:off x="10422244" y="2650154"/>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a:extLst>
                <a:ext uri="{FF2B5EF4-FFF2-40B4-BE49-F238E27FC236}">
                  <a16:creationId xmlns:a16="http://schemas.microsoft.com/office/drawing/2014/main" id="{222C2B1C-8A17-4CAA-9ED2-D247DE212428}"/>
                </a:ext>
              </a:extLst>
            </p:cNvPr>
            <p:cNvSpPr/>
            <p:nvPr/>
          </p:nvSpPr>
          <p:spPr>
            <a:xfrm>
              <a:off x="10344871" y="2863513"/>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等腰三角形 62">
              <a:extLst>
                <a:ext uri="{FF2B5EF4-FFF2-40B4-BE49-F238E27FC236}">
                  <a16:creationId xmlns:a16="http://schemas.microsoft.com/office/drawing/2014/main" id="{29646932-C9D4-4BD6-85DE-0B5981DFCF63}"/>
                </a:ext>
              </a:extLst>
            </p:cNvPr>
            <p:cNvSpPr/>
            <p:nvPr/>
          </p:nvSpPr>
          <p:spPr>
            <a:xfrm>
              <a:off x="10543186" y="1648873"/>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64" name="等腰三角形 63">
              <a:extLst>
                <a:ext uri="{FF2B5EF4-FFF2-40B4-BE49-F238E27FC236}">
                  <a16:creationId xmlns:a16="http://schemas.microsoft.com/office/drawing/2014/main" id="{D6368D78-E94E-4227-A2EC-5C114C7B6D1E}"/>
                </a:ext>
              </a:extLst>
            </p:cNvPr>
            <p:cNvSpPr/>
            <p:nvPr/>
          </p:nvSpPr>
          <p:spPr>
            <a:xfrm>
              <a:off x="10658262" y="2819185"/>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65" name="等腰三角形 64">
              <a:extLst>
                <a:ext uri="{FF2B5EF4-FFF2-40B4-BE49-F238E27FC236}">
                  <a16:creationId xmlns:a16="http://schemas.microsoft.com/office/drawing/2014/main" id="{99ADB177-87E8-4DCA-B8FD-424E23389D36}"/>
                </a:ext>
              </a:extLst>
            </p:cNvPr>
            <p:cNvSpPr/>
            <p:nvPr/>
          </p:nvSpPr>
          <p:spPr>
            <a:xfrm>
              <a:off x="10490005" y="1437633"/>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2713066D-2BFB-45A5-A602-B030389921F0}"/>
                </a:ext>
              </a:extLst>
            </p:cNvPr>
            <p:cNvSpPr/>
            <p:nvPr/>
          </p:nvSpPr>
          <p:spPr>
            <a:xfrm>
              <a:off x="10267900" y="1599635"/>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a:extLst>
                <a:ext uri="{FF2B5EF4-FFF2-40B4-BE49-F238E27FC236}">
                  <a16:creationId xmlns:a16="http://schemas.microsoft.com/office/drawing/2014/main" id="{CEB69F18-B59B-4A05-90C2-025CF0D22267}"/>
                </a:ext>
              </a:extLst>
            </p:cNvPr>
            <p:cNvSpPr/>
            <p:nvPr/>
          </p:nvSpPr>
          <p:spPr>
            <a:xfrm>
              <a:off x="8760836" y="2506395"/>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a:extLst>
                <a:ext uri="{FF2B5EF4-FFF2-40B4-BE49-F238E27FC236}">
                  <a16:creationId xmlns:a16="http://schemas.microsoft.com/office/drawing/2014/main" id="{891F835A-2919-4F0B-A04B-F9BA15421EBD}"/>
                </a:ext>
              </a:extLst>
            </p:cNvPr>
            <p:cNvSpPr/>
            <p:nvPr/>
          </p:nvSpPr>
          <p:spPr>
            <a:xfrm>
              <a:off x="8531063" y="2567354"/>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a:extLst>
                <a:ext uri="{FF2B5EF4-FFF2-40B4-BE49-F238E27FC236}">
                  <a16:creationId xmlns:a16="http://schemas.microsoft.com/office/drawing/2014/main" id="{7DEE3B61-C671-4C44-998F-004CEF617870}"/>
                </a:ext>
              </a:extLst>
            </p:cNvPr>
            <p:cNvSpPr/>
            <p:nvPr/>
          </p:nvSpPr>
          <p:spPr>
            <a:xfrm>
              <a:off x="10381845" y="1845594"/>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a:extLst>
                <a:ext uri="{FF2B5EF4-FFF2-40B4-BE49-F238E27FC236}">
                  <a16:creationId xmlns:a16="http://schemas.microsoft.com/office/drawing/2014/main" id="{EF8E576C-AE27-4911-A82D-0B566A8A47C7}"/>
                </a:ext>
              </a:extLst>
            </p:cNvPr>
            <p:cNvSpPr/>
            <p:nvPr/>
          </p:nvSpPr>
          <p:spPr>
            <a:xfrm>
              <a:off x="10448595" y="3644113"/>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03F4DF90-0327-426C-A3F3-3B1EA0FF00E0}"/>
                </a:ext>
              </a:extLst>
            </p:cNvPr>
            <p:cNvSpPr/>
            <p:nvPr/>
          </p:nvSpPr>
          <p:spPr>
            <a:xfrm>
              <a:off x="10407930" y="3834090"/>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a:extLst>
                <a:ext uri="{FF2B5EF4-FFF2-40B4-BE49-F238E27FC236}">
                  <a16:creationId xmlns:a16="http://schemas.microsoft.com/office/drawing/2014/main" id="{A2341E13-8884-41E7-B2DB-A569EAEC47CF}"/>
                </a:ext>
              </a:extLst>
            </p:cNvPr>
            <p:cNvSpPr/>
            <p:nvPr/>
          </p:nvSpPr>
          <p:spPr>
            <a:xfrm>
              <a:off x="10246397" y="3693350"/>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等腰三角形 73">
              <a:extLst>
                <a:ext uri="{FF2B5EF4-FFF2-40B4-BE49-F238E27FC236}">
                  <a16:creationId xmlns:a16="http://schemas.microsoft.com/office/drawing/2014/main" id="{598A3F54-9059-4124-A73D-A742E43BBBB1}"/>
                </a:ext>
              </a:extLst>
            </p:cNvPr>
            <p:cNvSpPr/>
            <p:nvPr/>
          </p:nvSpPr>
          <p:spPr>
            <a:xfrm>
              <a:off x="10520718" y="4005753"/>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75" name="Google Shape;1532;p43">
              <a:extLst>
                <a:ext uri="{FF2B5EF4-FFF2-40B4-BE49-F238E27FC236}">
                  <a16:creationId xmlns:a16="http://schemas.microsoft.com/office/drawing/2014/main" id="{BB91CBD6-3B1B-43DE-B9E7-4832296FB6F2}"/>
                </a:ext>
              </a:extLst>
            </p:cNvPr>
            <p:cNvSpPr txBox="1"/>
            <p:nvPr/>
          </p:nvSpPr>
          <p:spPr>
            <a:xfrm>
              <a:off x="7714814" y="3613303"/>
              <a:ext cx="912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zh-CN" altLang="en-US" sz="1400" dirty="0">
                  <a:latin typeface="+mj-ea"/>
                  <a:ea typeface="+mj-ea"/>
                  <a:cs typeface="Consolas"/>
                  <a:sym typeface="Consolas"/>
                </a:rPr>
                <a:t>数据集</a:t>
              </a:r>
              <a:endParaRPr sz="1400" baseline="30000" dirty="0">
                <a:latin typeface="+mj-ea"/>
                <a:ea typeface="+mj-ea"/>
                <a:cs typeface="Consolas"/>
                <a:sym typeface="Consolas"/>
              </a:endParaRPr>
            </a:p>
          </p:txBody>
        </p:sp>
        <p:sp>
          <p:nvSpPr>
            <p:cNvPr id="76" name="Google Shape;1532;p43">
              <a:extLst>
                <a:ext uri="{FF2B5EF4-FFF2-40B4-BE49-F238E27FC236}">
                  <a16:creationId xmlns:a16="http://schemas.microsoft.com/office/drawing/2014/main" id="{8782E692-BAD9-4FEE-8862-E10F60BD1C41}"/>
                </a:ext>
              </a:extLst>
            </p:cNvPr>
            <p:cNvSpPr txBox="1"/>
            <p:nvPr/>
          </p:nvSpPr>
          <p:spPr>
            <a:xfrm>
              <a:off x="11040755" y="1527066"/>
              <a:ext cx="912600" cy="268909"/>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zh-CN" altLang="en-US" sz="2000" baseline="30000" dirty="0">
                  <a:latin typeface="+mj-ea"/>
                  <a:ea typeface="+mj-ea"/>
                  <a:cs typeface="Consolas"/>
                  <a:sym typeface="Consolas"/>
                </a:rPr>
                <a:t>自助采样</a:t>
              </a:r>
              <a:endParaRPr sz="2000" baseline="30000" dirty="0">
                <a:latin typeface="+mj-ea"/>
                <a:ea typeface="+mj-ea"/>
                <a:cs typeface="Consolas"/>
                <a:sym typeface="Consolas"/>
              </a:endParaRPr>
            </a:p>
          </p:txBody>
        </p:sp>
        <p:sp>
          <p:nvSpPr>
            <p:cNvPr id="77" name="Google Shape;1532;p43">
              <a:extLst>
                <a:ext uri="{FF2B5EF4-FFF2-40B4-BE49-F238E27FC236}">
                  <a16:creationId xmlns:a16="http://schemas.microsoft.com/office/drawing/2014/main" id="{2E488D2F-338B-45B3-ABF5-78835C909A79}"/>
                </a:ext>
              </a:extLst>
            </p:cNvPr>
            <p:cNvSpPr txBox="1"/>
            <p:nvPr/>
          </p:nvSpPr>
          <p:spPr>
            <a:xfrm>
              <a:off x="11040755" y="2616590"/>
              <a:ext cx="912600" cy="268909"/>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zh-CN" altLang="en-US" sz="2000" baseline="30000" dirty="0">
                  <a:latin typeface="+mj-ea"/>
                  <a:ea typeface="+mj-ea"/>
                  <a:cs typeface="Consolas"/>
                  <a:sym typeface="Consolas"/>
                </a:rPr>
                <a:t>自助采样</a:t>
              </a:r>
              <a:endParaRPr sz="2000" baseline="30000" dirty="0">
                <a:latin typeface="+mj-ea"/>
                <a:ea typeface="+mj-ea"/>
                <a:cs typeface="Consolas"/>
                <a:sym typeface="Consolas"/>
              </a:endParaRPr>
            </a:p>
          </p:txBody>
        </p:sp>
        <p:sp>
          <p:nvSpPr>
            <p:cNvPr id="78" name="Google Shape;1532;p43">
              <a:extLst>
                <a:ext uri="{FF2B5EF4-FFF2-40B4-BE49-F238E27FC236}">
                  <a16:creationId xmlns:a16="http://schemas.microsoft.com/office/drawing/2014/main" id="{F12AB565-73C2-4ECF-88C3-6B7763472F36}"/>
                </a:ext>
              </a:extLst>
            </p:cNvPr>
            <p:cNvSpPr txBox="1"/>
            <p:nvPr/>
          </p:nvSpPr>
          <p:spPr>
            <a:xfrm>
              <a:off x="11081880" y="3672966"/>
              <a:ext cx="912600" cy="268909"/>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zh-CN" altLang="en-US" sz="2000" baseline="30000" dirty="0">
                  <a:latin typeface="+mj-ea"/>
                  <a:ea typeface="+mj-ea"/>
                  <a:cs typeface="Consolas"/>
                  <a:sym typeface="Consolas"/>
                </a:rPr>
                <a:t>自助采样</a:t>
              </a:r>
              <a:endParaRPr sz="2000" baseline="30000" dirty="0">
                <a:latin typeface="+mj-ea"/>
                <a:ea typeface="+mj-ea"/>
                <a:cs typeface="Consolas"/>
                <a:sym typeface="Consolas"/>
              </a:endParaRPr>
            </a:p>
          </p:txBody>
        </p:sp>
        <p:sp>
          <p:nvSpPr>
            <p:cNvPr id="80" name="文本框 79">
              <a:extLst>
                <a:ext uri="{FF2B5EF4-FFF2-40B4-BE49-F238E27FC236}">
                  <a16:creationId xmlns:a16="http://schemas.microsoft.com/office/drawing/2014/main" id="{F1C21CF2-52D8-4E12-901D-70CA3CE8947A}"/>
                </a:ext>
              </a:extLst>
            </p:cNvPr>
            <p:cNvSpPr txBox="1"/>
            <p:nvPr/>
          </p:nvSpPr>
          <p:spPr>
            <a:xfrm>
              <a:off x="9003255" y="4405037"/>
              <a:ext cx="2880180" cy="369332"/>
            </a:xfrm>
            <a:prstGeom prst="rect">
              <a:avLst/>
            </a:prstGeom>
            <a:noFill/>
          </p:spPr>
          <p:txBody>
            <a:bodyPr wrap="square">
              <a:spAutoFit/>
            </a:bodyPr>
            <a:lstStyle/>
            <a:p>
              <a:r>
                <a:rPr lang="en-US" altLang="zh-CN" sz="1800" dirty="0" err="1">
                  <a:effectLst/>
                  <a:latin typeface="+mj-ea"/>
                  <a:ea typeface="+mj-ea"/>
                  <a:cs typeface="Times New Roman" panose="02020603050405020304" pitchFamily="18" charset="0"/>
                </a:rPr>
                <a:t>Bootstraping</a:t>
              </a:r>
              <a:endParaRPr lang="zh-CN" altLang="en-US" sz="1800" dirty="0"/>
            </a:p>
          </p:txBody>
        </p:sp>
      </p:grpSp>
    </p:spTree>
    <p:extLst>
      <p:ext uri="{BB962C8B-B14F-4D97-AF65-F5344CB8AC3E}">
        <p14:creationId xmlns:p14="http://schemas.microsoft.com/office/powerpoint/2010/main" val="3410305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a:extLst>
              <a:ext uri="{FF2B5EF4-FFF2-40B4-BE49-F238E27FC236}">
                <a16:creationId xmlns:a16="http://schemas.microsoft.com/office/drawing/2014/main" id="{CAE08E35-DEC9-4689-915B-1B27E7F9279D}"/>
              </a:ext>
            </a:extLst>
          </p:cNvPr>
          <p:cNvSpPr/>
          <p:nvPr/>
        </p:nvSpPr>
        <p:spPr>
          <a:xfrm>
            <a:off x="2496677" y="2702861"/>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chemeClr val="bg1"/>
              </a:solidFill>
            </a:endParaRPr>
          </a:p>
        </p:txBody>
      </p:sp>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2.AdaBoost</a:t>
            </a:r>
            <a:r>
              <a:rPr lang="zh-CN" altLang="en-US" dirty="0">
                <a:solidFill>
                  <a:schemeClr val="tx1"/>
                </a:solidFill>
              </a:rPr>
              <a:t>和</a:t>
            </a:r>
            <a:r>
              <a:rPr lang="en-US" altLang="zh-CN" dirty="0">
                <a:solidFill>
                  <a:schemeClr val="tx1"/>
                </a:solidFill>
              </a:rPr>
              <a:t>GBDT</a:t>
            </a:r>
            <a:r>
              <a:rPr lang="zh-CN" altLang="en-US" dirty="0">
                <a:solidFill>
                  <a:schemeClr val="tx1"/>
                </a:solidFill>
              </a:rPr>
              <a:t>算法</a:t>
            </a: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01 </a:t>
            </a:r>
            <a:r>
              <a:rPr lang="en-US" altLang="zh-CN" sz="4000" dirty="0">
                <a:latin typeface="Impact" pitchFamily="34" charset="0"/>
                <a:ea typeface="微软雅黑" pitchFamily="34" charset="-122"/>
              </a:rPr>
              <a:t> </a:t>
            </a:r>
            <a:r>
              <a:rPr lang="en-US" altLang="zh-CN" sz="3600" dirty="0">
                <a:latin typeface="Impact" pitchFamily="34" charset="0"/>
                <a:ea typeface="微软雅黑" pitchFamily="34" charset="-122"/>
              </a:rPr>
              <a:t>  </a:t>
            </a:r>
            <a:r>
              <a:rPr lang="zh-CN" altLang="en-US" sz="3600" dirty="0">
                <a:latin typeface="Impact" pitchFamily="34" charset="0"/>
                <a:ea typeface="微软雅黑" pitchFamily="34" charset="-122"/>
              </a:rPr>
              <a:t>集成学习方法概述</a:t>
            </a:r>
            <a:endParaRPr lang="en-US" altLang="zh-CN" sz="3600" dirty="0">
              <a:latin typeface="Impact" pitchFamily="34" charset="0"/>
              <a:ea typeface="微软雅黑" pitchFamily="34" charset="-122"/>
            </a:endParaRPr>
          </a:p>
        </p:txBody>
      </p:sp>
      <p:sp>
        <p:nvSpPr>
          <p:cNvPr id="8" name="TextBox 10">
            <a:extLst>
              <a:ext uri="{FF2B5EF4-FFF2-40B4-BE49-F238E27FC236}">
                <a16:creationId xmlns:a16="http://schemas.microsoft.com/office/drawing/2014/main" id="{9BE43E83-03B8-4699-AB74-C8EEEC383F30}"/>
              </a:ext>
            </a:extLst>
          </p:cNvPr>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02    AdaBoost</a:t>
            </a:r>
            <a:r>
              <a:rPr lang="zh-CN" altLang="en-US" sz="3600" dirty="0">
                <a:solidFill>
                  <a:schemeClr val="bg1"/>
                </a:solidFill>
                <a:latin typeface="Impact" pitchFamily="34" charset="0"/>
                <a:ea typeface="微软雅黑" pitchFamily="34" charset="-122"/>
              </a:rPr>
              <a:t>和</a:t>
            </a:r>
            <a:r>
              <a:rPr lang="en-US" altLang="zh-CN" sz="3600" dirty="0">
                <a:solidFill>
                  <a:schemeClr val="bg1"/>
                </a:solidFill>
                <a:latin typeface="Impact" pitchFamily="34" charset="0"/>
                <a:ea typeface="微软雅黑" pitchFamily="34" charset="-122"/>
              </a:rPr>
              <a:t>GBDT</a:t>
            </a:r>
            <a:r>
              <a:rPr lang="zh-CN" altLang="en-US" sz="3600" dirty="0">
                <a:solidFill>
                  <a:schemeClr val="bg1"/>
                </a:solidFill>
                <a:latin typeface="Impact" pitchFamily="34" charset="0"/>
                <a:ea typeface="微软雅黑" pitchFamily="34" charset="-122"/>
              </a:rPr>
              <a:t>算法</a:t>
            </a:r>
          </a:p>
        </p:txBody>
      </p:sp>
      <p:sp>
        <p:nvSpPr>
          <p:cNvPr id="9" name="TextBox 11">
            <a:extLst>
              <a:ext uri="{FF2B5EF4-FFF2-40B4-BE49-F238E27FC236}">
                <a16:creationId xmlns:a16="http://schemas.microsoft.com/office/drawing/2014/main" id="{34978614-EBE8-42CE-98D3-1A12F275A36E}"/>
              </a:ext>
            </a:extLst>
          </p:cNvPr>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03    </a:t>
            </a:r>
            <a:r>
              <a:rPr lang="en-US" altLang="zh-CN" sz="3600" dirty="0" err="1">
                <a:latin typeface="Impact" pitchFamily="34" charset="0"/>
                <a:ea typeface="微软雅黑" pitchFamily="34" charset="-122"/>
              </a:rPr>
              <a:t>XGBoost</a:t>
            </a:r>
            <a:endParaRPr lang="zh-CN" altLang="en-US" sz="3600" dirty="0">
              <a:latin typeface="Impact" pitchFamily="34" charset="0"/>
              <a:ea typeface="微软雅黑" pitchFamily="34" charset="-122"/>
            </a:endParaRPr>
          </a:p>
        </p:txBody>
      </p:sp>
      <p:sp>
        <p:nvSpPr>
          <p:cNvPr id="10" name="TextBox 10">
            <a:extLst>
              <a:ext uri="{FF2B5EF4-FFF2-40B4-BE49-F238E27FC236}">
                <a16:creationId xmlns:a16="http://schemas.microsoft.com/office/drawing/2014/main" id="{C420D502-7B94-4817-BEB4-B1C83D329CB1}"/>
              </a:ext>
            </a:extLst>
          </p:cNvPr>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04    </a:t>
            </a:r>
            <a:r>
              <a:rPr lang="en-US" altLang="zh-CN" sz="3600" dirty="0" err="1">
                <a:latin typeface="Impact" pitchFamily="34" charset="0"/>
                <a:ea typeface="微软雅黑" pitchFamily="34" charset="-122"/>
              </a:rPr>
              <a:t>LightGBM</a:t>
            </a:r>
            <a:endParaRPr lang="zh-CN" altLang="en-US" sz="3600" dirty="0">
              <a:latin typeface="Impact" pitchFamily="34" charset="0"/>
              <a:ea typeface="微软雅黑" pitchFamily="34" charset="-122"/>
            </a:endParaRPr>
          </a:p>
        </p:txBody>
      </p:sp>
    </p:spTree>
    <p:extLst>
      <p:ext uri="{BB962C8B-B14F-4D97-AF65-F5344CB8AC3E}">
        <p14:creationId xmlns:p14="http://schemas.microsoft.com/office/powerpoint/2010/main" val="1308370198"/>
      </p:ext>
    </p:extLst>
  </p:cSld>
  <p:clrMapOvr>
    <a:masterClrMapping/>
  </p:clrMapOvr>
  <p:transition advTm="800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AdaBoost</a:t>
            </a:r>
            <a:r>
              <a:rPr lang="zh-CN" altLang="en-US" dirty="0">
                <a:solidFill>
                  <a:schemeClr val="tx1"/>
                </a:solidFill>
              </a:rPr>
              <a:t>算法</a:t>
            </a:r>
          </a:p>
        </p:txBody>
      </p:sp>
      <p:sp>
        <p:nvSpPr>
          <p:cNvPr id="18" name="文本框 17">
            <a:extLst>
              <a:ext uri="{FF2B5EF4-FFF2-40B4-BE49-F238E27FC236}">
                <a16:creationId xmlns:a16="http://schemas.microsoft.com/office/drawing/2014/main" id="{19662088-E42C-4208-9C1C-4C24610E9639}"/>
              </a:ext>
            </a:extLst>
          </p:cNvPr>
          <p:cNvSpPr txBox="1"/>
          <p:nvPr/>
        </p:nvSpPr>
        <p:spPr>
          <a:xfrm>
            <a:off x="668337" y="1414346"/>
            <a:ext cx="9654013" cy="2243050"/>
          </a:xfrm>
          <a:prstGeom prst="rect">
            <a:avLst/>
          </a:prstGeom>
          <a:noFill/>
        </p:spPr>
        <p:txBody>
          <a:bodyPr wrap="square">
            <a:spAutoFit/>
          </a:bodyPr>
          <a:lstStyle/>
          <a:p>
            <a:pPr algn="just">
              <a:lnSpc>
                <a:spcPct val="150000"/>
              </a:lnSpc>
            </a:pPr>
            <a:r>
              <a:rPr lang="en-US" altLang="zh-CN" b="1" kern="100" dirty="0">
                <a:effectLst/>
                <a:latin typeface="+mj-ea"/>
                <a:ea typeface="+mj-ea"/>
              </a:rPr>
              <a:t>AdaBoost</a:t>
            </a:r>
            <a:r>
              <a:rPr lang="zh-CN" altLang="zh-CN" kern="100" dirty="0">
                <a:effectLst/>
                <a:latin typeface="+mj-ea"/>
                <a:ea typeface="+mj-ea"/>
              </a:rPr>
              <a:t>（</a:t>
            </a:r>
            <a:r>
              <a:rPr lang="en-US" altLang="zh-CN" kern="100" dirty="0">
                <a:effectLst/>
                <a:latin typeface="+mj-ea"/>
                <a:ea typeface="+mj-ea"/>
              </a:rPr>
              <a:t>Adaptive Boosting</a:t>
            </a:r>
            <a:r>
              <a:rPr lang="zh-CN" altLang="zh-CN" kern="100" dirty="0">
                <a:effectLst/>
                <a:latin typeface="+mj-ea"/>
                <a:ea typeface="+mj-ea"/>
              </a:rPr>
              <a:t>，自适应</a:t>
            </a:r>
            <a:r>
              <a:rPr lang="zh-CN" altLang="en-US" kern="100" dirty="0">
                <a:effectLst/>
                <a:latin typeface="+mj-ea"/>
                <a:ea typeface="+mj-ea"/>
              </a:rPr>
              <a:t>增强</a:t>
            </a:r>
            <a:r>
              <a:rPr lang="zh-CN" altLang="zh-CN" kern="100" dirty="0">
                <a:effectLst/>
                <a:latin typeface="+mj-ea"/>
                <a:ea typeface="+mj-ea"/>
              </a:rPr>
              <a:t>），其自适应在于：前一个基本分类器分错的样本会得到加强，加权后的全体样本再次被用来训练下一个基本分类器。同时，在每一轮中加入一个新的弱分类器，直到达到某个预定的足够小的错误率或达到预先指定的最大迭代次数。</a:t>
            </a:r>
          </a:p>
        </p:txBody>
      </p:sp>
      <p:sp>
        <p:nvSpPr>
          <p:cNvPr id="21" name="文本框 20">
            <a:extLst>
              <a:ext uri="{FF2B5EF4-FFF2-40B4-BE49-F238E27FC236}">
                <a16:creationId xmlns:a16="http://schemas.microsoft.com/office/drawing/2014/main" id="{D8DBE70F-0B1C-4722-966B-4E8E411874AF}"/>
              </a:ext>
            </a:extLst>
          </p:cNvPr>
          <p:cNvSpPr txBox="1"/>
          <p:nvPr/>
        </p:nvSpPr>
        <p:spPr>
          <a:xfrm>
            <a:off x="565669" y="4711979"/>
            <a:ext cx="10190562" cy="584775"/>
          </a:xfrm>
          <a:prstGeom prst="rect">
            <a:avLst/>
          </a:prstGeom>
          <a:noFill/>
        </p:spPr>
        <p:txBody>
          <a:bodyPr wrap="square">
            <a:spAutoFit/>
          </a:bodyPr>
          <a:lstStyle/>
          <a:p>
            <a:pPr algn="ctr"/>
            <a:r>
              <a:rPr lang="zh-CN" altLang="en-US" sz="3200" b="1" dirty="0"/>
              <a:t>后一个模型的训练永远是在前一个模型的基础上完成！</a:t>
            </a:r>
          </a:p>
        </p:txBody>
      </p:sp>
    </p:spTree>
    <p:extLst>
      <p:ext uri="{BB962C8B-B14F-4D97-AF65-F5344CB8AC3E}">
        <p14:creationId xmlns:p14="http://schemas.microsoft.com/office/powerpoint/2010/main" val="3303510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err="1">
                <a:solidFill>
                  <a:schemeClr val="tx1"/>
                </a:solidFill>
              </a:rPr>
              <a:t>Adaboost</a:t>
            </a:r>
            <a:r>
              <a:rPr lang="zh-CN" altLang="en-US" dirty="0">
                <a:solidFill>
                  <a:schemeClr val="tx1"/>
                </a:solidFill>
              </a:rPr>
              <a:t>算法</a:t>
            </a:r>
          </a:p>
        </p:txBody>
      </p:sp>
      <p:sp>
        <p:nvSpPr>
          <p:cNvPr id="19" name="文本框 18">
            <a:extLst>
              <a:ext uri="{FF2B5EF4-FFF2-40B4-BE49-F238E27FC236}">
                <a16:creationId xmlns:a16="http://schemas.microsoft.com/office/drawing/2014/main" id="{95134A67-FE35-44B3-A10D-3D98F05F38CB}"/>
              </a:ext>
            </a:extLst>
          </p:cNvPr>
          <p:cNvSpPr txBox="1"/>
          <p:nvPr/>
        </p:nvSpPr>
        <p:spPr>
          <a:xfrm>
            <a:off x="668338" y="1567529"/>
            <a:ext cx="10448841" cy="3722942"/>
          </a:xfrm>
          <a:prstGeom prst="rect">
            <a:avLst/>
          </a:prstGeom>
          <a:noFill/>
        </p:spPr>
        <p:txBody>
          <a:bodyPr wrap="square">
            <a:spAutoFit/>
          </a:bodyPr>
          <a:lstStyle/>
          <a:p>
            <a:pPr>
              <a:lnSpc>
                <a:spcPct val="150000"/>
              </a:lnSpc>
              <a:spcBef>
                <a:spcPts val="900"/>
              </a:spcBef>
              <a:spcAft>
                <a:spcPts val="900"/>
              </a:spcAft>
            </a:pPr>
            <a:r>
              <a:rPr lang="zh-CN" altLang="en-US" b="1" kern="100" dirty="0">
                <a:effectLst/>
                <a:latin typeface="微软雅黑" panose="020B0503020204020204" pitchFamily="34" charset="-122"/>
                <a:cs typeface="Times New Roman" panose="02020603050405020304" pitchFamily="18" charset="0"/>
              </a:rPr>
              <a:t>算法思想</a:t>
            </a:r>
            <a:endParaRPr lang="zh-CN" altLang="zh-CN" kern="100" dirty="0">
              <a:effectLst/>
              <a:latin typeface="微软雅黑" panose="020B0503020204020204" pitchFamily="34" charset="-122"/>
              <a:cs typeface="Times New Roman" panose="02020603050405020304" pitchFamily="18" charset="0"/>
            </a:endParaRPr>
          </a:p>
          <a:p>
            <a:pPr marL="342900" lvl="0" indent="-342900" algn="l">
              <a:lnSpc>
                <a:spcPct val="150000"/>
              </a:lnSpc>
              <a:spcAft>
                <a:spcPts val="1000"/>
              </a:spcAft>
              <a:buFont typeface="Arial" panose="020B0604020202020204" pitchFamily="34" charset="0"/>
              <a:buChar char="•"/>
            </a:pPr>
            <a:r>
              <a:rPr lang="zh-CN" altLang="zh-CN" kern="100" dirty="0">
                <a:effectLst/>
                <a:latin typeface="微软雅黑" panose="020B0503020204020204" pitchFamily="34" charset="-122"/>
                <a:cs typeface="Times New Roman" panose="02020603050405020304" pitchFamily="18" charset="0"/>
              </a:rPr>
              <a:t>初始化训练样本的权值分布，每个样本具有相同权重；</a:t>
            </a:r>
          </a:p>
          <a:p>
            <a:pPr marL="342900" lvl="0" indent="-342900" algn="l">
              <a:lnSpc>
                <a:spcPct val="150000"/>
              </a:lnSpc>
              <a:spcAft>
                <a:spcPts val="1000"/>
              </a:spcAft>
              <a:buFont typeface="Arial" panose="020B0604020202020204" pitchFamily="34" charset="0"/>
              <a:buChar char="•"/>
            </a:pPr>
            <a:r>
              <a:rPr lang="zh-CN" altLang="zh-CN" kern="100" dirty="0">
                <a:effectLst/>
                <a:latin typeface="微软雅黑" panose="020B0503020204020204" pitchFamily="34" charset="-122"/>
                <a:cs typeface="Times New Roman" panose="02020603050405020304" pitchFamily="18" charset="0"/>
              </a:rPr>
              <a:t>训练弱分类器，如果样本分类正确，则在构造下一个训练集中，它的权值就会被降低；反之提高。用更新过的样本集去训练下一个分类器；</a:t>
            </a:r>
            <a:endParaRPr lang="en-US" altLang="zh-CN" kern="100" dirty="0">
              <a:effectLst/>
              <a:latin typeface="微软雅黑" panose="020B0503020204020204" pitchFamily="34" charset="-122"/>
              <a:cs typeface="Times New Roman" panose="02020603050405020304" pitchFamily="18" charset="0"/>
            </a:endParaRPr>
          </a:p>
          <a:p>
            <a:pPr marL="342900" lvl="0" indent="-342900" algn="l">
              <a:lnSpc>
                <a:spcPct val="150000"/>
              </a:lnSpc>
              <a:spcAft>
                <a:spcPts val="1000"/>
              </a:spcAft>
              <a:buFont typeface="Arial" panose="020B0604020202020204" pitchFamily="34" charset="0"/>
              <a:buChar char="•"/>
            </a:pPr>
            <a:r>
              <a:rPr lang="zh-CN" altLang="zh-CN" kern="100" dirty="0">
                <a:effectLst/>
                <a:latin typeface="微软雅黑" panose="020B0503020204020204" pitchFamily="34" charset="-122"/>
                <a:cs typeface="Times New Roman" panose="02020603050405020304" pitchFamily="18" charset="0"/>
              </a:rPr>
              <a:t>将所有弱分类组合成强分类器，各个弱分类器的训练过程结束后，加大分类误差率小的弱分类器的权重，降低分类误差率大的弱分类器的权重。</a:t>
            </a:r>
          </a:p>
        </p:txBody>
      </p:sp>
    </p:spTree>
    <p:extLst>
      <p:ext uri="{BB962C8B-B14F-4D97-AF65-F5344CB8AC3E}">
        <p14:creationId xmlns:p14="http://schemas.microsoft.com/office/powerpoint/2010/main" val="1796111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6F052DA-B44B-45A4-BB89-B175AA597DAE}"/>
              </a:ext>
            </a:extLst>
          </p:cNvPr>
          <p:cNvSpPr/>
          <p:nvPr/>
        </p:nvSpPr>
        <p:spPr>
          <a:xfrm>
            <a:off x="1833341" y="1517552"/>
            <a:ext cx="2077330" cy="2039816"/>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5" name="Rectangle 2">
            <a:extLst>
              <a:ext uri="{FF2B5EF4-FFF2-40B4-BE49-F238E27FC236}">
                <a16:creationId xmlns:a16="http://schemas.microsoft.com/office/drawing/2014/main" id="{820BD018-A389-4103-8DE3-ADC7FA20D05F}"/>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AdaBoost</a:t>
            </a:r>
            <a:r>
              <a:rPr lang="zh-CN" altLang="en-US" dirty="0">
                <a:solidFill>
                  <a:schemeClr val="tx1"/>
                </a:solidFill>
              </a:rPr>
              <a:t>算法</a:t>
            </a:r>
          </a:p>
        </p:txBody>
      </p:sp>
      <p:sp>
        <p:nvSpPr>
          <p:cNvPr id="2" name="椭圆 1">
            <a:extLst>
              <a:ext uri="{FF2B5EF4-FFF2-40B4-BE49-F238E27FC236}">
                <a16:creationId xmlns:a16="http://schemas.microsoft.com/office/drawing/2014/main" id="{C9C6F9CF-9AFB-40D7-92A6-3AC8BC48DC7D}"/>
              </a:ext>
            </a:extLst>
          </p:cNvPr>
          <p:cNvSpPr/>
          <p:nvPr/>
        </p:nvSpPr>
        <p:spPr>
          <a:xfrm>
            <a:off x="2245720" y="1813786"/>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AA54ECEE-9B3E-457B-A73B-5149F5D56709}"/>
              </a:ext>
            </a:extLst>
          </p:cNvPr>
          <p:cNvSpPr/>
          <p:nvPr/>
        </p:nvSpPr>
        <p:spPr>
          <a:xfrm>
            <a:off x="2045713" y="2537460"/>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C616DF77-3515-47D6-B11C-C0A2FBDBE062}"/>
              </a:ext>
            </a:extLst>
          </p:cNvPr>
          <p:cNvSpPr/>
          <p:nvPr/>
        </p:nvSpPr>
        <p:spPr>
          <a:xfrm>
            <a:off x="2755325" y="2042386"/>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9FEDF4E7-F6C5-4C57-A6F3-89146255A680}"/>
              </a:ext>
            </a:extLst>
          </p:cNvPr>
          <p:cNvSpPr/>
          <p:nvPr/>
        </p:nvSpPr>
        <p:spPr>
          <a:xfrm>
            <a:off x="2405282" y="3199447"/>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C66B7F79-847D-445B-8DAC-5498C07B6043}"/>
              </a:ext>
            </a:extLst>
          </p:cNvPr>
          <p:cNvSpPr/>
          <p:nvPr/>
        </p:nvSpPr>
        <p:spPr>
          <a:xfrm>
            <a:off x="3060126" y="1717990"/>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644AB305-0830-4B6D-967A-8447EFA28411}"/>
              </a:ext>
            </a:extLst>
          </p:cNvPr>
          <p:cNvSpPr/>
          <p:nvPr/>
        </p:nvSpPr>
        <p:spPr>
          <a:xfrm>
            <a:off x="3562571" y="2075498"/>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0850728F-C0D8-46A5-AF14-885F444C02CF}"/>
              </a:ext>
            </a:extLst>
          </p:cNvPr>
          <p:cNvSpPr/>
          <p:nvPr/>
        </p:nvSpPr>
        <p:spPr>
          <a:xfrm>
            <a:off x="2755326" y="2783114"/>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56ADB051-41E5-44F3-BB67-FAD5C636088A}"/>
              </a:ext>
            </a:extLst>
          </p:cNvPr>
          <p:cNvSpPr/>
          <p:nvPr/>
        </p:nvSpPr>
        <p:spPr>
          <a:xfrm>
            <a:off x="3422460" y="2773589"/>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A963D79E-25A7-4C84-92A4-2868402D0932}"/>
              </a:ext>
            </a:extLst>
          </p:cNvPr>
          <p:cNvSpPr/>
          <p:nvPr/>
        </p:nvSpPr>
        <p:spPr>
          <a:xfrm>
            <a:off x="2943444" y="3199447"/>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D6A6C7B7-6CB3-4D38-BE05-C08F513C11EA}"/>
              </a:ext>
            </a:extLst>
          </p:cNvPr>
          <p:cNvCxnSpPr>
            <a:cxnSpLocks/>
          </p:cNvCxnSpPr>
          <p:nvPr/>
        </p:nvCxnSpPr>
        <p:spPr>
          <a:xfrm flipV="1">
            <a:off x="1908517" y="2405575"/>
            <a:ext cx="1922585" cy="596614"/>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sp>
        <p:nvSpPr>
          <p:cNvPr id="18" name="矩形 17">
            <a:extLst>
              <a:ext uri="{FF2B5EF4-FFF2-40B4-BE49-F238E27FC236}">
                <a16:creationId xmlns:a16="http://schemas.microsoft.com/office/drawing/2014/main" id="{6A925D96-CF2A-48F5-85B2-7AA96181981A}"/>
              </a:ext>
            </a:extLst>
          </p:cNvPr>
          <p:cNvSpPr/>
          <p:nvPr/>
        </p:nvSpPr>
        <p:spPr>
          <a:xfrm>
            <a:off x="5424614" y="1505216"/>
            <a:ext cx="2077330" cy="2039816"/>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5380C5ED-EA3B-4E16-843E-BD599B8B6D11}"/>
              </a:ext>
            </a:extLst>
          </p:cNvPr>
          <p:cNvSpPr/>
          <p:nvPr/>
        </p:nvSpPr>
        <p:spPr>
          <a:xfrm>
            <a:off x="5836993" y="1801450"/>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CB42AAAC-6CFE-4037-891A-C4B5ACBE17AA}"/>
              </a:ext>
            </a:extLst>
          </p:cNvPr>
          <p:cNvSpPr/>
          <p:nvPr/>
        </p:nvSpPr>
        <p:spPr>
          <a:xfrm>
            <a:off x="5636986" y="2525124"/>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BA0BCF26-E2AF-4141-B922-7E5FBAAE73E3}"/>
              </a:ext>
            </a:extLst>
          </p:cNvPr>
          <p:cNvSpPr/>
          <p:nvPr/>
        </p:nvSpPr>
        <p:spPr>
          <a:xfrm>
            <a:off x="6346598" y="2030050"/>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11C271D-52F4-49C2-83C3-4433E00E2F64}"/>
              </a:ext>
            </a:extLst>
          </p:cNvPr>
          <p:cNvSpPr/>
          <p:nvPr/>
        </p:nvSpPr>
        <p:spPr>
          <a:xfrm>
            <a:off x="5996555" y="3187111"/>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D269F871-39F8-4E28-8533-CBBB24D11632}"/>
              </a:ext>
            </a:extLst>
          </p:cNvPr>
          <p:cNvSpPr/>
          <p:nvPr/>
        </p:nvSpPr>
        <p:spPr>
          <a:xfrm>
            <a:off x="6651399" y="1705654"/>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椭圆 23">
            <a:extLst>
              <a:ext uri="{FF2B5EF4-FFF2-40B4-BE49-F238E27FC236}">
                <a16:creationId xmlns:a16="http://schemas.microsoft.com/office/drawing/2014/main" id="{1309D0FD-300B-45D2-A5AF-480941ED7B70}"/>
              </a:ext>
            </a:extLst>
          </p:cNvPr>
          <p:cNvSpPr/>
          <p:nvPr/>
        </p:nvSpPr>
        <p:spPr>
          <a:xfrm>
            <a:off x="7153844" y="2063162"/>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571B8762-9030-41F1-B8EB-1413B95AA36F}"/>
              </a:ext>
            </a:extLst>
          </p:cNvPr>
          <p:cNvSpPr/>
          <p:nvPr/>
        </p:nvSpPr>
        <p:spPr>
          <a:xfrm>
            <a:off x="6346599" y="2770778"/>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A8F03EA7-1D0D-456B-A5D8-7516AB7D7DC1}"/>
              </a:ext>
            </a:extLst>
          </p:cNvPr>
          <p:cNvSpPr/>
          <p:nvPr/>
        </p:nvSpPr>
        <p:spPr>
          <a:xfrm>
            <a:off x="7013733" y="2761253"/>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45A978C7-17D2-4ED0-ADEE-69F0089894C7}"/>
              </a:ext>
            </a:extLst>
          </p:cNvPr>
          <p:cNvSpPr/>
          <p:nvPr/>
        </p:nvSpPr>
        <p:spPr>
          <a:xfrm>
            <a:off x="6534717" y="3187111"/>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a:extLst>
              <a:ext uri="{FF2B5EF4-FFF2-40B4-BE49-F238E27FC236}">
                <a16:creationId xmlns:a16="http://schemas.microsoft.com/office/drawing/2014/main" id="{97B123DC-F7BA-4794-9F6C-EE155BDA9206}"/>
              </a:ext>
            </a:extLst>
          </p:cNvPr>
          <p:cNvCxnSpPr>
            <a:cxnSpLocks/>
          </p:cNvCxnSpPr>
          <p:nvPr/>
        </p:nvCxnSpPr>
        <p:spPr>
          <a:xfrm flipV="1">
            <a:off x="5499790" y="2393239"/>
            <a:ext cx="1922585" cy="596614"/>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sp>
        <p:nvSpPr>
          <p:cNvPr id="29" name="椭圆 28">
            <a:extLst>
              <a:ext uri="{FF2B5EF4-FFF2-40B4-BE49-F238E27FC236}">
                <a16:creationId xmlns:a16="http://schemas.microsoft.com/office/drawing/2014/main" id="{F7E36BF6-D3B7-4407-B0B3-5B465E84147D}"/>
              </a:ext>
            </a:extLst>
          </p:cNvPr>
          <p:cNvSpPr/>
          <p:nvPr/>
        </p:nvSpPr>
        <p:spPr>
          <a:xfrm>
            <a:off x="5915740" y="3107658"/>
            <a:ext cx="360520" cy="3408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E55717CD-2F9D-4777-B381-F370CC7CC7CD}"/>
              </a:ext>
            </a:extLst>
          </p:cNvPr>
          <p:cNvSpPr/>
          <p:nvPr/>
        </p:nvSpPr>
        <p:spPr>
          <a:xfrm>
            <a:off x="7090265" y="1973911"/>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椭圆 31">
            <a:extLst>
              <a:ext uri="{FF2B5EF4-FFF2-40B4-BE49-F238E27FC236}">
                <a16:creationId xmlns:a16="http://schemas.microsoft.com/office/drawing/2014/main" id="{51E4FAA3-DE73-42D3-A8C0-C6D775D9C926}"/>
              </a:ext>
            </a:extLst>
          </p:cNvPr>
          <p:cNvSpPr/>
          <p:nvPr/>
        </p:nvSpPr>
        <p:spPr>
          <a:xfrm>
            <a:off x="6579961" y="1633034"/>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a:extLst>
              <a:ext uri="{FF2B5EF4-FFF2-40B4-BE49-F238E27FC236}">
                <a16:creationId xmlns:a16="http://schemas.microsoft.com/office/drawing/2014/main" id="{048FE5AB-734D-4147-8AC2-E2C8103F1C65}"/>
              </a:ext>
            </a:extLst>
          </p:cNvPr>
          <p:cNvSpPr/>
          <p:nvPr/>
        </p:nvSpPr>
        <p:spPr>
          <a:xfrm>
            <a:off x="9015887" y="1505216"/>
            <a:ext cx="2077330" cy="2039816"/>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0F9317EE-AA0A-44D1-B20B-80248345A6F7}"/>
              </a:ext>
            </a:extLst>
          </p:cNvPr>
          <p:cNvSpPr/>
          <p:nvPr/>
        </p:nvSpPr>
        <p:spPr>
          <a:xfrm>
            <a:off x="9428266" y="1801450"/>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640BE6DE-1FC4-47DF-AA71-FBCD10D6E14C}"/>
              </a:ext>
            </a:extLst>
          </p:cNvPr>
          <p:cNvSpPr/>
          <p:nvPr/>
        </p:nvSpPr>
        <p:spPr>
          <a:xfrm>
            <a:off x="9228259" y="2525124"/>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4C0FC4FF-B5BC-4655-A927-7A32A1238C77}"/>
              </a:ext>
            </a:extLst>
          </p:cNvPr>
          <p:cNvSpPr/>
          <p:nvPr/>
        </p:nvSpPr>
        <p:spPr>
          <a:xfrm>
            <a:off x="9937871" y="2030050"/>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F3DC0FB0-C456-461B-86D0-A93D74C9F734}"/>
              </a:ext>
            </a:extLst>
          </p:cNvPr>
          <p:cNvSpPr/>
          <p:nvPr/>
        </p:nvSpPr>
        <p:spPr>
          <a:xfrm>
            <a:off x="9587828" y="3187111"/>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F8FC4F82-9303-4539-81E1-FFC7A96E5619}"/>
              </a:ext>
            </a:extLst>
          </p:cNvPr>
          <p:cNvSpPr/>
          <p:nvPr/>
        </p:nvSpPr>
        <p:spPr>
          <a:xfrm>
            <a:off x="10242672" y="1705654"/>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椭圆 38">
            <a:extLst>
              <a:ext uri="{FF2B5EF4-FFF2-40B4-BE49-F238E27FC236}">
                <a16:creationId xmlns:a16="http://schemas.microsoft.com/office/drawing/2014/main" id="{0EB04ECA-0756-4CAE-83B5-F10CCB27F635}"/>
              </a:ext>
            </a:extLst>
          </p:cNvPr>
          <p:cNvSpPr/>
          <p:nvPr/>
        </p:nvSpPr>
        <p:spPr>
          <a:xfrm>
            <a:off x="10745117" y="2063162"/>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5528C075-9B3C-4D39-8AA0-C381C96B4404}"/>
              </a:ext>
            </a:extLst>
          </p:cNvPr>
          <p:cNvSpPr/>
          <p:nvPr/>
        </p:nvSpPr>
        <p:spPr>
          <a:xfrm>
            <a:off x="9937872" y="2770778"/>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92CBC8DA-C709-4D08-A41B-9A0E7259BDBD}"/>
              </a:ext>
            </a:extLst>
          </p:cNvPr>
          <p:cNvSpPr/>
          <p:nvPr/>
        </p:nvSpPr>
        <p:spPr>
          <a:xfrm>
            <a:off x="10605006" y="2761253"/>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63993771-DDBC-4DC4-A343-A3624E4DFA4E}"/>
              </a:ext>
            </a:extLst>
          </p:cNvPr>
          <p:cNvSpPr/>
          <p:nvPr/>
        </p:nvSpPr>
        <p:spPr>
          <a:xfrm>
            <a:off x="10125990" y="3187111"/>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a:extLst>
              <a:ext uri="{FF2B5EF4-FFF2-40B4-BE49-F238E27FC236}">
                <a16:creationId xmlns:a16="http://schemas.microsoft.com/office/drawing/2014/main" id="{FDFBD612-593B-4E5F-9FDC-2088E03CC8BF}"/>
              </a:ext>
            </a:extLst>
          </p:cNvPr>
          <p:cNvCxnSpPr>
            <a:cxnSpLocks/>
          </p:cNvCxnSpPr>
          <p:nvPr/>
        </p:nvCxnSpPr>
        <p:spPr>
          <a:xfrm>
            <a:off x="10074008" y="1633034"/>
            <a:ext cx="556371" cy="1815501"/>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sp>
        <p:nvSpPr>
          <p:cNvPr id="44" name="椭圆 43">
            <a:extLst>
              <a:ext uri="{FF2B5EF4-FFF2-40B4-BE49-F238E27FC236}">
                <a16:creationId xmlns:a16="http://schemas.microsoft.com/office/drawing/2014/main" id="{910CF649-7F12-4D25-8288-E4223E5A90A9}"/>
              </a:ext>
            </a:extLst>
          </p:cNvPr>
          <p:cNvSpPr/>
          <p:nvPr/>
        </p:nvSpPr>
        <p:spPr>
          <a:xfrm>
            <a:off x="9507013" y="3107658"/>
            <a:ext cx="360520" cy="3408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7F3C9166-C58F-4D5A-9719-8DE34C6CA3DC}"/>
              </a:ext>
            </a:extLst>
          </p:cNvPr>
          <p:cNvSpPr/>
          <p:nvPr/>
        </p:nvSpPr>
        <p:spPr>
          <a:xfrm>
            <a:off x="10681538" y="1973911"/>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椭圆 45">
            <a:extLst>
              <a:ext uri="{FF2B5EF4-FFF2-40B4-BE49-F238E27FC236}">
                <a16:creationId xmlns:a16="http://schemas.microsoft.com/office/drawing/2014/main" id="{424A55DA-B6A4-489F-A64A-0CE6B5E30840}"/>
              </a:ext>
            </a:extLst>
          </p:cNvPr>
          <p:cNvSpPr/>
          <p:nvPr/>
        </p:nvSpPr>
        <p:spPr>
          <a:xfrm>
            <a:off x="10171234" y="1633034"/>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矩形 50">
            <a:extLst>
              <a:ext uri="{FF2B5EF4-FFF2-40B4-BE49-F238E27FC236}">
                <a16:creationId xmlns:a16="http://schemas.microsoft.com/office/drawing/2014/main" id="{BB0A54EA-7E51-46A6-B4C7-90861028A86E}"/>
              </a:ext>
            </a:extLst>
          </p:cNvPr>
          <p:cNvSpPr/>
          <p:nvPr/>
        </p:nvSpPr>
        <p:spPr>
          <a:xfrm>
            <a:off x="1833341" y="4097739"/>
            <a:ext cx="2077330" cy="2039816"/>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52" name="椭圆 51">
            <a:extLst>
              <a:ext uri="{FF2B5EF4-FFF2-40B4-BE49-F238E27FC236}">
                <a16:creationId xmlns:a16="http://schemas.microsoft.com/office/drawing/2014/main" id="{9760A034-3ACD-4D68-A135-84D324E690F3}"/>
              </a:ext>
            </a:extLst>
          </p:cNvPr>
          <p:cNvSpPr/>
          <p:nvPr/>
        </p:nvSpPr>
        <p:spPr>
          <a:xfrm>
            <a:off x="2245720" y="4393973"/>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a:extLst>
              <a:ext uri="{FF2B5EF4-FFF2-40B4-BE49-F238E27FC236}">
                <a16:creationId xmlns:a16="http://schemas.microsoft.com/office/drawing/2014/main" id="{7B630062-9DBB-4B3C-AC7D-233F61A43683}"/>
              </a:ext>
            </a:extLst>
          </p:cNvPr>
          <p:cNvSpPr/>
          <p:nvPr/>
        </p:nvSpPr>
        <p:spPr>
          <a:xfrm>
            <a:off x="2045713" y="5117647"/>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a:extLst>
              <a:ext uri="{FF2B5EF4-FFF2-40B4-BE49-F238E27FC236}">
                <a16:creationId xmlns:a16="http://schemas.microsoft.com/office/drawing/2014/main" id="{1863B2C6-805B-4DD9-9E20-ABFCA00C76D4}"/>
              </a:ext>
            </a:extLst>
          </p:cNvPr>
          <p:cNvSpPr/>
          <p:nvPr/>
        </p:nvSpPr>
        <p:spPr>
          <a:xfrm>
            <a:off x="2755325" y="4622573"/>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a:extLst>
              <a:ext uri="{FF2B5EF4-FFF2-40B4-BE49-F238E27FC236}">
                <a16:creationId xmlns:a16="http://schemas.microsoft.com/office/drawing/2014/main" id="{4C2DE5BC-0BB4-41BC-8874-A65C6514BF4A}"/>
              </a:ext>
            </a:extLst>
          </p:cNvPr>
          <p:cNvSpPr/>
          <p:nvPr/>
        </p:nvSpPr>
        <p:spPr>
          <a:xfrm>
            <a:off x="2405282" y="5779634"/>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a:extLst>
              <a:ext uri="{FF2B5EF4-FFF2-40B4-BE49-F238E27FC236}">
                <a16:creationId xmlns:a16="http://schemas.microsoft.com/office/drawing/2014/main" id="{A9FDF808-6B6B-4C48-ABB1-81CBF8442325}"/>
              </a:ext>
            </a:extLst>
          </p:cNvPr>
          <p:cNvSpPr/>
          <p:nvPr/>
        </p:nvSpPr>
        <p:spPr>
          <a:xfrm>
            <a:off x="3060126" y="4298177"/>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椭圆 56">
            <a:extLst>
              <a:ext uri="{FF2B5EF4-FFF2-40B4-BE49-F238E27FC236}">
                <a16:creationId xmlns:a16="http://schemas.microsoft.com/office/drawing/2014/main" id="{66372DE9-9879-4471-8E36-81317F054B74}"/>
              </a:ext>
            </a:extLst>
          </p:cNvPr>
          <p:cNvSpPr/>
          <p:nvPr/>
        </p:nvSpPr>
        <p:spPr>
          <a:xfrm>
            <a:off x="3562571" y="4655685"/>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a:extLst>
              <a:ext uri="{FF2B5EF4-FFF2-40B4-BE49-F238E27FC236}">
                <a16:creationId xmlns:a16="http://schemas.microsoft.com/office/drawing/2014/main" id="{AAD5DB03-4D83-4EC1-AA5A-C203EB17F179}"/>
              </a:ext>
            </a:extLst>
          </p:cNvPr>
          <p:cNvSpPr/>
          <p:nvPr/>
        </p:nvSpPr>
        <p:spPr>
          <a:xfrm>
            <a:off x="2755326" y="5363301"/>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741CCFC7-3F77-4AA2-B338-0113AD213421}"/>
              </a:ext>
            </a:extLst>
          </p:cNvPr>
          <p:cNvSpPr/>
          <p:nvPr/>
        </p:nvSpPr>
        <p:spPr>
          <a:xfrm>
            <a:off x="3422460" y="5353776"/>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a:extLst>
              <a:ext uri="{FF2B5EF4-FFF2-40B4-BE49-F238E27FC236}">
                <a16:creationId xmlns:a16="http://schemas.microsoft.com/office/drawing/2014/main" id="{765D7A24-3C11-4704-8C18-7A6C064B7D84}"/>
              </a:ext>
            </a:extLst>
          </p:cNvPr>
          <p:cNvSpPr/>
          <p:nvPr/>
        </p:nvSpPr>
        <p:spPr>
          <a:xfrm>
            <a:off x="2943444" y="5779634"/>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 name="直接连接符 60">
            <a:extLst>
              <a:ext uri="{FF2B5EF4-FFF2-40B4-BE49-F238E27FC236}">
                <a16:creationId xmlns:a16="http://schemas.microsoft.com/office/drawing/2014/main" id="{9EA23A78-EFD1-4316-B433-863C642E4F4C}"/>
              </a:ext>
            </a:extLst>
          </p:cNvPr>
          <p:cNvCxnSpPr>
            <a:cxnSpLocks/>
          </p:cNvCxnSpPr>
          <p:nvPr/>
        </p:nvCxnSpPr>
        <p:spPr>
          <a:xfrm>
            <a:off x="2891462" y="4225557"/>
            <a:ext cx="556371" cy="1815501"/>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sp>
        <p:nvSpPr>
          <p:cNvPr id="62" name="椭圆 61">
            <a:extLst>
              <a:ext uri="{FF2B5EF4-FFF2-40B4-BE49-F238E27FC236}">
                <a16:creationId xmlns:a16="http://schemas.microsoft.com/office/drawing/2014/main" id="{7FC561DA-5EB0-474D-BDA2-1E883BFA7D42}"/>
              </a:ext>
            </a:extLst>
          </p:cNvPr>
          <p:cNvSpPr/>
          <p:nvPr/>
        </p:nvSpPr>
        <p:spPr>
          <a:xfrm>
            <a:off x="2324467" y="5700181"/>
            <a:ext cx="360520" cy="3408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a:extLst>
              <a:ext uri="{FF2B5EF4-FFF2-40B4-BE49-F238E27FC236}">
                <a16:creationId xmlns:a16="http://schemas.microsoft.com/office/drawing/2014/main" id="{C1C2C152-62EF-42FB-ACB3-B58BCD9AB998}"/>
              </a:ext>
            </a:extLst>
          </p:cNvPr>
          <p:cNvSpPr/>
          <p:nvPr/>
        </p:nvSpPr>
        <p:spPr>
          <a:xfrm>
            <a:off x="3498992" y="4566434"/>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椭圆 63">
            <a:extLst>
              <a:ext uri="{FF2B5EF4-FFF2-40B4-BE49-F238E27FC236}">
                <a16:creationId xmlns:a16="http://schemas.microsoft.com/office/drawing/2014/main" id="{A79ED77F-05C8-42A7-83D3-0D6FD33BD84B}"/>
              </a:ext>
            </a:extLst>
          </p:cNvPr>
          <p:cNvSpPr/>
          <p:nvPr/>
        </p:nvSpPr>
        <p:spPr>
          <a:xfrm>
            <a:off x="2988688" y="4225557"/>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椭圆 64">
            <a:extLst>
              <a:ext uri="{FF2B5EF4-FFF2-40B4-BE49-F238E27FC236}">
                <a16:creationId xmlns:a16="http://schemas.microsoft.com/office/drawing/2014/main" id="{1F7742B4-1E7B-4852-A007-C1EA9310CE59}"/>
              </a:ext>
            </a:extLst>
          </p:cNvPr>
          <p:cNvSpPr/>
          <p:nvPr/>
        </p:nvSpPr>
        <p:spPr>
          <a:xfrm>
            <a:off x="2699605" y="5307162"/>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椭圆 65">
            <a:extLst>
              <a:ext uri="{FF2B5EF4-FFF2-40B4-BE49-F238E27FC236}">
                <a16:creationId xmlns:a16="http://schemas.microsoft.com/office/drawing/2014/main" id="{F38C5413-64AE-45B2-879B-C42C6B3DCB35}"/>
              </a:ext>
            </a:extLst>
          </p:cNvPr>
          <p:cNvSpPr/>
          <p:nvPr/>
        </p:nvSpPr>
        <p:spPr>
          <a:xfrm>
            <a:off x="2879865" y="5692037"/>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7" name="矩形 66">
            <a:extLst>
              <a:ext uri="{FF2B5EF4-FFF2-40B4-BE49-F238E27FC236}">
                <a16:creationId xmlns:a16="http://schemas.microsoft.com/office/drawing/2014/main" id="{C4784E5E-D33C-4536-95D3-FBDD9900A525}"/>
              </a:ext>
            </a:extLst>
          </p:cNvPr>
          <p:cNvSpPr/>
          <p:nvPr/>
        </p:nvSpPr>
        <p:spPr>
          <a:xfrm>
            <a:off x="5424614" y="4097739"/>
            <a:ext cx="2077330" cy="2039816"/>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8" name="椭圆 67">
            <a:extLst>
              <a:ext uri="{FF2B5EF4-FFF2-40B4-BE49-F238E27FC236}">
                <a16:creationId xmlns:a16="http://schemas.microsoft.com/office/drawing/2014/main" id="{CE6D86C2-15A1-425B-9907-1849343579A8}"/>
              </a:ext>
            </a:extLst>
          </p:cNvPr>
          <p:cNvSpPr/>
          <p:nvPr/>
        </p:nvSpPr>
        <p:spPr>
          <a:xfrm>
            <a:off x="5836993" y="4393973"/>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a:extLst>
              <a:ext uri="{FF2B5EF4-FFF2-40B4-BE49-F238E27FC236}">
                <a16:creationId xmlns:a16="http://schemas.microsoft.com/office/drawing/2014/main" id="{FC41FA0F-090C-4D4F-8A72-8E762458A5D4}"/>
              </a:ext>
            </a:extLst>
          </p:cNvPr>
          <p:cNvSpPr/>
          <p:nvPr/>
        </p:nvSpPr>
        <p:spPr>
          <a:xfrm>
            <a:off x="5636986" y="5117647"/>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a:extLst>
              <a:ext uri="{FF2B5EF4-FFF2-40B4-BE49-F238E27FC236}">
                <a16:creationId xmlns:a16="http://schemas.microsoft.com/office/drawing/2014/main" id="{4821F6D7-42BA-4174-A8AE-C2B50CA76B5B}"/>
              </a:ext>
            </a:extLst>
          </p:cNvPr>
          <p:cNvSpPr/>
          <p:nvPr/>
        </p:nvSpPr>
        <p:spPr>
          <a:xfrm>
            <a:off x="6346598" y="4622573"/>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a:extLst>
              <a:ext uri="{FF2B5EF4-FFF2-40B4-BE49-F238E27FC236}">
                <a16:creationId xmlns:a16="http://schemas.microsoft.com/office/drawing/2014/main" id="{CF519881-09E5-4E60-BAF3-88D31913BC13}"/>
              </a:ext>
            </a:extLst>
          </p:cNvPr>
          <p:cNvSpPr/>
          <p:nvPr/>
        </p:nvSpPr>
        <p:spPr>
          <a:xfrm>
            <a:off x="5996555" y="5779634"/>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D54C438C-A8AA-4DD9-8578-CD6DAF457679}"/>
              </a:ext>
            </a:extLst>
          </p:cNvPr>
          <p:cNvSpPr/>
          <p:nvPr/>
        </p:nvSpPr>
        <p:spPr>
          <a:xfrm>
            <a:off x="6651399" y="4298177"/>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椭圆 72">
            <a:extLst>
              <a:ext uri="{FF2B5EF4-FFF2-40B4-BE49-F238E27FC236}">
                <a16:creationId xmlns:a16="http://schemas.microsoft.com/office/drawing/2014/main" id="{F19C1AF5-AA5C-464E-A0BC-919617CED23A}"/>
              </a:ext>
            </a:extLst>
          </p:cNvPr>
          <p:cNvSpPr/>
          <p:nvPr/>
        </p:nvSpPr>
        <p:spPr>
          <a:xfrm>
            <a:off x="7153844" y="4655685"/>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775FABF6-EBE2-431F-AD06-4F6A7DBE6C3A}"/>
              </a:ext>
            </a:extLst>
          </p:cNvPr>
          <p:cNvSpPr/>
          <p:nvPr/>
        </p:nvSpPr>
        <p:spPr>
          <a:xfrm>
            <a:off x="6346599" y="5363301"/>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F91F0DE6-A487-4A47-BDC9-DBFCA245E3CD}"/>
              </a:ext>
            </a:extLst>
          </p:cNvPr>
          <p:cNvSpPr/>
          <p:nvPr/>
        </p:nvSpPr>
        <p:spPr>
          <a:xfrm>
            <a:off x="7013733" y="5353776"/>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040C059D-3990-44BF-B13A-7E6B47E9E4DA}"/>
              </a:ext>
            </a:extLst>
          </p:cNvPr>
          <p:cNvSpPr/>
          <p:nvPr/>
        </p:nvSpPr>
        <p:spPr>
          <a:xfrm>
            <a:off x="6534717" y="5779634"/>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7" name="直接连接符 76">
            <a:extLst>
              <a:ext uri="{FF2B5EF4-FFF2-40B4-BE49-F238E27FC236}">
                <a16:creationId xmlns:a16="http://schemas.microsoft.com/office/drawing/2014/main" id="{5BEFF4A9-3D7E-41EE-9BD9-1E8E91DB15E8}"/>
              </a:ext>
            </a:extLst>
          </p:cNvPr>
          <p:cNvCxnSpPr>
            <a:cxnSpLocks/>
          </p:cNvCxnSpPr>
          <p:nvPr/>
        </p:nvCxnSpPr>
        <p:spPr>
          <a:xfrm>
            <a:off x="6068412" y="4298177"/>
            <a:ext cx="288663" cy="1734737"/>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sp>
        <p:nvSpPr>
          <p:cNvPr id="78" name="椭圆 77">
            <a:extLst>
              <a:ext uri="{FF2B5EF4-FFF2-40B4-BE49-F238E27FC236}">
                <a16:creationId xmlns:a16="http://schemas.microsoft.com/office/drawing/2014/main" id="{558319C3-AC48-48F9-8B92-997450A19D72}"/>
              </a:ext>
            </a:extLst>
          </p:cNvPr>
          <p:cNvSpPr/>
          <p:nvPr/>
        </p:nvSpPr>
        <p:spPr>
          <a:xfrm>
            <a:off x="5915740" y="5700181"/>
            <a:ext cx="360520" cy="3408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4F234876-21F3-46DB-822F-F30C70855681}"/>
              </a:ext>
            </a:extLst>
          </p:cNvPr>
          <p:cNvSpPr/>
          <p:nvPr/>
        </p:nvSpPr>
        <p:spPr>
          <a:xfrm>
            <a:off x="7090265" y="4566434"/>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0" name="椭圆 79">
            <a:extLst>
              <a:ext uri="{FF2B5EF4-FFF2-40B4-BE49-F238E27FC236}">
                <a16:creationId xmlns:a16="http://schemas.microsoft.com/office/drawing/2014/main" id="{E9C6ADFE-8C24-4A1C-929D-853C8C568082}"/>
              </a:ext>
            </a:extLst>
          </p:cNvPr>
          <p:cNvSpPr/>
          <p:nvPr/>
        </p:nvSpPr>
        <p:spPr>
          <a:xfrm>
            <a:off x="6579961" y="4225557"/>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椭圆 80">
            <a:extLst>
              <a:ext uri="{FF2B5EF4-FFF2-40B4-BE49-F238E27FC236}">
                <a16:creationId xmlns:a16="http://schemas.microsoft.com/office/drawing/2014/main" id="{1FA9AAFC-1763-4AAC-9B10-173762DFFEC9}"/>
              </a:ext>
            </a:extLst>
          </p:cNvPr>
          <p:cNvSpPr/>
          <p:nvPr/>
        </p:nvSpPr>
        <p:spPr>
          <a:xfrm>
            <a:off x="6290878" y="5307162"/>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 name="椭圆 81">
            <a:extLst>
              <a:ext uri="{FF2B5EF4-FFF2-40B4-BE49-F238E27FC236}">
                <a16:creationId xmlns:a16="http://schemas.microsoft.com/office/drawing/2014/main" id="{FF944A51-A706-4494-BB21-21A6074DDCE8}"/>
              </a:ext>
            </a:extLst>
          </p:cNvPr>
          <p:cNvSpPr/>
          <p:nvPr/>
        </p:nvSpPr>
        <p:spPr>
          <a:xfrm>
            <a:off x="6471138" y="5692037"/>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4" name="矩形 83">
            <a:extLst>
              <a:ext uri="{FF2B5EF4-FFF2-40B4-BE49-F238E27FC236}">
                <a16:creationId xmlns:a16="http://schemas.microsoft.com/office/drawing/2014/main" id="{4F37ED13-5A7E-4B68-8C41-5DC294471FFF}"/>
              </a:ext>
            </a:extLst>
          </p:cNvPr>
          <p:cNvSpPr/>
          <p:nvPr/>
        </p:nvSpPr>
        <p:spPr>
          <a:xfrm>
            <a:off x="9015887" y="4118072"/>
            <a:ext cx="2077330" cy="2039816"/>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BAC6AA47-3397-40A9-8549-1EA9DCA9A058}"/>
              </a:ext>
            </a:extLst>
          </p:cNvPr>
          <p:cNvSpPr/>
          <p:nvPr/>
        </p:nvSpPr>
        <p:spPr>
          <a:xfrm>
            <a:off x="9428266" y="4414306"/>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7A26FDE5-6C7E-4E98-BEBB-18EEDF4F8BD5}"/>
              </a:ext>
            </a:extLst>
          </p:cNvPr>
          <p:cNvSpPr/>
          <p:nvPr/>
        </p:nvSpPr>
        <p:spPr>
          <a:xfrm>
            <a:off x="9228259" y="5137980"/>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BBDCB334-6B21-4B92-9C4D-66737B99E4CB}"/>
              </a:ext>
            </a:extLst>
          </p:cNvPr>
          <p:cNvSpPr/>
          <p:nvPr/>
        </p:nvSpPr>
        <p:spPr>
          <a:xfrm>
            <a:off x="9937871" y="4642906"/>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0719EF8A-936C-41A8-A629-6CE7EC4D3F97}"/>
              </a:ext>
            </a:extLst>
          </p:cNvPr>
          <p:cNvSpPr/>
          <p:nvPr/>
        </p:nvSpPr>
        <p:spPr>
          <a:xfrm>
            <a:off x="9587828" y="5799967"/>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922E4D71-126B-4C6A-AD3A-2499A98A1EF3}"/>
              </a:ext>
            </a:extLst>
          </p:cNvPr>
          <p:cNvSpPr/>
          <p:nvPr/>
        </p:nvSpPr>
        <p:spPr>
          <a:xfrm>
            <a:off x="10242672" y="4318510"/>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0" name="椭圆 89">
            <a:extLst>
              <a:ext uri="{FF2B5EF4-FFF2-40B4-BE49-F238E27FC236}">
                <a16:creationId xmlns:a16="http://schemas.microsoft.com/office/drawing/2014/main" id="{AE906EA7-B531-49E5-929C-784B4C7B828B}"/>
              </a:ext>
            </a:extLst>
          </p:cNvPr>
          <p:cNvSpPr/>
          <p:nvPr/>
        </p:nvSpPr>
        <p:spPr>
          <a:xfrm>
            <a:off x="10745117" y="4676018"/>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31D1DDBE-4E9A-4312-98E4-E0D23BFA6DDE}"/>
              </a:ext>
            </a:extLst>
          </p:cNvPr>
          <p:cNvSpPr/>
          <p:nvPr/>
        </p:nvSpPr>
        <p:spPr>
          <a:xfrm>
            <a:off x="9937872" y="5383634"/>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C306D2ED-04B5-40AA-BD83-CCB5D2B59617}"/>
              </a:ext>
            </a:extLst>
          </p:cNvPr>
          <p:cNvSpPr/>
          <p:nvPr/>
        </p:nvSpPr>
        <p:spPr>
          <a:xfrm>
            <a:off x="10605006" y="5374109"/>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2E5399F0-AE90-44F4-AE5A-799AB76F15F0}"/>
              </a:ext>
            </a:extLst>
          </p:cNvPr>
          <p:cNvSpPr/>
          <p:nvPr/>
        </p:nvSpPr>
        <p:spPr>
          <a:xfrm>
            <a:off x="10125990" y="5799967"/>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4" name="直接连接符 93">
            <a:extLst>
              <a:ext uri="{FF2B5EF4-FFF2-40B4-BE49-F238E27FC236}">
                <a16:creationId xmlns:a16="http://schemas.microsoft.com/office/drawing/2014/main" id="{D304BD47-1B66-45F3-9225-28AE5DDE38AB}"/>
              </a:ext>
            </a:extLst>
          </p:cNvPr>
          <p:cNvCxnSpPr>
            <a:cxnSpLocks/>
          </p:cNvCxnSpPr>
          <p:nvPr/>
        </p:nvCxnSpPr>
        <p:spPr>
          <a:xfrm>
            <a:off x="9659685" y="4318510"/>
            <a:ext cx="288663" cy="1734737"/>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sp>
        <p:nvSpPr>
          <p:cNvPr id="95" name="椭圆 94">
            <a:extLst>
              <a:ext uri="{FF2B5EF4-FFF2-40B4-BE49-F238E27FC236}">
                <a16:creationId xmlns:a16="http://schemas.microsoft.com/office/drawing/2014/main" id="{B6302F1C-52CA-4B13-A242-56278859CA9F}"/>
              </a:ext>
            </a:extLst>
          </p:cNvPr>
          <p:cNvSpPr/>
          <p:nvPr/>
        </p:nvSpPr>
        <p:spPr>
          <a:xfrm>
            <a:off x="9507013" y="5720514"/>
            <a:ext cx="360520" cy="3408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3A460BB2-D812-4930-B549-F6E7AA13577A}"/>
              </a:ext>
            </a:extLst>
          </p:cNvPr>
          <p:cNvSpPr/>
          <p:nvPr/>
        </p:nvSpPr>
        <p:spPr>
          <a:xfrm>
            <a:off x="10681538" y="4586767"/>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7" name="椭圆 96">
            <a:extLst>
              <a:ext uri="{FF2B5EF4-FFF2-40B4-BE49-F238E27FC236}">
                <a16:creationId xmlns:a16="http://schemas.microsoft.com/office/drawing/2014/main" id="{BB7A6E76-1EF1-4ABC-B638-FB25C70355CE}"/>
              </a:ext>
            </a:extLst>
          </p:cNvPr>
          <p:cNvSpPr/>
          <p:nvPr/>
        </p:nvSpPr>
        <p:spPr>
          <a:xfrm>
            <a:off x="10171234" y="4245890"/>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 name="椭圆 97">
            <a:extLst>
              <a:ext uri="{FF2B5EF4-FFF2-40B4-BE49-F238E27FC236}">
                <a16:creationId xmlns:a16="http://schemas.microsoft.com/office/drawing/2014/main" id="{57FB267D-F87A-447B-8217-6E2D850EEC57}"/>
              </a:ext>
            </a:extLst>
          </p:cNvPr>
          <p:cNvSpPr/>
          <p:nvPr/>
        </p:nvSpPr>
        <p:spPr>
          <a:xfrm>
            <a:off x="9882151" y="5327495"/>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9" name="椭圆 98">
            <a:extLst>
              <a:ext uri="{FF2B5EF4-FFF2-40B4-BE49-F238E27FC236}">
                <a16:creationId xmlns:a16="http://schemas.microsoft.com/office/drawing/2014/main" id="{7E5CFB4A-5D14-4D9F-AD6F-D96711027242}"/>
              </a:ext>
            </a:extLst>
          </p:cNvPr>
          <p:cNvSpPr/>
          <p:nvPr/>
        </p:nvSpPr>
        <p:spPr>
          <a:xfrm>
            <a:off x="10062411" y="5712370"/>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00" name="直接连接符 99">
            <a:extLst>
              <a:ext uri="{FF2B5EF4-FFF2-40B4-BE49-F238E27FC236}">
                <a16:creationId xmlns:a16="http://schemas.microsoft.com/office/drawing/2014/main" id="{CB9D56B5-2F99-4D4D-8849-EFA80EB4537E}"/>
              </a:ext>
            </a:extLst>
          </p:cNvPr>
          <p:cNvCxnSpPr>
            <a:cxnSpLocks/>
          </p:cNvCxnSpPr>
          <p:nvPr/>
        </p:nvCxnSpPr>
        <p:spPr>
          <a:xfrm flipV="1">
            <a:off x="9112715" y="4967302"/>
            <a:ext cx="1922585" cy="596614"/>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cxnSp>
        <p:nvCxnSpPr>
          <p:cNvPr id="101" name="直接连接符 100">
            <a:extLst>
              <a:ext uri="{FF2B5EF4-FFF2-40B4-BE49-F238E27FC236}">
                <a16:creationId xmlns:a16="http://schemas.microsoft.com/office/drawing/2014/main" id="{B2EF3B50-110C-48D8-B744-14876A67957F}"/>
              </a:ext>
            </a:extLst>
          </p:cNvPr>
          <p:cNvCxnSpPr>
            <a:cxnSpLocks/>
          </p:cNvCxnSpPr>
          <p:nvPr/>
        </p:nvCxnSpPr>
        <p:spPr>
          <a:xfrm>
            <a:off x="10071972" y="4245890"/>
            <a:ext cx="556371" cy="1815501"/>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cxnSp>
        <p:nvCxnSpPr>
          <p:cNvPr id="4097" name="直接箭头连接符 4096">
            <a:extLst>
              <a:ext uri="{FF2B5EF4-FFF2-40B4-BE49-F238E27FC236}">
                <a16:creationId xmlns:a16="http://schemas.microsoft.com/office/drawing/2014/main" id="{CA1AE4B7-8941-4CC7-A25E-A8256200B44E}"/>
              </a:ext>
            </a:extLst>
          </p:cNvPr>
          <p:cNvCxnSpPr>
            <a:cxnSpLocks/>
          </p:cNvCxnSpPr>
          <p:nvPr/>
        </p:nvCxnSpPr>
        <p:spPr>
          <a:xfrm>
            <a:off x="1296131" y="2335368"/>
            <a:ext cx="537210" cy="66401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4099" name="文本框 4098">
            <a:extLst>
              <a:ext uri="{FF2B5EF4-FFF2-40B4-BE49-F238E27FC236}">
                <a16:creationId xmlns:a16="http://schemas.microsoft.com/office/drawing/2014/main" id="{8B7CAA6D-0B32-4153-B068-B4B44EC6A6F0}"/>
              </a:ext>
            </a:extLst>
          </p:cNvPr>
          <p:cNvSpPr txBox="1"/>
          <p:nvPr/>
        </p:nvSpPr>
        <p:spPr>
          <a:xfrm>
            <a:off x="454855" y="2027591"/>
            <a:ext cx="1022675" cy="307777"/>
          </a:xfrm>
          <a:prstGeom prst="rect">
            <a:avLst/>
          </a:prstGeom>
          <a:noFill/>
        </p:spPr>
        <p:txBody>
          <a:bodyPr wrap="square" rtlCol="0">
            <a:spAutoFit/>
          </a:bodyPr>
          <a:lstStyle/>
          <a:p>
            <a:r>
              <a:rPr lang="zh-CN" altLang="en-US" sz="1400" dirty="0"/>
              <a:t>弱分类器</a:t>
            </a:r>
            <a:r>
              <a:rPr lang="en-US" altLang="zh-CN" sz="1400" dirty="0"/>
              <a:t>1</a:t>
            </a:r>
            <a:endParaRPr lang="zh-CN" altLang="en-US" sz="1400" dirty="0"/>
          </a:p>
        </p:txBody>
      </p:sp>
      <p:sp>
        <p:nvSpPr>
          <p:cNvPr id="105" name="文本框 104">
            <a:extLst>
              <a:ext uri="{FF2B5EF4-FFF2-40B4-BE49-F238E27FC236}">
                <a16:creationId xmlns:a16="http://schemas.microsoft.com/office/drawing/2014/main" id="{352A19E6-2BB2-447D-8654-CE7D42C3343F}"/>
              </a:ext>
            </a:extLst>
          </p:cNvPr>
          <p:cNvSpPr txBox="1"/>
          <p:nvPr/>
        </p:nvSpPr>
        <p:spPr>
          <a:xfrm>
            <a:off x="4143001" y="2044084"/>
            <a:ext cx="1022675" cy="307777"/>
          </a:xfrm>
          <a:prstGeom prst="rect">
            <a:avLst/>
          </a:prstGeom>
          <a:noFill/>
        </p:spPr>
        <p:txBody>
          <a:bodyPr wrap="square" rtlCol="0">
            <a:spAutoFit/>
          </a:bodyPr>
          <a:lstStyle/>
          <a:p>
            <a:r>
              <a:rPr lang="zh-CN" altLang="en-US" sz="1400" dirty="0"/>
              <a:t>权重提高</a:t>
            </a:r>
          </a:p>
        </p:txBody>
      </p:sp>
      <p:sp>
        <p:nvSpPr>
          <p:cNvPr id="106" name="文本框 105">
            <a:extLst>
              <a:ext uri="{FF2B5EF4-FFF2-40B4-BE49-F238E27FC236}">
                <a16:creationId xmlns:a16="http://schemas.microsoft.com/office/drawing/2014/main" id="{911A8319-7C70-4110-B714-59512F274044}"/>
              </a:ext>
            </a:extLst>
          </p:cNvPr>
          <p:cNvSpPr txBox="1"/>
          <p:nvPr/>
        </p:nvSpPr>
        <p:spPr>
          <a:xfrm>
            <a:off x="4137823" y="4477492"/>
            <a:ext cx="1022675" cy="307777"/>
          </a:xfrm>
          <a:prstGeom prst="rect">
            <a:avLst/>
          </a:prstGeom>
          <a:noFill/>
        </p:spPr>
        <p:txBody>
          <a:bodyPr wrap="square" rtlCol="0">
            <a:spAutoFit/>
          </a:bodyPr>
          <a:lstStyle/>
          <a:p>
            <a:r>
              <a:rPr lang="zh-CN" altLang="en-US" sz="1400" dirty="0"/>
              <a:t>弱分类器</a:t>
            </a:r>
            <a:r>
              <a:rPr lang="en-US" altLang="zh-CN" sz="1400" dirty="0"/>
              <a:t>3</a:t>
            </a:r>
            <a:endParaRPr lang="zh-CN" altLang="en-US" sz="1400" dirty="0"/>
          </a:p>
        </p:txBody>
      </p:sp>
      <p:sp>
        <p:nvSpPr>
          <p:cNvPr id="107" name="文本框 106">
            <a:extLst>
              <a:ext uri="{FF2B5EF4-FFF2-40B4-BE49-F238E27FC236}">
                <a16:creationId xmlns:a16="http://schemas.microsoft.com/office/drawing/2014/main" id="{7659AA69-3FED-4E9D-8BB4-CB0AE9804176}"/>
              </a:ext>
            </a:extLst>
          </p:cNvPr>
          <p:cNvSpPr txBox="1"/>
          <p:nvPr/>
        </p:nvSpPr>
        <p:spPr>
          <a:xfrm>
            <a:off x="517549" y="4547110"/>
            <a:ext cx="1022675" cy="307777"/>
          </a:xfrm>
          <a:prstGeom prst="rect">
            <a:avLst/>
          </a:prstGeom>
          <a:noFill/>
        </p:spPr>
        <p:txBody>
          <a:bodyPr wrap="square" rtlCol="0">
            <a:spAutoFit/>
          </a:bodyPr>
          <a:lstStyle/>
          <a:p>
            <a:r>
              <a:rPr lang="zh-CN" altLang="en-US" sz="1400" dirty="0"/>
              <a:t>权重提高</a:t>
            </a:r>
          </a:p>
        </p:txBody>
      </p:sp>
      <p:sp>
        <p:nvSpPr>
          <p:cNvPr id="108" name="文本框 107">
            <a:extLst>
              <a:ext uri="{FF2B5EF4-FFF2-40B4-BE49-F238E27FC236}">
                <a16:creationId xmlns:a16="http://schemas.microsoft.com/office/drawing/2014/main" id="{8DE54A59-314F-4D96-AD1D-DBDDF8076F12}"/>
              </a:ext>
            </a:extLst>
          </p:cNvPr>
          <p:cNvSpPr txBox="1"/>
          <p:nvPr/>
        </p:nvSpPr>
        <p:spPr>
          <a:xfrm>
            <a:off x="7759218" y="2048830"/>
            <a:ext cx="1022675" cy="307777"/>
          </a:xfrm>
          <a:prstGeom prst="rect">
            <a:avLst/>
          </a:prstGeom>
          <a:noFill/>
        </p:spPr>
        <p:txBody>
          <a:bodyPr wrap="square" rtlCol="0">
            <a:spAutoFit/>
          </a:bodyPr>
          <a:lstStyle/>
          <a:p>
            <a:r>
              <a:rPr lang="zh-CN" altLang="en-US" sz="1400" dirty="0"/>
              <a:t>弱分类器</a:t>
            </a:r>
            <a:r>
              <a:rPr lang="en-US" altLang="zh-CN" sz="1400" dirty="0"/>
              <a:t>2</a:t>
            </a:r>
            <a:endParaRPr lang="zh-CN" altLang="en-US" sz="1400" dirty="0"/>
          </a:p>
        </p:txBody>
      </p:sp>
      <p:sp>
        <p:nvSpPr>
          <p:cNvPr id="109" name="文本框 108">
            <a:extLst>
              <a:ext uri="{FF2B5EF4-FFF2-40B4-BE49-F238E27FC236}">
                <a16:creationId xmlns:a16="http://schemas.microsoft.com/office/drawing/2014/main" id="{BE3A6AAE-0BBE-4276-9D6E-D27E59C64108}"/>
              </a:ext>
            </a:extLst>
          </p:cNvPr>
          <p:cNvSpPr txBox="1"/>
          <p:nvPr/>
        </p:nvSpPr>
        <p:spPr>
          <a:xfrm>
            <a:off x="7760466" y="4412477"/>
            <a:ext cx="1021427" cy="738664"/>
          </a:xfrm>
          <a:prstGeom prst="rect">
            <a:avLst/>
          </a:prstGeom>
          <a:noFill/>
        </p:spPr>
        <p:txBody>
          <a:bodyPr wrap="square" rtlCol="0">
            <a:spAutoFit/>
          </a:bodyPr>
          <a:lstStyle/>
          <a:p>
            <a:r>
              <a:rPr lang="zh-CN" altLang="en-US" sz="1400" dirty="0"/>
              <a:t>弱分类器组成了强分类器</a:t>
            </a:r>
          </a:p>
        </p:txBody>
      </p:sp>
      <p:cxnSp>
        <p:nvCxnSpPr>
          <p:cNvPr id="111" name="直接箭头连接符 110">
            <a:extLst>
              <a:ext uri="{FF2B5EF4-FFF2-40B4-BE49-F238E27FC236}">
                <a16:creationId xmlns:a16="http://schemas.microsoft.com/office/drawing/2014/main" id="{4CFA7301-7F4F-4DC9-8B6F-AF487416C4C6}"/>
              </a:ext>
            </a:extLst>
          </p:cNvPr>
          <p:cNvCxnSpPr>
            <a:cxnSpLocks/>
            <a:endCxn id="31" idx="3"/>
          </p:cNvCxnSpPr>
          <p:nvPr/>
        </p:nvCxnSpPr>
        <p:spPr>
          <a:xfrm>
            <a:off x="4961776" y="2246635"/>
            <a:ext cx="2181286" cy="1823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12" name="直接箭头连接符 111">
            <a:extLst>
              <a:ext uri="{FF2B5EF4-FFF2-40B4-BE49-F238E27FC236}">
                <a16:creationId xmlns:a16="http://schemas.microsoft.com/office/drawing/2014/main" id="{ED378BA9-B640-4103-A555-46BB544924CA}"/>
              </a:ext>
            </a:extLst>
          </p:cNvPr>
          <p:cNvCxnSpPr>
            <a:cxnSpLocks/>
            <a:endCxn id="32" idx="3"/>
          </p:cNvCxnSpPr>
          <p:nvPr/>
        </p:nvCxnSpPr>
        <p:spPr>
          <a:xfrm flipV="1">
            <a:off x="4959140" y="1923991"/>
            <a:ext cx="1673618" cy="30805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13" name="直接箭头连接符 112">
            <a:extLst>
              <a:ext uri="{FF2B5EF4-FFF2-40B4-BE49-F238E27FC236}">
                <a16:creationId xmlns:a16="http://schemas.microsoft.com/office/drawing/2014/main" id="{67662EC2-BC8A-422B-8658-1EC458888214}"/>
              </a:ext>
            </a:extLst>
          </p:cNvPr>
          <p:cNvCxnSpPr>
            <a:cxnSpLocks/>
          </p:cNvCxnSpPr>
          <p:nvPr/>
        </p:nvCxnSpPr>
        <p:spPr>
          <a:xfrm>
            <a:off x="4961776" y="2264868"/>
            <a:ext cx="921985" cy="934579"/>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19" name="直接箭头连接符 118">
            <a:extLst>
              <a:ext uri="{FF2B5EF4-FFF2-40B4-BE49-F238E27FC236}">
                <a16:creationId xmlns:a16="http://schemas.microsoft.com/office/drawing/2014/main" id="{0E020678-C016-4EEC-AFE5-F40F83320671}"/>
              </a:ext>
            </a:extLst>
          </p:cNvPr>
          <p:cNvCxnSpPr>
            <a:cxnSpLocks/>
          </p:cNvCxnSpPr>
          <p:nvPr/>
        </p:nvCxnSpPr>
        <p:spPr>
          <a:xfrm>
            <a:off x="8677172" y="2276997"/>
            <a:ext cx="1641730" cy="16295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21" name="直接箭头连接符 120">
            <a:extLst>
              <a:ext uri="{FF2B5EF4-FFF2-40B4-BE49-F238E27FC236}">
                <a16:creationId xmlns:a16="http://schemas.microsoft.com/office/drawing/2014/main" id="{C8E31D6C-36C2-4152-85B4-F94BA8B22968}"/>
              </a:ext>
            </a:extLst>
          </p:cNvPr>
          <p:cNvCxnSpPr>
            <a:cxnSpLocks/>
            <a:endCxn id="66" idx="2"/>
          </p:cNvCxnSpPr>
          <p:nvPr/>
        </p:nvCxnSpPr>
        <p:spPr>
          <a:xfrm>
            <a:off x="1303555" y="4765478"/>
            <a:ext cx="1576310" cy="1096998"/>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22" name="直接箭头连接符 121">
            <a:extLst>
              <a:ext uri="{FF2B5EF4-FFF2-40B4-BE49-F238E27FC236}">
                <a16:creationId xmlns:a16="http://schemas.microsoft.com/office/drawing/2014/main" id="{3A80E155-68FC-4ACF-B755-71AEFB000F0F}"/>
              </a:ext>
            </a:extLst>
          </p:cNvPr>
          <p:cNvCxnSpPr>
            <a:cxnSpLocks/>
            <a:endCxn id="65" idx="0"/>
          </p:cNvCxnSpPr>
          <p:nvPr/>
        </p:nvCxnSpPr>
        <p:spPr>
          <a:xfrm>
            <a:off x="1303555" y="4765478"/>
            <a:ext cx="1576310" cy="54168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25" name="直接箭头连接符 124">
            <a:extLst>
              <a:ext uri="{FF2B5EF4-FFF2-40B4-BE49-F238E27FC236}">
                <a16:creationId xmlns:a16="http://schemas.microsoft.com/office/drawing/2014/main" id="{BEBCB137-B0C6-41E0-8CDA-5396E311086A}"/>
              </a:ext>
            </a:extLst>
          </p:cNvPr>
          <p:cNvCxnSpPr>
            <a:cxnSpLocks/>
          </p:cNvCxnSpPr>
          <p:nvPr/>
        </p:nvCxnSpPr>
        <p:spPr>
          <a:xfrm>
            <a:off x="5032317" y="4631380"/>
            <a:ext cx="1116218" cy="4283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30" name="直接连接符 129">
            <a:extLst>
              <a:ext uri="{FF2B5EF4-FFF2-40B4-BE49-F238E27FC236}">
                <a16:creationId xmlns:a16="http://schemas.microsoft.com/office/drawing/2014/main" id="{A28B6B2A-86C9-4F2F-8AE0-17A71B7E720F}"/>
              </a:ext>
            </a:extLst>
          </p:cNvPr>
          <p:cNvCxnSpPr>
            <a:cxnSpLocks/>
          </p:cNvCxnSpPr>
          <p:nvPr/>
        </p:nvCxnSpPr>
        <p:spPr>
          <a:xfrm>
            <a:off x="10074702" y="4255268"/>
            <a:ext cx="273522" cy="904539"/>
          </a:xfrm>
          <a:prstGeom prst="line">
            <a:avLst/>
          </a:prstGeom>
          <a:ln>
            <a:solidFill>
              <a:srgbClr val="FF0000"/>
            </a:solidFill>
            <a:prstDash val="solid"/>
          </a:ln>
        </p:spPr>
        <p:style>
          <a:lnRef idx="2">
            <a:schemeClr val="accent4"/>
          </a:lnRef>
          <a:fillRef idx="0">
            <a:schemeClr val="accent4"/>
          </a:fillRef>
          <a:effectRef idx="1">
            <a:schemeClr val="accent4"/>
          </a:effectRef>
          <a:fontRef idx="minor">
            <a:schemeClr val="tx1"/>
          </a:fontRef>
        </p:style>
      </p:cxnSp>
      <p:cxnSp>
        <p:nvCxnSpPr>
          <p:cNvPr id="132" name="直接连接符 131">
            <a:extLst>
              <a:ext uri="{FF2B5EF4-FFF2-40B4-BE49-F238E27FC236}">
                <a16:creationId xmlns:a16="http://schemas.microsoft.com/office/drawing/2014/main" id="{72031A42-969E-483F-8FFB-298A9EAEB87D}"/>
              </a:ext>
            </a:extLst>
          </p:cNvPr>
          <p:cNvCxnSpPr>
            <a:cxnSpLocks/>
          </p:cNvCxnSpPr>
          <p:nvPr/>
        </p:nvCxnSpPr>
        <p:spPr>
          <a:xfrm flipV="1">
            <a:off x="9804016" y="5185878"/>
            <a:ext cx="554643" cy="166774"/>
          </a:xfrm>
          <a:prstGeom prst="line">
            <a:avLst/>
          </a:prstGeom>
          <a:ln>
            <a:solidFill>
              <a:srgbClr val="FF0000"/>
            </a:solidFill>
            <a:prstDash val="solid"/>
          </a:ln>
        </p:spPr>
        <p:style>
          <a:lnRef idx="2">
            <a:schemeClr val="accent4"/>
          </a:lnRef>
          <a:fillRef idx="0">
            <a:schemeClr val="accent4"/>
          </a:fillRef>
          <a:effectRef idx="1">
            <a:schemeClr val="accent4"/>
          </a:effectRef>
          <a:fontRef idx="minor">
            <a:schemeClr val="tx1"/>
          </a:fontRef>
        </p:style>
      </p:cxnSp>
      <p:cxnSp>
        <p:nvCxnSpPr>
          <p:cNvPr id="135" name="直接连接符 134">
            <a:extLst>
              <a:ext uri="{FF2B5EF4-FFF2-40B4-BE49-F238E27FC236}">
                <a16:creationId xmlns:a16="http://schemas.microsoft.com/office/drawing/2014/main" id="{E0ACA577-3729-48AB-A39A-AA4EFDB19DD5}"/>
              </a:ext>
            </a:extLst>
          </p:cNvPr>
          <p:cNvCxnSpPr>
            <a:cxnSpLocks/>
          </p:cNvCxnSpPr>
          <p:nvPr/>
        </p:nvCxnSpPr>
        <p:spPr>
          <a:xfrm>
            <a:off x="9826432" y="5352652"/>
            <a:ext cx="111439" cy="708739"/>
          </a:xfrm>
          <a:prstGeom prst="line">
            <a:avLst/>
          </a:prstGeom>
          <a:ln>
            <a:solidFill>
              <a:srgbClr val="FF0000"/>
            </a:solidFill>
            <a:prstDash val="solid"/>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985774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8" name="Google Shape;3386;p54">
            <a:extLst>
              <a:ext uri="{FF2B5EF4-FFF2-40B4-BE49-F238E27FC236}">
                <a16:creationId xmlns:a16="http://schemas.microsoft.com/office/drawing/2014/main" id="{C0A5CC1F-05FA-443E-91A1-C833340977AC}"/>
              </a:ext>
            </a:extLst>
          </p:cNvPr>
          <p:cNvCxnSpPr>
            <a:cxnSpLocks/>
          </p:cNvCxnSpPr>
          <p:nvPr/>
        </p:nvCxnSpPr>
        <p:spPr>
          <a:xfrm>
            <a:off x="8096142" y="3109855"/>
            <a:ext cx="961350" cy="743466"/>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err="1">
                <a:solidFill>
                  <a:schemeClr val="tx1"/>
                </a:solidFill>
              </a:rPr>
              <a:t>Adaboost</a:t>
            </a:r>
            <a:r>
              <a:rPr lang="zh-CN" altLang="en-US" dirty="0">
                <a:solidFill>
                  <a:schemeClr val="tx1"/>
                </a:solidFill>
              </a:rPr>
              <a:t>算法</a:t>
            </a:r>
          </a:p>
        </p:txBody>
      </p:sp>
      <p:sp>
        <p:nvSpPr>
          <p:cNvPr id="19" name="文本框 18">
            <a:extLst>
              <a:ext uri="{FF2B5EF4-FFF2-40B4-BE49-F238E27FC236}">
                <a16:creationId xmlns:a16="http://schemas.microsoft.com/office/drawing/2014/main" id="{95134A67-FE35-44B3-A10D-3D98F05F38CB}"/>
              </a:ext>
            </a:extLst>
          </p:cNvPr>
          <p:cNvSpPr txBox="1"/>
          <p:nvPr/>
        </p:nvSpPr>
        <p:spPr>
          <a:xfrm>
            <a:off x="722141" y="1364624"/>
            <a:ext cx="10827434" cy="499624"/>
          </a:xfrm>
          <a:prstGeom prst="rect">
            <a:avLst/>
          </a:prstGeom>
          <a:noFill/>
        </p:spPr>
        <p:txBody>
          <a:bodyPr wrap="square">
            <a:spAutoFit/>
          </a:bodyPr>
          <a:lstStyle/>
          <a:p>
            <a:pPr>
              <a:lnSpc>
                <a:spcPct val="150000"/>
              </a:lnSpc>
              <a:spcBef>
                <a:spcPts val="900"/>
              </a:spcBef>
              <a:spcAft>
                <a:spcPts val="900"/>
              </a:spcAft>
            </a:pPr>
            <a:r>
              <a:rPr lang="zh-CN" altLang="en-US" sz="2000" b="1" kern="100" dirty="0">
                <a:effectLst/>
                <a:latin typeface="微软雅黑" panose="020B0503020204020204" pitchFamily="34" charset="-122"/>
                <a:cs typeface="Times New Roman" panose="02020603050405020304" pitchFamily="18" charset="0"/>
              </a:rPr>
              <a:t>算法思想</a:t>
            </a:r>
            <a:r>
              <a:rPr lang="en-US" altLang="zh-CN" sz="2000" kern="100" dirty="0">
                <a:effectLst/>
                <a:latin typeface="微软雅黑" panose="020B0503020204020204" pitchFamily="34" charset="-122"/>
                <a:cs typeface="Times New Roman" panose="02020603050405020304" pitchFamily="18" charset="0"/>
              </a:rPr>
              <a:t>：</a:t>
            </a:r>
            <a:endParaRPr lang="zh-CN" altLang="zh-CN" sz="2000" kern="100" dirty="0">
              <a:effectLst/>
              <a:latin typeface="微软雅黑" panose="020B0503020204020204" pitchFamily="34" charset="-122"/>
              <a:cs typeface="Times New Roman" panose="02020603050405020304" pitchFamily="18" charset="0"/>
            </a:endParaRPr>
          </a:p>
        </p:txBody>
      </p:sp>
      <p:sp>
        <p:nvSpPr>
          <p:cNvPr id="7" name="文本框 6">
            <a:extLst>
              <a:ext uri="{FF2B5EF4-FFF2-40B4-BE49-F238E27FC236}">
                <a16:creationId xmlns:a16="http://schemas.microsoft.com/office/drawing/2014/main" id="{D1431C0F-D8B2-48FB-83FC-09656F292118}"/>
              </a:ext>
            </a:extLst>
          </p:cNvPr>
          <p:cNvSpPr txBox="1"/>
          <p:nvPr/>
        </p:nvSpPr>
        <p:spPr>
          <a:xfrm>
            <a:off x="668338" y="2084278"/>
            <a:ext cx="7686634" cy="461665"/>
          </a:xfrm>
          <a:prstGeom prst="rect">
            <a:avLst/>
          </a:prstGeom>
          <a:noFill/>
        </p:spPr>
        <p:txBody>
          <a:bodyPr wrap="square">
            <a:spAutoFit/>
          </a:bodyPr>
          <a:lstStyle/>
          <a:p>
            <a:r>
              <a:rPr lang="zh-CN" altLang="en-US" dirty="0"/>
              <a:t>后一个模型的训练永远是在前一个模型的基础上完成</a:t>
            </a:r>
          </a:p>
        </p:txBody>
      </p:sp>
      <p:sp>
        <p:nvSpPr>
          <p:cNvPr id="24" name="Google Shape;3379;p54">
            <a:extLst>
              <a:ext uri="{FF2B5EF4-FFF2-40B4-BE49-F238E27FC236}">
                <a16:creationId xmlns:a16="http://schemas.microsoft.com/office/drawing/2014/main" id="{5E89D862-5693-444F-8E82-8C9F153C4A05}"/>
              </a:ext>
            </a:extLst>
          </p:cNvPr>
          <p:cNvSpPr/>
          <p:nvPr/>
        </p:nvSpPr>
        <p:spPr>
          <a:xfrm>
            <a:off x="2457157" y="5578067"/>
            <a:ext cx="1242256" cy="443022"/>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模型</a:t>
            </a:r>
            <a:r>
              <a:rPr lang="en-US" altLang="zh-CN" sz="2000" dirty="0"/>
              <a:t>n</a:t>
            </a:r>
            <a:endParaRPr sz="2000" dirty="0"/>
          </a:p>
        </p:txBody>
      </p:sp>
      <p:sp>
        <p:nvSpPr>
          <p:cNvPr id="26" name="Google Shape;3382;p54">
            <a:extLst>
              <a:ext uri="{FF2B5EF4-FFF2-40B4-BE49-F238E27FC236}">
                <a16:creationId xmlns:a16="http://schemas.microsoft.com/office/drawing/2014/main" id="{1B3F3D5E-0D9F-4EFD-A586-023E8421DDB5}"/>
              </a:ext>
            </a:extLst>
          </p:cNvPr>
          <p:cNvSpPr/>
          <p:nvPr/>
        </p:nvSpPr>
        <p:spPr>
          <a:xfrm>
            <a:off x="2399975" y="2878098"/>
            <a:ext cx="1242256" cy="443022"/>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800" dirty="0"/>
              <a:t>模型</a:t>
            </a:r>
            <a:r>
              <a:rPr lang="en-US" altLang="zh-CN" sz="1800" dirty="0"/>
              <a:t>1</a:t>
            </a:r>
            <a:endParaRPr sz="1800" dirty="0"/>
          </a:p>
        </p:txBody>
      </p:sp>
      <p:sp>
        <p:nvSpPr>
          <p:cNvPr id="28" name="Google Shape;3383;p54">
            <a:extLst>
              <a:ext uri="{FF2B5EF4-FFF2-40B4-BE49-F238E27FC236}">
                <a16:creationId xmlns:a16="http://schemas.microsoft.com/office/drawing/2014/main" id="{B81E232B-4362-4FBE-806D-3C82EF57C392}"/>
              </a:ext>
            </a:extLst>
          </p:cNvPr>
          <p:cNvSpPr/>
          <p:nvPr/>
        </p:nvSpPr>
        <p:spPr>
          <a:xfrm>
            <a:off x="2402013" y="4038220"/>
            <a:ext cx="1242256" cy="443022"/>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t>模型</a:t>
            </a:r>
            <a:r>
              <a:rPr lang="en-US" altLang="zh-CN" sz="2000" dirty="0"/>
              <a:t>2</a:t>
            </a:r>
            <a:endParaRPr sz="2000" dirty="0"/>
          </a:p>
        </p:txBody>
      </p:sp>
      <p:cxnSp>
        <p:nvCxnSpPr>
          <p:cNvPr id="29" name="Google Shape;3386;p54">
            <a:extLst>
              <a:ext uri="{FF2B5EF4-FFF2-40B4-BE49-F238E27FC236}">
                <a16:creationId xmlns:a16="http://schemas.microsoft.com/office/drawing/2014/main" id="{33BD7ABD-9DBE-415F-ACAC-0FAA8CE5AFEE}"/>
              </a:ext>
            </a:extLst>
          </p:cNvPr>
          <p:cNvCxnSpPr>
            <a:cxnSpLocks/>
            <a:endCxn id="28" idx="1"/>
          </p:cNvCxnSpPr>
          <p:nvPr/>
        </p:nvCxnSpPr>
        <p:spPr>
          <a:xfrm>
            <a:off x="1464867" y="4256601"/>
            <a:ext cx="937146" cy="313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0" name="Google Shape;3387;p54">
            <a:extLst>
              <a:ext uri="{FF2B5EF4-FFF2-40B4-BE49-F238E27FC236}">
                <a16:creationId xmlns:a16="http://schemas.microsoft.com/office/drawing/2014/main" id="{A274C573-675F-4488-B304-98D6E753422B}"/>
              </a:ext>
            </a:extLst>
          </p:cNvPr>
          <p:cNvCxnSpPr>
            <a:cxnSpLocks/>
            <a:endCxn id="26" idx="1"/>
          </p:cNvCxnSpPr>
          <p:nvPr/>
        </p:nvCxnSpPr>
        <p:spPr>
          <a:xfrm flipV="1">
            <a:off x="1482877" y="3099609"/>
            <a:ext cx="917099" cy="831945"/>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1" name="Google Shape;3388;p54">
            <a:extLst>
              <a:ext uri="{FF2B5EF4-FFF2-40B4-BE49-F238E27FC236}">
                <a16:creationId xmlns:a16="http://schemas.microsoft.com/office/drawing/2014/main" id="{D9421D7A-2681-45E3-BB0B-1AFFD5ABB8CC}"/>
              </a:ext>
            </a:extLst>
          </p:cNvPr>
          <p:cNvCxnSpPr>
            <a:cxnSpLocks/>
            <a:endCxn id="24" idx="1"/>
          </p:cNvCxnSpPr>
          <p:nvPr/>
        </p:nvCxnSpPr>
        <p:spPr>
          <a:xfrm>
            <a:off x="1552736" y="4681117"/>
            <a:ext cx="904421" cy="1118461"/>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33" name="Google Shape;3379;p54">
            <a:extLst>
              <a:ext uri="{FF2B5EF4-FFF2-40B4-BE49-F238E27FC236}">
                <a16:creationId xmlns:a16="http://schemas.microsoft.com/office/drawing/2014/main" id="{57B08D40-7192-4E49-AE6F-DA128EFB12D3}"/>
              </a:ext>
            </a:extLst>
          </p:cNvPr>
          <p:cNvSpPr/>
          <p:nvPr/>
        </p:nvSpPr>
        <p:spPr>
          <a:xfrm>
            <a:off x="4413250" y="5578067"/>
            <a:ext cx="1242256" cy="443022"/>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400" dirty="0"/>
              <a:t>带权重</a:t>
            </a:r>
            <a:r>
              <a:rPr lang="en-US" altLang="zh-CN" sz="1400" dirty="0"/>
              <a:t>n</a:t>
            </a:r>
            <a:r>
              <a:rPr lang="zh-CN" altLang="en-US" sz="1400" dirty="0"/>
              <a:t>的训练集</a:t>
            </a:r>
          </a:p>
        </p:txBody>
      </p:sp>
      <p:sp>
        <p:nvSpPr>
          <p:cNvPr id="34" name="Google Shape;3381;p54">
            <a:extLst>
              <a:ext uri="{FF2B5EF4-FFF2-40B4-BE49-F238E27FC236}">
                <a16:creationId xmlns:a16="http://schemas.microsoft.com/office/drawing/2014/main" id="{268CAE6B-7742-498E-A226-C3C224BBBD18}"/>
              </a:ext>
            </a:extLst>
          </p:cNvPr>
          <p:cNvSpPr/>
          <p:nvPr/>
        </p:nvSpPr>
        <p:spPr>
          <a:xfrm>
            <a:off x="4382670" y="4048615"/>
            <a:ext cx="1242256" cy="443022"/>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400" dirty="0"/>
              <a:t>带权重</a:t>
            </a:r>
            <a:r>
              <a:rPr lang="en-US" altLang="zh-CN" sz="1400" dirty="0"/>
              <a:t>2</a:t>
            </a:r>
            <a:r>
              <a:rPr lang="zh-CN" altLang="en-US" sz="1400" dirty="0"/>
              <a:t>的训练集</a:t>
            </a:r>
          </a:p>
        </p:txBody>
      </p:sp>
      <p:sp>
        <p:nvSpPr>
          <p:cNvPr id="35" name="Google Shape;3382;p54">
            <a:extLst>
              <a:ext uri="{FF2B5EF4-FFF2-40B4-BE49-F238E27FC236}">
                <a16:creationId xmlns:a16="http://schemas.microsoft.com/office/drawing/2014/main" id="{B7B949F2-1E6E-427A-B370-F4C8B6986129}"/>
              </a:ext>
            </a:extLst>
          </p:cNvPr>
          <p:cNvSpPr/>
          <p:nvPr/>
        </p:nvSpPr>
        <p:spPr>
          <a:xfrm>
            <a:off x="4371431" y="2878098"/>
            <a:ext cx="1242256" cy="443022"/>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400" dirty="0"/>
              <a:t>带权重</a:t>
            </a:r>
            <a:r>
              <a:rPr lang="en-US" altLang="zh-CN" sz="1400" dirty="0"/>
              <a:t>1</a:t>
            </a:r>
            <a:r>
              <a:rPr lang="zh-CN" altLang="en-US" sz="1400" dirty="0"/>
              <a:t>的训练集</a:t>
            </a:r>
            <a:endParaRPr sz="1400" dirty="0"/>
          </a:p>
        </p:txBody>
      </p:sp>
      <p:cxnSp>
        <p:nvCxnSpPr>
          <p:cNvPr id="37" name="Google Shape;3386;p54">
            <a:extLst>
              <a:ext uri="{FF2B5EF4-FFF2-40B4-BE49-F238E27FC236}">
                <a16:creationId xmlns:a16="http://schemas.microsoft.com/office/drawing/2014/main" id="{5573EB28-A0AB-4411-9549-5448B6CE8765}"/>
              </a:ext>
            </a:extLst>
          </p:cNvPr>
          <p:cNvCxnSpPr>
            <a:cxnSpLocks/>
            <a:stCxn id="26" idx="3"/>
            <a:endCxn id="35" idx="1"/>
          </p:cNvCxnSpPr>
          <p:nvPr/>
        </p:nvCxnSpPr>
        <p:spPr>
          <a:xfrm>
            <a:off x="3642231" y="3099609"/>
            <a:ext cx="729200"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8" name="Google Shape;3386;p54">
            <a:extLst>
              <a:ext uri="{FF2B5EF4-FFF2-40B4-BE49-F238E27FC236}">
                <a16:creationId xmlns:a16="http://schemas.microsoft.com/office/drawing/2014/main" id="{43EBA6B2-D3D4-4E70-935E-B102AD1997A1}"/>
              </a:ext>
            </a:extLst>
          </p:cNvPr>
          <p:cNvCxnSpPr>
            <a:cxnSpLocks/>
            <a:stCxn id="24" idx="3"/>
          </p:cNvCxnSpPr>
          <p:nvPr/>
        </p:nvCxnSpPr>
        <p:spPr>
          <a:xfrm>
            <a:off x="3699413" y="5799578"/>
            <a:ext cx="707397"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9" name="Google Shape;3386;p54">
            <a:extLst>
              <a:ext uri="{FF2B5EF4-FFF2-40B4-BE49-F238E27FC236}">
                <a16:creationId xmlns:a16="http://schemas.microsoft.com/office/drawing/2014/main" id="{15B246F7-1529-4468-842B-8AEFAE29C7D2}"/>
              </a:ext>
            </a:extLst>
          </p:cNvPr>
          <p:cNvCxnSpPr>
            <a:cxnSpLocks/>
          </p:cNvCxnSpPr>
          <p:nvPr/>
        </p:nvCxnSpPr>
        <p:spPr>
          <a:xfrm>
            <a:off x="3642231" y="4258860"/>
            <a:ext cx="742477"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45" name="矩形: 圆角 44">
            <a:extLst>
              <a:ext uri="{FF2B5EF4-FFF2-40B4-BE49-F238E27FC236}">
                <a16:creationId xmlns:a16="http://schemas.microsoft.com/office/drawing/2014/main" id="{3CE83B9C-AC98-402B-A919-A37E30F3C7BD}"/>
              </a:ext>
            </a:extLst>
          </p:cNvPr>
          <p:cNvSpPr/>
          <p:nvPr/>
        </p:nvSpPr>
        <p:spPr>
          <a:xfrm>
            <a:off x="783015" y="3676898"/>
            <a:ext cx="760320" cy="112988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mj-ea"/>
                <a:ea typeface="+mj-ea"/>
              </a:rPr>
              <a:t>训练数据</a:t>
            </a:r>
          </a:p>
        </p:txBody>
      </p:sp>
      <p:sp>
        <p:nvSpPr>
          <p:cNvPr id="49" name="Google Shape;3380;p54">
            <a:extLst>
              <a:ext uri="{FF2B5EF4-FFF2-40B4-BE49-F238E27FC236}">
                <a16:creationId xmlns:a16="http://schemas.microsoft.com/office/drawing/2014/main" id="{E2E895CF-71B1-43CE-8067-3B6EA527D1B8}"/>
              </a:ext>
            </a:extLst>
          </p:cNvPr>
          <p:cNvSpPr/>
          <p:nvPr/>
        </p:nvSpPr>
        <p:spPr>
          <a:xfrm>
            <a:off x="9057492" y="3499325"/>
            <a:ext cx="677351" cy="15193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t>结合策略</a:t>
            </a:r>
            <a:endParaRPr sz="1600" dirty="0"/>
          </a:p>
        </p:txBody>
      </p:sp>
      <p:sp>
        <p:nvSpPr>
          <p:cNvPr id="40" name="Google Shape;3382;p54">
            <a:extLst>
              <a:ext uri="{FF2B5EF4-FFF2-40B4-BE49-F238E27FC236}">
                <a16:creationId xmlns:a16="http://schemas.microsoft.com/office/drawing/2014/main" id="{2AA1689A-4B96-4E52-878C-84CCCFEA04FB}"/>
              </a:ext>
            </a:extLst>
          </p:cNvPr>
          <p:cNvSpPr/>
          <p:nvPr/>
        </p:nvSpPr>
        <p:spPr>
          <a:xfrm>
            <a:off x="6154990" y="2746866"/>
            <a:ext cx="1968900" cy="752459"/>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400" dirty="0"/>
              <a:t>弱学习器</a:t>
            </a:r>
            <a:r>
              <a:rPr lang="en-US" altLang="zh-CN" sz="1400" dirty="0"/>
              <a:t>1</a:t>
            </a:r>
          </a:p>
          <a:p>
            <a:pPr marL="0" lvl="0" indent="0" algn="ctr" rtl="0">
              <a:spcBef>
                <a:spcPts val="0"/>
              </a:spcBef>
              <a:spcAft>
                <a:spcPts val="0"/>
              </a:spcAft>
              <a:buNone/>
            </a:pPr>
            <a:r>
              <a:rPr lang="zh-CN" altLang="en-US" sz="1400" dirty="0">
                <a:solidFill>
                  <a:srgbClr val="0066CC"/>
                </a:solidFill>
              </a:rPr>
              <a:t>基于学习的误差率</a:t>
            </a:r>
            <a:r>
              <a:rPr lang="en-US" altLang="zh-CN" sz="1400" dirty="0">
                <a:solidFill>
                  <a:srgbClr val="0066CC"/>
                </a:solidFill>
              </a:rPr>
              <a:t>1</a:t>
            </a:r>
          </a:p>
          <a:p>
            <a:pPr marL="0" lvl="0" indent="0" algn="ctr" rtl="0">
              <a:spcBef>
                <a:spcPts val="0"/>
              </a:spcBef>
              <a:spcAft>
                <a:spcPts val="0"/>
              </a:spcAft>
              <a:buNone/>
            </a:pPr>
            <a:r>
              <a:rPr lang="zh-CN" altLang="en-US" sz="1400" dirty="0">
                <a:solidFill>
                  <a:srgbClr val="0066CC"/>
                </a:solidFill>
              </a:rPr>
              <a:t>更新学习器权重</a:t>
            </a:r>
            <a:r>
              <a:rPr lang="en-US" altLang="zh-CN" sz="1400" dirty="0">
                <a:solidFill>
                  <a:srgbClr val="0066CC"/>
                </a:solidFill>
              </a:rPr>
              <a:t>1</a:t>
            </a:r>
            <a:endParaRPr sz="1400" dirty="0">
              <a:solidFill>
                <a:srgbClr val="0066CC"/>
              </a:solidFill>
            </a:endParaRPr>
          </a:p>
        </p:txBody>
      </p:sp>
      <p:sp>
        <p:nvSpPr>
          <p:cNvPr id="47" name="Google Shape;3382;p54">
            <a:extLst>
              <a:ext uri="{FF2B5EF4-FFF2-40B4-BE49-F238E27FC236}">
                <a16:creationId xmlns:a16="http://schemas.microsoft.com/office/drawing/2014/main" id="{78FE46E5-84CD-49D6-A2AD-81C0710BBF76}"/>
              </a:ext>
            </a:extLst>
          </p:cNvPr>
          <p:cNvSpPr/>
          <p:nvPr/>
        </p:nvSpPr>
        <p:spPr>
          <a:xfrm>
            <a:off x="6154990" y="3865614"/>
            <a:ext cx="1968900" cy="752459"/>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400" dirty="0"/>
              <a:t>弱学习器</a:t>
            </a:r>
            <a:r>
              <a:rPr lang="en-US" altLang="zh-CN" sz="1400" dirty="0"/>
              <a:t>2</a:t>
            </a:r>
          </a:p>
          <a:p>
            <a:pPr marL="0" lvl="0" indent="0" algn="ctr" rtl="0">
              <a:spcBef>
                <a:spcPts val="0"/>
              </a:spcBef>
              <a:spcAft>
                <a:spcPts val="0"/>
              </a:spcAft>
              <a:buNone/>
            </a:pPr>
            <a:r>
              <a:rPr lang="zh-CN" altLang="en-US" sz="1400" dirty="0">
                <a:solidFill>
                  <a:srgbClr val="0066CC"/>
                </a:solidFill>
              </a:rPr>
              <a:t>基于学习的误差率</a:t>
            </a:r>
            <a:r>
              <a:rPr lang="en-US" altLang="zh-CN" sz="1400" dirty="0">
                <a:solidFill>
                  <a:srgbClr val="0066CC"/>
                </a:solidFill>
              </a:rPr>
              <a:t>2</a:t>
            </a:r>
          </a:p>
          <a:p>
            <a:pPr marL="0" lvl="0" indent="0" algn="ctr" rtl="0">
              <a:spcBef>
                <a:spcPts val="0"/>
              </a:spcBef>
              <a:spcAft>
                <a:spcPts val="0"/>
              </a:spcAft>
              <a:buNone/>
            </a:pPr>
            <a:r>
              <a:rPr lang="zh-CN" altLang="en-US" sz="1400" dirty="0">
                <a:solidFill>
                  <a:srgbClr val="0066CC"/>
                </a:solidFill>
              </a:rPr>
              <a:t>更新学习器权重</a:t>
            </a:r>
            <a:r>
              <a:rPr lang="en-US" altLang="zh-CN" sz="1400" dirty="0">
                <a:solidFill>
                  <a:srgbClr val="0066CC"/>
                </a:solidFill>
              </a:rPr>
              <a:t>2</a:t>
            </a:r>
            <a:endParaRPr sz="1400" dirty="0">
              <a:solidFill>
                <a:srgbClr val="0066CC"/>
              </a:solidFill>
            </a:endParaRPr>
          </a:p>
        </p:txBody>
      </p:sp>
      <p:sp>
        <p:nvSpPr>
          <p:cNvPr id="48" name="Google Shape;3382;p54">
            <a:extLst>
              <a:ext uri="{FF2B5EF4-FFF2-40B4-BE49-F238E27FC236}">
                <a16:creationId xmlns:a16="http://schemas.microsoft.com/office/drawing/2014/main" id="{0113CDC3-201D-4870-8E9F-0FB0E704BC11}"/>
              </a:ext>
            </a:extLst>
          </p:cNvPr>
          <p:cNvSpPr/>
          <p:nvPr/>
        </p:nvSpPr>
        <p:spPr>
          <a:xfrm>
            <a:off x="6183532" y="5424450"/>
            <a:ext cx="1968900" cy="752459"/>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400" dirty="0"/>
              <a:t>弱学习器</a:t>
            </a:r>
            <a:r>
              <a:rPr lang="en-US" altLang="zh-CN" sz="1400" dirty="0"/>
              <a:t>n</a:t>
            </a:r>
          </a:p>
          <a:p>
            <a:pPr marL="0" lvl="0" indent="0" algn="ctr" rtl="0">
              <a:spcBef>
                <a:spcPts val="0"/>
              </a:spcBef>
              <a:spcAft>
                <a:spcPts val="0"/>
              </a:spcAft>
              <a:buNone/>
            </a:pPr>
            <a:r>
              <a:rPr lang="zh-CN" altLang="en-US" sz="1400" dirty="0">
                <a:solidFill>
                  <a:srgbClr val="0066CC"/>
                </a:solidFill>
              </a:rPr>
              <a:t>基于学习的误差率</a:t>
            </a:r>
            <a:r>
              <a:rPr lang="en-US" altLang="zh-CN" sz="1400" dirty="0">
                <a:solidFill>
                  <a:srgbClr val="0066CC"/>
                </a:solidFill>
              </a:rPr>
              <a:t>n</a:t>
            </a:r>
          </a:p>
          <a:p>
            <a:pPr marL="0" lvl="0" indent="0" algn="ctr" rtl="0">
              <a:spcBef>
                <a:spcPts val="0"/>
              </a:spcBef>
              <a:spcAft>
                <a:spcPts val="0"/>
              </a:spcAft>
              <a:buNone/>
            </a:pPr>
            <a:r>
              <a:rPr lang="zh-CN" altLang="en-US" sz="1400" dirty="0">
                <a:solidFill>
                  <a:srgbClr val="0066CC"/>
                </a:solidFill>
              </a:rPr>
              <a:t>更新学习器权重</a:t>
            </a:r>
            <a:r>
              <a:rPr lang="en-US" altLang="zh-CN" sz="1400" dirty="0">
                <a:solidFill>
                  <a:srgbClr val="0066CC"/>
                </a:solidFill>
              </a:rPr>
              <a:t>n</a:t>
            </a:r>
            <a:endParaRPr sz="1400" dirty="0">
              <a:solidFill>
                <a:srgbClr val="0066CC"/>
              </a:solidFill>
            </a:endParaRPr>
          </a:p>
        </p:txBody>
      </p:sp>
      <p:cxnSp>
        <p:nvCxnSpPr>
          <p:cNvPr id="5" name="连接符: 肘形 4">
            <a:extLst>
              <a:ext uri="{FF2B5EF4-FFF2-40B4-BE49-F238E27FC236}">
                <a16:creationId xmlns:a16="http://schemas.microsoft.com/office/drawing/2014/main" id="{053775DD-345E-473F-87C1-6A7EF53362E1}"/>
              </a:ext>
            </a:extLst>
          </p:cNvPr>
          <p:cNvCxnSpPr>
            <a:stCxn id="40" idx="2"/>
            <a:endCxn id="28" idx="0"/>
          </p:cNvCxnSpPr>
          <p:nvPr/>
        </p:nvCxnSpPr>
        <p:spPr>
          <a:xfrm rot="5400000">
            <a:off x="4811844" y="1710623"/>
            <a:ext cx="538895" cy="4116299"/>
          </a:xfrm>
          <a:prstGeom prst="bentConnector3">
            <a:avLst>
              <a:gd name="adj1" fmla="val 45650"/>
            </a:avLst>
          </a:prstGeom>
          <a:ln>
            <a:tailEnd type="triangle"/>
          </a:ln>
        </p:spPr>
        <p:style>
          <a:lnRef idx="2">
            <a:schemeClr val="dk1"/>
          </a:lnRef>
          <a:fillRef idx="0">
            <a:schemeClr val="dk1"/>
          </a:fillRef>
          <a:effectRef idx="1">
            <a:schemeClr val="dk1"/>
          </a:effectRef>
          <a:fontRef idx="minor">
            <a:schemeClr val="tx1"/>
          </a:fontRef>
        </p:style>
      </p:cxnSp>
      <p:cxnSp>
        <p:nvCxnSpPr>
          <p:cNvPr id="51" name="连接符: 肘形 50">
            <a:extLst>
              <a:ext uri="{FF2B5EF4-FFF2-40B4-BE49-F238E27FC236}">
                <a16:creationId xmlns:a16="http://schemas.microsoft.com/office/drawing/2014/main" id="{8331D6E9-9D52-4691-B20D-17F4821BCE20}"/>
              </a:ext>
            </a:extLst>
          </p:cNvPr>
          <p:cNvCxnSpPr>
            <a:cxnSpLocks/>
          </p:cNvCxnSpPr>
          <p:nvPr/>
        </p:nvCxnSpPr>
        <p:spPr>
          <a:xfrm rot="5400000">
            <a:off x="4837267" y="3241123"/>
            <a:ext cx="538895" cy="4116299"/>
          </a:xfrm>
          <a:prstGeom prst="bentConnector3">
            <a:avLst>
              <a:gd name="adj1" fmla="val 56962"/>
            </a:avLst>
          </a:prstGeom>
          <a:ln>
            <a:tailEnd type="triangle"/>
          </a:ln>
        </p:spPr>
        <p:style>
          <a:lnRef idx="2">
            <a:schemeClr val="dk1"/>
          </a:lnRef>
          <a:fillRef idx="0">
            <a:schemeClr val="dk1"/>
          </a:fillRef>
          <a:effectRef idx="1">
            <a:schemeClr val="dk1"/>
          </a:effectRef>
          <a:fontRef idx="minor">
            <a:schemeClr val="tx1"/>
          </a:fontRef>
        </p:style>
      </p:cxnSp>
      <p:sp>
        <p:nvSpPr>
          <p:cNvPr id="52" name="Google Shape;1532;p43">
            <a:extLst>
              <a:ext uri="{FF2B5EF4-FFF2-40B4-BE49-F238E27FC236}">
                <a16:creationId xmlns:a16="http://schemas.microsoft.com/office/drawing/2014/main" id="{29E76D86-9038-4662-AE69-BA0B5C4298A4}"/>
              </a:ext>
            </a:extLst>
          </p:cNvPr>
          <p:cNvSpPr txBox="1"/>
          <p:nvPr/>
        </p:nvSpPr>
        <p:spPr>
          <a:xfrm>
            <a:off x="3049743" y="3419330"/>
            <a:ext cx="2216627" cy="268909"/>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zh-CN" altLang="en-US" sz="2000" baseline="30000" dirty="0">
                <a:solidFill>
                  <a:srgbClr val="FF0000"/>
                </a:solidFill>
                <a:latin typeface="+mj-ea"/>
                <a:ea typeface="+mj-ea"/>
                <a:cs typeface="Consolas"/>
                <a:sym typeface="Consolas"/>
              </a:rPr>
              <a:t>根据权重</a:t>
            </a:r>
            <a:r>
              <a:rPr lang="en-US" altLang="zh-CN" sz="2000" baseline="30000" dirty="0">
                <a:solidFill>
                  <a:srgbClr val="FF0000"/>
                </a:solidFill>
                <a:latin typeface="+mj-ea"/>
                <a:ea typeface="+mj-ea"/>
                <a:cs typeface="Consolas"/>
                <a:sym typeface="Consolas"/>
              </a:rPr>
              <a:t>1</a:t>
            </a:r>
            <a:r>
              <a:rPr lang="zh-CN" altLang="en-US" sz="2000" baseline="30000" dirty="0">
                <a:solidFill>
                  <a:srgbClr val="FF0000"/>
                </a:solidFill>
                <a:latin typeface="+mj-ea"/>
                <a:ea typeface="+mj-ea"/>
                <a:cs typeface="Consolas"/>
                <a:sym typeface="Consolas"/>
              </a:rPr>
              <a:t>更新样本权重</a:t>
            </a:r>
            <a:r>
              <a:rPr lang="en-US" altLang="zh-CN" sz="2000" baseline="30000" dirty="0">
                <a:solidFill>
                  <a:srgbClr val="FF0000"/>
                </a:solidFill>
                <a:latin typeface="+mj-ea"/>
                <a:ea typeface="+mj-ea"/>
                <a:cs typeface="Consolas"/>
                <a:sym typeface="Consolas"/>
              </a:rPr>
              <a:t>2</a:t>
            </a:r>
            <a:endParaRPr sz="2000" baseline="30000" dirty="0">
              <a:solidFill>
                <a:srgbClr val="FF0000"/>
              </a:solidFill>
              <a:latin typeface="+mj-ea"/>
              <a:ea typeface="+mj-ea"/>
              <a:cs typeface="Consolas"/>
              <a:sym typeface="Consolas"/>
            </a:endParaRPr>
          </a:p>
        </p:txBody>
      </p:sp>
      <p:cxnSp>
        <p:nvCxnSpPr>
          <p:cNvPr id="53" name="Google Shape;3386;p54">
            <a:extLst>
              <a:ext uri="{FF2B5EF4-FFF2-40B4-BE49-F238E27FC236}">
                <a16:creationId xmlns:a16="http://schemas.microsoft.com/office/drawing/2014/main" id="{A5C5AF51-B797-4966-BF5F-3D20368CCA40}"/>
              </a:ext>
            </a:extLst>
          </p:cNvPr>
          <p:cNvCxnSpPr>
            <a:cxnSpLocks/>
            <a:stCxn id="35" idx="3"/>
          </p:cNvCxnSpPr>
          <p:nvPr/>
        </p:nvCxnSpPr>
        <p:spPr>
          <a:xfrm>
            <a:off x="5613687" y="3099609"/>
            <a:ext cx="532009" cy="4624"/>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54" name="Google Shape;3386;p54">
            <a:extLst>
              <a:ext uri="{FF2B5EF4-FFF2-40B4-BE49-F238E27FC236}">
                <a16:creationId xmlns:a16="http://schemas.microsoft.com/office/drawing/2014/main" id="{8AFFF420-3C41-42FE-AD0F-726E385E5D72}"/>
              </a:ext>
            </a:extLst>
          </p:cNvPr>
          <p:cNvCxnSpPr>
            <a:cxnSpLocks/>
          </p:cNvCxnSpPr>
          <p:nvPr/>
        </p:nvCxnSpPr>
        <p:spPr>
          <a:xfrm>
            <a:off x="8123890" y="4238712"/>
            <a:ext cx="937146" cy="313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55" name="Google Shape;3386;p54">
            <a:extLst>
              <a:ext uri="{FF2B5EF4-FFF2-40B4-BE49-F238E27FC236}">
                <a16:creationId xmlns:a16="http://schemas.microsoft.com/office/drawing/2014/main" id="{C823A8AE-ED34-4156-8B01-ACB5BC210058}"/>
              </a:ext>
            </a:extLst>
          </p:cNvPr>
          <p:cNvCxnSpPr>
            <a:cxnSpLocks/>
          </p:cNvCxnSpPr>
          <p:nvPr/>
        </p:nvCxnSpPr>
        <p:spPr>
          <a:xfrm>
            <a:off x="5633279" y="4251784"/>
            <a:ext cx="532009" cy="4624"/>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56" name="Google Shape;3386;p54">
            <a:extLst>
              <a:ext uri="{FF2B5EF4-FFF2-40B4-BE49-F238E27FC236}">
                <a16:creationId xmlns:a16="http://schemas.microsoft.com/office/drawing/2014/main" id="{2D99C2EE-FE08-43B4-B1B7-59A07D6A6C2C}"/>
              </a:ext>
            </a:extLst>
          </p:cNvPr>
          <p:cNvCxnSpPr>
            <a:cxnSpLocks/>
          </p:cNvCxnSpPr>
          <p:nvPr/>
        </p:nvCxnSpPr>
        <p:spPr>
          <a:xfrm>
            <a:off x="5661821" y="5794301"/>
            <a:ext cx="532009" cy="4624"/>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57" name="Google Shape;1532;p43">
            <a:extLst>
              <a:ext uri="{FF2B5EF4-FFF2-40B4-BE49-F238E27FC236}">
                <a16:creationId xmlns:a16="http://schemas.microsoft.com/office/drawing/2014/main" id="{BD7AAC4B-B652-4EBC-973A-47073454E0A1}"/>
              </a:ext>
            </a:extLst>
          </p:cNvPr>
          <p:cNvSpPr txBox="1"/>
          <p:nvPr/>
        </p:nvSpPr>
        <p:spPr>
          <a:xfrm>
            <a:off x="3124221" y="5008032"/>
            <a:ext cx="2277773" cy="268909"/>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rtl="0">
              <a:spcBef>
                <a:spcPts val="0"/>
              </a:spcBef>
              <a:spcAft>
                <a:spcPts val="0"/>
              </a:spcAft>
              <a:buNone/>
            </a:pPr>
            <a:r>
              <a:rPr lang="zh-CN" altLang="en-US" sz="2000" baseline="30000" dirty="0">
                <a:solidFill>
                  <a:srgbClr val="FF0000"/>
                </a:solidFill>
                <a:latin typeface="+mj-ea"/>
                <a:ea typeface="+mj-ea"/>
                <a:cs typeface="Consolas"/>
                <a:sym typeface="Consolas"/>
              </a:rPr>
              <a:t>根据权重</a:t>
            </a:r>
            <a:r>
              <a:rPr lang="en-US" altLang="zh-CN" sz="2000" baseline="30000" dirty="0">
                <a:solidFill>
                  <a:srgbClr val="FF0000"/>
                </a:solidFill>
                <a:latin typeface="+mj-ea"/>
                <a:ea typeface="+mj-ea"/>
                <a:cs typeface="Consolas"/>
                <a:sym typeface="Consolas"/>
              </a:rPr>
              <a:t>n-1</a:t>
            </a:r>
            <a:r>
              <a:rPr lang="zh-CN" altLang="en-US" sz="2000" baseline="30000" dirty="0">
                <a:solidFill>
                  <a:srgbClr val="FF0000"/>
                </a:solidFill>
                <a:latin typeface="+mj-ea"/>
                <a:ea typeface="+mj-ea"/>
                <a:cs typeface="Consolas"/>
                <a:sym typeface="Consolas"/>
              </a:rPr>
              <a:t>更新样本权重</a:t>
            </a:r>
            <a:r>
              <a:rPr lang="en-US" altLang="zh-CN" sz="2000" baseline="30000" dirty="0">
                <a:solidFill>
                  <a:srgbClr val="FF0000"/>
                </a:solidFill>
                <a:latin typeface="+mj-ea"/>
                <a:ea typeface="+mj-ea"/>
                <a:cs typeface="Consolas"/>
                <a:sym typeface="Consolas"/>
              </a:rPr>
              <a:t>n</a:t>
            </a:r>
            <a:endParaRPr sz="2000" baseline="30000" dirty="0">
              <a:solidFill>
                <a:srgbClr val="FF0000"/>
              </a:solidFill>
              <a:latin typeface="+mj-ea"/>
              <a:ea typeface="+mj-ea"/>
              <a:cs typeface="Consolas"/>
              <a:sym typeface="Consolas"/>
            </a:endParaRPr>
          </a:p>
        </p:txBody>
      </p:sp>
      <p:cxnSp>
        <p:nvCxnSpPr>
          <p:cNvPr id="59" name="Google Shape;3386;p54">
            <a:extLst>
              <a:ext uri="{FF2B5EF4-FFF2-40B4-BE49-F238E27FC236}">
                <a16:creationId xmlns:a16="http://schemas.microsoft.com/office/drawing/2014/main" id="{C525D9AD-12D0-4865-8202-1ABB01CAFDB5}"/>
              </a:ext>
            </a:extLst>
          </p:cNvPr>
          <p:cNvCxnSpPr>
            <a:cxnSpLocks/>
            <a:stCxn id="48" idx="3"/>
          </p:cNvCxnSpPr>
          <p:nvPr/>
        </p:nvCxnSpPr>
        <p:spPr>
          <a:xfrm flipV="1">
            <a:off x="8152432" y="4675164"/>
            <a:ext cx="905060" cy="1125516"/>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60" name="Google Shape;3380;p54">
            <a:extLst>
              <a:ext uri="{FF2B5EF4-FFF2-40B4-BE49-F238E27FC236}">
                <a16:creationId xmlns:a16="http://schemas.microsoft.com/office/drawing/2014/main" id="{F5CE5DE7-EE5F-414F-82A9-368D8A5706EF}"/>
              </a:ext>
            </a:extLst>
          </p:cNvPr>
          <p:cNvSpPr/>
          <p:nvPr/>
        </p:nvSpPr>
        <p:spPr>
          <a:xfrm>
            <a:off x="10296628" y="3502172"/>
            <a:ext cx="677351" cy="15193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t>强学习器</a:t>
            </a:r>
            <a:endParaRPr sz="1600" dirty="0"/>
          </a:p>
        </p:txBody>
      </p:sp>
      <p:cxnSp>
        <p:nvCxnSpPr>
          <p:cNvPr id="61" name="Google Shape;3386;p54">
            <a:extLst>
              <a:ext uri="{FF2B5EF4-FFF2-40B4-BE49-F238E27FC236}">
                <a16:creationId xmlns:a16="http://schemas.microsoft.com/office/drawing/2014/main" id="{7B83CCEB-4D9F-4B12-A2C7-79C461D9BAC5}"/>
              </a:ext>
            </a:extLst>
          </p:cNvPr>
          <p:cNvCxnSpPr>
            <a:cxnSpLocks/>
            <a:stCxn id="49" idx="3"/>
            <a:endCxn id="60" idx="1"/>
          </p:cNvCxnSpPr>
          <p:nvPr/>
        </p:nvCxnSpPr>
        <p:spPr>
          <a:xfrm>
            <a:off x="9734843" y="4258975"/>
            <a:ext cx="561785" cy="2847"/>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62" name="矩形: 圆角 61">
            <a:extLst>
              <a:ext uri="{FF2B5EF4-FFF2-40B4-BE49-F238E27FC236}">
                <a16:creationId xmlns:a16="http://schemas.microsoft.com/office/drawing/2014/main" id="{78201818-3B5D-4DB2-A21B-FC09DE3936E4}"/>
              </a:ext>
            </a:extLst>
          </p:cNvPr>
          <p:cNvSpPr/>
          <p:nvPr/>
        </p:nvSpPr>
        <p:spPr>
          <a:xfrm>
            <a:off x="6154990" y="4735127"/>
            <a:ext cx="1968900" cy="283498"/>
          </a:xfrm>
          <a:prstGeom prst="roundRect">
            <a:avLst/>
          </a:prstGeom>
          <a:solidFill>
            <a:schemeClr val="accent1"/>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dirty="0">
                <a:latin typeface="+mj-ea"/>
                <a:ea typeface="+mj-ea"/>
              </a:rPr>
              <a:t>相同方式更新</a:t>
            </a:r>
            <a:r>
              <a:rPr lang="en-US" altLang="zh-CN" sz="1200" dirty="0">
                <a:latin typeface="+mj-ea"/>
                <a:ea typeface="+mj-ea"/>
              </a:rPr>
              <a:t>……</a:t>
            </a:r>
            <a:endParaRPr lang="zh-CN" altLang="en-US" sz="1200" dirty="0">
              <a:latin typeface="+mj-ea"/>
              <a:ea typeface="+mj-ea"/>
            </a:endParaRPr>
          </a:p>
        </p:txBody>
      </p:sp>
      <p:cxnSp>
        <p:nvCxnSpPr>
          <p:cNvPr id="63" name="Google Shape;3386;p54">
            <a:extLst>
              <a:ext uri="{FF2B5EF4-FFF2-40B4-BE49-F238E27FC236}">
                <a16:creationId xmlns:a16="http://schemas.microsoft.com/office/drawing/2014/main" id="{A98E637A-16FE-4B2B-B475-70642E201597}"/>
              </a:ext>
            </a:extLst>
          </p:cNvPr>
          <p:cNvCxnSpPr>
            <a:cxnSpLocks/>
            <a:stCxn id="47" idx="2"/>
          </p:cNvCxnSpPr>
          <p:nvPr/>
        </p:nvCxnSpPr>
        <p:spPr>
          <a:xfrm>
            <a:off x="7139440" y="4618073"/>
            <a:ext cx="0" cy="117054"/>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97349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GBDT</a:t>
            </a:r>
            <a:r>
              <a:rPr lang="zh-CN" altLang="en-US" dirty="0">
                <a:solidFill>
                  <a:schemeClr val="tx1"/>
                </a:solidFill>
              </a:rPr>
              <a:t>算法</a:t>
            </a:r>
          </a:p>
        </p:txBody>
      </p:sp>
      <p:sp>
        <p:nvSpPr>
          <p:cNvPr id="18" name="文本框 17">
            <a:extLst>
              <a:ext uri="{FF2B5EF4-FFF2-40B4-BE49-F238E27FC236}">
                <a16:creationId xmlns:a16="http://schemas.microsoft.com/office/drawing/2014/main" id="{19662088-E42C-4208-9C1C-4C24610E9639}"/>
              </a:ext>
            </a:extLst>
          </p:cNvPr>
          <p:cNvSpPr txBox="1"/>
          <p:nvPr/>
        </p:nvSpPr>
        <p:spPr>
          <a:xfrm>
            <a:off x="668338" y="1352152"/>
            <a:ext cx="9434732" cy="2236510"/>
          </a:xfrm>
          <a:prstGeom prst="rect">
            <a:avLst/>
          </a:prstGeom>
          <a:noFill/>
        </p:spPr>
        <p:txBody>
          <a:bodyPr wrap="square">
            <a:spAutoFit/>
          </a:bodyPr>
          <a:lstStyle/>
          <a:p>
            <a:pPr>
              <a:lnSpc>
                <a:spcPct val="150000"/>
              </a:lnSpc>
              <a:spcBef>
                <a:spcPts val="900"/>
              </a:spcBef>
              <a:spcAft>
                <a:spcPts val="900"/>
              </a:spcAft>
            </a:pPr>
            <a:r>
              <a:rPr lang="en-US" altLang="zh-CN" sz="2400" dirty="0" err="1">
                <a:effectLst/>
                <a:latin typeface="+mj-ea"/>
                <a:ea typeface="+mj-ea"/>
                <a:cs typeface="Times New Roman" panose="02020603050405020304" pitchFamily="18" charset="0"/>
              </a:rPr>
              <a:t>GBDT（Gradient</a:t>
            </a:r>
            <a:r>
              <a:rPr lang="en-US" altLang="zh-CN" sz="2400" dirty="0">
                <a:effectLst/>
                <a:latin typeface="+mj-ea"/>
                <a:ea typeface="+mj-ea"/>
                <a:cs typeface="Times New Roman" panose="02020603050405020304" pitchFamily="18" charset="0"/>
              </a:rPr>
              <a:t> Boosting Decision </a:t>
            </a:r>
            <a:r>
              <a:rPr lang="en-US" altLang="zh-CN" sz="2400" dirty="0" err="1">
                <a:effectLst/>
                <a:latin typeface="+mj-ea"/>
                <a:ea typeface="+mj-ea"/>
                <a:cs typeface="Times New Roman" panose="02020603050405020304" pitchFamily="18" charset="0"/>
              </a:rPr>
              <a:t>Tree）是一种迭代的决策树算法，该算法由多棵决策树组成，GBDT</a:t>
            </a:r>
            <a:r>
              <a:rPr lang="en-US" altLang="zh-CN" sz="2400" dirty="0">
                <a:effectLst/>
                <a:latin typeface="+mj-ea"/>
                <a:ea typeface="+mj-ea"/>
                <a:cs typeface="Times New Roman" panose="02020603050405020304" pitchFamily="18" charset="0"/>
              </a:rPr>
              <a:t> </a:t>
            </a:r>
            <a:r>
              <a:rPr lang="zh-CN" altLang="zh-CN" sz="2400" dirty="0">
                <a:effectLst/>
                <a:latin typeface="+mj-ea"/>
                <a:ea typeface="+mj-ea"/>
                <a:cs typeface="Times New Roman" panose="02020603050405020304" pitchFamily="18" charset="0"/>
              </a:rPr>
              <a:t>的核心在于累加所有树的结果作为最终结果，所以</a:t>
            </a:r>
            <a:r>
              <a:rPr lang="en-US" altLang="zh-CN" sz="2400" dirty="0">
                <a:effectLst/>
                <a:latin typeface="+mj-ea"/>
                <a:ea typeface="+mj-ea"/>
                <a:cs typeface="Times New Roman" panose="02020603050405020304" pitchFamily="18" charset="0"/>
              </a:rPr>
              <a:t> GBDT </a:t>
            </a:r>
            <a:r>
              <a:rPr lang="zh-CN" altLang="zh-CN" sz="2400" dirty="0">
                <a:effectLst/>
                <a:latin typeface="+mj-ea"/>
                <a:ea typeface="+mj-ea"/>
                <a:cs typeface="Times New Roman" panose="02020603050405020304" pitchFamily="18" charset="0"/>
              </a:rPr>
              <a:t>中的树都是</a:t>
            </a:r>
            <a:r>
              <a:rPr lang="zh-CN" altLang="zh-CN" sz="2400" dirty="0">
                <a:solidFill>
                  <a:srgbClr val="FF0000"/>
                </a:solidFill>
                <a:effectLst/>
                <a:latin typeface="+mj-ea"/>
                <a:ea typeface="+mj-ea"/>
                <a:cs typeface="Times New Roman" panose="02020603050405020304" pitchFamily="18" charset="0"/>
              </a:rPr>
              <a:t>回归树</a:t>
            </a:r>
            <a:r>
              <a:rPr lang="zh-CN" altLang="zh-CN" sz="2400" dirty="0">
                <a:effectLst/>
                <a:latin typeface="+mj-ea"/>
                <a:ea typeface="+mj-ea"/>
                <a:cs typeface="Times New Roman" panose="02020603050405020304" pitchFamily="18" charset="0"/>
              </a:rPr>
              <a:t>，不是</a:t>
            </a:r>
            <a:r>
              <a:rPr lang="zh-CN" altLang="zh-CN" sz="2400" dirty="0">
                <a:solidFill>
                  <a:srgbClr val="004586"/>
                </a:solidFill>
                <a:effectLst/>
                <a:latin typeface="+mj-ea"/>
                <a:ea typeface="+mj-ea"/>
                <a:cs typeface="Times New Roman" panose="02020603050405020304" pitchFamily="18" charset="0"/>
              </a:rPr>
              <a:t>分类树</a:t>
            </a:r>
            <a:r>
              <a:rPr lang="zh-CN" altLang="zh-CN" sz="2400" dirty="0">
                <a:effectLst/>
                <a:latin typeface="+mj-ea"/>
                <a:ea typeface="+mj-ea"/>
                <a:cs typeface="Times New Roman" panose="02020603050405020304" pitchFamily="18" charset="0"/>
              </a:rPr>
              <a:t>，</a:t>
            </a:r>
            <a:r>
              <a:rPr lang="en-US" altLang="zh-CN" sz="2400" dirty="0" err="1">
                <a:effectLst/>
                <a:latin typeface="+mj-ea"/>
                <a:ea typeface="+mj-ea"/>
                <a:cs typeface="Times New Roman" panose="02020603050405020304" pitchFamily="18" charset="0"/>
              </a:rPr>
              <a:t>它是属于</a:t>
            </a:r>
            <a:r>
              <a:rPr lang="en-US" altLang="zh-CN" sz="2400" dirty="0">
                <a:effectLst/>
                <a:latin typeface="+mj-ea"/>
                <a:ea typeface="+mj-ea"/>
                <a:cs typeface="Times New Roman" panose="02020603050405020304" pitchFamily="18" charset="0"/>
              </a:rPr>
              <a:t> Boosting </a:t>
            </a:r>
            <a:r>
              <a:rPr lang="en-US" altLang="zh-CN" sz="2400" dirty="0" err="1">
                <a:effectLst/>
                <a:latin typeface="+mj-ea"/>
                <a:ea typeface="+mj-ea"/>
                <a:cs typeface="Times New Roman" panose="02020603050405020304" pitchFamily="18" charset="0"/>
              </a:rPr>
              <a:t>策略。GBDT</a:t>
            </a:r>
            <a:r>
              <a:rPr lang="en-US" altLang="zh-CN" sz="2400" dirty="0">
                <a:effectLst/>
                <a:latin typeface="+mj-ea"/>
                <a:ea typeface="+mj-ea"/>
                <a:cs typeface="Times New Roman" panose="02020603050405020304" pitchFamily="18" charset="0"/>
              </a:rPr>
              <a:t> </a:t>
            </a:r>
            <a:r>
              <a:rPr lang="en-US" altLang="zh-CN" sz="2400" dirty="0" err="1">
                <a:effectLst/>
                <a:latin typeface="+mj-ea"/>
                <a:ea typeface="+mj-ea"/>
                <a:cs typeface="Times New Roman" panose="02020603050405020304" pitchFamily="18" charset="0"/>
              </a:rPr>
              <a:t>是被公认的泛化能力较强的算法</a:t>
            </a:r>
            <a:r>
              <a:rPr lang="en-US" altLang="zh-CN" sz="2400" dirty="0">
                <a:effectLst/>
                <a:latin typeface="+mj-ea"/>
                <a:ea typeface="+mj-ea"/>
                <a:cs typeface="Times New Roman" panose="02020603050405020304" pitchFamily="18" charset="0"/>
              </a:rPr>
              <a:t>。</a:t>
            </a:r>
            <a:endParaRPr lang="zh-CN" altLang="zh-CN" sz="2400" dirty="0">
              <a:effectLst/>
              <a:latin typeface="+mj-ea"/>
              <a:ea typeface="+mj-ea"/>
              <a:cs typeface="Times New Roman" panose="02020603050405020304" pitchFamily="18" charset="0"/>
            </a:endParaRPr>
          </a:p>
        </p:txBody>
      </p:sp>
      <p:sp>
        <p:nvSpPr>
          <p:cNvPr id="19" name="文本框 18">
            <a:extLst>
              <a:ext uri="{FF2B5EF4-FFF2-40B4-BE49-F238E27FC236}">
                <a16:creationId xmlns:a16="http://schemas.microsoft.com/office/drawing/2014/main" id="{95134A67-FE35-44B3-A10D-3D98F05F38CB}"/>
              </a:ext>
            </a:extLst>
          </p:cNvPr>
          <p:cNvSpPr txBox="1"/>
          <p:nvPr/>
        </p:nvSpPr>
        <p:spPr>
          <a:xfrm>
            <a:off x="703386" y="3943701"/>
            <a:ext cx="10049021" cy="1919885"/>
          </a:xfrm>
          <a:prstGeom prst="rect">
            <a:avLst/>
          </a:prstGeom>
          <a:noFill/>
        </p:spPr>
        <p:txBody>
          <a:bodyPr wrap="square">
            <a:spAutoFit/>
          </a:bodyPr>
          <a:lstStyle/>
          <a:p>
            <a:pPr>
              <a:lnSpc>
                <a:spcPct val="150000"/>
              </a:lnSpc>
              <a:spcBef>
                <a:spcPts val="900"/>
              </a:spcBef>
              <a:spcAft>
                <a:spcPts val="900"/>
              </a:spcAft>
            </a:pPr>
            <a:r>
              <a:rPr lang="en-US" altLang="zh-CN" sz="2400" dirty="0">
                <a:effectLst/>
                <a:latin typeface="+mj-ea"/>
                <a:ea typeface="+mj-ea"/>
                <a:cs typeface="Times New Roman" panose="02020603050405020304" pitchFamily="18" charset="0"/>
              </a:rPr>
              <a:t>GBDT </a:t>
            </a:r>
            <a:r>
              <a:rPr lang="en-US" altLang="zh-CN" sz="2400" dirty="0" err="1">
                <a:effectLst/>
                <a:latin typeface="+mj-ea"/>
                <a:ea typeface="+mj-ea"/>
                <a:cs typeface="Times New Roman" panose="02020603050405020304" pitchFamily="18" charset="0"/>
              </a:rPr>
              <a:t>由三个概念组成</a:t>
            </a:r>
            <a:r>
              <a:rPr lang="en-US" altLang="zh-CN" sz="2400" dirty="0">
                <a:effectLst/>
                <a:latin typeface="+mj-ea"/>
                <a:ea typeface="+mj-ea"/>
                <a:cs typeface="Times New Roman" panose="02020603050405020304" pitchFamily="18" charset="0"/>
              </a:rPr>
              <a:t>：</a:t>
            </a:r>
          </a:p>
          <a:p>
            <a:pPr>
              <a:lnSpc>
                <a:spcPct val="150000"/>
              </a:lnSpc>
              <a:spcBef>
                <a:spcPts val="900"/>
              </a:spcBef>
              <a:spcAft>
                <a:spcPts val="900"/>
              </a:spcAft>
            </a:pPr>
            <a:r>
              <a:rPr lang="en-US" altLang="zh-CN" sz="2400" dirty="0">
                <a:effectLst/>
                <a:latin typeface="+mj-ea"/>
                <a:ea typeface="+mj-ea"/>
                <a:cs typeface="Times New Roman" panose="02020603050405020304" pitchFamily="18" charset="0"/>
              </a:rPr>
              <a:t>Regression Decision </a:t>
            </a:r>
            <a:r>
              <a:rPr lang="en-US" altLang="zh-CN" sz="2400" dirty="0" err="1">
                <a:effectLst/>
                <a:latin typeface="+mj-ea"/>
                <a:ea typeface="+mj-ea"/>
                <a:cs typeface="Times New Roman" panose="02020603050405020304" pitchFamily="18" charset="0"/>
              </a:rPr>
              <a:t>Tree（即</a:t>
            </a:r>
            <a:r>
              <a:rPr lang="en-US" altLang="zh-CN" sz="2400" dirty="0">
                <a:effectLst/>
                <a:latin typeface="+mj-ea"/>
                <a:ea typeface="+mj-ea"/>
                <a:cs typeface="Times New Roman" panose="02020603050405020304" pitchFamily="18" charset="0"/>
              </a:rPr>
              <a:t> DT）、Gradient </a:t>
            </a:r>
            <a:r>
              <a:rPr lang="en-US" altLang="zh-CN" sz="2400" dirty="0" err="1">
                <a:effectLst/>
                <a:latin typeface="+mj-ea"/>
                <a:ea typeface="+mj-ea"/>
                <a:cs typeface="Times New Roman" panose="02020603050405020304" pitchFamily="18" charset="0"/>
              </a:rPr>
              <a:t>Boosting（即</a:t>
            </a:r>
            <a:r>
              <a:rPr lang="en-US" altLang="zh-CN" sz="2400" dirty="0">
                <a:effectLst/>
                <a:latin typeface="+mj-ea"/>
                <a:ea typeface="+mj-ea"/>
                <a:cs typeface="Times New Roman" panose="02020603050405020304" pitchFamily="18" charset="0"/>
              </a:rPr>
              <a:t> GB），和 Shrinkage（</a:t>
            </a:r>
            <a:r>
              <a:rPr lang="zh-CN" altLang="en-US" sz="2400" dirty="0">
                <a:effectLst/>
                <a:latin typeface="+mj-ea"/>
                <a:ea typeface="+mj-ea"/>
                <a:cs typeface="Times New Roman" panose="02020603050405020304" pitchFamily="18" charset="0"/>
              </a:rPr>
              <a:t>缩减</a:t>
            </a:r>
            <a:r>
              <a:rPr lang="en-US" altLang="zh-CN" sz="2400" dirty="0">
                <a:effectLst/>
                <a:latin typeface="+mj-ea"/>
                <a:ea typeface="+mj-ea"/>
                <a:cs typeface="Times New Roman" panose="02020603050405020304" pitchFamily="18" charset="0"/>
              </a:rPr>
              <a:t>）</a:t>
            </a:r>
            <a:endParaRPr lang="zh-CN" altLang="zh-CN" sz="2400" dirty="0">
              <a:effectLst/>
              <a:latin typeface="+mj-ea"/>
              <a:ea typeface="+mj-ea"/>
              <a:cs typeface="Times New Roman" panose="02020603050405020304" pitchFamily="18" charset="0"/>
            </a:endParaRPr>
          </a:p>
        </p:txBody>
      </p:sp>
    </p:spTree>
    <p:extLst>
      <p:ext uri="{BB962C8B-B14F-4D97-AF65-F5344CB8AC3E}">
        <p14:creationId xmlns:p14="http://schemas.microsoft.com/office/powerpoint/2010/main" val="3555277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952442" y="1321552"/>
                <a:ext cx="2197012" cy="778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𝑀</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𝑚</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𝑀</m:t>
                          </m:r>
                        </m:sup>
                        <m:e>
                          <m:r>
                            <a:rPr lang="en-US" altLang="zh-CN" b="0" i="1" smtClean="0">
                              <a:latin typeface="Cambria Math" panose="02040503050406030204" pitchFamily="18" charset="0"/>
                              <a:ea typeface="Microsoft YaHei" charset="0"/>
                            </a:rPr>
                            <m:t>𝑇</m:t>
                          </m:r>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zh-CN" altLang="en-US" b="0" i="1" smtClean="0">
                                  <a:latin typeface="Cambria Math" panose="02040503050406030204" pitchFamily="18" charset="0"/>
                                  <a:ea typeface="Microsoft YaHei" charset="0"/>
                                </a:rPr>
                                <m:t>𝜃</m:t>
                              </m:r>
                            </m:e>
                            <m:sub>
                              <m:r>
                                <a:rPr lang="en-US" altLang="zh-CN" b="0" i="1" smtClean="0">
                                  <a:latin typeface="Cambria Math" panose="02040503050406030204" pitchFamily="18" charset="0"/>
                                  <a:ea typeface="Microsoft YaHei" charset="0"/>
                                </a:rPr>
                                <m:t>𝑚</m:t>
                              </m:r>
                            </m:sub>
                          </m:sSub>
                          <m:r>
                            <a:rPr lang="en-US" altLang="zh-CN" b="0" i="1" smtClean="0">
                              <a:latin typeface="Cambria Math" panose="02040503050406030204" pitchFamily="18" charset="0"/>
                              <a:ea typeface="Microsoft YaHei" charset="0"/>
                            </a:rPr>
                            <m:t>)</m:t>
                          </m:r>
                        </m:e>
                      </m:nary>
                    </m:oMath>
                  </m:oMathPara>
                </a14:m>
                <a:endParaRPr lang="zh-CN" altLang="en-US" dirty="0">
                  <a:ea typeface="Microsoft YaHei"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952442" y="1321552"/>
                <a:ext cx="2197012" cy="778868"/>
              </a:xfrm>
              <a:prstGeom prst="rect">
                <a:avLst/>
              </a:prstGeom>
              <a:blipFill>
                <a:blip r:embed="rId2"/>
                <a:stretch>
                  <a:fillRect l="-277" r="-27701" b="-320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668338" y="3821510"/>
                <a:ext cx="6107864" cy="461665"/>
              </a:xfrm>
              <a:prstGeom prst="rect">
                <a:avLst/>
              </a:prstGeom>
              <a:noFill/>
            </p:spPr>
            <p:txBody>
              <a:bodyPr wrap="square" rtlCol="0">
                <a:spAutoFit/>
              </a:bodyPr>
              <a:lstStyle/>
              <a:p>
                <a14:m>
                  <m:oMath xmlns:m="http://schemas.openxmlformats.org/officeDocument/2006/math">
                    <m:r>
                      <a:rPr lang="en-US" altLang="zh-CN" i="1">
                        <a:latin typeface="Cambria Math" panose="02040503050406030204" pitchFamily="18" charset="0"/>
                        <a:ea typeface="Microsoft YaHei" charset="0"/>
                      </a:rPr>
                      <m:t>𝑇</m:t>
                    </m:r>
                  </m:oMath>
                </a14:m>
                <a:r>
                  <a:rPr lang="zh-CN" altLang="en-US" dirty="0">
                    <a:ea typeface="Microsoft YaHei" charset="0"/>
                  </a:rPr>
                  <a:t>为决策树，</a:t>
                </a:r>
                <a14:m>
                  <m:oMath xmlns:m="http://schemas.openxmlformats.org/officeDocument/2006/math">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oMath>
                </a14:m>
                <a:r>
                  <a:rPr lang="zh-CN" altLang="en-US" dirty="0">
                    <a:ea typeface="Microsoft YaHei" charset="0"/>
                  </a:rPr>
                  <a:t>为参数，</a:t>
                </a:r>
                <a:r>
                  <a:rPr lang="en-US" altLang="zh-CN" dirty="0">
                    <a:ea typeface="Microsoft YaHei" charset="0"/>
                  </a:rPr>
                  <a:t> </a:t>
                </a:r>
                <a14:m>
                  <m:oMath xmlns:m="http://schemas.openxmlformats.org/officeDocument/2006/math">
                    <m:r>
                      <a:rPr lang="en-US" altLang="zh-CN" i="1">
                        <a:latin typeface="Cambria Math" panose="02040503050406030204" pitchFamily="18" charset="0"/>
                        <a:ea typeface="Microsoft YaHei" charset="0"/>
                      </a:rPr>
                      <m:t>𝑀</m:t>
                    </m:r>
                  </m:oMath>
                </a14:m>
                <a:r>
                  <a:rPr lang="zh-CN" altLang="en-US" dirty="0">
                    <a:ea typeface="Microsoft YaHei" charset="0"/>
                  </a:rPr>
                  <a:t>为树的数量</a:t>
                </a:r>
              </a:p>
            </p:txBody>
          </p:sp>
        </mc:Choice>
        <mc:Fallback xmlns="">
          <p:sp>
            <p:nvSpPr>
              <p:cNvPr id="5" name="文本框 4"/>
              <p:cNvSpPr txBox="1">
                <a:spLocks noRot="1" noChangeAspect="1" noMove="1" noResize="1" noEditPoints="1" noAdjustHandles="1" noChangeArrowheads="1" noChangeShapeType="1" noTextEdit="1"/>
              </p:cNvSpPr>
              <p:nvPr/>
            </p:nvSpPr>
            <p:spPr>
              <a:xfrm>
                <a:off x="668338" y="3821510"/>
                <a:ext cx="6107864" cy="461665"/>
              </a:xfrm>
              <a:prstGeom prst="rect">
                <a:avLst/>
              </a:prstGeom>
              <a:blipFill>
                <a:blip r:embed="rId3"/>
                <a:stretch>
                  <a:fillRect l="-299"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952442" y="2436971"/>
                <a:ext cx="1668598" cy="8102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Microsoft YaHei" charset="0"/>
                            </a:rPr>
                            <m:t>𝜃</m:t>
                          </m:r>
                        </m:e>
                      </m:d>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𝑗</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𝐽</m:t>
                          </m:r>
                        </m:sup>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𝑐</m:t>
                              </m:r>
                            </m:e>
                            <m:sub>
                              <m:r>
                                <a:rPr lang="en-US" altLang="zh-CN" b="0" i="1" smtClean="0">
                                  <a:latin typeface="Cambria Math" panose="02040503050406030204" pitchFamily="18" charset="0"/>
                                  <a:ea typeface="Microsoft YaHei" charset="0"/>
                                </a:rPr>
                                <m:t>𝑗</m:t>
                              </m:r>
                            </m:sub>
                          </m:sSub>
                          <m:r>
                            <a:rPr lang="en-US" altLang="zh-CN" b="0" i="1" smtClean="0">
                              <a:latin typeface="Cambria Math" panose="02040503050406030204" pitchFamily="18" charset="0"/>
                              <a:ea typeface="Microsoft YaHei" charset="0"/>
                            </a:rPr>
                            <m:t>𝐼</m:t>
                          </m:r>
                        </m:e>
                      </m:nary>
                    </m:oMath>
                  </m:oMathPara>
                </a14:m>
                <a:endParaRPr lang="zh-CN" altLang="en-US" dirty="0">
                  <a:ea typeface="Microsoft YaHei"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952442" y="2436971"/>
                <a:ext cx="1668598" cy="810222"/>
              </a:xfrm>
              <a:prstGeom prst="rect">
                <a:avLst/>
              </a:prstGeom>
              <a:blipFill>
                <a:blip r:embed="rId4"/>
                <a:stretch>
                  <a:fillRect r="-26642" b="-315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710278" y="4782024"/>
                <a:ext cx="4606834" cy="461665"/>
              </a:xfrm>
              <a:prstGeom prst="rect">
                <a:avLst/>
              </a:prstGeom>
              <a:noFill/>
            </p:spPr>
            <p:txBody>
              <a:bodyPr wrap="square" rtlCol="0">
                <a:spAutoFit/>
              </a:bodyPr>
              <a:lstStyle/>
              <a:p>
                <a14:m>
                  <m:oMath xmlns:m="http://schemas.openxmlformats.org/officeDocument/2006/math">
                    <m:r>
                      <a:rPr lang="en-US" altLang="zh-CN" i="1">
                        <a:latin typeface="Cambria Math" panose="02040503050406030204" pitchFamily="18" charset="0"/>
                        <a:ea typeface="Microsoft YaHei" charset="0"/>
                      </a:rPr>
                      <m:t>𝑐</m:t>
                    </m:r>
                  </m:oMath>
                </a14:m>
                <a:r>
                  <a:rPr lang="zh-CN" altLang="en-US" dirty="0">
                    <a:ea typeface="Microsoft YaHei" charset="0"/>
                  </a:rPr>
                  <a:t> 为常数，</a:t>
                </a:r>
                <a:r>
                  <a:rPr lang="en-US" altLang="zh-CN" dirty="0">
                    <a:ea typeface="Microsoft YaHei" charset="0"/>
                  </a:rPr>
                  <a:t> </a:t>
                </a:r>
                <a14:m>
                  <m:oMath xmlns:m="http://schemas.openxmlformats.org/officeDocument/2006/math">
                    <m:r>
                      <a:rPr lang="en-US" altLang="zh-CN" i="1">
                        <a:latin typeface="Cambria Math" panose="02040503050406030204" pitchFamily="18" charset="0"/>
                        <a:ea typeface="Microsoft YaHei" charset="0"/>
                      </a:rPr>
                      <m:t>𝐽</m:t>
                    </m:r>
                  </m:oMath>
                </a14:m>
                <a:r>
                  <a:rPr lang="zh-CN" altLang="en-US" dirty="0">
                    <a:ea typeface="Microsoft YaHei" charset="0"/>
                  </a:rPr>
                  <a:t> 为叶子节点</a:t>
                </a:r>
              </a:p>
            </p:txBody>
          </p:sp>
        </mc:Choice>
        <mc:Fallback xmlns="">
          <p:sp>
            <p:nvSpPr>
              <p:cNvPr id="10" name="文本框 9"/>
              <p:cNvSpPr txBox="1">
                <a:spLocks noRot="1" noChangeAspect="1" noMove="1" noResize="1" noEditPoints="1" noAdjustHandles="1" noChangeArrowheads="1" noChangeShapeType="1" noTextEdit="1"/>
              </p:cNvSpPr>
              <p:nvPr/>
            </p:nvSpPr>
            <p:spPr>
              <a:xfrm>
                <a:off x="710278" y="4782024"/>
                <a:ext cx="4606834" cy="461665"/>
              </a:xfrm>
              <a:prstGeom prst="rect">
                <a:avLst/>
              </a:prstGeom>
              <a:blipFill>
                <a:blip r:embed="rId5"/>
                <a:stretch>
                  <a:fillRect t="-10526" b="-28947"/>
                </a:stretch>
              </a:blipFill>
            </p:spPr>
            <p:txBody>
              <a:bodyPr/>
              <a:lstStyle/>
              <a:p>
                <a:r>
                  <a:rPr lang="zh-CN" altLang="en-US">
                    <a:noFill/>
                  </a:rPr>
                  <a:t> </a:t>
                </a:r>
              </a:p>
            </p:txBody>
          </p:sp>
        </mc:Fallback>
      </mc:AlternateContent>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GBDT</a:t>
            </a:r>
            <a:r>
              <a:rPr lang="zh-CN" altLang="en-US" dirty="0">
                <a:solidFill>
                  <a:schemeClr val="tx1"/>
                </a:solidFill>
              </a:rPr>
              <a:t>算法</a:t>
            </a:r>
          </a:p>
        </p:txBody>
      </p:sp>
      <p:sp>
        <p:nvSpPr>
          <p:cNvPr id="18" name="椭圆 17">
            <a:extLst>
              <a:ext uri="{FF2B5EF4-FFF2-40B4-BE49-F238E27FC236}">
                <a16:creationId xmlns:a16="http://schemas.microsoft.com/office/drawing/2014/main" id="{84F4B92D-7FDD-4BA7-AAC3-1A6D2DD1FA96}"/>
              </a:ext>
            </a:extLst>
          </p:cNvPr>
          <p:cNvSpPr/>
          <p:nvPr/>
        </p:nvSpPr>
        <p:spPr>
          <a:xfrm>
            <a:off x="7375881" y="1465592"/>
            <a:ext cx="1584959" cy="505097"/>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800" dirty="0">
              <a:solidFill>
                <a:schemeClr val="bg1"/>
              </a:solidFill>
              <a:ea typeface="Microsoft YaHei" charset="0"/>
            </a:endParaRPr>
          </a:p>
        </p:txBody>
      </p:sp>
      <p:sp>
        <p:nvSpPr>
          <p:cNvPr id="19" name="矩形 18">
            <a:extLst>
              <a:ext uri="{FF2B5EF4-FFF2-40B4-BE49-F238E27FC236}">
                <a16:creationId xmlns:a16="http://schemas.microsoft.com/office/drawing/2014/main" id="{797499CE-77DA-46D6-97E9-E07DE7208D72}"/>
              </a:ext>
            </a:extLst>
          </p:cNvPr>
          <p:cNvSpPr/>
          <p:nvPr/>
        </p:nvSpPr>
        <p:spPr>
          <a:xfrm>
            <a:off x="6410382" y="2669422"/>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800" dirty="0">
              <a:ea typeface="Microsoft YaHei" charset="0"/>
            </a:endParaRPr>
          </a:p>
        </p:txBody>
      </p:sp>
      <p:cxnSp>
        <p:nvCxnSpPr>
          <p:cNvPr id="20" name="直接箭头连接符 19">
            <a:extLst>
              <a:ext uri="{FF2B5EF4-FFF2-40B4-BE49-F238E27FC236}">
                <a16:creationId xmlns:a16="http://schemas.microsoft.com/office/drawing/2014/main" id="{4C8ABF9B-FE8F-4503-BEB3-B73ECCFCD08C}"/>
              </a:ext>
            </a:extLst>
          </p:cNvPr>
          <p:cNvCxnSpPr/>
          <p:nvPr/>
        </p:nvCxnSpPr>
        <p:spPr>
          <a:xfrm flipH="1">
            <a:off x="6860420" y="1957062"/>
            <a:ext cx="1288868" cy="697913"/>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AF39F719-E2DB-4CC5-AD59-B133CAA36BEA}"/>
              </a:ext>
            </a:extLst>
          </p:cNvPr>
          <p:cNvCxnSpPr/>
          <p:nvPr/>
        </p:nvCxnSpPr>
        <p:spPr>
          <a:xfrm>
            <a:off x="8129254" y="1955028"/>
            <a:ext cx="827307" cy="697913"/>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A8C09571-EA4B-4EBF-A50B-21AC6C6B07F6}"/>
              </a:ext>
            </a:extLst>
          </p:cNvPr>
          <p:cNvSpPr/>
          <p:nvPr/>
        </p:nvSpPr>
        <p:spPr>
          <a:xfrm>
            <a:off x="8214225" y="2669422"/>
            <a:ext cx="1584959" cy="505097"/>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800" dirty="0">
              <a:solidFill>
                <a:schemeClr val="bg1"/>
              </a:solidFill>
              <a:ea typeface="Microsoft YaHei" charset="0"/>
            </a:endParaRPr>
          </a:p>
        </p:txBody>
      </p:sp>
      <p:cxnSp>
        <p:nvCxnSpPr>
          <p:cNvPr id="25" name="直接箭头连接符 24">
            <a:extLst>
              <a:ext uri="{FF2B5EF4-FFF2-40B4-BE49-F238E27FC236}">
                <a16:creationId xmlns:a16="http://schemas.microsoft.com/office/drawing/2014/main" id="{5D08E6AE-CBD6-40D3-A326-BDBB1715E251}"/>
              </a:ext>
            </a:extLst>
          </p:cNvPr>
          <p:cNvCxnSpPr/>
          <p:nvPr/>
        </p:nvCxnSpPr>
        <p:spPr>
          <a:xfrm flipH="1">
            <a:off x="8292473" y="3169990"/>
            <a:ext cx="875172" cy="600909"/>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32C55884-79E6-459C-953F-36761BEFC003}"/>
              </a:ext>
            </a:extLst>
          </p:cNvPr>
          <p:cNvSpPr/>
          <p:nvPr/>
        </p:nvSpPr>
        <p:spPr>
          <a:xfrm>
            <a:off x="7789488" y="3793840"/>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800" dirty="0">
              <a:ea typeface="Microsoft YaHei" charset="0"/>
            </a:endParaRPr>
          </a:p>
        </p:txBody>
      </p:sp>
      <p:cxnSp>
        <p:nvCxnSpPr>
          <p:cNvPr id="29" name="直接箭头连接符 28">
            <a:extLst>
              <a:ext uri="{FF2B5EF4-FFF2-40B4-BE49-F238E27FC236}">
                <a16:creationId xmlns:a16="http://schemas.microsoft.com/office/drawing/2014/main" id="{8882FACB-C0E0-45B6-8E54-F2E59D88AB4B}"/>
              </a:ext>
            </a:extLst>
          </p:cNvPr>
          <p:cNvCxnSpPr/>
          <p:nvPr/>
        </p:nvCxnSpPr>
        <p:spPr>
          <a:xfrm>
            <a:off x="9195613" y="3176986"/>
            <a:ext cx="772317" cy="600909"/>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31" name="椭圆 30">
            <a:extLst>
              <a:ext uri="{FF2B5EF4-FFF2-40B4-BE49-F238E27FC236}">
                <a16:creationId xmlns:a16="http://schemas.microsoft.com/office/drawing/2014/main" id="{6C435ED4-9D22-4495-9F67-70CDAC6F61A3}"/>
              </a:ext>
            </a:extLst>
          </p:cNvPr>
          <p:cNvSpPr/>
          <p:nvPr/>
        </p:nvSpPr>
        <p:spPr>
          <a:xfrm>
            <a:off x="9195717" y="3793840"/>
            <a:ext cx="1584959" cy="505097"/>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800" dirty="0">
              <a:solidFill>
                <a:schemeClr val="bg1"/>
              </a:solidFill>
              <a:ea typeface="Microsoft YaHei" charset="0"/>
            </a:endParaRPr>
          </a:p>
        </p:txBody>
      </p:sp>
      <p:cxnSp>
        <p:nvCxnSpPr>
          <p:cNvPr id="32" name="直接箭头连接符 31">
            <a:extLst>
              <a:ext uri="{FF2B5EF4-FFF2-40B4-BE49-F238E27FC236}">
                <a16:creationId xmlns:a16="http://schemas.microsoft.com/office/drawing/2014/main" id="{C3DC2CC8-557E-46A5-A143-3161103B1050}"/>
              </a:ext>
            </a:extLst>
          </p:cNvPr>
          <p:cNvCxnSpPr>
            <a:stCxn id="31" idx="4"/>
            <a:endCxn id="35" idx="0"/>
          </p:cNvCxnSpPr>
          <p:nvPr/>
        </p:nvCxnSpPr>
        <p:spPr>
          <a:xfrm flipH="1">
            <a:off x="9244588" y="4298937"/>
            <a:ext cx="743609" cy="56992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A05018D1-F280-4423-A43E-0E00D0DC8B6A}"/>
              </a:ext>
            </a:extLst>
          </p:cNvPr>
          <p:cNvCxnSpPr>
            <a:stCxn id="31" idx="4"/>
            <a:endCxn id="42" idx="0"/>
          </p:cNvCxnSpPr>
          <p:nvPr/>
        </p:nvCxnSpPr>
        <p:spPr>
          <a:xfrm>
            <a:off x="9988197" y="4298937"/>
            <a:ext cx="1036325" cy="620825"/>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35" name="椭圆 34">
            <a:extLst>
              <a:ext uri="{FF2B5EF4-FFF2-40B4-BE49-F238E27FC236}">
                <a16:creationId xmlns:a16="http://schemas.microsoft.com/office/drawing/2014/main" id="{D5C180E2-DE0C-4250-9F9F-4A6BA69191A2}"/>
              </a:ext>
            </a:extLst>
          </p:cNvPr>
          <p:cNvSpPr/>
          <p:nvPr/>
        </p:nvSpPr>
        <p:spPr>
          <a:xfrm>
            <a:off x="8452108" y="4868862"/>
            <a:ext cx="1584959" cy="505097"/>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800" dirty="0">
              <a:solidFill>
                <a:schemeClr val="bg1"/>
              </a:solidFill>
              <a:ea typeface="Microsoft YaHei" charset="0"/>
            </a:endParaRPr>
          </a:p>
        </p:txBody>
      </p:sp>
      <p:sp>
        <p:nvSpPr>
          <p:cNvPr id="36" name="矩形 35">
            <a:extLst>
              <a:ext uri="{FF2B5EF4-FFF2-40B4-BE49-F238E27FC236}">
                <a16:creationId xmlns:a16="http://schemas.microsoft.com/office/drawing/2014/main" id="{06080650-7E6C-4A37-A315-56DE59874E15}"/>
              </a:ext>
            </a:extLst>
          </p:cNvPr>
          <p:cNvSpPr/>
          <p:nvPr/>
        </p:nvSpPr>
        <p:spPr>
          <a:xfrm>
            <a:off x="8193403" y="5870230"/>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800" dirty="0">
              <a:ea typeface="Microsoft YaHei" charset="0"/>
            </a:endParaRPr>
          </a:p>
        </p:txBody>
      </p:sp>
      <p:sp>
        <p:nvSpPr>
          <p:cNvPr id="37" name="矩形 36">
            <a:extLst>
              <a:ext uri="{FF2B5EF4-FFF2-40B4-BE49-F238E27FC236}">
                <a16:creationId xmlns:a16="http://schemas.microsoft.com/office/drawing/2014/main" id="{4788FA11-7EF7-4295-8BDD-9E5FF0CC2B98}"/>
              </a:ext>
            </a:extLst>
          </p:cNvPr>
          <p:cNvSpPr/>
          <p:nvPr/>
        </p:nvSpPr>
        <p:spPr>
          <a:xfrm>
            <a:off x="9799184" y="5870230"/>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cxnSp>
        <p:nvCxnSpPr>
          <p:cNvPr id="38" name="直接箭头连接符 37">
            <a:extLst>
              <a:ext uri="{FF2B5EF4-FFF2-40B4-BE49-F238E27FC236}">
                <a16:creationId xmlns:a16="http://schemas.microsoft.com/office/drawing/2014/main" id="{DF51061F-18CE-4E36-9C2E-BB8D58A36674}"/>
              </a:ext>
            </a:extLst>
          </p:cNvPr>
          <p:cNvCxnSpPr>
            <a:stCxn id="35" idx="4"/>
            <a:endCxn id="36" idx="0"/>
          </p:cNvCxnSpPr>
          <p:nvPr/>
        </p:nvCxnSpPr>
        <p:spPr>
          <a:xfrm flipH="1">
            <a:off x="8650603" y="5373959"/>
            <a:ext cx="593985" cy="496271"/>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71F25801-D761-468D-8221-7FA999E90E15}"/>
              </a:ext>
            </a:extLst>
          </p:cNvPr>
          <p:cNvCxnSpPr>
            <a:stCxn id="35" idx="4"/>
            <a:endCxn id="37" idx="0"/>
          </p:cNvCxnSpPr>
          <p:nvPr/>
        </p:nvCxnSpPr>
        <p:spPr>
          <a:xfrm>
            <a:off x="9244588" y="5373959"/>
            <a:ext cx="1011796" cy="496271"/>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4B2396AD-C25E-46FF-8AA8-F4749695E836}"/>
              </a:ext>
            </a:extLst>
          </p:cNvPr>
          <p:cNvSpPr/>
          <p:nvPr/>
        </p:nvSpPr>
        <p:spPr>
          <a:xfrm>
            <a:off x="10567322" y="4919762"/>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800" dirty="0">
              <a:ea typeface="Microsoft YaHei" charset="0"/>
            </a:endParaRPr>
          </a:p>
        </p:txBody>
      </p:sp>
    </p:spTree>
    <p:extLst>
      <p:ext uri="{BB962C8B-B14F-4D97-AF65-F5344CB8AC3E}">
        <p14:creationId xmlns:p14="http://schemas.microsoft.com/office/powerpoint/2010/main" val="45571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p:cTn id="35" dur="500" fill="hold"/>
                                        <p:tgtEl>
                                          <p:spTgt spid="18"/>
                                        </p:tgtEl>
                                        <p:attrNameLst>
                                          <p:attrName>ppt_w</p:attrName>
                                        </p:attrNameLst>
                                      </p:cBhvr>
                                      <p:tavLst>
                                        <p:tav tm="0">
                                          <p:val>
                                            <p:fltVal val="0"/>
                                          </p:val>
                                        </p:tav>
                                        <p:tav tm="100000">
                                          <p:val>
                                            <p:strVal val="#ppt_w"/>
                                          </p:val>
                                        </p:tav>
                                      </p:tavLst>
                                    </p:anim>
                                    <p:anim calcmode="lin" valueType="num">
                                      <p:cBhvr>
                                        <p:cTn id="36" dur="500" fill="hold"/>
                                        <p:tgtEl>
                                          <p:spTgt spid="18"/>
                                        </p:tgtEl>
                                        <p:attrNameLst>
                                          <p:attrName>ppt_h</p:attrName>
                                        </p:attrNameLst>
                                      </p:cBhvr>
                                      <p:tavLst>
                                        <p:tav tm="0">
                                          <p:val>
                                            <p:fltVal val="0"/>
                                          </p:val>
                                        </p:tav>
                                        <p:tav tm="100000">
                                          <p:val>
                                            <p:strVal val="#ppt_h"/>
                                          </p:val>
                                        </p:tav>
                                      </p:tavLst>
                                    </p:anim>
                                    <p:animEffect transition="in" filter="fade">
                                      <p:cBhvr>
                                        <p:cTn id="37" dur="500"/>
                                        <p:tgtEl>
                                          <p:spTgt spid="18"/>
                                        </p:tgtEl>
                                      </p:cBhvr>
                                    </p:animEffect>
                                  </p:childTnLst>
                                </p:cTn>
                              </p:par>
                              <p:par>
                                <p:cTn id="38" presetID="53" presetClass="entr" presetSubtype="16" fill="hold" nodeType="withEffect">
                                  <p:stCondLst>
                                    <p:cond delay="0"/>
                                  </p:stCondLst>
                                  <p:childTnLst>
                                    <p:set>
                                      <p:cBhvr>
                                        <p:cTn id="39" dur="1" fill="hold">
                                          <p:stCondLst>
                                            <p:cond delay="0"/>
                                          </p:stCondLst>
                                        </p:cTn>
                                        <p:tgtEl>
                                          <p:spTgt spid="20"/>
                                        </p:tgtEl>
                                        <p:attrNameLst>
                                          <p:attrName>style.visibility</p:attrName>
                                        </p:attrNameLst>
                                      </p:cBhvr>
                                      <p:to>
                                        <p:strVal val="visible"/>
                                      </p:to>
                                    </p:set>
                                    <p:anim calcmode="lin" valueType="num">
                                      <p:cBhvr>
                                        <p:cTn id="40" dur="500" fill="hold"/>
                                        <p:tgtEl>
                                          <p:spTgt spid="20"/>
                                        </p:tgtEl>
                                        <p:attrNameLst>
                                          <p:attrName>ppt_w</p:attrName>
                                        </p:attrNameLst>
                                      </p:cBhvr>
                                      <p:tavLst>
                                        <p:tav tm="0">
                                          <p:val>
                                            <p:fltVal val="0"/>
                                          </p:val>
                                        </p:tav>
                                        <p:tav tm="100000">
                                          <p:val>
                                            <p:strVal val="#ppt_w"/>
                                          </p:val>
                                        </p:tav>
                                      </p:tavLst>
                                    </p:anim>
                                    <p:anim calcmode="lin" valueType="num">
                                      <p:cBhvr>
                                        <p:cTn id="41" dur="500" fill="hold"/>
                                        <p:tgtEl>
                                          <p:spTgt spid="20"/>
                                        </p:tgtEl>
                                        <p:attrNameLst>
                                          <p:attrName>ppt_h</p:attrName>
                                        </p:attrNameLst>
                                      </p:cBhvr>
                                      <p:tavLst>
                                        <p:tav tm="0">
                                          <p:val>
                                            <p:fltVal val="0"/>
                                          </p:val>
                                        </p:tav>
                                        <p:tav tm="100000">
                                          <p:val>
                                            <p:strVal val="#ppt_h"/>
                                          </p:val>
                                        </p:tav>
                                      </p:tavLst>
                                    </p:anim>
                                    <p:animEffect transition="in" filter="fade">
                                      <p:cBhvr>
                                        <p:cTn id="42" dur="500"/>
                                        <p:tgtEl>
                                          <p:spTgt spid="20"/>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 calcmode="lin" valueType="num">
                                      <p:cBhvr>
                                        <p:cTn id="45" dur="500" fill="hold"/>
                                        <p:tgtEl>
                                          <p:spTgt spid="19"/>
                                        </p:tgtEl>
                                        <p:attrNameLst>
                                          <p:attrName>ppt_w</p:attrName>
                                        </p:attrNameLst>
                                      </p:cBhvr>
                                      <p:tavLst>
                                        <p:tav tm="0">
                                          <p:val>
                                            <p:fltVal val="0"/>
                                          </p:val>
                                        </p:tav>
                                        <p:tav tm="100000">
                                          <p:val>
                                            <p:strVal val="#ppt_w"/>
                                          </p:val>
                                        </p:tav>
                                      </p:tavLst>
                                    </p:anim>
                                    <p:anim calcmode="lin" valueType="num">
                                      <p:cBhvr>
                                        <p:cTn id="46" dur="500" fill="hold"/>
                                        <p:tgtEl>
                                          <p:spTgt spid="19"/>
                                        </p:tgtEl>
                                        <p:attrNameLst>
                                          <p:attrName>ppt_h</p:attrName>
                                        </p:attrNameLst>
                                      </p:cBhvr>
                                      <p:tavLst>
                                        <p:tav tm="0">
                                          <p:val>
                                            <p:fltVal val="0"/>
                                          </p:val>
                                        </p:tav>
                                        <p:tav tm="100000">
                                          <p:val>
                                            <p:strVal val="#ppt_h"/>
                                          </p:val>
                                        </p:tav>
                                      </p:tavLst>
                                    </p:anim>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nodeType="clickEffect">
                                  <p:stCondLst>
                                    <p:cond delay="0"/>
                                  </p:stCondLst>
                                  <p:childTnLst>
                                    <p:set>
                                      <p:cBhvr>
                                        <p:cTn id="51" dur="1" fill="hold">
                                          <p:stCondLst>
                                            <p:cond delay="0"/>
                                          </p:stCondLst>
                                        </p:cTn>
                                        <p:tgtEl>
                                          <p:spTgt spid="22"/>
                                        </p:tgtEl>
                                        <p:attrNameLst>
                                          <p:attrName>style.visibility</p:attrName>
                                        </p:attrNameLst>
                                      </p:cBhvr>
                                      <p:to>
                                        <p:strVal val="visible"/>
                                      </p:to>
                                    </p:set>
                                    <p:anim calcmode="lin" valueType="num">
                                      <p:cBhvr>
                                        <p:cTn id="52" dur="500" fill="hold"/>
                                        <p:tgtEl>
                                          <p:spTgt spid="22"/>
                                        </p:tgtEl>
                                        <p:attrNameLst>
                                          <p:attrName>ppt_w</p:attrName>
                                        </p:attrNameLst>
                                      </p:cBhvr>
                                      <p:tavLst>
                                        <p:tav tm="0">
                                          <p:val>
                                            <p:fltVal val="0"/>
                                          </p:val>
                                        </p:tav>
                                        <p:tav tm="100000">
                                          <p:val>
                                            <p:strVal val="#ppt_w"/>
                                          </p:val>
                                        </p:tav>
                                      </p:tavLst>
                                    </p:anim>
                                    <p:anim calcmode="lin" valueType="num">
                                      <p:cBhvr>
                                        <p:cTn id="53" dur="500" fill="hold"/>
                                        <p:tgtEl>
                                          <p:spTgt spid="22"/>
                                        </p:tgtEl>
                                        <p:attrNameLst>
                                          <p:attrName>ppt_h</p:attrName>
                                        </p:attrNameLst>
                                      </p:cBhvr>
                                      <p:tavLst>
                                        <p:tav tm="0">
                                          <p:val>
                                            <p:fltVal val="0"/>
                                          </p:val>
                                        </p:tav>
                                        <p:tav tm="100000">
                                          <p:val>
                                            <p:strVal val="#ppt_h"/>
                                          </p:val>
                                        </p:tav>
                                      </p:tavLst>
                                    </p:anim>
                                    <p:animEffect transition="in" filter="fade">
                                      <p:cBhvr>
                                        <p:cTn id="54" dur="500"/>
                                        <p:tgtEl>
                                          <p:spTgt spid="22"/>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p:cTn id="57" dur="500" fill="hold"/>
                                        <p:tgtEl>
                                          <p:spTgt spid="24"/>
                                        </p:tgtEl>
                                        <p:attrNameLst>
                                          <p:attrName>ppt_w</p:attrName>
                                        </p:attrNameLst>
                                      </p:cBhvr>
                                      <p:tavLst>
                                        <p:tav tm="0">
                                          <p:val>
                                            <p:fltVal val="0"/>
                                          </p:val>
                                        </p:tav>
                                        <p:tav tm="100000">
                                          <p:val>
                                            <p:strVal val="#ppt_w"/>
                                          </p:val>
                                        </p:tav>
                                      </p:tavLst>
                                    </p:anim>
                                    <p:anim calcmode="lin" valueType="num">
                                      <p:cBhvr>
                                        <p:cTn id="58" dur="500" fill="hold"/>
                                        <p:tgtEl>
                                          <p:spTgt spid="24"/>
                                        </p:tgtEl>
                                        <p:attrNameLst>
                                          <p:attrName>ppt_h</p:attrName>
                                        </p:attrNameLst>
                                      </p:cBhvr>
                                      <p:tavLst>
                                        <p:tav tm="0">
                                          <p:val>
                                            <p:fltVal val="0"/>
                                          </p:val>
                                        </p:tav>
                                        <p:tav tm="100000">
                                          <p:val>
                                            <p:strVal val="#ppt_h"/>
                                          </p:val>
                                        </p:tav>
                                      </p:tavLst>
                                    </p:anim>
                                    <p:animEffect transition="in" filter="fade">
                                      <p:cBhvr>
                                        <p:cTn id="59" dur="50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nodeType="clickEffect">
                                  <p:stCondLst>
                                    <p:cond delay="0"/>
                                  </p:stCondLst>
                                  <p:childTnLst>
                                    <p:set>
                                      <p:cBhvr>
                                        <p:cTn id="63" dur="1" fill="hold">
                                          <p:stCondLst>
                                            <p:cond delay="0"/>
                                          </p:stCondLst>
                                        </p:cTn>
                                        <p:tgtEl>
                                          <p:spTgt spid="25"/>
                                        </p:tgtEl>
                                        <p:attrNameLst>
                                          <p:attrName>style.visibility</p:attrName>
                                        </p:attrNameLst>
                                      </p:cBhvr>
                                      <p:to>
                                        <p:strVal val="visible"/>
                                      </p:to>
                                    </p:set>
                                    <p:anim calcmode="lin" valueType="num">
                                      <p:cBhvr>
                                        <p:cTn id="64" dur="500" fill="hold"/>
                                        <p:tgtEl>
                                          <p:spTgt spid="25"/>
                                        </p:tgtEl>
                                        <p:attrNameLst>
                                          <p:attrName>ppt_w</p:attrName>
                                        </p:attrNameLst>
                                      </p:cBhvr>
                                      <p:tavLst>
                                        <p:tav tm="0">
                                          <p:val>
                                            <p:fltVal val="0"/>
                                          </p:val>
                                        </p:tav>
                                        <p:tav tm="100000">
                                          <p:val>
                                            <p:strVal val="#ppt_w"/>
                                          </p:val>
                                        </p:tav>
                                      </p:tavLst>
                                    </p:anim>
                                    <p:anim calcmode="lin" valueType="num">
                                      <p:cBhvr>
                                        <p:cTn id="65" dur="500" fill="hold"/>
                                        <p:tgtEl>
                                          <p:spTgt spid="25"/>
                                        </p:tgtEl>
                                        <p:attrNameLst>
                                          <p:attrName>ppt_h</p:attrName>
                                        </p:attrNameLst>
                                      </p:cBhvr>
                                      <p:tavLst>
                                        <p:tav tm="0">
                                          <p:val>
                                            <p:fltVal val="0"/>
                                          </p:val>
                                        </p:tav>
                                        <p:tav tm="100000">
                                          <p:val>
                                            <p:strVal val="#ppt_h"/>
                                          </p:val>
                                        </p:tav>
                                      </p:tavLst>
                                    </p:anim>
                                    <p:animEffect transition="in" filter="fade">
                                      <p:cBhvr>
                                        <p:cTn id="66" dur="500"/>
                                        <p:tgtEl>
                                          <p:spTgt spid="25"/>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cBhvr>
                                        <p:cTn id="69" dur="500" fill="hold"/>
                                        <p:tgtEl>
                                          <p:spTgt spid="28"/>
                                        </p:tgtEl>
                                        <p:attrNameLst>
                                          <p:attrName>ppt_w</p:attrName>
                                        </p:attrNameLst>
                                      </p:cBhvr>
                                      <p:tavLst>
                                        <p:tav tm="0">
                                          <p:val>
                                            <p:fltVal val="0"/>
                                          </p:val>
                                        </p:tav>
                                        <p:tav tm="100000">
                                          <p:val>
                                            <p:strVal val="#ppt_w"/>
                                          </p:val>
                                        </p:tav>
                                      </p:tavLst>
                                    </p:anim>
                                    <p:anim calcmode="lin" valueType="num">
                                      <p:cBhvr>
                                        <p:cTn id="70" dur="500" fill="hold"/>
                                        <p:tgtEl>
                                          <p:spTgt spid="28"/>
                                        </p:tgtEl>
                                        <p:attrNameLst>
                                          <p:attrName>ppt_h</p:attrName>
                                        </p:attrNameLst>
                                      </p:cBhvr>
                                      <p:tavLst>
                                        <p:tav tm="0">
                                          <p:val>
                                            <p:fltVal val="0"/>
                                          </p:val>
                                        </p:tav>
                                        <p:tav tm="100000">
                                          <p:val>
                                            <p:strVal val="#ppt_h"/>
                                          </p:val>
                                        </p:tav>
                                      </p:tavLst>
                                    </p:anim>
                                    <p:animEffect transition="in" filter="fade">
                                      <p:cBhvr>
                                        <p:cTn id="71" dur="500"/>
                                        <p:tgtEl>
                                          <p:spTgt spid="28"/>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nodeType="clickEffect">
                                  <p:stCondLst>
                                    <p:cond delay="0"/>
                                  </p:stCondLst>
                                  <p:childTnLst>
                                    <p:set>
                                      <p:cBhvr>
                                        <p:cTn id="75" dur="1" fill="hold">
                                          <p:stCondLst>
                                            <p:cond delay="0"/>
                                          </p:stCondLst>
                                        </p:cTn>
                                        <p:tgtEl>
                                          <p:spTgt spid="29"/>
                                        </p:tgtEl>
                                        <p:attrNameLst>
                                          <p:attrName>style.visibility</p:attrName>
                                        </p:attrNameLst>
                                      </p:cBhvr>
                                      <p:to>
                                        <p:strVal val="visible"/>
                                      </p:to>
                                    </p:set>
                                    <p:anim calcmode="lin" valueType="num">
                                      <p:cBhvr>
                                        <p:cTn id="76" dur="500" fill="hold"/>
                                        <p:tgtEl>
                                          <p:spTgt spid="29"/>
                                        </p:tgtEl>
                                        <p:attrNameLst>
                                          <p:attrName>ppt_w</p:attrName>
                                        </p:attrNameLst>
                                      </p:cBhvr>
                                      <p:tavLst>
                                        <p:tav tm="0">
                                          <p:val>
                                            <p:fltVal val="0"/>
                                          </p:val>
                                        </p:tav>
                                        <p:tav tm="100000">
                                          <p:val>
                                            <p:strVal val="#ppt_w"/>
                                          </p:val>
                                        </p:tav>
                                      </p:tavLst>
                                    </p:anim>
                                    <p:anim calcmode="lin" valueType="num">
                                      <p:cBhvr>
                                        <p:cTn id="77" dur="500" fill="hold"/>
                                        <p:tgtEl>
                                          <p:spTgt spid="29"/>
                                        </p:tgtEl>
                                        <p:attrNameLst>
                                          <p:attrName>ppt_h</p:attrName>
                                        </p:attrNameLst>
                                      </p:cBhvr>
                                      <p:tavLst>
                                        <p:tav tm="0">
                                          <p:val>
                                            <p:fltVal val="0"/>
                                          </p:val>
                                        </p:tav>
                                        <p:tav tm="100000">
                                          <p:val>
                                            <p:strVal val="#ppt_h"/>
                                          </p:val>
                                        </p:tav>
                                      </p:tavLst>
                                    </p:anim>
                                    <p:animEffect transition="in" filter="fade">
                                      <p:cBhvr>
                                        <p:cTn id="78" dur="500"/>
                                        <p:tgtEl>
                                          <p:spTgt spid="29"/>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 calcmode="lin" valueType="num">
                                      <p:cBhvr>
                                        <p:cTn id="81" dur="500" fill="hold"/>
                                        <p:tgtEl>
                                          <p:spTgt spid="31"/>
                                        </p:tgtEl>
                                        <p:attrNameLst>
                                          <p:attrName>ppt_w</p:attrName>
                                        </p:attrNameLst>
                                      </p:cBhvr>
                                      <p:tavLst>
                                        <p:tav tm="0">
                                          <p:val>
                                            <p:fltVal val="0"/>
                                          </p:val>
                                        </p:tav>
                                        <p:tav tm="100000">
                                          <p:val>
                                            <p:strVal val="#ppt_w"/>
                                          </p:val>
                                        </p:tav>
                                      </p:tavLst>
                                    </p:anim>
                                    <p:anim calcmode="lin" valueType="num">
                                      <p:cBhvr>
                                        <p:cTn id="82" dur="500" fill="hold"/>
                                        <p:tgtEl>
                                          <p:spTgt spid="31"/>
                                        </p:tgtEl>
                                        <p:attrNameLst>
                                          <p:attrName>ppt_h</p:attrName>
                                        </p:attrNameLst>
                                      </p:cBhvr>
                                      <p:tavLst>
                                        <p:tav tm="0">
                                          <p:val>
                                            <p:fltVal val="0"/>
                                          </p:val>
                                        </p:tav>
                                        <p:tav tm="100000">
                                          <p:val>
                                            <p:strVal val="#ppt_h"/>
                                          </p:val>
                                        </p:tav>
                                      </p:tavLst>
                                    </p:anim>
                                    <p:animEffect transition="in" filter="fade">
                                      <p:cBhvr>
                                        <p:cTn id="83" dur="500"/>
                                        <p:tgtEl>
                                          <p:spTgt spid="31"/>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nodeType="clickEffect">
                                  <p:stCondLst>
                                    <p:cond delay="0"/>
                                  </p:stCondLst>
                                  <p:childTnLst>
                                    <p:set>
                                      <p:cBhvr>
                                        <p:cTn id="87" dur="1" fill="hold">
                                          <p:stCondLst>
                                            <p:cond delay="0"/>
                                          </p:stCondLst>
                                        </p:cTn>
                                        <p:tgtEl>
                                          <p:spTgt spid="33"/>
                                        </p:tgtEl>
                                        <p:attrNameLst>
                                          <p:attrName>style.visibility</p:attrName>
                                        </p:attrNameLst>
                                      </p:cBhvr>
                                      <p:to>
                                        <p:strVal val="visible"/>
                                      </p:to>
                                    </p:set>
                                    <p:anim calcmode="lin" valueType="num">
                                      <p:cBhvr>
                                        <p:cTn id="88" dur="500" fill="hold"/>
                                        <p:tgtEl>
                                          <p:spTgt spid="33"/>
                                        </p:tgtEl>
                                        <p:attrNameLst>
                                          <p:attrName>ppt_w</p:attrName>
                                        </p:attrNameLst>
                                      </p:cBhvr>
                                      <p:tavLst>
                                        <p:tav tm="0">
                                          <p:val>
                                            <p:fltVal val="0"/>
                                          </p:val>
                                        </p:tav>
                                        <p:tav tm="100000">
                                          <p:val>
                                            <p:strVal val="#ppt_w"/>
                                          </p:val>
                                        </p:tav>
                                      </p:tavLst>
                                    </p:anim>
                                    <p:anim calcmode="lin" valueType="num">
                                      <p:cBhvr>
                                        <p:cTn id="89" dur="500" fill="hold"/>
                                        <p:tgtEl>
                                          <p:spTgt spid="33"/>
                                        </p:tgtEl>
                                        <p:attrNameLst>
                                          <p:attrName>ppt_h</p:attrName>
                                        </p:attrNameLst>
                                      </p:cBhvr>
                                      <p:tavLst>
                                        <p:tav tm="0">
                                          <p:val>
                                            <p:fltVal val="0"/>
                                          </p:val>
                                        </p:tav>
                                        <p:tav tm="100000">
                                          <p:val>
                                            <p:strVal val="#ppt_h"/>
                                          </p:val>
                                        </p:tav>
                                      </p:tavLst>
                                    </p:anim>
                                    <p:animEffect transition="in" filter="fade">
                                      <p:cBhvr>
                                        <p:cTn id="90" dur="500"/>
                                        <p:tgtEl>
                                          <p:spTgt spid="33"/>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42"/>
                                        </p:tgtEl>
                                        <p:attrNameLst>
                                          <p:attrName>style.visibility</p:attrName>
                                        </p:attrNameLst>
                                      </p:cBhvr>
                                      <p:to>
                                        <p:strVal val="visible"/>
                                      </p:to>
                                    </p:set>
                                    <p:anim calcmode="lin" valueType="num">
                                      <p:cBhvr>
                                        <p:cTn id="93" dur="500" fill="hold"/>
                                        <p:tgtEl>
                                          <p:spTgt spid="42"/>
                                        </p:tgtEl>
                                        <p:attrNameLst>
                                          <p:attrName>ppt_w</p:attrName>
                                        </p:attrNameLst>
                                      </p:cBhvr>
                                      <p:tavLst>
                                        <p:tav tm="0">
                                          <p:val>
                                            <p:fltVal val="0"/>
                                          </p:val>
                                        </p:tav>
                                        <p:tav tm="100000">
                                          <p:val>
                                            <p:strVal val="#ppt_w"/>
                                          </p:val>
                                        </p:tav>
                                      </p:tavLst>
                                    </p:anim>
                                    <p:anim calcmode="lin" valueType="num">
                                      <p:cBhvr>
                                        <p:cTn id="94" dur="500" fill="hold"/>
                                        <p:tgtEl>
                                          <p:spTgt spid="42"/>
                                        </p:tgtEl>
                                        <p:attrNameLst>
                                          <p:attrName>ppt_h</p:attrName>
                                        </p:attrNameLst>
                                      </p:cBhvr>
                                      <p:tavLst>
                                        <p:tav tm="0">
                                          <p:val>
                                            <p:fltVal val="0"/>
                                          </p:val>
                                        </p:tav>
                                        <p:tav tm="100000">
                                          <p:val>
                                            <p:strVal val="#ppt_h"/>
                                          </p:val>
                                        </p:tav>
                                      </p:tavLst>
                                    </p:anim>
                                    <p:animEffect transition="in" filter="fade">
                                      <p:cBhvr>
                                        <p:cTn id="95" dur="500"/>
                                        <p:tgtEl>
                                          <p:spTgt spid="42"/>
                                        </p:tgtEl>
                                      </p:cBhvr>
                                    </p:animEffect>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nodeType="clickEffect">
                                  <p:stCondLst>
                                    <p:cond delay="0"/>
                                  </p:stCondLst>
                                  <p:childTnLst>
                                    <p:set>
                                      <p:cBhvr>
                                        <p:cTn id="99" dur="1" fill="hold">
                                          <p:stCondLst>
                                            <p:cond delay="0"/>
                                          </p:stCondLst>
                                        </p:cTn>
                                        <p:tgtEl>
                                          <p:spTgt spid="32"/>
                                        </p:tgtEl>
                                        <p:attrNameLst>
                                          <p:attrName>style.visibility</p:attrName>
                                        </p:attrNameLst>
                                      </p:cBhvr>
                                      <p:to>
                                        <p:strVal val="visible"/>
                                      </p:to>
                                    </p:set>
                                    <p:anim calcmode="lin" valueType="num">
                                      <p:cBhvr>
                                        <p:cTn id="100" dur="500" fill="hold"/>
                                        <p:tgtEl>
                                          <p:spTgt spid="32"/>
                                        </p:tgtEl>
                                        <p:attrNameLst>
                                          <p:attrName>ppt_w</p:attrName>
                                        </p:attrNameLst>
                                      </p:cBhvr>
                                      <p:tavLst>
                                        <p:tav tm="0">
                                          <p:val>
                                            <p:fltVal val="0"/>
                                          </p:val>
                                        </p:tav>
                                        <p:tav tm="100000">
                                          <p:val>
                                            <p:strVal val="#ppt_w"/>
                                          </p:val>
                                        </p:tav>
                                      </p:tavLst>
                                    </p:anim>
                                    <p:anim calcmode="lin" valueType="num">
                                      <p:cBhvr>
                                        <p:cTn id="101" dur="500" fill="hold"/>
                                        <p:tgtEl>
                                          <p:spTgt spid="32"/>
                                        </p:tgtEl>
                                        <p:attrNameLst>
                                          <p:attrName>ppt_h</p:attrName>
                                        </p:attrNameLst>
                                      </p:cBhvr>
                                      <p:tavLst>
                                        <p:tav tm="0">
                                          <p:val>
                                            <p:fltVal val="0"/>
                                          </p:val>
                                        </p:tav>
                                        <p:tav tm="100000">
                                          <p:val>
                                            <p:strVal val="#ppt_h"/>
                                          </p:val>
                                        </p:tav>
                                      </p:tavLst>
                                    </p:anim>
                                    <p:animEffect transition="in" filter="fade">
                                      <p:cBhvr>
                                        <p:cTn id="102" dur="500"/>
                                        <p:tgtEl>
                                          <p:spTgt spid="32"/>
                                        </p:tgtEl>
                                      </p:cBhvr>
                                    </p:animEffect>
                                  </p:childTnLst>
                                </p:cTn>
                              </p:par>
                              <p:par>
                                <p:cTn id="103" presetID="53" presetClass="entr" presetSubtype="16" fill="hold" grpId="0" nodeType="withEffect">
                                  <p:stCondLst>
                                    <p:cond delay="0"/>
                                  </p:stCondLst>
                                  <p:childTnLst>
                                    <p:set>
                                      <p:cBhvr>
                                        <p:cTn id="104" dur="1" fill="hold">
                                          <p:stCondLst>
                                            <p:cond delay="0"/>
                                          </p:stCondLst>
                                        </p:cTn>
                                        <p:tgtEl>
                                          <p:spTgt spid="35"/>
                                        </p:tgtEl>
                                        <p:attrNameLst>
                                          <p:attrName>style.visibility</p:attrName>
                                        </p:attrNameLst>
                                      </p:cBhvr>
                                      <p:to>
                                        <p:strVal val="visible"/>
                                      </p:to>
                                    </p:set>
                                    <p:anim calcmode="lin" valueType="num">
                                      <p:cBhvr>
                                        <p:cTn id="105" dur="500" fill="hold"/>
                                        <p:tgtEl>
                                          <p:spTgt spid="35"/>
                                        </p:tgtEl>
                                        <p:attrNameLst>
                                          <p:attrName>ppt_w</p:attrName>
                                        </p:attrNameLst>
                                      </p:cBhvr>
                                      <p:tavLst>
                                        <p:tav tm="0">
                                          <p:val>
                                            <p:fltVal val="0"/>
                                          </p:val>
                                        </p:tav>
                                        <p:tav tm="100000">
                                          <p:val>
                                            <p:strVal val="#ppt_w"/>
                                          </p:val>
                                        </p:tav>
                                      </p:tavLst>
                                    </p:anim>
                                    <p:anim calcmode="lin" valueType="num">
                                      <p:cBhvr>
                                        <p:cTn id="106" dur="500" fill="hold"/>
                                        <p:tgtEl>
                                          <p:spTgt spid="35"/>
                                        </p:tgtEl>
                                        <p:attrNameLst>
                                          <p:attrName>ppt_h</p:attrName>
                                        </p:attrNameLst>
                                      </p:cBhvr>
                                      <p:tavLst>
                                        <p:tav tm="0">
                                          <p:val>
                                            <p:fltVal val="0"/>
                                          </p:val>
                                        </p:tav>
                                        <p:tav tm="100000">
                                          <p:val>
                                            <p:strVal val="#ppt_h"/>
                                          </p:val>
                                        </p:tav>
                                      </p:tavLst>
                                    </p:anim>
                                    <p:animEffect transition="in" filter="fade">
                                      <p:cBhvr>
                                        <p:cTn id="107" dur="500"/>
                                        <p:tgtEl>
                                          <p:spTgt spid="35"/>
                                        </p:tgtEl>
                                      </p:cBhvr>
                                    </p:animEffec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nodeType="clickEffect">
                                  <p:stCondLst>
                                    <p:cond delay="0"/>
                                  </p:stCondLst>
                                  <p:childTnLst>
                                    <p:set>
                                      <p:cBhvr>
                                        <p:cTn id="111" dur="1" fill="hold">
                                          <p:stCondLst>
                                            <p:cond delay="0"/>
                                          </p:stCondLst>
                                        </p:cTn>
                                        <p:tgtEl>
                                          <p:spTgt spid="38"/>
                                        </p:tgtEl>
                                        <p:attrNameLst>
                                          <p:attrName>style.visibility</p:attrName>
                                        </p:attrNameLst>
                                      </p:cBhvr>
                                      <p:to>
                                        <p:strVal val="visible"/>
                                      </p:to>
                                    </p:set>
                                    <p:anim calcmode="lin" valueType="num">
                                      <p:cBhvr>
                                        <p:cTn id="112" dur="500" fill="hold"/>
                                        <p:tgtEl>
                                          <p:spTgt spid="38"/>
                                        </p:tgtEl>
                                        <p:attrNameLst>
                                          <p:attrName>ppt_w</p:attrName>
                                        </p:attrNameLst>
                                      </p:cBhvr>
                                      <p:tavLst>
                                        <p:tav tm="0">
                                          <p:val>
                                            <p:fltVal val="0"/>
                                          </p:val>
                                        </p:tav>
                                        <p:tav tm="100000">
                                          <p:val>
                                            <p:strVal val="#ppt_w"/>
                                          </p:val>
                                        </p:tav>
                                      </p:tavLst>
                                    </p:anim>
                                    <p:anim calcmode="lin" valueType="num">
                                      <p:cBhvr>
                                        <p:cTn id="113" dur="500" fill="hold"/>
                                        <p:tgtEl>
                                          <p:spTgt spid="38"/>
                                        </p:tgtEl>
                                        <p:attrNameLst>
                                          <p:attrName>ppt_h</p:attrName>
                                        </p:attrNameLst>
                                      </p:cBhvr>
                                      <p:tavLst>
                                        <p:tav tm="0">
                                          <p:val>
                                            <p:fltVal val="0"/>
                                          </p:val>
                                        </p:tav>
                                        <p:tav tm="100000">
                                          <p:val>
                                            <p:strVal val="#ppt_h"/>
                                          </p:val>
                                        </p:tav>
                                      </p:tavLst>
                                    </p:anim>
                                    <p:animEffect transition="in" filter="fade">
                                      <p:cBhvr>
                                        <p:cTn id="114" dur="500"/>
                                        <p:tgtEl>
                                          <p:spTgt spid="38"/>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36"/>
                                        </p:tgtEl>
                                        <p:attrNameLst>
                                          <p:attrName>style.visibility</p:attrName>
                                        </p:attrNameLst>
                                      </p:cBhvr>
                                      <p:to>
                                        <p:strVal val="visible"/>
                                      </p:to>
                                    </p:set>
                                    <p:anim calcmode="lin" valueType="num">
                                      <p:cBhvr>
                                        <p:cTn id="117" dur="500" fill="hold"/>
                                        <p:tgtEl>
                                          <p:spTgt spid="36"/>
                                        </p:tgtEl>
                                        <p:attrNameLst>
                                          <p:attrName>ppt_w</p:attrName>
                                        </p:attrNameLst>
                                      </p:cBhvr>
                                      <p:tavLst>
                                        <p:tav tm="0">
                                          <p:val>
                                            <p:fltVal val="0"/>
                                          </p:val>
                                        </p:tav>
                                        <p:tav tm="100000">
                                          <p:val>
                                            <p:strVal val="#ppt_w"/>
                                          </p:val>
                                        </p:tav>
                                      </p:tavLst>
                                    </p:anim>
                                    <p:anim calcmode="lin" valueType="num">
                                      <p:cBhvr>
                                        <p:cTn id="118" dur="500" fill="hold"/>
                                        <p:tgtEl>
                                          <p:spTgt spid="36"/>
                                        </p:tgtEl>
                                        <p:attrNameLst>
                                          <p:attrName>ppt_h</p:attrName>
                                        </p:attrNameLst>
                                      </p:cBhvr>
                                      <p:tavLst>
                                        <p:tav tm="0">
                                          <p:val>
                                            <p:fltVal val="0"/>
                                          </p:val>
                                        </p:tav>
                                        <p:tav tm="100000">
                                          <p:val>
                                            <p:strVal val="#ppt_h"/>
                                          </p:val>
                                        </p:tav>
                                      </p:tavLst>
                                    </p:anim>
                                    <p:animEffect transition="in" filter="fade">
                                      <p:cBhvr>
                                        <p:cTn id="119" dur="500"/>
                                        <p:tgtEl>
                                          <p:spTgt spid="36"/>
                                        </p:tgtEl>
                                      </p:cBhvr>
                                    </p:animEffect>
                                  </p:childTnLst>
                                </p:cTn>
                              </p:par>
                            </p:childTnLst>
                          </p:cTn>
                        </p:par>
                      </p:childTnLst>
                    </p:cTn>
                  </p:par>
                  <p:par>
                    <p:cTn id="120" fill="hold">
                      <p:stCondLst>
                        <p:cond delay="indefinite"/>
                      </p:stCondLst>
                      <p:childTnLst>
                        <p:par>
                          <p:cTn id="121" fill="hold">
                            <p:stCondLst>
                              <p:cond delay="0"/>
                            </p:stCondLst>
                            <p:childTnLst>
                              <p:par>
                                <p:cTn id="122" presetID="53" presetClass="entr" presetSubtype="16" fill="hold" nodeType="clickEffect">
                                  <p:stCondLst>
                                    <p:cond delay="0"/>
                                  </p:stCondLst>
                                  <p:childTnLst>
                                    <p:set>
                                      <p:cBhvr>
                                        <p:cTn id="123" dur="1" fill="hold">
                                          <p:stCondLst>
                                            <p:cond delay="0"/>
                                          </p:stCondLst>
                                        </p:cTn>
                                        <p:tgtEl>
                                          <p:spTgt spid="39"/>
                                        </p:tgtEl>
                                        <p:attrNameLst>
                                          <p:attrName>style.visibility</p:attrName>
                                        </p:attrNameLst>
                                      </p:cBhvr>
                                      <p:to>
                                        <p:strVal val="visible"/>
                                      </p:to>
                                    </p:set>
                                    <p:anim calcmode="lin" valueType="num">
                                      <p:cBhvr>
                                        <p:cTn id="124" dur="500" fill="hold"/>
                                        <p:tgtEl>
                                          <p:spTgt spid="39"/>
                                        </p:tgtEl>
                                        <p:attrNameLst>
                                          <p:attrName>ppt_w</p:attrName>
                                        </p:attrNameLst>
                                      </p:cBhvr>
                                      <p:tavLst>
                                        <p:tav tm="0">
                                          <p:val>
                                            <p:fltVal val="0"/>
                                          </p:val>
                                        </p:tav>
                                        <p:tav tm="100000">
                                          <p:val>
                                            <p:strVal val="#ppt_w"/>
                                          </p:val>
                                        </p:tav>
                                      </p:tavLst>
                                    </p:anim>
                                    <p:anim calcmode="lin" valueType="num">
                                      <p:cBhvr>
                                        <p:cTn id="125" dur="500" fill="hold"/>
                                        <p:tgtEl>
                                          <p:spTgt spid="39"/>
                                        </p:tgtEl>
                                        <p:attrNameLst>
                                          <p:attrName>ppt_h</p:attrName>
                                        </p:attrNameLst>
                                      </p:cBhvr>
                                      <p:tavLst>
                                        <p:tav tm="0">
                                          <p:val>
                                            <p:fltVal val="0"/>
                                          </p:val>
                                        </p:tav>
                                        <p:tav tm="100000">
                                          <p:val>
                                            <p:strVal val="#ppt_h"/>
                                          </p:val>
                                        </p:tav>
                                      </p:tavLst>
                                    </p:anim>
                                    <p:animEffect transition="in" filter="fade">
                                      <p:cBhvr>
                                        <p:cTn id="126" dur="500"/>
                                        <p:tgtEl>
                                          <p:spTgt spid="39"/>
                                        </p:tgtEl>
                                      </p:cBhvr>
                                    </p:animEffect>
                                  </p:childTnLst>
                                </p:cTn>
                              </p:par>
                              <p:par>
                                <p:cTn id="127" presetID="53" presetClass="entr" presetSubtype="16" fill="hold" grpId="0" nodeType="withEffect">
                                  <p:stCondLst>
                                    <p:cond delay="0"/>
                                  </p:stCondLst>
                                  <p:childTnLst>
                                    <p:set>
                                      <p:cBhvr>
                                        <p:cTn id="128" dur="1" fill="hold">
                                          <p:stCondLst>
                                            <p:cond delay="0"/>
                                          </p:stCondLst>
                                        </p:cTn>
                                        <p:tgtEl>
                                          <p:spTgt spid="37"/>
                                        </p:tgtEl>
                                        <p:attrNameLst>
                                          <p:attrName>style.visibility</p:attrName>
                                        </p:attrNameLst>
                                      </p:cBhvr>
                                      <p:to>
                                        <p:strVal val="visible"/>
                                      </p:to>
                                    </p:set>
                                    <p:anim calcmode="lin" valueType="num">
                                      <p:cBhvr>
                                        <p:cTn id="129" dur="500" fill="hold"/>
                                        <p:tgtEl>
                                          <p:spTgt spid="37"/>
                                        </p:tgtEl>
                                        <p:attrNameLst>
                                          <p:attrName>ppt_w</p:attrName>
                                        </p:attrNameLst>
                                      </p:cBhvr>
                                      <p:tavLst>
                                        <p:tav tm="0">
                                          <p:val>
                                            <p:fltVal val="0"/>
                                          </p:val>
                                        </p:tav>
                                        <p:tav tm="100000">
                                          <p:val>
                                            <p:strVal val="#ppt_w"/>
                                          </p:val>
                                        </p:tav>
                                      </p:tavLst>
                                    </p:anim>
                                    <p:anim calcmode="lin" valueType="num">
                                      <p:cBhvr>
                                        <p:cTn id="130" dur="500" fill="hold"/>
                                        <p:tgtEl>
                                          <p:spTgt spid="37"/>
                                        </p:tgtEl>
                                        <p:attrNameLst>
                                          <p:attrName>ppt_h</p:attrName>
                                        </p:attrNameLst>
                                      </p:cBhvr>
                                      <p:tavLst>
                                        <p:tav tm="0">
                                          <p:val>
                                            <p:fltVal val="0"/>
                                          </p:val>
                                        </p:tav>
                                        <p:tav tm="100000">
                                          <p:val>
                                            <p:strVal val="#ppt_h"/>
                                          </p:val>
                                        </p:tav>
                                      </p:tavLst>
                                    </p:anim>
                                    <p:animEffect transition="in" filter="fade">
                                      <p:cBhvr>
                                        <p:cTn id="13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P spid="10" grpId="0"/>
      <p:bldP spid="18" grpId="0" animBg="1"/>
      <p:bldP spid="19" grpId="0" animBg="1"/>
      <p:bldP spid="24" grpId="0" animBg="1"/>
      <p:bldP spid="28" grpId="0" animBg="1"/>
      <p:bldP spid="31" grpId="0" animBg="1"/>
      <p:bldP spid="35" grpId="0" animBg="1"/>
      <p:bldP spid="36" grpId="0" animBg="1"/>
      <p:bldP spid="37" grpId="0" animBg="1"/>
      <p:bldP spid="4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矩形 6"/>
              <p:cNvSpPr/>
              <p:nvPr/>
            </p:nvSpPr>
            <p:spPr>
              <a:xfrm>
                <a:off x="3492658" y="3097182"/>
                <a:ext cx="584749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r>
                        <a:rPr lang="en-US" altLang="zh-CN" b="0" i="0"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𝑚</m:t>
                      </m:r>
                      <m:r>
                        <a:rPr lang="en-US" altLang="zh-CN" b="0" i="0" smtClean="0">
                          <a:latin typeface="Cambria Math" panose="02040503050406030204" pitchFamily="18" charset="0"/>
                          <a:ea typeface="Microsoft YaHei" charset="0"/>
                        </a:rPr>
                        <m:t>=1,2,</m:t>
                      </m:r>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𝑀</m:t>
                      </m:r>
                    </m:oMath>
                  </m:oMathPara>
                </a14:m>
                <a:endParaRPr lang="zh-CN" altLang="en-US" dirty="0">
                  <a:ea typeface="Microsoft YaHei"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3492658" y="3097182"/>
                <a:ext cx="5847498" cy="461665"/>
              </a:xfrm>
              <a:prstGeom prst="rect">
                <a:avLst/>
              </a:prstGeom>
              <a:blipFill>
                <a:blip r:embed="rId2"/>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4523250" y="4089175"/>
                <a:ext cx="4544449" cy="778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acc>
                            <m:accPr>
                              <m:chr m:val="̂"/>
                              <m:ctrlPr>
                                <a:rPr lang="en-US" altLang="zh-CN" i="1" smtClean="0">
                                  <a:latin typeface="Cambria Math" panose="02040503050406030204" pitchFamily="18" charset="0"/>
                                  <a:ea typeface="Microsoft YaHei" charset="0"/>
                                </a:rPr>
                              </m:ctrlPr>
                            </m:accPr>
                            <m:e>
                              <m:r>
                                <a:rPr lang="zh-CN" altLang="en-US" i="1" smtClean="0">
                                  <a:latin typeface="Cambria Math" panose="02040503050406030204" pitchFamily="18" charset="0"/>
                                  <a:ea typeface="Microsoft YaHei" charset="0"/>
                                </a:rPr>
                                <m:t>𝜃</m:t>
                              </m:r>
                            </m:e>
                          </m:acc>
                        </m:e>
                        <m:sub>
                          <m:r>
                            <a:rPr lang="en-US" altLang="zh-CN" b="0" i="1" smtClean="0">
                              <a:latin typeface="Cambria Math" panose="02040503050406030204" pitchFamily="18" charset="0"/>
                              <a:ea typeface="Microsoft YaHei" charset="0"/>
                            </a:rPr>
                            <m:t>𝑚</m:t>
                          </m:r>
                        </m:sub>
                      </m:sSub>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𝑎𝑟𝑔</m:t>
                      </m:r>
                      <m:func>
                        <m:funcPr>
                          <m:ctrlPr>
                            <a:rPr lang="en-US" altLang="zh-CN" b="0" i="1" smtClean="0">
                              <a:latin typeface="Cambria Math" panose="02040503050406030204" pitchFamily="18" charset="0"/>
                              <a:ea typeface="Microsoft YaHei" charset="0"/>
                            </a:rPr>
                          </m:ctrlPr>
                        </m:funcPr>
                        <m:fName>
                          <m:limLow>
                            <m:limLowPr>
                              <m:ctrlPr>
                                <a:rPr lang="en-US" altLang="zh-CN" b="0" i="1" smtClean="0">
                                  <a:latin typeface="Cambria Math" panose="02040503050406030204" pitchFamily="18" charset="0"/>
                                  <a:ea typeface="Microsoft YaHei" charset="0"/>
                                </a:rPr>
                              </m:ctrlPr>
                            </m:limLowPr>
                            <m:e>
                              <m:r>
                                <m:rPr>
                                  <m:sty m:val="p"/>
                                </m:rPr>
                                <a:rPr lang="en-US" altLang="zh-CN" b="0" i="0" smtClean="0">
                                  <a:latin typeface="Cambria Math" panose="02040503050406030204" pitchFamily="18" charset="0"/>
                                  <a:ea typeface="Microsoft YaHei" charset="0"/>
                                </a:rPr>
                                <m:t>min</m:t>
                              </m:r>
                            </m:e>
                            <m:lim>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lim>
                          </m:limLow>
                        </m:fName>
                        <m:e>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𝑁</m:t>
                              </m:r>
                            </m:sup>
                            <m:e>
                              <m:r>
                                <a:rPr lang="en-US" altLang="zh-CN" b="0" i="1" smtClean="0">
                                  <a:latin typeface="Cambria Math" panose="02040503050406030204" pitchFamily="18" charset="0"/>
                                  <a:ea typeface="Microsoft YaHei" charset="0"/>
                                </a:rPr>
                                <m:t>𝐿</m:t>
                              </m:r>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e>
                                  </m:d>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r>
                                    <a:rPr lang="en-US" altLang="zh-CN" i="1">
                                      <a:latin typeface="Cambria Math" panose="02040503050406030204" pitchFamily="18" charset="0"/>
                                      <a:ea typeface="Microsoft YaHei" charset="0"/>
                                    </a:rPr>
                                    <m:t>)</m:t>
                                  </m:r>
                                  <m:r>
                                    <m:rPr>
                                      <m:nor/>
                                    </m:rPr>
                                    <a:rPr lang="zh-CN" altLang="en-US" dirty="0">
                                      <a:ea typeface="Microsoft YaHei" charset="0"/>
                                    </a:rPr>
                                    <m:t> </m:t>
                                  </m:r>
                                </m:e>
                              </m:d>
                            </m:e>
                          </m:nary>
                        </m:e>
                      </m:func>
                    </m:oMath>
                  </m:oMathPara>
                </a14:m>
                <a:endParaRPr lang="zh-CN" altLang="en-US" dirty="0">
                  <a:ea typeface="Microsoft YaHei"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523250" y="4089175"/>
                <a:ext cx="4544449" cy="778931"/>
              </a:xfrm>
              <a:prstGeom prst="rect">
                <a:avLst/>
              </a:prstGeom>
              <a:blipFill>
                <a:blip r:embed="rId3"/>
                <a:stretch>
                  <a:fillRect r="-30336" b="-320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3676739" y="2153856"/>
                <a:ext cx="10024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0</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=0</m:t>
                      </m:r>
                    </m:oMath>
                  </m:oMathPara>
                </a14:m>
                <a:endParaRPr lang="zh-CN" altLang="en-US" dirty="0">
                  <a:ea typeface="Microsoft YaHei"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3676739" y="2153856"/>
                <a:ext cx="1002454" cy="276999"/>
              </a:xfrm>
              <a:prstGeom prst="rect">
                <a:avLst/>
              </a:prstGeom>
              <a:blipFill>
                <a:blip r:embed="rId4"/>
                <a:stretch>
                  <a:fillRect l="-13939" r="-35758" b="-82609"/>
                </a:stretch>
              </a:blipFill>
            </p:spPr>
            <p:txBody>
              <a:bodyPr/>
              <a:lstStyle/>
              <a:p>
                <a:r>
                  <a:rPr lang="zh-CN" altLang="en-US">
                    <a:noFill/>
                  </a:rPr>
                  <a:t> </a:t>
                </a:r>
              </a:p>
            </p:txBody>
          </p:sp>
        </mc:Fallback>
      </mc:AlternateContent>
      <p:sp>
        <p:nvSpPr>
          <p:cNvPr id="6" name="文本框 5"/>
          <p:cNvSpPr txBox="1"/>
          <p:nvPr/>
        </p:nvSpPr>
        <p:spPr>
          <a:xfrm>
            <a:off x="723931" y="1390177"/>
            <a:ext cx="3365078" cy="461665"/>
          </a:xfrm>
          <a:prstGeom prst="rect">
            <a:avLst/>
          </a:prstGeom>
          <a:noFill/>
        </p:spPr>
        <p:txBody>
          <a:bodyPr wrap="square" rtlCol="0">
            <a:spAutoFit/>
          </a:bodyPr>
          <a:lstStyle/>
          <a:p>
            <a:r>
              <a:rPr lang="zh-CN" altLang="en-US" b="1" dirty="0">
                <a:ea typeface="Microsoft YaHei" charset="0"/>
              </a:rPr>
              <a:t>前向分步算法：</a:t>
            </a:r>
          </a:p>
        </p:txBody>
      </p:sp>
      <mc:AlternateContent xmlns:mc="http://schemas.openxmlformats.org/markup-compatibility/2006" xmlns:a14="http://schemas.microsoft.com/office/drawing/2010/main">
        <mc:Choice Requires="a14">
          <p:sp>
            <p:nvSpPr>
              <p:cNvPr id="11" name="文本框 10"/>
              <p:cNvSpPr txBox="1"/>
              <p:nvPr/>
            </p:nvSpPr>
            <p:spPr>
              <a:xfrm>
                <a:off x="868363" y="4089238"/>
                <a:ext cx="2197012" cy="778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𝑀</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𝑚</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𝑀</m:t>
                          </m:r>
                        </m:sup>
                        <m:e>
                          <m:r>
                            <a:rPr lang="en-US" altLang="zh-CN" b="0" i="1" smtClean="0">
                              <a:latin typeface="Cambria Math" panose="02040503050406030204" pitchFamily="18" charset="0"/>
                              <a:ea typeface="Microsoft YaHei" charset="0"/>
                            </a:rPr>
                            <m:t>𝑇</m:t>
                          </m:r>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zh-CN" altLang="en-US" b="0" i="1" smtClean="0">
                                  <a:latin typeface="Cambria Math" panose="02040503050406030204" pitchFamily="18" charset="0"/>
                                  <a:ea typeface="Microsoft YaHei" charset="0"/>
                                </a:rPr>
                                <m:t>𝜃</m:t>
                              </m:r>
                            </m:e>
                            <m:sub>
                              <m:r>
                                <a:rPr lang="en-US" altLang="zh-CN" b="0" i="1" smtClean="0">
                                  <a:latin typeface="Cambria Math" panose="02040503050406030204" pitchFamily="18" charset="0"/>
                                  <a:ea typeface="Microsoft YaHei" charset="0"/>
                                </a:rPr>
                                <m:t>𝑚</m:t>
                              </m:r>
                            </m:sub>
                          </m:sSub>
                          <m:r>
                            <a:rPr lang="en-US" altLang="zh-CN" b="0" i="1" smtClean="0">
                              <a:latin typeface="Cambria Math" panose="02040503050406030204" pitchFamily="18" charset="0"/>
                              <a:ea typeface="Microsoft YaHei" charset="0"/>
                            </a:rPr>
                            <m:t>)</m:t>
                          </m:r>
                        </m:e>
                      </m:nary>
                    </m:oMath>
                  </m:oMathPara>
                </a14:m>
                <a:endParaRPr lang="zh-CN" altLang="en-US" dirty="0">
                  <a:ea typeface="Microsoft YaHei"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868363" y="4089238"/>
                <a:ext cx="2197012" cy="778868"/>
              </a:xfrm>
              <a:prstGeom prst="rect">
                <a:avLst/>
              </a:prstGeom>
              <a:blipFill>
                <a:blip r:embed="rId5"/>
                <a:stretch>
                  <a:fillRect r="-27701" b="-32031"/>
                </a:stretch>
              </a:blipFill>
            </p:spPr>
            <p:txBody>
              <a:bodyPr/>
              <a:lstStyle/>
              <a:p>
                <a:r>
                  <a:rPr lang="zh-CN" altLang="en-US">
                    <a:noFill/>
                  </a:rPr>
                  <a:t> </a:t>
                </a:r>
              </a:p>
            </p:txBody>
          </p:sp>
        </mc:Fallback>
      </mc:AlternateContent>
      <p:sp>
        <p:nvSpPr>
          <p:cNvPr id="19" name="右箭头 18"/>
          <p:cNvSpPr/>
          <p:nvPr/>
        </p:nvSpPr>
        <p:spPr>
          <a:xfrm>
            <a:off x="3905632" y="4502678"/>
            <a:ext cx="441538" cy="258590"/>
          </a:xfrm>
          <a:prstGeom prst="rightArrow">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28"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 name="文本框 1">
            <a:extLst>
              <a:ext uri="{FF2B5EF4-FFF2-40B4-BE49-F238E27FC236}">
                <a16:creationId xmlns:a16="http://schemas.microsoft.com/office/drawing/2014/main" id="{3D11B369-13C6-44ED-ACCD-99434D735CD0}"/>
              </a:ext>
            </a:extLst>
          </p:cNvPr>
          <p:cNvSpPr txBox="1"/>
          <p:nvPr/>
        </p:nvSpPr>
        <p:spPr>
          <a:xfrm>
            <a:off x="5460112" y="2020775"/>
            <a:ext cx="2283656" cy="369332"/>
          </a:xfrm>
          <a:prstGeom prst="rect">
            <a:avLst/>
          </a:prstGeom>
          <a:noFill/>
        </p:spPr>
        <p:txBody>
          <a:bodyPr wrap="square" rtlCol="0">
            <a:spAutoFit/>
          </a:bodyPr>
          <a:lstStyle/>
          <a:p>
            <a:r>
              <a:rPr lang="zh-CN" altLang="en-US" sz="1800" dirty="0">
                <a:solidFill>
                  <a:srgbClr val="FF0000"/>
                </a:solidFill>
              </a:rPr>
              <a:t>初始化提升树</a:t>
            </a:r>
          </a:p>
        </p:txBody>
      </p:sp>
      <p:cxnSp>
        <p:nvCxnSpPr>
          <p:cNvPr id="5" name="直接箭头连接符 4">
            <a:extLst>
              <a:ext uri="{FF2B5EF4-FFF2-40B4-BE49-F238E27FC236}">
                <a16:creationId xmlns:a16="http://schemas.microsoft.com/office/drawing/2014/main" id="{C570F90F-8F29-49AF-95E4-934B896DCC02}"/>
              </a:ext>
            </a:extLst>
          </p:cNvPr>
          <p:cNvCxnSpPr>
            <a:stCxn id="2" idx="1"/>
          </p:cNvCxnSpPr>
          <p:nvPr/>
        </p:nvCxnSpPr>
        <p:spPr>
          <a:xfrm flipH="1">
            <a:off x="5102778" y="2205441"/>
            <a:ext cx="357334" cy="8691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A1FBF31-B626-468D-85A3-FE5B5E922038}"/>
                  </a:ext>
                </a:extLst>
              </p:cNvPr>
              <p:cNvSpPr txBox="1"/>
              <p:nvPr/>
            </p:nvSpPr>
            <p:spPr>
              <a:xfrm>
                <a:off x="7441313" y="2716393"/>
                <a:ext cx="2283656" cy="369332"/>
              </a:xfrm>
              <a:prstGeom prst="rect">
                <a:avLst/>
              </a:prstGeom>
              <a:noFill/>
            </p:spPr>
            <p:txBody>
              <a:bodyPr wrap="square" rtlCol="0">
                <a:spAutoFit/>
              </a:bodyPr>
              <a:lstStyle/>
              <a:p>
                <a:r>
                  <a:rPr lang="zh-CN" altLang="en-US" sz="1800" dirty="0">
                    <a:solidFill>
                      <a:srgbClr val="FF0000"/>
                    </a:solidFill>
                  </a:rPr>
                  <a:t>第</a:t>
                </a:r>
                <a14:m>
                  <m:oMath xmlns:m="http://schemas.openxmlformats.org/officeDocument/2006/math">
                    <m:r>
                      <a:rPr lang="en-US" altLang="zh-CN" sz="1800" b="0" i="1" smtClean="0">
                        <a:solidFill>
                          <a:srgbClr val="FF0000"/>
                        </a:solidFill>
                        <a:latin typeface="Cambria Math" panose="02040503050406030204" pitchFamily="18" charset="0"/>
                        <a:ea typeface="Microsoft YaHei" charset="0"/>
                      </a:rPr>
                      <m:t>𝑚</m:t>
                    </m:r>
                  </m:oMath>
                </a14:m>
                <a:r>
                  <a:rPr lang="zh-CN" altLang="en-US" sz="1800" dirty="0">
                    <a:solidFill>
                      <a:srgbClr val="FF0000"/>
                    </a:solidFill>
                  </a:rPr>
                  <a:t>棵决策树</a:t>
                </a:r>
              </a:p>
            </p:txBody>
          </p:sp>
        </mc:Choice>
        <mc:Fallback xmlns="">
          <p:sp>
            <p:nvSpPr>
              <p:cNvPr id="20" name="文本框 19">
                <a:extLst>
                  <a:ext uri="{FF2B5EF4-FFF2-40B4-BE49-F238E27FC236}">
                    <a16:creationId xmlns:a16="http://schemas.microsoft.com/office/drawing/2014/main" id="{3A1FBF31-B626-468D-85A3-FE5B5E922038}"/>
                  </a:ext>
                </a:extLst>
              </p:cNvPr>
              <p:cNvSpPr txBox="1">
                <a:spLocks noRot="1" noChangeAspect="1" noMove="1" noResize="1" noEditPoints="1" noAdjustHandles="1" noChangeArrowheads="1" noChangeShapeType="1" noTextEdit="1"/>
              </p:cNvSpPr>
              <p:nvPr/>
            </p:nvSpPr>
            <p:spPr>
              <a:xfrm>
                <a:off x="7441313" y="2716393"/>
                <a:ext cx="2283656" cy="369332"/>
              </a:xfrm>
              <a:prstGeom prst="rect">
                <a:avLst/>
              </a:prstGeom>
              <a:blipFill>
                <a:blip r:embed="rId6"/>
                <a:stretch>
                  <a:fillRect l="-2406" t="-10000" b="-26667"/>
                </a:stretch>
              </a:blipFill>
            </p:spPr>
            <p:txBody>
              <a:bodyPr/>
              <a:lstStyle/>
              <a:p>
                <a:r>
                  <a:rPr lang="zh-CN" altLang="en-US">
                    <a:noFill/>
                  </a:rPr>
                  <a:t> </a:t>
                </a:r>
              </a:p>
            </p:txBody>
          </p:sp>
        </mc:Fallback>
      </mc:AlternateContent>
      <p:cxnSp>
        <p:nvCxnSpPr>
          <p:cNvPr id="21" name="直接箭头连接符 20">
            <a:extLst>
              <a:ext uri="{FF2B5EF4-FFF2-40B4-BE49-F238E27FC236}">
                <a16:creationId xmlns:a16="http://schemas.microsoft.com/office/drawing/2014/main" id="{4E322451-BCAD-4111-97E3-6F9D49397168}"/>
              </a:ext>
            </a:extLst>
          </p:cNvPr>
          <p:cNvCxnSpPr>
            <a:cxnSpLocks/>
          </p:cNvCxnSpPr>
          <p:nvPr/>
        </p:nvCxnSpPr>
        <p:spPr>
          <a:xfrm flipH="1">
            <a:off x="7221417" y="3015175"/>
            <a:ext cx="278511" cy="1465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4AE2987-DFCE-4B4D-8CAF-F869487C67DD}"/>
                  </a:ext>
                </a:extLst>
              </p:cNvPr>
              <p:cNvSpPr txBox="1"/>
              <p:nvPr/>
            </p:nvSpPr>
            <p:spPr>
              <a:xfrm>
                <a:off x="1139483" y="2640421"/>
                <a:ext cx="1556826" cy="923330"/>
              </a:xfrm>
              <a:prstGeom prst="rect">
                <a:avLst/>
              </a:prstGeom>
              <a:noFill/>
            </p:spPr>
            <p:txBody>
              <a:bodyPr wrap="square" rtlCol="0">
                <a:spAutoFit/>
              </a:bodyPr>
              <a:lstStyle/>
              <a:p>
                <a:r>
                  <a:rPr lang="zh-CN" altLang="en-US" sz="1800" dirty="0">
                    <a:solidFill>
                      <a:srgbClr val="FF0000"/>
                    </a:solidFill>
                  </a:rPr>
                  <a:t>迭代</a:t>
                </a:r>
                <a14:m>
                  <m:oMath xmlns:m="http://schemas.openxmlformats.org/officeDocument/2006/math">
                    <m:r>
                      <a:rPr lang="en-US" altLang="zh-CN" sz="1800" i="1">
                        <a:solidFill>
                          <a:srgbClr val="FF0000"/>
                        </a:solidFill>
                        <a:latin typeface="Cambria Math" panose="02040503050406030204" pitchFamily="18" charset="0"/>
                        <a:ea typeface="Microsoft YaHei" charset="0"/>
                      </a:rPr>
                      <m:t>𝑚</m:t>
                    </m:r>
                  </m:oMath>
                </a14:m>
                <a:r>
                  <a:rPr lang="zh-CN" altLang="en-US" sz="1800" dirty="0">
                    <a:solidFill>
                      <a:srgbClr val="FF0000"/>
                    </a:solidFill>
                  </a:rPr>
                  <a:t>次，包含</a:t>
                </a:r>
                <a14:m>
                  <m:oMath xmlns:m="http://schemas.openxmlformats.org/officeDocument/2006/math">
                    <m:r>
                      <a:rPr lang="en-US" altLang="zh-CN" sz="1800" b="0" i="1" smtClean="0">
                        <a:solidFill>
                          <a:srgbClr val="FF0000"/>
                        </a:solidFill>
                        <a:latin typeface="Cambria Math" panose="02040503050406030204" pitchFamily="18" charset="0"/>
                        <a:ea typeface="Microsoft YaHei" charset="0"/>
                      </a:rPr>
                      <m:t>𝑚</m:t>
                    </m:r>
                  </m:oMath>
                </a14:m>
                <a:r>
                  <a:rPr lang="zh-CN" altLang="en-US" sz="1800" dirty="0">
                    <a:solidFill>
                      <a:srgbClr val="FF0000"/>
                    </a:solidFill>
                  </a:rPr>
                  <a:t>棵决策树的提升树</a:t>
                </a:r>
              </a:p>
            </p:txBody>
          </p:sp>
        </mc:Choice>
        <mc:Fallback xmlns="">
          <p:sp>
            <p:nvSpPr>
              <p:cNvPr id="22" name="文本框 21">
                <a:extLst>
                  <a:ext uri="{FF2B5EF4-FFF2-40B4-BE49-F238E27FC236}">
                    <a16:creationId xmlns:a16="http://schemas.microsoft.com/office/drawing/2014/main" id="{B4AE2987-DFCE-4B4D-8CAF-F869487C67DD}"/>
                  </a:ext>
                </a:extLst>
              </p:cNvPr>
              <p:cNvSpPr txBox="1">
                <a:spLocks noRot="1" noChangeAspect="1" noMove="1" noResize="1" noEditPoints="1" noAdjustHandles="1" noChangeArrowheads="1" noChangeShapeType="1" noTextEdit="1"/>
              </p:cNvSpPr>
              <p:nvPr/>
            </p:nvSpPr>
            <p:spPr>
              <a:xfrm>
                <a:off x="1139483" y="2640421"/>
                <a:ext cx="1556826" cy="923330"/>
              </a:xfrm>
              <a:prstGeom prst="rect">
                <a:avLst/>
              </a:prstGeom>
              <a:blipFill>
                <a:blip r:embed="rId7"/>
                <a:stretch>
                  <a:fillRect l="-3529" t="-3289" r="-1961" b="-9211"/>
                </a:stretch>
              </a:blipFill>
            </p:spPr>
            <p:txBody>
              <a:bodyPr/>
              <a:lstStyle/>
              <a:p>
                <a:r>
                  <a:rPr lang="zh-CN" altLang="en-US">
                    <a:noFill/>
                  </a:rPr>
                  <a:t> </a:t>
                </a:r>
              </a:p>
            </p:txBody>
          </p:sp>
        </mc:Fallback>
      </mc:AlternateContent>
      <p:cxnSp>
        <p:nvCxnSpPr>
          <p:cNvPr id="23" name="直接箭头连接符 22">
            <a:extLst>
              <a:ext uri="{FF2B5EF4-FFF2-40B4-BE49-F238E27FC236}">
                <a16:creationId xmlns:a16="http://schemas.microsoft.com/office/drawing/2014/main" id="{E272F754-3310-4EA7-B0C1-A5D1EA6BE967}"/>
              </a:ext>
            </a:extLst>
          </p:cNvPr>
          <p:cNvCxnSpPr>
            <a:cxnSpLocks/>
          </p:cNvCxnSpPr>
          <p:nvPr/>
        </p:nvCxnSpPr>
        <p:spPr>
          <a:xfrm>
            <a:off x="2508738" y="3240585"/>
            <a:ext cx="110665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E8BEF112-6014-446E-B6E7-44431D0E99A8}"/>
              </a:ext>
            </a:extLst>
          </p:cNvPr>
          <p:cNvSpPr txBox="1"/>
          <p:nvPr/>
        </p:nvSpPr>
        <p:spPr>
          <a:xfrm>
            <a:off x="7499928" y="3994342"/>
            <a:ext cx="2283656" cy="369332"/>
          </a:xfrm>
          <a:prstGeom prst="rect">
            <a:avLst/>
          </a:prstGeom>
          <a:noFill/>
        </p:spPr>
        <p:txBody>
          <a:bodyPr wrap="square" rtlCol="0">
            <a:spAutoFit/>
          </a:bodyPr>
          <a:lstStyle/>
          <a:p>
            <a:r>
              <a:rPr lang="zh-CN" altLang="en-US" sz="1800" dirty="0">
                <a:solidFill>
                  <a:srgbClr val="FF0000"/>
                </a:solidFill>
              </a:rPr>
              <a:t>真实值</a:t>
            </a:r>
          </a:p>
        </p:txBody>
      </p:sp>
      <p:cxnSp>
        <p:nvCxnSpPr>
          <p:cNvPr id="29" name="直接箭头连接符 28">
            <a:extLst>
              <a:ext uri="{FF2B5EF4-FFF2-40B4-BE49-F238E27FC236}">
                <a16:creationId xmlns:a16="http://schemas.microsoft.com/office/drawing/2014/main" id="{3FCFF3C8-E28D-439F-9D09-7C43320D9999}"/>
              </a:ext>
            </a:extLst>
          </p:cNvPr>
          <p:cNvCxnSpPr>
            <a:cxnSpLocks/>
          </p:cNvCxnSpPr>
          <p:nvPr/>
        </p:nvCxnSpPr>
        <p:spPr>
          <a:xfrm flipH="1">
            <a:off x="7280032" y="4253450"/>
            <a:ext cx="314568" cy="1861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BFDFCD4D-155A-40E6-9B66-4DD3930175FD}"/>
              </a:ext>
            </a:extLst>
          </p:cNvPr>
          <p:cNvSpPr txBox="1"/>
          <p:nvPr/>
        </p:nvSpPr>
        <p:spPr>
          <a:xfrm>
            <a:off x="7176954" y="5418843"/>
            <a:ext cx="1521568" cy="369332"/>
          </a:xfrm>
          <a:prstGeom prst="rect">
            <a:avLst/>
          </a:prstGeom>
          <a:noFill/>
        </p:spPr>
        <p:txBody>
          <a:bodyPr wrap="square" rtlCol="0">
            <a:spAutoFit/>
          </a:bodyPr>
          <a:lstStyle/>
          <a:p>
            <a:r>
              <a:rPr lang="zh-CN" altLang="en-US" sz="1800" dirty="0">
                <a:solidFill>
                  <a:srgbClr val="FF0000"/>
                </a:solidFill>
              </a:rPr>
              <a:t>损失函数</a:t>
            </a:r>
          </a:p>
        </p:txBody>
      </p:sp>
      <p:cxnSp>
        <p:nvCxnSpPr>
          <p:cNvPr id="31" name="直接箭头连接符 30">
            <a:extLst>
              <a:ext uri="{FF2B5EF4-FFF2-40B4-BE49-F238E27FC236}">
                <a16:creationId xmlns:a16="http://schemas.microsoft.com/office/drawing/2014/main" id="{E29E4E33-197C-4DAF-93BA-B1694E3B4263}"/>
              </a:ext>
            </a:extLst>
          </p:cNvPr>
          <p:cNvCxnSpPr>
            <a:cxnSpLocks/>
          </p:cNvCxnSpPr>
          <p:nvPr/>
        </p:nvCxnSpPr>
        <p:spPr>
          <a:xfrm flipH="1" flipV="1">
            <a:off x="6944751" y="4804187"/>
            <a:ext cx="335280" cy="6906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115B1D36-CF38-4796-9326-B2618BAE3FC9}"/>
              </a:ext>
            </a:extLst>
          </p:cNvPr>
          <p:cNvSpPr txBox="1"/>
          <p:nvPr/>
        </p:nvSpPr>
        <p:spPr>
          <a:xfrm>
            <a:off x="616078" y="6261787"/>
            <a:ext cx="11247675" cy="461665"/>
          </a:xfrm>
          <a:prstGeom prst="rect">
            <a:avLst/>
          </a:prstGeom>
          <a:noFill/>
        </p:spPr>
        <p:txBody>
          <a:bodyPr wrap="square">
            <a:spAutoFit/>
          </a:bodyPr>
          <a:lstStyle/>
          <a:p>
            <a:r>
              <a:rPr lang="zh-CN" altLang="en-US" dirty="0"/>
              <a:t>备注：损失函数选择：如分类用指数损失函数,回归使用平方误差损失。</a:t>
            </a:r>
          </a:p>
        </p:txBody>
      </p:sp>
      <p:sp>
        <p:nvSpPr>
          <p:cNvPr id="43" name="Rectangle 2">
            <a:extLst>
              <a:ext uri="{FF2B5EF4-FFF2-40B4-BE49-F238E27FC236}">
                <a16:creationId xmlns:a16="http://schemas.microsoft.com/office/drawing/2014/main" id="{B7971B83-CEC5-468C-9A9F-75144E0BA69E}"/>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GBDT</a:t>
            </a:r>
            <a:r>
              <a:rPr lang="zh-CN" altLang="en-US" dirty="0">
                <a:solidFill>
                  <a:schemeClr val="tx1"/>
                </a:solidFill>
              </a:rPr>
              <a:t>算法</a:t>
            </a:r>
          </a:p>
        </p:txBody>
      </p:sp>
    </p:spTree>
    <p:extLst>
      <p:ext uri="{BB962C8B-B14F-4D97-AF65-F5344CB8AC3E}">
        <p14:creationId xmlns:p14="http://schemas.microsoft.com/office/powerpoint/2010/main" val="1969268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GBDT</a:t>
            </a:r>
            <a:r>
              <a:rPr lang="zh-CN" altLang="en-US" dirty="0">
                <a:solidFill>
                  <a:schemeClr val="tx1"/>
                </a:solidFill>
              </a:rPr>
              <a:t>算法</a:t>
            </a:r>
          </a:p>
        </p:txBody>
      </p:sp>
      <p:pic>
        <p:nvPicPr>
          <p:cNvPr id="5" name="图片 4">
            <a:extLst>
              <a:ext uri="{FF2B5EF4-FFF2-40B4-BE49-F238E27FC236}">
                <a16:creationId xmlns:a16="http://schemas.microsoft.com/office/drawing/2014/main" id="{94F8CA5E-8CB1-4920-98A3-EDFBF1A6194B}"/>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41750" t="22295" r="25046"/>
          <a:stretch/>
        </p:blipFill>
        <p:spPr>
          <a:xfrm flipH="1">
            <a:off x="938252" y="2591531"/>
            <a:ext cx="1220864" cy="1891671"/>
          </a:xfrm>
          <a:prstGeom prst="rect">
            <a:avLst/>
          </a:prstGeom>
        </p:spPr>
      </p:pic>
      <p:cxnSp>
        <p:nvCxnSpPr>
          <p:cNvPr id="10" name="Google Shape;3386;p54">
            <a:extLst>
              <a:ext uri="{FF2B5EF4-FFF2-40B4-BE49-F238E27FC236}">
                <a16:creationId xmlns:a16="http://schemas.microsoft.com/office/drawing/2014/main" id="{330EEA6F-576D-4804-96E6-46F8137A4C04}"/>
              </a:ext>
            </a:extLst>
          </p:cNvPr>
          <p:cNvCxnSpPr>
            <a:cxnSpLocks/>
          </p:cNvCxnSpPr>
          <p:nvPr/>
        </p:nvCxnSpPr>
        <p:spPr>
          <a:xfrm>
            <a:off x="3320715" y="4497762"/>
            <a:ext cx="5005138"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8" name="流程图: 资料带 7">
            <a:extLst>
              <a:ext uri="{FF2B5EF4-FFF2-40B4-BE49-F238E27FC236}">
                <a16:creationId xmlns:a16="http://schemas.microsoft.com/office/drawing/2014/main" id="{259D2660-CEAE-4B6C-A926-CE3A4D11E67C}"/>
              </a:ext>
            </a:extLst>
          </p:cNvPr>
          <p:cNvSpPr/>
          <p:nvPr/>
        </p:nvSpPr>
        <p:spPr>
          <a:xfrm>
            <a:off x="9925994" y="2717163"/>
            <a:ext cx="770021" cy="82278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BC2DE214-3377-47C5-942D-117D4F5BC501}"/>
              </a:ext>
            </a:extLst>
          </p:cNvPr>
          <p:cNvCxnSpPr>
            <a:cxnSpLocks/>
          </p:cNvCxnSpPr>
          <p:nvPr/>
        </p:nvCxnSpPr>
        <p:spPr>
          <a:xfrm>
            <a:off x="9913873" y="2789385"/>
            <a:ext cx="0" cy="1708377"/>
          </a:xfrm>
          <a:prstGeom prst="line">
            <a:avLst/>
          </a:prstGeom>
        </p:spPr>
        <p:style>
          <a:lnRef idx="2">
            <a:schemeClr val="accent4"/>
          </a:lnRef>
          <a:fillRef idx="0">
            <a:schemeClr val="accent4"/>
          </a:fillRef>
          <a:effectRef idx="1">
            <a:schemeClr val="accent4"/>
          </a:effectRef>
          <a:fontRef idx="minor">
            <a:schemeClr val="tx1"/>
          </a:fontRef>
        </p:style>
      </p:cxnSp>
      <p:cxnSp>
        <p:nvCxnSpPr>
          <p:cNvPr id="19" name="Google Shape;3386;p54">
            <a:extLst>
              <a:ext uri="{FF2B5EF4-FFF2-40B4-BE49-F238E27FC236}">
                <a16:creationId xmlns:a16="http://schemas.microsoft.com/office/drawing/2014/main" id="{B14267C7-3541-48F7-86C1-8DA988A1EC8F}"/>
              </a:ext>
            </a:extLst>
          </p:cNvPr>
          <p:cNvCxnSpPr>
            <a:cxnSpLocks/>
          </p:cNvCxnSpPr>
          <p:nvPr/>
        </p:nvCxnSpPr>
        <p:spPr>
          <a:xfrm>
            <a:off x="3328736" y="4964945"/>
            <a:ext cx="5827296"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20" name="Google Shape;3386;p54">
            <a:extLst>
              <a:ext uri="{FF2B5EF4-FFF2-40B4-BE49-F238E27FC236}">
                <a16:creationId xmlns:a16="http://schemas.microsoft.com/office/drawing/2014/main" id="{D0B252BC-D47A-4AB2-BE4E-CCDFCDAA95E7}"/>
              </a:ext>
            </a:extLst>
          </p:cNvPr>
          <p:cNvCxnSpPr>
            <a:cxnSpLocks/>
          </p:cNvCxnSpPr>
          <p:nvPr/>
        </p:nvCxnSpPr>
        <p:spPr>
          <a:xfrm>
            <a:off x="3320715" y="5501052"/>
            <a:ext cx="7367279"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23" name="Google Shape;3386;p54">
            <a:extLst>
              <a:ext uri="{FF2B5EF4-FFF2-40B4-BE49-F238E27FC236}">
                <a16:creationId xmlns:a16="http://schemas.microsoft.com/office/drawing/2014/main" id="{2A316632-B3E6-4B47-980D-E2BCFF86105F}"/>
              </a:ext>
            </a:extLst>
          </p:cNvPr>
          <p:cNvCxnSpPr>
            <a:cxnSpLocks/>
          </p:cNvCxnSpPr>
          <p:nvPr/>
        </p:nvCxnSpPr>
        <p:spPr>
          <a:xfrm>
            <a:off x="3316734" y="6038895"/>
            <a:ext cx="6248401"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24" name="Google Shape;3386;p54">
            <a:extLst>
              <a:ext uri="{FF2B5EF4-FFF2-40B4-BE49-F238E27FC236}">
                <a16:creationId xmlns:a16="http://schemas.microsoft.com/office/drawing/2014/main" id="{C6B6598D-695D-4134-88D0-B8685EAB55B7}"/>
              </a:ext>
            </a:extLst>
          </p:cNvPr>
          <p:cNvCxnSpPr>
            <a:cxnSpLocks/>
          </p:cNvCxnSpPr>
          <p:nvPr/>
        </p:nvCxnSpPr>
        <p:spPr>
          <a:xfrm>
            <a:off x="3316734" y="6557335"/>
            <a:ext cx="6597258"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26" name="弧形 25">
            <a:extLst>
              <a:ext uri="{FF2B5EF4-FFF2-40B4-BE49-F238E27FC236}">
                <a16:creationId xmlns:a16="http://schemas.microsoft.com/office/drawing/2014/main" id="{5397DE84-843C-4F07-95C9-507937879F49}"/>
              </a:ext>
            </a:extLst>
          </p:cNvPr>
          <p:cNvSpPr/>
          <p:nvPr/>
        </p:nvSpPr>
        <p:spPr>
          <a:xfrm>
            <a:off x="3328736" y="3789948"/>
            <a:ext cx="4997117" cy="1309308"/>
          </a:xfrm>
          <a:prstGeom prst="arc">
            <a:avLst>
              <a:gd name="adj1" fmla="val 10861458"/>
              <a:gd name="adj2" fmla="val 0"/>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p>
        </p:txBody>
      </p:sp>
      <p:sp>
        <p:nvSpPr>
          <p:cNvPr id="29" name="弧形 28">
            <a:extLst>
              <a:ext uri="{FF2B5EF4-FFF2-40B4-BE49-F238E27FC236}">
                <a16:creationId xmlns:a16="http://schemas.microsoft.com/office/drawing/2014/main" id="{D3F33F0A-F893-433A-B252-C3A39E03E2C7}"/>
              </a:ext>
            </a:extLst>
          </p:cNvPr>
          <p:cNvSpPr/>
          <p:nvPr/>
        </p:nvSpPr>
        <p:spPr>
          <a:xfrm>
            <a:off x="8275099" y="4648420"/>
            <a:ext cx="859614" cy="733370"/>
          </a:xfrm>
          <a:prstGeom prst="arc">
            <a:avLst>
              <a:gd name="adj1" fmla="val 10861458"/>
              <a:gd name="adj2" fmla="val 21427430"/>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p>
        </p:txBody>
      </p:sp>
      <p:sp>
        <p:nvSpPr>
          <p:cNvPr id="30" name="弧形 29">
            <a:extLst>
              <a:ext uri="{FF2B5EF4-FFF2-40B4-BE49-F238E27FC236}">
                <a16:creationId xmlns:a16="http://schemas.microsoft.com/office/drawing/2014/main" id="{3D44E6E1-BBA4-4068-9280-0AFF78E33F74}"/>
              </a:ext>
            </a:extLst>
          </p:cNvPr>
          <p:cNvSpPr/>
          <p:nvPr/>
        </p:nvSpPr>
        <p:spPr>
          <a:xfrm>
            <a:off x="9175967" y="4947196"/>
            <a:ext cx="1516037" cy="1058236"/>
          </a:xfrm>
          <a:prstGeom prst="arc">
            <a:avLst>
              <a:gd name="adj1" fmla="val 10861458"/>
              <a:gd name="adj2" fmla="val 21427430"/>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p>
        </p:txBody>
      </p:sp>
      <p:sp>
        <p:nvSpPr>
          <p:cNvPr id="31" name="弧形 30">
            <a:extLst>
              <a:ext uri="{FF2B5EF4-FFF2-40B4-BE49-F238E27FC236}">
                <a16:creationId xmlns:a16="http://schemas.microsoft.com/office/drawing/2014/main" id="{FB5CF0CC-F62F-4E17-9CCD-EC8184D0000D}"/>
              </a:ext>
            </a:extLst>
          </p:cNvPr>
          <p:cNvSpPr/>
          <p:nvPr/>
        </p:nvSpPr>
        <p:spPr>
          <a:xfrm>
            <a:off x="9565135" y="5635776"/>
            <a:ext cx="1118878" cy="729968"/>
          </a:xfrm>
          <a:prstGeom prst="arc">
            <a:avLst>
              <a:gd name="adj1" fmla="val 10861458"/>
              <a:gd name="adj2" fmla="val 21427430"/>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p>
        </p:txBody>
      </p:sp>
      <p:sp>
        <p:nvSpPr>
          <p:cNvPr id="32" name="弧形 31">
            <a:extLst>
              <a:ext uri="{FF2B5EF4-FFF2-40B4-BE49-F238E27FC236}">
                <a16:creationId xmlns:a16="http://schemas.microsoft.com/office/drawing/2014/main" id="{A6B3CCB1-43B5-42CE-8237-02129A6C3EF1}"/>
              </a:ext>
            </a:extLst>
          </p:cNvPr>
          <p:cNvSpPr/>
          <p:nvPr/>
        </p:nvSpPr>
        <p:spPr>
          <a:xfrm>
            <a:off x="9541185" y="6378157"/>
            <a:ext cx="323272" cy="289302"/>
          </a:xfrm>
          <a:prstGeom prst="arc">
            <a:avLst>
              <a:gd name="adj1" fmla="val 10861458"/>
              <a:gd name="adj2" fmla="val 21427430"/>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90C879E9-9178-4176-BB62-9F1F9E793B72}"/>
                  </a:ext>
                </a:extLst>
              </p:cNvPr>
              <p:cNvSpPr txBox="1"/>
              <p:nvPr/>
            </p:nvSpPr>
            <p:spPr>
              <a:xfrm>
                <a:off x="676544" y="4108888"/>
                <a:ext cx="42110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0</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oMath>
                  </m:oMathPara>
                </a14:m>
                <a:endParaRPr lang="zh-CN" altLang="en-US" dirty="0"/>
              </a:p>
            </p:txBody>
          </p:sp>
        </mc:Choice>
        <mc:Fallback xmlns="">
          <p:sp>
            <p:nvSpPr>
              <p:cNvPr id="34" name="文本框 33">
                <a:extLst>
                  <a:ext uri="{FF2B5EF4-FFF2-40B4-BE49-F238E27FC236}">
                    <a16:creationId xmlns:a16="http://schemas.microsoft.com/office/drawing/2014/main" id="{90C879E9-9178-4176-BB62-9F1F9E793B72}"/>
                  </a:ext>
                </a:extLst>
              </p:cNvPr>
              <p:cNvSpPr txBox="1">
                <a:spLocks noRot="1" noChangeAspect="1" noMove="1" noResize="1" noEditPoints="1" noAdjustHandles="1" noChangeArrowheads="1" noChangeShapeType="1" noTextEdit="1"/>
              </p:cNvSpPr>
              <p:nvPr/>
            </p:nvSpPr>
            <p:spPr>
              <a:xfrm>
                <a:off x="676544" y="4108888"/>
                <a:ext cx="4211023" cy="461665"/>
              </a:xfrm>
              <a:prstGeom prst="rect">
                <a:avLst/>
              </a:prstGeom>
              <a:blipFill>
                <a:blip r:embed="rId5"/>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FDA3A4C4-ED54-4C0D-B365-11DEA4B23400}"/>
                  </a:ext>
                </a:extLst>
              </p:cNvPr>
              <p:cNvSpPr txBox="1"/>
              <p:nvPr/>
            </p:nvSpPr>
            <p:spPr>
              <a:xfrm>
                <a:off x="1533781" y="4577722"/>
                <a:ext cx="24965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oMath>
                  </m:oMathPara>
                </a14:m>
                <a:endParaRPr lang="zh-CN" altLang="en-US" dirty="0"/>
              </a:p>
            </p:txBody>
          </p:sp>
        </mc:Choice>
        <mc:Fallback xmlns="">
          <p:sp>
            <p:nvSpPr>
              <p:cNvPr id="36" name="文本框 35">
                <a:extLst>
                  <a:ext uri="{FF2B5EF4-FFF2-40B4-BE49-F238E27FC236}">
                    <a16:creationId xmlns:a16="http://schemas.microsoft.com/office/drawing/2014/main" id="{FDA3A4C4-ED54-4C0D-B365-11DEA4B23400}"/>
                  </a:ext>
                </a:extLst>
              </p:cNvPr>
              <p:cNvSpPr txBox="1">
                <a:spLocks noRot="1" noChangeAspect="1" noMove="1" noResize="1" noEditPoints="1" noAdjustHandles="1" noChangeArrowheads="1" noChangeShapeType="1" noTextEdit="1"/>
              </p:cNvSpPr>
              <p:nvPr/>
            </p:nvSpPr>
            <p:spPr>
              <a:xfrm>
                <a:off x="1533781" y="4577722"/>
                <a:ext cx="2496551" cy="461665"/>
              </a:xfrm>
              <a:prstGeom prst="rect">
                <a:avLst/>
              </a:prstGeom>
              <a:blipFill>
                <a:blip r:embed="rId6"/>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4B01FC4A-A666-4E22-9E64-C8B4C8B3560F}"/>
                  </a:ext>
                </a:extLst>
              </p:cNvPr>
              <p:cNvSpPr txBox="1"/>
              <p:nvPr/>
            </p:nvSpPr>
            <p:spPr>
              <a:xfrm>
                <a:off x="1493950" y="5064130"/>
                <a:ext cx="24965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2</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oMath>
                  </m:oMathPara>
                </a14:m>
                <a:endParaRPr lang="zh-CN" altLang="en-US" dirty="0"/>
              </a:p>
            </p:txBody>
          </p:sp>
        </mc:Choice>
        <mc:Fallback xmlns="">
          <p:sp>
            <p:nvSpPr>
              <p:cNvPr id="37" name="文本框 36">
                <a:extLst>
                  <a:ext uri="{FF2B5EF4-FFF2-40B4-BE49-F238E27FC236}">
                    <a16:creationId xmlns:a16="http://schemas.microsoft.com/office/drawing/2014/main" id="{4B01FC4A-A666-4E22-9E64-C8B4C8B3560F}"/>
                  </a:ext>
                </a:extLst>
              </p:cNvPr>
              <p:cNvSpPr txBox="1">
                <a:spLocks noRot="1" noChangeAspect="1" noMove="1" noResize="1" noEditPoints="1" noAdjustHandles="1" noChangeArrowheads="1" noChangeShapeType="1" noTextEdit="1"/>
              </p:cNvSpPr>
              <p:nvPr/>
            </p:nvSpPr>
            <p:spPr>
              <a:xfrm>
                <a:off x="1493950" y="5064130"/>
                <a:ext cx="2496551" cy="461665"/>
              </a:xfrm>
              <a:prstGeom prst="rect">
                <a:avLst/>
              </a:prstGeom>
              <a:blipFill>
                <a:blip r:embed="rId7"/>
                <a:stretch>
                  <a:fillRect b="-2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A8FB17DC-17CA-4A85-8EE6-17FE4DEC2C22}"/>
                  </a:ext>
                </a:extLst>
              </p:cNvPr>
              <p:cNvSpPr txBox="1"/>
              <p:nvPr/>
            </p:nvSpPr>
            <p:spPr>
              <a:xfrm>
                <a:off x="1493948" y="5620315"/>
                <a:ext cx="24965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3</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oMath>
                  </m:oMathPara>
                </a14:m>
                <a:endParaRPr lang="zh-CN" altLang="en-US" dirty="0"/>
              </a:p>
            </p:txBody>
          </p:sp>
        </mc:Choice>
        <mc:Fallback xmlns="">
          <p:sp>
            <p:nvSpPr>
              <p:cNvPr id="38" name="文本框 37">
                <a:extLst>
                  <a:ext uri="{FF2B5EF4-FFF2-40B4-BE49-F238E27FC236}">
                    <a16:creationId xmlns:a16="http://schemas.microsoft.com/office/drawing/2014/main" id="{A8FB17DC-17CA-4A85-8EE6-17FE4DEC2C22}"/>
                  </a:ext>
                </a:extLst>
              </p:cNvPr>
              <p:cNvSpPr txBox="1">
                <a:spLocks noRot="1" noChangeAspect="1" noMove="1" noResize="1" noEditPoints="1" noAdjustHandles="1" noChangeArrowheads="1" noChangeShapeType="1" noTextEdit="1"/>
              </p:cNvSpPr>
              <p:nvPr/>
            </p:nvSpPr>
            <p:spPr>
              <a:xfrm>
                <a:off x="1493948" y="5620315"/>
                <a:ext cx="2496551" cy="461665"/>
              </a:xfrm>
              <a:prstGeom prst="rect">
                <a:avLst/>
              </a:prstGeom>
              <a:blipFill>
                <a:blip r:embed="rId8"/>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8D717A3A-7ECC-40B0-86EB-314391A9A42A}"/>
                  </a:ext>
                </a:extLst>
              </p:cNvPr>
              <p:cNvSpPr txBox="1"/>
              <p:nvPr/>
            </p:nvSpPr>
            <p:spPr>
              <a:xfrm>
                <a:off x="1493949" y="6135529"/>
                <a:ext cx="24965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4</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oMath>
                  </m:oMathPara>
                </a14:m>
                <a:endParaRPr lang="zh-CN" altLang="en-US" dirty="0"/>
              </a:p>
            </p:txBody>
          </p:sp>
        </mc:Choice>
        <mc:Fallback xmlns="">
          <p:sp>
            <p:nvSpPr>
              <p:cNvPr id="39" name="文本框 38">
                <a:extLst>
                  <a:ext uri="{FF2B5EF4-FFF2-40B4-BE49-F238E27FC236}">
                    <a16:creationId xmlns:a16="http://schemas.microsoft.com/office/drawing/2014/main" id="{8D717A3A-7ECC-40B0-86EB-314391A9A42A}"/>
                  </a:ext>
                </a:extLst>
              </p:cNvPr>
              <p:cNvSpPr txBox="1">
                <a:spLocks noRot="1" noChangeAspect="1" noMove="1" noResize="1" noEditPoints="1" noAdjustHandles="1" noChangeArrowheads="1" noChangeShapeType="1" noTextEdit="1"/>
              </p:cNvSpPr>
              <p:nvPr/>
            </p:nvSpPr>
            <p:spPr>
              <a:xfrm>
                <a:off x="1493949" y="6135529"/>
                <a:ext cx="2496551" cy="461665"/>
              </a:xfrm>
              <a:prstGeom prst="rect">
                <a:avLst/>
              </a:prstGeom>
              <a:blipFill>
                <a:blip r:embed="rId9"/>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184792D8-4A58-4C05-8ABE-0E3D13E2A652}"/>
                  </a:ext>
                </a:extLst>
              </p:cNvPr>
              <p:cNvSpPr txBox="1"/>
              <p:nvPr/>
            </p:nvSpPr>
            <p:spPr>
              <a:xfrm>
                <a:off x="3281949" y="3213942"/>
                <a:ext cx="4211023"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0</m:t>
                          </m:r>
                        </m:sub>
                      </m:sSub>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oMath>
                  </m:oMathPara>
                </a14:m>
                <a:endParaRPr lang="zh-CN" altLang="en-US" sz="2000" dirty="0"/>
              </a:p>
            </p:txBody>
          </p:sp>
        </mc:Choice>
        <mc:Fallback xmlns="">
          <p:sp>
            <p:nvSpPr>
              <p:cNvPr id="40" name="文本框 39">
                <a:extLst>
                  <a:ext uri="{FF2B5EF4-FFF2-40B4-BE49-F238E27FC236}">
                    <a16:creationId xmlns:a16="http://schemas.microsoft.com/office/drawing/2014/main" id="{184792D8-4A58-4C05-8ABE-0E3D13E2A652}"/>
                  </a:ext>
                </a:extLst>
              </p:cNvPr>
              <p:cNvSpPr txBox="1">
                <a:spLocks noRot="1" noChangeAspect="1" noMove="1" noResize="1" noEditPoints="1" noAdjustHandles="1" noChangeArrowheads="1" noChangeShapeType="1" noTextEdit="1"/>
              </p:cNvSpPr>
              <p:nvPr/>
            </p:nvSpPr>
            <p:spPr>
              <a:xfrm>
                <a:off x="3281949" y="3213942"/>
                <a:ext cx="4211023" cy="400110"/>
              </a:xfrm>
              <a:prstGeom prst="rect">
                <a:avLst/>
              </a:prstGeom>
              <a:blipFill>
                <a:blip r:embed="rId10"/>
                <a:stretch>
                  <a:fillRect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48DF6920-1BFE-4EBD-885D-2088421D2185}"/>
                  </a:ext>
                </a:extLst>
              </p:cNvPr>
              <p:cNvSpPr txBox="1"/>
              <p:nvPr/>
            </p:nvSpPr>
            <p:spPr>
              <a:xfrm>
                <a:off x="8421152" y="4305616"/>
                <a:ext cx="169965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b="0" i="1" smtClean="0">
                                  <a:latin typeface="Cambria Math" panose="02040503050406030204" pitchFamily="18" charset="0"/>
                                  <a:ea typeface="Microsoft YaHei" charset="0"/>
                                </a:rPr>
                                <m:t>1</m:t>
                              </m:r>
                            </m:sub>
                          </m:sSub>
                        </m:e>
                      </m:d>
                    </m:oMath>
                  </m:oMathPara>
                </a14:m>
                <a:endParaRPr lang="zh-CN" altLang="en-US" sz="2000" dirty="0"/>
              </a:p>
            </p:txBody>
          </p:sp>
        </mc:Choice>
        <mc:Fallback xmlns="">
          <p:sp>
            <p:nvSpPr>
              <p:cNvPr id="42" name="文本框 41">
                <a:extLst>
                  <a:ext uri="{FF2B5EF4-FFF2-40B4-BE49-F238E27FC236}">
                    <a16:creationId xmlns:a16="http://schemas.microsoft.com/office/drawing/2014/main" id="{48DF6920-1BFE-4EBD-885D-2088421D2185}"/>
                  </a:ext>
                </a:extLst>
              </p:cNvPr>
              <p:cNvSpPr txBox="1">
                <a:spLocks noRot="1" noChangeAspect="1" noMove="1" noResize="1" noEditPoints="1" noAdjustHandles="1" noChangeArrowheads="1" noChangeShapeType="1" noTextEdit="1"/>
              </p:cNvSpPr>
              <p:nvPr/>
            </p:nvSpPr>
            <p:spPr>
              <a:xfrm>
                <a:off x="8421152" y="4305616"/>
                <a:ext cx="1699656" cy="400110"/>
              </a:xfrm>
              <a:prstGeom prst="rect">
                <a:avLst/>
              </a:prstGeom>
              <a:blipFill>
                <a:blip r:embed="rId11"/>
                <a:stretch>
                  <a:fillRect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6AAD9A76-59E8-4611-8518-46EDBB464DF7}"/>
                  </a:ext>
                </a:extLst>
              </p:cNvPr>
              <p:cNvSpPr txBox="1"/>
              <p:nvPr/>
            </p:nvSpPr>
            <p:spPr>
              <a:xfrm>
                <a:off x="10414963" y="5635776"/>
                <a:ext cx="169965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b="0" i="1" smtClean="0">
                                  <a:latin typeface="Cambria Math" panose="02040503050406030204" pitchFamily="18" charset="0"/>
                                  <a:ea typeface="Microsoft YaHei" charset="0"/>
                                </a:rPr>
                                <m:t>3</m:t>
                              </m:r>
                            </m:sub>
                          </m:sSub>
                        </m:e>
                      </m:d>
                    </m:oMath>
                  </m:oMathPara>
                </a14:m>
                <a:endParaRPr lang="zh-CN" altLang="en-US" sz="2000" dirty="0"/>
              </a:p>
            </p:txBody>
          </p:sp>
        </mc:Choice>
        <mc:Fallback xmlns="">
          <p:sp>
            <p:nvSpPr>
              <p:cNvPr id="43" name="文本框 42">
                <a:extLst>
                  <a:ext uri="{FF2B5EF4-FFF2-40B4-BE49-F238E27FC236}">
                    <a16:creationId xmlns:a16="http://schemas.microsoft.com/office/drawing/2014/main" id="{6AAD9A76-59E8-4611-8518-46EDBB464DF7}"/>
                  </a:ext>
                </a:extLst>
              </p:cNvPr>
              <p:cNvSpPr txBox="1">
                <a:spLocks noRot="1" noChangeAspect="1" noMove="1" noResize="1" noEditPoints="1" noAdjustHandles="1" noChangeArrowheads="1" noChangeShapeType="1" noTextEdit="1"/>
              </p:cNvSpPr>
              <p:nvPr/>
            </p:nvSpPr>
            <p:spPr>
              <a:xfrm>
                <a:off x="10414963" y="5635776"/>
                <a:ext cx="1699656" cy="400110"/>
              </a:xfrm>
              <a:prstGeom prst="rect">
                <a:avLst/>
              </a:prstGeom>
              <a:blipFill>
                <a:blip r:embed="rId12"/>
                <a:stretch>
                  <a:fillRect b="-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727FF290-8F40-42DD-B31F-D4B00E8CB177}"/>
                  </a:ext>
                </a:extLst>
              </p:cNvPr>
              <p:cNvSpPr txBox="1"/>
              <p:nvPr/>
            </p:nvSpPr>
            <p:spPr>
              <a:xfrm>
                <a:off x="9988575" y="6197022"/>
                <a:ext cx="169965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b="0" i="1" smtClean="0">
                                  <a:latin typeface="Cambria Math" panose="02040503050406030204" pitchFamily="18" charset="0"/>
                                  <a:ea typeface="Microsoft YaHei" charset="0"/>
                                </a:rPr>
                                <m:t>4</m:t>
                              </m:r>
                            </m:sub>
                          </m:sSub>
                        </m:e>
                      </m:d>
                    </m:oMath>
                  </m:oMathPara>
                </a14:m>
                <a:endParaRPr lang="zh-CN" altLang="en-US" sz="2000" dirty="0"/>
              </a:p>
            </p:txBody>
          </p:sp>
        </mc:Choice>
        <mc:Fallback xmlns="">
          <p:sp>
            <p:nvSpPr>
              <p:cNvPr id="44" name="文本框 43">
                <a:extLst>
                  <a:ext uri="{FF2B5EF4-FFF2-40B4-BE49-F238E27FC236}">
                    <a16:creationId xmlns:a16="http://schemas.microsoft.com/office/drawing/2014/main" id="{727FF290-8F40-42DD-B31F-D4B00E8CB177}"/>
                  </a:ext>
                </a:extLst>
              </p:cNvPr>
              <p:cNvSpPr txBox="1">
                <a:spLocks noRot="1" noChangeAspect="1" noMove="1" noResize="1" noEditPoints="1" noAdjustHandles="1" noChangeArrowheads="1" noChangeShapeType="1" noTextEdit="1"/>
              </p:cNvSpPr>
              <p:nvPr/>
            </p:nvSpPr>
            <p:spPr>
              <a:xfrm>
                <a:off x="9988575" y="6197022"/>
                <a:ext cx="1699656" cy="400110"/>
              </a:xfrm>
              <a:prstGeom prst="rect">
                <a:avLst/>
              </a:prstGeom>
              <a:blipFill>
                <a:blip r:embed="rId13"/>
                <a:stretch>
                  <a:fillRect b="-30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EAB82B25-BFC3-4CA4-80FF-DD3B79471F46}"/>
                  </a:ext>
                </a:extLst>
              </p:cNvPr>
              <p:cNvSpPr txBox="1"/>
              <p:nvPr/>
            </p:nvSpPr>
            <p:spPr>
              <a:xfrm>
                <a:off x="10238454" y="4776787"/>
                <a:ext cx="169965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b="0" i="1" smtClean="0">
                                  <a:latin typeface="Cambria Math" panose="02040503050406030204" pitchFamily="18" charset="0"/>
                                  <a:ea typeface="Microsoft YaHei" charset="0"/>
                                </a:rPr>
                                <m:t>2</m:t>
                              </m:r>
                            </m:sub>
                          </m:sSub>
                        </m:e>
                      </m:d>
                    </m:oMath>
                  </m:oMathPara>
                </a14:m>
                <a:endParaRPr lang="zh-CN" altLang="en-US" sz="2000" dirty="0"/>
              </a:p>
            </p:txBody>
          </p:sp>
        </mc:Choice>
        <mc:Fallback xmlns="">
          <p:sp>
            <p:nvSpPr>
              <p:cNvPr id="45" name="文本框 44">
                <a:extLst>
                  <a:ext uri="{FF2B5EF4-FFF2-40B4-BE49-F238E27FC236}">
                    <a16:creationId xmlns:a16="http://schemas.microsoft.com/office/drawing/2014/main" id="{EAB82B25-BFC3-4CA4-80FF-DD3B79471F46}"/>
                  </a:ext>
                </a:extLst>
              </p:cNvPr>
              <p:cNvSpPr txBox="1">
                <a:spLocks noRot="1" noChangeAspect="1" noMove="1" noResize="1" noEditPoints="1" noAdjustHandles="1" noChangeArrowheads="1" noChangeShapeType="1" noTextEdit="1"/>
              </p:cNvSpPr>
              <p:nvPr/>
            </p:nvSpPr>
            <p:spPr>
              <a:xfrm>
                <a:off x="10238454" y="4776787"/>
                <a:ext cx="1699656" cy="400110"/>
              </a:xfrm>
              <a:prstGeom prst="rect">
                <a:avLst/>
              </a:prstGeom>
              <a:blipFill>
                <a:blip r:embed="rId14"/>
                <a:stretch>
                  <a:fillRect b="-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316F43CE-7702-45F7-AC14-47A4FF2A293B}"/>
                  </a:ext>
                </a:extLst>
              </p:cNvPr>
              <p:cNvSpPr txBox="1"/>
              <p:nvPr/>
            </p:nvSpPr>
            <p:spPr>
              <a:xfrm>
                <a:off x="9887112" y="2891075"/>
                <a:ext cx="76951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rgbClr val="0066CC"/>
                          </a:solidFill>
                          <a:latin typeface="Cambria Math" panose="02040503050406030204" pitchFamily="18" charset="0"/>
                          <a:ea typeface="+mj-ea"/>
                          <a:cs typeface="Times New Roman" panose="02020603050405020304" pitchFamily="18" charset="0"/>
                        </a:rPr>
                        <m:t>𝑦</m:t>
                      </m:r>
                    </m:oMath>
                  </m:oMathPara>
                </a14:m>
                <a:endParaRPr lang="zh-CN" altLang="en-US" dirty="0">
                  <a:solidFill>
                    <a:srgbClr val="0066CC"/>
                  </a:solidFill>
                </a:endParaRPr>
              </a:p>
            </p:txBody>
          </p:sp>
        </mc:Choice>
        <mc:Fallback xmlns="">
          <p:sp>
            <p:nvSpPr>
              <p:cNvPr id="47" name="文本框 46">
                <a:extLst>
                  <a:ext uri="{FF2B5EF4-FFF2-40B4-BE49-F238E27FC236}">
                    <a16:creationId xmlns:a16="http://schemas.microsoft.com/office/drawing/2014/main" id="{316F43CE-7702-45F7-AC14-47A4FF2A293B}"/>
                  </a:ext>
                </a:extLst>
              </p:cNvPr>
              <p:cNvSpPr txBox="1">
                <a:spLocks noRot="1" noChangeAspect="1" noMove="1" noResize="1" noEditPoints="1" noAdjustHandles="1" noChangeArrowheads="1" noChangeShapeType="1" noTextEdit="1"/>
              </p:cNvSpPr>
              <p:nvPr/>
            </p:nvSpPr>
            <p:spPr>
              <a:xfrm>
                <a:off x="9887112" y="2891075"/>
                <a:ext cx="769519" cy="461665"/>
              </a:xfrm>
              <a:prstGeom prst="rect">
                <a:avLst/>
              </a:prstGeom>
              <a:blipFill>
                <a:blip r:embed="rId15"/>
                <a:stretch>
                  <a:fillRect b="-13158"/>
                </a:stretch>
              </a:blipFill>
            </p:spPr>
            <p:txBody>
              <a:bodyPr/>
              <a:lstStyle/>
              <a:p>
                <a:r>
                  <a:rPr lang="zh-CN" altLang="en-US">
                    <a:noFill/>
                  </a:rPr>
                  <a:t> </a:t>
                </a:r>
              </a:p>
            </p:txBody>
          </p:sp>
        </mc:Fallback>
      </mc:AlternateContent>
      <p:sp>
        <p:nvSpPr>
          <p:cNvPr id="46" name="椭圆 45">
            <a:extLst>
              <a:ext uri="{FF2B5EF4-FFF2-40B4-BE49-F238E27FC236}">
                <a16:creationId xmlns:a16="http://schemas.microsoft.com/office/drawing/2014/main" id="{A1213092-919C-4B17-BD19-1A87888ED016}"/>
              </a:ext>
            </a:extLst>
          </p:cNvPr>
          <p:cNvSpPr/>
          <p:nvPr/>
        </p:nvSpPr>
        <p:spPr>
          <a:xfrm>
            <a:off x="9864457" y="4428896"/>
            <a:ext cx="98832" cy="9119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213654C5-0277-481B-A6DF-029F6755D292}"/>
                  </a:ext>
                </a:extLst>
              </p:cNvPr>
              <p:cNvSpPr/>
              <p:nvPr/>
            </p:nvSpPr>
            <p:spPr>
              <a:xfrm>
                <a:off x="3717637" y="2312611"/>
                <a:ext cx="584749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r>
                        <a:rPr lang="en-US" altLang="zh-CN" b="0" i="0"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𝑚</m:t>
                      </m:r>
                      <m:r>
                        <a:rPr lang="en-US" altLang="zh-CN" b="0" i="0" smtClean="0">
                          <a:latin typeface="Cambria Math" panose="02040503050406030204" pitchFamily="18" charset="0"/>
                          <a:ea typeface="Microsoft YaHei" charset="0"/>
                        </a:rPr>
                        <m:t>=1,2,</m:t>
                      </m:r>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𝑀</m:t>
                      </m:r>
                    </m:oMath>
                  </m:oMathPara>
                </a14:m>
                <a:endParaRPr lang="zh-CN" altLang="en-US" dirty="0">
                  <a:ea typeface="Microsoft YaHei" charset="0"/>
                </a:endParaRPr>
              </a:p>
            </p:txBody>
          </p:sp>
        </mc:Choice>
        <mc:Fallback xmlns="">
          <p:sp>
            <p:nvSpPr>
              <p:cNvPr id="53" name="矩形 52">
                <a:extLst>
                  <a:ext uri="{FF2B5EF4-FFF2-40B4-BE49-F238E27FC236}">
                    <a16:creationId xmlns:a16="http://schemas.microsoft.com/office/drawing/2014/main" id="{213654C5-0277-481B-A6DF-029F6755D292}"/>
                  </a:ext>
                </a:extLst>
              </p:cNvPr>
              <p:cNvSpPr>
                <a:spLocks noRot="1" noChangeAspect="1" noMove="1" noResize="1" noEditPoints="1" noAdjustHandles="1" noChangeArrowheads="1" noChangeShapeType="1" noTextEdit="1"/>
              </p:cNvSpPr>
              <p:nvPr/>
            </p:nvSpPr>
            <p:spPr>
              <a:xfrm>
                <a:off x="3717637" y="2312611"/>
                <a:ext cx="5847498" cy="461665"/>
              </a:xfrm>
              <a:prstGeom prst="rect">
                <a:avLst/>
              </a:prstGeom>
              <a:blipFill>
                <a:blip r:embed="rId16"/>
                <a:stretch>
                  <a:fillRect b="-19737"/>
                </a:stretch>
              </a:blipFill>
            </p:spPr>
            <p:txBody>
              <a:bodyPr/>
              <a:lstStyle/>
              <a:p>
                <a:r>
                  <a:rPr lang="zh-CN" altLang="en-US">
                    <a:noFill/>
                  </a:rPr>
                  <a:t> </a:t>
                </a:r>
              </a:p>
            </p:txBody>
          </p:sp>
        </mc:Fallback>
      </mc:AlternateContent>
      <p:sp>
        <p:nvSpPr>
          <p:cNvPr id="54" name="文本框 53">
            <a:extLst>
              <a:ext uri="{FF2B5EF4-FFF2-40B4-BE49-F238E27FC236}">
                <a16:creationId xmlns:a16="http://schemas.microsoft.com/office/drawing/2014/main" id="{EF363196-D942-4826-86D0-57178CE289A4}"/>
              </a:ext>
            </a:extLst>
          </p:cNvPr>
          <p:cNvSpPr txBox="1"/>
          <p:nvPr/>
        </p:nvSpPr>
        <p:spPr>
          <a:xfrm>
            <a:off x="723931" y="1390177"/>
            <a:ext cx="3365078" cy="461665"/>
          </a:xfrm>
          <a:prstGeom prst="rect">
            <a:avLst/>
          </a:prstGeom>
          <a:noFill/>
        </p:spPr>
        <p:txBody>
          <a:bodyPr wrap="square" rtlCol="0">
            <a:spAutoFit/>
          </a:bodyPr>
          <a:lstStyle/>
          <a:p>
            <a:r>
              <a:rPr lang="zh-CN" altLang="en-US" b="1" dirty="0">
                <a:ea typeface="Microsoft YaHei" charset="0"/>
              </a:rPr>
              <a:t>前向分步算法：</a:t>
            </a:r>
          </a:p>
        </p:txBody>
      </p:sp>
      <p:cxnSp>
        <p:nvCxnSpPr>
          <p:cNvPr id="60" name="直接连接符 59">
            <a:extLst>
              <a:ext uri="{FF2B5EF4-FFF2-40B4-BE49-F238E27FC236}">
                <a16:creationId xmlns:a16="http://schemas.microsoft.com/office/drawing/2014/main" id="{3DBC6AAC-1F1E-432F-A389-BBC5B7A1C698}"/>
              </a:ext>
            </a:extLst>
          </p:cNvPr>
          <p:cNvCxnSpPr>
            <a:cxnSpLocks/>
          </p:cNvCxnSpPr>
          <p:nvPr/>
        </p:nvCxnSpPr>
        <p:spPr>
          <a:xfrm>
            <a:off x="9913873" y="4444602"/>
            <a:ext cx="12121" cy="2343548"/>
          </a:xfrm>
          <a:prstGeom prst="line">
            <a:avLst/>
          </a:prstGeom>
          <a:ln>
            <a:solidFill>
              <a:srgbClr val="FF0000"/>
            </a:solidFill>
            <a:prstDash val="dashDot"/>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2224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P spid="30" grpId="0" animBg="1"/>
      <p:bldP spid="31" grpId="0" animBg="1"/>
      <p:bldP spid="32" grpId="0" animBg="1"/>
      <p:bldP spid="34" grpId="0"/>
      <p:bldP spid="36" grpId="0"/>
      <p:bldP spid="37" grpId="0"/>
      <p:bldP spid="38" grpId="0"/>
      <p:bldP spid="39" grpId="0"/>
      <p:bldP spid="40" grpId="0"/>
      <p:bldP spid="42" grpId="0"/>
      <p:bldP spid="43" grpId="0"/>
      <p:bldP spid="44" grpId="0"/>
      <p:bldP spid="4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30146" y="1361023"/>
            <a:ext cx="3365078" cy="461665"/>
          </a:xfrm>
          <a:prstGeom prst="rect">
            <a:avLst/>
          </a:prstGeom>
          <a:noFill/>
        </p:spPr>
        <p:txBody>
          <a:bodyPr wrap="square" rtlCol="0">
            <a:spAutoFit/>
          </a:bodyPr>
          <a:lstStyle/>
          <a:p>
            <a:r>
              <a:rPr lang="zh-CN" altLang="en-US" b="1" dirty="0">
                <a:ea typeface="Microsoft YaHei" charset="0"/>
              </a:rPr>
              <a:t>前向分步算法：</a:t>
            </a:r>
          </a:p>
        </p:txBody>
      </p:sp>
      <p:sp>
        <p:nvSpPr>
          <p:cNvPr id="28"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6C4D3E35-AC35-4EBA-87A6-61019DCF895C}"/>
                  </a:ext>
                </a:extLst>
              </p:cNvPr>
              <p:cNvSpPr/>
              <p:nvPr/>
            </p:nvSpPr>
            <p:spPr>
              <a:xfrm>
                <a:off x="947223" y="2703577"/>
                <a:ext cx="2703625" cy="6819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𝑓</m:t>
                          </m:r>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e>
                      </m:d>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𝑚</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oMath>
                  </m:oMathPara>
                </a14:m>
                <a:endParaRPr lang="zh-CN" altLang="en-US" dirty="0">
                  <a:ea typeface="Microsoft YaHei" charset="0"/>
                </a:endParaRPr>
              </a:p>
              <a:p>
                <a:endParaRPr lang="zh-CN" altLang="en-US" dirty="0">
                  <a:ea typeface="Microsoft YaHei" charset="0"/>
                </a:endParaRPr>
              </a:p>
            </p:txBody>
          </p:sp>
        </mc:Choice>
        <mc:Fallback xmlns="">
          <p:sp>
            <p:nvSpPr>
              <p:cNvPr id="20" name="矩形 19">
                <a:extLst>
                  <a:ext uri="{FF2B5EF4-FFF2-40B4-BE49-F238E27FC236}">
                    <a16:creationId xmlns:a16="http://schemas.microsoft.com/office/drawing/2014/main" id="{6C4D3E35-AC35-4EBA-87A6-61019DCF895C}"/>
                  </a:ext>
                </a:extLst>
              </p:cNvPr>
              <p:cNvSpPr>
                <a:spLocks noRot="1" noChangeAspect="1" noMove="1" noResize="1" noEditPoints="1" noAdjustHandles="1" noChangeArrowheads="1" noChangeShapeType="1" noTextEdit="1"/>
              </p:cNvSpPr>
              <p:nvPr/>
            </p:nvSpPr>
            <p:spPr>
              <a:xfrm>
                <a:off x="947223" y="2703577"/>
                <a:ext cx="2703625" cy="681982"/>
              </a:xfrm>
              <a:prstGeom prst="rect">
                <a:avLst/>
              </a:prstGeom>
              <a:blipFill>
                <a:blip r:embed="rId2"/>
                <a:stretch>
                  <a:fillRect r="-209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5036BAF5-B938-448C-AD0F-2FE3C2A8C377}"/>
                  </a:ext>
                </a:extLst>
              </p:cNvPr>
              <p:cNvSpPr/>
              <p:nvPr/>
            </p:nvSpPr>
            <p:spPr>
              <a:xfrm>
                <a:off x="2029983" y="3208689"/>
                <a:ext cx="2958374" cy="4049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𝑚</m:t>
                              </m:r>
                              <m:r>
                                <a:rPr lang="en-US" altLang="zh-CN" i="1">
                                  <a:latin typeface="Cambria Math" panose="02040503050406030204" pitchFamily="18" charset="0"/>
                                  <a:ea typeface="Microsoft YaHei" charset="0"/>
                                </a:rPr>
                                <m:t>−1</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e>
                      </m:d>
                    </m:oMath>
                  </m:oMathPara>
                </a14:m>
                <a:endParaRPr lang="zh-CN" altLang="en-US" dirty="0">
                  <a:ea typeface="Microsoft YaHei" charset="0"/>
                </a:endParaRPr>
              </a:p>
            </p:txBody>
          </p:sp>
        </mc:Choice>
        <mc:Fallback xmlns="">
          <p:sp>
            <p:nvSpPr>
              <p:cNvPr id="21" name="矩形 20">
                <a:extLst>
                  <a:ext uri="{FF2B5EF4-FFF2-40B4-BE49-F238E27FC236}">
                    <a16:creationId xmlns:a16="http://schemas.microsoft.com/office/drawing/2014/main" id="{5036BAF5-B938-448C-AD0F-2FE3C2A8C377}"/>
                  </a:ext>
                </a:extLst>
              </p:cNvPr>
              <p:cNvSpPr>
                <a:spLocks noRot="1" noChangeAspect="1" noMove="1" noResize="1" noEditPoints="1" noAdjustHandles="1" noChangeArrowheads="1" noChangeShapeType="1" noTextEdit="1"/>
              </p:cNvSpPr>
              <p:nvPr/>
            </p:nvSpPr>
            <p:spPr>
              <a:xfrm>
                <a:off x="2029983" y="3208689"/>
                <a:ext cx="2958374" cy="404983"/>
              </a:xfrm>
              <a:prstGeom prst="rect">
                <a:avLst/>
              </a:prstGeom>
              <a:blipFill>
                <a:blip r:embed="rId3"/>
                <a:stretch>
                  <a:fillRect r="-23918" b="-119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FA4294B4-A40F-4DE3-9160-A9EF43B16383}"/>
                  </a:ext>
                </a:extLst>
              </p:cNvPr>
              <p:cNvSpPr/>
              <p:nvPr/>
            </p:nvSpPr>
            <p:spPr>
              <a:xfrm>
                <a:off x="2029983" y="3642752"/>
                <a:ext cx="17985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Microsoft YaHei" charset="0"/>
                        </a:rPr>
                        <m:t>=</m:t>
                      </m:r>
                      <m:sSup>
                        <m:sSupPr>
                          <m:ctrlPr>
                            <a:rPr lang="en-US" altLang="zh-CN" i="1" smtClean="0">
                              <a:latin typeface="Cambria Math" panose="02040503050406030204" pitchFamily="18" charset="0"/>
                              <a:ea typeface="Microsoft YaHei" charset="0"/>
                            </a:rPr>
                          </m:ctrlPr>
                        </m:sSupPr>
                        <m:e>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sub>
                          </m:sSub>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e>
                        <m:sup>
                          <m:r>
                            <a:rPr lang="en-US" altLang="zh-CN" i="1">
                              <a:latin typeface="Cambria Math" panose="02040503050406030204" pitchFamily="18" charset="0"/>
                              <a:ea typeface="Microsoft YaHei" charset="0"/>
                            </a:rPr>
                            <m:t>2</m:t>
                          </m:r>
                        </m:sup>
                      </m:sSup>
                    </m:oMath>
                  </m:oMathPara>
                </a14:m>
                <a:endParaRPr lang="zh-CN" altLang="en-US" dirty="0">
                  <a:ea typeface="Microsoft YaHei" charset="0"/>
                </a:endParaRPr>
              </a:p>
            </p:txBody>
          </p:sp>
        </mc:Choice>
        <mc:Fallback xmlns="">
          <p:sp>
            <p:nvSpPr>
              <p:cNvPr id="22" name="矩形 21">
                <a:extLst>
                  <a:ext uri="{FF2B5EF4-FFF2-40B4-BE49-F238E27FC236}">
                    <a16:creationId xmlns:a16="http://schemas.microsoft.com/office/drawing/2014/main" id="{FA4294B4-A40F-4DE3-9160-A9EF43B16383}"/>
                  </a:ext>
                </a:extLst>
              </p:cNvPr>
              <p:cNvSpPr>
                <a:spLocks noRot="1" noChangeAspect="1" noMove="1" noResize="1" noEditPoints="1" noAdjustHandles="1" noChangeArrowheads="1" noChangeShapeType="1" noTextEdit="1"/>
              </p:cNvSpPr>
              <p:nvPr/>
            </p:nvSpPr>
            <p:spPr>
              <a:xfrm>
                <a:off x="2029983" y="3642752"/>
                <a:ext cx="1798505" cy="369332"/>
              </a:xfrm>
              <a:prstGeom prst="rect">
                <a:avLst/>
              </a:prstGeom>
              <a:blipFill>
                <a:blip r:embed="rId4"/>
                <a:stretch>
                  <a:fillRect r="-20000" b="-5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A73ED636-E616-4734-88D0-F05F112145EA}"/>
                  </a:ext>
                </a:extLst>
              </p:cNvPr>
              <p:cNvSpPr/>
              <p:nvPr/>
            </p:nvSpPr>
            <p:spPr>
              <a:xfrm>
                <a:off x="2056080" y="4118784"/>
                <a:ext cx="308090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dirty="0">
                              <a:latin typeface="Cambria Math" panose="02040503050406030204" pitchFamily="18" charset="0"/>
                              <a:ea typeface="Microsoft YaHei" charset="0"/>
                            </a:rPr>
                          </m:ctrlPr>
                        </m:sSupPr>
                        <m:e>
                          <m:r>
                            <a:rPr lang="en-US" altLang="zh-CN" i="1">
                              <a:latin typeface="Cambria Math" panose="02040503050406030204" pitchFamily="18" charset="0"/>
                              <a:ea typeface="Microsoft YaHei" charset="0"/>
                            </a:rPr>
                            <m:t>=</m:t>
                          </m:r>
                          <m:d>
                            <m:dPr>
                              <m:begChr m:val="["/>
                              <m:endChr m:val="]"/>
                              <m:ctrlPr>
                                <a:rPr lang="en-US" altLang="zh-CN" i="1" dirty="0">
                                  <a:latin typeface="Cambria Math" panose="02040503050406030204" pitchFamily="18" charset="0"/>
                                  <a:ea typeface="Microsoft YaHei" charset="0"/>
                                </a:rPr>
                              </m:ctrlPr>
                            </m:dPr>
                            <m:e>
                              <m:r>
                                <a:rPr lang="en-US" altLang="zh-CN" i="1" dirty="0">
                                  <a:latin typeface="Cambria Math" panose="02040503050406030204" pitchFamily="18" charset="0"/>
                                  <a:ea typeface="Microsoft YaHei" charset="0"/>
                                </a:rPr>
                                <m:t>𝑦</m:t>
                              </m:r>
                              <m:r>
                                <a:rPr lang="en-US" altLang="zh-CN" i="1" dirty="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𝑚</m:t>
                                  </m:r>
                                  <m:r>
                                    <a:rPr lang="en-US" altLang="zh-CN" i="1">
                                      <a:latin typeface="Cambria Math" panose="02040503050406030204" pitchFamily="18" charset="0"/>
                                      <a:ea typeface="Microsoft YaHei" charset="0"/>
                                    </a:rPr>
                                    <m:t>−1</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e>
                          </m:d>
                        </m:e>
                        <m:sup>
                          <m:r>
                            <a:rPr lang="en-US" altLang="zh-CN" i="1" dirty="0">
                              <a:latin typeface="Cambria Math" panose="02040503050406030204" pitchFamily="18" charset="0"/>
                              <a:ea typeface="Microsoft YaHei" charset="0"/>
                            </a:rPr>
                            <m:t>2</m:t>
                          </m:r>
                        </m:sup>
                      </m:sSup>
                    </m:oMath>
                  </m:oMathPara>
                </a14:m>
                <a:endParaRPr lang="zh-CN" altLang="en-US" dirty="0">
                  <a:ea typeface="Microsoft YaHei" charset="0"/>
                </a:endParaRPr>
              </a:p>
            </p:txBody>
          </p:sp>
        </mc:Choice>
        <mc:Fallback xmlns="">
          <p:sp>
            <p:nvSpPr>
              <p:cNvPr id="23" name="矩形 22">
                <a:extLst>
                  <a:ext uri="{FF2B5EF4-FFF2-40B4-BE49-F238E27FC236}">
                    <a16:creationId xmlns:a16="http://schemas.microsoft.com/office/drawing/2014/main" id="{A73ED636-E616-4734-88D0-F05F112145EA}"/>
                  </a:ext>
                </a:extLst>
              </p:cNvPr>
              <p:cNvSpPr>
                <a:spLocks noRot="1" noChangeAspect="1" noMove="1" noResize="1" noEditPoints="1" noAdjustHandles="1" noChangeArrowheads="1" noChangeShapeType="1" noTextEdit="1"/>
              </p:cNvSpPr>
              <p:nvPr/>
            </p:nvSpPr>
            <p:spPr>
              <a:xfrm>
                <a:off x="2056080" y="4118784"/>
                <a:ext cx="3080908" cy="369332"/>
              </a:xfrm>
              <a:prstGeom prst="rect">
                <a:avLst/>
              </a:prstGeom>
              <a:blipFill>
                <a:blip r:embed="rId5"/>
                <a:stretch>
                  <a:fillRect r="-26680" b="-5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F8997692-C09E-4830-91EF-0451FAF2FC33}"/>
                  </a:ext>
                </a:extLst>
              </p:cNvPr>
              <p:cNvSpPr/>
              <p:nvPr/>
            </p:nvSpPr>
            <p:spPr>
              <a:xfrm>
                <a:off x="2056080" y="4596407"/>
                <a:ext cx="19836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Microsoft YaHei" charset="0"/>
                        </a:rPr>
                        <m:t>=</m:t>
                      </m:r>
                      <m:sSup>
                        <m:sSupPr>
                          <m:ctrlPr>
                            <a:rPr lang="en-US" altLang="zh-CN" i="1" dirty="0">
                              <a:latin typeface="Cambria Math" panose="02040503050406030204" pitchFamily="18" charset="0"/>
                              <a:ea typeface="Microsoft YaHei" charset="0"/>
                            </a:rPr>
                          </m:ctrlPr>
                        </m:sSupPr>
                        <m:e>
                          <m:d>
                            <m:dPr>
                              <m:begChr m:val="["/>
                              <m:endChr m:val="]"/>
                              <m:ctrlPr>
                                <a:rPr lang="en-US" altLang="zh-CN" i="1" dirty="0">
                                  <a:latin typeface="Cambria Math" panose="02040503050406030204" pitchFamily="18" charset="0"/>
                                  <a:ea typeface="Microsoft YaHei" charset="0"/>
                                </a:rPr>
                              </m:ctrlPr>
                            </m:dPr>
                            <m:e>
                              <m:r>
                                <a:rPr lang="en-US" altLang="zh-CN" i="1" dirty="0">
                                  <a:latin typeface="Cambria Math" panose="02040503050406030204" pitchFamily="18" charset="0"/>
                                  <a:ea typeface="Microsoft YaHei" charset="0"/>
                                </a:rPr>
                                <m:t>𝑟</m:t>
                              </m:r>
                              <m:r>
                                <a:rPr lang="en-US" altLang="zh-CN" i="1" dirty="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e>
                          </m:d>
                        </m:e>
                        <m:sup>
                          <m:r>
                            <a:rPr lang="en-US" altLang="zh-CN" i="1" dirty="0">
                              <a:latin typeface="Cambria Math" panose="02040503050406030204" pitchFamily="18" charset="0"/>
                              <a:ea typeface="Microsoft YaHei" charset="0"/>
                            </a:rPr>
                            <m:t>2</m:t>
                          </m:r>
                        </m:sup>
                      </m:sSup>
                    </m:oMath>
                  </m:oMathPara>
                </a14:m>
                <a:endParaRPr lang="zh-CN" altLang="en-US" dirty="0">
                  <a:ea typeface="Microsoft YaHei" charset="0"/>
                </a:endParaRPr>
              </a:p>
            </p:txBody>
          </p:sp>
        </mc:Choice>
        <mc:Fallback xmlns="">
          <p:sp>
            <p:nvSpPr>
              <p:cNvPr id="24" name="矩形 23">
                <a:extLst>
                  <a:ext uri="{FF2B5EF4-FFF2-40B4-BE49-F238E27FC236}">
                    <a16:creationId xmlns:a16="http://schemas.microsoft.com/office/drawing/2014/main" id="{F8997692-C09E-4830-91EF-0451FAF2FC33}"/>
                  </a:ext>
                </a:extLst>
              </p:cNvPr>
              <p:cNvSpPr>
                <a:spLocks noRot="1" noChangeAspect="1" noMove="1" noResize="1" noEditPoints="1" noAdjustHandles="1" noChangeArrowheads="1" noChangeShapeType="1" noTextEdit="1"/>
              </p:cNvSpPr>
              <p:nvPr/>
            </p:nvSpPr>
            <p:spPr>
              <a:xfrm>
                <a:off x="2056080" y="4596407"/>
                <a:ext cx="1983685" cy="369332"/>
              </a:xfrm>
              <a:prstGeom prst="rect">
                <a:avLst/>
              </a:prstGeom>
              <a:blipFill>
                <a:blip r:embed="rId6"/>
                <a:stretch>
                  <a:fillRect r="-23620"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E87EF864-C447-482F-89A5-024FF048C01F}"/>
                  </a:ext>
                </a:extLst>
              </p:cNvPr>
              <p:cNvSpPr txBox="1"/>
              <p:nvPr/>
            </p:nvSpPr>
            <p:spPr>
              <a:xfrm>
                <a:off x="1048356" y="5105907"/>
                <a:ext cx="10645543" cy="738664"/>
              </a:xfrm>
              <a:prstGeom prst="rect">
                <a:avLst/>
              </a:prstGeom>
              <a:noFill/>
            </p:spPr>
            <p:txBody>
              <a:bodyPr wrap="none" lIns="0" tIns="0" rIns="0" bIns="0" rtlCol="0">
                <a:spAutoFit/>
              </a:bodyPr>
              <a:lstStyle/>
              <a:p>
                <a:r>
                  <a:rPr lang="zh-CN" altLang="en-US" b="0" dirty="0">
                    <a:ea typeface="Microsoft YaHei" charset="0"/>
                  </a:rPr>
                  <a:t>其中</a:t>
                </a:r>
                <a14:m>
                  <m:oMath xmlns:m="http://schemas.openxmlformats.org/officeDocument/2006/math">
                    <m:r>
                      <a:rPr lang="zh-CN" altLang="en-US"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𝑟</m:t>
                    </m:r>
                    <m:r>
                      <a:rPr lang="en-US" altLang="zh-CN" b="0" i="1" smtClean="0">
                        <a:latin typeface="Cambria Math" panose="02040503050406030204" pitchFamily="18" charset="0"/>
                        <a:ea typeface="Microsoft YaHei" charset="0"/>
                      </a:rPr>
                      <m:t>=</m:t>
                    </m:r>
                    <m:r>
                      <a:rPr lang="en-US" altLang="zh-CN" i="1" dirty="0">
                        <a:latin typeface="Cambria Math" panose="02040503050406030204" pitchFamily="18" charset="0"/>
                        <a:ea typeface="Microsoft YaHei" charset="0"/>
                      </a:rPr>
                      <m:t>𝑦</m:t>
                    </m:r>
                    <m:r>
                      <a:rPr lang="en-US" altLang="zh-CN" i="1" dirty="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𝑚</m:t>
                        </m:r>
                        <m:r>
                          <a:rPr lang="en-US" altLang="zh-CN" i="1">
                            <a:latin typeface="Cambria Math" panose="02040503050406030204" pitchFamily="18" charset="0"/>
                            <a:ea typeface="Microsoft YaHei" charset="0"/>
                          </a:rPr>
                          <m:t>−1</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oMath>
                </a14:m>
                <a:r>
                  <a:rPr lang="zh-CN" altLang="en-US" dirty="0">
                    <a:ea typeface="Microsoft YaHei" charset="0"/>
                  </a:rPr>
                  <a:t>，为残差，</a:t>
                </a:r>
                <a:r>
                  <a:rPr lang="zh-CN" altLang="en-US" dirty="0"/>
                  <a:t>所以第</a:t>
                </a:r>
                <a14:m>
                  <m:oMath xmlns:m="http://schemas.openxmlformats.org/officeDocument/2006/math">
                    <m:r>
                      <a:rPr lang="en-US" altLang="zh-CN" i="1">
                        <a:solidFill>
                          <a:srgbClr val="FF0000"/>
                        </a:solidFill>
                        <a:latin typeface="Cambria Math" panose="02040503050406030204" pitchFamily="18" charset="0"/>
                        <a:ea typeface="Microsoft YaHei" charset="0"/>
                      </a:rPr>
                      <m:t>𝑚</m:t>
                    </m:r>
                  </m:oMath>
                </a14:m>
                <a:r>
                  <a:rPr lang="zh-CN" altLang="en-US" dirty="0"/>
                  <a:t>棵决策树</a:t>
                </a:r>
                <a14:m>
                  <m:oMath xmlns:m="http://schemas.openxmlformats.org/officeDocument/2006/math">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oMath>
                </a14:m>
                <a:r>
                  <a:rPr lang="zh-CN" altLang="en-US" dirty="0"/>
                  <a:t>是对该残差的拟合</a:t>
                </a:r>
                <a:endParaRPr lang="en-US" altLang="zh-CN" dirty="0"/>
              </a:p>
              <a:p>
                <a:endParaRPr lang="zh-CN" altLang="en-US" dirty="0">
                  <a:ea typeface="Microsoft YaHei" charset="0"/>
                </a:endParaRPr>
              </a:p>
            </p:txBody>
          </p:sp>
        </mc:Choice>
        <mc:Fallback xmlns="">
          <p:sp>
            <p:nvSpPr>
              <p:cNvPr id="25" name="文本框 24">
                <a:extLst>
                  <a:ext uri="{FF2B5EF4-FFF2-40B4-BE49-F238E27FC236}">
                    <a16:creationId xmlns:a16="http://schemas.microsoft.com/office/drawing/2014/main" id="{E87EF864-C447-482F-89A5-024FF048C01F}"/>
                  </a:ext>
                </a:extLst>
              </p:cNvPr>
              <p:cNvSpPr txBox="1">
                <a:spLocks noRot="1" noChangeAspect="1" noMove="1" noResize="1" noEditPoints="1" noAdjustHandles="1" noChangeArrowheads="1" noChangeShapeType="1" noTextEdit="1"/>
              </p:cNvSpPr>
              <p:nvPr/>
            </p:nvSpPr>
            <p:spPr>
              <a:xfrm>
                <a:off x="1048356" y="5105907"/>
                <a:ext cx="10645543" cy="738664"/>
              </a:xfrm>
              <a:prstGeom prst="rect">
                <a:avLst/>
              </a:prstGeom>
              <a:blipFill>
                <a:blip r:embed="rId7"/>
                <a:stretch>
                  <a:fillRect l="-1775" t="-13223" r="-745"/>
                </a:stretch>
              </a:blipFill>
            </p:spPr>
            <p:txBody>
              <a:bodyPr/>
              <a:lstStyle/>
              <a:p>
                <a:r>
                  <a:rPr lang="zh-CN" altLang="en-US">
                    <a:noFill/>
                  </a:rPr>
                  <a:t> </a:t>
                </a:r>
              </a:p>
            </p:txBody>
          </p:sp>
        </mc:Fallback>
      </mc:AlternateContent>
      <p:sp>
        <p:nvSpPr>
          <p:cNvPr id="27" name="文本框 26">
            <a:extLst>
              <a:ext uri="{FF2B5EF4-FFF2-40B4-BE49-F238E27FC236}">
                <a16:creationId xmlns:a16="http://schemas.microsoft.com/office/drawing/2014/main" id="{D8980E7F-106C-478F-9630-F82F145C06C3}"/>
              </a:ext>
            </a:extLst>
          </p:cNvPr>
          <p:cNvSpPr txBox="1"/>
          <p:nvPr/>
        </p:nvSpPr>
        <p:spPr>
          <a:xfrm>
            <a:off x="947224" y="2061872"/>
            <a:ext cx="6096000" cy="461665"/>
          </a:xfrm>
          <a:prstGeom prst="rect">
            <a:avLst/>
          </a:prstGeom>
          <a:noFill/>
        </p:spPr>
        <p:txBody>
          <a:bodyPr wrap="square">
            <a:spAutoFit/>
          </a:bodyPr>
          <a:lstStyle/>
          <a:p>
            <a:r>
              <a:rPr lang="zh-CN" altLang="en-US" dirty="0"/>
              <a:t>回归使用平方误差损失</a:t>
            </a:r>
          </a:p>
        </p:txBody>
      </p:sp>
      <p:sp>
        <p:nvSpPr>
          <p:cNvPr id="30" name="文本框 29">
            <a:extLst>
              <a:ext uri="{FF2B5EF4-FFF2-40B4-BE49-F238E27FC236}">
                <a16:creationId xmlns:a16="http://schemas.microsoft.com/office/drawing/2014/main" id="{1222474A-143B-4AC0-ACEE-A1DCCF53032C}"/>
              </a:ext>
            </a:extLst>
          </p:cNvPr>
          <p:cNvSpPr txBox="1"/>
          <p:nvPr/>
        </p:nvSpPr>
        <p:spPr>
          <a:xfrm>
            <a:off x="947223" y="6318237"/>
            <a:ext cx="9687951" cy="461665"/>
          </a:xfrm>
          <a:prstGeom prst="rect">
            <a:avLst/>
          </a:prstGeom>
          <a:noFill/>
        </p:spPr>
        <p:txBody>
          <a:bodyPr wrap="square">
            <a:spAutoFit/>
          </a:bodyPr>
          <a:lstStyle/>
          <a:p>
            <a:r>
              <a:rPr lang="zh-CN" altLang="en-US" dirty="0"/>
              <a:t>注意：提升树算法中的基学习器CART树是回归树</a:t>
            </a: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016CE8D5-D8E6-4FEE-A4EE-8F7D007B09FE}"/>
                  </a:ext>
                </a:extLst>
              </p:cNvPr>
              <p:cNvSpPr txBox="1"/>
              <p:nvPr/>
            </p:nvSpPr>
            <p:spPr>
              <a:xfrm>
                <a:off x="3509170" y="2032300"/>
                <a:ext cx="6096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oMath>
                  </m:oMathPara>
                </a14:m>
                <a:endParaRPr lang="zh-CN" altLang="en-US" dirty="0"/>
              </a:p>
            </p:txBody>
          </p:sp>
        </mc:Choice>
        <mc:Fallback xmlns="">
          <p:sp>
            <p:nvSpPr>
              <p:cNvPr id="31" name="文本框 30">
                <a:extLst>
                  <a:ext uri="{FF2B5EF4-FFF2-40B4-BE49-F238E27FC236}">
                    <a16:creationId xmlns:a16="http://schemas.microsoft.com/office/drawing/2014/main" id="{016CE8D5-D8E6-4FEE-A4EE-8F7D007B09FE}"/>
                  </a:ext>
                </a:extLst>
              </p:cNvPr>
              <p:cNvSpPr txBox="1">
                <a:spLocks noRot="1" noChangeAspect="1" noMove="1" noResize="1" noEditPoints="1" noAdjustHandles="1" noChangeArrowheads="1" noChangeShapeType="1" noTextEdit="1"/>
              </p:cNvSpPr>
              <p:nvPr/>
            </p:nvSpPr>
            <p:spPr>
              <a:xfrm>
                <a:off x="3509170" y="2032300"/>
                <a:ext cx="6096000" cy="461665"/>
              </a:xfrm>
              <a:prstGeom prst="rect">
                <a:avLst/>
              </a:prstGeom>
              <a:blipFill>
                <a:blip r:embed="rId8"/>
                <a:stretch>
                  <a:fillRect b="-19737"/>
                </a:stretch>
              </a:blipFill>
            </p:spPr>
            <p:txBody>
              <a:bodyPr/>
              <a:lstStyle/>
              <a:p>
                <a:r>
                  <a:rPr lang="zh-CN" altLang="en-US">
                    <a:noFill/>
                  </a:rPr>
                  <a:t> </a:t>
                </a:r>
              </a:p>
            </p:txBody>
          </p:sp>
        </mc:Fallback>
      </mc:AlternateContent>
      <p:cxnSp>
        <p:nvCxnSpPr>
          <p:cNvPr id="12" name="直接连接符 11">
            <a:extLst>
              <a:ext uri="{FF2B5EF4-FFF2-40B4-BE49-F238E27FC236}">
                <a16:creationId xmlns:a16="http://schemas.microsoft.com/office/drawing/2014/main" id="{FC2E6946-A959-45DE-94C5-7D5C99105CE4}"/>
              </a:ext>
            </a:extLst>
          </p:cNvPr>
          <p:cNvCxnSpPr/>
          <p:nvPr/>
        </p:nvCxnSpPr>
        <p:spPr>
          <a:xfrm>
            <a:off x="2546252" y="4594816"/>
            <a:ext cx="1613096" cy="0"/>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sp>
        <p:nvSpPr>
          <p:cNvPr id="33" name="Rectangle 2">
            <a:extLst>
              <a:ext uri="{FF2B5EF4-FFF2-40B4-BE49-F238E27FC236}">
                <a16:creationId xmlns:a16="http://schemas.microsoft.com/office/drawing/2014/main" id="{7F4AE3F8-41DC-469F-87C6-3C6A60BF4FF8}"/>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GBDT</a:t>
            </a:r>
            <a:r>
              <a:rPr lang="zh-CN" altLang="en-US" dirty="0">
                <a:solidFill>
                  <a:schemeClr val="tx1"/>
                </a:solidFill>
              </a:rPr>
              <a:t>算法</a:t>
            </a:r>
          </a:p>
        </p:txBody>
      </p:sp>
    </p:spTree>
    <p:extLst>
      <p:ext uri="{BB962C8B-B14F-4D97-AF65-F5344CB8AC3E}">
        <p14:creationId xmlns:p14="http://schemas.microsoft.com/office/powerpoint/2010/main" val="39644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anim calcmode="lin" valueType="num">
                                      <p:cBhvr>
                                        <p:cTn id="28" dur="500" fill="hold"/>
                                        <p:tgtEl>
                                          <p:spTgt spid="23"/>
                                        </p:tgtEl>
                                        <p:attrNameLst>
                                          <p:attrName>ppt_w</p:attrName>
                                        </p:attrNameLst>
                                      </p:cBhvr>
                                      <p:tavLst>
                                        <p:tav tm="0">
                                          <p:val>
                                            <p:fltVal val="0"/>
                                          </p:val>
                                        </p:tav>
                                        <p:tav tm="100000">
                                          <p:val>
                                            <p:strVal val="#ppt_w"/>
                                          </p:val>
                                        </p:tav>
                                      </p:tavLst>
                                    </p:anim>
                                    <p:anim calcmode="lin" valueType="num">
                                      <p:cBhvr>
                                        <p:cTn id="29" dur="500" fill="hold"/>
                                        <p:tgtEl>
                                          <p:spTgt spid="23"/>
                                        </p:tgtEl>
                                        <p:attrNameLst>
                                          <p:attrName>ppt_h</p:attrName>
                                        </p:attrNameLst>
                                      </p:cBhvr>
                                      <p:tavLst>
                                        <p:tav tm="0">
                                          <p:val>
                                            <p:fltVal val="0"/>
                                          </p:val>
                                        </p:tav>
                                        <p:tav tm="100000">
                                          <p:val>
                                            <p:strVal val="#ppt_h"/>
                                          </p:val>
                                        </p:tav>
                                      </p:tavLst>
                                    </p:anim>
                                    <p:animEffect transition="in" filter="fade">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p:cTn id="35" dur="500" fill="hold"/>
                                        <p:tgtEl>
                                          <p:spTgt spid="24"/>
                                        </p:tgtEl>
                                        <p:attrNameLst>
                                          <p:attrName>ppt_w</p:attrName>
                                        </p:attrNameLst>
                                      </p:cBhvr>
                                      <p:tavLst>
                                        <p:tav tm="0">
                                          <p:val>
                                            <p:fltVal val="0"/>
                                          </p:val>
                                        </p:tav>
                                        <p:tav tm="100000">
                                          <p:val>
                                            <p:strVal val="#ppt_w"/>
                                          </p:val>
                                        </p:tav>
                                      </p:tavLst>
                                    </p:anim>
                                    <p:anim calcmode="lin" valueType="num">
                                      <p:cBhvr>
                                        <p:cTn id="36" dur="500" fill="hold"/>
                                        <p:tgtEl>
                                          <p:spTgt spid="24"/>
                                        </p:tgtEl>
                                        <p:attrNameLst>
                                          <p:attrName>ppt_h</p:attrName>
                                        </p:attrNameLst>
                                      </p:cBhvr>
                                      <p:tavLst>
                                        <p:tav tm="0">
                                          <p:val>
                                            <p:fltVal val="0"/>
                                          </p:val>
                                        </p:tav>
                                        <p:tav tm="100000">
                                          <p:val>
                                            <p:strVal val="#ppt_h"/>
                                          </p:val>
                                        </p:tav>
                                      </p:tavLst>
                                    </p:anim>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down)">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p:cTn id="47" dur="500" fill="hold"/>
                                        <p:tgtEl>
                                          <p:spTgt spid="25"/>
                                        </p:tgtEl>
                                        <p:attrNameLst>
                                          <p:attrName>ppt_w</p:attrName>
                                        </p:attrNameLst>
                                      </p:cBhvr>
                                      <p:tavLst>
                                        <p:tav tm="0">
                                          <p:val>
                                            <p:fltVal val="0"/>
                                          </p:val>
                                        </p:tav>
                                        <p:tav tm="100000">
                                          <p:val>
                                            <p:strVal val="#ppt_w"/>
                                          </p:val>
                                        </p:tav>
                                      </p:tavLst>
                                    </p:anim>
                                    <p:anim calcmode="lin" valueType="num">
                                      <p:cBhvr>
                                        <p:cTn id="48" dur="500" fill="hold"/>
                                        <p:tgtEl>
                                          <p:spTgt spid="25"/>
                                        </p:tgtEl>
                                        <p:attrNameLst>
                                          <p:attrName>ppt_h</p:attrName>
                                        </p:attrNameLst>
                                      </p:cBhvr>
                                      <p:tavLst>
                                        <p:tav tm="0">
                                          <p:val>
                                            <p:fltVal val="0"/>
                                          </p:val>
                                        </p:tav>
                                        <p:tav tm="100000">
                                          <p:val>
                                            <p:strVal val="#ppt_h"/>
                                          </p:val>
                                        </p:tav>
                                      </p:tavLst>
                                    </p:anim>
                                    <p:animEffect transition="in" filter="fade">
                                      <p:cBhvr>
                                        <p:cTn id="49" dur="50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3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p:cNvSpPr txBox="1"/>
              <p:nvPr/>
            </p:nvSpPr>
            <p:spPr>
              <a:xfrm>
                <a:off x="905435" y="1216265"/>
                <a:ext cx="7946604" cy="1765355"/>
              </a:xfrm>
              <a:prstGeom prst="rect">
                <a:avLst/>
              </a:prstGeom>
              <a:noFill/>
            </p:spPr>
            <p:txBody>
              <a:bodyPr wrap="square" rtlCol="0">
                <a:spAutoFit/>
              </a:bodyPr>
              <a:lstStyle/>
              <a:p>
                <a:pPr>
                  <a:lnSpc>
                    <a:spcPct val="150000"/>
                  </a:lnSpc>
                  <a:spcAft>
                    <a:spcPts val="600"/>
                  </a:spcAft>
                </a:pPr>
                <a:r>
                  <a:rPr lang="zh-CN" altLang="en-US" b="1" dirty="0">
                    <a:solidFill>
                      <a:schemeClr val="tx1"/>
                    </a:solidFill>
                    <a:ea typeface="Microsoft YaHei" charset="0"/>
                  </a:rPr>
                  <a:t>回归树问题的提升算法：</a:t>
                </a:r>
                <a:endParaRPr lang="en-US" altLang="zh-CN" b="1" dirty="0">
                  <a:solidFill>
                    <a:schemeClr val="tx1"/>
                  </a:solidFill>
                  <a:ea typeface="Microsoft YaHei" charset="0"/>
                </a:endParaRPr>
              </a:p>
              <a:p>
                <a:pPr>
                  <a:lnSpc>
                    <a:spcPct val="150000"/>
                  </a:lnSpc>
                </a:pPr>
                <a:r>
                  <a:rPr lang="zh-CN" altLang="en-US" dirty="0">
                    <a:solidFill>
                      <a:schemeClr val="tx1"/>
                    </a:solidFill>
                    <a:ea typeface="Microsoft YaHei" charset="0"/>
                  </a:rPr>
                  <a:t>输入：训练数据集</a:t>
                </a:r>
                <a14:m>
                  <m:oMath xmlns:m="http://schemas.openxmlformats.org/officeDocument/2006/math">
                    <m:r>
                      <a:rPr lang="en-US" altLang="zh-CN" b="0" i="1" smtClean="0">
                        <a:solidFill>
                          <a:schemeClr val="tx1"/>
                        </a:solidFill>
                        <a:latin typeface="Cambria Math" panose="02040503050406030204" pitchFamily="18" charset="0"/>
                        <a:ea typeface="Microsoft YaHei" charset="0"/>
                      </a:rPr>
                      <m:t>𝑇</m:t>
                    </m:r>
                    <m:r>
                      <a:rPr lang="en-US" altLang="zh-CN" b="0" i="1" smtClean="0">
                        <a:solidFill>
                          <a:schemeClr val="tx1"/>
                        </a:solidFill>
                        <a:latin typeface="Cambria Math" panose="02040503050406030204" pitchFamily="18" charset="0"/>
                        <a:ea typeface="Microsoft YaHei" charset="0"/>
                      </a:rPr>
                      <m:t>=</m:t>
                    </m:r>
                    <m:d>
                      <m:dPr>
                        <m:begChr m:val="{"/>
                        <m:endChr m:val="}"/>
                        <m:ctrlPr>
                          <a:rPr lang="en-US" altLang="zh-CN" b="0" i="1" smtClean="0">
                            <a:solidFill>
                              <a:schemeClr val="tx1"/>
                            </a:solidFill>
                            <a:latin typeface="Cambria Math" panose="02040503050406030204" pitchFamily="18" charset="0"/>
                            <a:ea typeface="Microsoft YaHei" charset="0"/>
                          </a:rPr>
                        </m:ctrlPr>
                      </m:dPr>
                      <m:e>
                        <m:d>
                          <m:dPr>
                            <m:ctrlPr>
                              <a:rPr lang="en-US" altLang="zh-CN" b="0" i="1" smtClean="0">
                                <a:solidFill>
                                  <a:schemeClr val="tx1"/>
                                </a:solidFill>
                                <a:latin typeface="Cambria Math" panose="02040503050406030204" pitchFamily="18" charset="0"/>
                                <a:ea typeface="Microsoft YaHei" charset="0"/>
                              </a:rPr>
                            </m:ctrlPr>
                          </m:dPr>
                          <m:e>
                            <m:sSub>
                              <m:sSubPr>
                                <m:ctrlPr>
                                  <a:rPr lang="en-US" altLang="zh-CN" b="0" i="1" smtClean="0">
                                    <a:solidFill>
                                      <a:schemeClr val="tx1"/>
                                    </a:solidFill>
                                    <a:latin typeface="Cambria Math" panose="02040503050406030204" pitchFamily="18" charset="0"/>
                                    <a:ea typeface="Microsoft YaHei" charset="0"/>
                                  </a:rPr>
                                </m:ctrlPr>
                              </m:sSubPr>
                              <m:e>
                                <m:r>
                                  <a:rPr lang="en-US" altLang="zh-CN" b="0" i="1" smtClean="0">
                                    <a:solidFill>
                                      <a:schemeClr val="tx1"/>
                                    </a:solidFill>
                                    <a:latin typeface="Cambria Math" panose="02040503050406030204" pitchFamily="18" charset="0"/>
                                    <a:ea typeface="Microsoft YaHei" charset="0"/>
                                  </a:rPr>
                                  <m:t>𝑥</m:t>
                                </m:r>
                              </m:e>
                              <m:sub>
                                <m:r>
                                  <a:rPr lang="en-US" altLang="zh-CN" b="0" i="1" smtClean="0">
                                    <a:solidFill>
                                      <a:schemeClr val="tx1"/>
                                    </a:solidFill>
                                    <a:latin typeface="Cambria Math" panose="02040503050406030204" pitchFamily="18" charset="0"/>
                                    <a:ea typeface="Microsoft YaHei" charset="0"/>
                                  </a:rPr>
                                  <m:t>1</m:t>
                                </m:r>
                              </m:sub>
                            </m:sSub>
                            <m:r>
                              <a:rPr lang="en-US" altLang="zh-CN" b="0" i="1" smtClean="0">
                                <a:solidFill>
                                  <a:schemeClr val="tx1"/>
                                </a:solidFill>
                                <a:latin typeface="Cambria Math" panose="02040503050406030204" pitchFamily="18" charset="0"/>
                                <a:ea typeface="Microsoft YaHei" charset="0"/>
                              </a:rPr>
                              <m:t>,</m:t>
                            </m:r>
                            <m:sSub>
                              <m:sSubPr>
                                <m:ctrlPr>
                                  <a:rPr lang="en-US" altLang="zh-CN" b="0" i="1" smtClean="0">
                                    <a:solidFill>
                                      <a:schemeClr val="tx1"/>
                                    </a:solidFill>
                                    <a:latin typeface="Cambria Math" panose="02040503050406030204" pitchFamily="18" charset="0"/>
                                    <a:ea typeface="Microsoft YaHei" charset="0"/>
                                  </a:rPr>
                                </m:ctrlPr>
                              </m:sSubPr>
                              <m:e>
                                <m:r>
                                  <a:rPr lang="en-US" altLang="zh-CN" b="0" i="1" smtClean="0">
                                    <a:solidFill>
                                      <a:schemeClr val="tx1"/>
                                    </a:solidFill>
                                    <a:latin typeface="Cambria Math" panose="02040503050406030204" pitchFamily="18" charset="0"/>
                                    <a:ea typeface="Microsoft YaHei" charset="0"/>
                                  </a:rPr>
                                  <m:t>𝑦</m:t>
                                </m:r>
                              </m:e>
                              <m:sub>
                                <m:r>
                                  <a:rPr lang="en-US" altLang="zh-CN" b="0" i="1" smtClean="0">
                                    <a:solidFill>
                                      <a:schemeClr val="tx1"/>
                                    </a:solidFill>
                                    <a:latin typeface="Cambria Math" panose="02040503050406030204" pitchFamily="18" charset="0"/>
                                    <a:ea typeface="Microsoft YaHei" charset="0"/>
                                  </a:rPr>
                                  <m:t>1</m:t>
                                </m:r>
                              </m:sub>
                            </m:sSub>
                          </m:e>
                        </m:d>
                        <m:r>
                          <a:rPr lang="en-US" altLang="zh-CN" b="0" i="1" smtClean="0">
                            <a:solidFill>
                              <a:schemeClr val="tx1"/>
                            </a:solidFill>
                            <a:latin typeface="Cambria Math" panose="02040503050406030204" pitchFamily="18" charset="0"/>
                            <a:ea typeface="Microsoft YaHei" charset="0"/>
                          </a:rPr>
                          <m:t>,</m:t>
                        </m:r>
                        <m:d>
                          <m:dPr>
                            <m:ctrlPr>
                              <a:rPr lang="en-US" altLang="zh-CN" i="1">
                                <a:solidFill>
                                  <a:schemeClr val="tx1"/>
                                </a:solidFill>
                                <a:latin typeface="Cambria Math" panose="02040503050406030204" pitchFamily="18" charset="0"/>
                                <a:ea typeface="Microsoft YaHei" charset="0"/>
                              </a:rPr>
                            </m:ctrlPr>
                          </m:dPr>
                          <m:e>
                            <m:sSub>
                              <m:sSubPr>
                                <m:ctrlPr>
                                  <a:rPr lang="en-US" altLang="zh-CN" i="1">
                                    <a:solidFill>
                                      <a:schemeClr val="tx1"/>
                                    </a:solidFill>
                                    <a:latin typeface="Cambria Math" panose="02040503050406030204" pitchFamily="18" charset="0"/>
                                    <a:ea typeface="Microsoft YaHei" charset="0"/>
                                  </a:rPr>
                                </m:ctrlPr>
                              </m:sSubPr>
                              <m:e>
                                <m:r>
                                  <a:rPr lang="en-US" altLang="zh-CN" i="1">
                                    <a:solidFill>
                                      <a:schemeClr val="tx1"/>
                                    </a:solidFill>
                                    <a:latin typeface="Cambria Math" panose="02040503050406030204" pitchFamily="18" charset="0"/>
                                    <a:ea typeface="Microsoft YaHei" charset="0"/>
                                  </a:rPr>
                                  <m:t>𝑥</m:t>
                                </m:r>
                              </m:e>
                              <m:sub>
                                <m:r>
                                  <a:rPr lang="en-US" altLang="zh-CN" b="0" i="1" smtClean="0">
                                    <a:solidFill>
                                      <a:schemeClr val="tx1"/>
                                    </a:solidFill>
                                    <a:latin typeface="Cambria Math" panose="02040503050406030204" pitchFamily="18" charset="0"/>
                                    <a:ea typeface="Microsoft YaHei" charset="0"/>
                                  </a:rPr>
                                  <m:t>2</m:t>
                                </m:r>
                              </m:sub>
                            </m:sSub>
                            <m:r>
                              <a:rPr lang="en-US" altLang="zh-CN" i="1">
                                <a:solidFill>
                                  <a:schemeClr val="tx1"/>
                                </a:solidFill>
                                <a:latin typeface="Cambria Math" panose="02040503050406030204" pitchFamily="18" charset="0"/>
                                <a:ea typeface="Microsoft YaHei" charset="0"/>
                              </a:rPr>
                              <m:t>,</m:t>
                            </m:r>
                            <m:sSub>
                              <m:sSubPr>
                                <m:ctrlPr>
                                  <a:rPr lang="en-US" altLang="zh-CN" i="1">
                                    <a:solidFill>
                                      <a:schemeClr val="tx1"/>
                                    </a:solidFill>
                                    <a:latin typeface="Cambria Math" panose="02040503050406030204" pitchFamily="18" charset="0"/>
                                    <a:ea typeface="Microsoft YaHei" charset="0"/>
                                  </a:rPr>
                                </m:ctrlPr>
                              </m:sSubPr>
                              <m:e>
                                <m:r>
                                  <a:rPr lang="en-US" altLang="zh-CN" i="1">
                                    <a:solidFill>
                                      <a:schemeClr val="tx1"/>
                                    </a:solidFill>
                                    <a:latin typeface="Cambria Math" panose="02040503050406030204" pitchFamily="18" charset="0"/>
                                    <a:ea typeface="Microsoft YaHei" charset="0"/>
                                  </a:rPr>
                                  <m:t>𝑦</m:t>
                                </m:r>
                              </m:e>
                              <m:sub>
                                <m:r>
                                  <a:rPr lang="en-US" altLang="zh-CN" b="0" i="1" smtClean="0">
                                    <a:solidFill>
                                      <a:schemeClr val="tx1"/>
                                    </a:solidFill>
                                    <a:latin typeface="Cambria Math" panose="02040503050406030204" pitchFamily="18" charset="0"/>
                                    <a:ea typeface="Microsoft YaHei" charset="0"/>
                                  </a:rPr>
                                  <m:t>2</m:t>
                                </m:r>
                              </m:sub>
                            </m:sSub>
                          </m:e>
                        </m:d>
                        <m:r>
                          <a:rPr lang="en-US" altLang="zh-CN" i="1">
                            <a:solidFill>
                              <a:schemeClr val="tx1"/>
                            </a:solidFill>
                            <a:latin typeface="Cambria Math" panose="02040503050406030204" pitchFamily="18" charset="0"/>
                            <a:ea typeface="Microsoft YaHei" charset="0"/>
                          </a:rPr>
                          <m:t>,…</m:t>
                        </m:r>
                        <m:r>
                          <a:rPr lang="en-US" altLang="zh-CN" b="0" i="1" smtClean="0">
                            <a:solidFill>
                              <a:schemeClr val="tx1"/>
                            </a:solidFill>
                            <a:latin typeface="Cambria Math" panose="02040503050406030204" pitchFamily="18" charset="0"/>
                            <a:ea typeface="Microsoft YaHei" charset="0"/>
                          </a:rPr>
                          <m:t>,</m:t>
                        </m:r>
                        <m:d>
                          <m:dPr>
                            <m:ctrlPr>
                              <a:rPr lang="en-US" altLang="zh-CN" i="1">
                                <a:solidFill>
                                  <a:schemeClr val="tx1"/>
                                </a:solidFill>
                                <a:latin typeface="Cambria Math" panose="02040503050406030204" pitchFamily="18" charset="0"/>
                                <a:ea typeface="Microsoft YaHei" charset="0"/>
                              </a:rPr>
                            </m:ctrlPr>
                          </m:dPr>
                          <m:e>
                            <m:sSub>
                              <m:sSubPr>
                                <m:ctrlPr>
                                  <a:rPr lang="en-US" altLang="zh-CN" i="1">
                                    <a:solidFill>
                                      <a:schemeClr val="tx1"/>
                                    </a:solidFill>
                                    <a:latin typeface="Cambria Math" panose="02040503050406030204" pitchFamily="18" charset="0"/>
                                    <a:ea typeface="Microsoft YaHei" charset="0"/>
                                  </a:rPr>
                                </m:ctrlPr>
                              </m:sSubPr>
                              <m:e>
                                <m:r>
                                  <a:rPr lang="en-US" altLang="zh-CN" i="1">
                                    <a:solidFill>
                                      <a:schemeClr val="tx1"/>
                                    </a:solidFill>
                                    <a:latin typeface="Cambria Math" panose="02040503050406030204" pitchFamily="18" charset="0"/>
                                    <a:ea typeface="Microsoft YaHei" charset="0"/>
                                  </a:rPr>
                                  <m:t>𝑥</m:t>
                                </m:r>
                              </m:e>
                              <m:sub>
                                <m:r>
                                  <a:rPr lang="en-US" altLang="zh-CN" b="0" i="1" smtClean="0">
                                    <a:solidFill>
                                      <a:schemeClr val="tx1"/>
                                    </a:solidFill>
                                    <a:latin typeface="Cambria Math" panose="02040503050406030204" pitchFamily="18" charset="0"/>
                                    <a:ea typeface="Microsoft YaHei" charset="0"/>
                                  </a:rPr>
                                  <m:t>𝑁</m:t>
                                </m:r>
                              </m:sub>
                            </m:sSub>
                            <m:r>
                              <a:rPr lang="en-US" altLang="zh-CN" i="1">
                                <a:solidFill>
                                  <a:schemeClr val="tx1"/>
                                </a:solidFill>
                                <a:latin typeface="Cambria Math" panose="02040503050406030204" pitchFamily="18" charset="0"/>
                                <a:ea typeface="Microsoft YaHei" charset="0"/>
                              </a:rPr>
                              <m:t>,</m:t>
                            </m:r>
                            <m:sSub>
                              <m:sSubPr>
                                <m:ctrlPr>
                                  <a:rPr lang="en-US" altLang="zh-CN" i="1">
                                    <a:solidFill>
                                      <a:schemeClr val="tx1"/>
                                    </a:solidFill>
                                    <a:latin typeface="Cambria Math" panose="02040503050406030204" pitchFamily="18" charset="0"/>
                                    <a:ea typeface="Microsoft YaHei" charset="0"/>
                                  </a:rPr>
                                </m:ctrlPr>
                              </m:sSubPr>
                              <m:e>
                                <m:r>
                                  <a:rPr lang="en-US" altLang="zh-CN" i="1">
                                    <a:solidFill>
                                      <a:schemeClr val="tx1"/>
                                    </a:solidFill>
                                    <a:latin typeface="Cambria Math" panose="02040503050406030204" pitchFamily="18" charset="0"/>
                                    <a:ea typeface="Microsoft YaHei" charset="0"/>
                                  </a:rPr>
                                  <m:t>𝑦</m:t>
                                </m:r>
                              </m:e>
                              <m:sub>
                                <m:r>
                                  <a:rPr lang="en-US" altLang="zh-CN" b="0" i="1" smtClean="0">
                                    <a:solidFill>
                                      <a:schemeClr val="tx1"/>
                                    </a:solidFill>
                                    <a:latin typeface="Cambria Math" panose="02040503050406030204" pitchFamily="18" charset="0"/>
                                    <a:ea typeface="Microsoft YaHei" charset="0"/>
                                  </a:rPr>
                                  <m:t>𝑁</m:t>
                                </m:r>
                              </m:sub>
                            </m:sSub>
                          </m:e>
                        </m:d>
                      </m:e>
                    </m:d>
                  </m:oMath>
                </a14:m>
                <a:endParaRPr lang="en-US" altLang="zh-CN" dirty="0">
                  <a:solidFill>
                    <a:schemeClr val="tx1"/>
                  </a:solidFill>
                  <a:ea typeface="Microsoft YaHei" charset="0"/>
                </a:endParaRPr>
              </a:p>
              <a:p>
                <a:pPr>
                  <a:lnSpc>
                    <a:spcPct val="150000"/>
                  </a:lnSpc>
                </a:pPr>
                <a:r>
                  <a:rPr lang="zh-CN" altLang="en-US" dirty="0">
                    <a:solidFill>
                      <a:schemeClr val="tx1"/>
                    </a:solidFill>
                    <a:ea typeface="Microsoft YaHei" charset="0"/>
                  </a:rPr>
                  <a:t>输出：提升树</a:t>
                </a:r>
                <a14:m>
                  <m:oMath xmlns:m="http://schemas.openxmlformats.org/officeDocument/2006/math">
                    <m:sSub>
                      <m:sSubPr>
                        <m:ctrlPr>
                          <a:rPr lang="en-US" altLang="zh-CN" i="1" smtClean="0">
                            <a:solidFill>
                              <a:schemeClr val="tx1"/>
                            </a:solidFill>
                            <a:latin typeface="Cambria Math" panose="02040503050406030204" pitchFamily="18" charset="0"/>
                            <a:ea typeface="Microsoft YaHei" charset="0"/>
                          </a:rPr>
                        </m:ctrlPr>
                      </m:sSubPr>
                      <m:e>
                        <m:r>
                          <a:rPr lang="en-US" altLang="zh-CN" b="0" i="1" smtClean="0">
                            <a:solidFill>
                              <a:schemeClr val="tx1"/>
                            </a:solidFill>
                            <a:latin typeface="Cambria Math" panose="02040503050406030204" pitchFamily="18" charset="0"/>
                            <a:ea typeface="Microsoft YaHei" charset="0"/>
                          </a:rPr>
                          <m:t>𝑓</m:t>
                        </m:r>
                      </m:e>
                      <m:sub>
                        <m:r>
                          <a:rPr lang="en-US" altLang="zh-CN" b="0" i="1" smtClean="0">
                            <a:solidFill>
                              <a:schemeClr val="tx1"/>
                            </a:solidFill>
                            <a:latin typeface="Cambria Math" panose="02040503050406030204" pitchFamily="18" charset="0"/>
                            <a:ea typeface="Microsoft YaHei" charset="0"/>
                          </a:rPr>
                          <m:t>𝑀</m:t>
                        </m:r>
                      </m:sub>
                    </m:sSub>
                    <m:r>
                      <a:rPr lang="en-US" altLang="zh-CN" b="0" i="1" smtClean="0">
                        <a:solidFill>
                          <a:schemeClr val="tx1"/>
                        </a:solidFill>
                        <a:latin typeface="Cambria Math" panose="02040503050406030204" pitchFamily="18" charset="0"/>
                        <a:ea typeface="Microsoft YaHei" charset="0"/>
                      </a:rPr>
                      <m:t>(</m:t>
                    </m:r>
                    <m:r>
                      <a:rPr lang="en-US" altLang="zh-CN" b="0" i="1" smtClean="0">
                        <a:solidFill>
                          <a:schemeClr val="tx1"/>
                        </a:solidFill>
                        <a:latin typeface="Cambria Math" panose="02040503050406030204" pitchFamily="18" charset="0"/>
                        <a:ea typeface="Microsoft YaHei" charset="0"/>
                      </a:rPr>
                      <m:t>𝑥</m:t>
                    </m:r>
                    <m:r>
                      <a:rPr lang="en-US" altLang="zh-CN" b="0" i="1" smtClean="0">
                        <a:solidFill>
                          <a:schemeClr val="tx1"/>
                        </a:solidFill>
                        <a:latin typeface="Cambria Math" panose="02040503050406030204" pitchFamily="18" charset="0"/>
                        <a:ea typeface="Microsoft YaHei" charset="0"/>
                      </a:rPr>
                      <m:t>)</m:t>
                    </m:r>
                  </m:oMath>
                </a14:m>
                <a:endParaRPr lang="en-US" altLang="zh-CN" dirty="0">
                  <a:solidFill>
                    <a:schemeClr val="tx1"/>
                  </a:solidFill>
                  <a:ea typeface="Microsoft YaHei"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905435" y="1216265"/>
                <a:ext cx="7946604" cy="1765355"/>
              </a:xfrm>
              <a:prstGeom prst="rect">
                <a:avLst/>
              </a:prstGeom>
              <a:blipFill>
                <a:blip r:embed="rId3"/>
                <a:stretch>
                  <a:fillRect l="-1228" b="-72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085211" y="3084238"/>
                <a:ext cx="2250552" cy="3091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1</m:t>
                          </m:r>
                        </m:e>
                      </m:d>
                      <m:r>
                        <a:rPr lang="zh-CN" altLang="en-US" sz="2000" i="1">
                          <a:latin typeface="Cambria Math" panose="02040503050406030204" pitchFamily="18" charset="0"/>
                          <a:ea typeface="Microsoft YaHei" charset="0"/>
                        </a:rPr>
                        <m:t>初始化</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0</m:t>
                          </m:r>
                        </m:sub>
                      </m:sSub>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r>
                        <a:rPr lang="en-US" altLang="zh-CN" sz="2000" b="0" i="1" smtClean="0">
                          <a:latin typeface="Cambria Math" panose="02040503050406030204" pitchFamily="18" charset="0"/>
                          <a:ea typeface="Microsoft YaHei" charset="0"/>
                        </a:rPr>
                        <m:t>=0</m:t>
                      </m:r>
                    </m:oMath>
                  </m:oMathPara>
                </a14:m>
                <a:endParaRPr lang="zh-CN" altLang="en-US" sz="2000" dirty="0">
                  <a:ea typeface="Microsoft YaHei"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085211" y="3084238"/>
                <a:ext cx="2250552" cy="309124"/>
              </a:xfrm>
              <a:prstGeom prst="rect">
                <a:avLst/>
              </a:prstGeom>
              <a:blipFill>
                <a:blip r:embed="rId4"/>
                <a:stretch>
                  <a:fillRect t="-9804" r="-1897" b="-352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1085211" y="3597801"/>
                <a:ext cx="212987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2</m:t>
                          </m:r>
                        </m:e>
                      </m:d>
                      <m:r>
                        <a:rPr lang="zh-CN" altLang="en-US" sz="2000" b="0" i="1" smtClean="0">
                          <a:latin typeface="Cambria Math" panose="02040503050406030204" pitchFamily="18" charset="0"/>
                          <a:ea typeface="Microsoft YaHei" charset="0"/>
                        </a:rPr>
                        <m:t>对</m:t>
                      </m:r>
                      <m:r>
                        <a:rPr lang="en-US" altLang="zh-CN" sz="2000" b="0" i="1" smtClean="0">
                          <a:latin typeface="Cambria Math" panose="02040503050406030204" pitchFamily="18" charset="0"/>
                          <a:ea typeface="Microsoft YaHei" charset="0"/>
                        </a:rPr>
                        <m:t>𝑚</m:t>
                      </m:r>
                      <m:r>
                        <a:rPr lang="en-US" altLang="zh-CN" sz="2000" b="0" i="1" smtClean="0">
                          <a:latin typeface="Cambria Math" panose="02040503050406030204" pitchFamily="18" charset="0"/>
                          <a:ea typeface="Microsoft YaHei" charset="0"/>
                        </a:rPr>
                        <m:t>=1,2,…</m:t>
                      </m:r>
                      <m:r>
                        <a:rPr lang="en-US" altLang="zh-CN" sz="2000" b="0" i="1" smtClean="0">
                          <a:latin typeface="Cambria Math" panose="02040503050406030204" pitchFamily="18" charset="0"/>
                          <a:ea typeface="Microsoft YaHei" charset="0"/>
                        </a:rPr>
                        <m:t>𝑀</m:t>
                      </m:r>
                    </m:oMath>
                  </m:oMathPara>
                </a14:m>
                <a:endParaRPr lang="zh-CN" altLang="en-US" sz="2000" dirty="0">
                  <a:ea typeface="Microsoft YaHei"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085211" y="3597801"/>
                <a:ext cx="2129878" cy="307777"/>
              </a:xfrm>
              <a:prstGeom prst="rect">
                <a:avLst/>
              </a:prstGeom>
              <a:blipFill>
                <a:blip r:embed="rId5"/>
                <a:stretch>
                  <a:fillRect t="-5882" r="-2006" b="-294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1441366" y="4006366"/>
                <a:ext cx="1457002" cy="311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𝑎</m:t>
                      </m:r>
                      <m:r>
                        <a:rPr lang="en-US" altLang="zh-CN" sz="2000" b="0" i="1" smtClean="0">
                          <a:latin typeface="Cambria Math" panose="02040503050406030204" pitchFamily="18" charset="0"/>
                          <a:ea typeface="Microsoft YaHei" charset="0"/>
                        </a:rPr>
                        <m:t>)</m:t>
                      </m:r>
                      <m:r>
                        <a:rPr lang="zh-CN" altLang="en-US" sz="2000" i="1">
                          <a:latin typeface="Cambria Math" panose="02040503050406030204" pitchFamily="18" charset="0"/>
                          <a:ea typeface="Microsoft YaHei" charset="0"/>
                        </a:rPr>
                        <m:t>计算</m:t>
                      </m:r>
                      <m:r>
                        <a:rPr lang="zh-CN" altLang="en-US" sz="2000" i="1" smtClean="0">
                          <a:latin typeface="Cambria Math" panose="02040503050406030204" pitchFamily="18" charset="0"/>
                          <a:ea typeface="Microsoft YaHei" charset="0"/>
                        </a:rPr>
                        <m:t>残差</m:t>
                      </m:r>
                    </m:oMath>
                  </m:oMathPara>
                </a14:m>
                <a:endParaRPr lang="zh-CN" altLang="en-US" sz="2000" dirty="0">
                  <a:ea typeface="Microsoft YaHei"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441366" y="4006366"/>
                <a:ext cx="1457002" cy="311111"/>
              </a:xfrm>
              <a:prstGeom prst="rect">
                <a:avLst/>
              </a:prstGeom>
              <a:blipFill>
                <a:blip r:embed="rId6"/>
                <a:stretch>
                  <a:fillRect l="-5439" t="-9804" r="-6276" b="-37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2993619" y="3965613"/>
                <a:ext cx="372537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𝑟</m:t>
                          </m:r>
                        </m:e>
                        <m:sub>
                          <m:r>
                            <a:rPr lang="en-US" altLang="zh-CN" sz="2000" b="0" i="1" smtClean="0">
                              <a:latin typeface="Cambria Math" panose="02040503050406030204" pitchFamily="18" charset="0"/>
                              <a:ea typeface="Microsoft YaHei" charset="0"/>
                            </a:rPr>
                            <m:t>𝑚𝑖</m:t>
                          </m:r>
                        </m:sub>
                      </m:sSub>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𝑚</m:t>
                          </m:r>
                          <m:r>
                            <a:rPr lang="en-US" altLang="zh-CN" sz="2000" b="0" i="1" smtClean="0">
                              <a:latin typeface="Cambria Math" panose="02040503050406030204" pitchFamily="18" charset="0"/>
                              <a:ea typeface="Microsoft YaHei" charset="0"/>
                            </a:rPr>
                            <m:t>−1</m:t>
                          </m:r>
                        </m:sub>
                      </m:sSub>
                      <m:d>
                        <m:dPr>
                          <m:ctrlPr>
                            <a:rPr lang="en-US" altLang="zh-CN" sz="2000" b="0" i="1" smtClean="0">
                              <a:latin typeface="Cambria Math" panose="02040503050406030204" pitchFamily="18" charset="0"/>
                              <a:ea typeface="Microsoft YaHei" charset="0"/>
                            </a:rPr>
                          </m:ctrlPr>
                        </m:dPr>
                        <m:e>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e>
                      </m:d>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=1,2,…,</m:t>
                      </m:r>
                      <m:r>
                        <a:rPr lang="en-US" altLang="zh-CN" sz="2000" b="0" i="1" smtClean="0">
                          <a:latin typeface="Cambria Math" panose="02040503050406030204" pitchFamily="18" charset="0"/>
                          <a:ea typeface="Microsoft YaHei" charset="0"/>
                        </a:rPr>
                        <m:t>𝑁</m:t>
                      </m:r>
                    </m:oMath>
                  </m:oMathPara>
                </a14:m>
                <a:endParaRPr lang="zh-CN" altLang="en-US" sz="2000" dirty="0">
                  <a:ea typeface="Microsoft YaHei"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2993619" y="3965613"/>
                <a:ext cx="3725379" cy="307777"/>
              </a:xfrm>
              <a:prstGeom prst="rect">
                <a:avLst/>
              </a:prstGeom>
              <a:blipFill>
                <a:blip r:embed="rId7"/>
                <a:stretch>
                  <a:fillRect l="-164" r="-982" b="-3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1428894" y="4474026"/>
                <a:ext cx="5310300" cy="311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𝑏</m:t>
                          </m:r>
                        </m:e>
                      </m:d>
                      <m:r>
                        <a:rPr lang="zh-CN" altLang="en-US" sz="2000" i="1">
                          <a:latin typeface="Cambria Math" panose="02040503050406030204" pitchFamily="18" charset="0"/>
                          <a:ea typeface="Microsoft YaHei" charset="0"/>
                        </a:rPr>
                        <m:t>拟合</m:t>
                      </m:r>
                      <m:r>
                        <a:rPr lang="zh-CN" altLang="en-US" sz="2000" i="1" smtClean="0">
                          <a:latin typeface="Cambria Math" panose="02040503050406030204" pitchFamily="18" charset="0"/>
                          <a:ea typeface="Microsoft YaHei" charset="0"/>
                        </a:rPr>
                        <m:t>残差</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𝑟</m:t>
                          </m:r>
                        </m:e>
                        <m:sub>
                          <m:r>
                            <a:rPr lang="en-US" altLang="zh-CN" sz="2000" b="0" i="1" smtClean="0">
                              <a:latin typeface="Cambria Math" panose="02040503050406030204" pitchFamily="18" charset="0"/>
                              <a:ea typeface="Microsoft YaHei" charset="0"/>
                            </a:rPr>
                            <m:t>𝑚𝑖</m:t>
                          </m:r>
                        </m:sub>
                      </m:sSub>
                      <m:r>
                        <a:rPr lang="zh-CN" altLang="en-US" sz="2000" i="1">
                          <a:latin typeface="Cambria Math" panose="02040503050406030204" pitchFamily="18" charset="0"/>
                          <a:ea typeface="Microsoft YaHei" charset="0"/>
                        </a:rPr>
                        <m:t>学习</m:t>
                      </m:r>
                      <m:r>
                        <a:rPr lang="zh-CN" altLang="en-US" sz="2000" i="1" smtClean="0">
                          <a:latin typeface="Cambria Math" panose="02040503050406030204" pitchFamily="18" charset="0"/>
                          <a:ea typeface="Microsoft YaHei" charset="0"/>
                        </a:rPr>
                        <m:t>一个</m:t>
                      </m:r>
                      <m:r>
                        <a:rPr lang="zh-CN" altLang="en-US" sz="2000" i="1">
                          <a:latin typeface="Cambria Math" panose="02040503050406030204" pitchFamily="18" charset="0"/>
                          <a:ea typeface="Microsoft YaHei" charset="0"/>
                        </a:rPr>
                        <m:t>回归树</m:t>
                      </m:r>
                      <m:r>
                        <a:rPr lang="zh-CN" altLang="en-US" sz="2000" b="0" i="1" smtClean="0">
                          <a:latin typeface="Cambria Math" panose="02040503050406030204" pitchFamily="18" charset="0"/>
                          <a:ea typeface="Microsoft YaHei" charset="0"/>
                        </a:rPr>
                        <m:t>，</m:t>
                      </m:r>
                      <m:r>
                        <a:rPr lang="zh-CN" altLang="en-US" sz="2000" i="1">
                          <a:latin typeface="Cambria Math" panose="02040503050406030204" pitchFamily="18" charset="0"/>
                          <a:ea typeface="Microsoft YaHei" charset="0"/>
                        </a:rPr>
                        <m:t>得到</m:t>
                      </m:r>
                      <m:r>
                        <a:rPr lang="en-US" altLang="zh-CN" sz="2000" i="1">
                          <a:latin typeface="Cambria Math" panose="02040503050406030204" pitchFamily="18" charset="0"/>
                          <a:ea typeface="Microsoft YaHei" charset="0"/>
                        </a:rPr>
                        <m:t>𝑇</m:t>
                      </m:r>
                      <m:r>
                        <a:rPr lang="en-US" altLang="zh-CN" sz="2000" i="1">
                          <a:latin typeface="Cambria Math" panose="02040503050406030204" pitchFamily="18" charset="0"/>
                          <a:ea typeface="Microsoft YaHei" charset="0"/>
                        </a:rPr>
                        <m:t>(</m:t>
                      </m:r>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i="1">
                              <a:latin typeface="Cambria Math" panose="02040503050406030204" pitchFamily="18" charset="0"/>
                              <a:ea typeface="Microsoft YaHei" charset="0"/>
                            </a:rPr>
                            <m:t>𝑚</m:t>
                          </m:r>
                        </m:sub>
                      </m:sSub>
                      <m:r>
                        <a:rPr lang="en-US" altLang="zh-CN" sz="2000" i="1">
                          <a:latin typeface="Cambria Math" panose="02040503050406030204" pitchFamily="18" charset="0"/>
                          <a:ea typeface="Microsoft YaHei" charset="0"/>
                        </a:rPr>
                        <m:t>)</m:t>
                      </m:r>
                    </m:oMath>
                  </m:oMathPara>
                </a14:m>
                <a:endParaRPr lang="zh-CN" altLang="en-US" sz="2000" dirty="0">
                  <a:ea typeface="Microsoft YaHei"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1428894" y="4474026"/>
                <a:ext cx="5310300" cy="311111"/>
              </a:xfrm>
              <a:prstGeom prst="rect">
                <a:avLst/>
              </a:prstGeom>
              <a:blipFill>
                <a:blip r:embed="rId8"/>
                <a:stretch>
                  <a:fillRect t="-9804" r="-1147" b="-37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1428894" y="4990398"/>
                <a:ext cx="4033989" cy="3091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𝑐</m:t>
                          </m:r>
                        </m:e>
                      </m:d>
                      <m:r>
                        <a:rPr lang="zh-CN" altLang="en-US" sz="2000" i="1">
                          <a:latin typeface="Cambria Math" panose="02040503050406030204" pitchFamily="18" charset="0"/>
                          <a:ea typeface="Microsoft YaHei" charset="0"/>
                        </a:rPr>
                        <m:t>更新</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𝑚</m:t>
                          </m:r>
                        </m:sub>
                      </m:sSub>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𝑥</m:t>
                      </m:r>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i="1">
                              <a:latin typeface="Cambria Math" panose="02040503050406030204" pitchFamily="18" charset="0"/>
                              <a:ea typeface="Microsoft YaHei" charset="0"/>
                            </a:rPr>
                            <m:t>𝑚</m:t>
                          </m:r>
                          <m:r>
                            <a:rPr lang="en-US" altLang="zh-CN" sz="2000" i="1">
                              <a:latin typeface="Cambria Math" panose="02040503050406030204" pitchFamily="18" charset="0"/>
                              <a:ea typeface="Microsoft YaHei" charset="0"/>
                            </a:rPr>
                            <m:t>−1</m:t>
                          </m:r>
                        </m:sub>
                      </m:sSub>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e>
                      </m:d>
                      <m:r>
                        <a:rPr lang="en-US" altLang="zh-CN" sz="2000" i="1">
                          <a:latin typeface="Cambria Math" panose="02040503050406030204" pitchFamily="18" charset="0"/>
                          <a:ea typeface="Microsoft YaHei" charset="0"/>
                        </a:rPr>
                        <m:t>+</m:t>
                      </m:r>
                      <m:r>
                        <a:rPr lang="en-US" altLang="zh-CN" sz="2000" i="1">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i="1">
                                  <a:latin typeface="Cambria Math" panose="02040503050406030204" pitchFamily="18" charset="0"/>
                                  <a:ea typeface="Microsoft YaHei" charset="0"/>
                                </a:rPr>
                                <m:t>𝑚</m:t>
                              </m:r>
                            </m:sub>
                          </m:sSub>
                        </m:e>
                      </m:d>
                    </m:oMath>
                  </m:oMathPara>
                </a14:m>
                <a:endParaRPr lang="zh-CN" altLang="en-US" sz="2000" dirty="0">
                  <a:ea typeface="Microsoft YaHei" charset="0"/>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1428894" y="4990398"/>
                <a:ext cx="4033989" cy="309124"/>
              </a:xfrm>
              <a:prstGeom prst="rect">
                <a:avLst/>
              </a:prstGeom>
              <a:blipFill>
                <a:blip r:embed="rId9"/>
                <a:stretch>
                  <a:fillRect t="-10000" b="-4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1085211" y="5607901"/>
                <a:ext cx="2221442" cy="3083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3</m:t>
                          </m:r>
                        </m:e>
                      </m:d>
                      <m:r>
                        <a:rPr lang="zh-CN" altLang="en-US" sz="2000" i="1">
                          <a:latin typeface="Cambria Math" panose="02040503050406030204" pitchFamily="18" charset="0"/>
                          <a:ea typeface="Microsoft YaHei" charset="0"/>
                        </a:rPr>
                        <m:t>得到</m:t>
                      </m:r>
                      <m:r>
                        <a:rPr lang="zh-CN" altLang="en-US" sz="2000" i="1" smtClean="0">
                          <a:latin typeface="Cambria Math" panose="02040503050406030204" pitchFamily="18" charset="0"/>
                          <a:ea typeface="Microsoft YaHei" charset="0"/>
                        </a:rPr>
                        <m:t>回归</m:t>
                      </m:r>
                      <m:r>
                        <a:rPr lang="zh-CN" altLang="en-US" sz="2000" i="1">
                          <a:latin typeface="Cambria Math" panose="02040503050406030204" pitchFamily="18" charset="0"/>
                          <a:ea typeface="Microsoft YaHei" charset="0"/>
                        </a:rPr>
                        <m:t>提升</m:t>
                      </m:r>
                      <m:r>
                        <a:rPr lang="zh-CN" altLang="en-US" sz="2000" b="0" i="1" smtClean="0">
                          <a:latin typeface="Cambria Math" panose="02040503050406030204" pitchFamily="18" charset="0"/>
                          <a:ea typeface="Microsoft YaHei" charset="0"/>
                        </a:rPr>
                        <m:t>树</m:t>
                      </m:r>
                    </m:oMath>
                  </m:oMathPara>
                </a14:m>
                <a:endParaRPr lang="zh-CN" altLang="en-US" sz="2000" dirty="0">
                  <a:ea typeface="Microsoft YaHei" charset="0"/>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1085211" y="5607901"/>
                <a:ext cx="2221442" cy="308354"/>
              </a:xfrm>
              <a:prstGeom prst="rect">
                <a:avLst/>
              </a:prstGeom>
              <a:blipFill>
                <a:blip r:embed="rId10"/>
                <a:stretch>
                  <a:fillRect t="-9804" r="-4121"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4084044" y="5504783"/>
                <a:ext cx="2450992" cy="8654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𝑀</m:t>
                          </m:r>
                        </m:sub>
                      </m:sSub>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r>
                        <a:rPr lang="en-US" altLang="zh-CN" sz="2000" b="0" i="1" smtClean="0">
                          <a:latin typeface="Cambria Math" panose="02040503050406030204" pitchFamily="18" charset="0"/>
                          <a:ea typeface="Microsoft YaHei" charset="0"/>
                        </a:rPr>
                        <m:t>=</m:t>
                      </m:r>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𝑚</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𝑀</m:t>
                          </m:r>
                        </m:sup>
                        <m:e>
                          <m:r>
                            <a:rPr lang="en-US" altLang="zh-CN" sz="2000" b="0" i="1" smtClean="0">
                              <a:latin typeface="Cambria Math" panose="02040503050406030204" pitchFamily="18" charset="0"/>
                              <a:ea typeface="Microsoft YaHei" charset="0"/>
                            </a:rPr>
                            <m:t>𝑇</m:t>
                          </m:r>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𝑥</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zh-CN" altLang="en-US" sz="2000" b="0" i="1" smtClean="0">
                                  <a:latin typeface="Cambria Math" panose="02040503050406030204" pitchFamily="18" charset="0"/>
                                  <a:ea typeface="Microsoft YaHei" charset="0"/>
                                </a:rPr>
                                <m:t>𝜃</m:t>
                              </m:r>
                            </m:e>
                            <m:sub>
                              <m:r>
                                <a:rPr lang="en-US" altLang="zh-CN" sz="2000" b="0" i="1" smtClean="0">
                                  <a:latin typeface="Cambria Math" panose="02040503050406030204" pitchFamily="18" charset="0"/>
                                  <a:ea typeface="Microsoft YaHei" charset="0"/>
                                </a:rPr>
                                <m:t>𝑚</m:t>
                              </m:r>
                            </m:sub>
                          </m:sSub>
                          <m:r>
                            <a:rPr lang="en-US" altLang="zh-CN" sz="2000" b="0" i="1" smtClean="0">
                              <a:latin typeface="Cambria Math" panose="02040503050406030204" pitchFamily="18" charset="0"/>
                              <a:ea typeface="Microsoft YaHei" charset="0"/>
                            </a:rPr>
                            <m:t>)</m:t>
                          </m:r>
                        </m:e>
                      </m:nary>
                    </m:oMath>
                  </m:oMathPara>
                </a14:m>
                <a:endParaRPr lang="zh-CN" altLang="en-US" sz="2000" dirty="0">
                  <a:ea typeface="Microsoft YaHei" charset="0"/>
                </a:endParaRPr>
              </a:p>
            </p:txBody>
          </p:sp>
        </mc:Choice>
        <mc:Fallback xmlns="">
          <p:sp>
            <p:nvSpPr>
              <p:cNvPr id="21" name="文本框 20"/>
              <p:cNvSpPr txBox="1">
                <a:spLocks noRot="1" noChangeAspect="1" noMove="1" noResize="1" noEditPoints="1" noAdjustHandles="1" noChangeArrowheads="1" noChangeShapeType="1" noTextEdit="1"/>
              </p:cNvSpPr>
              <p:nvPr/>
            </p:nvSpPr>
            <p:spPr>
              <a:xfrm>
                <a:off x="4084044" y="5504783"/>
                <a:ext cx="2450992" cy="865430"/>
              </a:xfrm>
              <a:prstGeom prst="rect">
                <a:avLst/>
              </a:prstGeom>
              <a:blipFill>
                <a:blip r:embed="rId11"/>
                <a:stretch>
                  <a:fillRect/>
                </a:stretch>
              </a:blipFill>
            </p:spPr>
            <p:txBody>
              <a:bodyPr/>
              <a:lstStyle/>
              <a:p>
                <a:r>
                  <a:rPr lang="zh-CN" altLang="en-US">
                    <a:noFill/>
                  </a:rPr>
                  <a:t> </a:t>
                </a:r>
              </a:p>
            </p:txBody>
          </p:sp>
        </mc:Fallback>
      </mc:AlternateContent>
      <p:sp>
        <p:nvSpPr>
          <p:cNvPr id="25"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Rectangle 2">
            <a:extLst>
              <a:ext uri="{FF2B5EF4-FFF2-40B4-BE49-F238E27FC236}">
                <a16:creationId xmlns:a16="http://schemas.microsoft.com/office/drawing/2014/main" id="{8DE541FA-2264-43A2-A053-83C0B8F3C196}"/>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GBDT</a:t>
            </a:r>
            <a:r>
              <a:rPr lang="zh-CN" altLang="en-US" dirty="0">
                <a:solidFill>
                  <a:schemeClr val="tx1"/>
                </a:solidFill>
              </a:rPr>
              <a:t>算法</a:t>
            </a:r>
          </a:p>
        </p:txBody>
      </p:sp>
    </p:spTree>
    <p:extLst>
      <p:ext uri="{BB962C8B-B14F-4D97-AF65-F5344CB8AC3E}">
        <p14:creationId xmlns:p14="http://schemas.microsoft.com/office/powerpoint/2010/main" val="203202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500" fill="hold"/>
                                        <p:tgtEl>
                                          <p:spTgt spid="10"/>
                                        </p:tgtEl>
                                        <p:attrNameLst>
                                          <p:attrName>ppt_w</p:attrName>
                                        </p:attrNameLst>
                                      </p:cBhvr>
                                      <p:tavLst>
                                        <p:tav tm="0">
                                          <p:val>
                                            <p:fltVal val="0"/>
                                          </p:val>
                                        </p:tav>
                                        <p:tav tm="100000">
                                          <p:val>
                                            <p:strVal val="#ppt_w"/>
                                          </p:val>
                                        </p:tav>
                                      </p:tavLst>
                                    </p:anim>
                                    <p:anim calcmode="lin" valueType="num">
                                      <p:cBhvr>
                                        <p:cTn id="34" dur="500" fill="hold"/>
                                        <p:tgtEl>
                                          <p:spTgt spid="10"/>
                                        </p:tgtEl>
                                        <p:attrNameLst>
                                          <p:attrName>ppt_h</p:attrName>
                                        </p:attrNameLst>
                                      </p:cBhvr>
                                      <p:tavLst>
                                        <p:tav tm="0">
                                          <p:val>
                                            <p:fltVal val="0"/>
                                          </p:val>
                                        </p:tav>
                                        <p:tav tm="100000">
                                          <p:val>
                                            <p:strVal val="#ppt_h"/>
                                          </p:val>
                                        </p:tav>
                                      </p:tavLst>
                                    </p:anim>
                                    <p:animEffect transition="in" filter="fad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500" fill="hold"/>
                                        <p:tgtEl>
                                          <p:spTgt spid="12"/>
                                        </p:tgtEl>
                                        <p:attrNameLst>
                                          <p:attrName>ppt_w</p:attrName>
                                        </p:attrNameLst>
                                      </p:cBhvr>
                                      <p:tavLst>
                                        <p:tav tm="0">
                                          <p:val>
                                            <p:fltVal val="0"/>
                                          </p:val>
                                        </p:tav>
                                        <p:tav tm="100000">
                                          <p:val>
                                            <p:strVal val="#ppt_w"/>
                                          </p:val>
                                        </p:tav>
                                      </p:tavLst>
                                    </p:anim>
                                    <p:anim calcmode="lin" valueType="num">
                                      <p:cBhvr>
                                        <p:cTn id="41" dur="500" fill="hold"/>
                                        <p:tgtEl>
                                          <p:spTgt spid="12"/>
                                        </p:tgtEl>
                                        <p:attrNameLst>
                                          <p:attrName>ppt_h</p:attrName>
                                        </p:attrNameLst>
                                      </p:cBhvr>
                                      <p:tavLst>
                                        <p:tav tm="0">
                                          <p:val>
                                            <p:fltVal val="0"/>
                                          </p:val>
                                        </p:tav>
                                        <p:tav tm="100000">
                                          <p:val>
                                            <p:strVal val="#ppt_h"/>
                                          </p:val>
                                        </p:tav>
                                      </p:tavLst>
                                    </p:anim>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500" fill="hold"/>
                                        <p:tgtEl>
                                          <p:spTgt spid="19"/>
                                        </p:tgtEl>
                                        <p:attrNameLst>
                                          <p:attrName>ppt_w</p:attrName>
                                        </p:attrNameLst>
                                      </p:cBhvr>
                                      <p:tavLst>
                                        <p:tav tm="0">
                                          <p:val>
                                            <p:fltVal val="0"/>
                                          </p:val>
                                        </p:tav>
                                        <p:tav tm="100000">
                                          <p:val>
                                            <p:strVal val="#ppt_w"/>
                                          </p:val>
                                        </p:tav>
                                      </p:tavLst>
                                    </p:anim>
                                    <p:anim calcmode="lin" valueType="num">
                                      <p:cBhvr>
                                        <p:cTn id="48" dur="500" fill="hold"/>
                                        <p:tgtEl>
                                          <p:spTgt spid="19"/>
                                        </p:tgtEl>
                                        <p:attrNameLst>
                                          <p:attrName>ppt_h</p:attrName>
                                        </p:attrNameLst>
                                      </p:cBhvr>
                                      <p:tavLst>
                                        <p:tav tm="0">
                                          <p:val>
                                            <p:fltVal val="0"/>
                                          </p:val>
                                        </p:tav>
                                        <p:tav tm="100000">
                                          <p:val>
                                            <p:strVal val="#ppt_h"/>
                                          </p:val>
                                        </p:tav>
                                      </p:tavLst>
                                    </p:anim>
                                    <p:animEffect transition="in" filter="fade">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20"/>
                                        </p:tgtEl>
                                        <p:attrNameLst>
                                          <p:attrName>style.visibility</p:attrName>
                                        </p:attrNameLst>
                                      </p:cBhvr>
                                      <p:to>
                                        <p:strVal val="visible"/>
                                      </p:to>
                                    </p:set>
                                    <p:anim calcmode="lin" valueType="num">
                                      <p:cBhvr>
                                        <p:cTn id="54" dur="500" fill="hold"/>
                                        <p:tgtEl>
                                          <p:spTgt spid="20"/>
                                        </p:tgtEl>
                                        <p:attrNameLst>
                                          <p:attrName>ppt_w</p:attrName>
                                        </p:attrNameLst>
                                      </p:cBhvr>
                                      <p:tavLst>
                                        <p:tav tm="0">
                                          <p:val>
                                            <p:fltVal val="0"/>
                                          </p:val>
                                        </p:tav>
                                        <p:tav tm="100000">
                                          <p:val>
                                            <p:strVal val="#ppt_w"/>
                                          </p:val>
                                        </p:tav>
                                      </p:tavLst>
                                    </p:anim>
                                    <p:anim calcmode="lin" valueType="num">
                                      <p:cBhvr>
                                        <p:cTn id="55" dur="500" fill="hold"/>
                                        <p:tgtEl>
                                          <p:spTgt spid="20"/>
                                        </p:tgtEl>
                                        <p:attrNameLst>
                                          <p:attrName>ppt_h</p:attrName>
                                        </p:attrNameLst>
                                      </p:cBhvr>
                                      <p:tavLst>
                                        <p:tav tm="0">
                                          <p:val>
                                            <p:fltVal val="0"/>
                                          </p:val>
                                        </p:tav>
                                        <p:tav tm="100000">
                                          <p:val>
                                            <p:strVal val="#ppt_h"/>
                                          </p:val>
                                        </p:tav>
                                      </p:tavLst>
                                    </p:anim>
                                    <p:animEffect transition="in" filter="fade">
                                      <p:cBhvr>
                                        <p:cTn id="56" dur="500"/>
                                        <p:tgtEl>
                                          <p:spTgt spid="20"/>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p:cTn id="59" dur="500" fill="hold"/>
                                        <p:tgtEl>
                                          <p:spTgt spid="21"/>
                                        </p:tgtEl>
                                        <p:attrNameLst>
                                          <p:attrName>ppt_w</p:attrName>
                                        </p:attrNameLst>
                                      </p:cBhvr>
                                      <p:tavLst>
                                        <p:tav tm="0">
                                          <p:val>
                                            <p:fltVal val="0"/>
                                          </p:val>
                                        </p:tav>
                                        <p:tav tm="100000">
                                          <p:val>
                                            <p:strVal val="#ppt_w"/>
                                          </p:val>
                                        </p:tav>
                                      </p:tavLst>
                                    </p:anim>
                                    <p:anim calcmode="lin" valueType="num">
                                      <p:cBhvr>
                                        <p:cTn id="60" dur="500" fill="hold"/>
                                        <p:tgtEl>
                                          <p:spTgt spid="21"/>
                                        </p:tgtEl>
                                        <p:attrNameLst>
                                          <p:attrName>ppt_h</p:attrName>
                                        </p:attrNameLst>
                                      </p:cBhvr>
                                      <p:tavLst>
                                        <p:tav tm="0">
                                          <p:val>
                                            <p:fltVal val="0"/>
                                          </p:val>
                                        </p:tav>
                                        <p:tav tm="100000">
                                          <p:val>
                                            <p:strVal val="#ppt_h"/>
                                          </p:val>
                                        </p:tav>
                                      </p:tavLst>
                                    </p:anim>
                                    <p:animEffect transition="in" filter="fade">
                                      <p:cBhvr>
                                        <p:cTn id="6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P spid="5" grpId="0"/>
      <p:bldP spid="9" grpId="0"/>
      <p:bldP spid="10" grpId="0"/>
      <p:bldP spid="12" grpId="0"/>
      <p:bldP spid="19" grpId="0"/>
      <p:bldP spid="20"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p:cNvSpPr txBox="1"/>
              <p:nvPr/>
            </p:nvSpPr>
            <p:spPr>
              <a:xfrm>
                <a:off x="3793862" y="1249525"/>
                <a:ext cx="4840941" cy="8181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sz="2000" i="1" smtClean="0">
                              <a:latin typeface="Cambria Math" panose="02040503050406030204" pitchFamily="18" charset="0"/>
                              <a:ea typeface="Microsoft YaHei" charset="0"/>
                            </a:rPr>
                          </m:ctrlPr>
                        </m:funcPr>
                        <m:fName>
                          <m:limLow>
                            <m:limLowPr>
                              <m:ctrlPr>
                                <a:rPr lang="en-US" altLang="zh-CN" sz="2000" i="1" smtClean="0">
                                  <a:latin typeface="Cambria Math" panose="02040503050406030204" pitchFamily="18" charset="0"/>
                                  <a:ea typeface="Microsoft YaHei" charset="0"/>
                                </a:rPr>
                              </m:ctrlPr>
                            </m:limLowPr>
                            <m:e>
                              <m:r>
                                <m:rPr>
                                  <m:sty m:val="p"/>
                                </m:rPr>
                                <a:rPr lang="en-US" altLang="zh-CN" sz="2000" i="0" smtClean="0">
                                  <a:latin typeface="Cambria Math" panose="02040503050406030204" pitchFamily="18" charset="0"/>
                                  <a:ea typeface="Microsoft YaHei" charset="0"/>
                                </a:rPr>
                                <m:t>min</m:t>
                              </m:r>
                            </m:e>
                            <m:lim>
                              <m:r>
                                <a:rPr lang="en-US" altLang="zh-CN" sz="2000" b="0" i="1" smtClean="0">
                                  <a:latin typeface="Cambria Math" panose="02040503050406030204" pitchFamily="18" charset="0"/>
                                  <a:ea typeface="Microsoft YaHei" charset="0"/>
                                </a:rPr>
                                <m:t>𝑠</m:t>
                              </m:r>
                            </m:lim>
                          </m:limLow>
                        </m:fName>
                        <m:e>
                          <m:d>
                            <m:dPr>
                              <m:begChr m:val="["/>
                              <m:endChr m:val="]"/>
                              <m:ctrlPr>
                                <a:rPr lang="en-US" altLang="zh-CN" sz="2000" i="1" smtClean="0">
                                  <a:latin typeface="Cambria Math" panose="02040503050406030204" pitchFamily="18" charset="0"/>
                                  <a:ea typeface="Microsoft YaHei" charset="0"/>
                                </a:rPr>
                              </m:ctrlPr>
                            </m:dPr>
                            <m:e>
                              <m:func>
                                <m:funcPr>
                                  <m:ctrlPr>
                                    <a:rPr lang="en-US" altLang="zh-CN" sz="2000" i="1" smtClean="0">
                                      <a:latin typeface="Cambria Math" panose="02040503050406030204" pitchFamily="18" charset="0"/>
                                      <a:ea typeface="Microsoft YaHei" charset="0"/>
                                    </a:rPr>
                                  </m:ctrlPr>
                                </m:funcPr>
                                <m:fName>
                                  <m:limLow>
                                    <m:limLowPr>
                                      <m:ctrlPr>
                                        <a:rPr lang="en-US" altLang="zh-CN" sz="2000" i="1" smtClean="0">
                                          <a:latin typeface="Cambria Math" panose="02040503050406030204" pitchFamily="18" charset="0"/>
                                          <a:ea typeface="Microsoft YaHei" charset="0"/>
                                        </a:rPr>
                                      </m:ctrlPr>
                                    </m:limLowPr>
                                    <m:e>
                                      <m:r>
                                        <m:rPr>
                                          <m:sty m:val="p"/>
                                        </m:rPr>
                                        <a:rPr lang="en-US" altLang="zh-CN" sz="2000" i="0" smtClean="0">
                                          <a:latin typeface="Cambria Math" panose="02040503050406030204" pitchFamily="18" charset="0"/>
                                          <a:ea typeface="Microsoft YaHei" charset="0"/>
                                        </a:rPr>
                                        <m:t>min</m:t>
                                      </m:r>
                                    </m:e>
                                    <m:lim>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1</m:t>
                                          </m:r>
                                        </m:sub>
                                      </m:sSub>
                                    </m:lim>
                                  </m:limLow>
                                </m:fName>
                                <m:e>
                                  <m:nary>
                                    <m:naryPr>
                                      <m:chr m:val="∑"/>
                                      <m:subHide m:val="on"/>
                                      <m:supHide m:val="on"/>
                                      <m:ctrlPr>
                                        <a:rPr lang="en-US" altLang="zh-CN" sz="2000" i="1" smtClean="0">
                                          <a:latin typeface="Cambria Math" panose="02040503050406030204" pitchFamily="18" charset="0"/>
                                          <a:ea typeface="Microsoft YaHei" charset="0"/>
                                        </a:rPr>
                                      </m:ctrlPr>
                                    </m:naryPr>
                                    <m:sub/>
                                    <m:sup/>
                                    <m:e>
                                      <m:sSup>
                                        <m:sSupPr>
                                          <m:ctrlPr>
                                            <a:rPr lang="en-US" altLang="zh-CN" sz="2000" i="1" smtClean="0">
                                              <a:latin typeface="Cambria Math" panose="02040503050406030204" pitchFamily="18" charset="0"/>
                                              <a:ea typeface="Microsoft YaHei" charset="0"/>
                                            </a:rPr>
                                          </m:ctrlPr>
                                        </m:sSupPr>
                                        <m:e>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𝑦</m:t>
                                              </m:r>
                                            </m:e>
                                            <m:sub>
                                              <m:r>
                                                <a:rPr lang="en-US" altLang="zh-CN" sz="2000" i="1">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1</m:t>
                                              </m:r>
                                            </m:sub>
                                          </m:sSub>
                                          <m:r>
                                            <a:rPr lang="en-US" altLang="zh-CN" sz="2000" b="0" i="1" smtClean="0">
                                              <a:latin typeface="Cambria Math" panose="02040503050406030204" pitchFamily="18" charset="0"/>
                                              <a:ea typeface="Microsoft YaHei" charset="0"/>
                                            </a:rPr>
                                            <m:t>)</m:t>
                                          </m:r>
                                        </m:e>
                                        <m:sup>
                                          <m:r>
                                            <a:rPr lang="en-US" altLang="zh-CN" sz="2000" b="0" i="1" smtClean="0">
                                              <a:latin typeface="Cambria Math" panose="02040503050406030204" pitchFamily="18" charset="0"/>
                                              <a:ea typeface="Microsoft YaHei" charset="0"/>
                                            </a:rPr>
                                            <m:t>2</m:t>
                                          </m:r>
                                        </m:sup>
                                      </m:sSup>
                                    </m:e>
                                  </m:nary>
                                </m:e>
                              </m:func>
                              <m:r>
                                <a:rPr lang="en-US" altLang="zh-CN" sz="2000" b="0" i="1" smtClean="0">
                                  <a:latin typeface="Cambria Math" panose="02040503050406030204" pitchFamily="18" charset="0"/>
                                  <a:ea typeface="Microsoft YaHei" charset="0"/>
                                </a:rPr>
                                <m:t>+</m:t>
                              </m:r>
                              <m:func>
                                <m:funcPr>
                                  <m:ctrlPr>
                                    <a:rPr lang="en-US" altLang="zh-CN" sz="2000" i="1">
                                      <a:latin typeface="Cambria Math" panose="02040503050406030204" pitchFamily="18" charset="0"/>
                                      <a:ea typeface="Microsoft YaHei" charset="0"/>
                                    </a:rPr>
                                  </m:ctrlPr>
                                </m:funcPr>
                                <m:fName>
                                  <m:limLow>
                                    <m:limLowPr>
                                      <m:ctrlPr>
                                        <a:rPr lang="en-US" altLang="zh-CN" sz="2000" i="1">
                                          <a:latin typeface="Cambria Math" panose="02040503050406030204" pitchFamily="18" charset="0"/>
                                          <a:ea typeface="Microsoft YaHei" charset="0"/>
                                        </a:rPr>
                                      </m:ctrlPr>
                                    </m:limLowPr>
                                    <m:e>
                                      <m:r>
                                        <m:rPr>
                                          <m:sty m:val="p"/>
                                        </m:rPr>
                                        <a:rPr lang="en-US" altLang="zh-CN" sz="2000">
                                          <a:latin typeface="Cambria Math" panose="02040503050406030204" pitchFamily="18" charset="0"/>
                                          <a:ea typeface="Microsoft YaHei" charset="0"/>
                                        </a:rPr>
                                        <m:t>min</m:t>
                                      </m:r>
                                    </m:e>
                                    <m:lim>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2</m:t>
                                          </m:r>
                                        </m:sub>
                                      </m:sSub>
                                    </m:lim>
                                  </m:limLow>
                                </m:fName>
                                <m:e>
                                  <m:nary>
                                    <m:naryPr>
                                      <m:chr m:val="∑"/>
                                      <m:subHide m:val="on"/>
                                      <m:supHide m:val="on"/>
                                      <m:ctrlPr>
                                        <a:rPr lang="en-US" altLang="zh-CN" sz="2000" i="1">
                                          <a:latin typeface="Cambria Math" panose="02040503050406030204" pitchFamily="18" charset="0"/>
                                          <a:ea typeface="Microsoft YaHei" charset="0"/>
                                        </a:rPr>
                                      </m:ctrlPr>
                                    </m:naryPr>
                                    <m:sub/>
                                    <m:sup/>
                                    <m:e>
                                      <m:sSup>
                                        <m:sSupPr>
                                          <m:ctrlPr>
                                            <a:rPr lang="en-US" altLang="zh-CN" sz="2000" i="1">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𝑦</m:t>
                                              </m:r>
                                            </m:e>
                                            <m:sub>
                                              <m:r>
                                                <a:rPr lang="en-US" altLang="zh-CN" sz="2000" i="1">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2</m:t>
                                              </m:r>
                                            </m:sub>
                                          </m:sSub>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e>
                                  </m:nary>
                                </m:e>
                              </m:func>
                            </m:e>
                          </m:d>
                        </m:e>
                      </m:func>
                    </m:oMath>
                  </m:oMathPara>
                </a14:m>
                <a:endParaRPr lang="zh-CN" altLang="en-US" dirty="0">
                  <a:ea typeface="Microsoft YaHei"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3793862" y="1249525"/>
                <a:ext cx="4840941" cy="818109"/>
              </a:xfrm>
              <a:prstGeom prst="rect">
                <a:avLst/>
              </a:prstGeom>
              <a:blipFill>
                <a:blip r:embed="rId3"/>
                <a:stretch>
                  <a:fillRect/>
                </a:stretch>
              </a:blipFill>
            </p:spPr>
            <p:txBody>
              <a:bodyPr/>
              <a:lstStyle/>
              <a:p>
                <a:r>
                  <a:rPr lang="zh-CN" altLang="en-US">
                    <a:noFill/>
                  </a:rPr>
                  <a:t> </a:t>
                </a:r>
              </a:p>
            </p:txBody>
          </p:sp>
        </mc:Fallback>
      </mc:AlternateContent>
      <p:sp>
        <p:nvSpPr>
          <p:cNvPr id="2" name="下箭头 1"/>
          <p:cNvSpPr/>
          <p:nvPr/>
        </p:nvSpPr>
        <p:spPr>
          <a:xfrm>
            <a:off x="4228917" y="2159508"/>
            <a:ext cx="165463" cy="216000"/>
          </a:xfrm>
          <a:prstGeom prst="down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mc:AlternateContent xmlns:mc="http://schemas.openxmlformats.org/markup-compatibility/2006" xmlns:a14="http://schemas.microsoft.com/office/drawing/2010/main">
        <mc:Choice Requires="a14">
          <p:sp>
            <p:nvSpPr>
              <p:cNvPr id="3" name="文本框 2"/>
              <p:cNvSpPr txBox="1"/>
              <p:nvPr/>
            </p:nvSpPr>
            <p:spPr>
              <a:xfrm>
                <a:off x="3861097" y="2453166"/>
                <a:ext cx="344177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𝑅</m:t>
                          </m:r>
                        </m:e>
                        <m:sub>
                          <m:r>
                            <a:rPr lang="en-US" altLang="zh-CN" sz="2000" b="0" i="1" smtClean="0">
                              <a:latin typeface="Cambria Math" panose="02040503050406030204" pitchFamily="18" charset="0"/>
                              <a:ea typeface="Microsoft YaHei" charset="0"/>
                            </a:rPr>
                            <m:t>1</m:t>
                          </m:r>
                        </m:sub>
                      </m:sSub>
                      <m:r>
                        <a:rPr lang="en-US" altLang="zh-CN" sz="2000" b="0" i="1" smtClean="0">
                          <a:latin typeface="Cambria Math" panose="02040503050406030204" pitchFamily="18" charset="0"/>
                          <a:ea typeface="Microsoft YaHei" charset="0"/>
                        </a:rPr>
                        <m:t>=</m:t>
                      </m:r>
                      <m:d>
                        <m:dPr>
                          <m:begChr m:val="{"/>
                          <m:endChr m:val="}"/>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𝑥</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𝑠</m:t>
                          </m:r>
                        </m:e>
                      </m:d>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𝑅</m:t>
                          </m:r>
                        </m:e>
                        <m:sub>
                          <m:r>
                            <a:rPr lang="en-US" altLang="zh-CN" sz="2000" b="0" i="1" smtClean="0">
                              <a:latin typeface="Cambria Math" panose="02040503050406030204" pitchFamily="18" charset="0"/>
                              <a:ea typeface="Microsoft YaHei" charset="0"/>
                            </a:rPr>
                            <m:t>2</m:t>
                          </m:r>
                        </m:sub>
                      </m:sSub>
                      <m:r>
                        <a:rPr lang="en-US" altLang="zh-CN" sz="2000" i="1">
                          <a:latin typeface="Cambria Math" panose="02040503050406030204" pitchFamily="18" charset="0"/>
                          <a:ea typeface="Microsoft YaHei" charset="0"/>
                        </a:rPr>
                        <m:t>=</m:t>
                      </m:r>
                      <m:d>
                        <m:dPr>
                          <m:begChr m:val="{"/>
                          <m:endChr m:val="}"/>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r>
                            <a:rPr lang="en-US" altLang="zh-CN" sz="2000" i="1">
                              <a:latin typeface="Cambria Math" panose="02040503050406030204" pitchFamily="18" charset="0"/>
                              <a:ea typeface="Microsoft YaHei" charset="0"/>
                            </a:rPr>
                            <m:t>𝑥</m:t>
                          </m:r>
                          <m:r>
                            <a:rPr lang="en-US" altLang="zh-CN" sz="2000" b="0" i="1" smtClean="0">
                              <a:latin typeface="Cambria Math" panose="02040503050406030204" pitchFamily="18" charset="0"/>
                              <a:ea typeface="Microsoft YaHei" charset="0"/>
                            </a:rPr>
                            <m:t>&gt;</m:t>
                          </m:r>
                          <m:r>
                            <a:rPr lang="en-US" altLang="zh-CN" sz="2000" i="1">
                              <a:latin typeface="Cambria Math" panose="02040503050406030204" pitchFamily="18" charset="0"/>
                              <a:ea typeface="Cambria Math" panose="02040503050406030204" pitchFamily="18" charset="0"/>
                            </a:rPr>
                            <m:t>𝑠</m:t>
                          </m:r>
                        </m:e>
                      </m:d>
                    </m:oMath>
                  </m:oMathPara>
                </a14:m>
                <a:endParaRPr lang="zh-CN" altLang="en-US" dirty="0">
                  <a:ea typeface="Microsoft YaHei"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3861097" y="2453166"/>
                <a:ext cx="3441776" cy="307777"/>
              </a:xfrm>
              <a:prstGeom prst="rect">
                <a:avLst/>
              </a:prstGeom>
              <a:blipFill>
                <a:blip r:embed="rId4"/>
                <a:stretch>
                  <a:fillRect l="-1062" b="-37255"/>
                </a:stretch>
              </a:blipFill>
            </p:spPr>
            <p:txBody>
              <a:bodyPr/>
              <a:lstStyle/>
              <a:p>
                <a:r>
                  <a:rPr lang="zh-CN" altLang="en-US">
                    <a:noFill/>
                  </a:rPr>
                  <a:t> </a:t>
                </a:r>
              </a:p>
            </p:txBody>
          </p:sp>
        </mc:Fallback>
      </mc:AlternateContent>
      <p:sp>
        <p:nvSpPr>
          <p:cNvPr id="7" name="下箭头 6"/>
          <p:cNvSpPr/>
          <p:nvPr/>
        </p:nvSpPr>
        <p:spPr>
          <a:xfrm>
            <a:off x="4238740" y="2966398"/>
            <a:ext cx="165463" cy="216000"/>
          </a:xfrm>
          <a:prstGeom prst="down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mc:AlternateContent xmlns:mc="http://schemas.openxmlformats.org/markup-compatibility/2006" xmlns:a14="http://schemas.microsoft.com/office/drawing/2010/main">
        <mc:Choice Requires="a14">
          <p:sp>
            <p:nvSpPr>
              <p:cNvPr id="8" name="文本框 7"/>
              <p:cNvSpPr txBox="1"/>
              <p:nvPr/>
            </p:nvSpPr>
            <p:spPr>
              <a:xfrm>
                <a:off x="3861097" y="3197514"/>
                <a:ext cx="3536161" cy="7868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1</m:t>
                          </m:r>
                        </m:sub>
                      </m:sSub>
                      <m:r>
                        <a:rPr lang="en-US" altLang="zh-CN" sz="2000" b="0" i="1" smtClean="0">
                          <a:latin typeface="Cambria Math" panose="02040503050406030204" pitchFamily="18" charset="0"/>
                          <a:ea typeface="Microsoft YaHei" charset="0"/>
                        </a:rPr>
                        <m:t>=</m:t>
                      </m:r>
                      <m:f>
                        <m:fPr>
                          <m:ctrlPr>
                            <a:rPr lang="en-US" altLang="zh-CN" sz="2000" b="0" i="1" smtClean="0">
                              <a:latin typeface="Cambria Math" panose="02040503050406030204" pitchFamily="18" charset="0"/>
                              <a:ea typeface="Microsoft YaHei" charset="0"/>
                            </a:rPr>
                          </m:ctrlPr>
                        </m:fPr>
                        <m:num>
                          <m:r>
                            <a:rPr lang="en-US" altLang="zh-CN" sz="2000" b="0" i="1" smtClean="0">
                              <a:latin typeface="Cambria Math" panose="02040503050406030204" pitchFamily="18" charset="0"/>
                              <a:ea typeface="Microsoft YaHei" charset="0"/>
                            </a:rPr>
                            <m:t>1</m:t>
                          </m:r>
                        </m:num>
                        <m:den>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𝑁</m:t>
                              </m:r>
                            </m:e>
                            <m:sub>
                              <m:r>
                                <a:rPr lang="en-US" altLang="zh-CN" sz="2000" b="0" i="1" smtClean="0">
                                  <a:latin typeface="Cambria Math" panose="02040503050406030204" pitchFamily="18" charset="0"/>
                                  <a:ea typeface="Microsoft YaHei" charset="0"/>
                                </a:rPr>
                                <m:t>1</m:t>
                              </m:r>
                            </m:sub>
                          </m:sSub>
                        </m:den>
                      </m:f>
                      <m:nary>
                        <m:naryPr>
                          <m:chr m:val="∑"/>
                          <m:supHide m:val="on"/>
                          <m:ctrlPr>
                            <a:rPr lang="en-US" altLang="zh-CN" sz="2000" b="0" i="1" smtClean="0">
                              <a:latin typeface="Cambria Math" panose="02040503050406030204" pitchFamily="18" charset="0"/>
                              <a:ea typeface="Microsoft YaHei" charset="0"/>
                            </a:rPr>
                          </m:ctrlPr>
                        </m:naryPr>
                        <m:sub>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m:rPr>
                              <m:brk m:alnAt="7"/>
                            </m:rPr>
                            <a:rPr lang="en-US" altLang="zh-CN" sz="2000" b="0" i="1" smtClean="0">
                              <a:latin typeface="Cambria Math" panose="02040503050406030204" pitchFamily="18" charset="0"/>
                              <a:ea typeface="Cambria Math" panose="02040503050406030204" pitchFamily="18" charset="0"/>
                            </a:rPr>
                            <m:t>∈</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𝑅</m:t>
                              </m:r>
                            </m:e>
                            <m:sub>
                              <m:r>
                                <a:rPr lang="en-US" altLang="zh-CN" sz="2000" b="0" i="1" smtClean="0">
                                  <a:latin typeface="Cambria Math" panose="02040503050406030204" pitchFamily="18" charset="0"/>
                                  <a:ea typeface="Cambria Math" panose="02040503050406030204" pitchFamily="18" charset="0"/>
                                </a:rPr>
                                <m:t>1</m:t>
                              </m:r>
                            </m:sub>
                          </m:sSub>
                        </m:sub>
                        <m:sup/>
                        <m:e>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e>
                      </m:nary>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2</m:t>
                          </m:r>
                        </m:sub>
                      </m:sSub>
                      <m:r>
                        <a:rPr lang="en-US" altLang="zh-CN" sz="2000" i="1">
                          <a:latin typeface="Cambria Math" panose="02040503050406030204" pitchFamily="18" charset="0"/>
                          <a:ea typeface="Microsoft YaHei" charset="0"/>
                        </a:rPr>
                        <m:t>=</m:t>
                      </m:r>
                      <m:f>
                        <m:fPr>
                          <m:ctrlPr>
                            <a:rPr lang="en-US" altLang="zh-CN" sz="2000" i="1">
                              <a:latin typeface="Cambria Math" panose="02040503050406030204" pitchFamily="18" charset="0"/>
                              <a:ea typeface="Microsoft YaHei" charset="0"/>
                            </a:rPr>
                          </m:ctrlPr>
                        </m:fPr>
                        <m:num>
                          <m:r>
                            <a:rPr lang="en-US" altLang="zh-CN" sz="2000" i="1">
                              <a:latin typeface="Cambria Math" panose="02040503050406030204" pitchFamily="18" charset="0"/>
                              <a:ea typeface="Microsoft YaHei" charset="0"/>
                            </a:rPr>
                            <m:t>1</m:t>
                          </m:r>
                        </m:num>
                        <m:den>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𝑁</m:t>
                              </m:r>
                            </m:e>
                            <m:sub>
                              <m:r>
                                <a:rPr lang="en-US" altLang="zh-CN" sz="2000" b="0" i="1" smtClean="0">
                                  <a:latin typeface="Cambria Math" panose="02040503050406030204" pitchFamily="18" charset="0"/>
                                  <a:ea typeface="Microsoft YaHei" charset="0"/>
                                </a:rPr>
                                <m:t>2</m:t>
                              </m:r>
                            </m:sub>
                          </m:sSub>
                        </m:den>
                      </m:f>
                      <m:nary>
                        <m:naryPr>
                          <m:chr m:val="∑"/>
                          <m:supHide m:val="on"/>
                          <m:ctrlPr>
                            <a:rPr lang="en-US" altLang="zh-CN" sz="2000" i="1">
                              <a:latin typeface="Cambria Math" panose="02040503050406030204" pitchFamily="18" charset="0"/>
                              <a:ea typeface="Microsoft YaHei" charset="0"/>
                            </a:rPr>
                          </m:ctrlPr>
                        </m:naryPr>
                        <m:sub>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𝑥</m:t>
                              </m:r>
                            </m:e>
                            <m:sub>
                              <m:r>
                                <a:rPr lang="en-US" altLang="zh-CN" sz="2000" i="1">
                                  <a:latin typeface="Cambria Math" panose="02040503050406030204" pitchFamily="18" charset="0"/>
                                  <a:ea typeface="Microsoft YaHei" charset="0"/>
                                </a:rPr>
                                <m:t>𝑖</m:t>
                              </m:r>
                            </m:sub>
                          </m:sSub>
                          <m:r>
                            <m:rPr>
                              <m:brk m:alnAt="7"/>
                            </m:rP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𝑅</m:t>
                              </m:r>
                            </m:e>
                            <m:sub>
                              <m:r>
                                <a:rPr lang="en-US" altLang="zh-CN" sz="2000" b="0" i="1" smtClean="0">
                                  <a:latin typeface="Cambria Math" panose="02040503050406030204" pitchFamily="18" charset="0"/>
                                  <a:ea typeface="Cambria Math" panose="02040503050406030204" pitchFamily="18" charset="0"/>
                                </a:rPr>
                                <m:t>2</m:t>
                              </m:r>
                            </m:sub>
                          </m:sSub>
                        </m:sub>
                        <m:sup/>
                        <m:e>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𝑦</m:t>
                              </m:r>
                            </m:e>
                            <m:sub>
                              <m:r>
                                <a:rPr lang="en-US" altLang="zh-CN" sz="2000" i="1">
                                  <a:latin typeface="Cambria Math" panose="02040503050406030204" pitchFamily="18" charset="0"/>
                                  <a:ea typeface="Microsoft YaHei" charset="0"/>
                                </a:rPr>
                                <m:t>𝑖</m:t>
                              </m:r>
                            </m:sub>
                          </m:sSub>
                        </m:e>
                      </m:nary>
                    </m:oMath>
                  </m:oMathPara>
                </a14:m>
                <a:endParaRPr lang="zh-CN" altLang="en-US" dirty="0">
                  <a:ea typeface="Microsoft YaHei"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3861097" y="3197514"/>
                <a:ext cx="3536161" cy="78688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569206" y="4052416"/>
                <a:ext cx="353782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1.5,2.5,3.5,4.5,5.5,6.5,7.5,8.5,9.5</m:t>
                      </m:r>
                    </m:oMath>
                  </m:oMathPara>
                </a14:m>
                <a:endParaRPr lang="zh-CN" altLang="en-US" sz="2000" dirty="0">
                  <a:ea typeface="Microsoft YaHei"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569206" y="4052416"/>
                <a:ext cx="3537828" cy="307777"/>
              </a:xfrm>
              <a:prstGeom prst="rect">
                <a:avLst/>
              </a:prstGeom>
              <a:blipFill>
                <a:blip r:embed="rId6"/>
                <a:stretch>
                  <a:fillRect l="-1033" r="-1205" b="-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3863431" y="4380956"/>
                <a:ext cx="5401800" cy="7868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𝑚</m:t>
                      </m:r>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𝑠</m:t>
                          </m:r>
                        </m:e>
                      </m:d>
                      <m:r>
                        <a:rPr lang="en-US" altLang="zh-CN" sz="2000" b="0" i="1" smtClean="0">
                          <a:latin typeface="Cambria Math" panose="02040503050406030204" pitchFamily="18" charset="0"/>
                          <a:ea typeface="Microsoft YaHei" charset="0"/>
                        </a:rPr>
                        <m:t>=</m:t>
                      </m:r>
                      <m:func>
                        <m:funcPr>
                          <m:ctrlPr>
                            <a:rPr lang="en-US" altLang="zh-CN" sz="2000" b="0" i="1" smtClean="0">
                              <a:latin typeface="Cambria Math" panose="02040503050406030204" pitchFamily="18" charset="0"/>
                              <a:ea typeface="Microsoft YaHei" charset="0"/>
                            </a:rPr>
                          </m:ctrlPr>
                        </m:funcPr>
                        <m:fName>
                          <m:limLow>
                            <m:limLowPr>
                              <m:ctrlPr>
                                <a:rPr lang="en-US" altLang="zh-CN" sz="2000" b="0" i="1" smtClean="0">
                                  <a:latin typeface="Cambria Math" panose="02040503050406030204" pitchFamily="18" charset="0"/>
                                  <a:ea typeface="Microsoft YaHei" charset="0"/>
                                </a:rPr>
                              </m:ctrlPr>
                            </m:limLowPr>
                            <m:e>
                              <m:r>
                                <m:rPr>
                                  <m:sty m:val="p"/>
                                </m:rPr>
                                <a:rPr lang="en-US" altLang="zh-CN" sz="2000" b="0" i="0" smtClean="0">
                                  <a:latin typeface="Cambria Math" panose="02040503050406030204" pitchFamily="18" charset="0"/>
                                  <a:ea typeface="Microsoft YaHei" charset="0"/>
                                </a:rPr>
                                <m:t>min</m:t>
                              </m:r>
                            </m:e>
                            <m:lim>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1</m:t>
                                  </m:r>
                                </m:sub>
                              </m:sSub>
                            </m:lim>
                          </m:limLow>
                        </m:fName>
                        <m:e>
                          <m:nary>
                            <m:naryPr>
                              <m:chr m:val="∑"/>
                              <m:supHide m:val="on"/>
                              <m:ctrlPr>
                                <a:rPr lang="en-US" altLang="zh-CN" sz="2000" b="0" i="1" smtClean="0">
                                  <a:latin typeface="Cambria Math" panose="02040503050406030204" pitchFamily="18" charset="0"/>
                                  <a:ea typeface="Microsoft YaHei" charset="0"/>
                                </a:rPr>
                              </m:ctrlPr>
                            </m:naryPr>
                            <m:sub>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𝑥</m:t>
                                  </m:r>
                                </m:e>
                                <m:sub>
                                  <m:r>
                                    <a:rPr lang="en-US" altLang="zh-CN" sz="2000" i="1">
                                      <a:latin typeface="Cambria Math" panose="02040503050406030204" pitchFamily="18" charset="0"/>
                                      <a:ea typeface="Microsoft YaHei" charset="0"/>
                                    </a:rPr>
                                    <m:t>𝑖</m:t>
                                  </m:r>
                                </m:sub>
                              </m:sSub>
                              <m:r>
                                <m:rPr>
                                  <m:brk m:alnAt="7"/>
                                </m:rP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𝑅</m:t>
                                  </m:r>
                                </m:e>
                                <m:sub>
                                  <m:r>
                                    <a:rPr lang="en-US" altLang="zh-CN" sz="2000" i="1">
                                      <a:latin typeface="Cambria Math" panose="02040503050406030204" pitchFamily="18" charset="0"/>
                                      <a:ea typeface="Cambria Math" panose="02040503050406030204" pitchFamily="18" charset="0"/>
                                    </a:rPr>
                                    <m:t>1</m:t>
                                  </m:r>
                                </m:sub>
                              </m:sSub>
                            </m:sub>
                            <m:sup/>
                            <m:e>
                              <m:sSup>
                                <m:sSupPr>
                                  <m:ctrlPr>
                                    <a:rPr lang="en-US" altLang="zh-CN" sz="2000" i="1">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𝑦</m:t>
                                      </m:r>
                                    </m:e>
                                    <m:sub>
                                      <m:r>
                                        <a:rPr lang="en-US" altLang="zh-CN" sz="2000" i="1">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𝑐</m:t>
                                      </m:r>
                                    </m:e>
                                    <m:sub>
                                      <m:r>
                                        <a:rPr lang="en-US" altLang="zh-CN" sz="2000" i="1">
                                          <a:latin typeface="Cambria Math" panose="02040503050406030204" pitchFamily="18" charset="0"/>
                                          <a:ea typeface="Microsoft YaHei" charset="0"/>
                                        </a:rPr>
                                        <m:t>1</m:t>
                                      </m:r>
                                    </m:sub>
                                  </m:sSub>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e>
                          </m:nary>
                          <m:r>
                            <a:rPr lang="en-US" altLang="zh-CN" sz="2000" b="0" i="1" smtClean="0">
                              <a:latin typeface="Cambria Math" panose="02040503050406030204" pitchFamily="18" charset="0"/>
                              <a:ea typeface="Microsoft YaHei" charset="0"/>
                            </a:rPr>
                            <m:t>+</m:t>
                          </m:r>
                          <m:func>
                            <m:funcPr>
                              <m:ctrlPr>
                                <a:rPr lang="en-US" altLang="zh-CN" sz="2000" i="1">
                                  <a:latin typeface="Cambria Math" panose="02040503050406030204" pitchFamily="18" charset="0"/>
                                  <a:ea typeface="Microsoft YaHei" charset="0"/>
                                </a:rPr>
                              </m:ctrlPr>
                            </m:funcPr>
                            <m:fName>
                              <m:limLow>
                                <m:limLowPr>
                                  <m:ctrlPr>
                                    <a:rPr lang="en-US" altLang="zh-CN" sz="2000" i="1">
                                      <a:latin typeface="Cambria Math" panose="02040503050406030204" pitchFamily="18" charset="0"/>
                                      <a:ea typeface="Microsoft YaHei" charset="0"/>
                                    </a:rPr>
                                  </m:ctrlPr>
                                </m:limLowPr>
                                <m:e>
                                  <m:r>
                                    <m:rPr>
                                      <m:sty m:val="p"/>
                                    </m:rPr>
                                    <a:rPr lang="en-US" altLang="zh-CN" sz="2000">
                                      <a:latin typeface="Cambria Math" panose="02040503050406030204" pitchFamily="18" charset="0"/>
                                      <a:ea typeface="Microsoft YaHei" charset="0"/>
                                    </a:rPr>
                                    <m:t>min</m:t>
                                  </m:r>
                                </m:e>
                                <m:lim>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2</m:t>
                                      </m:r>
                                    </m:sub>
                                  </m:sSub>
                                </m:lim>
                              </m:limLow>
                            </m:fName>
                            <m:e>
                              <m:nary>
                                <m:naryPr>
                                  <m:chr m:val="∑"/>
                                  <m:supHide m:val="on"/>
                                  <m:ctrlPr>
                                    <a:rPr lang="en-US" altLang="zh-CN" sz="2000" i="1">
                                      <a:latin typeface="Cambria Math" panose="02040503050406030204" pitchFamily="18" charset="0"/>
                                      <a:ea typeface="Microsoft YaHei" charset="0"/>
                                    </a:rPr>
                                  </m:ctrlPr>
                                </m:naryPr>
                                <m:sub>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𝑥</m:t>
                                      </m:r>
                                    </m:e>
                                    <m:sub>
                                      <m:r>
                                        <a:rPr lang="en-US" altLang="zh-CN" sz="2000" i="1">
                                          <a:latin typeface="Cambria Math" panose="02040503050406030204" pitchFamily="18" charset="0"/>
                                          <a:ea typeface="Microsoft YaHei" charset="0"/>
                                        </a:rPr>
                                        <m:t>𝑖</m:t>
                                      </m:r>
                                    </m:sub>
                                  </m:sSub>
                                  <m:r>
                                    <m:rPr>
                                      <m:brk m:alnAt="7"/>
                                    </m:rP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𝑅</m:t>
                                      </m:r>
                                    </m:e>
                                    <m:sub>
                                      <m:r>
                                        <a:rPr lang="en-US" altLang="zh-CN" sz="2000" b="0" i="1" smtClean="0">
                                          <a:latin typeface="Cambria Math" panose="02040503050406030204" pitchFamily="18" charset="0"/>
                                          <a:ea typeface="Cambria Math" panose="02040503050406030204" pitchFamily="18" charset="0"/>
                                        </a:rPr>
                                        <m:t>2</m:t>
                                      </m:r>
                                    </m:sub>
                                  </m:sSub>
                                </m:sub>
                                <m:sup/>
                                <m:e>
                                  <m:sSup>
                                    <m:sSupPr>
                                      <m:ctrlPr>
                                        <a:rPr lang="en-US" altLang="zh-CN" sz="2000" i="1">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𝑦</m:t>
                                          </m:r>
                                        </m:e>
                                        <m:sub>
                                          <m:r>
                                            <a:rPr lang="en-US" altLang="zh-CN" sz="2000" i="1">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2</m:t>
                                          </m:r>
                                        </m:sub>
                                      </m:sSub>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e>
                              </m:nary>
                            </m:e>
                          </m:func>
                        </m:e>
                      </m:func>
                    </m:oMath>
                  </m:oMathPara>
                </a14:m>
                <a:endParaRPr lang="zh-CN" altLang="en-US" sz="2000" dirty="0">
                  <a:ea typeface="Microsoft YaHei"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3863431" y="4380956"/>
                <a:ext cx="5401800" cy="786882"/>
              </a:xfrm>
              <a:prstGeom prst="rect">
                <a:avLst/>
              </a:prstGeom>
              <a:blipFill>
                <a:blip r:embed="rId7"/>
                <a:stretch>
                  <a:fillRect/>
                </a:stretch>
              </a:blipFill>
            </p:spPr>
            <p:txBody>
              <a:bodyPr/>
              <a:lstStyle/>
              <a:p>
                <a:r>
                  <a:rPr lang="zh-CN" altLang="en-US">
                    <a:noFill/>
                  </a:rPr>
                  <a:t> </a:t>
                </a:r>
              </a:p>
            </p:txBody>
          </p:sp>
        </mc:Fallback>
      </mc:AlternateContent>
      <p:sp>
        <p:nvSpPr>
          <p:cNvPr id="11" name="下箭头 10"/>
          <p:cNvSpPr/>
          <p:nvPr/>
        </p:nvSpPr>
        <p:spPr>
          <a:xfrm>
            <a:off x="4238740" y="4114220"/>
            <a:ext cx="165463" cy="216000"/>
          </a:xfrm>
          <a:prstGeom prst="down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mc:AlternateContent xmlns:mc="http://schemas.openxmlformats.org/markup-compatibility/2006" xmlns:a14="http://schemas.microsoft.com/office/drawing/2010/main">
        <mc:Choice Requires="a14">
          <p:sp>
            <p:nvSpPr>
              <p:cNvPr id="12" name="文本框 11"/>
              <p:cNvSpPr txBox="1"/>
              <p:nvPr/>
            </p:nvSpPr>
            <p:spPr>
              <a:xfrm>
                <a:off x="996017" y="5315654"/>
                <a:ext cx="55419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𝑠</m:t>
                      </m:r>
                      <m:r>
                        <a:rPr lang="en-US" altLang="zh-CN" b="0" i="1" smtClean="0">
                          <a:latin typeface="Cambria Math" panose="02040503050406030204" pitchFamily="18" charset="0"/>
                          <a:ea typeface="Microsoft YaHei" charset="0"/>
                        </a:rPr>
                        <m:t>=1.5</m:t>
                      </m:r>
                      <m:r>
                        <a:rPr lang="zh-CN" altLang="en-US"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𝑅</m:t>
                          </m:r>
                        </m:e>
                        <m:sub>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m:t>
                      </m:r>
                      <m:d>
                        <m:dPr>
                          <m:begChr m:val="{"/>
                          <m:endChr m:val="}"/>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1</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𝑅</m:t>
                          </m:r>
                        </m:e>
                        <m:sub>
                          <m:r>
                            <a:rPr lang="en-US" altLang="zh-CN" b="0" i="1" smtClean="0">
                              <a:latin typeface="Cambria Math" panose="02040503050406030204" pitchFamily="18" charset="0"/>
                              <a:ea typeface="Microsoft YaHei" charset="0"/>
                            </a:rPr>
                            <m:t>2</m:t>
                          </m:r>
                        </m:sub>
                      </m:sSub>
                      <m:r>
                        <a:rPr lang="en-US" altLang="zh-CN" b="0" i="1" smtClean="0">
                          <a:latin typeface="Cambria Math" panose="02040503050406030204" pitchFamily="18" charset="0"/>
                          <a:ea typeface="Microsoft YaHei" charset="0"/>
                        </a:rPr>
                        <m:t>=</m:t>
                      </m:r>
                      <m:d>
                        <m:dPr>
                          <m:begChr m:val="{"/>
                          <m:endChr m:val="}"/>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2,3,…,10</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𝑐</m:t>
                          </m:r>
                        </m:e>
                        <m:sub>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=5.56,</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𝑐</m:t>
                          </m:r>
                        </m:e>
                        <m:sub>
                          <m:r>
                            <a:rPr lang="en-US" altLang="zh-CN" b="0" i="1" smtClean="0">
                              <a:latin typeface="Cambria Math" panose="02040503050406030204" pitchFamily="18" charset="0"/>
                              <a:ea typeface="Microsoft YaHei" charset="0"/>
                            </a:rPr>
                            <m:t>2</m:t>
                          </m:r>
                        </m:sub>
                      </m:sSub>
                      <m:r>
                        <a:rPr lang="en-US" altLang="zh-CN" b="0" i="1" smtClean="0">
                          <a:latin typeface="Cambria Math" panose="02040503050406030204" pitchFamily="18" charset="0"/>
                          <a:ea typeface="Microsoft YaHei" charset="0"/>
                        </a:rPr>
                        <m:t>=7.5</m:t>
                      </m:r>
                    </m:oMath>
                  </m:oMathPara>
                </a14:m>
                <a:endParaRPr lang="zh-CN" altLang="en-US" dirty="0">
                  <a:ea typeface="Microsoft YaHei"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996017" y="5315654"/>
                <a:ext cx="5541902" cy="276999"/>
              </a:xfrm>
              <a:prstGeom prst="rect">
                <a:avLst/>
              </a:prstGeom>
              <a:blipFill rotWithShape="0">
                <a:blip r:embed="rId8"/>
                <a:stretch>
                  <a:fillRect r="-660" b="-15556"/>
                </a:stretch>
              </a:blipFill>
            </p:spPr>
            <p:txBody>
              <a:bodyPr/>
              <a:lstStyle/>
              <a:p>
                <a:r>
                  <a:rPr lang="zh-CN" altLang="en-US">
                    <a:noFill/>
                  </a:rPr>
                  <a:t> </a:t>
                </a:r>
                <a:endParaRPr lang="zh-CN" altLang="en-US">
                  <a:noFill/>
                </a:endParaRPr>
              </a:p>
            </p:txBody>
          </p:sp>
        </mc:Fallback>
      </mc:AlternateContent>
      <p:graphicFrame>
        <p:nvGraphicFramePr>
          <p:cNvPr id="13" name="表格 12"/>
          <p:cNvGraphicFramePr>
            <a:graphicFrameLocks noGrp="1"/>
          </p:cNvGraphicFramePr>
          <p:nvPr>
            <p:extLst>
              <p:ext uri="{D42A27DB-BD31-4B8C-83A1-F6EECF244321}">
                <p14:modId xmlns:p14="http://schemas.microsoft.com/office/powerpoint/2010/main" val="2162769207"/>
              </p:ext>
            </p:extLst>
          </p:nvPr>
        </p:nvGraphicFramePr>
        <p:xfrm>
          <a:off x="970065" y="5901266"/>
          <a:ext cx="8128000" cy="741680"/>
        </p:xfrm>
        <a:graphic>
          <a:graphicData uri="http://schemas.openxmlformats.org/drawingml/2006/table">
            <a:tbl>
              <a:tblPr firstRow="1" bandRow="1">
                <a:tableStyleId>{5940675A-B579-460E-94D1-54222C63F5DA}</a:tableStyleId>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812800">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12800">
                  <a:extLst>
                    <a:ext uri="{9D8B030D-6E8A-4147-A177-3AD203B41FA5}">
                      <a16:colId xmlns:a16="http://schemas.microsoft.com/office/drawing/2014/main" val="20006"/>
                    </a:ext>
                  </a:extLst>
                </a:gridCol>
                <a:gridCol w="812800">
                  <a:extLst>
                    <a:ext uri="{9D8B030D-6E8A-4147-A177-3AD203B41FA5}">
                      <a16:colId xmlns:a16="http://schemas.microsoft.com/office/drawing/2014/main" val="20007"/>
                    </a:ext>
                  </a:extLst>
                </a:gridCol>
                <a:gridCol w="812800">
                  <a:extLst>
                    <a:ext uri="{9D8B030D-6E8A-4147-A177-3AD203B41FA5}">
                      <a16:colId xmlns:a16="http://schemas.microsoft.com/office/drawing/2014/main" val="20008"/>
                    </a:ext>
                  </a:extLst>
                </a:gridCol>
                <a:gridCol w="812800">
                  <a:extLst>
                    <a:ext uri="{9D8B030D-6E8A-4147-A177-3AD203B41FA5}">
                      <a16:colId xmlns:a16="http://schemas.microsoft.com/office/drawing/2014/main" val="20009"/>
                    </a:ext>
                  </a:extLst>
                </a:gridCol>
              </a:tblGrid>
              <a:tr h="370840">
                <a:tc>
                  <a:txBody>
                    <a:bodyPr/>
                    <a:lstStyle/>
                    <a:p>
                      <a:r>
                        <a:rPr lang="en-US" altLang="zh-CN" dirty="0"/>
                        <a:t>s</a:t>
                      </a:r>
                      <a:endParaRPr lang="zh-CN" altLang="en-US" dirty="0">
                        <a:ea typeface="Microsoft YaHei" charset="0"/>
                      </a:endParaRPr>
                    </a:p>
                  </a:txBody>
                  <a:tcPr/>
                </a:tc>
                <a:tc>
                  <a:txBody>
                    <a:bodyPr/>
                    <a:lstStyle/>
                    <a:p>
                      <a:r>
                        <a:rPr lang="en-US" altLang="zh-CN" dirty="0"/>
                        <a:t>1.5</a:t>
                      </a:r>
                      <a:endParaRPr lang="zh-CN" altLang="en-US" dirty="0">
                        <a:ea typeface="Microsoft YaHei" charset="0"/>
                      </a:endParaRPr>
                    </a:p>
                  </a:txBody>
                  <a:tcPr/>
                </a:tc>
                <a:tc>
                  <a:txBody>
                    <a:bodyPr/>
                    <a:lstStyle/>
                    <a:p>
                      <a:r>
                        <a:rPr lang="en-US" altLang="zh-CN" dirty="0"/>
                        <a:t>2.5</a:t>
                      </a:r>
                      <a:endParaRPr lang="zh-CN" altLang="en-US" dirty="0">
                        <a:ea typeface="Microsoft YaHei" charset="0"/>
                      </a:endParaRPr>
                    </a:p>
                  </a:txBody>
                  <a:tcPr/>
                </a:tc>
                <a:tc>
                  <a:txBody>
                    <a:bodyPr/>
                    <a:lstStyle/>
                    <a:p>
                      <a:r>
                        <a:rPr lang="en-US" altLang="zh-CN" dirty="0"/>
                        <a:t>3.5</a:t>
                      </a:r>
                      <a:endParaRPr lang="zh-CN" altLang="en-US" dirty="0">
                        <a:ea typeface="Microsoft YaHei" charset="0"/>
                      </a:endParaRPr>
                    </a:p>
                  </a:txBody>
                  <a:tcPr/>
                </a:tc>
                <a:tc>
                  <a:txBody>
                    <a:bodyPr/>
                    <a:lstStyle/>
                    <a:p>
                      <a:r>
                        <a:rPr lang="en-US" altLang="zh-CN" dirty="0"/>
                        <a:t>4.5</a:t>
                      </a:r>
                      <a:endParaRPr lang="zh-CN" altLang="en-US" dirty="0">
                        <a:ea typeface="Microsoft YaHei" charset="0"/>
                      </a:endParaRPr>
                    </a:p>
                  </a:txBody>
                  <a:tcPr/>
                </a:tc>
                <a:tc>
                  <a:txBody>
                    <a:bodyPr/>
                    <a:lstStyle/>
                    <a:p>
                      <a:r>
                        <a:rPr lang="en-US" altLang="zh-CN" dirty="0"/>
                        <a:t>5.5</a:t>
                      </a:r>
                      <a:endParaRPr lang="zh-CN" altLang="en-US" dirty="0">
                        <a:ea typeface="Microsoft YaHei" charset="0"/>
                      </a:endParaRPr>
                    </a:p>
                  </a:txBody>
                  <a:tcPr/>
                </a:tc>
                <a:tc>
                  <a:txBody>
                    <a:bodyPr/>
                    <a:lstStyle/>
                    <a:p>
                      <a:r>
                        <a:rPr lang="en-US" altLang="zh-CN" dirty="0"/>
                        <a:t>6.5</a:t>
                      </a:r>
                      <a:endParaRPr lang="zh-CN" altLang="en-US" dirty="0">
                        <a:ea typeface="Microsoft YaHei" charset="0"/>
                      </a:endParaRPr>
                    </a:p>
                  </a:txBody>
                  <a:tcPr/>
                </a:tc>
                <a:tc>
                  <a:txBody>
                    <a:bodyPr/>
                    <a:lstStyle/>
                    <a:p>
                      <a:r>
                        <a:rPr lang="en-US" altLang="zh-CN" dirty="0"/>
                        <a:t>7.5</a:t>
                      </a:r>
                      <a:endParaRPr lang="zh-CN" altLang="en-US" dirty="0">
                        <a:ea typeface="Microsoft YaHei" charset="0"/>
                      </a:endParaRPr>
                    </a:p>
                  </a:txBody>
                  <a:tcPr/>
                </a:tc>
                <a:tc>
                  <a:txBody>
                    <a:bodyPr/>
                    <a:lstStyle/>
                    <a:p>
                      <a:r>
                        <a:rPr lang="en-US" altLang="zh-CN" dirty="0"/>
                        <a:t>8.5</a:t>
                      </a:r>
                      <a:endParaRPr lang="zh-CN" altLang="en-US" dirty="0">
                        <a:ea typeface="Microsoft YaHei" charset="0"/>
                      </a:endParaRPr>
                    </a:p>
                  </a:txBody>
                  <a:tcPr/>
                </a:tc>
                <a:tc>
                  <a:txBody>
                    <a:bodyPr/>
                    <a:lstStyle/>
                    <a:p>
                      <a:r>
                        <a:rPr lang="en-US" altLang="zh-CN" dirty="0"/>
                        <a:t>9.5</a:t>
                      </a:r>
                      <a:endParaRPr lang="zh-CN" altLang="en-US" dirty="0">
                        <a:ea typeface="Microsoft YaHei" charset="0"/>
                      </a:endParaRPr>
                    </a:p>
                  </a:txBody>
                  <a:tcPr/>
                </a:tc>
                <a:extLst>
                  <a:ext uri="{0D108BD9-81ED-4DB2-BD59-A6C34878D82A}">
                    <a16:rowId xmlns:a16="http://schemas.microsoft.com/office/drawing/2014/main" val="10000"/>
                  </a:ext>
                </a:extLst>
              </a:tr>
              <a:tr h="370840">
                <a:tc>
                  <a:txBody>
                    <a:bodyPr/>
                    <a:lstStyle/>
                    <a:p>
                      <a:r>
                        <a:rPr lang="en-US" altLang="zh-CN" dirty="0"/>
                        <a:t>m(s)</a:t>
                      </a:r>
                      <a:endParaRPr lang="zh-CN" altLang="en-US" dirty="0">
                        <a:ea typeface="Microsoft YaHei" charset="0"/>
                      </a:endParaRPr>
                    </a:p>
                  </a:txBody>
                  <a:tcPr/>
                </a:tc>
                <a:tc>
                  <a:txBody>
                    <a:bodyPr/>
                    <a:lstStyle/>
                    <a:p>
                      <a:r>
                        <a:rPr lang="en-US" altLang="zh-CN" dirty="0"/>
                        <a:t>15.72</a:t>
                      </a:r>
                      <a:endParaRPr lang="zh-CN" altLang="en-US" dirty="0">
                        <a:ea typeface="Microsoft YaHei" charset="0"/>
                      </a:endParaRPr>
                    </a:p>
                  </a:txBody>
                  <a:tcPr/>
                </a:tc>
                <a:tc>
                  <a:txBody>
                    <a:bodyPr/>
                    <a:lstStyle/>
                    <a:p>
                      <a:r>
                        <a:rPr lang="en-US" altLang="zh-CN" dirty="0"/>
                        <a:t>12.07</a:t>
                      </a:r>
                      <a:endParaRPr lang="zh-CN" altLang="en-US" dirty="0">
                        <a:ea typeface="Microsoft YaHei" charset="0"/>
                      </a:endParaRPr>
                    </a:p>
                  </a:txBody>
                  <a:tcPr/>
                </a:tc>
                <a:tc>
                  <a:txBody>
                    <a:bodyPr/>
                    <a:lstStyle/>
                    <a:p>
                      <a:r>
                        <a:rPr lang="en-US" altLang="zh-CN" dirty="0"/>
                        <a:t>8.36</a:t>
                      </a:r>
                      <a:endParaRPr lang="zh-CN" altLang="en-US" dirty="0">
                        <a:ea typeface="Microsoft YaHei" charset="0"/>
                      </a:endParaRPr>
                    </a:p>
                  </a:txBody>
                  <a:tcPr/>
                </a:tc>
                <a:tc>
                  <a:txBody>
                    <a:bodyPr/>
                    <a:lstStyle/>
                    <a:p>
                      <a:r>
                        <a:rPr lang="en-US" altLang="zh-CN" dirty="0"/>
                        <a:t>5.78</a:t>
                      </a:r>
                      <a:endParaRPr lang="zh-CN" altLang="en-US" dirty="0">
                        <a:ea typeface="Microsoft YaHei" charset="0"/>
                      </a:endParaRPr>
                    </a:p>
                  </a:txBody>
                  <a:tcPr/>
                </a:tc>
                <a:tc>
                  <a:txBody>
                    <a:bodyPr/>
                    <a:lstStyle/>
                    <a:p>
                      <a:r>
                        <a:rPr lang="en-US" altLang="zh-CN" dirty="0"/>
                        <a:t>3.91</a:t>
                      </a:r>
                      <a:endParaRPr lang="zh-CN" altLang="en-US" dirty="0">
                        <a:ea typeface="Microsoft YaHei" charset="0"/>
                      </a:endParaRPr>
                    </a:p>
                  </a:txBody>
                  <a:tcPr/>
                </a:tc>
                <a:tc>
                  <a:txBody>
                    <a:bodyPr/>
                    <a:lstStyle/>
                    <a:p>
                      <a:r>
                        <a:rPr lang="en-US" altLang="zh-CN" dirty="0"/>
                        <a:t>1.93</a:t>
                      </a:r>
                      <a:endParaRPr lang="zh-CN" altLang="en-US" dirty="0">
                        <a:ea typeface="Microsoft YaHei" charset="0"/>
                      </a:endParaRPr>
                    </a:p>
                  </a:txBody>
                  <a:tcPr/>
                </a:tc>
                <a:tc>
                  <a:txBody>
                    <a:bodyPr/>
                    <a:lstStyle/>
                    <a:p>
                      <a:r>
                        <a:rPr lang="en-US" altLang="zh-CN" dirty="0"/>
                        <a:t>8.01</a:t>
                      </a:r>
                      <a:endParaRPr lang="zh-CN" altLang="en-US" dirty="0">
                        <a:ea typeface="Microsoft YaHei" charset="0"/>
                      </a:endParaRPr>
                    </a:p>
                  </a:txBody>
                  <a:tcPr/>
                </a:tc>
                <a:tc>
                  <a:txBody>
                    <a:bodyPr/>
                    <a:lstStyle/>
                    <a:p>
                      <a:r>
                        <a:rPr lang="en-US" altLang="zh-CN" dirty="0"/>
                        <a:t>11.73</a:t>
                      </a:r>
                      <a:endParaRPr lang="zh-CN" altLang="en-US" dirty="0">
                        <a:ea typeface="Microsoft YaHei" charset="0"/>
                      </a:endParaRPr>
                    </a:p>
                  </a:txBody>
                  <a:tcPr/>
                </a:tc>
                <a:tc>
                  <a:txBody>
                    <a:bodyPr/>
                    <a:lstStyle/>
                    <a:p>
                      <a:r>
                        <a:rPr lang="en-US" altLang="zh-CN" dirty="0"/>
                        <a:t>15.74</a:t>
                      </a:r>
                      <a:endParaRPr lang="zh-CN" altLang="en-US" dirty="0">
                        <a:ea typeface="Microsoft YaHei" charset="0"/>
                      </a:endParaRPr>
                    </a:p>
                  </a:txBody>
                  <a:tcPr/>
                </a:tc>
                <a:extLst>
                  <a:ext uri="{0D108BD9-81ED-4DB2-BD59-A6C34878D82A}">
                    <a16:rowId xmlns:a16="http://schemas.microsoft.com/office/drawing/2014/main" val="10001"/>
                  </a:ext>
                </a:extLst>
              </a:tr>
            </a:tbl>
          </a:graphicData>
        </a:graphic>
      </p:graphicFrame>
      <p:sp>
        <p:nvSpPr>
          <p:cNvPr id="14" name="下箭头 13"/>
          <p:cNvSpPr/>
          <p:nvPr/>
        </p:nvSpPr>
        <p:spPr>
          <a:xfrm>
            <a:off x="4244174" y="4960845"/>
            <a:ext cx="165463" cy="216000"/>
          </a:xfrm>
          <a:prstGeom prst="down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15" name="圆角矩形 14"/>
          <p:cNvSpPr/>
          <p:nvPr/>
        </p:nvSpPr>
        <p:spPr>
          <a:xfrm>
            <a:off x="5831284" y="5833975"/>
            <a:ext cx="600891" cy="88827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Microsoft YaHei" charset="0"/>
            </a:endParaRPr>
          </a:p>
        </p:txBody>
      </p:sp>
      <p:sp>
        <p:nvSpPr>
          <p:cNvPr id="25"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16" name="表格 15">
            <a:extLst>
              <a:ext uri="{FF2B5EF4-FFF2-40B4-BE49-F238E27FC236}">
                <a16:creationId xmlns:a16="http://schemas.microsoft.com/office/drawing/2014/main" id="{6E6EED19-8413-426F-878C-B65CB70ABA3D}"/>
              </a:ext>
            </a:extLst>
          </p:cNvPr>
          <p:cNvGraphicFramePr>
            <a:graphicFrameLocks noGrp="1"/>
          </p:cNvGraphicFramePr>
          <p:nvPr>
            <p:extLst>
              <p:ext uri="{D42A27DB-BD31-4B8C-83A1-F6EECF244321}">
                <p14:modId xmlns:p14="http://schemas.microsoft.com/office/powerpoint/2010/main" val="3944039889"/>
              </p:ext>
            </p:extLst>
          </p:nvPr>
        </p:nvGraphicFramePr>
        <p:xfrm>
          <a:off x="722019" y="1464472"/>
          <a:ext cx="1885315" cy="2221230"/>
        </p:xfrm>
        <a:graphic>
          <a:graphicData uri="http://schemas.openxmlformats.org/drawingml/2006/table">
            <a:tbl>
              <a:tblPr firstRow="1" firstCol="1" bandRow="1">
                <a:tableStyleId>{93296810-A885-4BE3-A3E7-6D5BEEA58F35}</a:tableStyleId>
              </a:tblPr>
              <a:tblGrid>
                <a:gridCol w="942340">
                  <a:extLst>
                    <a:ext uri="{9D8B030D-6E8A-4147-A177-3AD203B41FA5}">
                      <a16:colId xmlns:a16="http://schemas.microsoft.com/office/drawing/2014/main" val="3761725486"/>
                    </a:ext>
                  </a:extLst>
                </a:gridCol>
                <a:gridCol w="942975">
                  <a:extLst>
                    <a:ext uri="{9D8B030D-6E8A-4147-A177-3AD203B41FA5}">
                      <a16:colId xmlns:a16="http://schemas.microsoft.com/office/drawing/2014/main" val="2291884616"/>
                    </a:ext>
                  </a:extLst>
                </a:gridCol>
              </a:tblGrid>
              <a:tr h="127000">
                <a:tc>
                  <a:txBody>
                    <a:bodyPr/>
                    <a:lstStyle/>
                    <a:p>
                      <a:pPr algn="l"/>
                      <a:r>
                        <a:rPr lang="en-US" sz="1200" kern="0" dirty="0">
                          <a:effectLst/>
                        </a:rPr>
                        <a:t>x</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y</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844232833"/>
                  </a:ext>
                </a:extLst>
              </a:tr>
              <a:tr h="127000">
                <a:tc>
                  <a:txBody>
                    <a:bodyPr/>
                    <a:lstStyle/>
                    <a:p>
                      <a:pPr algn="l"/>
                      <a:r>
                        <a:rPr lang="en-US" sz="1200" kern="0">
                          <a:effectLst/>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5.56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70480225"/>
                  </a:ext>
                </a:extLst>
              </a:tr>
              <a:tr h="127000">
                <a:tc>
                  <a:txBody>
                    <a:bodyPr/>
                    <a:lstStyle/>
                    <a:p>
                      <a:pPr algn="l"/>
                      <a:r>
                        <a:rPr lang="en-US" sz="1200" kern="0">
                          <a:effectLst/>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5.7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13396346"/>
                  </a:ext>
                </a:extLst>
              </a:tr>
              <a:tr h="127000">
                <a:tc>
                  <a:txBody>
                    <a:bodyPr/>
                    <a:lstStyle/>
                    <a:p>
                      <a:pPr algn="l"/>
                      <a:r>
                        <a:rPr lang="en-US" sz="1200" kern="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5.91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310422272"/>
                  </a:ext>
                </a:extLst>
              </a:tr>
              <a:tr h="127000">
                <a:tc>
                  <a:txBody>
                    <a:bodyPr/>
                    <a:lstStyle/>
                    <a:p>
                      <a:pPr algn="l"/>
                      <a:r>
                        <a:rPr lang="en-US" sz="1200" kern="0">
                          <a:effectLst/>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6.4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72873394"/>
                  </a:ext>
                </a:extLst>
              </a:tr>
              <a:tr h="127000">
                <a:tc>
                  <a:txBody>
                    <a:bodyPr/>
                    <a:lstStyle/>
                    <a:p>
                      <a:pPr algn="l"/>
                      <a:r>
                        <a:rPr lang="en-US" sz="1200" kern="0">
                          <a:effectLst/>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6.8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338625861"/>
                  </a:ext>
                </a:extLst>
              </a:tr>
              <a:tr h="127000">
                <a:tc>
                  <a:txBody>
                    <a:bodyPr/>
                    <a:lstStyle/>
                    <a:p>
                      <a:pPr algn="l"/>
                      <a:r>
                        <a:rPr lang="en-US" sz="1200" kern="0">
                          <a:effectLst/>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7.05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439204452"/>
                  </a:ext>
                </a:extLst>
              </a:tr>
              <a:tr h="127000">
                <a:tc>
                  <a:txBody>
                    <a:bodyPr/>
                    <a:lstStyle/>
                    <a:p>
                      <a:pPr algn="l"/>
                      <a:r>
                        <a:rPr lang="en-US" sz="1200" kern="0">
                          <a:effectLst/>
                        </a:rPr>
                        <a:t>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8.9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83689442"/>
                  </a:ext>
                </a:extLst>
              </a:tr>
              <a:tr h="127000">
                <a:tc>
                  <a:txBody>
                    <a:bodyPr/>
                    <a:lstStyle/>
                    <a:p>
                      <a:pPr algn="l"/>
                      <a:r>
                        <a:rPr lang="en-US" sz="1200" kern="0">
                          <a:effectLst/>
                        </a:rPr>
                        <a:t>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8.7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712791023"/>
                  </a:ext>
                </a:extLst>
              </a:tr>
              <a:tr h="127000">
                <a:tc>
                  <a:txBody>
                    <a:bodyPr/>
                    <a:lstStyle/>
                    <a:p>
                      <a:pPr algn="l"/>
                      <a:r>
                        <a:rPr lang="en-US" sz="1200" kern="0">
                          <a:effectLst/>
                        </a:rPr>
                        <a:t>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590619470"/>
                  </a:ext>
                </a:extLst>
              </a:tr>
              <a:tr h="127000">
                <a:tc>
                  <a:txBody>
                    <a:bodyPr/>
                    <a:lstStyle/>
                    <a:p>
                      <a:pPr algn="l"/>
                      <a:r>
                        <a:rPr lang="en-US" sz="1200" kern="0">
                          <a:effectLst/>
                        </a:rPr>
                        <a:t>10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dirty="0">
                          <a:effectLst/>
                        </a:rPr>
                        <a:t>9.05</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721034113"/>
                  </a:ext>
                </a:extLst>
              </a:tr>
            </a:tbl>
          </a:graphicData>
        </a:graphic>
      </p:graphicFrame>
      <p:sp>
        <p:nvSpPr>
          <p:cNvPr id="19" name="Rectangle 2">
            <a:extLst>
              <a:ext uri="{FF2B5EF4-FFF2-40B4-BE49-F238E27FC236}">
                <a16:creationId xmlns:a16="http://schemas.microsoft.com/office/drawing/2014/main" id="{6298863C-B431-48FF-8F12-0CD08E5CA695}"/>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GBDT</a:t>
            </a:r>
            <a:r>
              <a:rPr lang="zh-CN" altLang="en-US" dirty="0">
                <a:solidFill>
                  <a:schemeClr val="tx1"/>
                </a:solidFill>
              </a:rPr>
              <a:t>算法</a:t>
            </a:r>
          </a:p>
        </p:txBody>
      </p:sp>
    </p:spTree>
    <p:extLst>
      <p:ext uri="{BB962C8B-B14F-4D97-AF65-F5344CB8AC3E}">
        <p14:creationId xmlns:p14="http://schemas.microsoft.com/office/powerpoint/2010/main" val="565311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fltVal val="0"/>
                                          </p:val>
                                        </p:tav>
                                        <p:tav tm="100000">
                                          <p:val>
                                            <p:strVal val="#ppt_h"/>
                                          </p:val>
                                        </p:tav>
                                      </p:tavLst>
                                    </p:anim>
                                    <p:animEffect transition="in" filter="fade">
                                      <p:cBhvr>
                                        <p:cTn id="28" dur="500"/>
                                        <p:tgtEl>
                                          <p:spTgt spid="7"/>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p:cTn id="38" dur="500" fill="hold"/>
                                        <p:tgtEl>
                                          <p:spTgt spid="9"/>
                                        </p:tgtEl>
                                        <p:attrNameLst>
                                          <p:attrName>ppt_w</p:attrName>
                                        </p:attrNameLst>
                                      </p:cBhvr>
                                      <p:tavLst>
                                        <p:tav tm="0">
                                          <p:val>
                                            <p:fltVal val="0"/>
                                          </p:val>
                                        </p:tav>
                                        <p:tav tm="100000">
                                          <p:val>
                                            <p:strVal val="#ppt_w"/>
                                          </p:val>
                                        </p:tav>
                                      </p:tavLst>
                                    </p:anim>
                                    <p:anim calcmode="lin" valueType="num">
                                      <p:cBhvr>
                                        <p:cTn id="39" dur="500" fill="hold"/>
                                        <p:tgtEl>
                                          <p:spTgt spid="9"/>
                                        </p:tgtEl>
                                        <p:attrNameLst>
                                          <p:attrName>ppt_h</p:attrName>
                                        </p:attrNameLst>
                                      </p:cBhvr>
                                      <p:tavLst>
                                        <p:tav tm="0">
                                          <p:val>
                                            <p:fltVal val="0"/>
                                          </p:val>
                                        </p:tav>
                                        <p:tav tm="100000">
                                          <p:val>
                                            <p:strVal val="#ppt_h"/>
                                          </p:val>
                                        </p:tav>
                                      </p:tavLst>
                                    </p:anim>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p:cTn id="45" dur="500" fill="hold"/>
                                        <p:tgtEl>
                                          <p:spTgt spid="11"/>
                                        </p:tgtEl>
                                        <p:attrNameLst>
                                          <p:attrName>ppt_w</p:attrName>
                                        </p:attrNameLst>
                                      </p:cBhvr>
                                      <p:tavLst>
                                        <p:tav tm="0">
                                          <p:val>
                                            <p:fltVal val="0"/>
                                          </p:val>
                                        </p:tav>
                                        <p:tav tm="100000">
                                          <p:val>
                                            <p:strVal val="#ppt_w"/>
                                          </p:val>
                                        </p:tav>
                                      </p:tavLst>
                                    </p:anim>
                                    <p:anim calcmode="lin" valueType="num">
                                      <p:cBhvr>
                                        <p:cTn id="46" dur="500" fill="hold"/>
                                        <p:tgtEl>
                                          <p:spTgt spid="11"/>
                                        </p:tgtEl>
                                        <p:attrNameLst>
                                          <p:attrName>ppt_h</p:attrName>
                                        </p:attrNameLst>
                                      </p:cBhvr>
                                      <p:tavLst>
                                        <p:tav tm="0">
                                          <p:val>
                                            <p:fltVal val="0"/>
                                          </p:val>
                                        </p:tav>
                                        <p:tav tm="100000">
                                          <p:val>
                                            <p:strVal val="#ppt_h"/>
                                          </p:val>
                                        </p:tav>
                                      </p:tavLst>
                                    </p:anim>
                                    <p:animEffect transition="in" filter="fade">
                                      <p:cBhvr>
                                        <p:cTn id="47" dur="500"/>
                                        <p:tgtEl>
                                          <p:spTgt spid="11"/>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p:cTn id="50" dur="500" fill="hold"/>
                                        <p:tgtEl>
                                          <p:spTgt spid="10"/>
                                        </p:tgtEl>
                                        <p:attrNameLst>
                                          <p:attrName>ppt_w</p:attrName>
                                        </p:attrNameLst>
                                      </p:cBhvr>
                                      <p:tavLst>
                                        <p:tav tm="0">
                                          <p:val>
                                            <p:fltVal val="0"/>
                                          </p:val>
                                        </p:tav>
                                        <p:tav tm="100000">
                                          <p:val>
                                            <p:strVal val="#ppt_w"/>
                                          </p:val>
                                        </p:tav>
                                      </p:tavLst>
                                    </p:anim>
                                    <p:anim calcmode="lin" valueType="num">
                                      <p:cBhvr>
                                        <p:cTn id="51" dur="500" fill="hold"/>
                                        <p:tgtEl>
                                          <p:spTgt spid="10"/>
                                        </p:tgtEl>
                                        <p:attrNameLst>
                                          <p:attrName>ppt_h</p:attrName>
                                        </p:attrNameLst>
                                      </p:cBhvr>
                                      <p:tavLst>
                                        <p:tav tm="0">
                                          <p:val>
                                            <p:fltVal val="0"/>
                                          </p:val>
                                        </p:tav>
                                        <p:tav tm="100000">
                                          <p:val>
                                            <p:strVal val="#ppt_h"/>
                                          </p:val>
                                        </p:tav>
                                      </p:tavLst>
                                    </p:anim>
                                    <p:animEffect transition="in" filter="fade">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p:cTn id="57" dur="500" fill="hold"/>
                                        <p:tgtEl>
                                          <p:spTgt spid="14"/>
                                        </p:tgtEl>
                                        <p:attrNameLst>
                                          <p:attrName>ppt_w</p:attrName>
                                        </p:attrNameLst>
                                      </p:cBhvr>
                                      <p:tavLst>
                                        <p:tav tm="0">
                                          <p:val>
                                            <p:fltVal val="0"/>
                                          </p:val>
                                        </p:tav>
                                        <p:tav tm="100000">
                                          <p:val>
                                            <p:strVal val="#ppt_w"/>
                                          </p:val>
                                        </p:tav>
                                      </p:tavLst>
                                    </p:anim>
                                    <p:anim calcmode="lin" valueType="num">
                                      <p:cBhvr>
                                        <p:cTn id="58" dur="500" fill="hold"/>
                                        <p:tgtEl>
                                          <p:spTgt spid="14"/>
                                        </p:tgtEl>
                                        <p:attrNameLst>
                                          <p:attrName>ppt_h</p:attrName>
                                        </p:attrNameLst>
                                      </p:cBhvr>
                                      <p:tavLst>
                                        <p:tav tm="0">
                                          <p:val>
                                            <p:fltVal val="0"/>
                                          </p:val>
                                        </p:tav>
                                        <p:tav tm="100000">
                                          <p:val>
                                            <p:strVal val="#ppt_h"/>
                                          </p:val>
                                        </p:tav>
                                      </p:tavLst>
                                    </p:anim>
                                    <p:animEffect transition="in" filter="fade">
                                      <p:cBhvr>
                                        <p:cTn id="59" dur="500"/>
                                        <p:tgtEl>
                                          <p:spTgt spid="14"/>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12"/>
                                        </p:tgtEl>
                                        <p:attrNameLst>
                                          <p:attrName>style.visibility</p:attrName>
                                        </p:attrNameLst>
                                      </p:cBhvr>
                                      <p:to>
                                        <p:strVal val="visible"/>
                                      </p:to>
                                    </p:set>
                                    <p:anim calcmode="lin" valueType="num">
                                      <p:cBhvr>
                                        <p:cTn id="64" dur="500" fill="hold"/>
                                        <p:tgtEl>
                                          <p:spTgt spid="12"/>
                                        </p:tgtEl>
                                        <p:attrNameLst>
                                          <p:attrName>ppt_w</p:attrName>
                                        </p:attrNameLst>
                                      </p:cBhvr>
                                      <p:tavLst>
                                        <p:tav tm="0">
                                          <p:val>
                                            <p:fltVal val="0"/>
                                          </p:val>
                                        </p:tav>
                                        <p:tav tm="100000">
                                          <p:val>
                                            <p:strVal val="#ppt_w"/>
                                          </p:val>
                                        </p:tav>
                                      </p:tavLst>
                                    </p:anim>
                                    <p:anim calcmode="lin" valueType="num">
                                      <p:cBhvr>
                                        <p:cTn id="65" dur="500" fill="hold"/>
                                        <p:tgtEl>
                                          <p:spTgt spid="12"/>
                                        </p:tgtEl>
                                        <p:attrNameLst>
                                          <p:attrName>ppt_h</p:attrName>
                                        </p:attrNameLst>
                                      </p:cBhvr>
                                      <p:tavLst>
                                        <p:tav tm="0">
                                          <p:val>
                                            <p:fltVal val="0"/>
                                          </p:val>
                                        </p:tav>
                                        <p:tav tm="100000">
                                          <p:val>
                                            <p:strVal val="#ppt_h"/>
                                          </p:val>
                                        </p:tav>
                                      </p:tavLst>
                                    </p:anim>
                                    <p:animEffect transition="in" filter="fade">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14" presetClass="entr" presetSubtype="10" fill="hold"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randombar(horizontal)">
                                      <p:cBhvr>
                                        <p:cTn id="71" dur="500"/>
                                        <p:tgtEl>
                                          <p:spTgt spid="13"/>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5"/>
                                        </p:tgtEl>
                                        <p:attrNameLst>
                                          <p:attrName>style.visibility</p:attrName>
                                        </p:attrNameLst>
                                      </p:cBhvr>
                                      <p:to>
                                        <p:strVal val="visible"/>
                                      </p:to>
                                    </p:set>
                                    <p:anim calcmode="lin" valueType="num">
                                      <p:cBhvr additive="base">
                                        <p:cTn id="76" dur="500" fill="hold"/>
                                        <p:tgtEl>
                                          <p:spTgt spid="15"/>
                                        </p:tgtEl>
                                        <p:attrNameLst>
                                          <p:attrName>ppt_x</p:attrName>
                                        </p:attrNameLst>
                                      </p:cBhvr>
                                      <p:tavLst>
                                        <p:tav tm="0">
                                          <p:val>
                                            <p:strVal val="#ppt_x"/>
                                          </p:val>
                                        </p:tav>
                                        <p:tav tm="100000">
                                          <p:val>
                                            <p:strVal val="#ppt_x"/>
                                          </p:val>
                                        </p:tav>
                                      </p:tavLst>
                                    </p:anim>
                                    <p:anim calcmode="lin" valueType="num">
                                      <p:cBhvr additive="base">
                                        <p:cTn id="7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3" grpId="0"/>
      <p:bldP spid="7" grpId="0" animBg="1"/>
      <p:bldP spid="8" grpId="0"/>
      <p:bldP spid="9" grpId="0"/>
      <p:bldP spid="10" grpId="0"/>
      <p:bldP spid="11" grpId="0" animBg="1"/>
      <p:bldP spid="12" grpId="0"/>
      <p:bldP spid="1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文本框 11"/>
              <p:cNvSpPr txBox="1"/>
              <p:nvPr/>
            </p:nvSpPr>
            <p:spPr>
              <a:xfrm>
                <a:off x="3288928" y="1283773"/>
                <a:ext cx="62247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𝑠</m:t>
                      </m:r>
                      <m:r>
                        <a:rPr lang="en-US" altLang="zh-CN" b="0" i="1" smtClean="0">
                          <a:latin typeface="Cambria Math" panose="02040503050406030204" pitchFamily="18" charset="0"/>
                          <a:ea typeface="Microsoft YaHei" charset="0"/>
                        </a:rPr>
                        <m:t>=6.5</m:t>
                      </m:r>
                      <m:r>
                        <a:rPr lang="zh-CN" altLang="en-US"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𝑅</m:t>
                          </m:r>
                        </m:e>
                        <m:sub>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m:t>
                      </m:r>
                      <m:d>
                        <m:dPr>
                          <m:begChr m:val="{"/>
                          <m:endChr m:val="}"/>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1,2</m:t>
                          </m:r>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6</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𝑅</m:t>
                          </m:r>
                        </m:e>
                        <m:sub>
                          <m:r>
                            <a:rPr lang="en-US" altLang="zh-CN" b="0" i="1" smtClean="0">
                              <a:latin typeface="Cambria Math" panose="02040503050406030204" pitchFamily="18" charset="0"/>
                              <a:ea typeface="Microsoft YaHei" charset="0"/>
                            </a:rPr>
                            <m:t>2</m:t>
                          </m:r>
                        </m:sub>
                      </m:sSub>
                      <m:r>
                        <a:rPr lang="en-US" altLang="zh-CN" b="0" i="1" smtClean="0">
                          <a:latin typeface="Cambria Math" panose="02040503050406030204" pitchFamily="18" charset="0"/>
                          <a:ea typeface="Microsoft YaHei" charset="0"/>
                        </a:rPr>
                        <m:t>=</m:t>
                      </m:r>
                      <m:d>
                        <m:dPr>
                          <m:begChr m:val="{"/>
                          <m:endChr m:val="}"/>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7,8,…,10</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𝑐</m:t>
                          </m:r>
                        </m:e>
                        <m:sub>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=6.24,</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𝑐</m:t>
                          </m:r>
                        </m:e>
                        <m:sub>
                          <m:r>
                            <a:rPr lang="en-US" altLang="zh-CN" b="0" i="1" smtClean="0">
                              <a:latin typeface="Cambria Math" panose="02040503050406030204" pitchFamily="18" charset="0"/>
                              <a:ea typeface="Microsoft YaHei" charset="0"/>
                            </a:rPr>
                            <m:t>2</m:t>
                          </m:r>
                        </m:sub>
                      </m:sSub>
                      <m:r>
                        <a:rPr lang="en-US" altLang="zh-CN" b="0" i="1" smtClean="0">
                          <a:latin typeface="Cambria Math" panose="02040503050406030204" pitchFamily="18" charset="0"/>
                          <a:ea typeface="Microsoft YaHei" charset="0"/>
                        </a:rPr>
                        <m:t>=8.91</m:t>
                      </m:r>
                    </m:oMath>
                  </m:oMathPara>
                </a14:m>
                <a:endParaRPr lang="zh-CN" altLang="en-US" dirty="0">
                  <a:ea typeface="Microsoft YaHei"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3288928" y="1283773"/>
                <a:ext cx="6224781" cy="276999"/>
              </a:xfrm>
              <a:prstGeom prst="rect">
                <a:avLst/>
              </a:prstGeom>
              <a:blipFill rotWithShape="0">
                <a:blip r:embed="rId3"/>
                <a:stretch>
                  <a:fillRect l="-98" r="-490" b="-15556"/>
                </a:stretch>
              </a:blipFill>
            </p:spPr>
            <p:txBody>
              <a:bodyPr/>
              <a:lstStyle/>
              <a:p>
                <a:r>
                  <a:rPr lang="zh-CN" altLang="en-US">
                    <a:noFill/>
                  </a:rPr>
                  <a:t> </a:t>
                </a:r>
                <a:endParaRPr lang="zh-CN" altLang="en-US">
                  <a:noFill/>
                </a:endParaRPr>
              </a:p>
            </p:txBody>
          </p:sp>
        </mc:Fallback>
      </mc:AlternateContent>
      <p:sp>
        <p:nvSpPr>
          <p:cNvPr id="15" name="椭圆 14"/>
          <p:cNvSpPr/>
          <p:nvPr/>
        </p:nvSpPr>
        <p:spPr>
          <a:xfrm>
            <a:off x="5847450" y="1916041"/>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x&lt;6.5</a:t>
            </a:r>
            <a:endParaRPr lang="zh-CN" altLang="en-US" dirty="0">
              <a:solidFill>
                <a:schemeClr val="bg1"/>
              </a:solidFill>
              <a:ea typeface="Microsoft YaHei" charset="0"/>
            </a:endParaRPr>
          </a:p>
        </p:txBody>
      </p:sp>
      <p:sp>
        <p:nvSpPr>
          <p:cNvPr id="16" name="矩形 15"/>
          <p:cNvSpPr/>
          <p:nvPr/>
        </p:nvSpPr>
        <p:spPr>
          <a:xfrm>
            <a:off x="5225143" y="2503712"/>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6.24</a:t>
            </a:r>
            <a:endParaRPr lang="zh-CN" altLang="en-US" dirty="0">
              <a:ea typeface="Microsoft YaHei" charset="0"/>
            </a:endParaRPr>
          </a:p>
        </p:txBody>
      </p:sp>
      <p:sp>
        <p:nvSpPr>
          <p:cNvPr id="17" name="矩形 16"/>
          <p:cNvSpPr/>
          <p:nvPr/>
        </p:nvSpPr>
        <p:spPr>
          <a:xfrm>
            <a:off x="6631577" y="2503712"/>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8.91</a:t>
            </a:r>
            <a:endParaRPr lang="zh-CN" altLang="en-US" sz="2000" dirty="0">
              <a:ea typeface="Microsoft YaHei" charset="0"/>
            </a:endParaRPr>
          </a:p>
        </p:txBody>
      </p:sp>
      <p:cxnSp>
        <p:nvCxnSpPr>
          <p:cNvPr id="19" name="直接连接符 18"/>
          <p:cNvCxnSpPr>
            <a:stCxn id="15" idx="4"/>
            <a:endCxn id="16" idx="0"/>
          </p:cNvCxnSpPr>
          <p:nvPr/>
        </p:nvCxnSpPr>
        <p:spPr>
          <a:xfrm flipH="1">
            <a:off x="5617029" y="2299218"/>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5" idx="4"/>
            <a:endCxn id="17" idx="0"/>
          </p:cNvCxnSpPr>
          <p:nvPr/>
        </p:nvCxnSpPr>
        <p:spPr>
          <a:xfrm>
            <a:off x="6337485" y="2299218"/>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本框 24"/>
              <p:cNvSpPr txBox="1"/>
              <p:nvPr/>
            </p:nvSpPr>
            <p:spPr>
              <a:xfrm>
                <a:off x="3005173" y="2412749"/>
                <a:ext cx="16432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3005173" y="2412749"/>
                <a:ext cx="1643207" cy="276999"/>
              </a:xfrm>
              <a:prstGeom prst="rect">
                <a:avLst/>
              </a:prstGeom>
              <a:blipFill>
                <a:blip r:embed="rId5"/>
                <a:stretch>
                  <a:fillRect l="-8889" r="-31111" b="-844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p:cNvSpPr txBox="1"/>
              <p:nvPr/>
            </p:nvSpPr>
            <p:spPr>
              <a:xfrm>
                <a:off x="7336722" y="2679592"/>
                <a:ext cx="4319196" cy="865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𝐿</m:t>
                      </m:r>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𝑦</m:t>
                          </m:r>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i="1">
                                  <a:latin typeface="Cambria Math" panose="02040503050406030204" pitchFamily="18" charset="0"/>
                                  <a:ea typeface="Microsoft YaHei" charset="0"/>
                                </a:rPr>
                                <m:t>1</m:t>
                              </m:r>
                            </m:sub>
                          </m:sSub>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e>
                          </m:d>
                        </m:e>
                      </m:d>
                      <m:r>
                        <a:rPr lang="en-US" altLang="zh-CN" sz="2000" b="0" i="1" smtClean="0">
                          <a:latin typeface="Cambria Math" panose="02040503050406030204" pitchFamily="18" charset="0"/>
                          <a:ea typeface="Microsoft YaHei" charset="0"/>
                        </a:rPr>
                        <m:t>=</m:t>
                      </m:r>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10</m:t>
                          </m:r>
                        </m:sup>
                        <m:e>
                          <m:sSup>
                            <m:sSupPr>
                              <m:ctrlPr>
                                <a:rPr lang="en-US" altLang="zh-CN" sz="2000" i="1" smtClean="0">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i="1">
                                      <a:latin typeface="Cambria Math" panose="02040503050406030204" pitchFamily="18" charset="0"/>
                                      <a:ea typeface="Microsoft YaHei" charset="0"/>
                                    </a:rPr>
                                    <m:t>1</m:t>
                                  </m:r>
                                </m:sub>
                              </m:sSub>
                              <m:r>
                                <a:rPr lang="en-US" altLang="zh-CN" sz="200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a:rPr lang="en-US" altLang="zh-CN" sz="2000" i="1" smtClean="0">
                                  <a:latin typeface="Cambria Math" panose="02040503050406030204" pitchFamily="18" charset="0"/>
                                  <a:ea typeface="Microsoft YaHei" charset="0"/>
                                </a:rPr>
                                <m:t>)</m:t>
                              </m:r>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r>
                            <m:rPr>
                              <m:nor/>
                            </m:rPr>
                            <a:rPr lang="zh-CN" altLang="en-US" sz="2000" dirty="0">
                              <a:ea typeface="Microsoft YaHei" charset="0"/>
                            </a:rPr>
                            <m:t> </m:t>
                          </m:r>
                        </m:e>
                      </m:nary>
                      <m:r>
                        <a:rPr lang="en-US" altLang="zh-CN" sz="2000" b="0" i="1" smtClean="0">
                          <a:latin typeface="Cambria Math" panose="02040503050406030204" pitchFamily="18" charset="0"/>
                          <a:ea typeface="Microsoft YaHei" charset="0"/>
                        </a:rPr>
                        <m:t>=1.93</m:t>
                      </m:r>
                    </m:oMath>
                  </m:oMathPara>
                </a14:m>
                <a:endParaRPr lang="zh-CN" altLang="en-US" sz="2000" dirty="0">
                  <a:ea typeface="Microsoft YaHei" charset="0"/>
                </a:endParaRPr>
              </a:p>
            </p:txBody>
          </p:sp>
        </mc:Choice>
        <mc:Fallback xmlns="">
          <p:sp>
            <p:nvSpPr>
              <p:cNvPr id="26" name="文本框 25"/>
              <p:cNvSpPr txBox="1">
                <a:spLocks noRot="1" noChangeAspect="1" noMove="1" noResize="1" noEditPoints="1" noAdjustHandles="1" noChangeArrowheads="1" noChangeShapeType="1" noTextEdit="1"/>
              </p:cNvSpPr>
              <p:nvPr/>
            </p:nvSpPr>
            <p:spPr>
              <a:xfrm>
                <a:off x="7336722" y="2679592"/>
                <a:ext cx="4319196" cy="86530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p:cNvSpPr txBox="1"/>
              <p:nvPr/>
            </p:nvSpPr>
            <p:spPr>
              <a:xfrm>
                <a:off x="1665431" y="5328831"/>
                <a:ext cx="243137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2</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1</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i="1">
                              <a:latin typeface="Cambria Math" panose="02040503050406030204" pitchFamily="18" charset="0"/>
                              <a:ea typeface="Microsoft YaHei" charset="0"/>
                            </a:rPr>
                            <m:t>2</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m:rPr>
                          <m:nor/>
                        </m:rPr>
                        <a:rPr lang="zh-CN" altLang="en-US" b="0" i="0" smtClean="0">
                          <a:latin typeface="Cambria Math" charset="0"/>
                          <a:ea typeface="Microsoft YaHei" charset="0"/>
                        </a:rPr>
                        <m:t> </m:t>
                      </m:r>
                      <m:r>
                        <m:rPr>
                          <m:nor/>
                        </m:rPr>
                        <a:rPr lang="en-US" altLang="zh-CN" b="0" i="0" smtClean="0">
                          <a:latin typeface="Cambria Math" charset="0"/>
                          <a:ea typeface="Microsoft YaHei" charset="0"/>
                        </a:rPr>
                        <m:t>=</m:t>
                      </m:r>
                    </m:oMath>
                  </m:oMathPara>
                </a14:m>
                <a:endParaRPr lang="zh-CN" altLang="en-US" dirty="0">
                  <a:ea typeface="Microsoft YaHei" charset="0"/>
                </a:endParaRPr>
              </a:p>
            </p:txBody>
          </p:sp>
        </mc:Choice>
        <mc:Fallback xmlns="">
          <p:sp>
            <p:nvSpPr>
              <p:cNvPr id="27" name="文本框 26"/>
              <p:cNvSpPr txBox="1">
                <a:spLocks noRot="1" noChangeAspect="1" noMove="1" noResize="1" noEditPoints="1" noAdjustHandles="1" noChangeArrowheads="1" noChangeShapeType="1" noTextEdit="1"/>
              </p:cNvSpPr>
              <p:nvPr/>
            </p:nvSpPr>
            <p:spPr>
              <a:xfrm>
                <a:off x="1665431" y="5328831"/>
                <a:ext cx="2431371" cy="276999"/>
              </a:xfrm>
              <a:prstGeom prst="rect">
                <a:avLst/>
              </a:prstGeom>
              <a:blipFill>
                <a:blip r:embed="rId7"/>
                <a:stretch>
                  <a:fillRect l="-5764" r="-31579" b="-82609"/>
                </a:stretch>
              </a:blipFill>
            </p:spPr>
            <p:txBody>
              <a:bodyPr/>
              <a:lstStyle/>
              <a:p>
                <a:r>
                  <a:rPr lang="zh-CN" altLang="en-US">
                    <a:noFill/>
                  </a:rPr>
                  <a:t> </a:t>
                </a:r>
              </a:p>
            </p:txBody>
          </p:sp>
        </mc:Fallback>
      </mc:AlternateContent>
      <p:sp>
        <p:nvSpPr>
          <p:cNvPr id="28" name="椭圆 27"/>
          <p:cNvSpPr/>
          <p:nvPr/>
        </p:nvSpPr>
        <p:spPr>
          <a:xfrm>
            <a:off x="5811167" y="4807450"/>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x&lt;6.5</a:t>
            </a:r>
            <a:endParaRPr lang="zh-CN" altLang="en-US" dirty="0">
              <a:solidFill>
                <a:schemeClr val="bg1"/>
              </a:solidFill>
              <a:ea typeface="Microsoft YaHei" charset="0"/>
            </a:endParaRPr>
          </a:p>
        </p:txBody>
      </p:sp>
      <p:sp>
        <p:nvSpPr>
          <p:cNvPr id="29" name="椭圆 28"/>
          <p:cNvSpPr/>
          <p:nvPr/>
        </p:nvSpPr>
        <p:spPr>
          <a:xfrm>
            <a:off x="5159668" y="5397086"/>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x&lt;3.5</a:t>
            </a:r>
            <a:endParaRPr lang="zh-CN" altLang="en-US" sz="1600" dirty="0">
              <a:solidFill>
                <a:schemeClr val="bg1"/>
              </a:solidFill>
              <a:ea typeface="Microsoft YaHei" charset="0"/>
            </a:endParaRPr>
          </a:p>
        </p:txBody>
      </p:sp>
      <p:cxnSp>
        <p:nvCxnSpPr>
          <p:cNvPr id="31" name="直接连接符 30"/>
          <p:cNvCxnSpPr>
            <a:stCxn id="28" idx="4"/>
            <a:endCxn id="29" idx="0"/>
          </p:cNvCxnSpPr>
          <p:nvPr/>
        </p:nvCxnSpPr>
        <p:spPr>
          <a:xfrm flipH="1">
            <a:off x="5649703" y="5190627"/>
            <a:ext cx="651499" cy="206459"/>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6631577" y="5471108"/>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8.91</a:t>
            </a:r>
            <a:endParaRPr lang="zh-CN" altLang="en-US" dirty="0">
              <a:ea typeface="Microsoft YaHei" charset="0"/>
            </a:endParaRPr>
          </a:p>
        </p:txBody>
      </p:sp>
      <p:cxnSp>
        <p:nvCxnSpPr>
          <p:cNvPr id="34" name="直接连接符 33"/>
          <p:cNvCxnSpPr>
            <a:stCxn id="28" idx="4"/>
            <a:endCxn id="32" idx="0"/>
          </p:cNvCxnSpPr>
          <p:nvPr/>
        </p:nvCxnSpPr>
        <p:spPr>
          <a:xfrm>
            <a:off x="6301202" y="5190627"/>
            <a:ext cx="722261" cy="280481"/>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4502331" y="603378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5.72</a:t>
            </a:r>
            <a:endParaRPr lang="zh-CN" altLang="en-US" dirty="0">
              <a:ea typeface="Microsoft YaHei" charset="0"/>
            </a:endParaRPr>
          </a:p>
        </p:txBody>
      </p:sp>
      <p:sp>
        <p:nvSpPr>
          <p:cNvPr id="36" name="矩形 35"/>
          <p:cNvSpPr/>
          <p:nvPr/>
        </p:nvSpPr>
        <p:spPr>
          <a:xfrm>
            <a:off x="5878287" y="603378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6.46</a:t>
            </a:r>
            <a:endParaRPr lang="zh-CN" altLang="en-US" dirty="0">
              <a:ea typeface="Microsoft YaHei" charset="0"/>
            </a:endParaRPr>
          </a:p>
        </p:txBody>
      </p:sp>
      <p:cxnSp>
        <p:nvCxnSpPr>
          <p:cNvPr id="38" name="直接连接符 37"/>
          <p:cNvCxnSpPr>
            <a:stCxn id="29" idx="4"/>
          </p:cNvCxnSpPr>
          <p:nvPr/>
        </p:nvCxnSpPr>
        <p:spPr>
          <a:xfrm flipH="1">
            <a:off x="4894217" y="5780263"/>
            <a:ext cx="755486" cy="253517"/>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29" idx="4"/>
            <a:endCxn id="36" idx="0"/>
          </p:cNvCxnSpPr>
          <p:nvPr/>
        </p:nvCxnSpPr>
        <p:spPr>
          <a:xfrm>
            <a:off x="5649703" y="5780263"/>
            <a:ext cx="620470" cy="253517"/>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矩形 40"/>
              <p:cNvSpPr/>
              <p:nvPr/>
            </p:nvSpPr>
            <p:spPr>
              <a:xfrm>
                <a:off x="3776570" y="3897779"/>
                <a:ext cx="101720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i="1">
                              <a:latin typeface="Cambria Math" panose="02040503050406030204" pitchFamily="18" charset="0"/>
                              <a:ea typeface="Microsoft YaHei" charset="0"/>
                            </a:rPr>
                            <m:t>2</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41" name="矩形 40"/>
              <p:cNvSpPr>
                <a:spLocks noRot="1" noChangeAspect="1" noMove="1" noResize="1" noEditPoints="1" noAdjustHandles="1" noChangeArrowheads="1" noChangeShapeType="1" noTextEdit="1"/>
              </p:cNvSpPr>
              <p:nvPr/>
            </p:nvSpPr>
            <p:spPr>
              <a:xfrm>
                <a:off x="3776570" y="3897779"/>
                <a:ext cx="1017202" cy="369332"/>
              </a:xfrm>
              <a:prstGeom prst="rect">
                <a:avLst/>
              </a:prstGeom>
              <a:blipFill>
                <a:blip r:embed="rId8"/>
                <a:stretch>
                  <a:fillRect l="-1807" r="-16867" b="-29508"/>
                </a:stretch>
              </a:blipFill>
            </p:spPr>
            <p:txBody>
              <a:bodyPr/>
              <a:lstStyle/>
              <a:p>
                <a:r>
                  <a:rPr lang="zh-CN" altLang="en-US">
                    <a:noFill/>
                  </a:rPr>
                  <a:t> </a:t>
                </a:r>
              </a:p>
            </p:txBody>
          </p:sp>
        </mc:Fallback>
      </mc:AlternateContent>
      <p:sp>
        <p:nvSpPr>
          <p:cNvPr id="42" name="椭圆 41"/>
          <p:cNvSpPr/>
          <p:nvPr/>
        </p:nvSpPr>
        <p:spPr>
          <a:xfrm>
            <a:off x="5825353" y="3416679"/>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x&lt;3.5</a:t>
            </a:r>
            <a:endParaRPr lang="zh-CN" altLang="en-US" dirty="0">
              <a:solidFill>
                <a:schemeClr val="bg1"/>
              </a:solidFill>
              <a:ea typeface="Microsoft YaHei" charset="0"/>
            </a:endParaRPr>
          </a:p>
        </p:txBody>
      </p:sp>
      <p:sp>
        <p:nvSpPr>
          <p:cNvPr id="43" name="矩形 42"/>
          <p:cNvSpPr/>
          <p:nvPr/>
        </p:nvSpPr>
        <p:spPr>
          <a:xfrm>
            <a:off x="5203046" y="400435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-0.52</a:t>
            </a:r>
            <a:endParaRPr lang="zh-CN" altLang="en-US" sz="2000" dirty="0">
              <a:ea typeface="Microsoft YaHei" charset="0"/>
            </a:endParaRPr>
          </a:p>
        </p:txBody>
      </p:sp>
      <p:sp>
        <p:nvSpPr>
          <p:cNvPr id="44" name="矩形 43"/>
          <p:cNvSpPr/>
          <p:nvPr/>
        </p:nvSpPr>
        <p:spPr>
          <a:xfrm>
            <a:off x="6609480" y="400435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0.22</a:t>
            </a:r>
            <a:endParaRPr lang="zh-CN" altLang="en-US" sz="2000" dirty="0">
              <a:ea typeface="Microsoft YaHei" charset="0"/>
            </a:endParaRPr>
          </a:p>
        </p:txBody>
      </p:sp>
      <p:cxnSp>
        <p:nvCxnSpPr>
          <p:cNvPr id="45" name="直接连接符 44"/>
          <p:cNvCxnSpPr>
            <a:stCxn id="42" idx="4"/>
            <a:endCxn id="43" idx="0"/>
          </p:cNvCxnSpPr>
          <p:nvPr/>
        </p:nvCxnSpPr>
        <p:spPr>
          <a:xfrm flipH="1">
            <a:off x="5594932" y="3799856"/>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42" idx="4"/>
            <a:endCxn id="44" idx="0"/>
          </p:cNvCxnSpPr>
          <p:nvPr/>
        </p:nvCxnSpPr>
        <p:spPr>
          <a:xfrm>
            <a:off x="6315388" y="3799856"/>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47" name="下箭头 46"/>
          <p:cNvSpPr/>
          <p:nvPr/>
        </p:nvSpPr>
        <p:spPr>
          <a:xfrm>
            <a:off x="4689817" y="2957467"/>
            <a:ext cx="165463" cy="252000"/>
          </a:xfrm>
          <a:prstGeom prst="down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48" name="下箭头 47"/>
          <p:cNvSpPr/>
          <p:nvPr/>
        </p:nvSpPr>
        <p:spPr>
          <a:xfrm>
            <a:off x="4694997" y="4505104"/>
            <a:ext cx="165463" cy="252000"/>
          </a:xfrm>
          <a:prstGeom prst="down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mc:AlternateContent xmlns:mc="http://schemas.openxmlformats.org/markup-compatibility/2006" xmlns:a14="http://schemas.microsoft.com/office/drawing/2010/main">
        <mc:Choice Requires="a14">
          <p:sp>
            <p:nvSpPr>
              <p:cNvPr id="49" name="文本框 48"/>
              <p:cNvSpPr txBox="1"/>
              <p:nvPr/>
            </p:nvSpPr>
            <p:spPr>
              <a:xfrm>
                <a:off x="7745723" y="4941465"/>
                <a:ext cx="4331122" cy="865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𝐿</m:t>
                      </m:r>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𝑦</m:t>
                          </m:r>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2</m:t>
                              </m:r>
                            </m:sub>
                          </m:sSub>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e>
                          </m:d>
                        </m:e>
                      </m:d>
                      <m:r>
                        <a:rPr lang="en-US" altLang="zh-CN" sz="2000" b="0" i="1" smtClean="0">
                          <a:latin typeface="Cambria Math" panose="02040503050406030204" pitchFamily="18" charset="0"/>
                          <a:ea typeface="Microsoft YaHei" charset="0"/>
                        </a:rPr>
                        <m:t>=</m:t>
                      </m:r>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10</m:t>
                          </m:r>
                        </m:sup>
                        <m:e>
                          <m:sSup>
                            <m:sSupPr>
                              <m:ctrlPr>
                                <a:rPr lang="en-US" altLang="zh-CN" sz="2000" i="1" smtClean="0">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2</m:t>
                                  </m:r>
                                </m:sub>
                              </m:sSub>
                              <m:r>
                                <a:rPr lang="en-US" altLang="zh-CN" sz="200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a:rPr lang="en-US" altLang="zh-CN" sz="2000" i="1" smtClean="0">
                                  <a:latin typeface="Cambria Math" panose="02040503050406030204" pitchFamily="18" charset="0"/>
                                  <a:ea typeface="Microsoft YaHei" charset="0"/>
                                </a:rPr>
                                <m:t>)</m:t>
                              </m:r>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r>
                            <m:rPr>
                              <m:nor/>
                            </m:rPr>
                            <a:rPr lang="zh-CN" altLang="en-US" sz="2000" dirty="0">
                              <a:ea typeface="Microsoft YaHei" charset="0"/>
                            </a:rPr>
                            <m:t> </m:t>
                          </m:r>
                        </m:e>
                      </m:nary>
                      <m:r>
                        <a:rPr lang="en-US" altLang="zh-CN" sz="2000" b="0" i="1" smtClean="0">
                          <a:latin typeface="Cambria Math" panose="02040503050406030204" pitchFamily="18" charset="0"/>
                          <a:ea typeface="Microsoft YaHei" charset="0"/>
                        </a:rPr>
                        <m:t>=0.79</m:t>
                      </m:r>
                    </m:oMath>
                  </m:oMathPara>
                </a14:m>
                <a:endParaRPr lang="zh-CN" altLang="en-US" sz="2000" dirty="0">
                  <a:ea typeface="Microsoft YaHei" charset="0"/>
                </a:endParaRPr>
              </a:p>
            </p:txBody>
          </p:sp>
        </mc:Choice>
        <mc:Fallback xmlns="">
          <p:sp>
            <p:nvSpPr>
              <p:cNvPr id="49" name="文本框 48"/>
              <p:cNvSpPr txBox="1">
                <a:spLocks noRot="1" noChangeAspect="1" noMove="1" noResize="1" noEditPoints="1" noAdjustHandles="1" noChangeArrowheads="1" noChangeShapeType="1" noTextEdit="1"/>
              </p:cNvSpPr>
              <p:nvPr/>
            </p:nvSpPr>
            <p:spPr>
              <a:xfrm>
                <a:off x="7745723" y="4941465"/>
                <a:ext cx="4331122" cy="865301"/>
              </a:xfrm>
              <a:prstGeom prst="rect">
                <a:avLst/>
              </a:prstGeom>
              <a:blipFill>
                <a:blip r:embed="rId9"/>
                <a:stretch>
                  <a:fillRect/>
                </a:stretch>
              </a:blipFill>
            </p:spPr>
            <p:txBody>
              <a:bodyPr/>
              <a:lstStyle/>
              <a:p>
                <a:r>
                  <a:rPr lang="zh-CN" altLang="en-US">
                    <a:noFill/>
                  </a:rPr>
                  <a:t> </a:t>
                </a:r>
              </a:p>
            </p:txBody>
          </p:sp>
        </mc:Fallback>
      </mc:AlternateContent>
      <p:sp>
        <p:nvSpPr>
          <p:cNvPr id="55"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3" name="表格 2">
            <a:extLst>
              <a:ext uri="{FF2B5EF4-FFF2-40B4-BE49-F238E27FC236}">
                <a16:creationId xmlns:a16="http://schemas.microsoft.com/office/drawing/2014/main" id="{16FA07B4-3C5E-47F2-B669-D8CB6F05B4AD}"/>
              </a:ext>
            </a:extLst>
          </p:cNvPr>
          <p:cNvGraphicFramePr>
            <a:graphicFrameLocks noGrp="1"/>
          </p:cNvGraphicFramePr>
          <p:nvPr>
            <p:extLst>
              <p:ext uri="{D42A27DB-BD31-4B8C-83A1-F6EECF244321}">
                <p14:modId xmlns:p14="http://schemas.microsoft.com/office/powerpoint/2010/main" val="1581510315"/>
              </p:ext>
            </p:extLst>
          </p:nvPr>
        </p:nvGraphicFramePr>
        <p:xfrm>
          <a:off x="789445" y="1676549"/>
          <a:ext cx="1590675" cy="2221230"/>
        </p:xfrm>
        <a:graphic>
          <a:graphicData uri="http://schemas.openxmlformats.org/drawingml/2006/table">
            <a:tbl>
              <a:tblPr firstRow="1" firstCol="1" bandRow="1">
                <a:tableStyleId>{21E4AEA4-8DFA-4A89-87EB-49C32662AFE0}</a:tableStyleId>
              </a:tblPr>
              <a:tblGrid>
                <a:gridCol w="530225">
                  <a:extLst>
                    <a:ext uri="{9D8B030D-6E8A-4147-A177-3AD203B41FA5}">
                      <a16:colId xmlns:a16="http://schemas.microsoft.com/office/drawing/2014/main" val="4196313495"/>
                    </a:ext>
                  </a:extLst>
                </a:gridCol>
                <a:gridCol w="530225">
                  <a:extLst>
                    <a:ext uri="{9D8B030D-6E8A-4147-A177-3AD203B41FA5}">
                      <a16:colId xmlns:a16="http://schemas.microsoft.com/office/drawing/2014/main" val="3411175974"/>
                    </a:ext>
                  </a:extLst>
                </a:gridCol>
                <a:gridCol w="530225">
                  <a:extLst>
                    <a:ext uri="{9D8B030D-6E8A-4147-A177-3AD203B41FA5}">
                      <a16:colId xmlns:a16="http://schemas.microsoft.com/office/drawing/2014/main" val="173195034"/>
                    </a:ext>
                  </a:extLst>
                </a:gridCol>
              </a:tblGrid>
              <a:tr h="127000">
                <a:tc>
                  <a:txBody>
                    <a:bodyPr/>
                    <a:lstStyle/>
                    <a:p>
                      <a:pPr algn="l"/>
                      <a:r>
                        <a:rPr lang="en-US" sz="1200" kern="0" dirty="0">
                          <a:effectLst/>
                        </a:rPr>
                        <a:t>x</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y</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y-f(x)</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30188544"/>
                  </a:ext>
                </a:extLst>
              </a:tr>
              <a:tr h="127000">
                <a:tc>
                  <a:txBody>
                    <a:bodyPr/>
                    <a:lstStyle/>
                    <a:p>
                      <a:pPr algn="l"/>
                      <a:r>
                        <a:rPr lang="en-US" sz="1200" kern="0">
                          <a:effectLst/>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5.56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-0.68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90985678"/>
                  </a:ext>
                </a:extLst>
              </a:tr>
              <a:tr h="127000">
                <a:tc>
                  <a:txBody>
                    <a:bodyPr/>
                    <a:lstStyle/>
                    <a:p>
                      <a:pPr algn="l"/>
                      <a:r>
                        <a:rPr lang="en-US" sz="1200" kern="0">
                          <a:effectLst/>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5.7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-0.54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8295147"/>
                  </a:ext>
                </a:extLst>
              </a:tr>
              <a:tr h="127000">
                <a:tc>
                  <a:txBody>
                    <a:bodyPr/>
                    <a:lstStyle/>
                    <a:p>
                      <a:pPr algn="l"/>
                      <a:r>
                        <a:rPr lang="en-US" sz="1200" kern="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5.91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-0.33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870242738"/>
                  </a:ext>
                </a:extLst>
              </a:tr>
              <a:tr h="127000">
                <a:tc>
                  <a:txBody>
                    <a:bodyPr/>
                    <a:lstStyle/>
                    <a:p>
                      <a:pPr algn="l"/>
                      <a:r>
                        <a:rPr lang="en-US" sz="1200" kern="0">
                          <a:effectLst/>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6.4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0.16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413667405"/>
                  </a:ext>
                </a:extLst>
              </a:tr>
              <a:tr h="127000">
                <a:tc>
                  <a:txBody>
                    <a:bodyPr/>
                    <a:lstStyle/>
                    <a:p>
                      <a:pPr algn="l"/>
                      <a:r>
                        <a:rPr lang="en-US" sz="1200" kern="0">
                          <a:effectLst/>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6.8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0.56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541832788"/>
                  </a:ext>
                </a:extLst>
              </a:tr>
              <a:tr h="127000">
                <a:tc>
                  <a:txBody>
                    <a:bodyPr/>
                    <a:lstStyle/>
                    <a:p>
                      <a:pPr algn="l"/>
                      <a:r>
                        <a:rPr lang="en-US" sz="1200" kern="0">
                          <a:effectLst/>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7.05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0.81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253376855"/>
                  </a:ext>
                </a:extLst>
              </a:tr>
              <a:tr h="127000">
                <a:tc>
                  <a:txBody>
                    <a:bodyPr/>
                    <a:lstStyle/>
                    <a:p>
                      <a:pPr algn="l"/>
                      <a:r>
                        <a:rPr lang="en-US" sz="1200" kern="0">
                          <a:effectLst/>
                        </a:rPr>
                        <a:t>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8.9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-0.01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81235451"/>
                  </a:ext>
                </a:extLst>
              </a:tr>
              <a:tr h="127000">
                <a:tc>
                  <a:txBody>
                    <a:bodyPr/>
                    <a:lstStyle/>
                    <a:p>
                      <a:pPr algn="l"/>
                      <a:r>
                        <a:rPr lang="en-US" sz="1200" kern="0">
                          <a:effectLst/>
                        </a:rPr>
                        <a:t>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8.7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-0.21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395916712"/>
                  </a:ext>
                </a:extLst>
              </a:tr>
              <a:tr h="127000">
                <a:tc>
                  <a:txBody>
                    <a:bodyPr/>
                    <a:lstStyle/>
                    <a:p>
                      <a:pPr algn="l"/>
                      <a:r>
                        <a:rPr lang="en-US" sz="1200" kern="0">
                          <a:effectLst/>
                        </a:rPr>
                        <a:t>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0.09</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086454354"/>
                  </a:ext>
                </a:extLst>
              </a:tr>
              <a:tr h="127000">
                <a:tc>
                  <a:txBody>
                    <a:bodyPr/>
                    <a:lstStyle/>
                    <a:p>
                      <a:pPr algn="l"/>
                      <a:r>
                        <a:rPr lang="en-US" sz="1200" kern="0">
                          <a:effectLst/>
                        </a:rPr>
                        <a:t>10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a:effectLst/>
                        </a:rPr>
                        <a:t>9.05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1200" kern="0" dirty="0">
                          <a:effectLst/>
                        </a:rPr>
                        <a:t>0.14</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166046342"/>
                  </a:ext>
                </a:extLst>
              </a:tr>
            </a:tbl>
          </a:graphicData>
        </a:graphic>
      </p:graphicFrame>
      <p:sp>
        <p:nvSpPr>
          <p:cNvPr id="37" name="Rectangle 2">
            <a:extLst>
              <a:ext uri="{FF2B5EF4-FFF2-40B4-BE49-F238E27FC236}">
                <a16:creationId xmlns:a16="http://schemas.microsoft.com/office/drawing/2014/main" id="{A0253B1A-E416-46AF-8497-CF90E4920B23}"/>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GBDT</a:t>
            </a:r>
            <a:r>
              <a:rPr lang="zh-CN" altLang="en-US" dirty="0">
                <a:solidFill>
                  <a:schemeClr val="tx1"/>
                </a:solidFill>
              </a:rPr>
              <a:t>算法</a:t>
            </a:r>
          </a:p>
        </p:txBody>
      </p:sp>
    </p:spTree>
    <p:extLst>
      <p:ext uri="{BB962C8B-B14F-4D97-AF65-F5344CB8AC3E}">
        <p14:creationId xmlns:p14="http://schemas.microsoft.com/office/powerpoint/2010/main" val="166418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par>
                                <p:cTn id="17" presetID="53" presetClass="entr" presetSubtype="16"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500" fill="hold"/>
                                        <p:tgtEl>
                                          <p:spTgt spid="15"/>
                                        </p:tgtEl>
                                        <p:attrNameLst>
                                          <p:attrName>ppt_w</p:attrName>
                                        </p:attrNameLst>
                                      </p:cBhvr>
                                      <p:tavLst>
                                        <p:tav tm="0">
                                          <p:val>
                                            <p:fltVal val="0"/>
                                          </p:val>
                                        </p:tav>
                                        <p:tav tm="100000">
                                          <p:val>
                                            <p:strVal val="#ppt_w"/>
                                          </p:val>
                                        </p:tav>
                                      </p:tavLst>
                                    </p:anim>
                                    <p:anim calcmode="lin" valueType="num">
                                      <p:cBhvr>
                                        <p:cTn id="25" dur="500" fill="hold"/>
                                        <p:tgtEl>
                                          <p:spTgt spid="15"/>
                                        </p:tgtEl>
                                        <p:attrNameLst>
                                          <p:attrName>ppt_h</p:attrName>
                                        </p:attrNameLst>
                                      </p:cBhvr>
                                      <p:tavLst>
                                        <p:tav tm="0">
                                          <p:val>
                                            <p:fltVal val="0"/>
                                          </p:val>
                                        </p:tav>
                                        <p:tav tm="100000">
                                          <p:val>
                                            <p:strVal val="#ppt_h"/>
                                          </p:val>
                                        </p:tav>
                                      </p:tavLst>
                                    </p:anim>
                                    <p:animEffect transition="in" filter="fade">
                                      <p:cBhvr>
                                        <p:cTn id="26" dur="500"/>
                                        <p:tgtEl>
                                          <p:spTgt spid="15"/>
                                        </p:tgtEl>
                                      </p:cBhvr>
                                    </p:animEffect>
                                  </p:childTnLst>
                                </p:cTn>
                              </p:par>
                              <p:par>
                                <p:cTn id="27" presetID="53" presetClass="entr" presetSubtype="16"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p:cTn id="29" dur="500" fill="hold"/>
                                        <p:tgtEl>
                                          <p:spTgt spid="21"/>
                                        </p:tgtEl>
                                        <p:attrNameLst>
                                          <p:attrName>ppt_w</p:attrName>
                                        </p:attrNameLst>
                                      </p:cBhvr>
                                      <p:tavLst>
                                        <p:tav tm="0">
                                          <p:val>
                                            <p:fltVal val="0"/>
                                          </p:val>
                                        </p:tav>
                                        <p:tav tm="100000">
                                          <p:val>
                                            <p:strVal val="#ppt_w"/>
                                          </p:val>
                                        </p:tav>
                                      </p:tavLst>
                                    </p:anim>
                                    <p:anim calcmode="lin" valueType="num">
                                      <p:cBhvr>
                                        <p:cTn id="30" dur="500" fill="hold"/>
                                        <p:tgtEl>
                                          <p:spTgt spid="21"/>
                                        </p:tgtEl>
                                        <p:attrNameLst>
                                          <p:attrName>ppt_h</p:attrName>
                                        </p:attrNameLst>
                                      </p:cBhvr>
                                      <p:tavLst>
                                        <p:tav tm="0">
                                          <p:val>
                                            <p:fltVal val="0"/>
                                          </p:val>
                                        </p:tav>
                                        <p:tav tm="100000">
                                          <p:val>
                                            <p:strVal val="#ppt_h"/>
                                          </p:val>
                                        </p:tav>
                                      </p:tavLst>
                                    </p:anim>
                                    <p:animEffect transition="in" filter="fade">
                                      <p:cBhvr>
                                        <p:cTn id="31" dur="500"/>
                                        <p:tgtEl>
                                          <p:spTgt spid="21"/>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p:cTn id="34" dur="500" fill="hold"/>
                                        <p:tgtEl>
                                          <p:spTgt spid="16"/>
                                        </p:tgtEl>
                                        <p:attrNameLst>
                                          <p:attrName>ppt_w</p:attrName>
                                        </p:attrNameLst>
                                      </p:cBhvr>
                                      <p:tavLst>
                                        <p:tav tm="0">
                                          <p:val>
                                            <p:fltVal val="0"/>
                                          </p:val>
                                        </p:tav>
                                        <p:tav tm="100000">
                                          <p:val>
                                            <p:strVal val="#ppt_w"/>
                                          </p:val>
                                        </p:tav>
                                      </p:tavLst>
                                    </p:anim>
                                    <p:anim calcmode="lin" valueType="num">
                                      <p:cBhvr>
                                        <p:cTn id="35" dur="500" fill="hold"/>
                                        <p:tgtEl>
                                          <p:spTgt spid="16"/>
                                        </p:tgtEl>
                                        <p:attrNameLst>
                                          <p:attrName>ppt_h</p:attrName>
                                        </p:attrNameLst>
                                      </p:cBhvr>
                                      <p:tavLst>
                                        <p:tav tm="0">
                                          <p:val>
                                            <p:fltVal val="0"/>
                                          </p:val>
                                        </p:tav>
                                        <p:tav tm="100000">
                                          <p:val>
                                            <p:strVal val="#ppt_h"/>
                                          </p:val>
                                        </p:tav>
                                      </p:tavLst>
                                    </p:anim>
                                    <p:animEffect transition="in" filter="fade">
                                      <p:cBhvr>
                                        <p:cTn id="36" dur="500"/>
                                        <p:tgtEl>
                                          <p:spTgt spid="16"/>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p:cTn id="39" dur="500" fill="hold"/>
                                        <p:tgtEl>
                                          <p:spTgt spid="17"/>
                                        </p:tgtEl>
                                        <p:attrNameLst>
                                          <p:attrName>ppt_w</p:attrName>
                                        </p:attrNameLst>
                                      </p:cBhvr>
                                      <p:tavLst>
                                        <p:tav tm="0">
                                          <p:val>
                                            <p:fltVal val="0"/>
                                          </p:val>
                                        </p:tav>
                                        <p:tav tm="100000">
                                          <p:val>
                                            <p:strVal val="#ppt_w"/>
                                          </p:val>
                                        </p:tav>
                                      </p:tavLst>
                                    </p:anim>
                                    <p:anim calcmode="lin" valueType="num">
                                      <p:cBhvr>
                                        <p:cTn id="40" dur="500" fill="hold"/>
                                        <p:tgtEl>
                                          <p:spTgt spid="17"/>
                                        </p:tgtEl>
                                        <p:attrNameLst>
                                          <p:attrName>ppt_h</p:attrName>
                                        </p:attrNameLst>
                                      </p:cBhvr>
                                      <p:tavLst>
                                        <p:tav tm="0">
                                          <p:val>
                                            <p:fltVal val="0"/>
                                          </p:val>
                                        </p:tav>
                                        <p:tav tm="100000">
                                          <p:val>
                                            <p:strVal val="#ppt_h"/>
                                          </p:val>
                                        </p:tav>
                                      </p:tavLst>
                                    </p:anim>
                                    <p:animEffect transition="in" filter="fade">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26"/>
                                        </p:tgtEl>
                                        <p:attrNameLst>
                                          <p:attrName>style.visibility</p:attrName>
                                        </p:attrNameLst>
                                      </p:cBhvr>
                                      <p:to>
                                        <p:strVal val="visible"/>
                                      </p:to>
                                    </p:set>
                                    <p:anim calcmode="lin" valueType="num">
                                      <p:cBhvr>
                                        <p:cTn id="46" dur="500" fill="hold"/>
                                        <p:tgtEl>
                                          <p:spTgt spid="26"/>
                                        </p:tgtEl>
                                        <p:attrNameLst>
                                          <p:attrName>ppt_w</p:attrName>
                                        </p:attrNameLst>
                                      </p:cBhvr>
                                      <p:tavLst>
                                        <p:tav tm="0">
                                          <p:val>
                                            <p:fltVal val="0"/>
                                          </p:val>
                                        </p:tav>
                                        <p:tav tm="100000">
                                          <p:val>
                                            <p:strVal val="#ppt_w"/>
                                          </p:val>
                                        </p:tav>
                                      </p:tavLst>
                                    </p:anim>
                                    <p:anim calcmode="lin" valueType="num">
                                      <p:cBhvr>
                                        <p:cTn id="47" dur="500" fill="hold"/>
                                        <p:tgtEl>
                                          <p:spTgt spid="26"/>
                                        </p:tgtEl>
                                        <p:attrNameLst>
                                          <p:attrName>ppt_h</p:attrName>
                                        </p:attrNameLst>
                                      </p:cBhvr>
                                      <p:tavLst>
                                        <p:tav tm="0">
                                          <p:val>
                                            <p:fltVal val="0"/>
                                          </p:val>
                                        </p:tav>
                                        <p:tav tm="100000">
                                          <p:val>
                                            <p:strVal val="#ppt_h"/>
                                          </p:val>
                                        </p:tav>
                                      </p:tavLst>
                                    </p:anim>
                                    <p:animEffect transition="in" filter="fade">
                                      <p:cBhvr>
                                        <p:cTn id="48" dur="5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47"/>
                                        </p:tgtEl>
                                        <p:attrNameLst>
                                          <p:attrName>style.visibility</p:attrName>
                                        </p:attrNameLst>
                                      </p:cBhvr>
                                      <p:to>
                                        <p:strVal val="visible"/>
                                      </p:to>
                                    </p:set>
                                    <p:anim calcmode="lin" valueType="num">
                                      <p:cBhvr>
                                        <p:cTn id="53" dur="500" fill="hold"/>
                                        <p:tgtEl>
                                          <p:spTgt spid="47"/>
                                        </p:tgtEl>
                                        <p:attrNameLst>
                                          <p:attrName>ppt_w</p:attrName>
                                        </p:attrNameLst>
                                      </p:cBhvr>
                                      <p:tavLst>
                                        <p:tav tm="0">
                                          <p:val>
                                            <p:fltVal val="0"/>
                                          </p:val>
                                        </p:tav>
                                        <p:tav tm="100000">
                                          <p:val>
                                            <p:strVal val="#ppt_w"/>
                                          </p:val>
                                        </p:tav>
                                      </p:tavLst>
                                    </p:anim>
                                    <p:anim calcmode="lin" valueType="num">
                                      <p:cBhvr>
                                        <p:cTn id="54" dur="500" fill="hold"/>
                                        <p:tgtEl>
                                          <p:spTgt spid="47"/>
                                        </p:tgtEl>
                                        <p:attrNameLst>
                                          <p:attrName>ppt_h</p:attrName>
                                        </p:attrNameLst>
                                      </p:cBhvr>
                                      <p:tavLst>
                                        <p:tav tm="0">
                                          <p:val>
                                            <p:fltVal val="0"/>
                                          </p:val>
                                        </p:tav>
                                        <p:tav tm="100000">
                                          <p:val>
                                            <p:strVal val="#ppt_h"/>
                                          </p:val>
                                        </p:tav>
                                      </p:tavLst>
                                    </p:anim>
                                    <p:animEffect transition="in" filter="fade">
                                      <p:cBhvr>
                                        <p:cTn id="55" dur="500"/>
                                        <p:tgtEl>
                                          <p:spTgt spid="47"/>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anim calcmode="lin" valueType="num">
                                      <p:cBhvr>
                                        <p:cTn id="58" dur="500" fill="hold"/>
                                        <p:tgtEl>
                                          <p:spTgt spid="41"/>
                                        </p:tgtEl>
                                        <p:attrNameLst>
                                          <p:attrName>ppt_w</p:attrName>
                                        </p:attrNameLst>
                                      </p:cBhvr>
                                      <p:tavLst>
                                        <p:tav tm="0">
                                          <p:val>
                                            <p:fltVal val="0"/>
                                          </p:val>
                                        </p:tav>
                                        <p:tav tm="100000">
                                          <p:val>
                                            <p:strVal val="#ppt_w"/>
                                          </p:val>
                                        </p:tav>
                                      </p:tavLst>
                                    </p:anim>
                                    <p:anim calcmode="lin" valueType="num">
                                      <p:cBhvr>
                                        <p:cTn id="59" dur="500" fill="hold"/>
                                        <p:tgtEl>
                                          <p:spTgt spid="41"/>
                                        </p:tgtEl>
                                        <p:attrNameLst>
                                          <p:attrName>ppt_h</p:attrName>
                                        </p:attrNameLst>
                                      </p:cBhvr>
                                      <p:tavLst>
                                        <p:tav tm="0">
                                          <p:val>
                                            <p:fltVal val="0"/>
                                          </p:val>
                                        </p:tav>
                                        <p:tav tm="100000">
                                          <p:val>
                                            <p:strVal val="#ppt_h"/>
                                          </p:val>
                                        </p:tav>
                                      </p:tavLst>
                                    </p:anim>
                                    <p:animEffect transition="in" filter="fade">
                                      <p:cBhvr>
                                        <p:cTn id="60" dur="500"/>
                                        <p:tgtEl>
                                          <p:spTgt spid="41"/>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anim calcmode="lin" valueType="num">
                                      <p:cBhvr>
                                        <p:cTn id="63" dur="500" fill="hold"/>
                                        <p:tgtEl>
                                          <p:spTgt spid="42"/>
                                        </p:tgtEl>
                                        <p:attrNameLst>
                                          <p:attrName>ppt_w</p:attrName>
                                        </p:attrNameLst>
                                      </p:cBhvr>
                                      <p:tavLst>
                                        <p:tav tm="0">
                                          <p:val>
                                            <p:fltVal val="0"/>
                                          </p:val>
                                        </p:tav>
                                        <p:tav tm="100000">
                                          <p:val>
                                            <p:strVal val="#ppt_w"/>
                                          </p:val>
                                        </p:tav>
                                      </p:tavLst>
                                    </p:anim>
                                    <p:anim calcmode="lin" valueType="num">
                                      <p:cBhvr>
                                        <p:cTn id="64" dur="500" fill="hold"/>
                                        <p:tgtEl>
                                          <p:spTgt spid="42"/>
                                        </p:tgtEl>
                                        <p:attrNameLst>
                                          <p:attrName>ppt_h</p:attrName>
                                        </p:attrNameLst>
                                      </p:cBhvr>
                                      <p:tavLst>
                                        <p:tav tm="0">
                                          <p:val>
                                            <p:fltVal val="0"/>
                                          </p:val>
                                        </p:tav>
                                        <p:tav tm="100000">
                                          <p:val>
                                            <p:strVal val="#ppt_h"/>
                                          </p:val>
                                        </p:tav>
                                      </p:tavLst>
                                    </p:anim>
                                    <p:animEffect transition="in" filter="fade">
                                      <p:cBhvr>
                                        <p:cTn id="65" dur="500"/>
                                        <p:tgtEl>
                                          <p:spTgt spid="42"/>
                                        </p:tgtEl>
                                      </p:cBhvr>
                                    </p:animEffect>
                                  </p:childTnLst>
                                </p:cTn>
                              </p:par>
                              <p:par>
                                <p:cTn id="66" presetID="53" presetClass="entr" presetSubtype="16" fill="hold" nodeType="withEffect">
                                  <p:stCondLst>
                                    <p:cond delay="0"/>
                                  </p:stCondLst>
                                  <p:childTnLst>
                                    <p:set>
                                      <p:cBhvr>
                                        <p:cTn id="67" dur="1" fill="hold">
                                          <p:stCondLst>
                                            <p:cond delay="0"/>
                                          </p:stCondLst>
                                        </p:cTn>
                                        <p:tgtEl>
                                          <p:spTgt spid="45"/>
                                        </p:tgtEl>
                                        <p:attrNameLst>
                                          <p:attrName>style.visibility</p:attrName>
                                        </p:attrNameLst>
                                      </p:cBhvr>
                                      <p:to>
                                        <p:strVal val="visible"/>
                                      </p:to>
                                    </p:set>
                                    <p:anim calcmode="lin" valueType="num">
                                      <p:cBhvr>
                                        <p:cTn id="68" dur="500" fill="hold"/>
                                        <p:tgtEl>
                                          <p:spTgt spid="45"/>
                                        </p:tgtEl>
                                        <p:attrNameLst>
                                          <p:attrName>ppt_w</p:attrName>
                                        </p:attrNameLst>
                                      </p:cBhvr>
                                      <p:tavLst>
                                        <p:tav tm="0">
                                          <p:val>
                                            <p:fltVal val="0"/>
                                          </p:val>
                                        </p:tav>
                                        <p:tav tm="100000">
                                          <p:val>
                                            <p:strVal val="#ppt_w"/>
                                          </p:val>
                                        </p:tav>
                                      </p:tavLst>
                                    </p:anim>
                                    <p:anim calcmode="lin" valueType="num">
                                      <p:cBhvr>
                                        <p:cTn id="69" dur="500" fill="hold"/>
                                        <p:tgtEl>
                                          <p:spTgt spid="45"/>
                                        </p:tgtEl>
                                        <p:attrNameLst>
                                          <p:attrName>ppt_h</p:attrName>
                                        </p:attrNameLst>
                                      </p:cBhvr>
                                      <p:tavLst>
                                        <p:tav tm="0">
                                          <p:val>
                                            <p:fltVal val="0"/>
                                          </p:val>
                                        </p:tav>
                                        <p:tav tm="100000">
                                          <p:val>
                                            <p:strVal val="#ppt_h"/>
                                          </p:val>
                                        </p:tav>
                                      </p:tavLst>
                                    </p:anim>
                                    <p:animEffect transition="in" filter="fade">
                                      <p:cBhvr>
                                        <p:cTn id="70" dur="500"/>
                                        <p:tgtEl>
                                          <p:spTgt spid="45"/>
                                        </p:tgtEl>
                                      </p:cBhvr>
                                    </p:animEffect>
                                  </p:childTnLst>
                                </p:cTn>
                              </p:par>
                              <p:par>
                                <p:cTn id="71" presetID="53" presetClass="entr" presetSubtype="16" fill="hold" nodeType="withEffect">
                                  <p:stCondLst>
                                    <p:cond delay="0"/>
                                  </p:stCondLst>
                                  <p:childTnLst>
                                    <p:set>
                                      <p:cBhvr>
                                        <p:cTn id="72" dur="1" fill="hold">
                                          <p:stCondLst>
                                            <p:cond delay="0"/>
                                          </p:stCondLst>
                                        </p:cTn>
                                        <p:tgtEl>
                                          <p:spTgt spid="46"/>
                                        </p:tgtEl>
                                        <p:attrNameLst>
                                          <p:attrName>style.visibility</p:attrName>
                                        </p:attrNameLst>
                                      </p:cBhvr>
                                      <p:to>
                                        <p:strVal val="visible"/>
                                      </p:to>
                                    </p:set>
                                    <p:anim calcmode="lin" valueType="num">
                                      <p:cBhvr>
                                        <p:cTn id="73" dur="500" fill="hold"/>
                                        <p:tgtEl>
                                          <p:spTgt spid="46"/>
                                        </p:tgtEl>
                                        <p:attrNameLst>
                                          <p:attrName>ppt_w</p:attrName>
                                        </p:attrNameLst>
                                      </p:cBhvr>
                                      <p:tavLst>
                                        <p:tav tm="0">
                                          <p:val>
                                            <p:fltVal val="0"/>
                                          </p:val>
                                        </p:tav>
                                        <p:tav tm="100000">
                                          <p:val>
                                            <p:strVal val="#ppt_w"/>
                                          </p:val>
                                        </p:tav>
                                      </p:tavLst>
                                    </p:anim>
                                    <p:anim calcmode="lin" valueType="num">
                                      <p:cBhvr>
                                        <p:cTn id="74" dur="500" fill="hold"/>
                                        <p:tgtEl>
                                          <p:spTgt spid="46"/>
                                        </p:tgtEl>
                                        <p:attrNameLst>
                                          <p:attrName>ppt_h</p:attrName>
                                        </p:attrNameLst>
                                      </p:cBhvr>
                                      <p:tavLst>
                                        <p:tav tm="0">
                                          <p:val>
                                            <p:fltVal val="0"/>
                                          </p:val>
                                        </p:tav>
                                        <p:tav tm="100000">
                                          <p:val>
                                            <p:strVal val="#ppt_h"/>
                                          </p:val>
                                        </p:tav>
                                      </p:tavLst>
                                    </p:anim>
                                    <p:animEffect transition="in" filter="fade">
                                      <p:cBhvr>
                                        <p:cTn id="75" dur="500"/>
                                        <p:tgtEl>
                                          <p:spTgt spid="46"/>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 calcmode="lin" valueType="num">
                                      <p:cBhvr>
                                        <p:cTn id="78" dur="500" fill="hold"/>
                                        <p:tgtEl>
                                          <p:spTgt spid="43"/>
                                        </p:tgtEl>
                                        <p:attrNameLst>
                                          <p:attrName>ppt_w</p:attrName>
                                        </p:attrNameLst>
                                      </p:cBhvr>
                                      <p:tavLst>
                                        <p:tav tm="0">
                                          <p:val>
                                            <p:fltVal val="0"/>
                                          </p:val>
                                        </p:tav>
                                        <p:tav tm="100000">
                                          <p:val>
                                            <p:strVal val="#ppt_w"/>
                                          </p:val>
                                        </p:tav>
                                      </p:tavLst>
                                    </p:anim>
                                    <p:anim calcmode="lin" valueType="num">
                                      <p:cBhvr>
                                        <p:cTn id="79" dur="500" fill="hold"/>
                                        <p:tgtEl>
                                          <p:spTgt spid="43"/>
                                        </p:tgtEl>
                                        <p:attrNameLst>
                                          <p:attrName>ppt_h</p:attrName>
                                        </p:attrNameLst>
                                      </p:cBhvr>
                                      <p:tavLst>
                                        <p:tav tm="0">
                                          <p:val>
                                            <p:fltVal val="0"/>
                                          </p:val>
                                        </p:tav>
                                        <p:tav tm="100000">
                                          <p:val>
                                            <p:strVal val="#ppt_h"/>
                                          </p:val>
                                        </p:tav>
                                      </p:tavLst>
                                    </p:anim>
                                    <p:animEffect transition="in" filter="fade">
                                      <p:cBhvr>
                                        <p:cTn id="80" dur="500"/>
                                        <p:tgtEl>
                                          <p:spTgt spid="43"/>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44"/>
                                        </p:tgtEl>
                                        <p:attrNameLst>
                                          <p:attrName>style.visibility</p:attrName>
                                        </p:attrNameLst>
                                      </p:cBhvr>
                                      <p:to>
                                        <p:strVal val="visible"/>
                                      </p:to>
                                    </p:set>
                                    <p:anim calcmode="lin" valueType="num">
                                      <p:cBhvr>
                                        <p:cTn id="83" dur="500" fill="hold"/>
                                        <p:tgtEl>
                                          <p:spTgt spid="44"/>
                                        </p:tgtEl>
                                        <p:attrNameLst>
                                          <p:attrName>ppt_w</p:attrName>
                                        </p:attrNameLst>
                                      </p:cBhvr>
                                      <p:tavLst>
                                        <p:tav tm="0">
                                          <p:val>
                                            <p:fltVal val="0"/>
                                          </p:val>
                                        </p:tav>
                                        <p:tav tm="100000">
                                          <p:val>
                                            <p:strVal val="#ppt_w"/>
                                          </p:val>
                                        </p:tav>
                                      </p:tavLst>
                                    </p:anim>
                                    <p:anim calcmode="lin" valueType="num">
                                      <p:cBhvr>
                                        <p:cTn id="84" dur="500" fill="hold"/>
                                        <p:tgtEl>
                                          <p:spTgt spid="44"/>
                                        </p:tgtEl>
                                        <p:attrNameLst>
                                          <p:attrName>ppt_h</p:attrName>
                                        </p:attrNameLst>
                                      </p:cBhvr>
                                      <p:tavLst>
                                        <p:tav tm="0">
                                          <p:val>
                                            <p:fltVal val="0"/>
                                          </p:val>
                                        </p:tav>
                                        <p:tav tm="100000">
                                          <p:val>
                                            <p:strVal val="#ppt_h"/>
                                          </p:val>
                                        </p:tav>
                                      </p:tavLst>
                                    </p:anim>
                                    <p:animEffect transition="in" filter="fade">
                                      <p:cBhvr>
                                        <p:cTn id="85" dur="500"/>
                                        <p:tgtEl>
                                          <p:spTgt spid="44"/>
                                        </p:tgtEl>
                                      </p:cBhvr>
                                    </p:animEffect>
                                  </p:childTnLst>
                                </p:cTn>
                              </p:par>
                            </p:childTnLst>
                          </p:cTn>
                        </p:par>
                      </p:childTnLst>
                    </p:cTn>
                  </p:par>
                  <p:par>
                    <p:cTn id="86" fill="hold">
                      <p:stCondLst>
                        <p:cond delay="indefinite"/>
                      </p:stCondLst>
                      <p:childTnLst>
                        <p:par>
                          <p:cTn id="87" fill="hold">
                            <p:stCondLst>
                              <p:cond delay="0"/>
                            </p:stCondLst>
                            <p:childTnLst>
                              <p:par>
                                <p:cTn id="88" presetID="53" presetClass="entr" presetSubtype="16" fill="hold" grpId="0" nodeType="clickEffect">
                                  <p:stCondLst>
                                    <p:cond delay="0"/>
                                  </p:stCondLst>
                                  <p:childTnLst>
                                    <p:set>
                                      <p:cBhvr>
                                        <p:cTn id="89" dur="1" fill="hold">
                                          <p:stCondLst>
                                            <p:cond delay="0"/>
                                          </p:stCondLst>
                                        </p:cTn>
                                        <p:tgtEl>
                                          <p:spTgt spid="48"/>
                                        </p:tgtEl>
                                        <p:attrNameLst>
                                          <p:attrName>style.visibility</p:attrName>
                                        </p:attrNameLst>
                                      </p:cBhvr>
                                      <p:to>
                                        <p:strVal val="visible"/>
                                      </p:to>
                                    </p:set>
                                    <p:anim calcmode="lin" valueType="num">
                                      <p:cBhvr>
                                        <p:cTn id="90" dur="500" fill="hold"/>
                                        <p:tgtEl>
                                          <p:spTgt spid="48"/>
                                        </p:tgtEl>
                                        <p:attrNameLst>
                                          <p:attrName>ppt_w</p:attrName>
                                        </p:attrNameLst>
                                      </p:cBhvr>
                                      <p:tavLst>
                                        <p:tav tm="0">
                                          <p:val>
                                            <p:fltVal val="0"/>
                                          </p:val>
                                        </p:tav>
                                        <p:tav tm="100000">
                                          <p:val>
                                            <p:strVal val="#ppt_w"/>
                                          </p:val>
                                        </p:tav>
                                      </p:tavLst>
                                    </p:anim>
                                    <p:anim calcmode="lin" valueType="num">
                                      <p:cBhvr>
                                        <p:cTn id="91" dur="500" fill="hold"/>
                                        <p:tgtEl>
                                          <p:spTgt spid="48"/>
                                        </p:tgtEl>
                                        <p:attrNameLst>
                                          <p:attrName>ppt_h</p:attrName>
                                        </p:attrNameLst>
                                      </p:cBhvr>
                                      <p:tavLst>
                                        <p:tav tm="0">
                                          <p:val>
                                            <p:fltVal val="0"/>
                                          </p:val>
                                        </p:tav>
                                        <p:tav tm="100000">
                                          <p:val>
                                            <p:strVal val="#ppt_h"/>
                                          </p:val>
                                        </p:tav>
                                      </p:tavLst>
                                    </p:anim>
                                    <p:animEffect transition="in" filter="fade">
                                      <p:cBhvr>
                                        <p:cTn id="92" dur="500"/>
                                        <p:tgtEl>
                                          <p:spTgt spid="48"/>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27"/>
                                        </p:tgtEl>
                                        <p:attrNameLst>
                                          <p:attrName>style.visibility</p:attrName>
                                        </p:attrNameLst>
                                      </p:cBhvr>
                                      <p:to>
                                        <p:strVal val="visible"/>
                                      </p:to>
                                    </p:set>
                                    <p:anim calcmode="lin" valueType="num">
                                      <p:cBhvr>
                                        <p:cTn id="95" dur="500" fill="hold"/>
                                        <p:tgtEl>
                                          <p:spTgt spid="27"/>
                                        </p:tgtEl>
                                        <p:attrNameLst>
                                          <p:attrName>ppt_w</p:attrName>
                                        </p:attrNameLst>
                                      </p:cBhvr>
                                      <p:tavLst>
                                        <p:tav tm="0">
                                          <p:val>
                                            <p:fltVal val="0"/>
                                          </p:val>
                                        </p:tav>
                                        <p:tav tm="100000">
                                          <p:val>
                                            <p:strVal val="#ppt_w"/>
                                          </p:val>
                                        </p:tav>
                                      </p:tavLst>
                                    </p:anim>
                                    <p:anim calcmode="lin" valueType="num">
                                      <p:cBhvr>
                                        <p:cTn id="96" dur="500" fill="hold"/>
                                        <p:tgtEl>
                                          <p:spTgt spid="27"/>
                                        </p:tgtEl>
                                        <p:attrNameLst>
                                          <p:attrName>ppt_h</p:attrName>
                                        </p:attrNameLst>
                                      </p:cBhvr>
                                      <p:tavLst>
                                        <p:tav tm="0">
                                          <p:val>
                                            <p:fltVal val="0"/>
                                          </p:val>
                                        </p:tav>
                                        <p:tav tm="100000">
                                          <p:val>
                                            <p:strVal val="#ppt_h"/>
                                          </p:val>
                                        </p:tav>
                                      </p:tavLst>
                                    </p:anim>
                                    <p:animEffect transition="in" filter="fade">
                                      <p:cBhvr>
                                        <p:cTn id="97" dur="500"/>
                                        <p:tgtEl>
                                          <p:spTgt spid="27"/>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28"/>
                                        </p:tgtEl>
                                        <p:attrNameLst>
                                          <p:attrName>style.visibility</p:attrName>
                                        </p:attrNameLst>
                                      </p:cBhvr>
                                      <p:to>
                                        <p:strVal val="visible"/>
                                      </p:to>
                                    </p:set>
                                    <p:anim calcmode="lin" valueType="num">
                                      <p:cBhvr>
                                        <p:cTn id="100" dur="500" fill="hold"/>
                                        <p:tgtEl>
                                          <p:spTgt spid="28"/>
                                        </p:tgtEl>
                                        <p:attrNameLst>
                                          <p:attrName>ppt_w</p:attrName>
                                        </p:attrNameLst>
                                      </p:cBhvr>
                                      <p:tavLst>
                                        <p:tav tm="0">
                                          <p:val>
                                            <p:fltVal val="0"/>
                                          </p:val>
                                        </p:tav>
                                        <p:tav tm="100000">
                                          <p:val>
                                            <p:strVal val="#ppt_w"/>
                                          </p:val>
                                        </p:tav>
                                      </p:tavLst>
                                    </p:anim>
                                    <p:anim calcmode="lin" valueType="num">
                                      <p:cBhvr>
                                        <p:cTn id="101" dur="500" fill="hold"/>
                                        <p:tgtEl>
                                          <p:spTgt spid="28"/>
                                        </p:tgtEl>
                                        <p:attrNameLst>
                                          <p:attrName>ppt_h</p:attrName>
                                        </p:attrNameLst>
                                      </p:cBhvr>
                                      <p:tavLst>
                                        <p:tav tm="0">
                                          <p:val>
                                            <p:fltVal val="0"/>
                                          </p:val>
                                        </p:tav>
                                        <p:tav tm="100000">
                                          <p:val>
                                            <p:strVal val="#ppt_h"/>
                                          </p:val>
                                        </p:tav>
                                      </p:tavLst>
                                    </p:anim>
                                    <p:animEffect transition="in" filter="fade">
                                      <p:cBhvr>
                                        <p:cTn id="102" dur="500"/>
                                        <p:tgtEl>
                                          <p:spTgt spid="28"/>
                                        </p:tgtEl>
                                      </p:cBhvr>
                                    </p:animEffect>
                                  </p:childTnLst>
                                </p:cTn>
                              </p:par>
                              <p:par>
                                <p:cTn id="103" presetID="53" presetClass="entr" presetSubtype="16" fill="hold" nodeType="withEffect">
                                  <p:stCondLst>
                                    <p:cond delay="0"/>
                                  </p:stCondLst>
                                  <p:childTnLst>
                                    <p:set>
                                      <p:cBhvr>
                                        <p:cTn id="104" dur="1" fill="hold">
                                          <p:stCondLst>
                                            <p:cond delay="0"/>
                                          </p:stCondLst>
                                        </p:cTn>
                                        <p:tgtEl>
                                          <p:spTgt spid="31"/>
                                        </p:tgtEl>
                                        <p:attrNameLst>
                                          <p:attrName>style.visibility</p:attrName>
                                        </p:attrNameLst>
                                      </p:cBhvr>
                                      <p:to>
                                        <p:strVal val="visible"/>
                                      </p:to>
                                    </p:set>
                                    <p:anim calcmode="lin" valueType="num">
                                      <p:cBhvr>
                                        <p:cTn id="105" dur="500" fill="hold"/>
                                        <p:tgtEl>
                                          <p:spTgt spid="31"/>
                                        </p:tgtEl>
                                        <p:attrNameLst>
                                          <p:attrName>ppt_w</p:attrName>
                                        </p:attrNameLst>
                                      </p:cBhvr>
                                      <p:tavLst>
                                        <p:tav tm="0">
                                          <p:val>
                                            <p:fltVal val="0"/>
                                          </p:val>
                                        </p:tav>
                                        <p:tav tm="100000">
                                          <p:val>
                                            <p:strVal val="#ppt_w"/>
                                          </p:val>
                                        </p:tav>
                                      </p:tavLst>
                                    </p:anim>
                                    <p:anim calcmode="lin" valueType="num">
                                      <p:cBhvr>
                                        <p:cTn id="106" dur="500" fill="hold"/>
                                        <p:tgtEl>
                                          <p:spTgt spid="31"/>
                                        </p:tgtEl>
                                        <p:attrNameLst>
                                          <p:attrName>ppt_h</p:attrName>
                                        </p:attrNameLst>
                                      </p:cBhvr>
                                      <p:tavLst>
                                        <p:tav tm="0">
                                          <p:val>
                                            <p:fltVal val="0"/>
                                          </p:val>
                                        </p:tav>
                                        <p:tav tm="100000">
                                          <p:val>
                                            <p:strVal val="#ppt_h"/>
                                          </p:val>
                                        </p:tav>
                                      </p:tavLst>
                                    </p:anim>
                                    <p:animEffect transition="in" filter="fade">
                                      <p:cBhvr>
                                        <p:cTn id="107" dur="500"/>
                                        <p:tgtEl>
                                          <p:spTgt spid="31"/>
                                        </p:tgtEl>
                                      </p:cBhvr>
                                    </p:animEffect>
                                  </p:childTnLst>
                                </p:cTn>
                              </p:par>
                              <p:par>
                                <p:cTn id="108" presetID="53" presetClass="entr" presetSubtype="16" fill="hold" nodeType="withEffect">
                                  <p:stCondLst>
                                    <p:cond delay="0"/>
                                  </p:stCondLst>
                                  <p:childTnLst>
                                    <p:set>
                                      <p:cBhvr>
                                        <p:cTn id="109" dur="1" fill="hold">
                                          <p:stCondLst>
                                            <p:cond delay="0"/>
                                          </p:stCondLst>
                                        </p:cTn>
                                        <p:tgtEl>
                                          <p:spTgt spid="34"/>
                                        </p:tgtEl>
                                        <p:attrNameLst>
                                          <p:attrName>style.visibility</p:attrName>
                                        </p:attrNameLst>
                                      </p:cBhvr>
                                      <p:to>
                                        <p:strVal val="visible"/>
                                      </p:to>
                                    </p:set>
                                    <p:anim calcmode="lin" valueType="num">
                                      <p:cBhvr>
                                        <p:cTn id="110" dur="500" fill="hold"/>
                                        <p:tgtEl>
                                          <p:spTgt spid="34"/>
                                        </p:tgtEl>
                                        <p:attrNameLst>
                                          <p:attrName>ppt_w</p:attrName>
                                        </p:attrNameLst>
                                      </p:cBhvr>
                                      <p:tavLst>
                                        <p:tav tm="0">
                                          <p:val>
                                            <p:fltVal val="0"/>
                                          </p:val>
                                        </p:tav>
                                        <p:tav tm="100000">
                                          <p:val>
                                            <p:strVal val="#ppt_w"/>
                                          </p:val>
                                        </p:tav>
                                      </p:tavLst>
                                    </p:anim>
                                    <p:anim calcmode="lin" valueType="num">
                                      <p:cBhvr>
                                        <p:cTn id="111" dur="500" fill="hold"/>
                                        <p:tgtEl>
                                          <p:spTgt spid="34"/>
                                        </p:tgtEl>
                                        <p:attrNameLst>
                                          <p:attrName>ppt_h</p:attrName>
                                        </p:attrNameLst>
                                      </p:cBhvr>
                                      <p:tavLst>
                                        <p:tav tm="0">
                                          <p:val>
                                            <p:fltVal val="0"/>
                                          </p:val>
                                        </p:tav>
                                        <p:tav tm="100000">
                                          <p:val>
                                            <p:strVal val="#ppt_h"/>
                                          </p:val>
                                        </p:tav>
                                      </p:tavLst>
                                    </p:anim>
                                    <p:animEffect transition="in" filter="fade">
                                      <p:cBhvr>
                                        <p:cTn id="112" dur="500"/>
                                        <p:tgtEl>
                                          <p:spTgt spid="34"/>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29"/>
                                        </p:tgtEl>
                                        <p:attrNameLst>
                                          <p:attrName>style.visibility</p:attrName>
                                        </p:attrNameLst>
                                      </p:cBhvr>
                                      <p:to>
                                        <p:strVal val="visible"/>
                                      </p:to>
                                    </p:set>
                                    <p:anim calcmode="lin" valueType="num">
                                      <p:cBhvr>
                                        <p:cTn id="115" dur="500" fill="hold"/>
                                        <p:tgtEl>
                                          <p:spTgt spid="29"/>
                                        </p:tgtEl>
                                        <p:attrNameLst>
                                          <p:attrName>ppt_w</p:attrName>
                                        </p:attrNameLst>
                                      </p:cBhvr>
                                      <p:tavLst>
                                        <p:tav tm="0">
                                          <p:val>
                                            <p:fltVal val="0"/>
                                          </p:val>
                                        </p:tav>
                                        <p:tav tm="100000">
                                          <p:val>
                                            <p:strVal val="#ppt_w"/>
                                          </p:val>
                                        </p:tav>
                                      </p:tavLst>
                                    </p:anim>
                                    <p:anim calcmode="lin" valueType="num">
                                      <p:cBhvr>
                                        <p:cTn id="116" dur="500" fill="hold"/>
                                        <p:tgtEl>
                                          <p:spTgt spid="29"/>
                                        </p:tgtEl>
                                        <p:attrNameLst>
                                          <p:attrName>ppt_h</p:attrName>
                                        </p:attrNameLst>
                                      </p:cBhvr>
                                      <p:tavLst>
                                        <p:tav tm="0">
                                          <p:val>
                                            <p:fltVal val="0"/>
                                          </p:val>
                                        </p:tav>
                                        <p:tav tm="100000">
                                          <p:val>
                                            <p:strVal val="#ppt_h"/>
                                          </p:val>
                                        </p:tav>
                                      </p:tavLst>
                                    </p:anim>
                                    <p:animEffect transition="in" filter="fade">
                                      <p:cBhvr>
                                        <p:cTn id="117" dur="500"/>
                                        <p:tgtEl>
                                          <p:spTgt spid="29"/>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32"/>
                                        </p:tgtEl>
                                        <p:attrNameLst>
                                          <p:attrName>style.visibility</p:attrName>
                                        </p:attrNameLst>
                                      </p:cBhvr>
                                      <p:to>
                                        <p:strVal val="visible"/>
                                      </p:to>
                                    </p:set>
                                    <p:anim calcmode="lin" valueType="num">
                                      <p:cBhvr>
                                        <p:cTn id="120" dur="500" fill="hold"/>
                                        <p:tgtEl>
                                          <p:spTgt spid="32"/>
                                        </p:tgtEl>
                                        <p:attrNameLst>
                                          <p:attrName>ppt_w</p:attrName>
                                        </p:attrNameLst>
                                      </p:cBhvr>
                                      <p:tavLst>
                                        <p:tav tm="0">
                                          <p:val>
                                            <p:fltVal val="0"/>
                                          </p:val>
                                        </p:tav>
                                        <p:tav tm="100000">
                                          <p:val>
                                            <p:strVal val="#ppt_w"/>
                                          </p:val>
                                        </p:tav>
                                      </p:tavLst>
                                    </p:anim>
                                    <p:anim calcmode="lin" valueType="num">
                                      <p:cBhvr>
                                        <p:cTn id="121" dur="500" fill="hold"/>
                                        <p:tgtEl>
                                          <p:spTgt spid="32"/>
                                        </p:tgtEl>
                                        <p:attrNameLst>
                                          <p:attrName>ppt_h</p:attrName>
                                        </p:attrNameLst>
                                      </p:cBhvr>
                                      <p:tavLst>
                                        <p:tav tm="0">
                                          <p:val>
                                            <p:fltVal val="0"/>
                                          </p:val>
                                        </p:tav>
                                        <p:tav tm="100000">
                                          <p:val>
                                            <p:strVal val="#ppt_h"/>
                                          </p:val>
                                        </p:tav>
                                      </p:tavLst>
                                    </p:anim>
                                    <p:animEffect transition="in" filter="fade">
                                      <p:cBhvr>
                                        <p:cTn id="122" dur="500"/>
                                        <p:tgtEl>
                                          <p:spTgt spid="32"/>
                                        </p:tgtEl>
                                      </p:cBhvr>
                                    </p:animEffect>
                                  </p:childTnLst>
                                </p:cTn>
                              </p:par>
                              <p:par>
                                <p:cTn id="123" presetID="53" presetClass="entr" presetSubtype="16" fill="hold" nodeType="withEffect">
                                  <p:stCondLst>
                                    <p:cond delay="0"/>
                                  </p:stCondLst>
                                  <p:childTnLst>
                                    <p:set>
                                      <p:cBhvr>
                                        <p:cTn id="124" dur="1" fill="hold">
                                          <p:stCondLst>
                                            <p:cond delay="0"/>
                                          </p:stCondLst>
                                        </p:cTn>
                                        <p:tgtEl>
                                          <p:spTgt spid="38"/>
                                        </p:tgtEl>
                                        <p:attrNameLst>
                                          <p:attrName>style.visibility</p:attrName>
                                        </p:attrNameLst>
                                      </p:cBhvr>
                                      <p:to>
                                        <p:strVal val="visible"/>
                                      </p:to>
                                    </p:set>
                                    <p:anim calcmode="lin" valueType="num">
                                      <p:cBhvr>
                                        <p:cTn id="125" dur="500" fill="hold"/>
                                        <p:tgtEl>
                                          <p:spTgt spid="38"/>
                                        </p:tgtEl>
                                        <p:attrNameLst>
                                          <p:attrName>ppt_w</p:attrName>
                                        </p:attrNameLst>
                                      </p:cBhvr>
                                      <p:tavLst>
                                        <p:tav tm="0">
                                          <p:val>
                                            <p:fltVal val="0"/>
                                          </p:val>
                                        </p:tav>
                                        <p:tav tm="100000">
                                          <p:val>
                                            <p:strVal val="#ppt_w"/>
                                          </p:val>
                                        </p:tav>
                                      </p:tavLst>
                                    </p:anim>
                                    <p:anim calcmode="lin" valueType="num">
                                      <p:cBhvr>
                                        <p:cTn id="126" dur="500" fill="hold"/>
                                        <p:tgtEl>
                                          <p:spTgt spid="38"/>
                                        </p:tgtEl>
                                        <p:attrNameLst>
                                          <p:attrName>ppt_h</p:attrName>
                                        </p:attrNameLst>
                                      </p:cBhvr>
                                      <p:tavLst>
                                        <p:tav tm="0">
                                          <p:val>
                                            <p:fltVal val="0"/>
                                          </p:val>
                                        </p:tav>
                                        <p:tav tm="100000">
                                          <p:val>
                                            <p:strVal val="#ppt_h"/>
                                          </p:val>
                                        </p:tav>
                                      </p:tavLst>
                                    </p:anim>
                                    <p:animEffect transition="in" filter="fade">
                                      <p:cBhvr>
                                        <p:cTn id="127" dur="500"/>
                                        <p:tgtEl>
                                          <p:spTgt spid="38"/>
                                        </p:tgtEl>
                                      </p:cBhvr>
                                    </p:animEffect>
                                  </p:childTnLst>
                                </p:cTn>
                              </p:par>
                              <p:par>
                                <p:cTn id="128" presetID="53" presetClass="entr" presetSubtype="16" fill="hold" nodeType="withEffect">
                                  <p:stCondLst>
                                    <p:cond delay="0"/>
                                  </p:stCondLst>
                                  <p:childTnLst>
                                    <p:set>
                                      <p:cBhvr>
                                        <p:cTn id="129" dur="1" fill="hold">
                                          <p:stCondLst>
                                            <p:cond delay="0"/>
                                          </p:stCondLst>
                                        </p:cTn>
                                        <p:tgtEl>
                                          <p:spTgt spid="40"/>
                                        </p:tgtEl>
                                        <p:attrNameLst>
                                          <p:attrName>style.visibility</p:attrName>
                                        </p:attrNameLst>
                                      </p:cBhvr>
                                      <p:to>
                                        <p:strVal val="visible"/>
                                      </p:to>
                                    </p:set>
                                    <p:anim calcmode="lin" valueType="num">
                                      <p:cBhvr>
                                        <p:cTn id="130" dur="500" fill="hold"/>
                                        <p:tgtEl>
                                          <p:spTgt spid="40"/>
                                        </p:tgtEl>
                                        <p:attrNameLst>
                                          <p:attrName>ppt_w</p:attrName>
                                        </p:attrNameLst>
                                      </p:cBhvr>
                                      <p:tavLst>
                                        <p:tav tm="0">
                                          <p:val>
                                            <p:fltVal val="0"/>
                                          </p:val>
                                        </p:tav>
                                        <p:tav tm="100000">
                                          <p:val>
                                            <p:strVal val="#ppt_w"/>
                                          </p:val>
                                        </p:tav>
                                      </p:tavLst>
                                    </p:anim>
                                    <p:anim calcmode="lin" valueType="num">
                                      <p:cBhvr>
                                        <p:cTn id="131" dur="500" fill="hold"/>
                                        <p:tgtEl>
                                          <p:spTgt spid="40"/>
                                        </p:tgtEl>
                                        <p:attrNameLst>
                                          <p:attrName>ppt_h</p:attrName>
                                        </p:attrNameLst>
                                      </p:cBhvr>
                                      <p:tavLst>
                                        <p:tav tm="0">
                                          <p:val>
                                            <p:fltVal val="0"/>
                                          </p:val>
                                        </p:tav>
                                        <p:tav tm="100000">
                                          <p:val>
                                            <p:strVal val="#ppt_h"/>
                                          </p:val>
                                        </p:tav>
                                      </p:tavLst>
                                    </p:anim>
                                    <p:animEffect transition="in" filter="fade">
                                      <p:cBhvr>
                                        <p:cTn id="132" dur="500"/>
                                        <p:tgtEl>
                                          <p:spTgt spid="40"/>
                                        </p:tgtEl>
                                      </p:cBhvr>
                                    </p:animEffect>
                                  </p:childTnLst>
                                </p:cTn>
                              </p:par>
                              <p:par>
                                <p:cTn id="133" presetID="53" presetClass="entr" presetSubtype="16" fill="hold" grpId="0" nodeType="withEffect">
                                  <p:stCondLst>
                                    <p:cond delay="0"/>
                                  </p:stCondLst>
                                  <p:childTnLst>
                                    <p:set>
                                      <p:cBhvr>
                                        <p:cTn id="134" dur="1" fill="hold">
                                          <p:stCondLst>
                                            <p:cond delay="0"/>
                                          </p:stCondLst>
                                        </p:cTn>
                                        <p:tgtEl>
                                          <p:spTgt spid="35"/>
                                        </p:tgtEl>
                                        <p:attrNameLst>
                                          <p:attrName>style.visibility</p:attrName>
                                        </p:attrNameLst>
                                      </p:cBhvr>
                                      <p:to>
                                        <p:strVal val="visible"/>
                                      </p:to>
                                    </p:set>
                                    <p:anim calcmode="lin" valueType="num">
                                      <p:cBhvr>
                                        <p:cTn id="135" dur="500" fill="hold"/>
                                        <p:tgtEl>
                                          <p:spTgt spid="35"/>
                                        </p:tgtEl>
                                        <p:attrNameLst>
                                          <p:attrName>ppt_w</p:attrName>
                                        </p:attrNameLst>
                                      </p:cBhvr>
                                      <p:tavLst>
                                        <p:tav tm="0">
                                          <p:val>
                                            <p:fltVal val="0"/>
                                          </p:val>
                                        </p:tav>
                                        <p:tav tm="100000">
                                          <p:val>
                                            <p:strVal val="#ppt_w"/>
                                          </p:val>
                                        </p:tav>
                                      </p:tavLst>
                                    </p:anim>
                                    <p:anim calcmode="lin" valueType="num">
                                      <p:cBhvr>
                                        <p:cTn id="136" dur="500" fill="hold"/>
                                        <p:tgtEl>
                                          <p:spTgt spid="35"/>
                                        </p:tgtEl>
                                        <p:attrNameLst>
                                          <p:attrName>ppt_h</p:attrName>
                                        </p:attrNameLst>
                                      </p:cBhvr>
                                      <p:tavLst>
                                        <p:tav tm="0">
                                          <p:val>
                                            <p:fltVal val="0"/>
                                          </p:val>
                                        </p:tav>
                                        <p:tav tm="100000">
                                          <p:val>
                                            <p:strVal val="#ppt_h"/>
                                          </p:val>
                                        </p:tav>
                                      </p:tavLst>
                                    </p:anim>
                                    <p:animEffect transition="in" filter="fade">
                                      <p:cBhvr>
                                        <p:cTn id="137" dur="500"/>
                                        <p:tgtEl>
                                          <p:spTgt spid="35"/>
                                        </p:tgtEl>
                                      </p:cBhvr>
                                    </p:animEffect>
                                  </p:childTnLst>
                                </p:cTn>
                              </p:par>
                              <p:par>
                                <p:cTn id="138" presetID="53" presetClass="entr" presetSubtype="16" fill="hold" grpId="0" nodeType="withEffect">
                                  <p:stCondLst>
                                    <p:cond delay="0"/>
                                  </p:stCondLst>
                                  <p:childTnLst>
                                    <p:set>
                                      <p:cBhvr>
                                        <p:cTn id="139" dur="1" fill="hold">
                                          <p:stCondLst>
                                            <p:cond delay="0"/>
                                          </p:stCondLst>
                                        </p:cTn>
                                        <p:tgtEl>
                                          <p:spTgt spid="36"/>
                                        </p:tgtEl>
                                        <p:attrNameLst>
                                          <p:attrName>style.visibility</p:attrName>
                                        </p:attrNameLst>
                                      </p:cBhvr>
                                      <p:to>
                                        <p:strVal val="visible"/>
                                      </p:to>
                                    </p:set>
                                    <p:anim calcmode="lin" valueType="num">
                                      <p:cBhvr>
                                        <p:cTn id="140" dur="500" fill="hold"/>
                                        <p:tgtEl>
                                          <p:spTgt spid="36"/>
                                        </p:tgtEl>
                                        <p:attrNameLst>
                                          <p:attrName>ppt_w</p:attrName>
                                        </p:attrNameLst>
                                      </p:cBhvr>
                                      <p:tavLst>
                                        <p:tav tm="0">
                                          <p:val>
                                            <p:fltVal val="0"/>
                                          </p:val>
                                        </p:tav>
                                        <p:tav tm="100000">
                                          <p:val>
                                            <p:strVal val="#ppt_w"/>
                                          </p:val>
                                        </p:tav>
                                      </p:tavLst>
                                    </p:anim>
                                    <p:anim calcmode="lin" valueType="num">
                                      <p:cBhvr>
                                        <p:cTn id="141" dur="500" fill="hold"/>
                                        <p:tgtEl>
                                          <p:spTgt spid="36"/>
                                        </p:tgtEl>
                                        <p:attrNameLst>
                                          <p:attrName>ppt_h</p:attrName>
                                        </p:attrNameLst>
                                      </p:cBhvr>
                                      <p:tavLst>
                                        <p:tav tm="0">
                                          <p:val>
                                            <p:fltVal val="0"/>
                                          </p:val>
                                        </p:tav>
                                        <p:tav tm="100000">
                                          <p:val>
                                            <p:strVal val="#ppt_h"/>
                                          </p:val>
                                        </p:tav>
                                      </p:tavLst>
                                    </p:anim>
                                    <p:animEffect transition="in" filter="fade">
                                      <p:cBhvr>
                                        <p:cTn id="142" dur="500"/>
                                        <p:tgtEl>
                                          <p:spTgt spid="36"/>
                                        </p:tgtEl>
                                      </p:cBhvr>
                                    </p:animEffect>
                                  </p:childTnLst>
                                </p:cTn>
                              </p:par>
                            </p:childTnLst>
                          </p:cTn>
                        </p:par>
                      </p:childTnLst>
                    </p:cTn>
                  </p:par>
                  <p:par>
                    <p:cTn id="143" fill="hold">
                      <p:stCondLst>
                        <p:cond delay="indefinite"/>
                      </p:stCondLst>
                      <p:childTnLst>
                        <p:par>
                          <p:cTn id="144" fill="hold">
                            <p:stCondLst>
                              <p:cond delay="0"/>
                            </p:stCondLst>
                            <p:childTnLst>
                              <p:par>
                                <p:cTn id="145" presetID="53" presetClass="entr" presetSubtype="16" fill="hold" grpId="0" nodeType="clickEffect">
                                  <p:stCondLst>
                                    <p:cond delay="0"/>
                                  </p:stCondLst>
                                  <p:childTnLst>
                                    <p:set>
                                      <p:cBhvr>
                                        <p:cTn id="146" dur="1" fill="hold">
                                          <p:stCondLst>
                                            <p:cond delay="0"/>
                                          </p:stCondLst>
                                        </p:cTn>
                                        <p:tgtEl>
                                          <p:spTgt spid="49"/>
                                        </p:tgtEl>
                                        <p:attrNameLst>
                                          <p:attrName>style.visibility</p:attrName>
                                        </p:attrNameLst>
                                      </p:cBhvr>
                                      <p:to>
                                        <p:strVal val="visible"/>
                                      </p:to>
                                    </p:set>
                                    <p:anim calcmode="lin" valueType="num">
                                      <p:cBhvr>
                                        <p:cTn id="147" dur="500" fill="hold"/>
                                        <p:tgtEl>
                                          <p:spTgt spid="49"/>
                                        </p:tgtEl>
                                        <p:attrNameLst>
                                          <p:attrName>ppt_w</p:attrName>
                                        </p:attrNameLst>
                                      </p:cBhvr>
                                      <p:tavLst>
                                        <p:tav tm="0">
                                          <p:val>
                                            <p:fltVal val="0"/>
                                          </p:val>
                                        </p:tav>
                                        <p:tav tm="100000">
                                          <p:val>
                                            <p:strVal val="#ppt_w"/>
                                          </p:val>
                                        </p:tav>
                                      </p:tavLst>
                                    </p:anim>
                                    <p:anim calcmode="lin" valueType="num">
                                      <p:cBhvr>
                                        <p:cTn id="148" dur="500" fill="hold"/>
                                        <p:tgtEl>
                                          <p:spTgt spid="49"/>
                                        </p:tgtEl>
                                        <p:attrNameLst>
                                          <p:attrName>ppt_h</p:attrName>
                                        </p:attrNameLst>
                                      </p:cBhvr>
                                      <p:tavLst>
                                        <p:tav tm="0">
                                          <p:val>
                                            <p:fltVal val="0"/>
                                          </p:val>
                                        </p:tav>
                                        <p:tav tm="100000">
                                          <p:val>
                                            <p:strVal val="#ppt_h"/>
                                          </p:val>
                                        </p:tav>
                                      </p:tavLst>
                                    </p:anim>
                                    <p:animEffect transition="in" filter="fade">
                                      <p:cBhvr>
                                        <p:cTn id="14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animBg="1"/>
      <p:bldP spid="16" grpId="0" animBg="1"/>
      <p:bldP spid="17" grpId="0" animBg="1"/>
      <p:bldP spid="25" grpId="0"/>
      <p:bldP spid="26" grpId="0"/>
      <p:bldP spid="27" grpId="0"/>
      <p:bldP spid="28" grpId="0" animBg="1"/>
      <p:bldP spid="29" grpId="0" animBg="1"/>
      <p:bldP spid="32" grpId="0" animBg="1"/>
      <p:bldP spid="35" grpId="0" animBg="1"/>
      <p:bldP spid="36" grpId="0" animBg="1"/>
      <p:bldP spid="41" grpId="0"/>
      <p:bldP spid="42" grpId="0" animBg="1"/>
      <p:bldP spid="43" grpId="0" animBg="1"/>
      <p:bldP spid="44" grpId="0" animBg="1"/>
      <p:bldP spid="47" grpId="0" animBg="1"/>
      <p:bldP spid="48" grpId="0" animBg="1"/>
      <p:bldP spid="4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p:cNvSpPr/>
              <p:nvPr/>
            </p:nvSpPr>
            <p:spPr>
              <a:xfrm>
                <a:off x="865426" y="1625374"/>
                <a:ext cx="101720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3</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865426" y="1625374"/>
                <a:ext cx="1017202" cy="369332"/>
              </a:xfrm>
              <a:prstGeom prst="rect">
                <a:avLst/>
              </a:prstGeom>
              <a:blipFill>
                <a:blip r:embed="rId3"/>
                <a:stretch>
                  <a:fillRect l="-1796" r="-16168" b="-30000"/>
                </a:stretch>
              </a:blipFill>
            </p:spPr>
            <p:txBody>
              <a:bodyPr/>
              <a:lstStyle/>
              <a:p>
                <a:r>
                  <a:rPr lang="zh-CN" altLang="en-US">
                    <a:noFill/>
                  </a:rPr>
                  <a:t> </a:t>
                </a:r>
              </a:p>
            </p:txBody>
          </p:sp>
        </mc:Fallback>
      </mc:AlternateContent>
      <p:sp>
        <p:nvSpPr>
          <p:cNvPr id="6" name="椭圆 5"/>
          <p:cNvSpPr/>
          <p:nvPr/>
        </p:nvSpPr>
        <p:spPr>
          <a:xfrm>
            <a:off x="2473277" y="1391919"/>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x&lt;3.5</a:t>
            </a:r>
            <a:endParaRPr lang="zh-CN" altLang="en-US" dirty="0">
              <a:solidFill>
                <a:schemeClr val="bg1"/>
              </a:solidFill>
              <a:ea typeface="Microsoft YaHei" charset="0"/>
            </a:endParaRPr>
          </a:p>
        </p:txBody>
      </p:sp>
      <p:sp>
        <p:nvSpPr>
          <p:cNvPr id="7" name="矩形 6"/>
          <p:cNvSpPr/>
          <p:nvPr/>
        </p:nvSpPr>
        <p:spPr>
          <a:xfrm>
            <a:off x="1850970" y="197959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0.15</a:t>
            </a:r>
            <a:endParaRPr lang="zh-CN" altLang="en-US" sz="2000" dirty="0">
              <a:ea typeface="Microsoft YaHei" charset="0"/>
            </a:endParaRPr>
          </a:p>
        </p:txBody>
      </p:sp>
      <p:sp>
        <p:nvSpPr>
          <p:cNvPr id="8" name="矩形 7"/>
          <p:cNvSpPr/>
          <p:nvPr/>
        </p:nvSpPr>
        <p:spPr>
          <a:xfrm>
            <a:off x="3257404" y="197959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-0.22</a:t>
            </a:r>
            <a:endParaRPr lang="zh-CN" altLang="en-US" sz="2000" dirty="0">
              <a:ea typeface="Microsoft YaHei" charset="0"/>
            </a:endParaRPr>
          </a:p>
        </p:txBody>
      </p:sp>
      <p:cxnSp>
        <p:nvCxnSpPr>
          <p:cNvPr id="9" name="直接连接符 8"/>
          <p:cNvCxnSpPr>
            <a:cxnSpLocks/>
            <a:stCxn id="6" idx="4"/>
            <a:endCxn id="7" idx="0"/>
          </p:cNvCxnSpPr>
          <p:nvPr/>
        </p:nvCxnSpPr>
        <p:spPr>
          <a:xfrm flipH="1">
            <a:off x="2242856" y="1775096"/>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cxnSpLocks/>
            <a:stCxn id="6" idx="4"/>
            <a:endCxn id="8" idx="0"/>
          </p:cNvCxnSpPr>
          <p:nvPr/>
        </p:nvCxnSpPr>
        <p:spPr>
          <a:xfrm>
            <a:off x="2963312" y="1775096"/>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矩形 16"/>
              <p:cNvSpPr/>
              <p:nvPr/>
            </p:nvSpPr>
            <p:spPr>
              <a:xfrm>
                <a:off x="865426" y="2966053"/>
                <a:ext cx="101046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4</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17" name="矩形 16"/>
              <p:cNvSpPr>
                <a:spLocks noRot="1" noChangeAspect="1" noMove="1" noResize="1" noEditPoints="1" noAdjustHandles="1" noChangeArrowheads="1" noChangeShapeType="1" noTextEdit="1"/>
              </p:cNvSpPr>
              <p:nvPr/>
            </p:nvSpPr>
            <p:spPr>
              <a:xfrm>
                <a:off x="865426" y="2966053"/>
                <a:ext cx="1010468" cy="369332"/>
              </a:xfrm>
              <a:prstGeom prst="rect">
                <a:avLst/>
              </a:prstGeom>
              <a:blipFill>
                <a:blip r:embed="rId4"/>
                <a:stretch>
                  <a:fillRect l="-1807" r="-15663" b="-30000"/>
                </a:stretch>
              </a:blipFill>
            </p:spPr>
            <p:txBody>
              <a:bodyPr/>
              <a:lstStyle/>
              <a:p>
                <a:r>
                  <a:rPr lang="zh-CN" altLang="en-US">
                    <a:noFill/>
                  </a:rPr>
                  <a:t> </a:t>
                </a:r>
              </a:p>
            </p:txBody>
          </p:sp>
        </mc:Fallback>
      </mc:AlternateContent>
      <p:sp>
        <p:nvSpPr>
          <p:cNvPr id="18" name="椭圆 17"/>
          <p:cNvSpPr/>
          <p:nvPr/>
        </p:nvSpPr>
        <p:spPr>
          <a:xfrm>
            <a:off x="2473277" y="2732598"/>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x&lt;4.5</a:t>
            </a:r>
            <a:endParaRPr lang="zh-CN" altLang="en-US" dirty="0">
              <a:solidFill>
                <a:schemeClr val="bg1"/>
              </a:solidFill>
              <a:ea typeface="Microsoft YaHei" charset="0"/>
            </a:endParaRPr>
          </a:p>
        </p:txBody>
      </p:sp>
      <p:sp>
        <p:nvSpPr>
          <p:cNvPr id="19" name="矩形 18"/>
          <p:cNvSpPr/>
          <p:nvPr/>
        </p:nvSpPr>
        <p:spPr>
          <a:xfrm>
            <a:off x="1850970" y="3320269"/>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-0.16</a:t>
            </a:r>
            <a:endParaRPr lang="zh-CN" altLang="en-US" sz="2000" dirty="0">
              <a:ea typeface="Microsoft YaHei" charset="0"/>
            </a:endParaRPr>
          </a:p>
        </p:txBody>
      </p:sp>
      <p:sp>
        <p:nvSpPr>
          <p:cNvPr id="20" name="矩形 19"/>
          <p:cNvSpPr/>
          <p:nvPr/>
        </p:nvSpPr>
        <p:spPr>
          <a:xfrm>
            <a:off x="3257404" y="3320269"/>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0.11</a:t>
            </a:r>
            <a:endParaRPr lang="zh-CN" altLang="en-US" sz="2000" dirty="0">
              <a:ea typeface="Microsoft YaHei" charset="0"/>
            </a:endParaRPr>
          </a:p>
        </p:txBody>
      </p:sp>
      <p:cxnSp>
        <p:nvCxnSpPr>
          <p:cNvPr id="21" name="直接连接符 20"/>
          <p:cNvCxnSpPr>
            <a:stCxn id="18" idx="4"/>
            <a:endCxn id="19" idx="0"/>
          </p:cNvCxnSpPr>
          <p:nvPr/>
        </p:nvCxnSpPr>
        <p:spPr>
          <a:xfrm flipH="1">
            <a:off x="2242856" y="3115775"/>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8" idx="4"/>
            <a:endCxn id="20" idx="0"/>
          </p:cNvCxnSpPr>
          <p:nvPr/>
        </p:nvCxnSpPr>
        <p:spPr>
          <a:xfrm>
            <a:off x="2963312" y="3115775"/>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矩形 22"/>
              <p:cNvSpPr/>
              <p:nvPr/>
            </p:nvSpPr>
            <p:spPr>
              <a:xfrm>
                <a:off x="850585" y="4305536"/>
                <a:ext cx="101720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5</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23" name="矩形 22"/>
              <p:cNvSpPr>
                <a:spLocks noRot="1" noChangeAspect="1" noMove="1" noResize="1" noEditPoints="1" noAdjustHandles="1" noChangeArrowheads="1" noChangeShapeType="1" noTextEdit="1"/>
              </p:cNvSpPr>
              <p:nvPr/>
            </p:nvSpPr>
            <p:spPr>
              <a:xfrm>
                <a:off x="850585" y="4305536"/>
                <a:ext cx="1017202" cy="369332"/>
              </a:xfrm>
              <a:prstGeom prst="rect">
                <a:avLst/>
              </a:prstGeom>
              <a:blipFill>
                <a:blip r:embed="rId5"/>
                <a:stretch>
                  <a:fillRect l="-1807" r="-16867" b="-29508"/>
                </a:stretch>
              </a:blipFill>
            </p:spPr>
            <p:txBody>
              <a:bodyPr/>
              <a:lstStyle/>
              <a:p>
                <a:r>
                  <a:rPr lang="zh-CN" altLang="en-US">
                    <a:noFill/>
                  </a:rPr>
                  <a:t> </a:t>
                </a:r>
              </a:p>
            </p:txBody>
          </p:sp>
        </mc:Fallback>
      </mc:AlternateContent>
      <p:sp>
        <p:nvSpPr>
          <p:cNvPr id="24" name="椭圆 23"/>
          <p:cNvSpPr/>
          <p:nvPr/>
        </p:nvSpPr>
        <p:spPr>
          <a:xfrm>
            <a:off x="2458436" y="4072081"/>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x&lt;6.5</a:t>
            </a:r>
            <a:endParaRPr lang="zh-CN" altLang="en-US" dirty="0">
              <a:solidFill>
                <a:schemeClr val="bg1"/>
              </a:solidFill>
              <a:ea typeface="Microsoft YaHei" charset="0"/>
            </a:endParaRPr>
          </a:p>
        </p:txBody>
      </p:sp>
      <p:sp>
        <p:nvSpPr>
          <p:cNvPr id="25" name="矩形 24"/>
          <p:cNvSpPr/>
          <p:nvPr/>
        </p:nvSpPr>
        <p:spPr>
          <a:xfrm>
            <a:off x="1836129" y="4659752"/>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0.07</a:t>
            </a:r>
            <a:endParaRPr lang="zh-CN" altLang="en-US" sz="2000" dirty="0">
              <a:ea typeface="Microsoft YaHei" charset="0"/>
            </a:endParaRPr>
          </a:p>
        </p:txBody>
      </p:sp>
      <p:sp>
        <p:nvSpPr>
          <p:cNvPr id="26" name="矩形 25"/>
          <p:cNvSpPr/>
          <p:nvPr/>
        </p:nvSpPr>
        <p:spPr>
          <a:xfrm>
            <a:off x="3242563" y="4659752"/>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-0.11</a:t>
            </a:r>
            <a:endParaRPr lang="zh-CN" altLang="en-US" sz="2000" dirty="0">
              <a:ea typeface="Microsoft YaHei" charset="0"/>
            </a:endParaRPr>
          </a:p>
        </p:txBody>
      </p:sp>
      <p:cxnSp>
        <p:nvCxnSpPr>
          <p:cNvPr id="27" name="直接连接符 26"/>
          <p:cNvCxnSpPr>
            <a:stCxn id="24" idx="4"/>
            <a:endCxn id="25" idx="0"/>
          </p:cNvCxnSpPr>
          <p:nvPr/>
        </p:nvCxnSpPr>
        <p:spPr>
          <a:xfrm flipH="1">
            <a:off x="2228015" y="4455258"/>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4" idx="4"/>
            <a:endCxn id="26" idx="0"/>
          </p:cNvCxnSpPr>
          <p:nvPr/>
        </p:nvCxnSpPr>
        <p:spPr>
          <a:xfrm>
            <a:off x="2948471" y="4455258"/>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矩形 28"/>
              <p:cNvSpPr/>
              <p:nvPr/>
            </p:nvSpPr>
            <p:spPr>
              <a:xfrm>
                <a:off x="865426" y="5645019"/>
                <a:ext cx="101720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6</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29" name="矩形 28"/>
              <p:cNvSpPr>
                <a:spLocks noRot="1" noChangeAspect="1" noMove="1" noResize="1" noEditPoints="1" noAdjustHandles="1" noChangeArrowheads="1" noChangeShapeType="1" noTextEdit="1"/>
              </p:cNvSpPr>
              <p:nvPr/>
            </p:nvSpPr>
            <p:spPr>
              <a:xfrm>
                <a:off x="865426" y="5645019"/>
                <a:ext cx="1017202" cy="369332"/>
              </a:xfrm>
              <a:prstGeom prst="rect">
                <a:avLst/>
              </a:prstGeom>
              <a:blipFill>
                <a:blip r:embed="rId6"/>
                <a:stretch>
                  <a:fillRect l="-1796" r="-16168" b="-29508"/>
                </a:stretch>
              </a:blipFill>
            </p:spPr>
            <p:txBody>
              <a:bodyPr/>
              <a:lstStyle/>
              <a:p>
                <a:r>
                  <a:rPr lang="zh-CN" altLang="en-US">
                    <a:noFill/>
                  </a:rPr>
                  <a:t> </a:t>
                </a:r>
              </a:p>
            </p:txBody>
          </p:sp>
        </mc:Fallback>
      </mc:AlternateContent>
      <p:sp>
        <p:nvSpPr>
          <p:cNvPr id="30" name="椭圆 29"/>
          <p:cNvSpPr/>
          <p:nvPr/>
        </p:nvSpPr>
        <p:spPr>
          <a:xfrm>
            <a:off x="2473277" y="5411564"/>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x&lt;2.5</a:t>
            </a:r>
            <a:endParaRPr lang="zh-CN" altLang="en-US" dirty="0">
              <a:solidFill>
                <a:schemeClr val="bg1"/>
              </a:solidFill>
              <a:ea typeface="Microsoft YaHei" charset="0"/>
            </a:endParaRPr>
          </a:p>
        </p:txBody>
      </p:sp>
      <p:sp>
        <p:nvSpPr>
          <p:cNvPr id="31" name="矩形 30"/>
          <p:cNvSpPr/>
          <p:nvPr/>
        </p:nvSpPr>
        <p:spPr>
          <a:xfrm>
            <a:off x="1850970" y="5999235"/>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-0.15</a:t>
            </a:r>
            <a:endParaRPr lang="zh-CN" altLang="en-US" sz="2000" dirty="0">
              <a:ea typeface="Microsoft YaHei" charset="0"/>
            </a:endParaRPr>
          </a:p>
        </p:txBody>
      </p:sp>
      <p:sp>
        <p:nvSpPr>
          <p:cNvPr id="32" name="矩形 31"/>
          <p:cNvSpPr/>
          <p:nvPr/>
        </p:nvSpPr>
        <p:spPr>
          <a:xfrm>
            <a:off x="3257404" y="5999235"/>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0.04</a:t>
            </a:r>
            <a:endParaRPr lang="zh-CN" altLang="en-US" sz="2000" dirty="0">
              <a:ea typeface="Microsoft YaHei" charset="0"/>
            </a:endParaRPr>
          </a:p>
        </p:txBody>
      </p:sp>
      <p:cxnSp>
        <p:nvCxnSpPr>
          <p:cNvPr id="33" name="直接连接符 32"/>
          <p:cNvCxnSpPr>
            <a:stCxn id="30" idx="4"/>
            <a:endCxn id="31" idx="0"/>
          </p:cNvCxnSpPr>
          <p:nvPr/>
        </p:nvCxnSpPr>
        <p:spPr>
          <a:xfrm flipH="1">
            <a:off x="2242856" y="5794741"/>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30" idx="4"/>
            <a:endCxn id="32" idx="0"/>
          </p:cNvCxnSpPr>
          <p:nvPr/>
        </p:nvCxnSpPr>
        <p:spPr>
          <a:xfrm>
            <a:off x="2963312" y="5794741"/>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矩形 35"/>
              <p:cNvSpPr/>
              <p:nvPr/>
            </p:nvSpPr>
            <p:spPr>
              <a:xfrm>
                <a:off x="4452587" y="1572604"/>
                <a:ext cx="1906548" cy="404983"/>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3</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r>
                      <a:rPr lang="en-US" altLang="zh-CN" i="1">
                        <a:latin typeface="Cambria Math" panose="02040503050406030204" pitchFamily="18" charset="0"/>
                        <a:ea typeface="Microsoft YaHei" charset="0"/>
                      </a:rPr>
                      <m:t>=</m:t>
                    </m:r>
                  </m:oMath>
                </a14:m>
                <a:r>
                  <a:rPr lang="en-US" altLang="zh-CN" dirty="0">
                    <a:ea typeface="Microsoft YaHei" charset="0"/>
                  </a:rPr>
                  <a:t>0.47</a:t>
                </a:r>
                <a:endParaRPr lang="zh-CN" altLang="en-US" dirty="0">
                  <a:ea typeface="Microsoft YaHei" charset="0"/>
                </a:endParaRPr>
              </a:p>
            </p:txBody>
          </p:sp>
        </mc:Choice>
        <mc:Fallback xmlns="">
          <p:sp>
            <p:nvSpPr>
              <p:cNvPr id="36" name="矩形 35"/>
              <p:cNvSpPr>
                <a:spLocks noRot="1" noChangeAspect="1" noMove="1" noResize="1" noEditPoints="1" noAdjustHandles="1" noChangeArrowheads="1" noChangeShapeType="1" noTextEdit="1"/>
              </p:cNvSpPr>
              <p:nvPr/>
            </p:nvSpPr>
            <p:spPr>
              <a:xfrm>
                <a:off x="4452587" y="1572604"/>
                <a:ext cx="1906548" cy="404983"/>
              </a:xfrm>
              <a:prstGeom prst="rect">
                <a:avLst/>
              </a:prstGeom>
              <a:blipFill rotWithShape="0">
                <a:blip r:embed="rId7"/>
                <a:stretch>
                  <a:fillRect t="-3030" r="-1917" b="-21212"/>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37" name="矩形 36"/>
              <p:cNvSpPr/>
              <p:nvPr/>
            </p:nvSpPr>
            <p:spPr>
              <a:xfrm>
                <a:off x="4461628" y="2930402"/>
                <a:ext cx="1897507" cy="404983"/>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4</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r>
                      <a:rPr lang="en-US" altLang="zh-CN" i="1">
                        <a:latin typeface="Cambria Math" panose="02040503050406030204" pitchFamily="18" charset="0"/>
                        <a:ea typeface="Microsoft YaHei" charset="0"/>
                      </a:rPr>
                      <m:t>=</m:t>
                    </m:r>
                  </m:oMath>
                </a14:m>
                <a:r>
                  <a:rPr lang="en-US" altLang="zh-CN" dirty="0">
                    <a:ea typeface="Microsoft YaHei" charset="0"/>
                  </a:rPr>
                  <a:t>0.30</a:t>
                </a:r>
                <a:endParaRPr lang="zh-CN" altLang="en-US" dirty="0">
                  <a:ea typeface="Microsoft YaHei" charset="0"/>
                </a:endParaRPr>
              </a:p>
            </p:txBody>
          </p:sp>
        </mc:Choice>
        <mc:Fallback xmlns="">
          <p:sp>
            <p:nvSpPr>
              <p:cNvPr id="37" name="矩形 36"/>
              <p:cNvSpPr>
                <a:spLocks noRot="1" noChangeAspect="1" noMove="1" noResize="1" noEditPoints="1" noAdjustHandles="1" noChangeArrowheads="1" noChangeShapeType="1" noTextEdit="1"/>
              </p:cNvSpPr>
              <p:nvPr/>
            </p:nvSpPr>
            <p:spPr>
              <a:xfrm>
                <a:off x="4461628" y="2930402"/>
                <a:ext cx="1897507" cy="404983"/>
              </a:xfrm>
              <a:prstGeom prst="rect">
                <a:avLst/>
              </a:prstGeom>
              <a:blipFill rotWithShape="0">
                <a:blip r:embed="rId8"/>
                <a:stretch>
                  <a:fillRect t="-3030" r="-1929" b="-21212"/>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38" name="矩形 37"/>
              <p:cNvSpPr/>
              <p:nvPr/>
            </p:nvSpPr>
            <p:spPr>
              <a:xfrm>
                <a:off x="4461628" y="4252766"/>
                <a:ext cx="1906548" cy="404983"/>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5</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r>
                      <a:rPr lang="en-US" altLang="zh-CN" i="1">
                        <a:latin typeface="Cambria Math" panose="02040503050406030204" pitchFamily="18" charset="0"/>
                        <a:ea typeface="Microsoft YaHei" charset="0"/>
                      </a:rPr>
                      <m:t>=</m:t>
                    </m:r>
                  </m:oMath>
                </a14:m>
                <a:r>
                  <a:rPr lang="en-US" altLang="zh-CN" dirty="0">
                    <a:ea typeface="Microsoft YaHei" charset="0"/>
                  </a:rPr>
                  <a:t>0.23</a:t>
                </a:r>
                <a:endParaRPr lang="zh-CN" altLang="en-US" dirty="0">
                  <a:ea typeface="Microsoft YaHei" charset="0"/>
                </a:endParaRPr>
              </a:p>
            </p:txBody>
          </p:sp>
        </mc:Choice>
        <mc:Fallback xmlns="">
          <p:sp>
            <p:nvSpPr>
              <p:cNvPr id="38" name="矩形 37"/>
              <p:cNvSpPr>
                <a:spLocks noRot="1" noChangeAspect="1" noMove="1" noResize="1" noEditPoints="1" noAdjustHandles="1" noChangeArrowheads="1" noChangeShapeType="1" noTextEdit="1"/>
              </p:cNvSpPr>
              <p:nvPr/>
            </p:nvSpPr>
            <p:spPr>
              <a:xfrm>
                <a:off x="4461628" y="4252766"/>
                <a:ext cx="1906548" cy="404983"/>
              </a:xfrm>
              <a:prstGeom prst="rect">
                <a:avLst/>
              </a:prstGeom>
              <a:blipFill rotWithShape="0">
                <a:blip r:embed="rId9"/>
                <a:stretch>
                  <a:fillRect t="-3030" r="-1597" b="-21212"/>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39" name="文本框 38"/>
              <p:cNvSpPr txBox="1"/>
              <p:nvPr/>
            </p:nvSpPr>
            <p:spPr>
              <a:xfrm>
                <a:off x="3775936" y="2305934"/>
                <a:ext cx="3859198" cy="276999"/>
              </a:xfrm>
              <a:prstGeom prst="rect">
                <a:avLst/>
              </a:prstGeom>
              <a:noFill/>
            </p:spPr>
            <p:txBody>
              <a:bodyPr wrap="none" lIns="0" tIns="0" rIns="0" bIns="0" rtlCol="0">
                <a:spAutoFit/>
              </a:bodyPr>
              <a:lstStyle/>
              <a:p>
                <a14:m>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6</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5</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i="1">
                            <a:latin typeface="Cambria Math" panose="02040503050406030204" pitchFamily="18" charset="0"/>
                            <a:ea typeface="Microsoft YaHei" charset="0"/>
                          </a:rPr>
                          <m:t>6</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oMath>
                </a14:m>
                <a:r>
                  <a:rPr lang="en-US" altLang="zh-CN" dirty="0">
                    <a:ea typeface="Microsoft YaHei" charset="0"/>
                  </a:rPr>
                  <a:t>=</a:t>
                </a:r>
                <a14:m>
                  <m:oMath xmlns:m="http://schemas.openxmlformats.org/officeDocument/2006/math">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1</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oMath>
                </a14:m>
                <a:r>
                  <a:rPr lang="en-US" altLang="zh-CN" dirty="0">
                    <a:ea typeface="Microsoft YaHei" charset="0"/>
                  </a:rPr>
                  <a:t>+…+</a:t>
                </a:r>
                <a14:m>
                  <m:oMath xmlns:m="http://schemas.openxmlformats.org/officeDocument/2006/math">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i="1">
                            <a:latin typeface="Cambria Math" panose="02040503050406030204" pitchFamily="18" charset="0"/>
                            <a:ea typeface="Microsoft YaHei" charset="0"/>
                          </a:rPr>
                          <m:t>6</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oMath>
                </a14:m>
                <a:r>
                  <a:rPr lang="en-US" altLang="zh-CN" dirty="0">
                    <a:ea typeface="Microsoft YaHei" charset="0"/>
                  </a:rPr>
                  <a:t>=</a:t>
                </a:r>
                <a:endParaRPr lang="zh-CN" altLang="en-US" dirty="0">
                  <a:ea typeface="Microsoft YaHei" charset="0"/>
                </a:endParaRPr>
              </a:p>
            </p:txBody>
          </p:sp>
        </mc:Choice>
        <mc:Fallback xmlns="">
          <p:sp>
            <p:nvSpPr>
              <p:cNvPr id="39" name="文本框 38"/>
              <p:cNvSpPr txBox="1">
                <a:spLocks noRot="1" noChangeAspect="1" noMove="1" noResize="1" noEditPoints="1" noAdjustHandles="1" noChangeArrowheads="1" noChangeShapeType="1" noTextEdit="1"/>
              </p:cNvSpPr>
              <p:nvPr/>
            </p:nvSpPr>
            <p:spPr>
              <a:xfrm>
                <a:off x="3775936" y="2305934"/>
                <a:ext cx="3859198" cy="276999"/>
              </a:xfrm>
              <a:prstGeom prst="rect">
                <a:avLst/>
              </a:prstGeom>
              <a:blipFill>
                <a:blip r:embed="rId10"/>
                <a:stretch>
                  <a:fillRect l="-3633" t="-30435" r="-41706" b="-10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p:cNvSpPr/>
              <p:nvPr/>
            </p:nvSpPr>
            <p:spPr>
              <a:xfrm>
                <a:off x="4391889" y="5594252"/>
                <a:ext cx="1906548" cy="404983"/>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6</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r>
                      <a:rPr lang="en-US" altLang="zh-CN" i="1">
                        <a:latin typeface="Cambria Math" panose="02040503050406030204" pitchFamily="18" charset="0"/>
                        <a:ea typeface="Microsoft YaHei" charset="0"/>
                      </a:rPr>
                      <m:t>=</m:t>
                    </m:r>
                  </m:oMath>
                </a14:m>
                <a:r>
                  <a:rPr lang="en-US" altLang="zh-CN" dirty="0">
                    <a:ea typeface="Microsoft YaHei" charset="0"/>
                  </a:rPr>
                  <a:t>0.17</a:t>
                </a:r>
                <a:endParaRPr lang="zh-CN" altLang="en-US" dirty="0">
                  <a:ea typeface="Microsoft YaHei" charset="0"/>
                </a:endParaRPr>
              </a:p>
            </p:txBody>
          </p:sp>
        </mc:Choice>
        <mc:Fallback xmlns="">
          <p:sp>
            <p:nvSpPr>
              <p:cNvPr id="40" name="矩形 39"/>
              <p:cNvSpPr>
                <a:spLocks noRot="1" noChangeAspect="1" noMove="1" noResize="1" noEditPoints="1" noAdjustHandles="1" noChangeArrowheads="1" noChangeShapeType="1" noTextEdit="1"/>
              </p:cNvSpPr>
              <p:nvPr/>
            </p:nvSpPr>
            <p:spPr>
              <a:xfrm>
                <a:off x="4391889" y="5594252"/>
                <a:ext cx="1906548" cy="404983"/>
              </a:xfrm>
              <a:prstGeom prst="rect">
                <a:avLst/>
              </a:prstGeom>
              <a:blipFill rotWithShape="0">
                <a:blip r:embed="rId11"/>
                <a:stretch>
                  <a:fillRect t="-3030" r="-1917" b="-21212"/>
                </a:stretch>
              </a:blipFill>
            </p:spPr>
            <p:txBody>
              <a:bodyPr/>
              <a:lstStyle/>
              <a:p>
                <a:r>
                  <a:rPr lang="zh-CN" altLang="en-US">
                    <a:noFill/>
                  </a:rPr>
                  <a:t> </a:t>
                </a:r>
                <a:endParaRPr lang="zh-CN" altLang="en-US">
                  <a:noFill/>
                </a:endParaRPr>
              </a:p>
            </p:txBody>
          </p:sp>
        </mc:Fallback>
      </mc:AlternateContent>
      <p:sp>
        <p:nvSpPr>
          <p:cNvPr id="41" name="椭圆 40"/>
          <p:cNvSpPr/>
          <p:nvPr/>
        </p:nvSpPr>
        <p:spPr>
          <a:xfrm>
            <a:off x="9963985" y="1405204"/>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x&lt;6.5</a:t>
            </a:r>
            <a:endParaRPr lang="zh-CN" altLang="en-US" dirty="0">
              <a:solidFill>
                <a:schemeClr val="bg1"/>
              </a:solidFill>
              <a:ea typeface="Microsoft YaHei" charset="0"/>
            </a:endParaRPr>
          </a:p>
        </p:txBody>
      </p:sp>
      <p:sp>
        <p:nvSpPr>
          <p:cNvPr id="42" name="椭圆 41"/>
          <p:cNvSpPr/>
          <p:nvPr/>
        </p:nvSpPr>
        <p:spPr>
          <a:xfrm>
            <a:off x="9243529" y="2263477"/>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x&lt;4.5</a:t>
            </a:r>
            <a:endParaRPr lang="zh-CN" altLang="en-US" sz="1600" dirty="0">
              <a:solidFill>
                <a:schemeClr val="bg1"/>
              </a:solidFill>
              <a:ea typeface="Microsoft YaHei" charset="0"/>
            </a:endParaRPr>
          </a:p>
        </p:txBody>
      </p:sp>
      <p:sp>
        <p:nvSpPr>
          <p:cNvPr id="43" name="矩形 42"/>
          <p:cNvSpPr/>
          <p:nvPr/>
        </p:nvSpPr>
        <p:spPr>
          <a:xfrm>
            <a:off x="10912570" y="2336649"/>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8.95</a:t>
            </a:r>
            <a:endParaRPr lang="zh-CN" altLang="en-US" sz="2000" dirty="0">
              <a:ea typeface="Microsoft YaHei" charset="0"/>
            </a:endParaRPr>
          </a:p>
        </p:txBody>
      </p:sp>
      <p:cxnSp>
        <p:nvCxnSpPr>
          <p:cNvPr id="44" name="直接连接符 43"/>
          <p:cNvCxnSpPr>
            <a:stCxn id="41" idx="4"/>
            <a:endCxn id="43" idx="0"/>
          </p:cNvCxnSpPr>
          <p:nvPr/>
        </p:nvCxnSpPr>
        <p:spPr>
          <a:xfrm>
            <a:off x="10454020" y="1788381"/>
            <a:ext cx="850436" cy="548268"/>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46" name="椭圆 45"/>
          <p:cNvSpPr/>
          <p:nvPr/>
        </p:nvSpPr>
        <p:spPr>
          <a:xfrm>
            <a:off x="8753494" y="3069620"/>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x&lt;3.5</a:t>
            </a:r>
            <a:endParaRPr lang="zh-CN" altLang="en-US" sz="1600" dirty="0">
              <a:solidFill>
                <a:schemeClr val="bg1"/>
              </a:solidFill>
              <a:ea typeface="Microsoft YaHei" charset="0"/>
            </a:endParaRPr>
          </a:p>
        </p:txBody>
      </p:sp>
      <p:sp>
        <p:nvSpPr>
          <p:cNvPr id="47" name="椭圆 46"/>
          <p:cNvSpPr/>
          <p:nvPr/>
        </p:nvSpPr>
        <p:spPr>
          <a:xfrm>
            <a:off x="8263459" y="3875763"/>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x&lt;2.5</a:t>
            </a:r>
            <a:endParaRPr lang="zh-CN" altLang="en-US" sz="1600" dirty="0">
              <a:solidFill>
                <a:schemeClr val="bg1"/>
              </a:solidFill>
              <a:ea typeface="Microsoft YaHei" charset="0"/>
            </a:endParaRPr>
          </a:p>
        </p:txBody>
      </p:sp>
      <p:cxnSp>
        <p:nvCxnSpPr>
          <p:cNvPr id="49" name="直接连接符 48"/>
          <p:cNvCxnSpPr>
            <a:stCxn id="41" idx="4"/>
            <a:endCxn id="42" idx="0"/>
          </p:cNvCxnSpPr>
          <p:nvPr/>
        </p:nvCxnSpPr>
        <p:spPr>
          <a:xfrm flipH="1">
            <a:off x="9733564" y="1788381"/>
            <a:ext cx="720456" cy="475096"/>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42" idx="4"/>
            <a:endCxn id="46" idx="0"/>
          </p:cNvCxnSpPr>
          <p:nvPr/>
        </p:nvCxnSpPr>
        <p:spPr>
          <a:xfrm flipH="1">
            <a:off x="9243529" y="2646654"/>
            <a:ext cx="490035" cy="422966"/>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46" idx="4"/>
            <a:endCxn id="47" idx="0"/>
          </p:cNvCxnSpPr>
          <p:nvPr/>
        </p:nvCxnSpPr>
        <p:spPr>
          <a:xfrm flipH="1">
            <a:off x="8753494" y="3452797"/>
            <a:ext cx="490035" cy="422966"/>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7773425" y="4608041"/>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5.63</a:t>
            </a:r>
            <a:endParaRPr lang="zh-CN" altLang="en-US" sz="2000" dirty="0">
              <a:ea typeface="Microsoft YaHei" charset="0"/>
            </a:endParaRPr>
          </a:p>
        </p:txBody>
      </p:sp>
      <p:cxnSp>
        <p:nvCxnSpPr>
          <p:cNvPr id="55" name="直接连接符 54"/>
          <p:cNvCxnSpPr>
            <a:stCxn id="47" idx="4"/>
            <a:endCxn id="54" idx="0"/>
          </p:cNvCxnSpPr>
          <p:nvPr/>
        </p:nvCxnSpPr>
        <p:spPr>
          <a:xfrm flipH="1">
            <a:off x="8165311" y="4258940"/>
            <a:ext cx="588183" cy="349101"/>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10062135" y="3151201"/>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6.83</a:t>
            </a:r>
            <a:endParaRPr lang="zh-CN" altLang="en-US" sz="2000" dirty="0">
              <a:ea typeface="Microsoft YaHei" charset="0"/>
            </a:endParaRPr>
          </a:p>
        </p:txBody>
      </p:sp>
      <p:cxnSp>
        <p:nvCxnSpPr>
          <p:cNvPr id="59" name="直接连接符 58"/>
          <p:cNvCxnSpPr>
            <a:stCxn id="42" idx="4"/>
            <a:endCxn id="58" idx="0"/>
          </p:cNvCxnSpPr>
          <p:nvPr/>
        </p:nvCxnSpPr>
        <p:spPr>
          <a:xfrm>
            <a:off x="9733564" y="2646654"/>
            <a:ext cx="720457" cy="504547"/>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9488545" y="3953348"/>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6.56</a:t>
            </a:r>
            <a:endParaRPr lang="zh-CN" altLang="en-US" sz="2000" dirty="0">
              <a:ea typeface="Microsoft YaHei" charset="0"/>
            </a:endParaRPr>
          </a:p>
        </p:txBody>
      </p:sp>
      <p:cxnSp>
        <p:nvCxnSpPr>
          <p:cNvPr id="62" name="直接连接符 61"/>
          <p:cNvCxnSpPr>
            <a:stCxn id="46" idx="4"/>
            <a:endCxn id="61" idx="0"/>
          </p:cNvCxnSpPr>
          <p:nvPr/>
        </p:nvCxnSpPr>
        <p:spPr>
          <a:xfrm>
            <a:off x="9243529" y="3452797"/>
            <a:ext cx="636902" cy="500551"/>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9096660" y="4608041"/>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5.82</a:t>
            </a:r>
            <a:endParaRPr lang="zh-CN" altLang="en-US" sz="2000" dirty="0">
              <a:ea typeface="Microsoft YaHei" charset="0"/>
            </a:endParaRPr>
          </a:p>
        </p:txBody>
      </p:sp>
      <p:cxnSp>
        <p:nvCxnSpPr>
          <p:cNvPr id="66" name="直接连接符 65"/>
          <p:cNvCxnSpPr>
            <a:stCxn id="47" idx="4"/>
            <a:endCxn id="65" idx="0"/>
          </p:cNvCxnSpPr>
          <p:nvPr/>
        </p:nvCxnSpPr>
        <p:spPr>
          <a:xfrm>
            <a:off x="8753494" y="4258940"/>
            <a:ext cx="735052" cy="349101"/>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68"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Rectangle 2">
            <a:extLst>
              <a:ext uri="{FF2B5EF4-FFF2-40B4-BE49-F238E27FC236}">
                <a16:creationId xmlns:a16="http://schemas.microsoft.com/office/drawing/2014/main" id="{6935B691-747E-489D-9677-A34880A35B94}"/>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GBDT</a:t>
            </a:r>
            <a:r>
              <a:rPr lang="zh-CN" altLang="en-US" dirty="0">
                <a:solidFill>
                  <a:schemeClr val="tx1"/>
                </a:solidFill>
              </a:rPr>
              <a:t>算法</a:t>
            </a:r>
          </a:p>
        </p:txBody>
      </p:sp>
    </p:spTree>
    <p:extLst>
      <p:ext uri="{BB962C8B-B14F-4D97-AF65-F5344CB8AC3E}">
        <p14:creationId xmlns:p14="http://schemas.microsoft.com/office/powerpoint/2010/main" val="362048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p:cTn id="37" dur="500" fill="hold"/>
                                        <p:tgtEl>
                                          <p:spTgt spid="36"/>
                                        </p:tgtEl>
                                        <p:attrNameLst>
                                          <p:attrName>ppt_w</p:attrName>
                                        </p:attrNameLst>
                                      </p:cBhvr>
                                      <p:tavLst>
                                        <p:tav tm="0">
                                          <p:val>
                                            <p:fltVal val="0"/>
                                          </p:val>
                                        </p:tav>
                                        <p:tav tm="100000">
                                          <p:val>
                                            <p:strVal val="#ppt_w"/>
                                          </p:val>
                                        </p:tav>
                                      </p:tavLst>
                                    </p:anim>
                                    <p:anim calcmode="lin" valueType="num">
                                      <p:cBhvr>
                                        <p:cTn id="38" dur="500" fill="hold"/>
                                        <p:tgtEl>
                                          <p:spTgt spid="36"/>
                                        </p:tgtEl>
                                        <p:attrNameLst>
                                          <p:attrName>ppt_h</p:attrName>
                                        </p:attrNameLst>
                                      </p:cBhvr>
                                      <p:tavLst>
                                        <p:tav tm="0">
                                          <p:val>
                                            <p:fltVal val="0"/>
                                          </p:val>
                                        </p:tav>
                                        <p:tav tm="100000">
                                          <p:val>
                                            <p:strVal val="#ppt_h"/>
                                          </p:val>
                                        </p:tav>
                                      </p:tavLst>
                                    </p:anim>
                                    <p:animEffect transition="in" filter="fade">
                                      <p:cBhvr>
                                        <p:cTn id="39" dur="500"/>
                                        <p:tgtEl>
                                          <p:spTgt spid="36"/>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p:cTn id="44" dur="500" fill="hold"/>
                                        <p:tgtEl>
                                          <p:spTgt spid="17"/>
                                        </p:tgtEl>
                                        <p:attrNameLst>
                                          <p:attrName>ppt_w</p:attrName>
                                        </p:attrNameLst>
                                      </p:cBhvr>
                                      <p:tavLst>
                                        <p:tav tm="0">
                                          <p:val>
                                            <p:fltVal val="0"/>
                                          </p:val>
                                        </p:tav>
                                        <p:tav tm="100000">
                                          <p:val>
                                            <p:strVal val="#ppt_w"/>
                                          </p:val>
                                        </p:tav>
                                      </p:tavLst>
                                    </p:anim>
                                    <p:anim calcmode="lin" valueType="num">
                                      <p:cBhvr>
                                        <p:cTn id="45" dur="500" fill="hold"/>
                                        <p:tgtEl>
                                          <p:spTgt spid="17"/>
                                        </p:tgtEl>
                                        <p:attrNameLst>
                                          <p:attrName>ppt_h</p:attrName>
                                        </p:attrNameLst>
                                      </p:cBhvr>
                                      <p:tavLst>
                                        <p:tav tm="0">
                                          <p:val>
                                            <p:fltVal val="0"/>
                                          </p:val>
                                        </p:tav>
                                        <p:tav tm="100000">
                                          <p:val>
                                            <p:strVal val="#ppt_h"/>
                                          </p:val>
                                        </p:tav>
                                      </p:tavLst>
                                    </p:anim>
                                    <p:animEffect transition="in" filter="fade">
                                      <p:cBhvr>
                                        <p:cTn id="46" dur="500"/>
                                        <p:tgtEl>
                                          <p:spTgt spid="17"/>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p:cTn id="49" dur="500" fill="hold"/>
                                        <p:tgtEl>
                                          <p:spTgt spid="18"/>
                                        </p:tgtEl>
                                        <p:attrNameLst>
                                          <p:attrName>ppt_w</p:attrName>
                                        </p:attrNameLst>
                                      </p:cBhvr>
                                      <p:tavLst>
                                        <p:tav tm="0">
                                          <p:val>
                                            <p:fltVal val="0"/>
                                          </p:val>
                                        </p:tav>
                                        <p:tav tm="100000">
                                          <p:val>
                                            <p:strVal val="#ppt_w"/>
                                          </p:val>
                                        </p:tav>
                                      </p:tavLst>
                                    </p:anim>
                                    <p:anim calcmode="lin" valueType="num">
                                      <p:cBhvr>
                                        <p:cTn id="50" dur="500" fill="hold"/>
                                        <p:tgtEl>
                                          <p:spTgt spid="18"/>
                                        </p:tgtEl>
                                        <p:attrNameLst>
                                          <p:attrName>ppt_h</p:attrName>
                                        </p:attrNameLst>
                                      </p:cBhvr>
                                      <p:tavLst>
                                        <p:tav tm="0">
                                          <p:val>
                                            <p:fltVal val="0"/>
                                          </p:val>
                                        </p:tav>
                                        <p:tav tm="100000">
                                          <p:val>
                                            <p:strVal val="#ppt_h"/>
                                          </p:val>
                                        </p:tav>
                                      </p:tavLst>
                                    </p:anim>
                                    <p:animEffect transition="in" filter="fade">
                                      <p:cBhvr>
                                        <p:cTn id="51" dur="500"/>
                                        <p:tgtEl>
                                          <p:spTgt spid="18"/>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00" fill="hold"/>
                                        <p:tgtEl>
                                          <p:spTgt spid="19"/>
                                        </p:tgtEl>
                                        <p:attrNameLst>
                                          <p:attrName>ppt_w</p:attrName>
                                        </p:attrNameLst>
                                      </p:cBhvr>
                                      <p:tavLst>
                                        <p:tav tm="0">
                                          <p:val>
                                            <p:fltVal val="0"/>
                                          </p:val>
                                        </p:tav>
                                        <p:tav tm="100000">
                                          <p:val>
                                            <p:strVal val="#ppt_w"/>
                                          </p:val>
                                        </p:tav>
                                      </p:tavLst>
                                    </p:anim>
                                    <p:anim calcmode="lin" valueType="num">
                                      <p:cBhvr>
                                        <p:cTn id="55" dur="500" fill="hold"/>
                                        <p:tgtEl>
                                          <p:spTgt spid="19"/>
                                        </p:tgtEl>
                                        <p:attrNameLst>
                                          <p:attrName>ppt_h</p:attrName>
                                        </p:attrNameLst>
                                      </p:cBhvr>
                                      <p:tavLst>
                                        <p:tav tm="0">
                                          <p:val>
                                            <p:fltVal val="0"/>
                                          </p:val>
                                        </p:tav>
                                        <p:tav tm="100000">
                                          <p:val>
                                            <p:strVal val="#ppt_h"/>
                                          </p:val>
                                        </p:tav>
                                      </p:tavLst>
                                    </p:anim>
                                    <p:animEffect transition="in" filter="fade">
                                      <p:cBhvr>
                                        <p:cTn id="56" dur="500"/>
                                        <p:tgtEl>
                                          <p:spTgt spid="19"/>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p:cTn id="59" dur="500" fill="hold"/>
                                        <p:tgtEl>
                                          <p:spTgt spid="20"/>
                                        </p:tgtEl>
                                        <p:attrNameLst>
                                          <p:attrName>ppt_w</p:attrName>
                                        </p:attrNameLst>
                                      </p:cBhvr>
                                      <p:tavLst>
                                        <p:tav tm="0">
                                          <p:val>
                                            <p:fltVal val="0"/>
                                          </p:val>
                                        </p:tav>
                                        <p:tav tm="100000">
                                          <p:val>
                                            <p:strVal val="#ppt_w"/>
                                          </p:val>
                                        </p:tav>
                                      </p:tavLst>
                                    </p:anim>
                                    <p:anim calcmode="lin" valueType="num">
                                      <p:cBhvr>
                                        <p:cTn id="60" dur="500" fill="hold"/>
                                        <p:tgtEl>
                                          <p:spTgt spid="20"/>
                                        </p:tgtEl>
                                        <p:attrNameLst>
                                          <p:attrName>ppt_h</p:attrName>
                                        </p:attrNameLst>
                                      </p:cBhvr>
                                      <p:tavLst>
                                        <p:tav tm="0">
                                          <p:val>
                                            <p:fltVal val="0"/>
                                          </p:val>
                                        </p:tav>
                                        <p:tav tm="100000">
                                          <p:val>
                                            <p:strVal val="#ppt_h"/>
                                          </p:val>
                                        </p:tav>
                                      </p:tavLst>
                                    </p:anim>
                                    <p:animEffect transition="in" filter="fade">
                                      <p:cBhvr>
                                        <p:cTn id="61" dur="500"/>
                                        <p:tgtEl>
                                          <p:spTgt spid="20"/>
                                        </p:tgtEl>
                                      </p:cBhvr>
                                    </p:animEffect>
                                  </p:childTnLst>
                                </p:cTn>
                              </p:par>
                              <p:par>
                                <p:cTn id="62" presetID="53" presetClass="entr" presetSubtype="16"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 calcmode="lin" valueType="num">
                                      <p:cBhvr>
                                        <p:cTn id="64" dur="500" fill="hold"/>
                                        <p:tgtEl>
                                          <p:spTgt spid="21"/>
                                        </p:tgtEl>
                                        <p:attrNameLst>
                                          <p:attrName>ppt_w</p:attrName>
                                        </p:attrNameLst>
                                      </p:cBhvr>
                                      <p:tavLst>
                                        <p:tav tm="0">
                                          <p:val>
                                            <p:fltVal val="0"/>
                                          </p:val>
                                        </p:tav>
                                        <p:tav tm="100000">
                                          <p:val>
                                            <p:strVal val="#ppt_w"/>
                                          </p:val>
                                        </p:tav>
                                      </p:tavLst>
                                    </p:anim>
                                    <p:anim calcmode="lin" valueType="num">
                                      <p:cBhvr>
                                        <p:cTn id="65" dur="500" fill="hold"/>
                                        <p:tgtEl>
                                          <p:spTgt spid="21"/>
                                        </p:tgtEl>
                                        <p:attrNameLst>
                                          <p:attrName>ppt_h</p:attrName>
                                        </p:attrNameLst>
                                      </p:cBhvr>
                                      <p:tavLst>
                                        <p:tav tm="0">
                                          <p:val>
                                            <p:fltVal val="0"/>
                                          </p:val>
                                        </p:tav>
                                        <p:tav tm="100000">
                                          <p:val>
                                            <p:strVal val="#ppt_h"/>
                                          </p:val>
                                        </p:tav>
                                      </p:tavLst>
                                    </p:anim>
                                    <p:animEffect transition="in" filter="fade">
                                      <p:cBhvr>
                                        <p:cTn id="66" dur="500"/>
                                        <p:tgtEl>
                                          <p:spTgt spid="21"/>
                                        </p:tgtEl>
                                      </p:cBhvr>
                                    </p:animEffect>
                                  </p:childTnLst>
                                </p:cTn>
                              </p:par>
                              <p:par>
                                <p:cTn id="67" presetID="53" presetClass="entr" presetSubtype="16"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p:cTn id="69" dur="500" fill="hold"/>
                                        <p:tgtEl>
                                          <p:spTgt spid="22"/>
                                        </p:tgtEl>
                                        <p:attrNameLst>
                                          <p:attrName>ppt_w</p:attrName>
                                        </p:attrNameLst>
                                      </p:cBhvr>
                                      <p:tavLst>
                                        <p:tav tm="0">
                                          <p:val>
                                            <p:fltVal val="0"/>
                                          </p:val>
                                        </p:tav>
                                        <p:tav tm="100000">
                                          <p:val>
                                            <p:strVal val="#ppt_w"/>
                                          </p:val>
                                        </p:tav>
                                      </p:tavLst>
                                    </p:anim>
                                    <p:anim calcmode="lin" valueType="num">
                                      <p:cBhvr>
                                        <p:cTn id="70" dur="500" fill="hold"/>
                                        <p:tgtEl>
                                          <p:spTgt spid="22"/>
                                        </p:tgtEl>
                                        <p:attrNameLst>
                                          <p:attrName>ppt_h</p:attrName>
                                        </p:attrNameLst>
                                      </p:cBhvr>
                                      <p:tavLst>
                                        <p:tav tm="0">
                                          <p:val>
                                            <p:fltVal val="0"/>
                                          </p:val>
                                        </p:tav>
                                        <p:tav tm="100000">
                                          <p:val>
                                            <p:strVal val="#ppt_h"/>
                                          </p:val>
                                        </p:tav>
                                      </p:tavLst>
                                    </p:anim>
                                    <p:animEffect transition="in" filter="fade">
                                      <p:cBhvr>
                                        <p:cTn id="71" dur="500"/>
                                        <p:tgtEl>
                                          <p:spTgt spid="22"/>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37"/>
                                        </p:tgtEl>
                                        <p:attrNameLst>
                                          <p:attrName>style.visibility</p:attrName>
                                        </p:attrNameLst>
                                      </p:cBhvr>
                                      <p:to>
                                        <p:strVal val="visible"/>
                                      </p:to>
                                    </p:set>
                                    <p:anim calcmode="lin" valueType="num">
                                      <p:cBhvr>
                                        <p:cTn id="74" dur="500" fill="hold"/>
                                        <p:tgtEl>
                                          <p:spTgt spid="37"/>
                                        </p:tgtEl>
                                        <p:attrNameLst>
                                          <p:attrName>ppt_w</p:attrName>
                                        </p:attrNameLst>
                                      </p:cBhvr>
                                      <p:tavLst>
                                        <p:tav tm="0">
                                          <p:val>
                                            <p:fltVal val="0"/>
                                          </p:val>
                                        </p:tav>
                                        <p:tav tm="100000">
                                          <p:val>
                                            <p:strVal val="#ppt_w"/>
                                          </p:val>
                                        </p:tav>
                                      </p:tavLst>
                                    </p:anim>
                                    <p:anim calcmode="lin" valueType="num">
                                      <p:cBhvr>
                                        <p:cTn id="75" dur="500" fill="hold"/>
                                        <p:tgtEl>
                                          <p:spTgt spid="37"/>
                                        </p:tgtEl>
                                        <p:attrNameLst>
                                          <p:attrName>ppt_h</p:attrName>
                                        </p:attrNameLst>
                                      </p:cBhvr>
                                      <p:tavLst>
                                        <p:tav tm="0">
                                          <p:val>
                                            <p:fltVal val="0"/>
                                          </p:val>
                                        </p:tav>
                                        <p:tav tm="100000">
                                          <p:val>
                                            <p:strVal val="#ppt_h"/>
                                          </p:val>
                                        </p:tav>
                                      </p:tavLst>
                                    </p:anim>
                                    <p:animEffect transition="in" filter="fade">
                                      <p:cBhvr>
                                        <p:cTn id="76" dur="500"/>
                                        <p:tgtEl>
                                          <p:spTgt spid="37"/>
                                        </p:tgtEl>
                                      </p:cBhvr>
                                    </p:animEffect>
                                  </p:childTnLst>
                                </p:cTn>
                              </p:par>
                            </p:childTnLst>
                          </p:cTn>
                        </p:par>
                      </p:childTnLst>
                    </p:cTn>
                  </p:par>
                  <p:par>
                    <p:cTn id="77" fill="hold">
                      <p:stCondLst>
                        <p:cond delay="indefinite"/>
                      </p:stCondLst>
                      <p:childTnLst>
                        <p:par>
                          <p:cTn id="78" fill="hold">
                            <p:stCondLst>
                              <p:cond delay="0"/>
                            </p:stCondLst>
                            <p:childTnLst>
                              <p:par>
                                <p:cTn id="79" presetID="53" presetClass="entr" presetSubtype="16" fill="hold" grpId="0" nodeType="clickEffect">
                                  <p:stCondLst>
                                    <p:cond delay="0"/>
                                  </p:stCondLst>
                                  <p:childTnLst>
                                    <p:set>
                                      <p:cBhvr>
                                        <p:cTn id="80" dur="1" fill="hold">
                                          <p:stCondLst>
                                            <p:cond delay="0"/>
                                          </p:stCondLst>
                                        </p:cTn>
                                        <p:tgtEl>
                                          <p:spTgt spid="23"/>
                                        </p:tgtEl>
                                        <p:attrNameLst>
                                          <p:attrName>style.visibility</p:attrName>
                                        </p:attrNameLst>
                                      </p:cBhvr>
                                      <p:to>
                                        <p:strVal val="visible"/>
                                      </p:to>
                                    </p:set>
                                    <p:anim calcmode="lin" valueType="num">
                                      <p:cBhvr>
                                        <p:cTn id="81" dur="500" fill="hold"/>
                                        <p:tgtEl>
                                          <p:spTgt spid="23"/>
                                        </p:tgtEl>
                                        <p:attrNameLst>
                                          <p:attrName>ppt_w</p:attrName>
                                        </p:attrNameLst>
                                      </p:cBhvr>
                                      <p:tavLst>
                                        <p:tav tm="0">
                                          <p:val>
                                            <p:fltVal val="0"/>
                                          </p:val>
                                        </p:tav>
                                        <p:tav tm="100000">
                                          <p:val>
                                            <p:strVal val="#ppt_w"/>
                                          </p:val>
                                        </p:tav>
                                      </p:tavLst>
                                    </p:anim>
                                    <p:anim calcmode="lin" valueType="num">
                                      <p:cBhvr>
                                        <p:cTn id="82" dur="500" fill="hold"/>
                                        <p:tgtEl>
                                          <p:spTgt spid="23"/>
                                        </p:tgtEl>
                                        <p:attrNameLst>
                                          <p:attrName>ppt_h</p:attrName>
                                        </p:attrNameLst>
                                      </p:cBhvr>
                                      <p:tavLst>
                                        <p:tav tm="0">
                                          <p:val>
                                            <p:fltVal val="0"/>
                                          </p:val>
                                        </p:tav>
                                        <p:tav tm="100000">
                                          <p:val>
                                            <p:strVal val="#ppt_h"/>
                                          </p:val>
                                        </p:tav>
                                      </p:tavLst>
                                    </p:anim>
                                    <p:animEffect transition="in" filter="fade">
                                      <p:cBhvr>
                                        <p:cTn id="83" dur="500"/>
                                        <p:tgtEl>
                                          <p:spTgt spid="23"/>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24"/>
                                        </p:tgtEl>
                                        <p:attrNameLst>
                                          <p:attrName>style.visibility</p:attrName>
                                        </p:attrNameLst>
                                      </p:cBhvr>
                                      <p:to>
                                        <p:strVal val="visible"/>
                                      </p:to>
                                    </p:set>
                                    <p:anim calcmode="lin" valueType="num">
                                      <p:cBhvr>
                                        <p:cTn id="86" dur="500" fill="hold"/>
                                        <p:tgtEl>
                                          <p:spTgt spid="24"/>
                                        </p:tgtEl>
                                        <p:attrNameLst>
                                          <p:attrName>ppt_w</p:attrName>
                                        </p:attrNameLst>
                                      </p:cBhvr>
                                      <p:tavLst>
                                        <p:tav tm="0">
                                          <p:val>
                                            <p:fltVal val="0"/>
                                          </p:val>
                                        </p:tav>
                                        <p:tav tm="100000">
                                          <p:val>
                                            <p:strVal val="#ppt_w"/>
                                          </p:val>
                                        </p:tav>
                                      </p:tavLst>
                                    </p:anim>
                                    <p:anim calcmode="lin" valueType="num">
                                      <p:cBhvr>
                                        <p:cTn id="87" dur="500" fill="hold"/>
                                        <p:tgtEl>
                                          <p:spTgt spid="24"/>
                                        </p:tgtEl>
                                        <p:attrNameLst>
                                          <p:attrName>ppt_h</p:attrName>
                                        </p:attrNameLst>
                                      </p:cBhvr>
                                      <p:tavLst>
                                        <p:tav tm="0">
                                          <p:val>
                                            <p:fltVal val="0"/>
                                          </p:val>
                                        </p:tav>
                                        <p:tav tm="100000">
                                          <p:val>
                                            <p:strVal val="#ppt_h"/>
                                          </p:val>
                                        </p:tav>
                                      </p:tavLst>
                                    </p:anim>
                                    <p:animEffect transition="in" filter="fade">
                                      <p:cBhvr>
                                        <p:cTn id="88" dur="500"/>
                                        <p:tgtEl>
                                          <p:spTgt spid="24"/>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25"/>
                                        </p:tgtEl>
                                        <p:attrNameLst>
                                          <p:attrName>style.visibility</p:attrName>
                                        </p:attrNameLst>
                                      </p:cBhvr>
                                      <p:to>
                                        <p:strVal val="visible"/>
                                      </p:to>
                                    </p:set>
                                    <p:anim calcmode="lin" valueType="num">
                                      <p:cBhvr>
                                        <p:cTn id="91" dur="500" fill="hold"/>
                                        <p:tgtEl>
                                          <p:spTgt spid="25"/>
                                        </p:tgtEl>
                                        <p:attrNameLst>
                                          <p:attrName>ppt_w</p:attrName>
                                        </p:attrNameLst>
                                      </p:cBhvr>
                                      <p:tavLst>
                                        <p:tav tm="0">
                                          <p:val>
                                            <p:fltVal val="0"/>
                                          </p:val>
                                        </p:tav>
                                        <p:tav tm="100000">
                                          <p:val>
                                            <p:strVal val="#ppt_w"/>
                                          </p:val>
                                        </p:tav>
                                      </p:tavLst>
                                    </p:anim>
                                    <p:anim calcmode="lin" valueType="num">
                                      <p:cBhvr>
                                        <p:cTn id="92" dur="500" fill="hold"/>
                                        <p:tgtEl>
                                          <p:spTgt spid="25"/>
                                        </p:tgtEl>
                                        <p:attrNameLst>
                                          <p:attrName>ppt_h</p:attrName>
                                        </p:attrNameLst>
                                      </p:cBhvr>
                                      <p:tavLst>
                                        <p:tav tm="0">
                                          <p:val>
                                            <p:fltVal val="0"/>
                                          </p:val>
                                        </p:tav>
                                        <p:tav tm="100000">
                                          <p:val>
                                            <p:strVal val="#ppt_h"/>
                                          </p:val>
                                        </p:tav>
                                      </p:tavLst>
                                    </p:anim>
                                    <p:animEffect transition="in" filter="fade">
                                      <p:cBhvr>
                                        <p:cTn id="93" dur="500"/>
                                        <p:tgtEl>
                                          <p:spTgt spid="25"/>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26"/>
                                        </p:tgtEl>
                                        <p:attrNameLst>
                                          <p:attrName>style.visibility</p:attrName>
                                        </p:attrNameLst>
                                      </p:cBhvr>
                                      <p:to>
                                        <p:strVal val="visible"/>
                                      </p:to>
                                    </p:set>
                                    <p:anim calcmode="lin" valueType="num">
                                      <p:cBhvr>
                                        <p:cTn id="96" dur="500" fill="hold"/>
                                        <p:tgtEl>
                                          <p:spTgt spid="26"/>
                                        </p:tgtEl>
                                        <p:attrNameLst>
                                          <p:attrName>ppt_w</p:attrName>
                                        </p:attrNameLst>
                                      </p:cBhvr>
                                      <p:tavLst>
                                        <p:tav tm="0">
                                          <p:val>
                                            <p:fltVal val="0"/>
                                          </p:val>
                                        </p:tav>
                                        <p:tav tm="100000">
                                          <p:val>
                                            <p:strVal val="#ppt_w"/>
                                          </p:val>
                                        </p:tav>
                                      </p:tavLst>
                                    </p:anim>
                                    <p:anim calcmode="lin" valueType="num">
                                      <p:cBhvr>
                                        <p:cTn id="97" dur="500" fill="hold"/>
                                        <p:tgtEl>
                                          <p:spTgt spid="26"/>
                                        </p:tgtEl>
                                        <p:attrNameLst>
                                          <p:attrName>ppt_h</p:attrName>
                                        </p:attrNameLst>
                                      </p:cBhvr>
                                      <p:tavLst>
                                        <p:tav tm="0">
                                          <p:val>
                                            <p:fltVal val="0"/>
                                          </p:val>
                                        </p:tav>
                                        <p:tav tm="100000">
                                          <p:val>
                                            <p:strVal val="#ppt_h"/>
                                          </p:val>
                                        </p:tav>
                                      </p:tavLst>
                                    </p:anim>
                                    <p:animEffect transition="in" filter="fade">
                                      <p:cBhvr>
                                        <p:cTn id="98" dur="500"/>
                                        <p:tgtEl>
                                          <p:spTgt spid="26"/>
                                        </p:tgtEl>
                                      </p:cBhvr>
                                    </p:animEffect>
                                  </p:childTnLst>
                                </p:cTn>
                              </p:par>
                              <p:par>
                                <p:cTn id="99" presetID="53" presetClass="entr" presetSubtype="16" fill="hold" nodeType="withEffect">
                                  <p:stCondLst>
                                    <p:cond delay="0"/>
                                  </p:stCondLst>
                                  <p:childTnLst>
                                    <p:set>
                                      <p:cBhvr>
                                        <p:cTn id="100" dur="1" fill="hold">
                                          <p:stCondLst>
                                            <p:cond delay="0"/>
                                          </p:stCondLst>
                                        </p:cTn>
                                        <p:tgtEl>
                                          <p:spTgt spid="27"/>
                                        </p:tgtEl>
                                        <p:attrNameLst>
                                          <p:attrName>style.visibility</p:attrName>
                                        </p:attrNameLst>
                                      </p:cBhvr>
                                      <p:to>
                                        <p:strVal val="visible"/>
                                      </p:to>
                                    </p:set>
                                    <p:anim calcmode="lin" valueType="num">
                                      <p:cBhvr>
                                        <p:cTn id="101" dur="500" fill="hold"/>
                                        <p:tgtEl>
                                          <p:spTgt spid="27"/>
                                        </p:tgtEl>
                                        <p:attrNameLst>
                                          <p:attrName>ppt_w</p:attrName>
                                        </p:attrNameLst>
                                      </p:cBhvr>
                                      <p:tavLst>
                                        <p:tav tm="0">
                                          <p:val>
                                            <p:fltVal val="0"/>
                                          </p:val>
                                        </p:tav>
                                        <p:tav tm="100000">
                                          <p:val>
                                            <p:strVal val="#ppt_w"/>
                                          </p:val>
                                        </p:tav>
                                      </p:tavLst>
                                    </p:anim>
                                    <p:anim calcmode="lin" valueType="num">
                                      <p:cBhvr>
                                        <p:cTn id="102" dur="500" fill="hold"/>
                                        <p:tgtEl>
                                          <p:spTgt spid="27"/>
                                        </p:tgtEl>
                                        <p:attrNameLst>
                                          <p:attrName>ppt_h</p:attrName>
                                        </p:attrNameLst>
                                      </p:cBhvr>
                                      <p:tavLst>
                                        <p:tav tm="0">
                                          <p:val>
                                            <p:fltVal val="0"/>
                                          </p:val>
                                        </p:tav>
                                        <p:tav tm="100000">
                                          <p:val>
                                            <p:strVal val="#ppt_h"/>
                                          </p:val>
                                        </p:tav>
                                      </p:tavLst>
                                    </p:anim>
                                    <p:animEffect transition="in" filter="fade">
                                      <p:cBhvr>
                                        <p:cTn id="103" dur="500"/>
                                        <p:tgtEl>
                                          <p:spTgt spid="27"/>
                                        </p:tgtEl>
                                      </p:cBhvr>
                                    </p:animEffect>
                                  </p:childTnLst>
                                </p:cTn>
                              </p:par>
                              <p:par>
                                <p:cTn id="104" presetID="53" presetClass="entr" presetSubtype="16" fill="hold" nodeType="withEffect">
                                  <p:stCondLst>
                                    <p:cond delay="0"/>
                                  </p:stCondLst>
                                  <p:childTnLst>
                                    <p:set>
                                      <p:cBhvr>
                                        <p:cTn id="105" dur="1" fill="hold">
                                          <p:stCondLst>
                                            <p:cond delay="0"/>
                                          </p:stCondLst>
                                        </p:cTn>
                                        <p:tgtEl>
                                          <p:spTgt spid="28"/>
                                        </p:tgtEl>
                                        <p:attrNameLst>
                                          <p:attrName>style.visibility</p:attrName>
                                        </p:attrNameLst>
                                      </p:cBhvr>
                                      <p:to>
                                        <p:strVal val="visible"/>
                                      </p:to>
                                    </p:set>
                                    <p:anim calcmode="lin" valueType="num">
                                      <p:cBhvr>
                                        <p:cTn id="106" dur="500" fill="hold"/>
                                        <p:tgtEl>
                                          <p:spTgt spid="28"/>
                                        </p:tgtEl>
                                        <p:attrNameLst>
                                          <p:attrName>ppt_w</p:attrName>
                                        </p:attrNameLst>
                                      </p:cBhvr>
                                      <p:tavLst>
                                        <p:tav tm="0">
                                          <p:val>
                                            <p:fltVal val="0"/>
                                          </p:val>
                                        </p:tav>
                                        <p:tav tm="100000">
                                          <p:val>
                                            <p:strVal val="#ppt_w"/>
                                          </p:val>
                                        </p:tav>
                                      </p:tavLst>
                                    </p:anim>
                                    <p:anim calcmode="lin" valueType="num">
                                      <p:cBhvr>
                                        <p:cTn id="107" dur="500" fill="hold"/>
                                        <p:tgtEl>
                                          <p:spTgt spid="28"/>
                                        </p:tgtEl>
                                        <p:attrNameLst>
                                          <p:attrName>ppt_h</p:attrName>
                                        </p:attrNameLst>
                                      </p:cBhvr>
                                      <p:tavLst>
                                        <p:tav tm="0">
                                          <p:val>
                                            <p:fltVal val="0"/>
                                          </p:val>
                                        </p:tav>
                                        <p:tav tm="100000">
                                          <p:val>
                                            <p:strVal val="#ppt_h"/>
                                          </p:val>
                                        </p:tav>
                                      </p:tavLst>
                                    </p:anim>
                                    <p:animEffect transition="in" filter="fade">
                                      <p:cBhvr>
                                        <p:cTn id="108" dur="500"/>
                                        <p:tgtEl>
                                          <p:spTgt spid="28"/>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 calcmode="lin" valueType="num">
                                      <p:cBhvr>
                                        <p:cTn id="111" dur="500" fill="hold"/>
                                        <p:tgtEl>
                                          <p:spTgt spid="38"/>
                                        </p:tgtEl>
                                        <p:attrNameLst>
                                          <p:attrName>ppt_w</p:attrName>
                                        </p:attrNameLst>
                                      </p:cBhvr>
                                      <p:tavLst>
                                        <p:tav tm="0">
                                          <p:val>
                                            <p:fltVal val="0"/>
                                          </p:val>
                                        </p:tav>
                                        <p:tav tm="100000">
                                          <p:val>
                                            <p:strVal val="#ppt_w"/>
                                          </p:val>
                                        </p:tav>
                                      </p:tavLst>
                                    </p:anim>
                                    <p:anim calcmode="lin" valueType="num">
                                      <p:cBhvr>
                                        <p:cTn id="112" dur="500" fill="hold"/>
                                        <p:tgtEl>
                                          <p:spTgt spid="38"/>
                                        </p:tgtEl>
                                        <p:attrNameLst>
                                          <p:attrName>ppt_h</p:attrName>
                                        </p:attrNameLst>
                                      </p:cBhvr>
                                      <p:tavLst>
                                        <p:tav tm="0">
                                          <p:val>
                                            <p:fltVal val="0"/>
                                          </p:val>
                                        </p:tav>
                                        <p:tav tm="100000">
                                          <p:val>
                                            <p:strVal val="#ppt_h"/>
                                          </p:val>
                                        </p:tav>
                                      </p:tavLst>
                                    </p:anim>
                                    <p:animEffect transition="in" filter="fade">
                                      <p:cBhvr>
                                        <p:cTn id="113" dur="500"/>
                                        <p:tgtEl>
                                          <p:spTgt spid="38"/>
                                        </p:tgtEl>
                                      </p:cBhvr>
                                    </p:animEffect>
                                  </p:childTnLst>
                                </p:cTn>
                              </p:par>
                            </p:childTnLst>
                          </p:cTn>
                        </p:par>
                      </p:childTnLst>
                    </p:cTn>
                  </p:par>
                  <p:par>
                    <p:cTn id="114" fill="hold">
                      <p:stCondLst>
                        <p:cond delay="indefinite"/>
                      </p:stCondLst>
                      <p:childTnLst>
                        <p:par>
                          <p:cTn id="115" fill="hold">
                            <p:stCondLst>
                              <p:cond delay="0"/>
                            </p:stCondLst>
                            <p:childTnLst>
                              <p:par>
                                <p:cTn id="116" presetID="53" presetClass="entr" presetSubtype="16" fill="hold" grpId="0" nodeType="clickEffect">
                                  <p:stCondLst>
                                    <p:cond delay="0"/>
                                  </p:stCondLst>
                                  <p:childTnLst>
                                    <p:set>
                                      <p:cBhvr>
                                        <p:cTn id="117" dur="1" fill="hold">
                                          <p:stCondLst>
                                            <p:cond delay="0"/>
                                          </p:stCondLst>
                                        </p:cTn>
                                        <p:tgtEl>
                                          <p:spTgt spid="29"/>
                                        </p:tgtEl>
                                        <p:attrNameLst>
                                          <p:attrName>style.visibility</p:attrName>
                                        </p:attrNameLst>
                                      </p:cBhvr>
                                      <p:to>
                                        <p:strVal val="visible"/>
                                      </p:to>
                                    </p:set>
                                    <p:anim calcmode="lin" valueType="num">
                                      <p:cBhvr>
                                        <p:cTn id="118" dur="500" fill="hold"/>
                                        <p:tgtEl>
                                          <p:spTgt spid="29"/>
                                        </p:tgtEl>
                                        <p:attrNameLst>
                                          <p:attrName>ppt_w</p:attrName>
                                        </p:attrNameLst>
                                      </p:cBhvr>
                                      <p:tavLst>
                                        <p:tav tm="0">
                                          <p:val>
                                            <p:fltVal val="0"/>
                                          </p:val>
                                        </p:tav>
                                        <p:tav tm="100000">
                                          <p:val>
                                            <p:strVal val="#ppt_w"/>
                                          </p:val>
                                        </p:tav>
                                      </p:tavLst>
                                    </p:anim>
                                    <p:anim calcmode="lin" valueType="num">
                                      <p:cBhvr>
                                        <p:cTn id="119" dur="500" fill="hold"/>
                                        <p:tgtEl>
                                          <p:spTgt spid="29"/>
                                        </p:tgtEl>
                                        <p:attrNameLst>
                                          <p:attrName>ppt_h</p:attrName>
                                        </p:attrNameLst>
                                      </p:cBhvr>
                                      <p:tavLst>
                                        <p:tav tm="0">
                                          <p:val>
                                            <p:fltVal val="0"/>
                                          </p:val>
                                        </p:tav>
                                        <p:tav tm="100000">
                                          <p:val>
                                            <p:strVal val="#ppt_h"/>
                                          </p:val>
                                        </p:tav>
                                      </p:tavLst>
                                    </p:anim>
                                    <p:animEffect transition="in" filter="fade">
                                      <p:cBhvr>
                                        <p:cTn id="120" dur="500"/>
                                        <p:tgtEl>
                                          <p:spTgt spid="29"/>
                                        </p:tgtEl>
                                      </p:cBhvr>
                                    </p:animEffect>
                                  </p:childTnLst>
                                </p:cTn>
                              </p:par>
                              <p:par>
                                <p:cTn id="121" presetID="53" presetClass="entr" presetSubtype="16" fill="hold" grpId="0" nodeType="withEffect">
                                  <p:stCondLst>
                                    <p:cond delay="0"/>
                                  </p:stCondLst>
                                  <p:childTnLst>
                                    <p:set>
                                      <p:cBhvr>
                                        <p:cTn id="122" dur="1" fill="hold">
                                          <p:stCondLst>
                                            <p:cond delay="0"/>
                                          </p:stCondLst>
                                        </p:cTn>
                                        <p:tgtEl>
                                          <p:spTgt spid="30"/>
                                        </p:tgtEl>
                                        <p:attrNameLst>
                                          <p:attrName>style.visibility</p:attrName>
                                        </p:attrNameLst>
                                      </p:cBhvr>
                                      <p:to>
                                        <p:strVal val="visible"/>
                                      </p:to>
                                    </p:set>
                                    <p:anim calcmode="lin" valueType="num">
                                      <p:cBhvr>
                                        <p:cTn id="123" dur="500" fill="hold"/>
                                        <p:tgtEl>
                                          <p:spTgt spid="30"/>
                                        </p:tgtEl>
                                        <p:attrNameLst>
                                          <p:attrName>ppt_w</p:attrName>
                                        </p:attrNameLst>
                                      </p:cBhvr>
                                      <p:tavLst>
                                        <p:tav tm="0">
                                          <p:val>
                                            <p:fltVal val="0"/>
                                          </p:val>
                                        </p:tav>
                                        <p:tav tm="100000">
                                          <p:val>
                                            <p:strVal val="#ppt_w"/>
                                          </p:val>
                                        </p:tav>
                                      </p:tavLst>
                                    </p:anim>
                                    <p:anim calcmode="lin" valueType="num">
                                      <p:cBhvr>
                                        <p:cTn id="124" dur="500" fill="hold"/>
                                        <p:tgtEl>
                                          <p:spTgt spid="30"/>
                                        </p:tgtEl>
                                        <p:attrNameLst>
                                          <p:attrName>ppt_h</p:attrName>
                                        </p:attrNameLst>
                                      </p:cBhvr>
                                      <p:tavLst>
                                        <p:tav tm="0">
                                          <p:val>
                                            <p:fltVal val="0"/>
                                          </p:val>
                                        </p:tav>
                                        <p:tav tm="100000">
                                          <p:val>
                                            <p:strVal val="#ppt_h"/>
                                          </p:val>
                                        </p:tav>
                                      </p:tavLst>
                                    </p:anim>
                                    <p:animEffect transition="in" filter="fade">
                                      <p:cBhvr>
                                        <p:cTn id="125" dur="500"/>
                                        <p:tgtEl>
                                          <p:spTgt spid="30"/>
                                        </p:tgtEl>
                                      </p:cBhvr>
                                    </p:animEffect>
                                  </p:childTnLst>
                                </p:cTn>
                              </p:par>
                              <p:par>
                                <p:cTn id="126" presetID="53" presetClass="entr" presetSubtype="16" fill="hold" grpId="0" nodeType="withEffect">
                                  <p:stCondLst>
                                    <p:cond delay="0"/>
                                  </p:stCondLst>
                                  <p:childTnLst>
                                    <p:set>
                                      <p:cBhvr>
                                        <p:cTn id="127" dur="1" fill="hold">
                                          <p:stCondLst>
                                            <p:cond delay="0"/>
                                          </p:stCondLst>
                                        </p:cTn>
                                        <p:tgtEl>
                                          <p:spTgt spid="31"/>
                                        </p:tgtEl>
                                        <p:attrNameLst>
                                          <p:attrName>style.visibility</p:attrName>
                                        </p:attrNameLst>
                                      </p:cBhvr>
                                      <p:to>
                                        <p:strVal val="visible"/>
                                      </p:to>
                                    </p:set>
                                    <p:anim calcmode="lin" valueType="num">
                                      <p:cBhvr>
                                        <p:cTn id="128" dur="500" fill="hold"/>
                                        <p:tgtEl>
                                          <p:spTgt spid="31"/>
                                        </p:tgtEl>
                                        <p:attrNameLst>
                                          <p:attrName>ppt_w</p:attrName>
                                        </p:attrNameLst>
                                      </p:cBhvr>
                                      <p:tavLst>
                                        <p:tav tm="0">
                                          <p:val>
                                            <p:fltVal val="0"/>
                                          </p:val>
                                        </p:tav>
                                        <p:tav tm="100000">
                                          <p:val>
                                            <p:strVal val="#ppt_w"/>
                                          </p:val>
                                        </p:tav>
                                      </p:tavLst>
                                    </p:anim>
                                    <p:anim calcmode="lin" valueType="num">
                                      <p:cBhvr>
                                        <p:cTn id="129" dur="500" fill="hold"/>
                                        <p:tgtEl>
                                          <p:spTgt spid="31"/>
                                        </p:tgtEl>
                                        <p:attrNameLst>
                                          <p:attrName>ppt_h</p:attrName>
                                        </p:attrNameLst>
                                      </p:cBhvr>
                                      <p:tavLst>
                                        <p:tav tm="0">
                                          <p:val>
                                            <p:fltVal val="0"/>
                                          </p:val>
                                        </p:tav>
                                        <p:tav tm="100000">
                                          <p:val>
                                            <p:strVal val="#ppt_h"/>
                                          </p:val>
                                        </p:tav>
                                      </p:tavLst>
                                    </p:anim>
                                    <p:animEffect transition="in" filter="fade">
                                      <p:cBhvr>
                                        <p:cTn id="130" dur="500"/>
                                        <p:tgtEl>
                                          <p:spTgt spid="31"/>
                                        </p:tgtEl>
                                      </p:cBhvr>
                                    </p:animEffect>
                                  </p:childTnLst>
                                </p:cTn>
                              </p:par>
                              <p:par>
                                <p:cTn id="131" presetID="53" presetClass="entr" presetSubtype="16" fill="hold" grpId="0" nodeType="withEffect">
                                  <p:stCondLst>
                                    <p:cond delay="0"/>
                                  </p:stCondLst>
                                  <p:childTnLst>
                                    <p:set>
                                      <p:cBhvr>
                                        <p:cTn id="132" dur="1" fill="hold">
                                          <p:stCondLst>
                                            <p:cond delay="0"/>
                                          </p:stCondLst>
                                        </p:cTn>
                                        <p:tgtEl>
                                          <p:spTgt spid="32"/>
                                        </p:tgtEl>
                                        <p:attrNameLst>
                                          <p:attrName>style.visibility</p:attrName>
                                        </p:attrNameLst>
                                      </p:cBhvr>
                                      <p:to>
                                        <p:strVal val="visible"/>
                                      </p:to>
                                    </p:set>
                                    <p:anim calcmode="lin" valueType="num">
                                      <p:cBhvr>
                                        <p:cTn id="133" dur="500" fill="hold"/>
                                        <p:tgtEl>
                                          <p:spTgt spid="32"/>
                                        </p:tgtEl>
                                        <p:attrNameLst>
                                          <p:attrName>ppt_w</p:attrName>
                                        </p:attrNameLst>
                                      </p:cBhvr>
                                      <p:tavLst>
                                        <p:tav tm="0">
                                          <p:val>
                                            <p:fltVal val="0"/>
                                          </p:val>
                                        </p:tav>
                                        <p:tav tm="100000">
                                          <p:val>
                                            <p:strVal val="#ppt_w"/>
                                          </p:val>
                                        </p:tav>
                                      </p:tavLst>
                                    </p:anim>
                                    <p:anim calcmode="lin" valueType="num">
                                      <p:cBhvr>
                                        <p:cTn id="134" dur="500" fill="hold"/>
                                        <p:tgtEl>
                                          <p:spTgt spid="32"/>
                                        </p:tgtEl>
                                        <p:attrNameLst>
                                          <p:attrName>ppt_h</p:attrName>
                                        </p:attrNameLst>
                                      </p:cBhvr>
                                      <p:tavLst>
                                        <p:tav tm="0">
                                          <p:val>
                                            <p:fltVal val="0"/>
                                          </p:val>
                                        </p:tav>
                                        <p:tav tm="100000">
                                          <p:val>
                                            <p:strVal val="#ppt_h"/>
                                          </p:val>
                                        </p:tav>
                                      </p:tavLst>
                                    </p:anim>
                                    <p:animEffect transition="in" filter="fade">
                                      <p:cBhvr>
                                        <p:cTn id="135" dur="500"/>
                                        <p:tgtEl>
                                          <p:spTgt spid="32"/>
                                        </p:tgtEl>
                                      </p:cBhvr>
                                    </p:animEffect>
                                  </p:childTnLst>
                                </p:cTn>
                              </p:par>
                              <p:par>
                                <p:cTn id="136" presetID="53" presetClass="entr" presetSubtype="16" fill="hold" nodeType="withEffect">
                                  <p:stCondLst>
                                    <p:cond delay="0"/>
                                  </p:stCondLst>
                                  <p:childTnLst>
                                    <p:set>
                                      <p:cBhvr>
                                        <p:cTn id="137" dur="1" fill="hold">
                                          <p:stCondLst>
                                            <p:cond delay="0"/>
                                          </p:stCondLst>
                                        </p:cTn>
                                        <p:tgtEl>
                                          <p:spTgt spid="33"/>
                                        </p:tgtEl>
                                        <p:attrNameLst>
                                          <p:attrName>style.visibility</p:attrName>
                                        </p:attrNameLst>
                                      </p:cBhvr>
                                      <p:to>
                                        <p:strVal val="visible"/>
                                      </p:to>
                                    </p:set>
                                    <p:anim calcmode="lin" valueType="num">
                                      <p:cBhvr>
                                        <p:cTn id="138" dur="500" fill="hold"/>
                                        <p:tgtEl>
                                          <p:spTgt spid="33"/>
                                        </p:tgtEl>
                                        <p:attrNameLst>
                                          <p:attrName>ppt_w</p:attrName>
                                        </p:attrNameLst>
                                      </p:cBhvr>
                                      <p:tavLst>
                                        <p:tav tm="0">
                                          <p:val>
                                            <p:fltVal val="0"/>
                                          </p:val>
                                        </p:tav>
                                        <p:tav tm="100000">
                                          <p:val>
                                            <p:strVal val="#ppt_w"/>
                                          </p:val>
                                        </p:tav>
                                      </p:tavLst>
                                    </p:anim>
                                    <p:anim calcmode="lin" valueType="num">
                                      <p:cBhvr>
                                        <p:cTn id="139" dur="500" fill="hold"/>
                                        <p:tgtEl>
                                          <p:spTgt spid="33"/>
                                        </p:tgtEl>
                                        <p:attrNameLst>
                                          <p:attrName>ppt_h</p:attrName>
                                        </p:attrNameLst>
                                      </p:cBhvr>
                                      <p:tavLst>
                                        <p:tav tm="0">
                                          <p:val>
                                            <p:fltVal val="0"/>
                                          </p:val>
                                        </p:tav>
                                        <p:tav tm="100000">
                                          <p:val>
                                            <p:strVal val="#ppt_h"/>
                                          </p:val>
                                        </p:tav>
                                      </p:tavLst>
                                    </p:anim>
                                    <p:animEffect transition="in" filter="fade">
                                      <p:cBhvr>
                                        <p:cTn id="140" dur="500"/>
                                        <p:tgtEl>
                                          <p:spTgt spid="33"/>
                                        </p:tgtEl>
                                      </p:cBhvr>
                                    </p:animEffect>
                                  </p:childTnLst>
                                </p:cTn>
                              </p:par>
                              <p:par>
                                <p:cTn id="141" presetID="53" presetClass="entr" presetSubtype="16" fill="hold" nodeType="withEffect">
                                  <p:stCondLst>
                                    <p:cond delay="0"/>
                                  </p:stCondLst>
                                  <p:childTnLst>
                                    <p:set>
                                      <p:cBhvr>
                                        <p:cTn id="142" dur="1" fill="hold">
                                          <p:stCondLst>
                                            <p:cond delay="0"/>
                                          </p:stCondLst>
                                        </p:cTn>
                                        <p:tgtEl>
                                          <p:spTgt spid="34"/>
                                        </p:tgtEl>
                                        <p:attrNameLst>
                                          <p:attrName>style.visibility</p:attrName>
                                        </p:attrNameLst>
                                      </p:cBhvr>
                                      <p:to>
                                        <p:strVal val="visible"/>
                                      </p:to>
                                    </p:set>
                                    <p:anim calcmode="lin" valueType="num">
                                      <p:cBhvr>
                                        <p:cTn id="143" dur="500" fill="hold"/>
                                        <p:tgtEl>
                                          <p:spTgt spid="34"/>
                                        </p:tgtEl>
                                        <p:attrNameLst>
                                          <p:attrName>ppt_w</p:attrName>
                                        </p:attrNameLst>
                                      </p:cBhvr>
                                      <p:tavLst>
                                        <p:tav tm="0">
                                          <p:val>
                                            <p:fltVal val="0"/>
                                          </p:val>
                                        </p:tav>
                                        <p:tav tm="100000">
                                          <p:val>
                                            <p:strVal val="#ppt_w"/>
                                          </p:val>
                                        </p:tav>
                                      </p:tavLst>
                                    </p:anim>
                                    <p:anim calcmode="lin" valueType="num">
                                      <p:cBhvr>
                                        <p:cTn id="144" dur="500" fill="hold"/>
                                        <p:tgtEl>
                                          <p:spTgt spid="34"/>
                                        </p:tgtEl>
                                        <p:attrNameLst>
                                          <p:attrName>ppt_h</p:attrName>
                                        </p:attrNameLst>
                                      </p:cBhvr>
                                      <p:tavLst>
                                        <p:tav tm="0">
                                          <p:val>
                                            <p:fltVal val="0"/>
                                          </p:val>
                                        </p:tav>
                                        <p:tav tm="100000">
                                          <p:val>
                                            <p:strVal val="#ppt_h"/>
                                          </p:val>
                                        </p:tav>
                                      </p:tavLst>
                                    </p:anim>
                                    <p:animEffect transition="in" filter="fade">
                                      <p:cBhvr>
                                        <p:cTn id="145" dur="500"/>
                                        <p:tgtEl>
                                          <p:spTgt spid="34"/>
                                        </p:tgtEl>
                                      </p:cBhvr>
                                    </p:animEffect>
                                  </p:childTnLst>
                                </p:cTn>
                              </p:par>
                              <p:par>
                                <p:cTn id="146" presetID="53" presetClass="entr" presetSubtype="16" fill="hold" grpId="0" nodeType="withEffect">
                                  <p:stCondLst>
                                    <p:cond delay="0"/>
                                  </p:stCondLst>
                                  <p:childTnLst>
                                    <p:set>
                                      <p:cBhvr>
                                        <p:cTn id="147" dur="1" fill="hold">
                                          <p:stCondLst>
                                            <p:cond delay="0"/>
                                          </p:stCondLst>
                                        </p:cTn>
                                        <p:tgtEl>
                                          <p:spTgt spid="40"/>
                                        </p:tgtEl>
                                        <p:attrNameLst>
                                          <p:attrName>style.visibility</p:attrName>
                                        </p:attrNameLst>
                                      </p:cBhvr>
                                      <p:to>
                                        <p:strVal val="visible"/>
                                      </p:to>
                                    </p:set>
                                    <p:anim calcmode="lin" valueType="num">
                                      <p:cBhvr>
                                        <p:cTn id="148" dur="500" fill="hold"/>
                                        <p:tgtEl>
                                          <p:spTgt spid="40"/>
                                        </p:tgtEl>
                                        <p:attrNameLst>
                                          <p:attrName>ppt_w</p:attrName>
                                        </p:attrNameLst>
                                      </p:cBhvr>
                                      <p:tavLst>
                                        <p:tav tm="0">
                                          <p:val>
                                            <p:fltVal val="0"/>
                                          </p:val>
                                        </p:tav>
                                        <p:tav tm="100000">
                                          <p:val>
                                            <p:strVal val="#ppt_w"/>
                                          </p:val>
                                        </p:tav>
                                      </p:tavLst>
                                    </p:anim>
                                    <p:anim calcmode="lin" valueType="num">
                                      <p:cBhvr>
                                        <p:cTn id="149" dur="500" fill="hold"/>
                                        <p:tgtEl>
                                          <p:spTgt spid="40"/>
                                        </p:tgtEl>
                                        <p:attrNameLst>
                                          <p:attrName>ppt_h</p:attrName>
                                        </p:attrNameLst>
                                      </p:cBhvr>
                                      <p:tavLst>
                                        <p:tav tm="0">
                                          <p:val>
                                            <p:fltVal val="0"/>
                                          </p:val>
                                        </p:tav>
                                        <p:tav tm="100000">
                                          <p:val>
                                            <p:strVal val="#ppt_h"/>
                                          </p:val>
                                        </p:tav>
                                      </p:tavLst>
                                    </p:anim>
                                    <p:animEffect transition="in" filter="fade">
                                      <p:cBhvr>
                                        <p:cTn id="150" dur="500"/>
                                        <p:tgtEl>
                                          <p:spTgt spid="40"/>
                                        </p:tgtEl>
                                      </p:cBhvr>
                                    </p:animEffect>
                                  </p:childTnLst>
                                </p:cTn>
                              </p:par>
                            </p:childTnLst>
                          </p:cTn>
                        </p:par>
                      </p:childTnLst>
                    </p:cTn>
                  </p:par>
                  <p:par>
                    <p:cTn id="151" fill="hold">
                      <p:stCondLst>
                        <p:cond delay="indefinite"/>
                      </p:stCondLst>
                      <p:childTnLst>
                        <p:par>
                          <p:cTn id="152" fill="hold">
                            <p:stCondLst>
                              <p:cond delay="0"/>
                            </p:stCondLst>
                            <p:childTnLst>
                              <p:par>
                                <p:cTn id="153" presetID="53" presetClass="exit" presetSubtype="32" fill="hold" grpId="1" nodeType="clickEffect">
                                  <p:stCondLst>
                                    <p:cond delay="0"/>
                                  </p:stCondLst>
                                  <p:childTnLst>
                                    <p:anim calcmode="lin" valueType="num">
                                      <p:cBhvr>
                                        <p:cTn id="154" dur="500"/>
                                        <p:tgtEl>
                                          <p:spTgt spid="36"/>
                                        </p:tgtEl>
                                        <p:attrNameLst>
                                          <p:attrName>ppt_w</p:attrName>
                                        </p:attrNameLst>
                                      </p:cBhvr>
                                      <p:tavLst>
                                        <p:tav tm="0">
                                          <p:val>
                                            <p:strVal val="ppt_w"/>
                                          </p:val>
                                        </p:tav>
                                        <p:tav tm="100000">
                                          <p:val>
                                            <p:fltVal val="0"/>
                                          </p:val>
                                        </p:tav>
                                      </p:tavLst>
                                    </p:anim>
                                    <p:anim calcmode="lin" valueType="num">
                                      <p:cBhvr>
                                        <p:cTn id="155" dur="500"/>
                                        <p:tgtEl>
                                          <p:spTgt spid="36"/>
                                        </p:tgtEl>
                                        <p:attrNameLst>
                                          <p:attrName>ppt_h</p:attrName>
                                        </p:attrNameLst>
                                      </p:cBhvr>
                                      <p:tavLst>
                                        <p:tav tm="0">
                                          <p:val>
                                            <p:strVal val="ppt_h"/>
                                          </p:val>
                                        </p:tav>
                                        <p:tav tm="100000">
                                          <p:val>
                                            <p:fltVal val="0"/>
                                          </p:val>
                                        </p:tav>
                                      </p:tavLst>
                                    </p:anim>
                                    <p:animEffect transition="out" filter="fade">
                                      <p:cBhvr>
                                        <p:cTn id="156" dur="500"/>
                                        <p:tgtEl>
                                          <p:spTgt spid="36"/>
                                        </p:tgtEl>
                                      </p:cBhvr>
                                    </p:animEffect>
                                    <p:set>
                                      <p:cBhvr>
                                        <p:cTn id="157" dur="1" fill="hold">
                                          <p:stCondLst>
                                            <p:cond delay="499"/>
                                          </p:stCondLst>
                                        </p:cTn>
                                        <p:tgtEl>
                                          <p:spTgt spid="36"/>
                                        </p:tgtEl>
                                        <p:attrNameLst>
                                          <p:attrName>style.visibility</p:attrName>
                                        </p:attrNameLst>
                                      </p:cBhvr>
                                      <p:to>
                                        <p:strVal val="hidden"/>
                                      </p:to>
                                    </p:set>
                                  </p:childTnLst>
                                </p:cTn>
                              </p:par>
                              <p:par>
                                <p:cTn id="158" presetID="53" presetClass="exit" presetSubtype="32" fill="hold" grpId="1" nodeType="withEffect">
                                  <p:stCondLst>
                                    <p:cond delay="0"/>
                                  </p:stCondLst>
                                  <p:childTnLst>
                                    <p:anim calcmode="lin" valueType="num">
                                      <p:cBhvr>
                                        <p:cTn id="159" dur="500"/>
                                        <p:tgtEl>
                                          <p:spTgt spid="37"/>
                                        </p:tgtEl>
                                        <p:attrNameLst>
                                          <p:attrName>ppt_w</p:attrName>
                                        </p:attrNameLst>
                                      </p:cBhvr>
                                      <p:tavLst>
                                        <p:tav tm="0">
                                          <p:val>
                                            <p:strVal val="ppt_w"/>
                                          </p:val>
                                        </p:tav>
                                        <p:tav tm="100000">
                                          <p:val>
                                            <p:fltVal val="0"/>
                                          </p:val>
                                        </p:tav>
                                      </p:tavLst>
                                    </p:anim>
                                    <p:anim calcmode="lin" valueType="num">
                                      <p:cBhvr>
                                        <p:cTn id="160" dur="500"/>
                                        <p:tgtEl>
                                          <p:spTgt spid="37"/>
                                        </p:tgtEl>
                                        <p:attrNameLst>
                                          <p:attrName>ppt_h</p:attrName>
                                        </p:attrNameLst>
                                      </p:cBhvr>
                                      <p:tavLst>
                                        <p:tav tm="0">
                                          <p:val>
                                            <p:strVal val="ppt_h"/>
                                          </p:val>
                                        </p:tav>
                                        <p:tav tm="100000">
                                          <p:val>
                                            <p:fltVal val="0"/>
                                          </p:val>
                                        </p:tav>
                                      </p:tavLst>
                                    </p:anim>
                                    <p:animEffect transition="out" filter="fade">
                                      <p:cBhvr>
                                        <p:cTn id="161" dur="500"/>
                                        <p:tgtEl>
                                          <p:spTgt spid="37"/>
                                        </p:tgtEl>
                                      </p:cBhvr>
                                    </p:animEffect>
                                    <p:set>
                                      <p:cBhvr>
                                        <p:cTn id="162" dur="1" fill="hold">
                                          <p:stCondLst>
                                            <p:cond delay="499"/>
                                          </p:stCondLst>
                                        </p:cTn>
                                        <p:tgtEl>
                                          <p:spTgt spid="37"/>
                                        </p:tgtEl>
                                        <p:attrNameLst>
                                          <p:attrName>style.visibility</p:attrName>
                                        </p:attrNameLst>
                                      </p:cBhvr>
                                      <p:to>
                                        <p:strVal val="hidden"/>
                                      </p:to>
                                    </p:set>
                                  </p:childTnLst>
                                </p:cTn>
                              </p:par>
                              <p:par>
                                <p:cTn id="163" presetID="53" presetClass="exit" presetSubtype="32" fill="hold" grpId="1" nodeType="withEffect">
                                  <p:stCondLst>
                                    <p:cond delay="0"/>
                                  </p:stCondLst>
                                  <p:childTnLst>
                                    <p:anim calcmode="lin" valueType="num">
                                      <p:cBhvr>
                                        <p:cTn id="164" dur="500"/>
                                        <p:tgtEl>
                                          <p:spTgt spid="38"/>
                                        </p:tgtEl>
                                        <p:attrNameLst>
                                          <p:attrName>ppt_w</p:attrName>
                                        </p:attrNameLst>
                                      </p:cBhvr>
                                      <p:tavLst>
                                        <p:tav tm="0">
                                          <p:val>
                                            <p:strVal val="ppt_w"/>
                                          </p:val>
                                        </p:tav>
                                        <p:tav tm="100000">
                                          <p:val>
                                            <p:fltVal val="0"/>
                                          </p:val>
                                        </p:tav>
                                      </p:tavLst>
                                    </p:anim>
                                    <p:anim calcmode="lin" valueType="num">
                                      <p:cBhvr>
                                        <p:cTn id="165" dur="500"/>
                                        <p:tgtEl>
                                          <p:spTgt spid="38"/>
                                        </p:tgtEl>
                                        <p:attrNameLst>
                                          <p:attrName>ppt_h</p:attrName>
                                        </p:attrNameLst>
                                      </p:cBhvr>
                                      <p:tavLst>
                                        <p:tav tm="0">
                                          <p:val>
                                            <p:strVal val="ppt_h"/>
                                          </p:val>
                                        </p:tav>
                                        <p:tav tm="100000">
                                          <p:val>
                                            <p:fltVal val="0"/>
                                          </p:val>
                                        </p:tav>
                                      </p:tavLst>
                                    </p:anim>
                                    <p:animEffect transition="out" filter="fade">
                                      <p:cBhvr>
                                        <p:cTn id="166" dur="500"/>
                                        <p:tgtEl>
                                          <p:spTgt spid="38"/>
                                        </p:tgtEl>
                                      </p:cBhvr>
                                    </p:animEffect>
                                    <p:set>
                                      <p:cBhvr>
                                        <p:cTn id="167" dur="1" fill="hold">
                                          <p:stCondLst>
                                            <p:cond delay="499"/>
                                          </p:stCondLst>
                                        </p:cTn>
                                        <p:tgtEl>
                                          <p:spTgt spid="38"/>
                                        </p:tgtEl>
                                        <p:attrNameLst>
                                          <p:attrName>style.visibility</p:attrName>
                                        </p:attrNameLst>
                                      </p:cBhvr>
                                      <p:to>
                                        <p:strVal val="hidden"/>
                                      </p:to>
                                    </p:set>
                                  </p:childTnLst>
                                </p:cTn>
                              </p:par>
                              <p:par>
                                <p:cTn id="168" presetID="53" presetClass="exit" presetSubtype="32" fill="hold" grpId="1" nodeType="withEffect">
                                  <p:stCondLst>
                                    <p:cond delay="0"/>
                                  </p:stCondLst>
                                  <p:childTnLst>
                                    <p:anim calcmode="lin" valueType="num">
                                      <p:cBhvr>
                                        <p:cTn id="169" dur="500"/>
                                        <p:tgtEl>
                                          <p:spTgt spid="40"/>
                                        </p:tgtEl>
                                        <p:attrNameLst>
                                          <p:attrName>ppt_w</p:attrName>
                                        </p:attrNameLst>
                                      </p:cBhvr>
                                      <p:tavLst>
                                        <p:tav tm="0">
                                          <p:val>
                                            <p:strVal val="ppt_w"/>
                                          </p:val>
                                        </p:tav>
                                        <p:tav tm="100000">
                                          <p:val>
                                            <p:fltVal val="0"/>
                                          </p:val>
                                        </p:tav>
                                      </p:tavLst>
                                    </p:anim>
                                    <p:anim calcmode="lin" valueType="num">
                                      <p:cBhvr>
                                        <p:cTn id="170" dur="500"/>
                                        <p:tgtEl>
                                          <p:spTgt spid="40"/>
                                        </p:tgtEl>
                                        <p:attrNameLst>
                                          <p:attrName>ppt_h</p:attrName>
                                        </p:attrNameLst>
                                      </p:cBhvr>
                                      <p:tavLst>
                                        <p:tav tm="0">
                                          <p:val>
                                            <p:strVal val="ppt_h"/>
                                          </p:val>
                                        </p:tav>
                                        <p:tav tm="100000">
                                          <p:val>
                                            <p:fltVal val="0"/>
                                          </p:val>
                                        </p:tav>
                                      </p:tavLst>
                                    </p:anim>
                                    <p:animEffect transition="out" filter="fade">
                                      <p:cBhvr>
                                        <p:cTn id="171" dur="500"/>
                                        <p:tgtEl>
                                          <p:spTgt spid="40"/>
                                        </p:tgtEl>
                                      </p:cBhvr>
                                    </p:animEffect>
                                    <p:set>
                                      <p:cBhvr>
                                        <p:cTn id="172" dur="1" fill="hold">
                                          <p:stCondLst>
                                            <p:cond delay="499"/>
                                          </p:stCondLst>
                                        </p:cTn>
                                        <p:tgtEl>
                                          <p:spTgt spid="40"/>
                                        </p:tgtEl>
                                        <p:attrNameLst>
                                          <p:attrName>style.visibility</p:attrName>
                                        </p:attrNameLst>
                                      </p:cBhvr>
                                      <p:to>
                                        <p:strVal val="hidden"/>
                                      </p:to>
                                    </p:set>
                                  </p:childTnLst>
                                </p:cTn>
                              </p:par>
                            </p:childTnLst>
                          </p:cTn>
                        </p:par>
                      </p:childTnLst>
                    </p:cTn>
                  </p:par>
                  <p:par>
                    <p:cTn id="173" fill="hold">
                      <p:stCondLst>
                        <p:cond delay="indefinite"/>
                      </p:stCondLst>
                      <p:childTnLst>
                        <p:par>
                          <p:cTn id="174" fill="hold">
                            <p:stCondLst>
                              <p:cond delay="0"/>
                            </p:stCondLst>
                            <p:childTnLst>
                              <p:par>
                                <p:cTn id="175" presetID="53" presetClass="entr" presetSubtype="16" fill="hold" grpId="0" nodeType="clickEffect">
                                  <p:stCondLst>
                                    <p:cond delay="0"/>
                                  </p:stCondLst>
                                  <p:childTnLst>
                                    <p:set>
                                      <p:cBhvr>
                                        <p:cTn id="176" dur="1" fill="hold">
                                          <p:stCondLst>
                                            <p:cond delay="0"/>
                                          </p:stCondLst>
                                        </p:cTn>
                                        <p:tgtEl>
                                          <p:spTgt spid="41"/>
                                        </p:tgtEl>
                                        <p:attrNameLst>
                                          <p:attrName>style.visibility</p:attrName>
                                        </p:attrNameLst>
                                      </p:cBhvr>
                                      <p:to>
                                        <p:strVal val="visible"/>
                                      </p:to>
                                    </p:set>
                                    <p:anim calcmode="lin" valueType="num">
                                      <p:cBhvr>
                                        <p:cTn id="177" dur="500" fill="hold"/>
                                        <p:tgtEl>
                                          <p:spTgt spid="41"/>
                                        </p:tgtEl>
                                        <p:attrNameLst>
                                          <p:attrName>ppt_w</p:attrName>
                                        </p:attrNameLst>
                                      </p:cBhvr>
                                      <p:tavLst>
                                        <p:tav tm="0">
                                          <p:val>
                                            <p:fltVal val="0"/>
                                          </p:val>
                                        </p:tav>
                                        <p:tav tm="100000">
                                          <p:val>
                                            <p:strVal val="#ppt_w"/>
                                          </p:val>
                                        </p:tav>
                                      </p:tavLst>
                                    </p:anim>
                                    <p:anim calcmode="lin" valueType="num">
                                      <p:cBhvr>
                                        <p:cTn id="178" dur="500" fill="hold"/>
                                        <p:tgtEl>
                                          <p:spTgt spid="41"/>
                                        </p:tgtEl>
                                        <p:attrNameLst>
                                          <p:attrName>ppt_h</p:attrName>
                                        </p:attrNameLst>
                                      </p:cBhvr>
                                      <p:tavLst>
                                        <p:tav tm="0">
                                          <p:val>
                                            <p:fltVal val="0"/>
                                          </p:val>
                                        </p:tav>
                                        <p:tav tm="100000">
                                          <p:val>
                                            <p:strVal val="#ppt_h"/>
                                          </p:val>
                                        </p:tav>
                                      </p:tavLst>
                                    </p:anim>
                                    <p:animEffect transition="in" filter="fade">
                                      <p:cBhvr>
                                        <p:cTn id="179" dur="500"/>
                                        <p:tgtEl>
                                          <p:spTgt spid="41"/>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42"/>
                                        </p:tgtEl>
                                        <p:attrNameLst>
                                          <p:attrName>style.visibility</p:attrName>
                                        </p:attrNameLst>
                                      </p:cBhvr>
                                      <p:to>
                                        <p:strVal val="visible"/>
                                      </p:to>
                                    </p:set>
                                    <p:anim calcmode="lin" valueType="num">
                                      <p:cBhvr>
                                        <p:cTn id="182" dur="500" fill="hold"/>
                                        <p:tgtEl>
                                          <p:spTgt spid="42"/>
                                        </p:tgtEl>
                                        <p:attrNameLst>
                                          <p:attrName>ppt_w</p:attrName>
                                        </p:attrNameLst>
                                      </p:cBhvr>
                                      <p:tavLst>
                                        <p:tav tm="0">
                                          <p:val>
                                            <p:fltVal val="0"/>
                                          </p:val>
                                        </p:tav>
                                        <p:tav tm="100000">
                                          <p:val>
                                            <p:strVal val="#ppt_w"/>
                                          </p:val>
                                        </p:tav>
                                      </p:tavLst>
                                    </p:anim>
                                    <p:anim calcmode="lin" valueType="num">
                                      <p:cBhvr>
                                        <p:cTn id="183" dur="500" fill="hold"/>
                                        <p:tgtEl>
                                          <p:spTgt spid="42"/>
                                        </p:tgtEl>
                                        <p:attrNameLst>
                                          <p:attrName>ppt_h</p:attrName>
                                        </p:attrNameLst>
                                      </p:cBhvr>
                                      <p:tavLst>
                                        <p:tav tm="0">
                                          <p:val>
                                            <p:fltVal val="0"/>
                                          </p:val>
                                        </p:tav>
                                        <p:tav tm="100000">
                                          <p:val>
                                            <p:strVal val="#ppt_h"/>
                                          </p:val>
                                        </p:tav>
                                      </p:tavLst>
                                    </p:anim>
                                    <p:animEffect transition="in" filter="fade">
                                      <p:cBhvr>
                                        <p:cTn id="184" dur="500"/>
                                        <p:tgtEl>
                                          <p:spTgt spid="42"/>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43"/>
                                        </p:tgtEl>
                                        <p:attrNameLst>
                                          <p:attrName>style.visibility</p:attrName>
                                        </p:attrNameLst>
                                      </p:cBhvr>
                                      <p:to>
                                        <p:strVal val="visible"/>
                                      </p:to>
                                    </p:set>
                                    <p:anim calcmode="lin" valueType="num">
                                      <p:cBhvr>
                                        <p:cTn id="187" dur="500" fill="hold"/>
                                        <p:tgtEl>
                                          <p:spTgt spid="43"/>
                                        </p:tgtEl>
                                        <p:attrNameLst>
                                          <p:attrName>ppt_w</p:attrName>
                                        </p:attrNameLst>
                                      </p:cBhvr>
                                      <p:tavLst>
                                        <p:tav tm="0">
                                          <p:val>
                                            <p:fltVal val="0"/>
                                          </p:val>
                                        </p:tav>
                                        <p:tav tm="100000">
                                          <p:val>
                                            <p:strVal val="#ppt_w"/>
                                          </p:val>
                                        </p:tav>
                                      </p:tavLst>
                                    </p:anim>
                                    <p:anim calcmode="lin" valueType="num">
                                      <p:cBhvr>
                                        <p:cTn id="188" dur="500" fill="hold"/>
                                        <p:tgtEl>
                                          <p:spTgt spid="43"/>
                                        </p:tgtEl>
                                        <p:attrNameLst>
                                          <p:attrName>ppt_h</p:attrName>
                                        </p:attrNameLst>
                                      </p:cBhvr>
                                      <p:tavLst>
                                        <p:tav tm="0">
                                          <p:val>
                                            <p:fltVal val="0"/>
                                          </p:val>
                                        </p:tav>
                                        <p:tav tm="100000">
                                          <p:val>
                                            <p:strVal val="#ppt_h"/>
                                          </p:val>
                                        </p:tav>
                                      </p:tavLst>
                                    </p:anim>
                                    <p:animEffect transition="in" filter="fade">
                                      <p:cBhvr>
                                        <p:cTn id="189" dur="500"/>
                                        <p:tgtEl>
                                          <p:spTgt spid="43"/>
                                        </p:tgtEl>
                                      </p:cBhvr>
                                    </p:animEffect>
                                  </p:childTnLst>
                                </p:cTn>
                              </p:par>
                              <p:par>
                                <p:cTn id="190" presetID="53" presetClass="entr" presetSubtype="16" fill="hold" nodeType="withEffect">
                                  <p:stCondLst>
                                    <p:cond delay="0"/>
                                  </p:stCondLst>
                                  <p:childTnLst>
                                    <p:set>
                                      <p:cBhvr>
                                        <p:cTn id="191" dur="1" fill="hold">
                                          <p:stCondLst>
                                            <p:cond delay="0"/>
                                          </p:stCondLst>
                                        </p:cTn>
                                        <p:tgtEl>
                                          <p:spTgt spid="44"/>
                                        </p:tgtEl>
                                        <p:attrNameLst>
                                          <p:attrName>style.visibility</p:attrName>
                                        </p:attrNameLst>
                                      </p:cBhvr>
                                      <p:to>
                                        <p:strVal val="visible"/>
                                      </p:to>
                                    </p:set>
                                    <p:anim calcmode="lin" valueType="num">
                                      <p:cBhvr>
                                        <p:cTn id="192" dur="500" fill="hold"/>
                                        <p:tgtEl>
                                          <p:spTgt spid="44"/>
                                        </p:tgtEl>
                                        <p:attrNameLst>
                                          <p:attrName>ppt_w</p:attrName>
                                        </p:attrNameLst>
                                      </p:cBhvr>
                                      <p:tavLst>
                                        <p:tav tm="0">
                                          <p:val>
                                            <p:fltVal val="0"/>
                                          </p:val>
                                        </p:tav>
                                        <p:tav tm="100000">
                                          <p:val>
                                            <p:strVal val="#ppt_w"/>
                                          </p:val>
                                        </p:tav>
                                      </p:tavLst>
                                    </p:anim>
                                    <p:anim calcmode="lin" valueType="num">
                                      <p:cBhvr>
                                        <p:cTn id="193" dur="500" fill="hold"/>
                                        <p:tgtEl>
                                          <p:spTgt spid="44"/>
                                        </p:tgtEl>
                                        <p:attrNameLst>
                                          <p:attrName>ppt_h</p:attrName>
                                        </p:attrNameLst>
                                      </p:cBhvr>
                                      <p:tavLst>
                                        <p:tav tm="0">
                                          <p:val>
                                            <p:fltVal val="0"/>
                                          </p:val>
                                        </p:tav>
                                        <p:tav tm="100000">
                                          <p:val>
                                            <p:strVal val="#ppt_h"/>
                                          </p:val>
                                        </p:tav>
                                      </p:tavLst>
                                    </p:anim>
                                    <p:animEffect transition="in" filter="fade">
                                      <p:cBhvr>
                                        <p:cTn id="194" dur="500"/>
                                        <p:tgtEl>
                                          <p:spTgt spid="44"/>
                                        </p:tgtEl>
                                      </p:cBhvr>
                                    </p:animEffect>
                                  </p:childTnLst>
                                </p:cTn>
                              </p:par>
                              <p:par>
                                <p:cTn id="195" presetID="53" presetClass="entr" presetSubtype="16" fill="hold" grpId="0" nodeType="withEffect">
                                  <p:stCondLst>
                                    <p:cond delay="0"/>
                                  </p:stCondLst>
                                  <p:childTnLst>
                                    <p:set>
                                      <p:cBhvr>
                                        <p:cTn id="196" dur="1" fill="hold">
                                          <p:stCondLst>
                                            <p:cond delay="0"/>
                                          </p:stCondLst>
                                        </p:cTn>
                                        <p:tgtEl>
                                          <p:spTgt spid="46"/>
                                        </p:tgtEl>
                                        <p:attrNameLst>
                                          <p:attrName>style.visibility</p:attrName>
                                        </p:attrNameLst>
                                      </p:cBhvr>
                                      <p:to>
                                        <p:strVal val="visible"/>
                                      </p:to>
                                    </p:set>
                                    <p:anim calcmode="lin" valueType="num">
                                      <p:cBhvr>
                                        <p:cTn id="197" dur="500" fill="hold"/>
                                        <p:tgtEl>
                                          <p:spTgt spid="46"/>
                                        </p:tgtEl>
                                        <p:attrNameLst>
                                          <p:attrName>ppt_w</p:attrName>
                                        </p:attrNameLst>
                                      </p:cBhvr>
                                      <p:tavLst>
                                        <p:tav tm="0">
                                          <p:val>
                                            <p:fltVal val="0"/>
                                          </p:val>
                                        </p:tav>
                                        <p:tav tm="100000">
                                          <p:val>
                                            <p:strVal val="#ppt_w"/>
                                          </p:val>
                                        </p:tav>
                                      </p:tavLst>
                                    </p:anim>
                                    <p:anim calcmode="lin" valueType="num">
                                      <p:cBhvr>
                                        <p:cTn id="198" dur="500" fill="hold"/>
                                        <p:tgtEl>
                                          <p:spTgt spid="46"/>
                                        </p:tgtEl>
                                        <p:attrNameLst>
                                          <p:attrName>ppt_h</p:attrName>
                                        </p:attrNameLst>
                                      </p:cBhvr>
                                      <p:tavLst>
                                        <p:tav tm="0">
                                          <p:val>
                                            <p:fltVal val="0"/>
                                          </p:val>
                                        </p:tav>
                                        <p:tav tm="100000">
                                          <p:val>
                                            <p:strVal val="#ppt_h"/>
                                          </p:val>
                                        </p:tav>
                                      </p:tavLst>
                                    </p:anim>
                                    <p:animEffect transition="in" filter="fade">
                                      <p:cBhvr>
                                        <p:cTn id="199" dur="500"/>
                                        <p:tgtEl>
                                          <p:spTgt spid="46"/>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47"/>
                                        </p:tgtEl>
                                        <p:attrNameLst>
                                          <p:attrName>style.visibility</p:attrName>
                                        </p:attrNameLst>
                                      </p:cBhvr>
                                      <p:to>
                                        <p:strVal val="visible"/>
                                      </p:to>
                                    </p:set>
                                    <p:anim calcmode="lin" valueType="num">
                                      <p:cBhvr>
                                        <p:cTn id="202" dur="500" fill="hold"/>
                                        <p:tgtEl>
                                          <p:spTgt spid="47"/>
                                        </p:tgtEl>
                                        <p:attrNameLst>
                                          <p:attrName>ppt_w</p:attrName>
                                        </p:attrNameLst>
                                      </p:cBhvr>
                                      <p:tavLst>
                                        <p:tav tm="0">
                                          <p:val>
                                            <p:fltVal val="0"/>
                                          </p:val>
                                        </p:tav>
                                        <p:tav tm="100000">
                                          <p:val>
                                            <p:strVal val="#ppt_w"/>
                                          </p:val>
                                        </p:tav>
                                      </p:tavLst>
                                    </p:anim>
                                    <p:anim calcmode="lin" valueType="num">
                                      <p:cBhvr>
                                        <p:cTn id="203" dur="500" fill="hold"/>
                                        <p:tgtEl>
                                          <p:spTgt spid="47"/>
                                        </p:tgtEl>
                                        <p:attrNameLst>
                                          <p:attrName>ppt_h</p:attrName>
                                        </p:attrNameLst>
                                      </p:cBhvr>
                                      <p:tavLst>
                                        <p:tav tm="0">
                                          <p:val>
                                            <p:fltVal val="0"/>
                                          </p:val>
                                        </p:tav>
                                        <p:tav tm="100000">
                                          <p:val>
                                            <p:strVal val="#ppt_h"/>
                                          </p:val>
                                        </p:tav>
                                      </p:tavLst>
                                    </p:anim>
                                    <p:animEffect transition="in" filter="fade">
                                      <p:cBhvr>
                                        <p:cTn id="204" dur="500"/>
                                        <p:tgtEl>
                                          <p:spTgt spid="47"/>
                                        </p:tgtEl>
                                      </p:cBhvr>
                                    </p:animEffect>
                                  </p:childTnLst>
                                </p:cTn>
                              </p:par>
                              <p:par>
                                <p:cTn id="205" presetID="53" presetClass="entr" presetSubtype="16" fill="hold" nodeType="withEffect">
                                  <p:stCondLst>
                                    <p:cond delay="0"/>
                                  </p:stCondLst>
                                  <p:childTnLst>
                                    <p:set>
                                      <p:cBhvr>
                                        <p:cTn id="206" dur="1" fill="hold">
                                          <p:stCondLst>
                                            <p:cond delay="0"/>
                                          </p:stCondLst>
                                        </p:cTn>
                                        <p:tgtEl>
                                          <p:spTgt spid="49"/>
                                        </p:tgtEl>
                                        <p:attrNameLst>
                                          <p:attrName>style.visibility</p:attrName>
                                        </p:attrNameLst>
                                      </p:cBhvr>
                                      <p:to>
                                        <p:strVal val="visible"/>
                                      </p:to>
                                    </p:set>
                                    <p:anim calcmode="lin" valueType="num">
                                      <p:cBhvr>
                                        <p:cTn id="207" dur="500" fill="hold"/>
                                        <p:tgtEl>
                                          <p:spTgt spid="49"/>
                                        </p:tgtEl>
                                        <p:attrNameLst>
                                          <p:attrName>ppt_w</p:attrName>
                                        </p:attrNameLst>
                                      </p:cBhvr>
                                      <p:tavLst>
                                        <p:tav tm="0">
                                          <p:val>
                                            <p:fltVal val="0"/>
                                          </p:val>
                                        </p:tav>
                                        <p:tav tm="100000">
                                          <p:val>
                                            <p:strVal val="#ppt_w"/>
                                          </p:val>
                                        </p:tav>
                                      </p:tavLst>
                                    </p:anim>
                                    <p:anim calcmode="lin" valueType="num">
                                      <p:cBhvr>
                                        <p:cTn id="208" dur="500" fill="hold"/>
                                        <p:tgtEl>
                                          <p:spTgt spid="49"/>
                                        </p:tgtEl>
                                        <p:attrNameLst>
                                          <p:attrName>ppt_h</p:attrName>
                                        </p:attrNameLst>
                                      </p:cBhvr>
                                      <p:tavLst>
                                        <p:tav tm="0">
                                          <p:val>
                                            <p:fltVal val="0"/>
                                          </p:val>
                                        </p:tav>
                                        <p:tav tm="100000">
                                          <p:val>
                                            <p:strVal val="#ppt_h"/>
                                          </p:val>
                                        </p:tav>
                                      </p:tavLst>
                                    </p:anim>
                                    <p:animEffect transition="in" filter="fade">
                                      <p:cBhvr>
                                        <p:cTn id="209" dur="500"/>
                                        <p:tgtEl>
                                          <p:spTgt spid="49"/>
                                        </p:tgtEl>
                                      </p:cBhvr>
                                    </p:animEffect>
                                  </p:childTnLst>
                                </p:cTn>
                              </p:par>
                              <p:par>
                                <p:cTn id="210" presetID="53" presetClass="entr" presetSubtype="16" fill="hold" nodeType="withEffect">
                                  <p:stCondLst>
                                    <p:cond delay="0"/>
                                  </p:stCondLst>
                                  <p:childTnLst>
                                    <p:set>
                                      <p:cBhvr>
                                        <p:cTn id="211" dur="1" fill="hold">
                                          <p:stCondLst>
                                            <p:cond delay="0"/>
                                          </p:stCondLst>
                                        </p:cTn>
                                        <p:tgtEl>
                                          <p:spTgt spid="51"/>
                                        </p:tgtEl>
                                        <p:attrNameLst>
                                          <p:attrName>style.visibility</p:attrName>
                                        </p:attrNameLst>
                                      </p:cBhvr>
                                      <p:to>
                                        <p:strVal val="visible"/>
                                      </p:to>
                                    </p:set>
                                    <p:anim calcmode="lin" valueType="num">
                                      <p:cBhvr>
                                        <p:cTn id="212" dur="500" fill="hold"/>
                                        <p:tgtEl>
                                          <p:spTgt spid="51"/>
                                        </p:tgtEl>
                                        <p:attrNameLst>
                                          <p:attrName>ppt_w</p:attrName>
                                        </p:attrNameLst>
                                      </p:cBhvr>
                                      <p:tavLst>
                                        <p:tav tm="0">
                                          <p:val>
                                            <p:fltVal val="0"/>
                                          </p:val>
                                        </p:tav>
                                        <p:tav tm="100000">
                                          <p:val>
                                            <p:strVal val="#ppt_w"/>
                                          </p:val>
                                        </p:tav>
                                      </p:tavLst>
                                    </p:anim>
                                    <p:anim calcmode="lin" valueType="num">
                                      <p:cBhvr>
                                        <p:cTn id="213" dur="500" fill="hold"/>
                                        <p:tgtEl>
                                          <p:spTgt spid="51"/>
                                        </p:tgtEl>
                                        <p:attrNameLst>
                                          <p:attrName>ppt_h</p:attrName>
                                        </p:attrNameLst>
                                      </p:cBhvr>
                                      <p:tavLst>
                                        <p:tav tm="0">
                                          <p:val>
                                            <p:fltVal val="0"/>
                                          </p:val>
                                        </p:tav>
                                        <p:tav tm="100000">
                                          <p:val>
                                            <p:strVal val="#ppt_h"/>
                                          </p:val>
                                        </p:tav>
                                      </p:tavLst>
                                    </p:anim>
                                    <p:animEffect transition="in" filter="fade">
                                      <p:cBhvr>
                                        <p:cTn id="214" dur="500"/>
                                        <p:tgtEl>
                                          <p:spTgt spid="51"/>
                                        </p:tgtEl>
                                      </p:cBhvr>
                                    </p:animEffect>
                                  </p:childTnLst>
                                </p:cTn>
                              </p:par>
                              <p:par>
                                <p:cTn id="215" presetID="53" presetClass="entr" presetSubtype="16" fill="hold" nodeType="withEffect">
                                  <p:stCondLst>
                                    <p:cond delay="0"/>
                                  </p:stCondLst>
                                  <p:childTnLst>
                                    <p:set>
                                      <p:cBhvr>
                                        <p:cTn id="216" dur="1" fill="hold">
                                          <p:stCondLst>
                                            <p:cond delay="0"/>
                                          </p:stCondLst>
                                        </p:cTn>
                                        <p:tgtEl>
                                          <p:spTgt spid="53"/>
                                        </p:tgtEl>
                                        <p:attrNameLst>
                                          <p:attrName>style.visibility</p:attrName>
                                        </p:attrNameLst>
                                      </p:cBhvr>
                                      <p:to>
                                        <p:strVal val="visible"/>
                                      </p:to>
                                    </p:set>
                                    <p:anim calcmode="lin" valueType="num">
                                      <p:cBhvr>
                                        <p:cTn id="217" dur="500" fill="hold"/>
                                        <p:tgtEl>
                                          <p:spTgt spid="53"/>
                                        </p:tgtEl>
                                        <p:attrNameLst>
                                          <p:attrName>ppt_w</p:attrName>
                                        </p:attrNameLst>
                                      </p:cBhvr>
                                      <p:tavLst>
                                        <p:tav tm="0">
                                          <p:val>
                                            <p:fltVal val="0"/>
                                          </p:val>
                                        </p:tav>
                                        <p:tav tm="100000">
                                          <p:val>
                                            <p:strVal val="#ppt_w"/>
                                          </p:val>
                                        </p:tav>
                                      </p:tavLst>
                                    </p:anim>
                                    <p:anim calcmode="lin" valueType="num">
                                      <p:cBhvr>
                                        <p:cTn id="218" dur="500" fill="hold"/>
                                        <p:tgtEl>
                                          <p:spTgt spid="53"/>
                                        </p:tgtEl>
                                        <p:attrNameLst>
                                          <p:attrName>ppt_h</p:attrName>
                                        </p:attrNameLst>
                                      </p:cBhvr>
                                      <p:tavLst>
                                        <p:tav tm="0">
                                          <p:val>
                                            <p:fltVal val="0"/>
                                          </p:val>
                                        </p:tav>
                                        <p:tav tm="100000">
                                          <p:val>
                                            <p:strVal val="#ppt_h"/>
                                          </p:val>
                                        </p:tav>
                                      </p:tavLst>
                                    </p:anim>
                                    <p:animEffect transition="in" filter="fade">
                                      <p:cBhvr>
                                        <p:cTn id="219" dur="500"/>
                                        <p:tgtEl>
                                          <p:spTgt spid="53"/>
                                        </p:tgtEl>
                                      </p:cBhvr>
                                    </p:animEffect>
                                  </p:childTnLst>
                                </p:cTn>
                              </p:par>
                              <p:par>
                                <p:cTn id="220" presetID="53" presetClass="entr" presetSubtype="16" fill="hold" grpId="0" nodeType="withEffect">
                                  <p:stCondLst>
                                    <p:cond delay="0"/>
                                  </p:stCondLst>
                                  <p:childTnLst>
                                    <p:set>
                                      <p:cBhvr>
                                        <p:cTn id="221" dur="1" fill="hold">
                                          <p:stCondLst>
                                            <p:cond delay="0"/>
                                          </p:stCondLst>
                                        </p:cTn>
                                        <p:tgtEl>
                                          <p:spTgt spid="54"/>
                                        </p:tgtEl>
                                        <p:attrNameLst>
                                          <p:attrName>style.visibility</p:attrName>
                                        </p:attrNameLst>
                                      </p:cBhvr>
                                      <p:to>
                                        <p:strVal val="visible"/>
                                      </p:to>
                                    </p:set>
                                    <p:anim calcmode="lin" valueType="num">
                                      <p:cBhvr>
                                        <p:cTn id="222" dur="500" fill="hold"/>
                                        <p:tgtEl>
                                          <p:spTgt spid="54"/>
                                        </p:tgtEl>
                                        <p:attrNameLst>
                                          <p:attrName>ppt_w</p:attrName>
                                        </p:attrNameLst>
                                      </p:cBhvr>
                                      <p:tavLst>
                                        <p:tav tm="0">
                                          <p:val>
                                            <p:fltVal val="0"/>
                                          </p:val>
                                        </p:tav>
                                        <p:tav tm="100000">
                                          <p:val>
                                            <p:strVal val="#ppt_w"/>
                                          </p:val>
                                        </p:tav>
                                      </p:tavLst>
                                    </p:anim>
                                    <p:anim calcmode="lin" valueType="num">
                                      <p:cBhvr>
                                        <p:cTn id="223" dur="500" fill="hold"/>
                                        <p:tgtEl>
                                          <p:spTgt spid="54"/>
                                        </p:tgtEl>
                                        <p:attrNameLst>
                                          <p:attrName>ppt_h</p:attrName>
                                        </p:attrNameLst>
                                      </p:cBhvr>
                                      <p:tavLst>
                                        <p:tav tm="0">
                                          <p:val>
                                            <p:fltVal val="0"/>
                                          </p:val>
                                        </p:tav>
                                        <p:tav tm="100000">
                                          <p:val>
                                            <p:strVal val="#ppt_h"/>
                                          </p:val>
                                        </p:tav>
                                      </p:tavLst>
                                    </p:anim>
                                    <p:animEffect transition="in" filter="fade">
                                      <p:cBhvr>
                                        <p:cTn id="224" dur="500"/>
                                        <p:tgtEl>
                                          <p:spTgt spid="54"/>
                                        </p:tgtEl>
                                      </p:cBhvr>
                                    </p:animEffect>
                                  </p:childTnLst>
                                </p:cTn>
                              </p:par>
                              <p:par>
                                <p:cTn id="225" presetID="53" presetClass="entr" presetSubtype="16" fill="hold" nodeType="withEffect">
                                  <p:stCondLst>
                                    <p:cond delay="0"/>
                                  </p:stCondLst>
                                  <p:childTnLst>
                                    <p:set>
                                      <p:cBhvr>
                                        <p:cTn id="226" dur="1" fill="hold">
                                          <p:stCondLst>
                                            <p:cond delay="0"/>
                                          </p:stCondLst>
                                        </p:cTn>
                                        <p:tgtEl>
                                          <p:spTgt spid="55"/>
                                        </p:tgtEl>
                                        <p:attrNameLst>
                                          <p:attrName>style.visibility</p:attrName>
                                        </p:attrNameLst>
                                      </p:cBhvr>
                                      <p:to>
                                        <p:strVal val="visible"/>
                                      </p:to>
                                    </p:set>
                                    <p:anim calcmode="lin" valueType="num">
                                      <p:cBhvr>
                                        <p:cTn id="227" dur="500" fill="hold"/>
                                        <p:tgtEl>
                                          <p:spTgt spid="55"/>
                                        </p:tgtEl>
                                        <p:attrNameLst>
                                          <p:attrName>ppt_w</p:attrName>
                                        </p:attrNameLst>
                                      </p:cBhvr>
                                      <p:tavLst>
                                        <p:tav tm="0">
                                          <p:val>
                                            <p:fltVal val="0"/>
                                          </p:val>
                                        </p:tav>
                                        <p:tav tm="100000">
                                          <p:val>
                                            <p:strVal val="#ppt_w"/>
                                          </p:val>
                                        </p:tav>
                                      </p:tavLst>
                                    </p:anim>
                                    <p:anim calcmode="lin" valueType="num">
                                      <p:cBhvr>
                                        <p:cTn id="228" dur="500" fill="hold"/>
                                        <p:tgtEl>
                                          <p:spTgt spid="55"/>
                                        </p:tgtEl>
                                        <p:attrNameLst>
                                          <p:attrName>ppt_h</p:attrName>
                                        </p:attrNameLst>
                                      </p:cBhvr>
                                      <p:tavLst>
                                        <p:tav tm="0">
                                          <p:val>
                                            <p:fltVal val="0"/>
                                          </p:val>
                                        </p:tav>
                                        <p:tav tm="100000">
                                          <p:val>
                                            <p:strVal val="#ppt_h"/>
                                          </p:val>
                                        </p:tav>
                                      </p:tavLst>
                                    </p:anim>
                                    <p:animEffect transition="in" filter="fade">
                                      <p:cBhvr>
                                        <p:cTn id="229" dur="500"/>
                                        <p:tgtEl>
                                          <p:spTgt spid="55"/>
                                        </p:tgtEl>
                                      </p:cBhvr>
                                    </p:animEffect>
                                  </p:childTnLst>
                                </p:cTn>
                              </p:par>
                              <p:par>
                                <p:cTn id="230" presetID="53" presetClass="entr" presetSubtype="16" fill="hold" grpId="0" nodeType="withEffect">
                                  <p:stCondLst>
                                    <p:cond delay="0"/>
                                  </p:stCondLst>
                                  <p:childTnLst>
                                    <p:set>
                                      <p:cBhvr>
                                        <p:cTn id="231" dur="1" fill="hold">
                                          <p:stCondLst>
                                            <p:cond delay="0"/>
                                          </p:stCondLst>
                                        </p:cTn>
                                        <p:tgtEl>
                                          <p:spTgt spid="58"/>
                                        </p:tgtEl>
                                        <p:attrNameLst>
                                          <p:attrName>style.visibility</p:attrName>
                                        </p:attrNameLst>
                                      </p:cBhvr>
                                      <p:to>
                                        <p:strVal val="visible"/>
                                      </p:to>
                                    </p:set>
                                    <p:anim calcmode="lin" valueType="num">
                                      <p:cBhvr>
                                        <p:cTn id="232" dur="500" fill="hold"/>
                                        <p:tgtEl>
                                          <p:spTgt spid="58"/>
                                        </p:tgtEl>
                                        <p:attrNameLst>
                                          <p:attrName>ppt_w</p:attrName>
                                        </p:attrNameLst>
                                      </p:cBhvr>
                                      <p:tavLst>
                                        <p:tav tm="0">
                                          <p:val>
                                            <p:fltVal val="0"/>
                                          </p:val>
                                        </p:tav>
                                        <p:tav tm="100000">
                                          <p:val>
                                            <p:strVal val="#ppt_w"/>
                                          </p:val>
                                        </p:tav>
                                      </p:tavLst>
                                    </p:anim>
                                    <p:anim calcmode="lin" valueType="num">
                                      <p:cBhvr>
                                        <p:cTn id="233" dur="500" fill="hold"/>
                                        <p:tgtEl>
                                          <p:spTgt spid="58"/>
                                        </p:tgtEl>
                                        <p:attrNameLst>
                                          <p:attrName>ppt_h</p:attrName>
                                        </p:attrNameLst>
                                      </p:cBhvr>
                                      <p:tavLst>
                                        <p:tav tm="0">
                                          <p:val>
                                            <p:fltVal val="0"/>
                                          </p:val>
                                        </p:tav>
                                        <p:tav tm="100000">
                                          <p:val>
                                            <p:strVal val="#ppt_h"/>
                                          </p:val>
                                        </p:tav>
                                      </p:tavLst>
                                    </p:anim>
                                    <p:animEffect transition="in" filter="fade">
                                      <p:cBhvr>
                                        <p:cTn id="234" dur="500"/>
                                        <p:tgtEl>
                                          <p:spTgt spid="58"/>
                                        </p:tgtEl>
                                      </p:cBhvr>
                                    </p:animEffect>
                                  </p:childTnLst>
                                </p:cTn>
                              </p:par>
                              <p:par>
                                <p:cTn id="235" presetID="53" presetClass="entr" presetSubtype="16" fill="hold" nodeType="withEffect">
                                  <p:stCondLst>
                                    <p:cond delay="0"/>
                                  </p:stCondLst>
                                  <p:childTnLst>
                                    <p:set>
                                      <p:cBhvr>
                                        <p:cTn id="236" dur="1" fill="hold">
                                          <p:stCondLst>
                                            <p:cond delay="0"/>
                                          </p:stCondLst>
                                        </p:cTn>
                                        <p:tgtEl>
                                          <p:spTgt spid="59"/>
                                        </p:tgtEl>
                                        <p:attrNameLst>
                                          <p:attrName>style.visibility</p:attrName>
                                        </p:attrNameLst>
                                      </p:cBhvr>
                                      <p:to>
                                        <p:strVal val="visible"/>
                                      </p:to>
                                    </p:set>
                                    <p:anim calcmode="lin" valueType="num">
                                      <p:cBhvr>
                                        <p:cTn id="237" dur="500" fill="hold"/>
                                        <p:tgtEl>
                                          <p:spTgt spid="59"/>
                                        </p:tgtEl>
                                        <p:attrNameLst>
                                          <p:attrName>ppt_w</p:attrName>
                                        </p:attrNameLst>
                                      </p:cBhvr>
                                      <p:tavLst>
                                        <p:tav tm="0">
                                          <p:val>
                                            <p:fltVal val="0"/>
                                          </p:val>
                                        </p:tav>
                                        <p:tav tm="100000">
                                          <p:val>
                                            <p:strVal val="#ppt_w"/>
                                          </p:val>
                                        </p:tav>
                                      </p:tavLst>
                                    </p:anim>
                                    <p:anim calcmode="lin" valueType="num">
                                      <p:cBhvr>
                                        <p:cTn id="238" dur="500" fill="hold"/>
                                        <p:tgtEl>
                                          <p:spTgt spid="59"/>
                                        </p:tgtEl>
                                        <p:attrNameLst>
                                          <p:attrName>ppt_h</p:attrName>
                                        </p:attrNameLst>
                                      </p:cBhvr>
                                      <p:tavLst>
                                        <p:tav tm="0">
                                          <p:val>
                                            <p:fltVal val="0"/>
                                          </p:val>
                                        </p:tav>
                                        <p:tav tm="100000">
                                          <p:val>
                                            <p:strVal val="#ppt_h"/>
                                          </p:val>
                                        </p:tav>
                                      </p:tavLst>
                                    </p:anim>
                                    <p:animEffect transition="in" filter="fade">
                                      <p:cBhvr>
                                        <p:cTn id="239" dur="500"/>
                                        <p:tgtEl>
                                          <p:spTgt spid="59"/>
                                        </p:tgtEl>
                                      </p:cBhvr>
                                    </p:animEffect>
                                  </p:childTnLst>
                                </p:cTn>
                              </p:par>
                              <p:par>
                                <p:cTn id="240" presetID="53" presetClass="entr" presetSubtype="16" fill="hold" grpId="0" nodeType="withEffect">
                                  <p:stCondLst>
                                    <p:cond delay="0"/>
                                  </p:stCondLst>
                                  <p:childTnLst>
                                    <p:set>
                                      <p:cBhvr>
                                        <p:cTn id="241" dur="1" fill="hold">
                                          <p:stCondLst>
                                            <p:cond delay="0"/>
                                          </p:stCondLst>
                                        </p:cTn>
                                        <p:tgtEl>
                                          <p:spTgt spid="61"/>
                                        </p:tgtEl>
                                        <p:attrNameLst>
                                          <p:attrName>style.visibility</p:attrName>
                                        </p:attrNameLst>
                                      </p:cBhvr>
                                      <p:to>
                                        <p:strVal val="visible"/>
                                      </p:to>
                                    </p:set>
                                    <p:anim calcmode="lin" valueType="num">
                                      <p:cBhvr>
                                        <p:cTn id="242" dur="500" fill="hold"/>
                                        <p:tgtEl>
                                          <p:spTgt spid="61"/>
                                        </p:tgtEl>
                                        <p:attrNameLst>
                                          <p:attrName>ppt_w</p:attrName>
                                        </p:attrNameLst>
                                      </p:cBhvr>
                                      <p:tavLst>
                                        <p:tav tm="0">
                                          <p:val>
                                            <p:fltVal val="0"/>
                                          </p:val>
                                        </p:tav>
                                        <p:tav tm="100000">
                                          <p:val>
                                            <p:strVal val="#ppt_w"/>
                                          </p:val>
                                        </p:tav>
                                      </p:tavLst>
                                    </p:anim>
                                    <p:anim calcmode="lin" valueType="num">
                                      <p:cBhvr>
                                        <p:cTn id="243" dur="500" fill="hold"/>
                                        <p:tgtEl>
                                          <p:spTgt spid="61"/>
                                        </p:tgtEl>
                                        <p:attrNameLst>
                                          <p:attrName>ppt_h</p:attrName>
                                        </p:attrNameLst>
                                      </p:cBhvr>
                                      <p:tavLst>
                                        <p:tav tm="0">
                                          <p:val>
                                            <p:fltVal val="0"/>
                                          </p:val>
                                        </p:tav>
                                        <p:tav tm="100000">
                                          <p:val>
                                            <p:strVal val="#ppt_h"/>
                                          </p:val>
                                        </p:tav>
                                      </p:tavLst>
                                    </p:anim>
                                    <p:animEffect transition="in" filter="fade">
                                      <p:cBhvr>
                                        <p:cTn id="244" dur="500"/>
                                        <p:tgtEl>
                                          <p:spTgt spid="61"/>
                                        </p:tgtEl>
                                      </p:cBhvr>
                                    </p:animEffect>
                                  </p:childTnLst>
                                </p:cTn>
                              </p:par>
                              <p:par>
                                <p:cTn id="245" presetID="53" presetClass="entr" presetSubtype="16" fill="hold" nodeType="withEffect">
                                  <p:stCondLst>
                                    <p:cond delay="0"/>
                                  </p:stCondLst>
                                  <p:childTnLst>
                                    <p:set>
                                      <p:cBhvr>
                                        <p:cTn id="246" dur="1" fill="hold">
                                          <p:stCondLst>
                                            <p:cond delay="0"/>
                                          </p:stCondLst>
                                        </p:cTn>
                                        <p:tgtEl>
                                          <p:spTgt spid="62"/>
                                        </p:tgtEl>
                                        <p:attrNameLst>
                                          <p:attrName>style.visibility</p:attrName>
                                        </p:attrNameLst>
                                      </p:cBhvr>
                                      <p:to>
                                        <p:strVal val="visible"/>
                                      </p:to>
                                    </p:set>
                                    <p:anim calcmode="lin" valueType="num">
                                      <p:cBhvr>
                                        <p:cTn id="247" dur="500" fill="hold"/>
                                        <p:tgtEl>
                                          <p:spTgt spid="62"/>
                                        </p:tgtEl>
                                        <p:attrNameLst>
                                          <p:attrName>ppt_w</p:attrName>
                                        </p:attrNameLst>
                                      </p:cBhvr>
                                      <p:tavLst>
                                        <p:tav tm="0">
                                          <p:val>
                                            <p:fltVal val="0"/>
                                          </p:val>
                                        </p:tav>
                                        <p:tav tm="100000">
                                          <p:val>
                                            <p:strVal val="#ppt_w"/>
                                          </p:val>
                                        </p:tav>
                                      </p:tavLst>
                                    </p:anim>
                                    <p:anim calcmode="lin" valueType="num">
                                      <p:cBhvr>
                                        <p:cTn id="248" dur="500" fill="hold"/>
                                        <p:tgtEl>
                                          <p:spTgt spid="62"/>
                                        </p:tgtEl>
                                        <p:attrNameLst>
                                          <p:attrName>ppt_h</p:attrName>
                                        </p:attrNameLst>
                                      </p:cBhvr>
                                      <p:tavLst>
                                        <p:tav tm="0">
                                          <p:val>
                                            <p:fltVal val="0"/>
                                          </p:val>
                                        </p:tav>
                                        <p:tav tm="100000">
                                          <p:val>
                                            <p:strVal val="#ppt_h"/>
                                          </p:val>
                                        </p:tav>
                                      </p:tavLst>
                                    </p:anim>
                                    <p:animEffect transition="in" filter="fade">
                                      <p:cBhvr>
                                        <p:cTn id="249" dur="500"/>
                                        <p:tgtEl>
                                          <p:spTgt spid="62"/>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65"/>
                                        </p:tgtEl>
                                        <p:attrNameLst>
                                          <p:attrName>style.visibility</p:attrName>
                                        </p:attrNameLst>
                                      </p:cBhvr>
                                      <p:to>
                                        <p:strVal val="visible"/>
                                      </p:to>
                                    </p:set>
                                    <p:anim calcmode="lin" valueType="num">
                                      <p:cBhvr>
                                        <p:cTn id="252" dur="500" fill="hold"/>
                                        <p:tgtEl>
                                          <p:spTgt spid="65"/>
                                        </p:tgtEl>
                                        <p:attrNameLst>
                                          <p:attrName>ppt_w</p:attrName>
                                        </p:attrNameLst>
                                      </p:cBhvr>
                                      <p:tavLst>
                                        <p:tav tm="0">
                                          <p:val>
                                            <p:fltVal val="0"/>
                                          </p:val>
                                        </p:tav>
                                        <p:tav tm="100000">
                                          <p:val>
                                            <p:strVal val="#ppt_w"/>
                                          </p:val>
                                        </p:tav>
                                      </p:tavLst>
                                    </p:anim>
                                    <p:anim calcmode="lin" valueType="num">
                                      <p:cBhvr>
                                        <p:cTn id="253" dur="500" fill="hold"/>
                                        <p:tgtEl>
                                          <p:spTgt spid="65"/>
                                        </p:tgtEl>
                                        <p:attrNameLst>
                                          <p:attrName>ppt_h</p:attrName>
                                        </p:attrNameLst>
                                      </p:cBhvr>
                                      <p:tavLst>
                                        <p:tav tm="0">
                                          <p:val>
                                            <p:fltVal val="0"/>
                                          </p:val>
                                        </p:tav>
                                        <p:tav tm="100000">
                                          <p:val>
                                            <p:strVal val="#ppt_h"/>
                                          </p:val>
                                        </p:tav>
                                      </p:tavLst>
                                    </p:anim>
                                    <p:animEffect transition="in" filter="fade">
                                      <p:cBhvr>
                                        <p:cTn id="254" dur="500"/>
                                        <p:tgtEl>
                                          <p:spTgt spid="65"/>
                                        </p:tgtEl>
                                      </p:cBhvr>
                                    </p:animEffect>
                                  </p:childTnLst>
                                </p:cTn>
                              </p:par>
                              <p:par>
                                <p:cTn id="255" presetID="53" presetClass="entr" presetSubtype="16" fill="hold" nodeType="withEffect">
                                  <p:stCondLst>
                                    <p:cond delay="0"/>
                                  </p:stCondLst>
                                  <p:childTnLst>
                                    <p:set>
                                      <p:cBhvr>
                                        <p:cTn id="256" dur="1" fill="hold">
                                          <p:stCondLst>
                                            <p:cond delay="0"/>
                                          </p:stCondLst>
                                        </p:cTn>
                                        <p:tgtEl>
                                          <p:spTgt spid="66"/>
                                        </p:tgtEl>
                                        <p:attrNameLst>
                                          <p:attrName>style.visibility</p:attrName>
                                        </p:attrNameLst>
                                      </p:cBhvr>
                                      <p:to>
                                        <p:strVal val="visible"/>
                                      </p:to>
                                    </p:set>
                                    <p:anim calcmode="lin" valueType="num">
                                      <p:cBhvr>
                                        <p:cTn id="257" dur="500" fill="hold"/>
                                        <p:tgtEl>
                                          <p:spTgt spid="66"/>
                                        </p:tgtEl>
                                        <p:attrNameLst>
                                          <p:attrName>ppt_w</p:attrName>
                                        </p:attrNameLst>
                                      </p:cBhvr>
                                      <p:tavLst>
                                        <p:tav tm="0">
                                          <p:val>
                                            <p:fltVal val="0"/>
                                          </p:val>
                                        </p:tav>
                                        <p:tav tm="100000">
                                          <p:val>
                                            <p:strVal val="#ppt_w"/>
                                          </p:val>
                                        </p:tav>
                                      </p:tavLst>
                                    </p:anim>
                                    <p:anim calcmode="lin" valueType="num">
                                      <p:cBhvr>
                                        <p:cTn id="258" dur="500" fill="hold"/>
                                        <p:tgtEl>
                                          <p:spTgt spid="66"/>
                                        </p:tgtEl>
                                        <p:attrNameLst>
                                          <p:attrName>ppt_h</p:attrName>
                                        </p:attrNameLst>
                                      </p:cBhvr>
                                      <p:tavLst>
                                        <p:tav tm="0">
                                          <p:val>
                                            <p:fltVal val="0"/>
                                          </p:val>
                                        </p:tav>
                                        <p:tav tm="100000">
                                          <p:val>
                                            <p:strVal val="#ppt_h"/>
                                          </p:val>
                                        </p:tav>
                                      </p:tavLst>
                                    </p:anim>
                                    <p:animEffect transition="in" filter="fade">
                                      <p:cBhvr>
                                        <p:cTn id="259" dur="500"/>
                                        <p:tgtEl>
                                          <p:spTgt spid="66"/>
                                        </p:tgtEl>
                                      </p:cBhvr>
                                    </p:animEffect>
                                  </p:childTnLst>
                                </p:cTn>
                              </p:par>
                              <p:par>
                                <p:cTn id="260" presetID="53" presetClass="entr" presetSubtype="16" fill="hold" grpId="0" nodeType="withEffect">
                                  <p:stCondLst>
                                    <p:cond delay="0"/>
                                  </p:stCondLst>
                                  <p:childTnLst>
                                    <p:set>
                                      <p:cBhvr>
                                        <p:cTn id="261" dur="1" fill="hold">
                                          <p:stCondLst>
                                            <p:cond delay="0"/>
                                          </p:stCondLst>
                                        </p:cTn>
                                        <p:tgtEl>
                                          <p:spTgt spid="39"/>
                                        </p:tgtEl>
                                        <p:attrNameLst>
                                          <p:attrName>style.visibility</p:attrName>
                                        </p:attrNameLst>
                                      </p:cBhvr>
                                      <p:to>
                                        <p:strVal val="visible"/>
                                      </p:to>
                                    </p:set>
                                    <p:anim calcmode="lin" valueType="num">
                                      <p:cBhvr>
                                        <p:cTn id="262" dur="500" fill="hold"/>
                                        <p:tgtEl>
                                          <p:spTgt spid="39"/>
                                        </p:tgtEl>
                                        <p:attrNameLst>
                                          <p:attrName>ppt_w</p:attrName>
                                        </p:attrNameLst>
                                      </p:cBhvr>
                                      <p:tavLst>
                                        <p:tav tm="0">
                                          <p:val>
                                            <p:fltVal val="0"/>
                                          </p:val>
                                        </p:tav>
                                        <p:tav tm="100000">
                                          <p:val>
                                            <p:strVal val="#ppt_w"/>
                                          </p:val>
                                        </p:tav>
                                      </p:tavLst>
                                    </p:anim>
                                    <p:anim calcmode="lin" valueType="num">
                                      <p:cBhvr>
                                        <p:cTn id="263" dur="500" fill="hold"/>
                                        <p:tgtEl>
                                          <p:spTgt spid="39"/>
                                        </p:tgtEl>
                                        <p:attrNameLst>
                                          <p:attrName>ppt_h</p:attrName>
                                        </p:attrNameLst>
                                      </p:cBhvr>
                                      <p:tavLst>
                                        <p:tav tm="0">
                                          <p:val>
                                            <p:fltVal val="0"/>
                                          </p:val>
                                        </p:tav>
                                        <p:tav tm="100000">
                                          <p:val>
                                            <p:strVal val="#ppt_h"/>
                                          </p:val>
                                        </p:tav>
                                      </p:tavLst>
                                    </p:anim>
                                    <p:animEffect transition="in" filter="fade">
                                      <p:cBhvr>
                                        <p:cTn id="26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17" grpId="0"/>
      <p:bldP spid="18" grpId="0" animBg="1"/>
      <p:bldP spid="19" grpId="0" animBg="1"/>
      <p:bldP spid="20" grpId="0" animBg="1"/>
      <p:bldP spid="23" grpId="0"/>
      <p:bldP spid="24" grpId="0" animBg="1"/>
      <p:bldP spid="25" grpId="0" animBg="1"/>
      <p:bldP spid="26" grpId="0" animBg="1"/>
      <p:bldP spid="29" grpId="0"/>
      <p:bldP spid="30" grpId="0" animBg="1"/>
      <p:bldP spid="31" grpId="0" animBg="1"/>
      <p:bldP spid="32" grpId="0" animBg="1"/>
      <p:bldP spid="36" grpId="0"/>
      <p:bldP spid="36" grpId="1"/>
      <p:bldP spid="37" grpId="0"/>
      <p:bldP spid="37" grpId="1"/>
      <p:bldP spid="38" grpId="0"/>
      <p:bldP spid="38" grpId="1"/>
      <p:bldP spid="39" grpId="0"/>
      <p:bldP spid="40" grpId="0"/>
      <p:bldP spid="40" grpId="1"/>
      <p:bldP spid="41" grpId="0" animBg="1"/>
      <p:bldP spid="42" grpId="0" animBg="1"/>
      <p:bldP spid="43" grpId="0" animBg="1"/>
      <p:bldP spid="46" grpId="0" animBg="1"/>
      <p:bldP spid="47" grpId="0" animBg="1"/>
      <p:bldP spid="54" grpId="0" animBg="1"/>
      <p:bldP spid="58" grpId="0" animBg="1"/>
      <p:bldP spid="61" grpId="0" animBg="1"/>
      <p:bldP spid="6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文本框 9"/>
              <p:cNvSpPr txBox="1"/>
              <p:nvPr/>
            </p:nvSpPr>
            <p:spPr>
              <a:xfrm>
                <a:off x="4270708" y="3167448"/>
                <a:ext cx="6879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Microsoft YaHei" charset="0"/>
                        </a:rPr>
                        <m:t>𝑥</m:t>
                      </m:r>
                    </m:oMath>
                  </m:oMathPara>
                </a14:m>
                <a:endParaRPr lang="zh-CN" altLang="en-US" dirty="0">
                  <a:ea typeface="Microsoft YaHei"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4270708" y="3167448"/>
                <a:ext cx="687977" cy="369332"/>
              </a:xfrm>
              <a:prstGeom prst="rect">
                <a:avLst/>
              </a:prstGeom>
              <a:blipFill rotWithShape="0">
                <a:blip r:embed="rId3"/>
                <a:stretch>
                  <a:fillRect/>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1408327" y="1362572"/>
                <a:ext cx="6879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𝑓</m:t>
                      </m:r>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1408327" y="1362572"/>
                <a:ext cx="687977" cy="369332"/>
              </a:xfrm>
              <a:prstGeom prst="rect">
                <a:avLst/>
              </a:prstGeom>
              <a:blipFill rotWithShape="0">
                <a:blip r:embed="rId4"/>
                <a:stretch>
                  <a:fillRect b="-13333"/>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35" name="文本框 34"/>
              <p:cNvSpPr txBox="1"/>
              <p:nvPr/>
            </p:nvSpPr>
            <p:spPr>
              <a:xfrm>
                <a:off x="4050073" y="5831863"/>
                <a:ext cx="6879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𝑚</m:t>
                          </m:r>
                        </m:sub>
                      </m:sSub>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35" name="文本框 34"/>
              <p:cNvSpPr txBox="1">
                <a:spLocks noRot="1" noChangeAspect="1" noMove="1" noResize="1" noEditPoints="1" noAdjustHandles="1" noChangeArrowheads="1" noChangeShapeType="1" noTextEdit="1"/>
              </p:cNvSpPr>
              <p:nvPr/>
            </p:nvSpPr>
            <p:spPr>
              <a:xfrm>
                <a:off x="4050073" y="5831863"/>
                <a:ext cx="687977" cy="369332"/>
              </a:xfrm>
              <a:prstGeom prst="rect">
                <a:avLst/>
              </a:prstGeom>
              <a:blipFill rotWithShape="0">
                <a:blip r:embed="rId5"/>
                <a:stretch>
                  <a:fillRect l="-2655" r="-12389" b="-13333"/>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36" name="文本框 35"/>
              <p:cNvSpPr txBox="1"/>
              <p:nvPr/>
            </p:nvSpPr>
            <p:spPr>
              <a:xfrm>
                <a:off x="563594" y="3929838"/>
                <a:ext cx="84473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𝐿</m:t>
                          </m:r>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𝑚</m:t>
                          </m:r>
                        </m:sub>
                      </m:sSub>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36" name="文本框 35"/>
              <p:cNvSpPr txBox="1">
                <a:spLocks noRot="1" noChangeAspect="1" noMove="1" noResize="1" noEditPoints="1" noAdjustHandles="1" noChangeArrowheads="1" noChangeShapeType="1" noTextEdit="1"/>
              </p:cNvSpPr>
              <p:nvPr/>
            </p:nvSpPr>
            <p:spPr>
              <a:xfrm>
                <a:off x="563594" y="3929838"/>
                <a:ext cx="844733" cy="369332"/>
              </a:xfrm>
              <a:prstGeom prst="rect">
                <a:avLst/>
              </a:prstGeom>
              <a:blipFill>
                <a:blip r:embed="rId6"/>
                <a:stretch>
                  <a:fillRect l="-1439" r="-101439" b="-51667"/>
                </a:stretch>
              </a:blipFill>
            </p:spPr>
            <p:txBody>
              <a:bodyPr/>
              <a:lstStyle/>
              <a:p>
                <a:r>
                  <a:rPr lang="zh-CN" altLang="en-US">
                    <a:noFill/>
                  </a:rPr>
                  <a:t> </a:t>
                </a:r>
              </a:p>
            </p:txBody>
          </p:sp>
        </mc:Fallback>
      </mc:AlternateContent>
      <p:sp>
        <p:nvSpPr>
          <p:cNvPr id="42" name="文本框 41"/>
          <p:cNvSpPr txBox="1"/>
          <p:nvPr/>
        </p:nvSpPr>
        <p:spPr>
          <a:xfrm>
            <a:off x="7116855" y="2865559"/>
            <a:ext cx="3517093" cy="2242409"/>
          </a:xfrm>
          <a:prstGeom prst="rect">
            <a:avLst/>
          </a:prstGeom>
          <a:noFill/>
        </p:spPr>
        <p:txBody>
          <a:bodyPr wrap="square" rtlCol="0">
            <a:spAutoFit/>
          </a:bodyPr>
          <a:lstStyle/>
          <a:p>
            <a:pPr>
              <a:lnSpc>
                <a:spcPct val="150000"/>
              </a:lnSpc>
            </a:pPr>
            <a:r>
              <a:rPr lang="zh-CN" altLang="en-US" dirty="0">
                <a:ea typeface="Microsoft YaHei" charset="0"/>
              </a:rPr>
              <a:t>损失函数的负梯度在当前模型的值作为提升树的残差的近似值来拟合回归树</a:t>
            </a:r>
          </a:p>
        </p:txBody>
      </p:sp>
      <p:sp>
        <p:nvSpPr>
          <p:cNvPr id="43" name="右箭头 42"/>
          <p:cNvSpPr/>
          <p:nvPr/>
        </p:nvSpPr>
        <p:spPr>
          <a:xfrm>
            <a:off x="5793901" y="4803168"/>
            <a:ext cx="441538" cy="304800"/>
          </a:xfrm>
          <a:prstGeom prst="right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cxnSp>
        <p:nvCxnSpPr>
          <p:cNvPr id="7" name="直线箭头连接符 6"/>
          <p:cNvCxnSpPr/>
          <p:nvPr/>
        </p:nvCxnSpPr>
        <p:spPr>
          <a:xfrm flipV="1">
            <a:off x="2185888" y="1435813"/>
            <a:ext cx="0" cy="1740281"/>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26"/>
          <p:cNvCxnSpPr/>
          <p:nvPr/>
        </p:nvCxnSpPr>
        <p:spPr>
          <a:xfrm>
            <a:off x="2185888" y="3176094"/>
            <a:ext cx="2551028" cy="0"/>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任意多边形 20"/>
          <p:cNvSpPr/>
          <p:nvPr/>
        </p:nvSpPr>
        <p:spPr>
          <a:xfrm>
            <a:off x="2240749" y="1723630"/>
            <a:ext cx="2103325" cy="1268369"/>
          </a:xfrm>
          <a:custGeom>
            <a:avLst/>
            <a:gdLst>
              <a:gd name="connsiteX0" fmla="*/ 0 w 1654629"/>
              <a:gd name="connsiteY0" fmla="*/ 104503 h 997792"/>
              <a:gd name="connsiteX1" fmla="*/ 557349 w 1654629"/>
              <a:gd name="connsiteY1" fmla="*/ 992777 h 997792"/>
              <a:gd name="connsiteX2" fmla="*/ 957943 w 1654629"/>
              <a:gd name="connsiteY2" fmla="*/ 478972 h 997792"/>
              <a:gd name="connsiteX3" fmla="*/ 1201783 w 1654629"/>
              <a:gd name="connsiteY3" fmla="*/ 775063 h 997792"/>
              <a:gd name="connsiteX4" fmla="*/ 1628503 w 1654629"/>
              <a:gd name="connsiteY4" fmla="*/ 43543 h 997792"/>
              <a:gd name="connsiteX5" fmla="*/ 1628503 w 1654629"/>
              <a:gd name="connsiteY5" fmla="*/ 43543 h 997792"/>
              <a:gd name="connsiteX6" fmla="*/ 1654629 w 1654629"/>
              <a:gd name="connsiteY6" fmla="*/ 0 h 997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54629" h="997792">
                <a:moveTo>
                  <a:pt x="0" y="104503"/>
                </a:moveTo>
                <a:cubicBezTo>
                  <a:pt x="198846" y="517434"/>
                  <a:pt x="397692" y="930366"/>
                  <a:pt x="557349" y="992777"/>
                </a:cubicBezTo>
                <a:cubicBezTo>
                  <a:pt x="717006" y="1055188"/>
                  <a:pt x="850537" y="515258"/>
                  <a:pt x="957943" y="478972"/>
                </a:cubicBezTo>
                <a:cubicBezTo>
                  <a:pt x="1065349" y="442686"/>
                  <a:pt x="1090023" y="847634"/>
                  <a:pt x="1201783" y="775063"/>
                </a:cubicBezTo>
                <a:cubicBezTo>
                  <a:pt x="1313543" y="702492"/>
                  <a:pt x="1628503" y="43543"/>
                  <a:pt x="1628503" y="43543"/>
                </a:cubicBezTo>
                <a:lnTo>
                  <a:pt x="1628503" y="43543"/>
                </a:lnTo>
                <a:lnTo>
                  <a:pt x="1654629" y="0"/>
                </a:lnTo>
              </a:path>
            </a:pathLst>
          </a:custGeom>
          <a:noFill/>
          <a:ln>
            <a:solidFill>
              <a:srgbClr val="00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Microsoft YaHei" charset="0"/>
            </a:endParaRPr>
          </a:p>
        </p:txBody>
      </p:sp>
      <p:cxnSp>
        <p:nvCxnSpPr>
          <p:cNvPr id="14" name="直线连接符 13"/>
          <p:cNvCxnSpPr/>
          <p:nvPr/>
        </p:nvCxnSpPr>
        <p:spPr>
          <a:xfrm>
            <a:off x="2391616" y="2189758"/>
            <a:ext cx="0" cy="987494"/>
          </a:xfrm>
          <a:prstGeom prst="line">
            <a:avLst/>
          </a:prstGeom>
          <a:ln>
            <a:solidFill>
              <a:srgbClr val="23BAC3"/>
            </a:solidFill>
            <a:prstDash val="dash"/>
          </a:ln>
        </p:spPr>
        <p:style>
          <a:lnRef idx="1">
            <a:schemeClr val="accent1"/>
          </a:lnRef>
          <a:fillRef idx="0">
            <a:schemeClr val="accent1"/>
          </a:fillRef>
          <a:effectRef idx="0">
            <a:schemeClr val="accent1"/>
          </a:effectRef>
          <a:fontRef idx="minor">
            <a:schemeClr val="tx1"/>
          </a:fontRef>
        </p:style>
      </p:cxnSp>
      <p:cxnSp>
        <p:nvCxnSpPr>
          <p:cNvPr id="44" name="直线连接符 43"/>
          <p:cNvCxnSpPr/>
          <p:nvPr/>
        </p:nvCxnSpPr>
        <p:spPr>
          <a:xfrm>
            <a:off x="2585342" y="2609247"/>
            <a:ext cx="0" cy="568005"/>
          </a:xfrm>
          <a:prstGeom prst="line">
            <a:avLst/>
          </a:prstGeom>
          <a:ln>
            <a:solidFill>
              <a:srgbClr val="23BAC3"/>
            </a:solidFill>
            <a:prstDash val="dash"/>
          </a:ln>
        </p:spPr>
        <p:style>
          <a:lnRef idx="1">
            <a:schemeClr val="accent1"/>
          </a:lnRef>
          <a:fillRef idx="0">
            <a:schemeClr val="accent1"/>
          </a:fillRef>
          <a:effectRef idx="0">
            <a:schemeClr val="accent1"/>
          </a:effectRef>
          <a:fontRef idx="minor">
            <a:schemeClr val="tx1"/>
          </a:fontRef>
        </p:style>
      </p:cxnSp>
      <p:cxnSp>
        <p:nvCxnSpPr>
          <p:cNvPr id="45" name="直线连接符 44"/>
          <p:cNvCxnSpPr/>
          <p:nvPr/>
        </p:nvCxnSpPr>
        <p:spPr>
          <a:xfrm>
            <a:off x="2779070" y="2887468"/>
            <a:ext cx="0" cy="296591"/>
          </a:xfrm>
          <a:prstGeom prst="line">
            <a:avLst/>
          </a:prstGeom>
          <a:ln>
            <a:solidFill>
              <a:srgbClr val="23BAC3"/>
            </a:solidFill>
            <a:prstDash val="dash"/>
          </a:ln>
        </p:spPr>
        <p:style>
          <a:lnRef idx="1">
            <a:schemeClr val="accent1"/>
          </a:lnRef>
          <a:fillRef idx="0">
            <a:schemeClr val="accent1"/>
          </a:fillRef>
          <a:effectRef idx="0">
            <a:schemeClr val="accent1"/>
          </a:effectRef>
          <a:fontRef idx="minor">
            <a:schemeClr val="tx1"/>
          </a:fontRef>
        </p:style>
      </p:cxnSp>
      <p:cxnSp>
        <p:nvCxnSpPr>
          <p:cNvPr id="46" name="直线连接符 45"/>
          <p:cNvCxnSpPr/>
          <p:nvPr/>
        </p:nvCxnSpPr>
        <p:spPr>
          <a:xfrm>
            <a:off x="2983083" y="3000645"/>
            <a:ext cx="0" cy="181603"/>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55" name="直线箭头连接符 54"/>
          <p:cNvCxnSpPr/>
          <p:nvPr/>
        </p:nvCxnSpPr>
        <p:spPr>
          <a:xfrm flipV="1">
            <a:off x="2240749" y="4011353"/>
            <a:ext cx="0" cy="1740281"/>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线箭头连接符 55"/>
          <p:cNvCxnSpPr/>
          <p:nvPr/>
        </p:nvCxnSpPr>
        <p:spPr>
          <a:xfrm>
            <a:off x="2240749" y="5751634"/>
            <a:ext cx="2551028" cy="0"/>
          </a:xfrm>
          <a:prstGeom prst="straightConnector1">
            <a:avLst/>
          </a:prstGeom>
          <a:ln>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任意多边形 20"/>
          <p:cNvSpPr/>
          <p:nvPr/>
        </p:nvSpPr>
        <p:spPr>
          <a:xfrm>
            <a:off x="2295610" y="4299170"/>
            <a:ext cx="2103325" cy="1268369"/>
          </a:xfrm>
          <a:custGeom>
            <a:avLst/>
            <a:gdLst>
              <a:gd name="connsiteX0" fmla="*/ 0 w 1654629"/>
              <a:gd name="connsiteY0" fmla="*/ 104503 h 997792"/>
              <a:gd name="connsiteX1" fmla="*/ 557349 w 1654629"/>
              <a:gd name="connsiteY1" fmla="*/ 992777 h 997792"/>
              <a:gd name="connsiteX2" fmla="*/ 957943 w 1654629"/>
              <a:gd name="connsiteY2" fmla="*/ 478972 h 997792"/>
              <a:gd name="connsiteX3" fmla="*/ 1201783 w 1654629"/>
              <a:gd name="connsiteY3" fmla="*/ 775063 h 997792"/>
              <a:gd name="connsiteX4" fmla="*/ 1628503 w 1654629"/>
              <a:gd name="connsiteY4" fmla="*/ 43543 h 997792"/>
              <a:gd name="connsiteX5" fmla="*/ 1628503 w 1654629"/>
              <a:gd name="connsiteY5" fmla="*/ 43543 h 997792"/>
              <a:gd name="connsiteX6" fmla="*/ 1654629 w 1654629"/>
              <a:gd name="connsiteY6" fmla="*/ 0 h 997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54629" h="997792">
                <a:moveTo>
                  <a:pt x="0" y="104503"/>
                </a:moveTo>
                <a:cubicBezTo>
                  <a:pt x="198846" y="517434"/>
                  <a:pt x="397692" y="930366"/>
                  <a:pt x="557349" y="992777"/>
                </a:cubicBezTo>
                <a:cubicBezTo>
                  <a:pt x="717006" y="1055188"/>
                  <a:pt x="850537" y="515258"/>
                  <a:pt x="957943" y="478972"/>
                </a:cubicBezTo>
                <a:cubicBezTo>
                  <a:pt x="1065349" y="442686"/>
                  <a:pt x="1090023" y="847634"/>
                  <a:pt x="1201783" y="775063"/>
                </a:cubicBezTo>
                <a:cubicBezTo>
                  <a:pt x="1313543" y="702492"/>
                  <a:pt x="1628503" y="43543"/>
                  <a:pt x="1628503" y="43543"/>
                </a:cubicBezTo>
                <a:lnTo>
                  <a:pt x="1628503" y="43543"/>
                </a:lnTo>
                <a:lnTo>
                  <a:pt x="1654629" y="0"/>
                </a:lnTo>
              </a:path>
            </a:pathLst>
          </a:custGeom>
          <a:noFill/>
          <a:ln>
            <a:solidFill>
              <a:srgbClr val="00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Microsoft YaHei" charset="0"/>
            </a:endParaRPr>
          </a:p>
        </p:txBody>
      </p:sp>
      <p:cxnSp>
        <p:nvCxnSpPr>
          <p:cNvPr id="58" name="直线连接符 57"/>
          <p:cNvCxnSpPr/>
          <p:nvPr/>
        </p:nvCxnSpPr>
        <p:spPr>
          <a:xfrm>
            <a:off x="2446477" y="4765298"/>
            <a:ext cx="0" cy="987494"/>
          </a:xfrm>
          <a:prstGeom prst="line">
            <a:avLst/>
          </a:prstGeom>
          <a:ln>
            <a:solidFill>
              <a:srgbClr val="23BAC3"/>
            </a:solidFill>
            <a:prstDash val="dash"/>
          </a:ln>
        </p:spPr>
        <p:style>
          <a:lnRef idx="1">
            <a:schemeClr val="accent1"/>
          </a:lnRef>
          <a:fillRef idx="0">
            <a:schemeClr val="accent1"/>
          </a:fillRef>
          <a:effectRef idx="0">
            <a:schemeClr val="accent1"/>
          </a:effectRef>
          <a:fontRef idx="minor">
            <a:schemeClr val="tx1"/>
          </a:fontRef>
        </p:style>
      </p:cxnSp>
      <p:cxnSp>
        <p:nvCxnSpPr>
          <p:cNvPr id="59" name="直线连接符 58"/>
          <p:cNvCxnSpPr/>
          <p:nvPr/>
        </p:nvCxnSpPr>
        <p:spPr>
          <a:xfrm>
            <a:off x="2640203" y="5184787"/>
            <a:ext cx="0" cy="568005"/>
          </a:xfrm>
          <a:prstGeom prst="line">
            <a:avLst/>
          </a:prstGeom>
          <a:ln>
            <a:solidFill>
              <a:srgbClr val="23BAC3"/>
            </a:solidFill>
            <a:prstDash val="dash"/>
          </a:ln>
        </p:spPr>
        <p:style>
          <a:lnRef idx="1">
            <a:schemeClr val="accent1"/>
          </a:lnRef>
          <a:fillRef idx="0">
            <a:schemeClr val="accent1"/>
          </a:fillRef>
          <a:effectRef idx="0">
            <a:schemeClr val="accent1"/>
          </a:effectRef>
          <a:fontRef idx="minor">
            <a:schemeClr val="tx1"/>
          </a:fontRef>
        </p:style>
      </p:cxnSp>
      <p:cxnSp>
        <p:nvCxnSpPr>
          <p:cNvPr id="60" name="直线连接符 59"/>
          <p:cNvCxnSpPr/>
          <p:nvPr/>
        </p:nvCxnSpPr>
        <p:spPr>
          <a:xfrm>
            <a:off x="2833931" y="5463008"/>
            <a:ext cx="0" cy="296591"/>
          </a:xfrm>
          <a:prstGeom prst="line">
            <a:avLst/>
          </a:prstGeom>
          <a:ln>
            <a:solidFill>
              <a:srgbClr val="23BAC3"/>
            </a:solidFill>
            <a:prstDash val="dash"/>
          </a:ln>
        </p:spPr>
        <p:style>
          <a:lnRef idx="1">
            <a:schemeClr val="accent1"/>
          </a:lnRef>
          <a:fillRef idx="0">
            <a:schemeClr val="accent1"/>
          </a:fillRef>
          <a:effectRef idx="0">
            <a:schemeClr val="accent1"/>
          </a:effectRef>
          <a:fontRef idx="minor">
            <a:schemeClr val="tx1"/>
          </a:fontRef>
        </p:style>
      </p:cxnSp>
      <p:cxnSp>
        <p:nvCxnSpPr>
          <p:cNvPr id="61" name="直线连接符 60"/>
          <p:cNvCxnSpPr/>
          <p:nvPr/>
        </p:nvCxnSpPr>
        <p:spPr>
          <a:xfrm>
            <a:off x="3037944" y="5576185"/>
            <a:ext cx="0" cy="181603"/>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4"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Rectangle 2">
            <a:extLst>
              <a:ext uri="{FF2B5EF4-FFF2-40B4-BE49-F238E27FC236}">
                <a16:creationId xmlns:a16="http://schemas.microsoft.com/office/drawing/2014/main" id="{E1C88F2F-F939-47DF-929B-59622072F7CB}"/>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GBDT</a:t>
            </a:r>
            <a:r>
              <a:rPr lang="zh-CN" altLang="en-US" dirty="0">
                <a:solidFill>
                  <a:schemeClr val="tx1"/>
                </a:solidFill>
              </a:rPr>
              <a:t>算法</a:t>
            </a:r>
          </a:p>
        </p:txBody>
      </p:sp>
    </p:spTree>
    <p:extLst>
      <p:ext uri="{BB962C8B-B14F-4D97-AF65-F5344CB8AC3E}">
        <p14:creationId xmlns:p14="http://schemas.microsoft.com/office/powerpoint/2010/main" val="51290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par>
                          <p:cTn id="15" fill="hold">
                            <p:stCondLst>
                              <p:cond delay="500"/>
                            </p:stCondLst>
                            <p:childTnLst>
                              <p:par>
                                <p:cTn id="16" presetID="23" presetClass="entr" presetSubtype="16" fill="hold" grpId="0" nodeType="after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p:cTn id="18" dur="500" fill="hold"/>
                                        <p:tgtEl>
                                          <p:spTgt spid="29"/>
                                        </p:tgtEl>
                                        <p:attrNameLst>
                                          <p:attrName>ppt_w</p:attrName>
                                        </p:attrNameLst>
                                      </p:cBhvr>
                                      <p:tavLst>
                                        <p:tav tm="0">
                                          <p:val>
                                            <p:fltVal val="0"/>
                                          </p:val>
                                        </p:tav>
                                        <p:tav tm="100000">
                                          <p:val>
                                            <p:strVal val="#ppt_w"/>
                                          </p:val>
                                        </p:tav>
                                      </p:tavLst>
                                    </p:anim>
                                    <p:anim calcmode="lin" valueType="num">
                                      <p:cBhvr>
                                        <p:cTn id="19" dur="500" fill="hold"/>
                                        <p:tgtEl>
                                          <p:spTgt spid="29"/>
                                        </p:tgtEl>
                                        <p:attrNameLst>
                                          <p:attrName>ppt_h</p:attrName>
                                        </p:attrNameLst>
                                      </p:cBhvr>
                                      <p:tavLst>
                                        <p:tav tm="0">
                                          <p:val>
                                            <p:fltVal val="0"/>
                                          </p:val>
                                        </p:tav>
                                        <p:tav tm="100000">
                                          <p:val>
                                            <p:strVal val="#ppt_h"/>
                                          </p:val>
                                        </p:tav>
                                      </p:tavLst>
                                    </p:anim>
                                  </p:childTnLst>
                                </p:cTn>
                              </p:par>
                              <p:par>
                                <p:cTn id="20" presetID="23" presetClass="entr" presetSubtype="16"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childTnLst>
                                </p:cTn>
                              </p:par>
                              <p:par>
                                <p:cTn id="24" presetID="23" presetClass="entr" presetSubtype="16"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up)">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wipe(up)">
                                      <p:cBhvr>
                                        <p:cTn id="37" dur="5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wipe(up)">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up)">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36"/>
                                        </p:tgtEl>
                                        <p:attrNameLst>
                                          <p:attrName>style.visibility</p:attrName>
                                        </p:attrNameLst>
                                      </p:cBhvr>
                                      <p:to>
                                        <p:strVal val="visible"/>
                                      </p:to>
                                    </p:set>
                                    <p:anim calcmode="lin" valueType="num">
                                      <p:cBhvr>
                                        <p:cTn id="52" dur="500" fill="hold"/>
                                        <p:tgtEl>
                                          <p:spTgt spid="36"/>
                                        </p:tgtEl>
                                        <p:attrNameLst>
                                          <p:attrName>ppt_w</p:attrName>
                                        </p:attrNameLst>
                                      </p:cBhvr>
                                      <p:tavLst>
                                        <p:tav tm="0">
                                          <p:val>
                                            <p:fltVal val="0"/>
                                          </p:val>
                                        </p:tav>
                                        <p:tav tm="100000">
                                          <p:val>
                                            <p:strVal val="#ppt_w"/>
                                          </p:val>
                                        </p:tav>
                                      </p:tavLst>
                                    </p:anim>
                                    <p:anim calcmode="lin" valueType="num">
                                      <p:cBhvr>
                                        <p:cTn id="53" dur="500" fill="hold"/>
                                        <p:tgtEl>
                                          <p:spTgt spid="36"/>
                                        </p:tgtEl>
                                        <p:attrNameLst>
                                          <p:attrName>ppt_h</p:attrName>
                                        </p:attrNameLst>
                                      </p:cBhvr>
                                      <p:tavLst>
                                        <p:tav tm="0">
                                          <p:val>
                                            <p:fltVal val="0"/>
                                          </p:val>
                                        </p:tav>
                                        <p:tav tm="100000">
                                          <p:val>
                                            <p:strVal val="#ppt_h"/>
                                          </p:val>
                                        </p:tav>
                                      </p:tavLst>
                                    </p:anim>
                                    <p:animEffect transition="in" filter="fade">
                                      <p:cBhvr>
                                        <p:cTn id="54" dur="500"/>
                                        <p:tgtEl>
                                          <p:spTgt spid="36"/>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anim calcmode="lin" valueType="num">
                                      <p:cBhvr>
                                        <p:cTn id="57" dur="500" fill="hold"/>
                                        <p:tgtEl>
                                          <p:spTgt spid="35"/>
                                        </p:tgtEl>
                                        <p:attrNameLst>
                                          <p:attrName>ppt_w</p:attrName>
                                        </p:attrNameLst>
                                      </p:cBhvr>
                                      <p:tavLst>
                                        <p:tav tm="0">
                                          <p:val>
                                            <p:fltVal val="0"/>
                                          </p:val>
                                        </p:tav>
                                        <p:tav tm="100000">
                                          <p:val>
                                            <p:strVal val="#ppt_w"/>
                                          </p:val>
                                        </p:tav>
                                      </p:tavLst>
                                    </p:anim>
                                    <p:anim calcmode="lin" valueType="num">
                                      <p:cBhvr>
                                        <p:cTn id="58" dur="500" fill="hold"/>
                                        <p:tgtEl>
                                          <p:spTgt spid="35"/>
                                        </p:tgtEl>
                                        <p:attrNameLst>
                                          <p:attrName>ppt_h</p:attrName>
                                        </p:attrNameLst>
                                      </p:cBhvr>
                                      <p:tavLst>
                                        <p:tav tm="0">
                                          <p:val>
                                            <p:fltVal val="0"/>
                                          </p:val>
                                        </p:tav>
                                        <p:tav tm="100000">
                                          <p:val>
                                            <p:strVal val="#ppt_h"/>
                                          </p:val>
                                        </p:tav>
                                      </p:tavLst>
                                    </p:anim>
                                    <p:animEffect transition="in" filter="fade">
                                      <p:cBhvr>
                                        <p:cTn id="59" dur="500"/>
                                        <p:tgtEl>
                                          <p:spTgt spid="35"/>
                                        </p:tgtEl>
                                      </p:cBhvr>
                                    </p:animEffect>
                                  </p:childTnLst>
                                </p:cTn>
                              </p:par>
                            </p:childTnLst>
                          </p:cTn>
                        </p:par>
                        <p:par>
                          <p:cTn id="60" fill="hold">
                            <p:stCondLst>
                              <p:cond delay="500"/>
                            </p:stCondLst>
                            <p:childTnLst>
                              <p:par>
                                <p:cTn id="61" presetID="23" presetClass="entr" presetSubtype="16" fill="hold" grpId="0" nodeType="afterEffect">
                                  <p:stCondLst>
                                    <p:cond delay="0"/>
                                  </p:stCondLst>
                                  <p:childTnLst>
                                    <p:set>
                                      <p:cBhvr>
                                        <p:cTn id="62" dur="1" fill="hold">
                                          <p:stCondLst>
                                            <p:cond delay="0"/>
                                          </p:stCondLst>
                                        </p:cTn>
                                        <p:tgtEl>
                                          <p:spTgt spid="57"/>
                                        </p:tgtEl>
                                        <p:attrNameLst>
                                          <p:attrName>style.visibility</p:attrName>
                                        </p:attrNameLst>
                                      </p:cBhvr>
                                      <p:to>
                                        <p:strVal val="visible"/>
                                      </p:to>
                                    </p:set>
                                    <p:anim calcmode="lin" valueType="num">
                                      <p:cBhvr>
                                        <p:cTn id="63" dur="500" fill="hold"/>
                                        <p:tgtEl>
                                          <p:spTgt spid="57"/>
                                        </p:tgtEl>
                                        <p:attrNameLst>
                                          <p:attrName>ppt_w</p:attrName>
                                        </p:attrNameLst>
                                      </p:cBhvr>
                                      <p:tavLst>
                                        <p:tav tm="0">
                                          <p:val>
                                            <p:fltVal val="0"/>
                                          </p:val>
                                        </p:tav>
                                        <p:tav tm="100000">
                                          <p:val>
                                            <p:strVal val="#ppt_w"/>
                                          </p:val>
                                        </p:tav>
                                      </p:tavLst>
                                    </p:anim>
                                    <p:anim calcmode="lin" valueType="num">
                                      <p:cBhvr>
                                        <p:cTn id="64" dur="500" fill="hold"/>
                                        <p:tgtEl>
                                          <p:spTgt spid="57"/>
                                        </p:tgtEl>
                                        <p:attrNameLst>
                                          <p:attrName>ppt_h</p:attrName>
                                        </p:attrNameLst>
                                      </p:cBhvr>
                                      <p:tavLst>
                                        <p:tav tm="0">
                                          <p:val>
                                            <p:fltVal val="0"/>
                                          </p:val>
                                        </p:tav>
                                        <p:tav tm="100000">
                                          <p:val>
                                            <p:strVal val="#ppt_h"/>
                                          </p:val>
                                        </p:tav>
                                      </p:tavLst>
                                    </p:anim>
                                  </p:childTnLst>
                                </p:cTn>
                              </p:par>
                              <p:par>
                                <p:cTn id="65" presetID="23" presetClass="entr" presetSubtype="16" fill="hold" nodeType="withEffect">
                                  <p:stCondLst>
                                    <p:cond delay="0"/>
                                  </p:stCondLst>
                                  <p:childTnLst>
                                    <p:set>
                                      <p:cBhvr>
                                        <p:cTn id="66" dur="1" fill="hold">
                                          <p:stCondLst>
                                            <p:cond delay="0"/>
                                          </p:stCondLst>
                                        </p:cTn>
                                        <p:tgtEl>
                                          <p:spTgt spid="56"/>
                                        </p:tgtEl>
                                        <p:attrNameLst>
                                          <p:attrName>style.visibility</p:attrName>
                                        </p:attrNameLst>
                                      </p:cBhvr>
                                      <p:to>
                                        <p:strVal val="visible"/>
                                      </p:to>
                                    </p:set>
                                    <p:anim calcmode="lin" valueType="num">
                                      <p:cBhvr>
                                        <p:cTn id="67" dur="500" fill="hold"/>
                                        <p:tgtEl>
                                          <p:spTgt spid="56"/>
                                        </p:tgtEl>
                                        <p:attrNameLst>
                                          <p:attrName>ppt_w</p:attrName>
                                        </p:attrNameLst>
                                      </p:cBhvr>
                                      <p:tavLst>
                                        <p:tav tm="0">
                                          <p:val>
                                            <p:fltVal val="0"/>
                                          </p:val>
                                        </p:tav>
                                        <p:tav tm="100000">
                                          <p:val>
                                            <p:strVal val="#ppt_w"/>
                                          </p:val>
                                        </p:tav>
                                      </p:tavLst>
                                    </p:anim>
                                    <p:anim calcmode="lin" valueType="num">
                                      <p:cBhvr>
                                        <p:cTn id="68" dur="500" fill="hold"/>
                                        <p:tgtEl>
                                          <p:spTgt spid="56"/>
                                        </p:tgtEl>
                                        <p:attrNameLst>
                                          <p:attrName>ppt_h</p:attrName>
                                        </p:attrNameLst>
                                      </p:cBhvr>
                                      <p:tavLst>
                                        <p:tav tm="0">
                                          <p:val>
                                            <p:fltVal val="0"/>
                                          </p:val>
                                        </p:tav>
                                        <p:tav tm="100000">
                                          <p:val>
                                            <p:strVal val="#ppt_h"/>
                                          </p:val>
                                        </p:tav>
                                      </p:tavLst>
                                    </p:anim>
                                  </p:childTnLst>
                                </p:cTn>
                              </p:par>
                              <p:par>
                                <p:cTn id="69" presetID="23" presetClass="entr" presetSubtype="16" fill="hold" nodeType="withEffect">
                                  <p:stCondLst>
                                    <p:cond delay="0"/>
                                  </p:stCondLst>
                                  <p:childTnLst>
                                    <p:set>
                                      <p:cBhvr>
                                        <p:cTn id="70" dur="1" fill="hold">
                                          <p:stCondLst>
                                            <p:cond delay="0"/>
                                          </p:stCondLst>
                                        </p:cTn>
                                        <p:tgtEl>
                                          <p:spTgt spid="55"/>
                                        </p:tgtEl>
                                        <p:attrNameLst>
                                          <p:attrName>style.visibility</p:attrName>
                                        </p:attrNameLst>
                                      </p:cBhvr>
                                      <p:to>
                                        <p:strVal val="visible"/>
                                      </p:to>
                                    </p:set>
                                    <p:anim calcmode="lin" valueType="num">
                                      <p:cBhvr>
                                        <p:cTn id="71" dur="500" fill="hold"/>
                                        <p:tgtEl>
                                          <p:spTgt spid="55"/>
                                        </p:tgtEl>
                                        <p:attrNameLst>
                                          <p:attrName>ppt_w</p:attrName>
                                        </p:attrNameLst>
                                      </p:cBhvr>
                                      <p:tavLst>
                                        <p:tav tm="0">
                                          <p:val>
                                            <p:fltVal val="0"/>
                                          </p:val>
                                        </p:tav>
                                        <p:tav tm="100000">
                                          <p:val>
                                            <p:strVal val="#ppt_w"/>
                                          </p:val>
                                        </p:tav>
                                      </p:tavLst>
                                    </p:anim>
                                    <p:anim calcmode="lin" valueType="num">
                                      <p:cBhvr>
                                        <p:cTn id="72"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58"/>
                                        </p:tgtEl>
                                        <p:attrNameLst>
                                          <p:attrName>style.visibility</p:attrName>
                                        </p:attrNameLst>
                                      </p:cBhvr>
                                      <p:to>
                                        <p:strVal val="visible"/>
                                      </p:to>
                                    </p:set>
                                    <p:animEffect transition="in" filter="wipe(up)">
                                      <p:cBhvr>
                                        <p:cTn id="77" dur="500"/>
                                        <p:tgtEl>
                                          <p:spTgt spid="5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59"/>
                                        </p:tgtEl>
                                        <p:attrNameLst>
                                          <p:attrName>style.visibility</p:attrName>
                                        </p:attrNameLst>
                                      </p:cBhvr>
                                      <p:to>
                                        <p:strVal val="visible"/>
                                      </p:to>
                                    </p:set>
                                    <p:animEffect transition="in" filter="wipe(up)">
                                      <p:cBhvr>
                                        <p:cTn id="82" dur="500"/>
                                        <p:tgtEl>
                                          <p:spTgt spid="5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60"/>
                                        </p:tgtEl>
                                        <p:attrNameLst>
                                          <p:attrName>style.visibility</p:attrName>
                                        </p:attrNameLst>
                                      </p:cBhvr>
                                      <p:to>
                                        <p:strVal val="visible"/>
                                      </p:to>
                                    </p:set>
                                    <p:animEffect transition="in" filter="wipe(up)">
                                      <p:cBhvr>
                                        <p:cTn id="87" dur="500"/>
                                        <p:tgtEl>
                                          <p:spTgt spid="6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nodeType="clickEffect">
                                  <p:stCondLst>
                                    <p:cond delay="0"/>
                                  </p:stCondLst>
                                  <p:childTnLst>
                                    <p:set>
                                      <p:cBhvr>
                                        <p:cTn id="91" dur="1" fill="hold">
                                          <p:stCondLst>
                                            <p:cond delay="0"/>
                                          </p:stCondLst>
                                        </p:cTn>
                                        <p:tgtEl>
                                          <p:spTgt spid="61"/>
                                        </p:tgtEl>
                                        <p:attrNameLst>
                                          <p:attrName>style.visibility</p:attrName>
                                        </p:attrNameLst>
                                      </p:cBhvr>
                                      <p:to>
                                        <p:strVal val="visible"/>
                                      </p:to>
                                    </p:set>
                                    <p:animEffect transition="in" filter="wipe(up)">
                                      <p:cBhvr>
                                        <p:cTn id="92" dur="500"/>
                                        <p:tgtEl>
                                          <p:spTgt spid="61"/>
                                        </p:tgtEl>
                                      </p:cBhvr>
                                    </p:animEffect>
                                  </p:childTnLst>
                                </p:cTn>
                              </p:par>
                            </p:childTnLst>
                          </p:cTn>
                        </p:par>
                      </p:childTnLst>
                    </p:cTn>
                  </p:par>
                  <p:par>
                    <p:cTn id="93" fill="hold">
                      <p:stCondLst>
                        <p:cond delay="indefinite"/>
                      </p:stCondLst>
                      <p:childTnLst>
                        <p:par>
                          <p:cTn id="94" fill="hold">
                            <p:stCondLst>
                              <p:cond delay="0"/>
                            </p:stCondLst>
                            <p:childTnLst>
                              <p:par>
                                <p:cTn id="95" presetID="53" presetClass="entr" presetSubtype="16" fill="hold" grpId="0" nodeType="clickEffect">
                                  <p:stCondLst>
                                    <p:cond delay="0"/>
                                  </p:stCondLst>
                                  <p:childTnLst>
                                    <p:set>
                                      <p:cBhvr>
                                        <p:cTn id="96" dur="1" fill="hold">
                                          <p:stCondLst>
                                            <p:cond delay="0"/>
                                          </p:stCondLst>
                                        </p:cTn>
                                        <p:tgtEl>
                                          <p:spTgt spid="43"/>
                                        </p:tgtEl>
                                        <p:attrNameLst>
                                          <p:attrName>style.visibility</p:attrName>
                                        </p:attrNameLst>
                                      </p:cBhvr>
                                      <p:to>
                                        <p:strVal val="visible"/>
                                      </p:to>
                                    </p:set>
                                    <p:anim calcmode="lin" valueType="num">
                                      <p:cBhvr>
                                        <p:cTn id="97" dur="500" fill="hold"/>
                                        <p:tgtEl>
                                          <p:spTgt spid="43"/>
                                        </p:tgtEl>
                                        <p:attrNameLst>
                                          <p:attrName>ppt_w</p:attrName>
                                        </p:attrNameLst>
                                      </p:cBhvr>
                                      <p:tavLst>
                                        <p:tav tm="0">
                                          <p:val>
                                            <p:fltVal val="0"/>
                                          </p:val>
                                        </p:tav>
                                        <p:tav tm="100000">
                                          <p:val>
                                            <p:strVal val="#ppt_w"/>
                                          </p:val>
                                        </p:tav>
                                      </p:tavLst>
                                    </p:anim>
                                    <p:anim calcmode="lin" valueType="num">
                                      <p:cBhvr>
                                        <p:cTn id="98" dur="500" fill="hold"/>
                                        <p:tgtEl>
                                          <p:spTgt spid="43"/>
                                        </p:tgtEl>
                                        <p:attrNameLst>
                                          <p:attrName>ppt_h</p:attrName>
                                        </p:attrNameLst>
                                      </p:cBhvr>
                                      <p:tavLst>
                                        <p:tav tm="0">
                                          <p:val>
                                            <p:fltVal val="0"/>
                                          </p:val>
                                        </p:tav>
                                        <p:tav tm="100000">
                                          <p:val>
                                            <p:strVal val="#ppt_h"/>
                                          </p:val>
                                        </p:tav>
                                      </p:tavLst>
                                    </p:anim>
                                    <p:animEffect transition="in" filter="fade">
                                      <p:cBhvr>
                                        <p:cTn id="99" dur="500"/>
                                        <p:tgtEl>
                                          <p:spTgt spid="43"/>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42"/>
                                        </p:tgtEl>
                                        <p:attrNameLst>
                                          <p:attrName>style.visibility</p:attrName>
                                        </p:attrNameLst>
                                      </p:cBhvr>
                                      <p:to>
                                        <p:strVal val="visible"/>
                                      </p:to>
                                    </p:set>
                                    <p:anim calcmode="lin" valueType="num">
                                      <p:cBhvr>
                                        <p:cTn id="102" dur="500" fill="hold"/>
                                        <p:tgtEl>
                                          <p:spTgt spid="42"/>
                                        </p:tgtEl>
                                        <p:attrNameLst>
                                          <p:attrName>ppt_w</p:attrName>
                                        </p:attrNameLst>
                                      </p:cBhvr>
                                      <p:tavLst>
                                        <p:tav tm="0">
                                          <p:val>
                                            <p:fltVal val="0"/>
                                          </p:val>
                                        </p:tav>
                                        <p:tav tm="100000">
                                          <p:val>
                                            <p:strVal val="#ppt_w"/>
                                          </p:val>
                                        </p:tav>
                                      </p:tavLst>
                                    </p:anim>
                                    <p:anim calcmode="lin" valueType="num">
                                      <p:cBhvr>
                                        <p:cTn id="103" dur="500" fill="hold"/>
                                        <p:tgtEl>
                                          <p:spTgt spid="42"/>
                                        </p:tgtEl>
                                        <p:attrNameLst>
                                          <p:attrName>ppt_h</p:attrName>
                                        </p:attrNameLst>
                                      </p:cBhvr>
                                      <p:tavLst>
                                        <p:tav tm="0">
                                          <p:val>
                                            <p:fltVal val="0"/>
                                          </p:val>
                                        </p:tav>
                                        <p:tav tm="100000">
                                          <p:val>
                                            <p:strVal val="#ppt_h"/>
                                          </p:val>
                                        </p:tav>
                                      </p:tavLst>
                                    </p:anim>
                                    <p:animEffect transition="in" filter="fade">
                                      <p:cBhvr>
                                        <p:cTn id="10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35" grpId="0"/>
      <p:bldP spid="36" grpId="0"/>
      <p:bldP spid="42" grpId="0"/>
      <p:bldP spid="43" grpId="0" animBg="1"/>
      <p:bldP spid="29" grpId="0" animBg="1"/>
      <p:bldP spid="5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文本框 13"/>
              <p:cNvSpPr txBox="1"/>
              <p:nvPr/>
            </p:nvSpPr>
            <p:spPr>
              <a:xfrm>
                <a:off x="593115" y="1203488"/>
                <a:ext cx="11172166" cy="1765355"/>
              </a:xfrm>
              <a:prstGeom prst="rect">
                <a:avLst/>
              </a:prstGeom>
              <a:noFill/>
            </p:spPr>
            <p:txBody>
              <a:bodyPr wrap="square" rtlCol="0">
                <a:spAutoFit/>
              </a:bodyPr>
              <a:lstStyle/>
              <a:p>
                <a:pPr>
                  <a:lnSpc>
                    <a:spcPct val="150000"/>
                  </a:lnSpc>
                  <a:spcAft>
                    <a:spcPts val="600"/>
                  </a:spcAft>
                </a:pPr>
                <a:r>
                  <a:rPr lang="zh-CN" altLang="en-US" b="1" dirty="0">
                    <a:ea typeface="Microsoft YaHei" charset="0"/>
                  </a:rPr>
                  <a:t>回归树的梯度提升算法：</a:t>
                </a:r>
                <a:endParaRPr lang="en-US" altLang="zh-CN" b="1" dirty="0">
                  <a:ea typeface="Microsoft YaHei" charset="0"/>
                </a:endParaRPr>
              </a:p>
              <a:p>
                <a:pPr>
                  <a:lnSpc>
                    <a:spcPct val="150000"/>
                  </a:lnSpc>
                </a:pPr>
                <a:r>
                  <a:rPr lang="zh-CN" altLang="en-US" dirty="0">
                    <a:ea typeface="Microsoft YaHei" charset="0"/>
                  </a:rPr>
                  <a:t>输入：训练数据集</a:t>
                </a:r>
                <a14:m>
                  <m:oMath xmlns:m="http://schemas.openxmlformats.org/officeDocument/2006/math">
                    <m:r>
                      <a:rPr lang="en-US" altLang="zh-CN" b="0" i="1" smtClean="0">
                        <a:latin typeface="Cambria Math" panose="02040503050406030204" pitchFamily="18" charset="0"/>
                        <a:ea typeface="Microsoft YaHei" charset="0"/>
                      </a:rPr>
                      <m:t>𝑇</m:t>
                    </m:r>
                    <m:r>
                      <a:rPr lang="en-US" altLang="zh-CN" b="0" i="1" smtClean="0">
                        <a:latin typeface="Cambria Math" panose="02040503050406030204" pitchFamily="18" charset="0"/>
                        <a:ea typeface="Microsoft YaHei" charset="0"/>
                      </a:rPr>
                      <m:t>=</m:t>
                    </m:r>
                    <m:d>
                      <m:dPr>
                        <m:begChr m:val="{"/>
                        <m:endChr m:val="}"/>
                        <m:ctrlPr>
                          <a:rPr lang="en-US" altLang="zh-CN" b="0" i="1" smtClean="0">
                            <a:latin typeface="Cambria Math" panose="02040503050406030204" pitchFamily="18" charset="0"/>
                            <a:ea typeface="Microsoft YaHei" charset="0"/>
                          </a:rPr>
                        </m:ctrlPr>
                      </m:dPr>
                      <m:e>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1</m:t>
                                </m:r>
                              </m:sub>
                            </m:sSub>
                          </m:e>
                        </m:d>
                        <m:r>
                          <a:rPr lang="en-US" altLang="zh-CN" b="0" i="1" smtClean="0">
                            <a:latin typeface="Cambria Math" panose="02040503050406030204" pitchFamily="18" charset="0"/>
                            <a:ea typeface="Microsoft YaHei" charset="0"/>
                          </a:rPr>
                          <m:t>,</m:t>
                        </m:r>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2</m:t>
                                </m:r>
                              </m:sub>
                            </m:sSub>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2</m:t>
                                </m:r>
                              </m:sub>
                            </m:sSub>
                          </m:e>
                        </m:d>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m:t>
                        </m:r>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𝑁</m:t>
                                </m:r>
                              </m:sub>
                            </m:sSub>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𝑁</m:t>
                                </m:r>
                              </m:sub>
                            </m:sSub>
                          </m:e>
                        </m:d>
                      </m:e>
                    </m:d>
                    <m:r>
                      <a:rPr lang="zh-CN" altLang="en-US" b="0" i="1" smtClean="0">
                        <a:latin typeface="Cambria Math" panose="02040503050406030204" pitchFamily="18" charset="0"/>
                        <a:ea typeface="Microsoft YaHei" charset="0"/>
                      </a:rPr>
                      <m:t>，</m:t>
                    </m:r>
                    <m:r>
                      <a:rPr lang="zh-CN" altLang="en-US" i="1">
                        <a:latin typeface="Cambria Math" panose="02040503050406030204" pitchFamily="18" charset="0"/>
                        <a:ea typeface="Microsoft YaHei" charset="0"/>
                      </a:rPr>
                      <m:t>损失</m:t>
                    </m:r>
                    <m:r>
                      <a:rPr lang="zh-CN" altLang="en-US" i="1" smtClean="0">
                        <a:latin typeface="Cambria Math" panose="02040503050406030204" pitchFamily="18" charset="0"/>
                        <a:ea typeface="Microsoft YaHei" charset="0"/>
                      </a:rPr>
                      <m:t>函数</m:t>
                    </m:r>
                    <m:r>
                      <m:rPr>
                        <m:sty m:val="p"/>
                      </m:rPr>
                      <a:rPr lang="en-US" altLang="zh-CN" b="0" i="0" smtClean="0">
                        <a:latin typeface="Cambria Math" panose="02040503050406030204" pitchFamily="18" charset="0"/>
                        <a:ea typeface="Microsoft YaHei" charset="0"/>
                      </a:rPr>
                      <m:t>L</m:t>
                    </m:r>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𝑦</m:t>
                    </m:r>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𝑓</m:t>
                    </m:r>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Microsoft YaHei" charset="0"/>
                      </a:rPr>
                      <m:t>))</m:t>
                    </m:r>
                  </m:oMath>
                </a14:m>
                <a:endParaRPr lang="en-US" altLang="zh-CN" dirty="0">
                  <a:ea typeface="Microsoft YaHei" charset="0"/>
                </a:endParaRPr>
              </a:p>
              <a:p>
                <a:pPr>
                  <a:lnSpc>
                    <a:spcPct val="150000"/>
                  </a:lnSpc>
                </a:pPr>
                <a:r>
                  <a:rPr lang="zh-CN" altLang="en-US" dirty="0">
                    <a:ea typeface="Microsoft YaHei" charset="0"/>
                  </a:rPr>
                  <a:t>输出：提升树</a:t>
                </a:r>
                <a14:m>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𝑀</m:t>
                        </m:r>
                      </m:sub>
                    </m:sSub>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Microsoft YaHei" charset="0"/>
                      </a:rPr>
                      <m:t>)</m:t>
                    </m:r>
                  </m:oMath>
                </a14:m>
                <a:endParaRPr lang="en-US" altLang="zh-CN" dirty="0">
                  <a:ea typeface="Microsoft YaHei" charset="0"/>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593115" y="1203488"/>
                <a:ext cx="11172166" cy="1765355"/>
              </a:xfrm>
              <a:prstGeom prst="rect">
                <a:avLst/>
              </a:prstGeom>
              <a:blipFill>
                <a:blip r:embed="rId3"/>
                <a:stretch>
                  <a:fillRect l="-818" b="-68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1590853" y="2907470"/>
                <a:ext cx="4223400" cy="8654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1</m:t>
                          </m:r>
                        </m:e>
                      </m:d>
                      <m:r>
                        <a:rPr lang="zh-CN" altLang="en-US" sz="2000" i="1">
                          <a:latin typeface="Cambria Math" panose="02040503050406030204" pitchFamily="18" charset="0"/>
                          <a:ea typeface="Microsoft YaHei" charset="0"/>
                        </a:rPr>
                        <m:t>初始化</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0</m:t>
                          </m:r>
                        </m:sub>
                      </m:sSub>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𝑎𝑟𝑔</m:t>
                      </m:r>
                      <m:func>
                        <m:funcPr>
                          <m:ctrlPr>
                            <a:rPr lang="en-US" altLang="zh-CN" sz="2000" b="0" i="1" smtClean="0">
                              <a:latin typeface="Cambria Math" panose="02040503050406030204" pitchFamily="18" charset="0"/>
                              <a:ea typeface="Microsoft YaHei" charset="0"/>
                            </a:rPr>
                          </m:ctrlPr>
                        </m:funcPr>
                        <m:fName>
                          <m:limLow>
                            <m:limLowPr>
                              <m:ctrlPr>
                                <a:rPr lang="en-US" altLang="zh-CN" sz="2000" b="0" i="1" smtClean="0">
                                  <a:latin typeface="Cambria Math" panose="02040503050406030204" pitchFamily="18" charset="0"/>
                                  <a:ea typeface="Microsoft YaHei" charset="0"/>
                                </a:rPr>
                              </m:ctrlPr>
                            </m:limLowPr>
                            <m:e>
                              <m:r>
                                <m:rPr>
                                  <m:sty m:val="p"/>
                                </m:rPr>
                                <a:rPr lang="en-US" altLang="zh-CN" sz="2000" b="0" i="0" smtClean="0">
                                  <a:latin typeface="Cambria Math" panose="02040503050406030204" pitchFamily="18" charset="0"/>
                                  <a:ea typeface="Microsoft YaHei" charset="0"/>
                                </a:rPr>
                                <m:t>min</m:t>
                              </m:r>
                            </m:e>
                            <m:lim>
                              <m:r>
                                <a:rPr lang="en-US" altLang="zh-CN" sz="2000" b="0" i="1" smtClean="0">
                                  <a:latin typeface="Cambria Math" panose="02040503050406030204" pitchFamily="18" charset="0"/>
                                  <a:ea typeface="Microsoft YaHei" charset="0"/>
                                </a:rPr>
                                <m:t>𝑐</m:t>
                              </m:r>
                            </m:lim>
                          </m:limLow>
                        </m:fName>
                        <m:e>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𝑁</m:t>
                              </m:r>
                            </m:sup>
                            <m:e>
                              <m:r>
                                <a:rPr lang="en-US" altLang="zh-CN" sz="2000" b="0" i="1" smtClean="0">
                                  <a:latin typeface="Cambria Math" panose="02040503050406030204" pitchFamily="18" charset="0"/>
                                  <a:ea typeface="Microsoft YaHei" charset="0"/>
                                </a:rPr>
                                <m:t>𝐿</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𝑐</m:t>
                              </m:r>
                              <m:r>
                                <a:rPr lang="en-US" altLang="zh-CN" sz="2000" b="0" i="1" smtClean="0">
                                  <a:latin typeface="Cambria Math" panose="02040503050406030204" pitchFamily="18" charset="0"/>
                                  <a:ea typeface="Microsoft YaHei" charset="0"/>
                                </a:rPr>
                                <m:t>)</m:t>
                              </m:r>
                            </m:e>
                          </m:nary>
                        </m:e>
                      </m:func>
                    </m:oMath>
                  </m:oMathPara>
                </a14:m>
                <a:endParaRPr lang="zh-CN" altLang="en-US" sz="2000" dirty="0">
                  <a:ea typeface="Microsoft YaHei" charset="0"/>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1590853" y="2907470"/>
                <a:ext cx="4223400" cy="86549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1590853" y="3713226"/>
                <a:ext cx="212987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2</m:t>
                          </m:r>
                        </m:e>
                      </m:d>
                      <m:r>
                        <a:rPr lang="zh-CN" altLang="en-US" sz="2000" b="0" i="1" smtClean="0">
                          <a:latin typeface="Cambria Math" panose="02040503050406030204" pitchFamily="18" charset="0"/>
                          <a:ea typeface="Microsoft YaHei" charset="0"/>
                        </a:rPr>
                        <m:t>对</m:t>
                      </m:r>
                      <m:r>
                        <a:rPr lang="en-US" altLang="zh-CN" sz="2000" b="0" i="1" smtClean="0">
                          <a:latin typeface="Cambria Math" panose="02040503050406030204" pitchFamily="18" charset="0"/>
                          <a:ea typeface="Microsoft YaHei" charset="0"/>
                        </a:rPr>
                        <m:t>𝑚</m:t>
                      </m:r>
                      <m:r>
                        <a:rPr lang="en-US" altLang="zh-CN" sz="2000" b="0" i="1" smtClean="0">
                          <a:latin typeface="Cambria Math" panose="02040503050406030204" pitchFamily="18" charset="0"/>
                          <a:ea typeface="Microsoft YaHei" charset="0"/>
                        </a:rPr>
                        <m:t>=1,2,…</m:t>
                      </m:r>
                      <m:r>
                        <a:rPr lang="en-US" altLang="zh-CN" sz="2000" b="0" i="1" smtClean="0">
                          <a:latin typeface="Cambria Math" panose="02040503050406030204" pitchFamily="18" charset="0"/>
                          <a:ea typeface="Microsoft YaHei" charset="0"/>
                        </a:rPr>
                        <m:t>𝑀</m:t>
                      </m:r>
                    </m:oMath>
                  </m:oMathPara>
                </a14:m>
                <a:endParaRPr lang="zh-CN" altLang="en-US" sz="2000" dirty="0">
                  <a:ea typeface="Microsoft YaHei" charset="0"/>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1590853" y="3713226"/>
                <a:ext cx="2129878" cy="307777"/>
              </a:xfrm>
              <a:prstGeom prst="rect">
                <a:avLst/>
              </a:prstGeom>
              <a:blipFill>
                <a:blip r:embed="rId5"/>
                <a:stretch>
                  <a:fillRect t="-5882" r="-1719" b="-294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1934536" y="4274566"/>
                <a:ext cx="2430217" cy="3088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𝑎</m:t>
                          </m:r>
                        </m:e>
                      </m:d>
                      <m:r>
                        <a:rPr lang="zh-CN" altLang="en-US" sz="2000" b="0" i="1" smtClean="0">
                          <a:latin typeface="Cambria Math" panose="02040503050406030204" pitchFamily="18" charset="0"/>
                          <a:ea typeface="Microsoft YaHei" charset="0"/>
                        </a:rPr>
                        <m:t>对</m:t>
                      </m:r>
                      <m: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=1,2…</m:t>
                      </m:r>
                      <m:r>
                        <a:rPr lang="en-US" altLang="zh-CN" sz="2000" b="0" i="1" smtClean="0">
                          <a:latin typeface="Cambria Math" panose="02040503050406030204" pitchFamily="18" charset="0"/>
                          <a:ea typeface="Microsoft YaHei" charset="0"/>
                        </a:rPr>
                        <m:t>𝑁</m:t>
                      </m:r>
                      <m:r>
                        <a:rPr lang="zh-CN" altLang="en-US" sz="2000" i="1">
                          <a:latin typeface="Cambria Math" panose="02040503050406030204" pitchFamily="18" charset="0"/>
                          <a:ea typeface="Microsoft YaHei" charset="0"/>
                        </a:rPr>
                        <m:t>计算</m:t>
                      </m:r>
                    </m:oMath>
                  </m:oMathPara>
                </a14:m>
                <a:endParaRPr lang="zh-CN" altLang="en-US" sz="2000" dirty="0">
                  <a:ea typeface="Microsoft YaHei" charset="0"/>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1934536" y="4274566"/>
                <a:ext cx="2430217" cy="308867"/>
              </a:xfrm>
              <a:prstGeom prst="rect">
                <a:avLst/>
              </a:prstGeom>
              <a:blipFill>
                <a:blip r:embed="rId6"/>
                <a:stretch>
                  <a:fillRect t="-9804" r="-3509"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4775218" y="3955754"/>
                <a:ext cx="3829190" cy="7663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𝑟</m:t>
                          </m:r>
                        </m:e>
                        <m:sub>
                          <m:r>
                            <a:rPr lang="en-US" altLang="zh-CN" sz="2000" b="0" i="1" smtClean="0">
                              <a:latin typeface="Cambria Math" panose="02040503050406030204" pitchFamily="18" charset="0"/>
                              <a:ea typeface="Microsoft YaHei" charset="0"/>
                            </a:rPr>
                            <m:t>𝑚𝑖</m:t>
                          </m:r>
                        </m:sub>
                      </m:sSub>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d>
                            <m:dPr>
                              <m:begChr m:val="["/>
                              <m:endChr m:val="]"/>
                              <m:ctrlPr>
                                <a:rPr lang="en-US" altLang="zh-CN" sz="2000" b="0" i="1" smtClean="0">
                                  <a:latin typeface="Cambria Math" panose="02040503050406030204" pitchFamily="18" charset="0"/>
                                  <a:ea typeface="Microsoft YaHei" charset="0"/>
                                </a:rPr>
                              </m:ctrlPr>
                            </m:dPr>
                            <m:e>
                              <m:f>
                                <m:fPr>
                                  <m:ctrlPr>
                                    <a:rPr lang="en-US" altLang="zh-CN" sz="2000" b="0" i="1" smtClean="0">
                                      <a:latin typeface="Cambria Math" panose="02040503050406030204" pitchFamily="18" charset="0"/>
                                      <a:ea typeface="Microsoft YaHei" charset="0"/>
                                    </a:rPr>
                                  </m:ctrlPr>
                                </m:fPr>
                                <m:num>
                                  <m:r>
                                    <a:rPr lang="zh-CN" altLang="en-US"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𝐿</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𝑓</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num>
                                <m:den>
                                  <m:r>
                                    <a:rPr lang="zh-CN" altLang="en-US"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𝑓</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den>
                              </m:f>
                            </m:e>
                          </m:d>
                        </m:e>
                        <m:sub>
                          <m:r>
                            <a:rPr lang="en-US" altLang="zh-CN" sz="2000" b="0" i="1" smtClean="0">
                              <a:latin typeface="Cambria Math" panose="02040503050406030204" pitchFamily="18" charset="0"/>
                              <a:ea typeface="Microsoft YaHei" charset="0"/>
                            </a:rPr>
                            <m:t>𝑓</m:t>
                          </m:r>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𝑚</m:t>
                              </m:r>
                              <m:r>
                                <a:rPr lang="en-US" altLang="zh-CN" sz="2000" b="0" i="1" smtClean="0">
                                  <a:latin typeface="Cambria Math" panose="02040503050406030204" pitchFamily="18" charset="0"/>
                                  <a:ea typeface="Microsoft YaHei" charset="0"/>
                                </a:rPr>
                                <m:t>−1</m:t>
                              </m:r>
                            </m:sub>
                          </m:sSub>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𝑥</m:t>
                          </m:r>
                          <m:r>
                            <a:rPr lang="en-US" altLang="zh-CN" sz="2000" b="0" i="1" smtClean="0">
                              <a:latin typeface="Cambria Math" panose="02040503050406030204" pitchFamily="18" charset="0"/>
                              <a:ea typeface="Microsoft YaHei" charset="0"/>
                            </a:rPr>
                            <m:t>)</m:t>
                          </m:r>
                        </m:sub>
                      </m:sSub>
                    </m:oMath>
                  </m:oMathPara>
                </a14:m>
                <a:endParaRPr lang="zh-CN" altLang="en-US" sz="2000" dirty="0">
                  <a:ea typeface="Microsoft YaHei" charset="0"/>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4775218" y="3955754"/>
                <a:ext cx="3829190" cy="76636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1934536" y="4823550"/>
                <a:ext cx="4798621" cy="3091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𝑏</m:t>
                          </m:r>
                        </m:e>
                      </m:d>
                      <m:r>
                        <a:rPr lang="zh-CN" altLang="en-US" sz="2000" i="1">
                          <a:latin typeface="Cambria Math" panose="02040503050406030204" pitchFamily="18" charset="0"/>
                          <a:ea typeface="Microsoft YaHei" charset="0"/>
                        </a:rPr>
                        <m:t>拟合</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𝑟</m:t>
                          </m:r>
                        </m:e>
                        <m:sub>
                          <m:r>
                            <a:rPr lang="en-US" altLang="zh-CN" sz="2000" b="0" i="1" smtClean="0">
                              <a:latin typeface="Cambria Math" panose="02040503050406030204" pitchFamily="18" charset="0"/>
                              <a:ea typeface="Microsoft YaHei" charset="0"/>
                            </a:rPr>
                            <m:t>𝑚𝑖</m:t>
                          </m:r>
                        </m:sub>
                      </m:sSub>
                      <m:r>
                        <a:rPr lang="zh-CN" altLang="en-US" sz="2000" i="1">
                          <a:latin typeface="Cambria Math" panose="02040503050406030204" pitchFamily="18" charset="0"/>
                          <a:ea typeface="Microsoft YaHei" charset="0"/>
                        </a:rPr>
                        <m:t>学习</m:t>
                      </m:r>
                      <m:r>
                        <a:rPr lang="zh-CN" altLang="en-US" sz="2000" i="1" smtClean="0">
                          <a:latin typeface="Cambria Math" panose="02040503050406030204" pitchFamily="18" charset="0"/>
                          <a:ea typeface="Microsoft YaHei" charset="0"/>
                        </a:rPr>
                        <m:t>一个</m:t>
                      </m:r>
                      <m:r>
                        <a:rPr lang="zh-CN" altLang="en-US" sz="2000" i="1">
                          <a:latin typeface="Cambria Math" panose="02040503050406030204" pitchFamily="18" charset="0"/>
                          <a:ea typeface="Microsoft YaHei" charset="0"/>
                        </a:rPr>
                        <m:t>回归树</m:t>
                      </m:r>
                      <m:r>
                        <a:rPr lang="zh-CN" altLang="en-US" sz="2000" b="0" i="1" smtClean="0">
                          <a:latin typeface="Cambria Math" panose="02040503050406030204" pitchFamily="18" charset="0"/>
                          <a:ea typeface="Microsoft YaHei" charset="0"/>
                        </a:rPr>
                        <m:t>，</m:t>
                      </m:r>
                      <m:r>
                        <a:rPr lang="zh-CN" altLang="en-US" sz="2000" i="1">
                          <a:latin typeface="Cambria Math" panose="02040503050406030204" pitchFamily="18" charset="0"/>
                          <a:ea typeface="Microsoft YaHei" charset="0"/>
                        </a:rPr>
                        <m:t>得到</m:t>
                      </m:r>
                      <m:r>
                        <a:rPr lang="en-US" altLang="zh-CN" sz="2000" i="1">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i="1">
                                  <a:latin typeface="Cambria Math" panose="02040503050406030204" pitchFamily="18" charset="0"/>
                                  <a:ea typeface="Microsoft YaHei" charset="0"/>
                                </a:rPr>
                                <m:t>𝑚</m:t>
                              </m:r>
                            </m:sub>
                          </m:sSub>
                        </m:e>
                      </m:d>
                    </m:oMath>
                  </m:oMathPara>
                </a14:m>
                <a:endParaRPr lang="zh-CN" altLang="en-US" sz="2000" dirty="0">
                  <a:ea typeface="Microsoft YaHei" charset="0"/>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1934536" y="4823550"/>
                <a:ext cx="4798621" cy="309124"/>
              </a:xfrm>
              <a:prstGeom prst="rect">
                <a:avLst/>
              </a:prstGeom>
              <a:blipFill>
                <a:blip r:embed="rId8"/>
                <a:stretch>
                  <a:fillRect t="-7843"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1947008" y="6133645"/>
                <a:ext cx="4387483" cy="3091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𝑑</m:t>
                          </m:r>
                        </m:e>
                      </m:d>
                      <m:r>
                        <a:rPr lang="zh-CN" altLang="en-US" sz="2000" i="1">
                          <a:latin typeface="Cambria Math" panose="02040503050406030204" pitchFamily="18" charset="0"/>
                          <a:ea typeface="Microsoft YaHei" charset="0"/>
                        </a:rPr>
                        <m:t>更新</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𝑚</m:t>
                          </m:r>
                        </m:sub>
                      </m:sSub>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i="1">
                              <a:latin typeface="Cambria Math" panose="02040503050406030204" pitchFamily="18" charset="0"/>
                              <a:ea typeface="Microsoft YaHei" charset="0"/>
                            </a:rPr>
                            <m:t>𝑚</m:t>
                          </m:r>
                          <m:r>
                            <a:rPr lang="en-US" altLang="zh-CN" sz="2000" i="1">
                              <a:latin typeface="Cambria Math" panose="02040503050406030204" pitchFamily="18" charset="0"/>
                              <a:ea typeface="Microsoft YaHei" charset="0"/>
                            </a:rPr>
                            <m:t>−1</m:t>
                          </m:r>
                        </m:sub>
                      </m:sSub>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e>
                      </m:d>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𝜎</m:t>
                          </m:r>
                        </m:e>
                        <m:sub>
                          <m:r>
                            <a:rPr lang="en-US" altLang="zh-CN" sz="2000" i="1">
                              <a:latin typeface="Cambria Math" panose="02040503050406030204" pitchFamily="18" charset="0"/>
                              <a:ea typeface="Microsoft YaHei" charset="0"/>
                            </a:rPr>
                            <m:t>𝑚</m:t>
                          </m:r>
                        </m:sub>
                      </m:sSub>
                      <m:r>
                        <a:rPr lang="en-US" altLang="zh-CN" sz="2000" i="1">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i="1">
                                  <a:latin typeface="Cambria Math" panose="02040503050406030204" pitchFamily="18" charset="0"/>
                                  <a:ea typeface="Microsoft YaHei" charset="0"/>
                                </a:rPr>
                                <m:t>𝑚</m:t>
                              </m:r>
                            </m:sub>
                          </m:sSub>
                        </m:e>
                      </m:d>
                    </m:oMath>
                  </m:oMathPara>
                </a14:m>
                <a:endParaRPr lang="zh-CN" altLang="en-US" sz="2000" dirty="0">
                  <a:ea typeface="Microsoft YaHei" charset="0"/>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1947008" y="6133645"/>
                <a:ext cx="4387483" cy="309124"/>
              </a:xfrm>
              <a:prstGeom prst="rect">
                <a:avLst/>
              </a:prstGeom>
              <a:blipFill>
                <a:blip r:embed="rId9"/>
                <a:stretch>
                  <a:fillRect t="-7843" b="-37255"/>
                </a:stretch>
              </a:blipFill>
            </p:spPr>
            <p:txBody>
              <a:bodyPr/>
              <a:lstStyle/>
              <a:p>
                <a:r>
                  <a:rPr lang="zh-CN" altLang="en-US">
                    <a:noFill/>
                  </a:rPr>
                  <a:t> </a:t>
                </a:r>
              </a:p>
            </p:txBody>
          </p:sp>
        </mc:Fallback>
      </mc:AlternateContent>
      <p:sp>
        <p:nvSpPr>
          <p:cNvPr id="23" name="圆角矩形 22"/>
          <p:cNvSpPr/>
          <p:nvPr/>
        </p:nvSpPr>
        <p:spPr>
          <a:xfrm>
            <a:off x="7760676" y="1866314"/>
            <a:ext cx="2649416" cy="61189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Microsoft YaHei" charset="0"/>
            </a:endParaRPr>
          </a:p>
        </p:txBody>
      </p:sp>
      <mc:AlternateContent xmlns:mc="http://schemas.openxmlformats.org/markup-compatibility/2006" xmlns:a14="http://schemas.microsoft.com/office/drawing/2010/main">
        <mc:Choice Requires="a14">
          <p:sp>
            <p:nvSpPr>
              <p:cNvPr id="24" name="文本框 23"/>
              <p:cNvSpPr txBox="1"/>
              <p:nvPr/>
            </p:nvSpPr>
            <p:spPr>
              <a:xfrm>
                <a:off x="1908792" y="5325551"/>
                <a:ext cx="6541150" cy="7469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𝑐</m:t>
                          </m:r>
                        </m:e>
                      </m:d>
                      <m:r>
                        <a:rPr lang="zh-CN" altLang="en-US" sz="2000" i="1">
                          <a:latin typeface="Cambria Math" panose="02040503050406030204" pitchFamily="18" charset="0"/>
                          <a:ea typeface="Microsoft YaHei" charset="0"/>
                        </a:rPr>
                        <m:t>计算</m:t>
                      </m:r>
                      <m:r>
                        <a:rPr lang="zh-CN" altLang="en-US" sz="2000" i="1" smtClean="0">
                          <a:latin typeface="Cambria Math" panose="02040503050406030204" pitchFamily="18" charset="0"/>
                          <a:ea typeface="Microsoft YaHei" charset="0"/>
                        </a:rPr>
                        <m:t>步</m:t>
                      </m:r>
                      <m:r>
                        <a:rPr lang="zh-CN" altLang="en-US" sz="2000" b="0" i="1" smtClean="0">
                          <a:latin typeface="Cambria Math" panose="02040503050406030204" pitchFamily="18" charset="0"/>
                          <a:ea typeface="Microsoft YaHei" charset="0"/>
                        </a:rPr>
                        <m:t>长</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zh-CN" altLang="en-US" sz="2000" b="0" i="1" smtClean="0">
                              <a:latin typeface="Cambria Math" panose="02040503050406030204" pitchFamily="18" charset="0"/>
                              <a:ea typeface="Microsoft YaHei" charset="0"/>
                            </a:rPr>
                            <m:t>𝜎</m:t>
                          </m:r>
                        </m:e>
                        <m:sub>
                          <m:r>
                            <a:rPr lang="en-US" altLang="zh-CN" sz="2000" b="0" i="1" smtClean="0">
                              <a:latin typeface="Cambria Math" panose="02040503050406030204" pitchFamily="18" charset="0"/>
                              <a:ea typeface="Microsoft YaHei" charset="0"/>
                            </a:rPr>
                            <m:t>𝑚</m:t>
                          </m:r>
                        </m:sub>
                      </m:sSub>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𝑎𝑟𝑔</m:t>
                      </m:r>
                      <m:func>
                        <m:funcPr>
                          <m:ctrlPr>
                            <a:rPr lang="en-US" altLang="zh-CN" sz="2000" b="0" i="1" smtClean="0">
                              <a:latin typeface="Cambria Math" panose="02040503050406030204" pitchFamily="18" charset="0"/>
                              <a:ea typeface="Microsoft YaHei" charset="0"/>
                            </a:rPr>
                          </m:ctrlPr>
                        </m:funcPr>
                        <m:fName>
                          <m:limLow>
                            <m:limLowPr>
                              <m:ctrlPr>
                                <a:rPr lang="en-US" altLang="zh-CN" sz="2000" b="0" i="1" smtClean="0">
                                  <a:latin typeface="Cambria Math" panose="02040503050406030204" pitchFamily="18" charset="0"/>
                                  <a:ea typeface="Microsoft YaHei" charset="0"/>
                                </a:rPr>
                              </m:ctrlPr>
                            </m:limLowPr>
                            <m:e>
                              <m:r>
                                <m:rPr>
                                  <m:sty m:val="p"/>
                                </m:rPr>
                                <a:rPr lang="en-US" altLang="zh-CN" sz="2000" b="0" i="0" smtClean="0">
                                  <a:latin typeface="Cambria Math" panose="02040503050406030204" pitchFamily="18" charset="0"/>
                                  <a:ea typeface="Microsoft YaHei" charset="0"/>
                                </a:rPr>
                                <m:t>min</m:t>
                              </m:r>
                            </m:e>
                            <m:lim>
                              <m:r>
                                <a:rPr lang="zh-CN" altLang="en-US" sz="2000" b="0" i="1" smtClean="0">
                                  <a:latin typeface="Cambria Math" panose="02040503050406030204" pitchFamily="18" charset="0"/>
                                  <a:ea typeface="Microsoft YaHei" charset="0"/>
                                </a:rPr>
                                <m:t>𝜎</m:t>
                              </m:r>
                            </m:lim>
                          </m:limLow>
                        </m:fName>
                        <m:e>
                          <m:nary>
                            <m:naryPr>
                              <m:chr m:val="∑"/>
                              <m:supHide m:val="on"/>
                              <m:ctrlPr>
                                <a:rPr lang="en-US" altLang="zh-CN" sz="2000" b="0" i="1" smtClean="0">
                                  <a:latin typeface="Cambria Math" panose="02040503050406030204" pitchFamily="18" charset="0"/>
                                  <a:ea typeface="Microsoft YaHei" charset="0"/>
                                </a:rPr>
                              </m:ctrlPr>
                            </m:naryPr>
                            <m:sub>
                              <m:r>
                                <m:rPr>
                                  <m:brk m:alnAt="7"/>
                                </m:rP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m:t>
                              </m:r>
                            </m:sub>
                            <m:sup/>
                            <m:e>
                              <m:r>
                                <m:rPr>
                                  <m:sty m:val="p"/>
                                </m:rPr>
                                <a:rPr lang="en-US" altLang="zh-CN" sz="2000" b="0" i="0" smtClean="0">
                                  <a:latin typeface="Cambria Math" panose="02040503050406030204" pitchFamily="18" charset="0"/>
                                  <a:ea typeface="Microsoft YaHei" charset="0"/>
                                </a:rPr>
                                <m:t>L</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𝑚</m:t>
                                  </m:r>
                                  <m:r>
                                    <a:rPr lang="en-US" altLang="zh-CN" sz="2000" b="0" i="1" smtClean="0">
                                      <a:latin typeface="Cambria Math" panose="02040503050406030204" pitchFamily="18" charset="0"/>
                                      <a:ea typeface="Microsoft YaHei" charset="0"/>
                                    </a:rPr>
                                    <m:t>−1</m:t>
                                  </m:r>
                                </m:sub>
                              </m:sSub>
                              <m:d>
                                <m:dPr>
                                  <m:ctrlPr>
                                    <a:rPr lang="en-US" altLang="zh-CN" sz="2000" b="0" i="1" smtClean="0">
                                      <a:latin typeface="Cambria Math" panose="02040503050406030204" pitchFamily="18" charset="0"/>
                                      <a:ea typeface="Microsoft YaHei" charset="0"/>
                                    </a:rPr>
                                  </m:ctrlPr>
                                </m:dPr>
                                <m:e>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e>
                              </m:d>
                              <m:r>
                                <a:rPr lang="en-US" altLang="zh-CN" sz="2000" b="0" i="1" smtClean="0">
                                  <a:latin typeface="Cambria Math" panose="02040503050406030204" pitchFamily="18" charset="0"/>
                                  <a:ea typeface="Microsoft YaHei" charset="0"/>
                                </a:rPr>
                                <m:t>+</m:t>
                              </m:r>
                              <m:r>
                                <a:rPr lang="zh-CN" altLang="en-US" sz="2000" b="0" i="1" smtClean="0">
                                  <a:latin typeface="Cambria Math" panose="02040503050406030204" pitchFamily="18" charset="0"/>
                                  <a:ea typeface="Microsoft YaHei" charset="0"/>
                                </a:rPr>
                                <m:t>𝜎</m:t>
                              </m:r>
                              <m:r>
                                <a:rPr lang="en-US" altLang="zh-CN" sz="2000" i="1">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i="1">
                                          <a:latin typeface="Cambria Math" panose="02040503050406030204" pitchFamily="18" charset="0"/>
                                          <a:ea typeface="Microsoft YaHei" charset="0"/>
                                        </a:rPr>
                                        <m:t>𝑚</m:t>
                                      </m:r>
                                    </m:sub>
                                  </m:sSub>
                                </m:e>
                              </m:d>
                              <m:r>
                                <a:rPr lang="en-US" altLang="zh-CN" sz="2000" b="0" i="1" smtClean="0">
                                  <a:latin typeface="Cambria Math" panose="02040503050406030204" pitchFamily="18" charset="0"/>
                                  <a:ea typeface="Microsoft YaHei" charset="0"/>
                                </a:rPr>
                                <m:t>)</m:t>
                              </m:r>
                            </m:e>
                          </m:nary>
                        </m:e>
                      </m:func>
                    </m:oMath>
                  </m:oMathPara>
                </a14:m>
                <a:endParaRPr lang="zh-CN" altLang="en-US" sz="2000" dirty="0">
                  <a:ea typeface="Microsoft YaHei" charset="0"/>
                </a:endParaRPr>
              </a:p>
            </p:txBody>
          </p:sp>
        </mc:Choice>
        <mc:Fallback xmlns="">
          <p:sp>
            <p:nvSpPr>
              <p:cNvPr id="24" name="文本框 23"/>
              <p:cNvSpPr txBox="1">
                <a:spLocks noRot="1" noChangeAspect="1" noMove="1" noResize="1" noEditPoints="1" noAdjustHandles="1" noChangeArrowheads="1" noChangeShapeType="1" noTextEdit="1"/>
              </p:cNvSpPr>
              <p:nvPr/>
            </p:nvSpPr>
            <p:spPr>
              <a:xfrm>
                <a:off x="1908792" y="5325551"/>
                <a:ext cx="6541150" cy="746936"/>
              </a:xfrm>
              <a:prstGeom prst="rect">
                <a:avLst/>
              </a:prstGeom>
              <a:blipFill>
                <a:blip r:embed="rId10"/>
                <a:stretch>
                  <a:fillRect/>
                </a:stretch>
              </a:blipFill>
            </p:spPr>
            <p:txBody>
              <a:bodyPr/>
              <a:lstStyle/>
              <a:p>
                <a:r>
                  <a:rPr lang="zh-CN" altLang="en-US">
                    <a:noFill/>
                  </a:rPr>
                  <a:t> </a:t>
                </a:r>
              </a:p>
            </p:txBody>
          </p:sp>
        </mc:Fallback>
      </mc:AlternateContent>
      <p:sp>
        <p:nvSpPr>
          <p:cNvPr id="25" name="圆角矩形 24"/>
          <p:cNvSpPr/>
          <p:nvPr/>
        </p:nvSpPr>
        <p:spPr>
          <a:xfrm>
            <a:off x="4658447" y="3889158"/>
            <a:ext cx="4082279" cy="865492"/>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ea typeface="Microsoft YaHei" charset="0"/>
            </a:endParaRPr>
          </a:p>
        </p:txBody>
      </p:sp>
      <p:sp>
        <p:nvSpPr>
          <p:cNvPr id="31"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Rectangle 2">
            <a:extLst>
              <a:ext uri="{FF2B5EF4-FFF2-40B4-BE49-F238E27FC236}">
                <a16:creationId xmlns:a16="http://schemas.microsoft.com/office/drawing/2014/main" id="{0A6A016E-2FEF-4757-B2C6-E7F0F7CD6E62}"/>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GBDT</a:t>
            </a:r>
            <a:r>
              <a:rPr lang="zh-CN" altLang="en-US" dirty="0">
                <a:solidFill>
                  <a:schemeClr val="tx1"/>
                </a:solidFill>
              </a:rPr>
              <a:t>算法</a:t>
            </a:r>
          </a:p>
        </p:txBody>
      </p:sp>
    </p:spTree>
    <p:extLst>
      <p:ext uri="{BB962C8B-B14F-4D97-AF65-F5344CB8AC3E}">
        <p14:creationId xmlns:p14="http://schemas.microsoft.com/office/powerpoint/2010/main" val="187077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additive="base">
                                        <p:cTn id="14" dur="500" fill="hold"/>
                                        <p:tgtEl>
                                          <p:spTgt spid="23"/>
                                        </p:tgtEl>
                                        <p:attrNameLst>
                                          <p:attrName>ppt_x</p:attrName>
                                        </p:attrNameLst>
                                      </p:cBhvr>
                                      <p:tavLst>
                                        <p:tav tm="0">
                                          <p:val>
                                            <p:strVal val="#ppt_x"/>
                                          </p:val>
                                        </p:tav>
                                        <p:tav tm="100000">
                                          <p:val>
                                            <p:strVal val="#ppt_x"/>
                                          </p:val>
                                        </p:tav>
                                      </p:tavLst>
                                    </p:anim>
                                    <p:anim calcmode="lin" valueType="num">
                                      <p:cBhvr additive="base">
                                        <p:cTn id="15"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p:cTn id="20" dur="500" fill="hold"/>
                                        <p:tgtEl>
                                          <p:spTgt spid="15"/>
                                        </p:tgtEl>
                                        <p:attrNameLst>
                                          <p:attrName>ppt_w</p:attrName>
                                        </p:attrNameLst>
                                      </p:cBhvr>
                                      <p:tavLst>
                                        <p:tav tm="0">
                                          <p:val>
                                            <p:fltVal val="0"/>
                                          </p:val>
                                        </p:tav>
                                        <p:tav tm="100000">
                                          <p:val>
                                            <p:strVal val="#ppt_w"/>
                                          </p:val>
                                        </p:tav>
                                      </p:tavLst>
                                    </p:anim>
                                    <p:anim calcmode="lin" valueType="num">
                                      <p:cBhvr>
                                        <p:cTn id="21" dur="500" fill="hold"/>
                                        <p:tgtEl>
                                          <p:spTgt spid="15"/>
                                        </p:tgtEl>
                                        <p:attrNameLst>
                                          <p:attrName>ppt_h</p:attrName>
                                        </p:attrNameLst>
                                      </p:cBhvr>
                                      <p:tavLst>
                                        <p:tav tm="0">
                                          <p:val>
                                            <p:fltVal val="0"/>
                                          </p:val>
                                        </p:tav>
                                        <p:tav tm="100000">
                                          <p:val>
                                            <p:strVal val="#ppt_h"/>
                                          </p:val>
                                        </p:tav>
                                      </p:tavLst>
                                    </p:anim>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animEffect transition="in" filter="fad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p:cTn id="41" dur="500" fill="hold"/>
                                        <p:tgtEl>
                                          <p:spTgt spid="18"/>
                                        </p:tgtEl>
                                        <p:attrNameLst>
                                          <p:attrName>ppt_w</p:attrName>
                                        </p:attrNameLst>
                                      </p:cBhvr>
                                      <p:tavLst>
                                        <p:tav tm="0">
                                          <p:val>
                                            <p:fltVal val="0"/>
                                          </p:val>
                                        </p:tav>
                                        <p:tav tm="100000">
                                          <p:val>
                                            <p:strVal val="#ppt_w"/>
                                          </p:val>
                                        </p:tav>
                                      </p:tavLst>
                                    </p:anim>
                                    <p:anim calcmode="lin" valueType="num">
                                      <p:cBhvr>
                                        <p:cTn id="42" dur="500" fill="hold"/>
                                        <p:tgtEl>
                                          <p:spTgt spid="18"/>
                                        </p:tgtEl>
                                        <p:attrNameLst>
                                          <p:attrName>ppt_h</p:attrName>
                                        </p:attrNameLst>
                                      </p:cBhvr>
                                      <p:tavLst>
                                        <p:tav tm="0">
                                          <p:val>
                                            <p:fltVal val="0"/>
                                          </p:val>
                                        </p:tav>
                                        <p:tav tm="100000">
                                          <p:val>
                                            <p:strVal val="#ppt_h"/>
                                          </p:val>
                                        </p:tav>
                                      </p:tavLst>
                                    </p:anim>
                                    <p:animEffect transition="in" filter="fade">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additive="base">
                                        <p:cTn id="48" dur="500" fill="hold"/>
                                        <p:tgtEl>
                                          <p:spTgt spid="25"/>
                                        </p:tgtEl>
                                        <p:attrNameLst>
                                          <p:attrName>ppt_x</p:attrName>
                                        </p:attrNameLst>
                                      </p:cBhvr>
                                      <p:tavLst>
                                        <p:tav tm="0">
                                          <p:val>
                                            <p:strVal val="#ppt_x"/>
                                          </p:val>
                                        </p:tav>
                                        <p:tav tm="100000">
                                          <p:val>
                                            <p:strVal val="#ppt_x"/>
                                          </p:val>
                                        </p:tav>
                                      </p:tavLst>
                                    </p:anim>
                                    <p:anim calcmode="lin" valueType="num">
                                      <p:cBhvr additive="base">
                                        <p:cTn id="49"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00" fill="hold"/>
                                        <p:tgtEl>
                                          <p:spTgt spid="19"/>
                                        </p:tgtEl>
                                        <p:attrNameLst>
                                          <p:attrName>ppt_w</p:attrName>
                                        </p:attrNameLst>
                                      </p:cBhvr>
                                      <p:tavLst>
                                        <p:tav tm="0">
                                          <p:val>
                                            <p:fltVal val="0"/>
                                          </p:val>
                                        </p:tav>
                                        <p:tav tm="100000">
                                          <p:val>
                                            <p:strVal val="#ppt_w"/>
                                          </p:val>
                                        </p:tav>
                                      </p:tavLst>
                                    </p:anim>
                                    <p:anim calcmode="lin" valueType="num">
                                      <p:cBhvr>
                                        <p:cTn id="55" dur="500" fill="hold"/>
                                        <p:tgtEl>
                                          <p:spTgt spid="19"/>
                                        </p:tgtEl>
                                        <p:attrNameLst>
                                          <p:attrName>ppt_h</p:attrName>
                                        </p:attrNameLst>
                                      </p:cBhvr>
                                      <p:tavLst>
                                        <p:tav tm="0">
                                          <p:val>
                                            <p:fltVal val="0"/>
                                          </p:val>
                                        </p:tav>
                                        <p:tav tm="100000">
                                          <p:val>
                                            <p:strVal val="#ppt_h"/>
                                          </p:val>
                                        </p:tav>
                                      </p:tavLst>
                                    </p:anim>
                                    <p:animEffect transition="in" filter="fade">
                                      <p:cBhvr>
                                        <p:cTn id="56" dur="5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p:cTn id="61" dur="500" fill="hold"/>
                                        <p:tgtEl>
                                          <p:spTgt spid="24"/>
                                        </p:tgtEl>
                                        <p:attrNameLst>
                                          <p:attrName>ppt_w</p:attrName>
                                        </p:attrNameLst>
                                      </p:cBhvr>
                                      <p:tavLst>
                                        <p:tav tm="0">
                                          <p:val>
                                            <p:fltVal val="0"/>
                                          </p:val>
                                        </p:tav>
                                        <p:tav tm="100000">
                                          <p:val>
                                            <p:strVal val="#ppt_w"/>
                                          </p:val>
                                        </p:tav>
                                      </p:tavLst>
                                    </p:anim>
                                    <p:anim calcmode="lin" valueType="num">
                                      <p:cBhvr>
                                        <p:cTn id="62" dur="500" fill="hold"/>
                                        <p:tgtEl>
                                          <p:spTgt spid="24"/>
                                        </p:tgtEl>
                                        <p:attrNameLst>
                                          <p:attrName>ppt_h</p:attrName>
                                        </p:attrNameLst>
                                      </p:cBhvr>
                                      <p:tavLst>
                                        <p:tav tm="0">
                                          <p:val>
                                            <p:fltVal val="0"/>
                                          </p:val>
                                        </p:tav>
                                        <p:tav tm="100000">
                                          <p:val>
                                            <p:strVal val="#ppt_h"/>
                                          </p:val>
                                        </p:tav>
                                      </p:tavLst>
                                    </p:anim>
                                    <p:animEffect transition="in" filter="fade">
                                      <p:cBhvr>
                                        <p:cTn id="63" dur="500"/>
                                        <p:tgtEl>
                                          <p:spTgt spid="24"/>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p:cTn id="68" dur="500" fill="hold"/>
                                        <p:tgtEl>
                                          <p:spTgt spid="20"/>
                                        </p:tgtEl>
                                        <p:attrNameLst>
                                          <p:attrName>ppt_w</p:attrName>
                                        </p:attrNameLst>
                                      </p:cBhvr>
                                      <p:tavLst>
                                        <p:tav tm="0">
                                          <p:val>
                                            <p:fltVal val="0"/>
                                          </p:val>
                                        </p:tav>
                                        <p:tav tm="100000">
                                          <p:val>
                                            <p:strVal val="#ppt_w"/>
                                          </p:val>
                                        </p:tav>
                                      </p:tavLst>
                                    </p:anim>
                                    <p:anim calcmode="lin" valueType="num">
                                      <p:cBhvr>
                                        <p:cTn id="69" dur="500" fill="hold"/>
                                        <p:tgtEl>
                                          <p:spTgt spid="20"/>
                                        </p:tgtEl>
                                        <p:attrNameLst>
                                          <p:attrName>ppt_h</p:attrName>
                                        </p:attrNameLst>
                                      </p:cBhvr>
                                      <p:tavLst>
                                        <p:tav tm="0">
                                          <p:val>
                                            <p:fltVal val="0"/>
                                          </p:val>
                                        </p:tav>
                                        <p:tav tm="100000">
                                          <p:val>
                                            <p:strVal val="#ppt_h"/>
                                          </p:val>
                                        </p:tav>
                                      </p:tavLst>
                                    </p:anim>
                                    <p:animEffect transition="in" filter="fade">
                                      <p:cBhvr>
                                        <p:cTn id="7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P spid="20" grpId="0"/>
      <p:bldP spid="23" grpId="0" animBg="1"/>
      <p:bldP spid="24" grpId="0"/>
      <p:bldP spid="2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a:extLst>
              <a:ext uri="{FF2B5EF4-FFF2-40B4-BE49-F238E27FC236}">
                <a16:creationId xmlns:a16="http://schemas.microsoft.com/office/drawing/2014/main" id="{CAE08E35-DEC9-4689-915B-1B27E7F9279D}"/>
              </a:ext>
            </a:extLst>
          </p:cNvPr>
          <p:cNvSpPr/>
          <p:nvPr/>
        </p:nvSpPr>
        <p:spPr>
          <a:xfrm>
            <a:off x="2399300" y="3518043"/>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chemeClr val="bg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01 </a:t>
            </a:r>
            <a:r>
              <a:rPr lang="en-US" altLang="zh-CN" sz="4000" dirty="0">
                <a:latin typeface="Impact" pitchFamily="34" charset="0"/>
                <a:ea typeface="微软雅黑" pitchFamily="34" charset="-122"/>
              </a:rPr>
              <a:t> </a:t>
            </a:r>
            <a:r>
              <a:rPr lang="en-US" altLang="zh-CN" sz="3600" dirty="0">
                <a:latin typeface="Impact" pitchFamily="34" charset="0"/>
                <a:ea typeface="微软雅黑" pitchFamily="34" charset="-122"/>
              </a:rPr>
              <a:t>  </a:t>
            </a:r>
            <a:r>
              <a:rPr lang="zh-CN" altLang="en-US" sz="3600" dirty="0">
                <a:latin typeface="Impact" pitchFamily="34" charset="0"/>
                <a:ea typeface="微软雅黑" pitchFamily="34" charset="-122"/>
              </a:rPr>
              <a:t>集成学习方法概述</a:t>
            </a:r>
            <a:endParaRPr lang="en-US" altLang="zh-CN" sz="3600" dirty="0">
              <a:latin typeface="Impact" pitchFamily="34" charset="0"/>
              <a:ea typeface="微软雅黑" pitchFamily="34" charset="-122"/>
            </a:endParaRPr>
          </a:p>
        </p:txBody>
      </p:sp>
      <p:sp>
        <p:nvSpPr>
          <p:cNvPr id="8" name="TextBox 10">
            <a:extLst>
              <a:ext uri="{FF2B5EF4-FFF2-40B4-BE49-F238E27FC236}">
                <a16:creationId xmlns:a16="http://schemas.microsoft.com/office/drawing/2014/main" id="{9BE43E83-03B8-4699-AB74-C8EEEC383F30}"/>
              </a:ext>
            </a:extLst>
          </p:cNvPr>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02    AdaBoost</a:t>
            </a:r>
            <a:r>
              <a:rPr lang="zh-CN" altLang="en-US" sz="3600" dirty="0">
                <a:latin typeface="Impact" pitchFamily="34" charset="0"/>
                <a:ea typeface="微软雅黑" pitchFamily="34" charset="-122"/>
              </a:rPr>
              <a:t>和</a:t>
            </a:r>
            <a:r>
              <a:rPr lang="en-US" altLang="zh-CN" sz="3600" dirty="0">
                <a:latin typeface="Impact" pitchFamily="34" charset="0"/>
                <a:ea typeface="微软雅黑" pitchFamily="34" charset="-122"/>
              </a:rPr>
              <a:t>GBDT</a:t>
            </a:r>
            <a:r>
              <a:rPr lang="zh-CN" altLang="en-US" sz="3600" dirty="0">
                <a:latin typeface="Impact" pitchFamily="34" charset="0"/>
                <a:ea typeface="微软雅黑" pitchFamily="34" charset="-122"/>
              </a:rPr>
              <a:t>算法</a:t>
            </a:r>
          </a:p>
        </p:txBody>
      </p:sp>
      <p:sp>
        <p:nvSpPr>
          <p:cNvPr id="9" name="TextBox 11">
            <a:extLst>
              <a:ext uri="{FF2B5EF4-FFF2-40B4-BE49-F238E27FC236}">
                <a16:creationId xmlns:a16="http://schemas.microsoft.com/office/drawing/2014/main" id="{34978614-EBE8-42CE-98D3-1A12F275A36E}"/>
              </a:ext>
            </a:extLst>
          </p:cNvPr>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03    </a:t>
            </a:r>
            <a:r>
              <a:rPr lang="en-US" altLang="zh-CN" sz="3600" dirty="0" err="1">
                <a:solidFill>
                  <a:schemeClr val="bg1"/>
                </a:solidFill>
                <a:latin typeface="Impact" pitchFamily="34" charset="0"/>
                <a:ea typeface="微软雅黑" pitchFamily="34" charset="-122"/>
              </a:rPr>
              <a:t>XGBoost</a:t>
            </a:r>
            <a:endParaRPr lang="zh-CN" altLang="en-US" sz="3600" dirty="0">
              <a:solidFill>
                <a:schemeClr val="bg1"/>
              </a:solidFill>
              <a:latin typeface="Impact" pitchFamily="34" charset="0"/>
              <a:ea typeface="微软雅黑" pitchFamily="34" charset="-122"/>
            </a:endParaRPr>
          </a:p>
        </p:txBody>
      </p:sp>
      <p:sp>
        <p:nvSpPr>
          <p:cNvPr id="10" name="TextBox 10">
            <a:extLst>
              <a:ext uri="{FF2B5EF4-FFF2-40B4-BE49-F238E27FC236}">
                <a16:creationId xmlns:a16="http://schemas.microsoft.com/office/drawing/2014/main" id="{C420D502-7B94-4817-BEB4-B1C83D329CB1}"/>
              </a:ext>
            </a:extLst>
          </p:cNvPr>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04    </a:t>
            </a:r>
            <a:r>
              <a:rPr lang="en-US" altLang="zh-CN" sz="3600" dirty="0" err="1">
                <a:latin typeface="Impact" pitchFamily="34" charset="0"/>
                <a:ea typeface="微软雅黑" pitchFamily="34" charset="-122"/>
              </a:rPr>
              <a:t>LightGBM</a:t>
            </a:r>
            <a:endParaRPr lang="zh-CN" altLang="en-US" sz="3600" dirty="0">
              <a:latin typeface="Impact" pitchFamily="34" charset="0"/>
              <a:ea typeface="微软雅黑" pitchFamily="34" charset="-122"/>
            </a:endParaRPr>
          </a:p>
        </p:txBody>
      </p:sp>
      <p:sp>
        <p:nvSpPr>
          <p:cNvPr id="11" name="Rectangle 2">
            <a:extLst>
              <a:ext uri="{FF2B5EF4-FFF2-40B4-BE49-F238E27FC236}">
                <a16:creationId xmlns:a16="http://schemas.microsoft.com/office/drawing/2014/main" id="{289F1DE7-5B94-4A42-A64A-2E043BADD7B2}"/>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3.XGBoost</a:t>
            </a:r>
            <a:endParaRPr lang="zh-CN" altLang="en-US" dirty="0">
              <a:solidFill>
                <a:schemeClr val="tx1"/>
              </a:solidFill>
            </a:endParaRPr>
          </a:p>
        </p:txBody>
      </p:sp>
    </p:spTree>
    <p:extLst>
      <p:ext uri="{BB962C8B-B14F-4D97-AF65-F5344CB8AC3E}">
        <p14:creationId xmlns:p14="http://schemas.microsoft.com/office/powerpoint/2010/main" val="2329304874"/>
      </p:ext>
    </p:extLst>
  </p:cSld>
  <p:clrMapOvr>
    <a:masterClrMapping/>
  </p:clrMapOvr>
  <p:transition advTm="8005"/>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Rectangle 2">
            <a:extLst>
              <a:ext uri="{FF2B5EF4-FFF2-40B4-BE49-F238E27FC236}">
                <a16:creationId xmlns:a16="http://schemas.microsoft.com/office/drawing/2014/main" id="{75281330-1D9F-4B36-B79C-54261453B8C4}"/>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3.XGBoost</a:t>
            </a:r>
            <a:endParaRPr lang="zh-CN" altLang="en-US" dirty="0">
              <a:solidFill>
                <a:schemeClr val="tx1"/>
              </a:solidFill>
            </a:endParaRPr>
          </a:p>
        </p:txBody>
      </p:sp>
      <p:sp>
        <p:nvSpPr>
          <p:cNvPr id="12" name="文本框 11">
            <a:extLst>
              <a:ext uri="{FF2B5EF4-FFF2-40B4-BE49-F238E27FC236}">
                <a16:creationId xmlns:a16="http://schemas.microsoft.com/office/drawing/2014/main" id="{15FBDA44-DD7C-4455-B535-31374581910A}"/>
              </a:ext>
            </a:extLst>
          </p:cNvPr>
          <p:cNvSpPr txBox="1"/>
          <p:nvPr/>
        </p:nvSpPr>
        <p:spPr>
          <a:xfrm>
            <a:off x="668338" y="1600200"/>
            <a:ext cx="6817530" cy="3351046"/>
          </a:xfrm>
          <a:prstGeom prst="rect">
            <a:avLst/>
          </a:prstGeom>
          <a:noFill/>
        </p:spPr>
        <p:txBody>
          <a:bodyPr wrap="square">
            <a:spAutoFit/>
          </a:bodyPr>
          <a:lstStyle/>
          <a:p>
            <a:pPr>
              <a:lnSpc>
                <a:spcPct val="150000"/>
              </a:lnSpc>
            </a:pPr>
            <a:r>
              <a:rPr lang="en-US" altLang="zh-CN" sz="2400" b="1" kern="100" dirty="0" err="1">
                <a:effectLst/>
                <a:latin typeface="微软雅黑" panose="020B0503020204020204" pitchFamily="34" charset="-122"/>
                <a:cs typeface="Times New Roman" panose="02020603050405020304" pitchFamily="18" charset="0"/>
              </a:rPr>
              <a:t>XGBoost</a:t>
            </a:r>
            <a:r>
              <a:rPr lang="en-US" altLang="zh-CN" sz="2400" kern="100" dirty="0">
                <a:effectLst/>
                <a:latin typeface="微软雅黑" panose="020B0503020204020204" pitchFamily="34" charset="-122"/>
                <a:cs typeface="Times New Roman" panose="02020603050405020304" pitchFamily="18" charset="0"/>
              </a:rPr>
              <a:t> </a:t>
            </a:r>
            <a:r>
              <a:rPr lang="zh-CN" altLang="zh-CN" sz="2400" kern="100" dirty="0">
                <a:effectLst/>
                <a:latin typeface="微软雅黑" panose="020B0503020204020204" pitchFamily="34" charset="-122"/>
                <a:cs typeface="Times New Roman" panose="02020603050405020304" pitchFamily="18" charset="0"/>
              </a:rPr>
              <a:t>是大规模并行</a:t>
            </a:r>
            <a:r>
              <a:rPr lang="en-US" altLang="zh-CN" sz="2400" kern="100" dirty="0">
                <a:effectLst/>
                <a:latin typeface="微软雅黑" panose="020B0503020204020204" pitchFamily="34" charset="-122"/>
                <a:cs typeface="Times New Roman" panose="02020603050405020304" pitchFamily="18" charset="0"/>
              </a:rPr>
              <a:t> boosting tree </a:t>
            </a:r>
            <a:r>
              <a:rPr lang="zh-CN" altLang="zh-CN" sz="2400" kern="100" dirty="0">
                <a:effectLst/>
                <a:latin typeface="微软雅黑" panose="020B0503020204020204" pitchFamily="34" charset="-122"/>
                <a:cs typeface="Times New Roman" panose="02020603050405020304" pitchFamily="18" charset="0"/>
              </a:rPr>
              <a:t>的工具，它是目前最快最好的开源</a:t>
            </a:r>
            <a:r>
              <a:rPr lang="en-US" altLang="zh-CN" sz="2400" kern="100" dirty="0">
                <a:effectLst/>
                <a:latin typeface="微软雅黑" panose="020B0503020204020204" pitchFamily="34" charset="-122"/>
                <a:cs typeface="Times New Roman" panose="02020603050405020304" pitchFamily="18" charset="0"/>
              </a:rPr>
              <a:t> boosting tree </a:t>
            </a:r>
            <a:r>
              <a:rPr lang="zh-CN" altLang="zh-CN" sz="2400" kern="100" dirty="0">
                <a:effectLst/>
                <a:latin typeface="微软雅黑" panose="020B0503020204020204" pitchFamily="34" charset="-122"/>
                <a:cs typeface="Times New Roman" panose="02020603050405020304" pitchFamily="18" charset="0"/>
              </a:rPr>
              <a:t>工具包，比常见的工具包快</a:t>
            </a:r>
            <a:r>
              <a:rPr lang="en-US" altLang="zh-CN" sz="2400" kern="100" dirty="0">
                <a:effectLst/>
                <a:latin typeface="微软雅黑" panose="020B0503020204020204" pitchFamily="34" charset="-122"/>
                <a:cs typeface="Times New Roman" panose="02020603050405020304" pitchFamily="18" charset="0"/>
              </a:rPr>
              <a:t> 10 </a:t>
            </a:r>
            <a:r>
              <a:rPr lang="zh-CN" altLang="zh-CN" sz="2400" kern="100" dirty="0">
                <a:effectLst/>
                <a:latin typeface="微软雅黑" panose="020B0503020204020204" pitchFamily="34" charset="-122"/>
                <a:cs typeface="Times New Roman" panose="02020603050405020304" pitchFamily="18" charset="0"/>
              </a:rPr>
              <a:t>倍以上。</a:t>
            </a:r>
            <a:r>
              <a:rPr lang="en-US" altLang="zh-CN" sz="2400" kern="100" dirty="0" err="1">
                <a:effectLst/>
                <a:latin typeface="微软雅黑" panose="020B0503020204020204" pitchFamily="34" charset="-122"/>
                <a:cs typeface="Times New Roman" panose="02020603050405020304" pitchFamily="18" charset="0"/>
              </a:rPr>
              <a:t>XGBoost</a:t>
            </a:r>
            <a:r>
              <a:rPr lang="en-US" altLang="zh-CN" sz="2400" kern="100" dirty="0">
                <a:effectLst/>
                <a:latin typeface="微软雅黑" panose="020B0503020204020204" pitchFamily="34" charset="-122"/>
                <a:cs typeface="Times New Roman" panose="02020603050405020304" pitchFamily="18" charset="0"/>
              </a:rPr>
              <a:t> </a:t>
            </a:r>
            <a:r>
              <a:rPr lang="zh-CN" altLang="zh-CN" sz="2400" kern="100" dirty="0">
                <a:effectLst/>
                <a:latin typeface="微软雅黑" panose="020B0503020204020204" pitchFamily="34" charset="-122"/>
                <a:cs typeface="Times New Roman" panose="02020603050405020304" pitchFamily="18" charset="0"/>
              </a:rPr>
              <a:t>和</a:t>
            </a:r>
            <a:r>
              <a:rPr lang="en-US" altLang="zh-CN" sz="2400" kern="100" dirty="0">
                <a:effectLst/>
                <a:latin typeface="微软雅黑" panose="020B0503020204020204" pitchFamily="34" charset="-122"/>
                <a:cs typeface="Times New Roman" panose="02020603050405020304" pitchFamily="18" charset="0"/>
              </a:rPr>
              <a:t> GBDT </a:t>
            </a:r>
            <a:r>
              <a:rPr lang="zh-CN" altLang="zh-CN" sz="2400" kern="100" dirty="0">
                <a:effectLst/>
                <a:latin typeface="微软雅黑" panose="020B0503020204020204" pitchFamily="34" charset="-122"/>
                <a:cs typeface="Times New Roman" panose="02020603050405020304" pitchFamily="18" charset="0"/>
              </a:rPr>
              <a:t>两者都是</a:t>
            </a:r>
            <a:r>
              <a:rPr lang="en-US" altLang="zh-CN" sz="2400" kern="100" dirty="0">
                <a:effectLst/>
                <a:latin typeface="微软雅黑" panose="020B0503020204020204" pitchFamily="34" charset="-122"/>
                <a:cs typeface="Times New Roman" panose="02020603050405020304" pitchFamily="18" charset="0"/>
              </a:rPr>
              <a:t> boosting </a:t>
            </a:r>
            <a:r>
              <a:rPr lang="zh-CN" altLang="zh-CN" sz="2400" kern="100" dirty="0">
                <a:effectLst/>
                <a:latin typeface="微软雅黑" panose="020B0503020204020204" pitchFamily="34" charset="-122"/>
                <a:cs typeface="Times New Roman" panose="02020603050405020304" pitchFamily="18" charset="0"/>
              </a:rPr>
              <a:t>方法，除了工程实现、解决问题上的一些差异外，最大的不同就是目标函数的定义。</a:t>
            </a:r>
            <a:endParaRPr lang="zh-CN" altLang="en-US" dirty="0">
              <a:latin typeface="微软雅黑" panose="020B0503020204020204" pitchFamily="34" charset="-122"/>
            </a:endParaRPr>
          </a:p>
        </p:txBody>
      </p:sp>
      <p:pic>
        <p:nvPicPr>
          <p:cNvPr id="1026" name="Picture 2" descr="【转】XGBoost参数调优完全指南（附Python代码）">
            <a:extLst>
              <a:ext uri="{FF2B5EF4-FFF2-40B4-BE49-F238E27FC236}">
                <a16:creationId xmlns:a16="http://schemas.microsoft.com/office/drawing/2014/main" id="{A5621CA9-8BA6-4D56-93E9-BBAE4E5CDD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5868" y="1790557"/>
            <a:ext cx="4037794" cy="1708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046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FB083C6F-F655-4D3E-977E-E6A9CCDB4382}"/>
              </a:ext>
            </a:extLst>
          </p:cNvPr>
          <p:cNvSpPr/>
          <p:nvPr/>
        </p:nvSpPr>
        <p:spPr>
          <a:xfrm>
            <a:off x="497227" y="5926316"/>
            <a:ext cx="7943388" cy="812109"/>
          </a:xfrm>
          <a:prstGeom prst="roundRect">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5" name="文本框 4"/>
              <p:cNvSpPr txBox="1"/>
              <p:nvPr/>
            </p:nvSpPr>
            <p:spPr>
              <a:xfrm>
                <a:off x="899159" y="1485971"/>
                <a:ext cx="7019101"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𝑂𝑏𝑗</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𝑡</m:t>
                          </m:r>
                        </m:e>
                      </m:d>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𝑛</m:t>
                          </m:r>
                        </m:sup>
                        <m:e>
                          <m:r>
                            <m:rPr>
                              <m:sty m:val="p"/>
                            </m:rPr>
                            <a:rPr lang="en-US" altLang="zh-CN" b="0" i="0" smtClean="0">
                              <a:latin typeface="Cambria Math" panose="02040503050406030204" pitchFamily="18" charset="0"/>
                              <a:ea typeface="Microsoft YaHei" charset="0"/>
                            </a:rPr>
                            <m:t>L</m:t>
                          </m:r>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sSup>
                                <m:sSupPr>
                                  <m:ctrlPr>
                                    <a:rPr lang="en-US" altLang="zh-CN" b="0" i="1" smtClean="0">
                                      <a:latin typeface="Cambria Math" panose="02040503050406030204" pitchFamily="18" charset="0"/>
                                      <a:ea typeface="Microsoft YaHei" charset="0"/>
                                    </a:rPr>
                                  </m:ctrlPr>
                                </m:sSupPr>
                                <m:e>
                                  <m:acc>
                                    <m:accPr>
                                      <m:chr m:val="̂"/>
                                      <m:ctrlPr>
                                        <a:rPr lang="en-US" altLang="zh-CN" b="0" i="1" smtClean="0">
                                          <a:latin typeface="Cambria Math" panose="02040503050406030204" pitchFamily="18" charset="0"/>
                                          <a:ea typeface="Microsoft YaHei" charset="0"/>
                                        </a:rPr>
                                      </m:ctrlPr>
                                    </m:accPr>
                                    <m:e>
                                      <m:r>
                                        <a:rPr lang="en-US" altLang="zh-CN" b="0" i="1" smtClean="0">
                                          <a:latin typeface="Cambria Math" panose="02040503050406030204" pitchFamily="18" charset="0"/>
                                          <a:ea typeface="Microsoft YaHei" charset="0"/>
                                        </a:rPr>
                                        <m:t>𝑦</m:t>
                                      </m:r>
                                    </m:e>
                                  </m:acc>
                                </m:e>
                                <m:sup>
                                  <m:r>
                                    <a:rPr lang="en-US" altLang="zh-CN" b="0" i="1" smtClean="0">
                                      <a:latin typeface="Cambria Math" panose="02040503050406030204" pitchFamily="18" charset="0"/>
                                      <a:ea typeface="Microsoft YaHei" charset="0"/>
                                    </a:rPr>
                                    <m:t>𝑡</m:t>
                                  </m:r>
                                  <m:r>
                                    <a:rPr lang="en-US" altLang="zh-CN" b="0" i="1" smtClean="0">
                                      <a:latin typeface="Cambria Math" panose="02040503050406030204" pitchFamily="18" charset="0"/>
                                      <a:ea typeface="Microsoft YaHei" charset="0"/>
                                    </a:rPr>
                                    <m:t>−1</m:t>
                                  </m:r>
                                </m:sup>
                              </m:sSup>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𝑡</m:t>
                                  </m:r>
                                </m:sub>
                              </m:sSub>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e>
                              </m:d>
                            </m:e>
                          </m:d>
                          <m:r>
                            <a:rPr lang="en-US" altLang="zh-CN" b="0" i="1" smtClean="0">
                              <a:latin typeface="Cambria Math" panose="02040503050406030204" pitchFamily="18" charset="0"/>
                              <a:ea typeface="Microsoft YaHei" charset="0"/>
                            </a:rPr>
                            <m:t>+</m:t>
                          </m:r>
                          <m:r>
                            <m:rPr>
                              <m:sty m:val="p"/>
                            </m:rPr>
                            <a:rPr lang="el-GR" altLang="zh-CN" b="0" i="1" smtClean="0">
                              <a:latin typeface="Cambria Math" panose="02040503050406030204" pitchFamily="18" charset="0"/>
                              <a:ea typeface="Cambria Math" panose="02040503050406030204" pitchFamily="18" charset="0"/>
                            </a:rPr>
                            <m:t>Ω</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𝑓</m:t>
                                  </m:r>
                                </m:e>
                                <m:sub>
                                  <m:r>
                                    <a:rPr lang="en-US" altLang="zh-CN" b="0" i="1" smtClean="0">
                                      <a:latin typeface="Cambria Math" panose="02040503050406030204" pitchFamily="18" charset="0"/>
                                      <a:ea typeface="Cambria Math" panose="02040503050406030204" pitchFamily="18" charset="0"/>
                                    </a:rPr>
                                    <m:t>𝑡</m:t>
                                  </m:r>
                                </m:sub>
                              </m:sSub>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𝑐𝑜𝑛𝑠𝑡𝑎𝑛𝑡</m:t>
                          </m:r>
                        </m:e>
                      </m:nary>
                    </m:oMath>
                  </m:oMathPara>
                </a14:m>
                <a:endParaRPr lang="zh-CN" altLang="en-US" dirty="0">
                  <a:ea typeface="Microsoft YaHei"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899159" y="1485971"/>
                <a:ext cx="7019101" cy="100822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2215225" y="2457810"/>
                <a:ext cx="7338678" cy="69147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𝑓</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Microsoft YaHei" charset="0"/>
                            </a:rPr>
                            <m:t>+</m:t>
                          </m:r>
                          <m:r>
                            <m:rPr>
                              <m:sty m:val="p"/>
                            </m:rPr>
                            <a:rPr lang="el-GR" altLang="zh-CN" b="0" i="1" smtClean="0">
                              <a:latin typeface="Cambria Math" panose="02040503050406030204" pitchFamily="18" charset="0"/>
                              <a:ea typeface="Cambria Math" panose="02040503050406030204" pitchFamily="18" charset="0"/>
                            </a:rPr>
                            <m:t>Δ</m:t>
                          </m:r>
                          <m:r>
                            <a:rPr lang="en-US" altLang="zh-CN" b="0" i="1" smtClean="0">
                              <a:latin typeface="Cambria Math" panose="02040503050406030204" pitchFamily="18" charset="0"/>
                              <a:ea typeface="Cambria Math" panose="02040503050406030204" pitchFamily="18" charset="0"/>
                            </a:rPr>
                            <m:t>𝑥</m:t>
                          </m:r>
                        </m:e>
                      </m:d>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𝑓</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p>
                        <m:sSupPr>
                          <m:ctrlPr>
                            <a:rPr lang="en-US" altLang="zh-CN" b="0" i="1" smtClean="0">
                              <a:latin typeface="Cambria Math" panose="02040503050406030204" pitchFamily="18" charset="0"/>
                              <a:ea typeface="Microsoft YaHei" charset="0"/>
                            </a:rPr>
                          </m:ctrlPr>
                        </m:sSupPr>
                        <m:e>
                          <m:r>
                            <a:rPr lang="en-US" altLang="zh-CN" b="0" i="1" smtClean="0">
                              <a:latin typeface="Cambria Math" panose="02040503050406030204" pitchFamily="18" charset="0"/>
                              <a:ea typeface="Microsoft YaHei" charset="0"/>
                            </a:rPr>
                            <m:t>𝑓</m:t>
                          </m:r>
                        </m:e>
                        <m:sup>
                          <m:r>
                            <a:rPr lang="en-US" altLang="zh-CN" b="0" i="1" smtClean="0">
                              <a:latin typeface="Cambria Math" panose="02040503050406030204" pitchFamily="18" charset="0"/>
                              <a:ea typeface="Microsoft YaHei" charset="0"/>
                            </a:rPr>
                            <m:t>′</m:t>
                          </m:r>
                        </m:sup>
                      </m:sSup>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m:rPr>
                          <m:sty m:val="p"/>
                        </m:rPr>
                        <a:rPr lang="el-GR" altLang="zh-CN" i="1">
                          <a:latin typeface="Cambria Math" panose="02040503050406030204" pitchFamily="18" charset="0"/>
                          <a:ea typeface="Cambria Math" panose="02040503050406030204" pitchFamily="18" charset="0"/>
                        </a:rPr>
                        <m:t>Δ</m:t>
                      </m:r>
                      <m:r>
                        <a:rPr lang="en-US" altLang="zh-CN" i="1">
                          <a:latin typeface="Cambria Math" panose="02040503050406030204" pitchFamily="18" charset="0"/>
                          <a:ea typeface="Cambria Math" panose="02040503050406030204" pitchFamily="18" charset="0"/>
                        </a:rPr>
                        <m:t>𝑥</m:t>
                      </m:r>
                      <m:r>
                        <a:rPr lang="en-US" altLang="zh-CN" b="0" i="0"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2</m:t>
                          </m:r>
                        </m:den>
                      </m:f>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𝑓</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m:rPr>
                              <m:sty m:val="p"/>
                            </m:rPr>
                            <a:rPr lang="el-GR" altLang="zh-CN" i="1">
                              <a:latin typeface="Cambria Math" panose="02040503050406030204" pitchFamily="18" charset="0"/>
                              <a:ea typeface="Cambria Math" panose="02040503050406030204" pitchFamily="18" charset="0"/>
                            </a:rPr>
                            <m:t>Δ</m:t>
                          </m:r>
                          <m:r>
                            <a:rPr lang="en-US" altLang="zh-CN" i="1">
                              <a:latin typeface="Cambria Math" panose="02040503050406030204" pitchFamily="18" charset="0"/>
                              <a:ea typeface="Cambria Math" panose="02040503050406030204" pitchFamily="18" charset="0"/>
                            </a:rPr>
                            <m:t>𝑥</m:t>
                          </m:r>
                        </m:e>
                        <m:sup>
                          <m:r>
                            <a:rPr lang="en-US" altLang="zh-CN" b="0" i="1" smtClean="0">
                              <a:latin typeface="Cambria Math" panose="02040503050406030204" pitchFamily="18" charset="0"/>
                              <a:ea typeface="Cambria Math" panose="02040503050406030204" pitchFamily="18" charset="0"/>
                            </a:rPr>
                            <m:t>2</m:t>
                          </m:r>
                        </m:sup>
                      </m:sSup>
                    </m:oMath>
                  </m:oMathPara>
                </a14:m>
                <a:endParaRPr lang="zh-CN" altLang="en-US" dirty="0">
                  <a:ea typeface="Microsoft YaHei"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2215225" y="2457810"/>
                <a:ext cx="7338678" cy="69147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899159" y="2632219"/>
                <a:ext cx="1316066" cy="3702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ea typeface="Microsoft YaHei" charset="0"/>
                        </a:rPr>
                        <m:t>泰勒展开</m:t>
                      </m:r>
                    </m:oMath>
                  </m:oMathPara>
                </a14:m>
                <a:endParaRPr lang="zh-CN" altLang="en-US" dirty="0">
                  <a:ea typeface="Microsoft YaHei"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899159" y="2632219"/>
                <a:ext cx="1316066" cy="370230"/>
              </a:xfrm>
              <a:prstGeom prst="rect">
                <a:avLst/>
              </a:prstGeom>
              <a:blipFill>
                <a:blip r:embed="rId4"/>
                <a:stretch>
                  <a:fillRect l="-7407" t="-9836" r="-7870" b="-32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824229" y="4095254"/>
                <a:ext cx="9448036" cy="642355"/>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𝑂𝑏𝑗</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𝑡</m:t>
                        </m:r>
                      </m:e>
                    </m:d>
                    <m:r>
                      <a:rPr lang="en-US" altLang="zh-CN" i="1">
                        <a:latin typeface="Cambria Math" panose="02040503050406030204" pitchFamily="18" charset="0"/>
                        <a:ea typeface="Microsoft YaHei" charset="0"/>
                      </a:rPr>
                      <m:t>=</m:t>
                    </m:r>
                    <m:nary>
                      <m:naryPr>
                        <m:chr m:val="∑"/>
                        <m:ctrlPr>
                          <a:rPr lang="en-US" altLang="zh-CN"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𝑛</m:t>
                        </m:r>
                      </m:sup>
                      <m:e>
                        <m:d>
                          <m:dPr>
                            <m:begChr m:val="["/>
                            <m:endChr m:val="]"/>
                            <m:ctrlPr>
                              <a:rPr lang="en-US" altLang="zh-CN" i="1" smtClean="0">
                                <a:latin typeface="Cambria Math" panose="02040503050406030204" pitchFamily="18" charset="0"/>
                                <a:ea typeface="Microsoft YaHei" charset="0"/>
                              </a:rPr>
                            </m:ctrlPr>
                          </m:dPr>
                          <m:e>
                            <m:r>
                              <m:rPr>
                                <m:sty m:val="p"/>
                              </m:rPr>
                              <a:rPr lang="en-US" altLang="zh-CN" b="0" i="0" smtClean="0">
                                <a:latin typeface="Cambria Math" panose="02040503050406030204" pitchFamily="18" charset="0"/>
                                <a:ea typeface="Microsoft YaHei" charset="0"/>
                              </a:rPr>
                              <m:t>L</m:t>
                            </m:r>
                            <m:d>
                              <m:dPr>
                                <m:ctrlPr>
                                  <a:rPr lang="en-US" altLang="zh-CN" b="0" i="1" smtClean="0">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𝑦</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Sup>
                                  <m:sSupPr>
                                    <m:ctrlPr>
                                      <a:rPr lang="en-US" altLang="zh-CN" i="1">
                                        <a:latin typeface="Cambria Math" panose="02040503050406030204" pitchFamily="18" charset="0"/>
                                        <a:ea typeface="Microsoft YaHei" charset="0"/>
                                      </a:rPr>
                                    </m:ctrlPr>
                                  </m:sSupPr>
                                  <m:e>
                                    <m:acc>
                                      <m:accPr>
                                        <m:chr m:val="̂"/>
                                        <m:ctrlPr>
                                          <a:rPr lang="en-US" altLang="zh-CN" i="1">
                                            <a:latin typeface="Cambria Math" panose="02040503050406030204" pitchFamily="18" charset="0"/>
                                            <a:ea typeface="Microsoft YaHei" charset="0"/>
                                          </a:rPr>
                                        </m:ctrlPr>
                                      </m:accPr>
                                      <m:e>
                                        <m:r>
                                          <a:rPr lang="en-US" altLang="zh-CN" i="1">
                                            <a:latin typeface="Cambria Math" panose="02040503050406030204" pitchFamily="18" charset="0"/>
                                            <a:ea typeface="Microsoft YaHei" charset="0"/>
                                          </a:rPr>
                                          <m:t>𝑦</m:t>
                                        </m:r>
                                      </m:e>
                                    </m:acc>
                                  </m:e>
                                  <m:sup>
                                    <m:r>
                                      <a:rPr lang="en-US" altLang="zh-CN" i="1">
                                        <a:latin typeface="Cambria Math" panose="02040503050406030204" pitchFamily="18" charset="0"/>
                                        <a:ea typeface="Microsoft YaHei" charset="0"/>
                                      </a:rPr>
                                      <m:t>𝑡</m:t>
                                    </m:r>
                                    <m:r>
                                      <a:rPr lang="en-US" altLang="zh-CN" i="1">
                                        <a:latin typeface="Cambria Math" panose="02040503050406030204" pitchFamily="18" charset="0"/>
                                        <a:ea typeface="Microsoft YaHei" charset="0"/>
                                      </a:rPr>
                                      <m:t>−1</m:t>
                                    </m:r>
                                  </m:sup>
                                </m:sSup>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𝑔</m:t>
                                </m:r>
                              </m:e>
                              <m:sub>
                                <m:r>
                                  <a:rPr lang="en-US" altLang="zh-CN" b="0" i="1" smtClean="0">
                                    <a:latin typeface="Cambria Math" panose="02040503050406030204" pitchFamily="18" charset="0"/>
                                    <a:ea typeface="Microsoft YaHei" charset="0"/>
                                  </a:rPr>
                                  <m:t>𝑖</m:t>
                                </m:r>
                              </m:sub>
                            </m:sSub>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𝑡</m:t>
                                </m:r>
                              </m:sub>
                            </m:sSub>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e>
                            </m:d>
                            <m:r>
                              <a:rPr lang="en-US" altLang="zh-CN" b="0" i="1" smtClean="0">
                                <a:latin typeface="Cambria Math" panose="02040503050406030204" pitchFamily="18" charset="0"/>
                                <a:ea typeface="Microsoft YaHei" charset="0"/>
                              </a:rPr>
                              <m:t>+</m:t>
                            </m:r>
                            <m:f>
                              <m:fPr>
                                <m:ctrlPr>
                                  <a:rPr lang="en-US" altLang="zh-CN" b="0" i="1" smtClean="0">
                                    <a:latin typeface="Cambria Math" panose="02040503050406030204" pitchFamily="18" charset="0"/>
                                    <a:ea typeface="Microsoft YaHei" charset="0"/>
                                  </a:rPr>
                                </m:ctrlPr>
                              </m:fPr>
                              <m:num>
                                <m:r>
                                  <a:rPr lang="en-US" altLang="zh-CN" b="0" i="1" smtClean="0">
                                    <a:latin typeface="Cambria Math" panose="02040503050406030204" pitchFamily="18" charset="0"/>
                                    <a:ea typeface="Microsoft YaHei" charset="0"/>
                                  </a:rPr>
                                  <m:t>1</m:t>
                                </m:r>
                              </m:num>
                              <m:den>
                                <m:r>
                                  <a:rPr lang="en-US" altLang="zh-CN" b="0" i="1" smtClean="0">
                                    <a:latin typeface="Cambria Math" panose="02040503050406030204" pitchFamily="18" charset="0"/>
                                    <a:ea typeface="Microsoft YaHei" charset="0"/>
                                  </a:rPr>
                                  <m:t>2</m:t>
                                </m:r>
                              </m:den>
                            </m:f>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h</m:t>
                                </m:r>
                              </m:e>
                              <m:sub>
                                <m:r>
                                  <a:rPr lang="en-US" altLang="zh-CN" b="0" i="1" smtClean="0">
                                    <a:latin typeface="Cambria Math" panose="02040503050406030204" pitchFamily="18" charset="0"/>
                                    <a:ea typeface="Microsoft YaHei" charset="0"/>
                                  </a:rPr>
                                  <m:t>𝑖</m:t>
                                </m:r>
                              </m:sub>
                            </m:sSub>
                            <m:sSup>
                              <m:sSupPr>
                                <m:ctrlPr>
                                  <a:rPr lang="en-US" altLang="zh-CN" b="0" i="1" smtClean="0">
                                    <a:latin typeface="Cambria Math" panose="02040503050406030204" pitchFamily="18" charset="0"/>
                                    <a:ea typeface="Microsoft YaHei" charset="0"/>
                                  </a:rPr>
                                </m:ctrlPr>
                              </m:sSup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𝑡</m:t>
                                    </m:r>
                                  </m:sub>
                                </m:sSub>
                              </m:e>
                              <m:sup>
                                <m:r>
                                  <a:rPr lang="en-US" altLang="zh-CN" b="0" i="1" smtClean="0">
                                    <a:latin typeface="Cambria Math" panose="02040503050406030204" pitchFamily="18" charset="0"/>
                                    <a:ea typeface="Microsoft YaHei" charset="0"/>
                                  </a:rPr>
                                  <m:t>2</m:t>
                                </m:r>
                              </m:sup>
                            </m:sSup>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e>
                        </m:d>
                      </m:e>
                    </m:nary>
                  </m:oMath>
                </a14:m>
                <a:r>
                  <a:rPr lang="el-GR" altLang="zh-CN" dirty="0">
                    <a:ea typeface="Cambria Math" panose="02040503050406030204" pitchFamily="18" charset="0"/>
                  </a:rPr>
                  <a:t> </a:t>
                </a:r>
                <a14:m>
                  <m:oMath xmlns:m="http://schemas.openxmlformats.org/officeDocument/2006/math">
                    <m:r>
                      <a:rPr lang="en-US" altLang="zh-CN" b="0" i="0" smtClean="0">
                        <a:latin typeface="Cambria Math" panose="02040503050406030204" pitchFamily="18" charset="0"/>
                        <a:ea typeface="Cambria Math" panose="02040503050406030204" pitchFamily="18" charset="0"/>
                      </a:rPr>
                      <m:t>+</m:t>
                    </m:r>
                    <m:r>
                      <m:rPr>
                        <m:sty m:val="p"/>
                      </m:rPr>
                      <a:rPr lang="el-GR" altLang="zh-CN" i="1">
                        <a:latin typeface="Cambria Math" panose="02040503050406030204" pitchFamily="18" charset="0"/>
                        <a:ea typeface="Cambria Math" panose="02040503050406030204" pitchFamily="18" charset="0"/>
                      </a:rPr>
                      <m:t>Ω</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𝑓</m:t>
                            </m:r>
                          </m:e>
                          <m:sub>
                            <m:r>
                              <a:rPr lang="en-US" altLang="zh-CN" i="1">
                                <a:latin typeface="Cambria Math" panose="02040503050406030204" pitchFamily="18" charset="0"/>
                                <a:ea typeface="Cambria Math" panose="02040503050406030204" pitchFamily="18" charset="0"/>
                              </a:rPr>
                              <m:t>𝑡</m:t>
                            </m:r>
                          </m:sub>
                        </m:sSub>
                      </m:e>
                    </m:d>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𝑐𝑜𝑛𝑠𝑡𝑎𝑛𝑡</m:t>
                    </m:r>
                  </m:oMath>
                </a14:m>
                <a:endParaRPr lang="zh-CN" altLang="en-US" dirty="0">
                  <a:ea typeface="Microsoft YaHei"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824229" y="4095254"/>
                <a:ext cx="9448036" cy="64235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1686261" y="4979298"/>
                <a:ext cx="2533322" cy="8313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𝑔</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f>
                        <m:fPr>
                          <m:ctrlPr>
                            <a:rPr lang="en-US" altLang="zh-CN" b="0" i="1" smtClean="0">
                              <a:latin typeface="Cambria Math" panose="02040503050406030204" pitchFamily="18" charset="0"/>
                              <a:ea typeface="Microsoft YaHei" charset="0"/>
                            </a:rPr>
                          </m:ctrlPr>
                        </m:fPr>
                        <m:num>
                          <m:r>
                            <a:rPr lang="zh-CN" altLang="en-US" b="0" i="1" smtClean="0">
                              <a:latin typeface="Cambria Math" panose="02040503050406030204" pitchFamily="18" charset="0"/>
                              <a:ea typeface="Microsoft YaHei" charset="0"/>
                            </a:rPr>
                            <m:t>𝜕</m:t>
                          </m:r>
                          <m:r>
                            <m:rPr>
                              <m:sty m:val="p"/>
                            </m:rPr>
                            <a:rPr lang="en-US" altLang="zh-CN" b="0" i="0" smtClean="0">
                              <a:latin typeface="Cambria Math" panose="02040503050406030204" pitchFamily="18" charset="0"/>
                              <a:ea typeface="Microsoft YaHei" charset="0"/>
                            </a:rPr>
                            <m:t>L</m:t>
                          </m:r>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𝑦</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Sup>
                                <m:sSupPr>
                                  <m:ctrlPr>
                                    <a:rPr lang="en-US" altLang="zh-CN" i="1">
                                      <a:latin typeface="Cambria Math" panose="02040503050406030204" pitchFamily="18" charset="0"/>
                                      <a:ea typeface="Microsoft YaHei" charset="0"/>
                                    </a:rPr>
                                  </m:ctrlPr>
                                </m:sSupPr>
                                <m:e>
                                  <m:acc>
                                    <m:accPr>
                                      <m:chr m:val="̂"/>
                                      <m:ctrlPr>
                                        <a:rPr lang="en-US" altLang="zh-CN" i="1">
                                          <a:latin typeface="Cambria Math" panose="02040503050406030204" pitchFamily="18" charset="0"/>
                                          <a:ea typeface="Microsoft YaHei" charset="0"/>
                                        </a:rPr>
                                      </m:ctrlPr>
                                    </m:accPr>
                                    <m:e>
                                      <m:r>
                                        <a:rPr lang="en-US" altLang="zh-CN" i="1">
                                          <a:latin typeface="Cambria Math" panose="02040503050406030204" pitchFamily="18" charset="0"/>
                                          <a:ea typeface="Microsoft YaHei" charset="0"/>
                                        </a:rPr>
                                        <m:t>𝑦</m:t>
                                      </m:r>
                                    </m:e>
                                  </m:acc>
                                </m:e>
                                <m:sup>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𝑡</m:t>
                                  </m:r>
                                  <m:r>
                                    <a:rPr lang="en-US" altLang="zh-CN" i="1">
                                      <a:latin typeface="Cambria Math" panose="02040503050406030204" pitchFamily="18" charset="0"/>
                                      <a:ea typeface="Microsoft YaHei" charset="0"/>
                                    </a:rPr>
                                    <m:t>−1)</m:t>
                                  </m:r>
                                </m:sup>
                              </m:sSup>
                            </m:e>
                          </m:d>
                        </m:num>
                        <m:den>
                          <m:r>
                            <a:rPr lang="zh-CN" altLang="en-US" i="1">
                              <a:latin typeface="Cambria Math" panose="02040503050406030204" pitchFamily="18" charset="0"/>
                              <a:ea typeface="Microsoft YaHei" charset="0"/>
                            </a:rPr>
                            <m:t>𝜕</m:t>
                          </m:r>
                          <m:sSup>
                            <m:sSupPr>
                              <m:ctrlPr>
                                <a:rPr lang="en-US" altLang="zh-CN" i="1">
                                  <a:latin typeface="Cambria Math" panose="02040503050406030204" pitchFamily="18" charset="0"/>
                                  <a:ea typeface="Microsoft YaHei" charset="0"/>
                                </a:rPr>
                              </m:ctrlPr>
                            </m:sSupPr>
                            <m:e>
                              <m:acc>
                                <m:accPr>
                                  <m:chr m:val="̂"/>
                                  <m:ctrlPr>
                                    <a:rPr lang="en-US" altLang="zh-CN" i="1">
                                      <a:latin typeface="Cambria Math" panose="02040503050406030204" pitchFamily="18" charset="0"/>
                                      <a:ea typeface="Microsoft YaHei" charset="0"/>
                                    </a:rPr>
                                  </m:ctrlPr>
                                </m:accPr>
                                <m:e>
                                  <m:r>
                                    <a:rPr lang="en-US" altLang="zh-CN" i="1">
                                      <a:latin typeface="Cambria Math" panose="02040503050406030204" pitchFamily="18" charset="0"/>
                                      <a:ea typeface="Microsoft YaHei" charset="0"/>
                                    </a:rPr>
                                    <m:t>𝑦</m:t>
                                  </m:r>
                                </m:e>
                              </m:acc>
                            </m:e>
                            <m:sup>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𝑡</m:t>
                              </m:r>
                              <m:r>
                                <a:rPr lang="en-US" altLang="zh-CN" i="1">
                                  <a:latin typeface="Cambria Math" panose="02040503050406030204" pitchFamily="18" charset="0"/>
                                  <a:ea typeface="Microsoft YaHei" charset="0"/>
                                </a:rPr>
                                <m:t>−1)</m:t>
                              </m:r>
                            </m:sup>
                          </m:sSup>
                        </m:den>
                      </m:f>
                    </m:oMath>
                  </m:oMathPara>
                </a14:m>
                <a:endParaRPr lang="zh-CN" altLang="en-US" dirty="0">
                  <a:ea typeface="Microsoft YaHei"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686261" y="4979298"/>
                <a:ext cx="2533322" cy="83138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5719153" y="4969039"/>
                <a:ext cx="2684261" cy="8313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h</m:t>
                          </m:r>
                        </m:e>
                        <m:sub>
                          <m:r>
                            <a:rPr lang="en-US" altLang="zh-CN" i="1">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f>
                        <m:fPr>
                          <m:ctrlPr>
                            <a:rPr lang="en-US" altLang="zh-CN" b="0" i="1" smtClean="0">
                              <a:latin typeface="Cambria Math" panose="02040503050406030204" pitchFamily="18" charset="0"/>
                              <a:ea typeface="Microsoft YaHei" charset="0"/>
                            </a:rPr>
                          </m:ctrlPr>
                        </m:fPr>
                        <m:num>
                          <m:sSup>
                            <m:sSupPr>
                              <m:ctrlPr>
                                <a:rPr lang="en-US" altLang="zh-CN" b="0" i="1" smtClean="0">
                                  <a:latin typeface="Cambria Math" panose="02040503050406030204" pitchFamily="18" charset="0"/>
                                  <a:ea typeface="Microsoft YaHei" charset="0"/>
                                </a:rPr>
                              </m:ctrlPr>
                            </m:sSupPr>
                            <m:e>
                              <m:r>
                                <a:rPr lang="zh-CN" altLang="en-US" b="0" i="1" smtClean="0">
                                  <a:latin typeface="Cambria Math" panose="02040503050406030204" pitchFamily="18" charset="0"/>
                                  <a:ea typeface="Microsoft YaHei" charset="0"/>
                                </a:rPr>
                                <m:t>𝜕</m:t>
                              </m:r>
                            </m:e>
                            <m:sup>
                              <m:r>
                                <a:rPr lang="en-US" altLang="zh-CN" b="0" i="1" smtClean="0">
                                  <a:latin typeface="Cambria Math" panose="02040503050406030204" pitchFamily="18" charset="0"/>
                                  <a:ea typeface="Microsoft YaHei" charset="0"/>
                                </a:rPr>
                                <m:t>2</m:t>
                              </m:r>
                            </m:sup>
                          </m:sSup>
                          <m:r>
                            <m:rPr>
                              <m:sty m:val="p"/>
                            </m:rPr>
                            <a:rPr lang="en-US" altLang="zh-CN" b="0" i="0" smtClean="0">
                              <a:latin typeface="Cambria Math" panose="02040503050406030204" pitchFamily="18" charset="0"/>
                              <a:ea typeface="Microsoft YaHei" charset="0"/>
                            </a:rPr>
                            <m:t>L</m:t>
                          </m:r>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𝑦</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Sup>
                                <m:sSupPr>
                                  <m:ctrlPr>
                                    <a:rPr lang="en-US" altLang="zh-CN" i="1">
                                      <a:latin typeface="Cambria Math" panose="02040503050406030204" pitchFamily="18" charset="0"/>
                                      <a:ea typeface="Microsoft YaHei" charset="0"/>
                                    </a:rPr>
                                  </m:ctrlPr>
                                </m:sSupPr>
                                <m:e>
                                  <m:acc>
                                    <m:accPr>
                                      <m:chr m:val="̂"/>
                                      <m:ctrlPr>
                                        <a:rPr lang="en-US" altLang="zh-CN" i="1">
                                          <a:latin typeface="Cambria Math" panose="02040503050406030204" pitchFamily="18" charset="0"/>
                                          <a:ea typeface="Microsoft YaHei" charset="0"/>
                                        </a:rPr>
                                      </m:ctrlPr>
                                    </m:accPr>
                                    <m:e>
                                      <m:r>
                                        <a:rPr lang="en-US" altLang="zh-CN" i="1">
                                          <a:latin typeface="Cambria Math" panose="02040503050406030204" pitchFamily="18" charset="0"/>
                                          <a:ea typeface="Microsoft YaHei" charset="0"/>
                                        </a:rPr>
                                        <m:t>𝑦</m:t>
                                      </m:r>
                                    </m:e>
                                  </m:acc>
                                </m:e>
                                <m:sup>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𝑡</m:t>
                                  </m:r>
                                  <m:r>
                                    <a:rPr lang="en-US" altLang="zh-CN" i="1">
                                      <a:latin typeface="Cambria Math" panose="02040503050406030204" pitchFamily="18" charset="0"/>
                                      <a:ea typeface="Microsoft YaHei" charset="0"/>
                                    </a:rPr>
                                    <m:t>−1)</m:t>
                                  </m:r>
                                </m:sup>
                              </m:sSup>
                            </m:e>
                          </m:d>
                        </m:num>
                        <m:den>
                          <m:r>
                            <a:rPr lang="zh-CN" altLang="en-US" i="1">
                              <a:latin typeface="Cambria Math" panose="02040503050406030204" pitchFamily="18" charset="0"/>
                              <a:ea typeface="Microsoft YaHei" charset="0"/>
                            </a:rPr>
                            <m:t>𝜕</m:t>
                          </m:r>
                          <m:sSup>
                            <m:sSupPr>
                              <m:ctrlPr>
                                <a:rPr lang="en-US" altLang="zh-CN" i="1">
                                  <a:latin typeface="Cambria Math" panose="02040503050406030204" pitchFamily="18" charset="0"/>
                                  <a:ea typeface="Microsoft YaHei" charset="0"/>
                                </a:rPr>
                              </m:ctrlPr>
                            </m:sSupPr>
                            <m:e>
                              <m:acc>
                                <m:accPr>
                                  <m:chr m:val="̂"/>
                                  <m:ctrlPr>
                                    <a:rPr lang="en-US" altLang="zh-CN" i="1">
                                      <a:latin typeface="Cambria Math" panose="02040503050406030204" pitchFamily="18" charset="0"/>
                                      <a:ea typeface="Microsoft YaHei" charset="0"/>
                                    </a:rPr>
                                  </m:ctrlPr>
                                </m:accPr>
                                <m:e>
                                  <m:r>
                                    <a:rPr lang="en-US" altLang="zh-CN" i="1">
                                      <a:latin typeface="Cambria Math" panose="02040503050406030204" pitchFamily="18" charset="0"/>
                                      <a:ea typeface="Microsoft YaHei" charset="0"/>
                                    </a:rPr>
                                    <m:t>𝑦</m:t>
                                  </m:r>
                                </m:e>
                              </m:acc>
                            </m:e>
                            <m:sup>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𝑡</m:t>
                              </m:r>
                              <m:r>
                                <a:rPr lang="en-US" altLang="zh-CN" i="1">
                                  <a:latin typeface="Cambria Math" panose="02040503050406030204" pitchFamily="18" charset="0"/>
                                  <a:ea typeface="Microsoft YaHei" charset="0"/>
                                </a:rPr>
                                <m:t>−1)</m:t>
                              </m:r>
                            </m:sup>
                          </m:sSup>
                        </m:den>
                      </m:f>
                    </m:oMath>
                  </m:oMathPara>
                </a14:m>
                <a:endParaRPr lang="zh-CN" altLang="en-US" dirty="0">
                  <a:ea typeface="Microsoft YaHei"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5719153" y="4969039"/>
                <a:ext cx="2684261" cy="831381"/>
              </a:xfrm>
              <a:prstGeom prst="rect">
                <a:avLst/>
              </a:prstGeom>
              <a:blipFill>
                <a:blip r:embed="rId7"/>
                <a:stretch>
                  <a:fillRect/>
                </a:stretch>
              </a:blipFill>
            </p:spPr>
            <p:txBody>
              <a:bodyPr/>
              <a:lstStyle/>
              <a:p>
                <a:r>
                  <a:rPr lang="zh-CN" altLang="en-US">
                    <a:noFill/>
                  </a:rPr>
                  <a:t> </a:t>
                </a:r>
              </a:p>
            </p:txBody>
          </p:sp>
        </mc:Fallback>
      </mc:AlternateContent>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Rectangle 2">
            <a:extLst>
              <a:ext uri="{FF2B5EF4-FFF2-40B4-BE49-F238E27FC236}">
                <a16:creationId xmlns:a16="http://schemas.microsoft.com/office/drawing/2014/main" id="{75281330-1D9F-4B36-B79C-54261453B8C4}"/>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3.XGBoost</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6024AF6-8F45-4876-AB9C-E3017D59CB00}"/>
                  </a:ext>
                </a:extLst>
              </p:cNvPr>
              <p:cNvSpPr txBox="1"/>
              <p:nvPr/>
            </p:nvSpPr>
            <p:spPr>
              <a:xfrm>
                <a:off x="607378" y="5926316"/>
                <a:ext cx="7943388" cy="488660"/>
              </a:xfrm>
              <a:prstGeom prst="rect">
                <a:avLst/>
              </a:prstGeom>
              <a:noFill/>
            </p:spPr>
            <p:txBody>
              <a:bodyPr wrap="square">
                <a:spAutoFit/>
              </a:bodyPr>
              <a:lstStyle/>
              <a:p>
                <a:r>
                  <a:rPr lang="zh-CN" altLang="en-US" sz="1600" dirty="0"/>
                  <a:t>备注</a:t>
                </a:r>
                <a14:m>
                  <m:oMath xmlns:m="http://schemas.openxmlformats.org/officeDocument/2006/math">
                    <m:r>
                      <a:rPr lang="zh-CN" altLang="en-US" sz="1600" i="1">
                        <a:latin typeface="Cambria Math" panose="02040503050406030204" pitchFamily="18" charset="0"/>
                      </a:rPr>
                      <m:t>：</m:t>
                    </m:r>
                    <m:r>
                      <a:rPr lang="en-US" altLang="zh-CN" sz="1600" i="1" smtClean="0">
                        <a:latin typeface="Cambria Math" panose="02040503050406030204" pitchFamily="18" charset="0"/>
                      </a:rPr>
                      <m:t>𝑛</m:t>
                    </m:r>
                  </m:oMath>
                </a14:m>
                <a:r>
                  <a:rPr lang="zh-CN" altLang="zh-CN" sz="1600" dirty="0"/>
                  <a:t>阶泰勒公式：</a:t>
                </a:r>
                <a14:m>
                  <m:oMath xmlns:m="http://schemas.openxmlformats.org/officeDocument/2006/math">
                    <m:r>
                      <a:rPr lang="en-US" altLang="zh-CN" sz="1600" i="1">
                        <a:latin typeface="Cambria Math" panose="02040503050406030204" pitchFamily="18" charset="0"/>
                      </a:rPr>
                      <m:t>𝑓</m:t>
                    </m:r>
                    <m:r>
                      <a:rPr lang="en-US" altLang="zh-CN" sz="1600">
                        <a:latin typeface="Cambria Math" panose="02040503050406030204" pitchFamily="18" charset="0"/>
                      </a:rPr>
                      <m:t>(</m:t>
                    </m:r>
                    <m:r>
                      <a:rPr lang="en-US" altLang="zh-CN" sz="1600" i="1">
                        <a:latin typeface="Cambria Math" panose="02040503050406030204" pitchFamily="18" charset="0"/>
                      </a:rPr>
                      <m:t>𝑥</m:t>
                    </m:r>
                    <m:r>
                      <a:rPr lang="en-US" altLang="zh-CN" sz="1600">
                        <a:latin typeface="Cambria Math" panose="02040503050406030204" pitchFamily="18" charset="0"/>
                      </a:rPr>
                      <m:t>)=</m:t>
                    </m:r>
                    <m:r>
                      <a:rPr lang="en-US" altLang="zh-CN" sz="1600" i="1">
                        <a:latin typeface="Cambria Math" panose="02040503050406030204" pitchFamily="18" charset="0"/>
                      </a:rPr>
                      <m:t>𝑓</m:t>
                    </m:r>
                    <m:r>
                      <a:rPr lang="en-US" altLang="zh-CN" sz="1600">
                        <a:latin typeface="Cambria Math" panose="02040503050406030204" pitchFamily="18" charset="0"/>
                      </a:rPr>
                      <m:t>(0)+</m:t>
                    </m:r>
                    <m:r>
                      <a:rPr lang="en-US" altLang="zh-CN" sz="1600" i="1">
                        <a:latin typeface="Cambria Math" panose="02040503050406030204" pitchFamily="18" charset="0"/>
                      </a:rPr>
                      <m:t>𝑓</m:t>
                    </m:r>
                    <m:r>
                      <a:rPr lang="en-US" altLang="zh-CN" sz="1600" i="1">
                        <a:latin typeface="Cambria Math" panose="02040503050406030204" pitchFamily="18" charset="0"/>
                      </a:rPr>
                      <m:t>′</m:t>
                    </m:r>
                    <m:r>
                      <a:rPr lang="en-US" altLang="zh-CN" sz="1600">
                        <a:latin typeface="Cambria Math" panose="02040503050406030204" pitchFamily="18" charset="0"/>
                      </a:rPr>
                      <m:t>(0)</m:t>
                    </m:r>
                    <m:r>
                      <a:rPr lang="en-US" altLang="zh-CN" sz="1600" i="1">
                        <a:latin typeface="Cambria Math" panose="02040503050406030204" pitchFamily="18" charset="0"/>
                      </a:rPr>
                      <m:t>𝑥</m:t>
                    </m:r>
                    <m:r>
                      <a:rPr lang="en-US" altLang="zh-CN" sz="1600">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a:latin typeface="Cambria Math" panose="02040503050406030204" pitchFamily="18" charset="0"/>
                          </a:rPr>
                          <m:t>1</m:t>
                        </m:r>
                      </m:num>
                      <m:den>
                        <m:r>
                          <a:rPr lang="en-US" altLang="zh-CN" sz="1600">
                            <a:latin typeface="Cambria Math" panose="02040503050406030204" pitchFamily="18" charset="0"/>
                          </a:rPr>
                          <m:t>2!</m:t>
                        </m:r>
                      </m:den>
                    </m:f>
                    <m:r>
                      <a:rPr lang="en-US" altLang="zh-CN" sz="1600" i="1">
                        <a:latin typeface="Cambria Math" panose="02040503050406030204" pitchFamily="18" charset="0"/>
                      </a:rPr>
                      <m:t>𝑓</m:t>
                    </m:r>
                    <m:r>
                      <a:rPr lang="en-US" altLang="zh-CN" sz="1600">
                        <a:latin typeface="Cambria Math" panose="02040503050406030204" pitchFamily="18" charset="0"/>
                      </a:rPr>
                      <m:t>″(0)</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a:latin typeface="Cambria Math" panose="02040503050406030204" pitchFamily="18" charset="0"/>
                          </a:rPr>
                          <m:t>2</m:t>
                        </m:r>
                      </m:sup>
                    </m:sSup>
                    <m:r>
                      <a:rPr lang="en-US" altLang="zh-CN" sz="1600">
                        <a:latin typeface="Cambria Math" panose="02040503050406030204" pitchFamily="18" charset="0"/>
                      </a:rPr>
                      <m:t>+⋯+</m:t>
                    </m:r>
                    <m:f>
                      <m:fPr>
                        <m:ctrlPr>
                          <a:rPr lang="zh-CN" altLang="zh-CN" sz="1600" i="1">
                            <a:latin typeface="Cambria Math" panose="02040503050406030204" pitchFamily="18" charset="0"/>
                          </a:rPr>
                        </m:ctrlPr>
                      </m:fPr>
                      <m:num>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𝑓</m:t>
                            </m:r>
                          </m:e>
                          <m:sup>
                            <m:r>
                              <a:rPr lang="en-US" altLang="zh-CN" sz="1600">
                                <a:latin typeface="Cambria Math" panose="02040503050406030204" pitchFamily="18" charset="0"/>
                              </a:rPr>
                              <m:t>(</m:t>
                            </m:r>
                            <m:r>
                              <a:rPr lang="en-US" altLang="zh-CN" sz="1600" i="1">
                                <a:latin typeface="Cambria Math" panose="02040503050406030204" pitchFamily="18" charset="0"/>
                              </a:rPr>
                              <m:t>𝑛</m:t>
                            </m:r>
                            <m:r>
                              <a:rPr lang="en-US" altLang="zh-CN" sz="1600">
                                <a:latin typeface="Cambria Math" panose="02040503050406030204" pitchFamily="18" charset="0"/>
                              </a:rPr>
                              <m:t>)</m:t>
                            </m:r>
                          </m:sup>
                        </m:sSup>
                        <m:r>
                          <a:rPr lang="en-US" altLang="zh-CN" sz="1600">
                            <a:latin typeface="Cambria Math" panose="02040503050406030204" pitchFamily="18" charset="0"/>
                          </a:rPr>
                          <m:t>(0)</m:t>
                        </m:r>
                      </m:num>
                      <m:den>
                        <m:r>
                          <a:rPr lang="en-US" altLang="zh-CN" sz="1600" i="1">
                            <a:latin typeface="Cambria Math" panose="02040503050406030204" pitchFamily="18" charset="0"/>
                          </a:rPr>
                          <m:t>𝑛</m:t>
                        </m:r>
                        <m:r>
                          <a:rPr lang="en-US" altLang="zh-CN" sz="1600">
                            <a:latin typeface="Cambria Math" panose="02040503050406030204" pitchFamily="18" charset="0"/>
                          </a:rPr>
                          <m:t>!</m:t>
                        </m:r>
                      </m:den>
                    </m:f>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𝑛</m:t>
                        </m:r>
                      </m:sup>
                    </m:sSup>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𝑛</m:t>
                        </m:r>
                      </m:sub>
                    </m:sSub>
                    <m:r>
                      <a:rPr lang="en-US" altLang="zh-CN" sz="1600">
                        <a:latin typeface="Cambria Math" panose="02040503050406030204" pitchFamily="18" charset="0"/>
                      </a:rPr>
                      <m:t>(</m:t>
                    </m:r>
                    <m:r>
                      <a:rPr lang="en-US" altLang="zh-CN" sz="1600" i="1">
                        <a:latin typeface="Cambria Math" panose="02040503050406030204" pitchFamily="18" charset="0"/>
                      </a:rPr>
                      <m:t>𝑥</m:t>
                    </m:r>
                    <m:r>
                      <a:rPr lang="en-US" altLang="zh-CN" sz="1600">
                        <a:latin typeface="Cambria Math" panose="02040503050406030204" pitchFamily="18" charset="0"/>
                      </a:rPr>
                      <m:t>)</m:t>
                    </m:r>
                  </m:oMath>
                </a14:m>
                <a:r>
                  <a:rPr lang="en-US" altLang="zh-CN" sz="1600" dirty="0"/>
                  <a:t>……</a:t>
                </a:r>
                <a:endParaRPr lang="zh-CN" altLang="zh-CN" sz="1600" dirty="0"/>
              </a:p>
            </p:txBody>
          </p:sp>
        </mc:Choice>
        <mc:Fallback xmlns="">
          <p:sp>
            <p:nvSpPr>
              <p:cNvPr id="12" name="文本框 11">
                <a:extLst>
                  <a:ext uri="{FF2B5EF4-FFF2-40B4-BE49-F238E27FC236}">
                    <a16:creationId xmlns:a16="http://schemas.microsoft.com/office/drawing/2014/main" id="{F6024AF6-8F45-4876-AB9C-E3017D59CB00}"/>
                  </a:ext>
                </a:extLst>
              </p:cNvPr>
              <p:cNvSpPr txBox="1">
                <a:spLocks noRot="1" noChangeAspect="1" noMove="1" noResize="1" noEditPoints="1" noAdjustHandles="1" noChangeArrowheads="1" noChangeShapeType="1" noTextEdit="1"/>
              </p:cNvSpPr>
              <p:nvPr/>
            </p:nvSpPr>
            <p:spPr>
              <a:xfrm>
                <a:off x="607378" y="5926316"/>
                <a:ext cx="7943388" cy="488660"/>
              </a:xfrm>
              <a:prstGeom prst="rect">
                <a:avLst/>
              </a:prstGeom>
              <a:blipFill>
                <a:blip r:embed="rId8"/>
                <a:stretch>
                  <a:fillRect l="-460" b="-3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5164CD2D-2E5F-44F6-9D57-2DDA38DC9F50}"/>
                  </a:ext>
                </a:extLst>
              </p:cNvPr>
              <p:cNvSpPr txBox="1"/>
              <p:nvPr/>
            </p:nvSpPr>
            <p:spPr>
              <a:xfrm>
                <a:off x="1219199" y="6316331"/>
                <a:ext cx="6096000" cy="466923"/>
              </a:xfrm>
              <a:prstGeom prst="rect">
                <a:avLst/>
              </a:prstGeom>
              <a:noFill/>
            </p:spPr>
            <p:txBody>
              <a:bodyPr wrap="square">
                <a:spAutoFit/>
              </a:bodyPr>
              <a:lstStyle/>
              <a:p>
                <a14:m>
                  <m:oMath xmlns:m="http://schemas.openxmlformats.org/officeDocument/2006/math">
                    <m:sSub>
                      <m:sSubPr>
                        <m:ctrlPr>
                          <a:rPr lang="zh-CN" altLang="zh-CN" sz="1400" i="1" smtClean="0">
                            <a:latin typeface="Cambria Math" panose="02040503050406030204" pitchFamily="18" charset="0"/>
                          </a:rPr>
                        </m:ctrlPr>
                      </m:sSubPr>
                      <m:e>
                        <m:r>
                          <a:rPr lang="en-US" altLang="zh-CN" sz="1400" i="1">
                            <a:latin typeface="Cambria Math" panose="02040503050406030204" pitchFamily="18" charset="0"/>
                          </a:rPr>
                          <m:t>𝑅</m:t>
                        </m:r>
                      </m:e>
                      <m:sub>
                        <m:r>
                          <a:rPr lang="en-US" altLang="zh-CN" sz="1400" i="1">
                            <a:latin typeface="Cambria Math" panose="02040503050406030204" pitchFamily="18" charset="0"/>
                          </a:rPr>
                          <m:t>𝑛</m:t>
                        </m:r>
                      </m:sub>
                    </m:sSub>
                    <m:r>
                      <a:rPr lang="en-US" altLang="zh-CN" sz="1400">
                        <a:latin typeface="Cambria Math" panose="02040503050406030204" pitchFamily="18" charset="0"/>
                      </a:rPr>
                      <m:t>(</m:t>
                    </m:r>
                    <m:r>
                      <a:rPr lang="en-US" altLang="zh-CN" sz="1400" i="1">
                        <a:latin typeface="Cambria Math" panose="02040503050406030204" pitchFamily="18" charset="0"/>
                      </a:rPr>
                      <m:t>𝑥</m:t>
                    </m:r>
                    <m:r>
                      <a:rPr lang="en-US" altLang="zh-CN" sz="1400">
                        <a:latin typeface="Cambria Math" panose="02040503050406030204" pitchFamily="18" charset="0"/>
                      </a:rPr>
                      <m:t>)=</m:t>
                    </m:r>
                    <m:f>
                      <m:fPr>
                        <m:ctrlPr>
                          <a:rPr lang="zh-CN" altLang="zh-CN" sz="1400" i="1">
                            <a:latin typeface="Cambria Math" panose="02040503050406030204" pitchFamily="18" charset="0"/>
                          </a:rPr>
                        </m:ctrlPr>
                      </m:fPr>
                      <m:num>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𝑓</m:t>
                            </m:r>
                          </m:e>
                          <m:sup>
                            <m:r>
                              <a:rPr lang="en-US" altLang="zh-CN" sz="1400">
                                <a:latin typeface="Cambria Math" panose="02040503050406030204" pitchFamily="18" charset="0"/>
                              </a:rPr>
                              <m:t>(</m:t>
                            </m:r>
                            <m:r>
                              <a:rPr lang="en-US" altLang="zh-CN" sz="1400" i="1">
                                <a:latin typeface="Cambria Math" panose="02040503050406030204" pitchFamily="18" charset="0"/>
                              </a:rPr>
                              <m:t>𝑛</m:t>
                            </m:r>
                            <m:r>
                              <a:rPr lang="en-US" altLang="zh-CN" sz="1400">
                                <a:latin typeface="Cambria Math" panose="02040503050406030204" pitchFamily="18" charset="0"/>
                              </a:rPr>
                              <m:t>+1)</m:t>
                            </m:r>
                          </m:sup>
                        </m:sSup>
                        <m:r>
                          <a:rPr lang="en-US" altLang="zh-CN" sz="1400">
                            <a:latin typeface="Cambria Math" panose="02040503050406030204" pitchFamily="18" charset="0"/>
                          </a:rPr>
                          <m:t>(</m:t>
                        </m:r>
                        <m:r>
                          <a:rPr lang="en-US" altLang="zh-CN" sz="1400" i="1">
                            <a:latin typeface="Cambria Math" panose="02040503050406030204" pitchFamily="18" charset="0"/>
                          </a:rPr>
                          <m:t>𝜉</m:t>
                        </m:r>
                        <m:r>
                          <a:rPr lang="en-US" altLang="zh-CN" sz="1400">
                            <a:latin typeface="Cambria Math" panose="02040503050406030204" pitchFamily="18" charset="0"/>
                          </a:rPr>
                          <m:t>)</m:t>
                        </m:r>
                      </m:num>
                      <m:den>
                        <m:r>
                          <a:rPr lang="en-US" altLang="zh-CN" sz="1400">
                            <a:latin typeface="Cambria Math" panose="02040503050406030204" pitchFamily="18" charset="0"/>
                          </a:rPr>
                          <m:t>(</m:t>
                        </m:r>
                        <m:r>
                          <a:rPr lang="en-US" altLang="zh-CN" sz="1400" i="1">
                            <a:latin typeface="Cambria Math" panose="02040503050406030204" pitchFamily="18" charset="0"/>
                          </a:rPr>
                          <m:t>𝑛</m:t>
                        </m:r>
                        <m:r>
                          <a:rPr lang="en-US" altLang="zh-CN" sz="1400">
                            <a:latin typeface="Cambria Math" panose="02040503050406030204" pitchFamily="18" charset="0"/>
                          </a:rPr>
                          <m:t>+1)!</m:t>
                        </m:r>
                      </m:den>
                    </m:f>
                    <m:sSup>
                      <m:sSupPr>
                        <m:ctrlPr>
                          <a:rPr lang="zh-CN" altLang="zh-CN" sz="1400" i="1">
                            <a:latin typeface="Cambria Math" panose="02040503050406030204" pitchFamily="18" charset="0"/>
                          </a:rPr>
                        </m:ctrlPr>
                      </m:sSupPr>
                      <m:e>
                        <m:r>
                          <a:rPr lang="en-US" altLang="zh-CN" sz="1400">
                            <a:latin typeface="Cambria Math" panose="02040503050406030204" pitchFamily="18" charset="0"/>
                          </a:rPr>
                          <m:t>(</m:t>
                        </m:r>
                        <m:r>
                          <a:rPr lang="en-US" altLang="zh-CN" sz="1400" i="1">
                            <a:latin typeface="Cambria Math" panose="02040503050406030204" pitchFamily="18" charset="0"/>
                          </a:rPr>
                          <m:t>𝑥</m:t>
                        </m:r>
                        <m:r>
                          <a:rPr lang="en-U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a:latin typeface="Cambria Math" panose="02040503050406030204" pitchFamily="18" charset="0"/>
                              </a:rPr>
                              <m:t>0</m:t>
                            </m:r>
                          </m:sub>
                        </m:sSub>
                        <m:r>
                          <a:rPr lang="en-US" altLang="zh-CN" sz="1400">
                            <a:latin typeface="Cambria Math" panose="02040503050406030204" pitchFamily="18" charset="0"/>
                          </a:rPr>
                          <m:t>)</m:t>
                        </m:r>
                      </m:e>
                      <m:sup>
                        <m:r>
                          <a:rPr lang="en-US" altLang="zh-CN" sz="1400" i="1">
                            <a:latin typeface="Cambria Math" panose="02040503050406030204" pitchFamily="18" charset="0"/>
                          </a:rPr>
                          <m:t>𝑛</m:t>
                        </m:r>
                        <m:r>
                          <a:rPr lang="en-US" altLang="zh-CN" sz="1400">
                            <a:latin typeface="Cambria Math" panose="02040503050406030204" pitchFamily="18" charset="0"/>
                          </a:rPr>
                          <m:t>+1</m:t>
                        </m:r>
                      </m:sup>
                    </m:sSup>
                  </m:oMath>
                </a14:m>
                <a:r>
                  <a:rPr lang="zh-CN" altLang="zh-CN" sz="1400" dirty="0"/>
                  <a:t>称为</a:t>
                </a:r>
                <a14:m>
                  <m:oMath xmlns:m="http://schemas.openxmlformats.org/officeDocument/2006/math">
                    <m:r>
                      <a:rPr lang="en-US" altLang="zh-CN" sz="1400" i="1">
                        <a:latin typeface="Cambria Math" panose="02040503050406030204" pitchFamily="18" charset="0"/>
                      </a:rPr>
                      <m:t>𝑓</m:t>
                    </m:r>
                    <m:r>
                      <a:rPr lang="en-US" altLang="zh-CN" sz="1400">
                        <a:latin typeface="Cambria Math" panose="02040503050406030204" pitchFamily="18" charset="0"/>
                      </a:rPr>
                      <m:t>(</m:t>
                    </m:r>
                    <m:r>
                      <a:rPr lang="en-US" altLang="zh-CN" sz="1400" i="1">
                        <a:latin typeface="Cambria Math" panose="02040503050406030204" pitchFamily="18" charset="0"/>
                      </a:rPr>
                      <m:t>𝑥</m:t>
                    </m:r>
                    <m:r>
                      <a:rPr lang="en-US" altLang="zh-CN" sz="1400">
                        <a:latin typeface="Cambria Math" panose="02040503050406030204" pitchFamily="18" charset="0"/>
                      </a:rPr>
                      <m:t>)</m:t>
                    </m:r>
                  </m:oMath>
                </a14:m>
                <a:r>
                  <a:rPr lang="zh-CN" altLang="zh-CN" sz="1400" dirty="0"/>
                  <a:t>在点</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a:latin typeface="Cambria Math" panose="02040503050406030204" pitchFamily="18" charset="0"/>
                          </a:rPr>
                          <m:t>0</m:t>
                        </m:r>
                      </m:sub>
                    </m:sSub>
                  </m:oMath>
                </a14:m>
                <a:r>
                  <a:rPr lang="zh-CN" altLang="zh-CN" sz="1400" dirty="0"/>
                  <a:t>处的</a:t>
                </a:r>
                <a14:m>
                  <m:oMath xmlns:m="http://schemas.openxmlformats.org/officeDocument/2006/math">
                    <m:r>
                      <a:rPr lang="en-US" altLang="zh-CN" sz="1400" i="1">
                        <a:latin typeface="Cambria Math" panose="02040503050406030204" pitchFamily="18" charset="0"/>
                      </a:rPr>
                      <m:t>𝑛</m:t>
                    </m:r>
                  </m:oMath>
                </a14:m>
                <a:r>
                  <a:rPr lang="zh-CN" altLang="zh-CN" sz="1400" dirty="0"/>
                  <a:t>阶泰勒余项。</a:t>
                </a:r>
                <a:endParaRPr lang="zh-CN" altLang="en-US" sz="1400" dirty="0"/>
              </a:p>
            </p:txBody>
          </p:sp>
        </mc:Choice>
        <mc:Fallback xmlns="">
          <p:sp>
            <p:nvSpPr>
              <p:cNvPr id="13" name="文本框 12">
                <a:extLst>
                  <a:ext uri="{FF2B5EF4-FFF2-40B4-BE49-F238E27FC236}">
                    <a16:creationId xmlns:a16="http://schemas.microsoft.com/office/drawing/2014/main" id="{5164CD2D-2E5F-44F6-9D57-2DDA38DC9F50}"/>
                  </a:ext>
                </a:extLst>
              </p:cNvPr>
              <p:cNvSpPr txBox="1">
                <a:spLocks noRot="1" noChangeAspect="1" noMove="1" noResize="1" noEditPoints="1" noAdjustHandles="1" noChangeArrowheads="1" noChangeShapeType="1" noTextEdit="1"/>
              </p:cNvSpPr>
              <p:nvPr/>
            </p:nvSpPr>
            <p:spPr>
              <a:xfrm>
                <a:off x="1219199" y="6316331"/>
                <a:ext cx="6096000" cy="466923"/>
              </a:xfrm>
              <a:prstGeom prst="rect">
                <a:avLst/>
              </a:prstGeom>
              <a:blipFill>
                <a:blip r:embed="rId9"/>
                <a:stretch>
                  <a:fillRect b="-25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98F066E-8041-431A-A761-7CCE33FCA6F1}"/>
                  </a:ext>
                </a:extLst>
              </p:cNvPr>
              <p:cNvSpPr txBox="1"/>
              <p:nvPr/>
            </p:nvSpPr>
            <p:spPr>
              <a:xfrm>
                <a:off x="5070442" y="3142912"/>
                <a:ext cx="2890228" cy="523220"/>
              </a:xfrm>
              <a:prstGeom prst="rect">
                <a:avLst/>
              </a:prstGeom>
              <a:noFill/>
            </p:spPr>
            <p:txBody>
              <a:bodyPr wrap="square">
                <a:spAutoFit/>
              </a:bodyPr>
              <a:lstStyle/>
              <a:p>
                <a14:m>
                  <m:oMath xmlns:m="http://schemas.openxmlformats.org/officeDocument/2006/math">
                    <m:r>
                      <m:rPr>
                        <m:sty m:val="p"/>
                      </m:rPr>
                      <a:rPr lang="el-GR" altLang="zh-CN" sz="1400" i="1" smtClean="0">
                        <a:solidFill>
                          <a:srgbClr val="FF0000"/>
                        </a:solidFill>
                        <a:latin typeface="Cambria Math" panose="02040503050406030204" pitchFamily="18" charset="0"/>
                        <a:ea typeface="Cambria Math" panose="02040503050406030204" pitchFamily="18" charset="0"/>
                      </a:rPr>
                      <m:t>Δ</m:t>
                    </m:r>
                    <m:r>
                      <a:rPr lang="en-US" altLang="zh-CN" sz="1400" i="1">
                        <a:solidFill>
                          <a:srgbClr val="FF0000"/>
                        </a:solidFill>
                        <a:latin typeface="Cambria Math" panose="02040503050406030204" pitchFamily="18" charset="0"/>
                        <a:ea typeface="Cambria Math" panose="02040503050406030204" pitchFamily="18" charset="0"/>
                      </a:rPr>
                      <m:t>𝑥</m:t>
                    </m:r>
                  </m:oMath>
                </a14:m>
                <a:r>
                  <a:rPr lang="en-US" altLang="zh-CN" sz="1400" dirty="0">
                    <a:solidFill>
                      <a:srgbClr val="FF0000"/>
                    </a:solidFill>
                  </a:rPr>
                  <a:t>=</a:t>
                </a:r>
                <a:r>
                  <a:rPr lang="en-US" altLang="zh-CN" sz="1400" dirty="0">
                    <a:solidFill>
                      <a:srgbClr val="FF0000"/>
                    </a:solidFill>
                    <a:ea typeface="Microsoft YaHei" charset="0"/>
                  </a:rPr>
                  <a:t> </a:t>
                </a:r>
                <a14:m>
                  <m:oMath xmlns:m="http://schemas.openxmlformats.org/officeDocument/2006/math">
                    <m:sSub>
                      <m:sSubPr>
                        <m:ctrlPr>
                          <a:rPr lang="en-US" altLang="zh-CN" sz="1400" i="1">
                            <a:solidFill>
                              <a:srgbClr val="FF0000"/>
                            </a:solidFill>
                            <a:latin typeface="Cambria Math" panose="02040503050406030204" pitchFamily="18" charset="0"/>
                            <a:ea typeface="Microsoft YaHei" charset="0"/>
                          </a:rPr>
                        </m:ctrlPr>
                      </m:sSubPr>
                      <m:e>
                        <m:r>
                          <a:rPr lang="en-US" altLang="zh-CN" sz="1400" i="1">
                            <a:solidFill>
                              <a:srgbClr val="FF0000"/>
                            </a:solidFill>
                            <a:latin typeface="Cambria Math" panose="02040503050406030204" pitchFamily="18" charset="0"/>
                            <a:ea typeface="Microsoft YaHei" charset="0"/>
                          </a:rPr>
                          <m:t>𝑓</m:t>
                        </m:r>
                      </m:e>
                      <m:sub>
                        <m:r>
                          <a:rPr lang="en-US" altLang="zh-CN" sz="1400" i="1">
                            <a:solidFill>
                              <a:srgbClr val="FF0000"/>
                            </a:solidFill>
                            <a:latin typeface="Cambria Math" panose="02040503050406030204" pitchFamily="18" charset="0"/>
                            <a:ea typeface="Microsoft YaHei" charset="0"/>
                          </a:rPr>
                          <m:t>𝑡</m:t>
                        </m:r>
                      </m:sub>
                    </m:sSub>
                    <m:d>
                      <m:dPr>
                        <m:ctrlPr>
                          <a:rPr lang="en-US" altLang="zh-CN" sz="1400" i="1">
                            <a:solidFill>
                              <a:srgbClr val="FF0000"/>
                            </a:solidFill>
                            <a:latin typeface="Cambria Math" panose="02040503050406030204" pitchFamily="18" charset="0"/>
                            <a:ea typeface="Microsoft YaHei" charset="0"/>
                          </a:rPr>
                        </m:ctrlPr>
                      </m:dPr>
                      <m:e>
                        <m:sSub>
                          <m:sSubPr>
                            <m:ctrlPr>
                              <a:rPr lang="en-US" altLang="zh-CN" sz="1400" i="1">
                                <a:solidFill>
                                  <a:srgbClr val="FF0000"/>
                                </a:solidFill>
                                <a:latin typeface="Cambria Math" panose="02040503050406030204" pitchFamily="18" charset="0"/>
                                <a:ea typeface="Microsoft YaHei" charset="0"/>
                              </a:rPr>
                            </m:ctrlPr>
                          </m:sSubPr>
                          <m:e>
                            <m:r>
                              <a:rPr lang="en-US" altLang="zh-CN" sz="1400" i="1">
                                <a:solidFill>
                                  <a:srgbClr val="FF0000"/>
                                </a:solidFill>
                                <a:latin typeface="Cambria Math" panose="02040503050406030204" pitchFamily="18" charset="0"/>
                                <a:ea typeface="Microsoft YaHei" charset="0"/>
                              </a:rPr>
                              <m:t>𝑥</m:t>
                            </m:r>
                          </m:e>
                          <m:sub>
                            <m:r>
                              <a:rPr lang="en-US" altLang="zh-CN" sz="1400" i="1">
                                <a:solidFill>
                                  <a:srgbClr val="FF0000"/>
                                </a:solidFill>
                                <a:latin typeface="Cambria Math" panose="02040503050406030204" pitchFamily="18" charset="0"/>
                                <a:ea typeface="Microsoft YaHei" charset="0"/>
                              </a:rPr>
                              <m:t>𝑖</m:t>
                            </m:r>
                          </m:sub>
                        </m:sSub>
                      </m:e>
                    </m:d>
                  </m:oMath>
                </a14:m>
                <a:r>
                  <a:rPr lang="zh-CN" altLang="en-US" sz="1400" dirty="0">
                    <a:solidFill>
                      <a:srgbClr val="FF0000"/>
                    </a:solidFill>
                  </a:rPr>
                  <a:t>，表示第 </a:t>
                </a:r>
                <a14:m>
                  <m:oMath xmlns:m="http://schemas.openxmlformats.org/officeDocument/2006/math">
                    <m:r>
                      <a:rPr lang="en-US" altLang="zh-CN" sz="1400" i="1" dirty="0" smtClean="0">
                        <a:solidFill>
                          <a:srgbClr val="FF0000"/>
                        </a:solidFill>
                        <a:latin typeface="Cambria Math" panose="02040503050406030204" pitchFamily="18" charset="0"/>
                      </a:rPr>
                      <m:t>𝑡</m:t>
                    </m:r>
                    <m:r>
                      <a:rPr lang="en-US" altLang="zh-CN" sz="1400" i="1" dirty="0" smtClean="0">
                        <a:solidFill>
                          <a:srgbClr val="FF0000"/>
                        </a:solidFill>
                        <a:latin typeface="Cambria Math" panose="02040503050406030204" pitchFamily="18" charset="0"/>
                      </a:rPr>
                      <m:t> </m:t>
                    </m:r>
                  </m:oMath>
                </a14:m>
                <a:r>
                  <a:rPr lang="zh-CN" altLang="en-US" sz="1400" dirty="0">
                    <a:solidFill>
                      <a:srgbClr val="FF0000"/>
                    </a:solidFill>
                  </a:rPr>
                  <a:t>棵树的输出结果等于 </a:t>
                </a:r>
                <a14:m>
                  <m:oMath xmlns:m="http://schemas.openxmlformats.org/officeDocument/2006/math">
                    <m:r>
                      <a:rPr lang="en-US" altLang="zh-CN" sz="1400" i="1" dirty="0" smtClean="0">
                        <a:solidFill>
                          <a:srgbClr val="FF0000"/>
                        </a:solidFill>
                        <a:latin typeface="Cambria Math" panose="02040503050406030204" pitchFamily="18" charset="0"/>
                      </a:rPr>
                      <m:t>𝑡</m:t>
                    </m:r>
                    <m:r>
                      <a:rPr lang="en-US" altLang="zh-CN" sz="1400" i="1" dirty="0" smtClean="0">
                        <a:solidFill>
                          <a:srgbClr val="FF0000"/>
                        </a:solidFill>
                        <a:latin typeface="Cambria Math" panose="02040503050406030204" pitchFamily="18" charset="0"/>
                      </a:rPr>
                      <m:t>−1</m:t>
                    </m:r>
                  </m:oMath>
                </a14:m>
                <a:r>
                  <a:rPr lang="en-US" altLang="zh-CN" sz="1400" dirty="0">
                    <a:solidFill>
                      <a:srgbClr val="FF0000"/>
                    </a:solidFill>
                  </a:rPr>
                  <a:t> </a:t>
                </a:r>
                <a:r>
                  <a:rPr lang="zh-CN" altLang="en-US" sz="1400" dirty="0">
                    <a:solidFill>
                      <a:srgbClr val="FF0000"/>
                    </a:solidFill>
                  </a:rPr>
                  <a:t>时刻新增加的结果</a:t>
                </a:r>
              </a:p>
            </p:txBody>
          </p:sp>
        </mc:Choice>
        <mc:Fallback xmlns="">
          <p:sp>
            <p:nvSpPr>
              <p:cNvPr id="14" name="文本框 13">
                <a:extLst>
                  <a:ext uri="{FF2B5EF4-FFF2-40B4-BE49-F238E27FC236}">
                    <a16:creationId xmlns:a16="http://schemas.microsoft.com/office/drawing/2014/main" id="{B98F066E-8041-431A-A761-7CCE33FCA6F1}"/>
                  </a:ext>
                </a:extLst>
              </p:cNvPr>
              <p:cNvSpPr txBox="1">
                <a:spLocks noRot="1" noChangeAspect="1" noMove="1" noResize="1" noEditPoints="1" noAdjustHandles="1" noChangeArrowheads="1" noChangeShapeType="1" noTextEdit="1"/>
              </p:cNvSpPr>
              <p:nvPr/>
            </p:nvSpPr>
            <p:spPr>
              <a:xfrm>
                <a:off x="5070442" y="3142912"/>
                <a:ext cx="2890228" cy="523220"/>
              </a:xfrm>
              <a:prstGeom prst="rect">
                <a:avLst/>
              </a:prstGeom>
              <a:blipFill>
                <a:blip r:embed="rId10"/>
                <a:stretch>
                  <a:fillRect l="-633" t="-2353" b="-11765"/>
                </a:stretch>
              </a:blipFill>
            </p:spPr>
            <p:txBody>
              <a:bodyPr/>
              <a:lstStyle/>
              <a:p>
                <a:r>
                  <a:rPr lang="zh-CN" altLang="en-US">
                    <a:noFill/>
                  </a:rPr>
                  <a:t> </a:t>
                </a:r>
              </a:p>
            </p:txBody>
          </p:sp>
        </mc:Fallback>
      </mc:AlternateContent>
      <p:sp>
        <p:nvSpPr>
          <p:cNvPr id="15" name="下箭头 5">
            <a:extLst>
              <a:ext uri="{FF2B5EF4-FFF2-40B4-BE49-F238E27FC236}">
                <a16:creationId xmlns:a16="http://schemas.microsoft.com/office/drawing/2014/main" id="{F1D642D2-F3D3-4721-9AF5-622CA2533464}"/>
              </a:ext>
            </a:extLst>
          </p:cNvPr>
          <p:cNvSpPr/>
          <p:nvPr/>
        </p:nvSpPr>
        <p:spPr>
          <a:xfrm flipH="1">
            <a:off x="5181826" y="3798425"/>
            <a:ext cx="138394"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Tree>
    <p:extLst>
      <p:ext uri="{BB962C8B-B14F-4D97-AF65-F5344CB8AC3E}">
        <p14:creationId xmlns:p14="http://schemas.microsoft.com/office/powerpoint/2010/main" val="2970337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ppt_w</p:attrName>
                                        </p:attrNameLst>
                                      </p:cBhvr>
                                      <p:tavLst>
                                        <p:tav tm="0">
                                          <p:val>
                                            <p:fltVal val="0"/>
                                          </p:val>
                                        </p:tav>
                                        <p:tav tm="100000">
                                          <p:val>
                                            <p:strVal val="#ppt_w"/>
                                          </p:val>
                                        </p:tav>
                                      </p:tavLst>
                                    </p:anim>
                                    <p:anim calcmode="lin" valueType="num">
                                      <p:cBhvr>
                                        <p:cTn id="44" dur="500" fill="hold"/>
                                        <p:tgtEl>
                                          <p:spTgt spid="9"/>
                                        </p:tgtEl>
                                        <p:attrNameLst>
                                          <p:attrName>ppt_h</p:attrName>
                                        </p:attrNameLst>
                                      </p:cBhvr>
                                      <p:tavLst>
                                        <p:tav tm="0">
                                          <p:val>
                                            <p:fltVal val="0"/>
                                          </p:val>
                                        </p:tav>
                                        <p:tav tm="100000">
                                          <p:val>
                                            <p:strVal val="#ppt_h"/>
                                          </p:val>
                                        </p:tav>
                                      </p:tavLst>
                                    </p:anim>
                                    <p:animEffect transition="in" filter="fade">
                                      <p:cBhvr>
                                        <p:cTn id="45" dur="500"/>
                                        <p:tgtEl>
                                          <p:spTgt spid="9"/>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p:cTn id="48" dur="500" fill="hold"/>
                                        <p:tgtEl>
                                          <p:spTgt spid="10"/>
                                        </p:tgtEl>
                                        <p:attrNameLst>
                                          <p:attrName>ppt_w</p:attrName>
                                        </p:attrNameLst>
                                      </p:cBhvr>
                                      <p:tavLst>
                                        <p:tav tm="0">
                                          <p:val>
                                            <p:fltVal val="0"/>
                                          </p:val>
                                        </p:tav>
                                        <p:tav tm="100000">
                                          <p:val>
                                            <p:strVal val="#ppt_w"/>
                                          </p:val>
                                        </p:tav>
                                      </p:tavLst>
                                    </p:anim>
                                    <p:anim calcmode="lin" valueType="num">
                                      <p:cBhvr>
                                        <p:cTn id="49" dur="500" fill="hold"/>
                                        <p:tgtEl>
                                          <p:spTgt spid="10"/>
                                        </p:tgtEl>
                                        <p:attrNameLst>
                                          <p:attrName>ppt_h</p:attrName>
                                        </p:attrNameLst>
                                      </p:cBhvr>
                                      <p:tavLst>
                                        <p:tav tm="0">
                                          <p:val>
                                            <p:fltVal val="0"/>
                                          </p:val>
                                        </p:tav>
                                        <p:tav tm="100000">
                                          <p:val>
                                            <p:strVal val="#ppt_h"/>
                                          </p:val>
                                        </p:tav>
                                      </p:tavLst>
                                    </p:anim>
                                    <p:animEffect transition="in" filter="fade">
                                      <p:cBhvr>
                                        <p:cTn id="50" dur="5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P spid="8" grpId="0"/>
      <p:bldP spid="9" grpId="0"/>
      <p:bldP spid="10" grpId="0"/>
      <p:bldP spid="12" grpId="0"/>
      <p:bldP spid="13" grpId="0"/>
      <p:bldP spid="14" grpId="0"/>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1106863" y="1663996"/>
                <a:ext cx="7014421"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𝑂𝑏𝑗</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𝑡</m:t>
                          </m:r>
                        </m:e>
                      </m:d>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𝑛</m:t>
                          </m:r>
                        </m:sup>
                        <m:e>
                          <m:r>
                            <m:rPr>
                              <m:sty m:val="p"/>
                            </m:rPr>
                            <a:rPr lang="en-US" altLang="zh-CN" b="0" i="0" smtClean="0">
                              <a:latin typeface="Cambria Math" panose="02040503050406030204" pitchFamily="18" charset="0"/>
                              <a:ea typeface="Microsoft YaHei" charset="0"/>
                            </a:rPr>
                            <m:t>L</m:t>
                          </m:r>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sSup>
                                <m:sSupPr>
                                  <m:ctrlPr>
                                    <a:rPr lang="en-US" altLang="zh-CN" b="0" i="1" smtClean="0">
                                      <a:latin typeface="Cambria Math" panose="02040503050406030204" pitchFamily="18" charset="0"/>
                                      <a:ea typeface="Microsoft YaHei" charset="0"/>
                                    </a:rPr>
                                  </m:ctrlPr>
                                </m:sSupPr>
                                <m:e>
                                  <m:acc>
                                    <m:accPr>
                                      <m:chr m:val="̂"/>
                                      <m:ctrlPr>
                                        <a:rPr lang="en-US" altLang="zh-CN" b="0" i="1" smtClean="0">
                                          <a:latin typeface="Cambria Math" panose="02040503050406030204" pitchFamily="18" charset="0"/>
                                          <a:ea typeface="Microsoft YaHei" charset="0"/>
                                        </a:rPr>
                                      </m:ctrlPr>
                                    </m:accPr>
                                    <m:e>
                                      <m:r>
                                        <a:rPr lang="en-US" altLang="zh-CN" b="0" i="1" smtClean="0">
                                          <a:latin typeface="Cambria Math" panose="02040503050406030204" pitchFamily="18" charset="0"/>
                                          <a:ea typeface="Microsoft YaHei" charset="0"/>
                                        </a:rPr>
                                        <m:t>𝑦</m:t>
                                      </m:r>
                                    </m:e>
                                  </m:acc>
                                </m:e>
                                <m:sup>
                                  <m:r>
                                    <a:rPr lang="en-US" altLang="zh-CN" b="0" i="1" smtClean="0">
                                      <a:latin typeface="Cambria Math" panose="02040503050406030204" pitchFamily="18" charset="0"/>
                                      <a:ea typeface="Microsoft YaHei" charset="0"/>
                                    </a:rPr>
                                    <m:t>𝑡</m:t>
                                  </m:r>
                                  <m:r>
                                    <a:rPr lang="en-US" altLang="zh-CN" b="0" i="1" smtClean="0">
                                      <a:latin typeface="Cambria Math" panose="02040503050406030204" pitchFamily="18" charset="0"/>
                                      <a:ea typeface="Microsoft YaHei" charset="0"/>
                                    </a:rPr>
                                    <m:t>−1</m:t>
                                  </m:r>
                                </m:sup>
                              </m:sSup>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𝑡</m:t>
                                  </m:r>
                                </m:sub>
                              </m:sSub>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e>
                              </m:d>
                            </m:e>
                          </m:d>
                          <m:r>
                            <a:rPr lang="en-US" altLang="zh-CN" b="0" i="1" smtClean="0">
                              <a:latin typeface="Cambria Math" panose="02040503050406030204" pitchFamily="18" charset="0"/>
                              <a:ea typeface="Microsoft YaHei" charset="0"/>
                            </a:rPr>
                            <m:t>+</m:t>
                          </m:r>
                          <m:r>
                            <m:rPr>
                              <m:sty m:val="p"/>
                            </m:rPr>
                            <a:rPr lang="el-GR" altLang="zh-CN" b="0" i="1" smtClean="0">
                              <a:latin typeface="Cambria Math" panose="02040503050406030204" pitchFamily="18" charset="0"/>
                              <a:ea typeface="Cambria Math" panose="02040503050406030204" pitchFamily="18" charset="0"/>
                            </a:rPr>
                            <m:t>Ω</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𝑓</m:t>
                                  </m:r>
                                </m:e>
                                <m:sub>
                                  <m:r>
                                    <a:rPr lang="en-US" altLang="zh-CN" b="0" i="1" smtClean="0">
                                      <a:latin typeface="Cambria Math" panose="02040503050406030204" pitchFamily="18" charset="0"/>
                                      <a:ea typeface="Cambria Math" panose="02040503050406030204" pitchFamily="18" charset="0"/>
                                    </a:rPr>
                                    <m:t>𝑡</m:t>
                                  </m:r>
                                </m:sub>
                              </m:sSub>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𝑐𝑜𝑛𝑠𝑡𝑎𝑛𝑡</m:t>
                          </m:r>
                        </m:e>
                      </m:nary>
                    </m:oMath>
                  </m:oMathPara>
                </a14:m>
                <a:endParaRPr lang="zh-CN" altLang="en-US" dirty="0">
                  <a:ea typeface="Microsoft YaHei"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1106863" y="1663996"/>
                <a:ext cx="7014421" cy="100822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3868403" y="2749383"/>
                <a:ext cx="3159279" cy="103848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Ω</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𝑓</m:t>
                              </m:r>
                            </m:e>
                            <m:sub>
                              <m:r>
                                <a:rPr lang="en-US" altLang="zh-CN" i="1">
                                  <a:latin typeface="Cambria Math" panose="02040503050406030204" pitchFamily="18" charset="0"/>
                                  <a:ea typeface="Cambria Math" panose="02040503050406030204" pitchFamily="18" charset="0"/>
                                </a:rPr>
                                <m:t>𝑡</m:t>
                              </m:r>
                            </m:sub>
                          </m:sSub>
                        </m:e>
                      </m:d>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𝛾</m:t>
                      </m:r>
                      <m:r>
                        <a:rPr lang="en-US" altLang="zh-CN" b="0" i="1" smtClean="0">
                          <a:latin typeface="Cambria Math" panose="02040503050406030204" pitchFamily="18" charset="0"/>
                          <a:ea typeface="Cambria Math" panose="02040503050406030204" pitchFamily="18" charset="0"/>
                        </a:rPr>
                        <m:t>𝑇</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2</m:t>
                          </m:r>
                        </m:den>
                      </m:f>
                      <m:r>
                        <a:rPr lang="zh-CN" altLang="en-US" b="0" i="1" smtClean="0">
                          <a:latin typeface="Cambria Math" panose="02040503050406030204" pitchFamily="18" charset="0"/>
                          <a:ea typeface="Cambria Math" panose="02040503050406030204" pitchFamily="18" charset="0"/>
                        </a:rPr>
                        <m:t>𝜆</m:t>
                      </m:r>
                      <m:nary>
                        <m:naryPr>
                          <m:chr m:val="∑"/>
                          <m:ctrlPr>
                            <a:rPr lang="zh-CN" altLang="en-US" b="0"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=1</m:t>
                          </m:r>
                        </m:sub>
                        <m:sup>
                          <m:r>
                            <a:rPr lang="en-US" altLang="zh-CN" b="0" i="1" smtClean="0">
                              <a:latin typeface="Cambria Math" panose="02040503050406030204" pitchFamily="18" charset="0"/>
                              <a:ea typeface="Cambria Math" panose="02040503050406030204" pitchFamily="18" charset="0"/>
                            </a:rPr>
                            <m:t>𝑇</m:t>
                          </m:r>
                        </m:sup>
                        <m:e>
                          <m:sSup>
                            <m:sSupPr>
                              <m:ctrlPr>
                                <a:rPr lang="en-US" altLang="zh-CN" b="0" i="1" smtClean="0">
                                  <a:latin typeface="Cambria Math" panose="02040503050406030204" pitchFamily="18" charset="0"/>
                                  <a:ea typeface="Cambria Math" panose="02040503050406030204" pitchFamily="18" charset="0"/>
                                </a:rPr>
                              </m:ctrlPr>
                            </m:sSup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𝑤</m:t>
                                  </m:r>
                                </m:e>
                                <m:sub>
                                  <m:r>
                                    <a:rPr lang="en-US" altLang="zh-CN" b="0" i="1" smtClean="0">
                                      <a:latin typeface="Cambria Math" panose="02040503050406030204" pitchFamily="18" charset="0"/>
                                      <a:ea typeface="Cambria Math" panose="02040503050406030204" pitchFamily="18" charset="0"/>
                                    </a:rPr>
                                    <m:t>𝑗</m:t>
                                  </m:r>
                                </m:sub>
                              </m:sSub>
                            </m:e>
                            <m:sup>
                              <m:r>
                                <a:rPr lang="en-US" altLang="zh-CN" b="0" i="1" smtClean="0">
                                  <a:latin typeface="Cambria Math" panose="02040503050406030204" pitchFamily="18" charset="0"/>
                                  <a:ea typeface="Cambria Math" panose="02040503050406030204" pitchFamily="18" charset="0"/>
                                </a:rPr>
                                <m:t>2</m:t>
                              </m:r>
                            </m:sup>
                          </m:sSup>
                        </m:e>
                      </m:nary>
                    </m:oMath>
                  </m:oMathPara>
                </a14:m>
                <a:endParaRPr lang="zh-CN" altLang="en-US" dirty="0">
                  <a:ea typeface="Microsoft YaHei"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3868403" y="2749383"/>
                <a:ext cx="3159279" cy="1038489"/>
              </a:xfrm>
              <a:prstGeom prst="rect">
                <a:avLst/>
              </a:prstGeom>
              <a:blipFill>
                <a:blip r:embed="rId3"/>
                <a:stretch>
                  <a:fillRect/>
                </a:stretch>
              </a:blipFill>
            </p:spPr>
            <p:txBody>
              <a:bodyPr/>
              <a:lstStyle/>
              <a:p>
                <a:r>
                  <a:rPr lang="zh-CN" altLang="en-US">
                    <a:noFill/>
                  </a:rPr>
                  <a:t> </a:t>
                </a:r>
              </a:p>
            </p:txBody>
          </p:sp>
        </mc:Fallback>
      </mc:AlternateContent>
      <p:pic>
        <p:nvPicPr>
          <p:cNvPr id="5" name="图片 4"/>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3060006" y="3870544"/>
            <a:ext cx="6475262" cy="2760900"/>
          </a:xfrm>
          <a:prstGeom prst="rect">
            <a:avLst/>
          </a:prstGeom>
        </p:spPr>
      </p:pic>
      <p:sp>
        <p:nvSpPr>
          <p:cNvPr id="6" name="下箭头 5"/>
          <p:cNvSpPr/>
          <p:nvPr/>
        </p:nvSpPr>
        <p:spPr>
          <a:xfrm>
            <a:off x="5857547" y="2515266"/>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mc:AlternateContent xmlns:mc="http://schemas.openxmlformats.org/markup-compatibility/2006" xmlns:a14="http://schemas.microsoft.com/office/drawing/2010/main">
        <mc:Choice Requires="a14">
          <p:sp>
            <p:nvSpPr>
              <p:cNvPr id="7" name="文本框 6"/>
              <p:cNvSpPr txBox="1"/>
              <p:nvPr/>
            </p:nvSpPr>
            <p:spPr>
              <a:xfrm>
                <a:off x="4660607" y="3682950"/>
                <a:ext cx="14353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rPr>
                        <m:t>𝑔𝑎𝑚𝑚𝑎</m:t>
                      </m:r>
                      <m:r>
                        <a:rPr lang="en-US" altLang="zh-CN" sz="1400" i="1">
                          <a:latin typeface="Cambria Math" panose="02040503050406030204" pitchFamily="18" charset="0"/>
                        </a:rPr>
                        <m:t>    </m:t>
                      </m:r>
                      <m:r>
                        <a:rPr lang="en-US" altLang="zh-CN" sz="1400" i="1">
                          <a:latin typeface="Cambria Math" panose="02040503050406030204" pitchFamily="18" charset="0"/>
                        </a:rPr>
                        <m:t>𝑙𝑎𝑚𝑏𝑑𝑎</m:t>
                      </m:r>
                    </m:oMath>
                  </m:oMathPara>
                </a14:m>
                <a:endParaRPr lang="zh-CN" altLang="en-US" sz="1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4660607" y="3682950"/>
                <a:ext cx="1435393" cy="215444"/>
              </a:xfrm>
              <a:prstGeom prst="rect">
                <a:avLst/>
              </a:prstGeom>
              <a:blipFill>
                <a:blip r:embed="rId6"/>
                <a:stretch>
                  <a:fillRect l="-2553" r="-1702" b="-25000"/>
                </a:stretch>
              </a:blipFill>
            </p:spPr>
            <p:txBody>
              <a:bodyPr/>
              <a:lstStyle/>
              <a:p>
                <a:r>
                  <a:rPr lang="zh-CN" altLang="en-US">
                    <a:noFill/>
                  </a:rPr>
                  <a:t> </a:t>
                </a:r>
              </a:p>
            </p:txBody>
          </p:sp>
        </mc:Fallback>
      </mc:AlternateContent>
      <p:sp>
        <p:nvSpPr>
          <p:cNvPr id="8" name="圆角矩形 7"/>
          <p:cNvSpPr/>
          <p:nvPr/>
        </p:nvSpPr>
        <p:spPr>
          <a:xfrm>
            <a:off x="4940601" y="3109346"/>
            <a:ext cx="200297" cy="426720"/>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9" name="圆角矩形 8"/>
          <p:cNvSpPr/>
          <p:nvPr/>
        </p:nvSpPr>
        <p:spPr>
          <a:xfrm>
            <a:off x="5902018" y="3109346"/>
            <a:ext cx="200297" cy="426720"/>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24"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Rectangle 2">
            <a:extLst>
              <a:ext uri="{FF2B5EF4-FFF2-40B4-BE49-F238E27FC236}">
                <a16:creationId xmlns:a16="http://schemas.microsoft.com/office/drawing/2014/main" id="{D1B79976-8244-460B-8D1B-52C2F4A509ED}"/>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3.XGBoost</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E9970C6-77A6-4917-AC88-26501BB760BD}"/>
                  </a:ext>
                </a:extLst>
              </p:cNvPr>
              <p:cNvSpPr txBox="1"/>
              <p:nvPr/>
            </p:nvSpPr>
            <p:spPr>
              <a:xfrm>
                <a:off x="2257796" y="1298726"/>
                <a:ext cx="2225941" cy="276999"/>
              </a:xfrm>
              <a:prstGeom prst="rect">
                <a:avLst/>
              </a:prstGeom>
              <a:noFill/>
            </p:spPr>
            <p:txBody>
              <a:bodyPr wrap="square">
                <a:spAutoFit/>
              </a:bodyPr>
              <a:lstStyle/>
              <a:p>
                <a:r>
                  <a:rPr lang="zh-CN" altLang="en-US" sz="1200" dirty="0">
                    <a:solidFill>
                      <a:srgbClr val="FF0000"/>
                    </a:solidFill>
                  </a:rPr>
                  <a:t>保留</a:t>
                </a:r>
                <a14:m>
                  <m:oMath xmlns:m="http://schemas.openxmlformats.org/officeDocument/2006/math">
                    <m:r>
                      <a:rPr lang="en-US" altLang="zh-CN" sz="1200" b="0" i="1" smtClean="0">
                        <a:solidFill>
                          <a:srgbClr val="FF0000"/>
                        </a:solidFill>
                        <a:latin typeface="Cambria Math" panose="02040503050406030204" pitchFamily="18" charset="0"/>
                        <a:ea typeface="Microsoft YaHei" charset="0"/>
                      </a:rPr>
                      <m:t>𝑡</m:t>
                    </m:r>
                    <m:r>
                      <a:rPr lang="en-US" altLang="zh-CN" sz="1200" b="0" i="1" smtClean="0">
                        <a:solidFill>
                          <a:srgbClr val="FF0000"/>
                        </a:solidFill>
                        <a:latin typeface="Cambria Math" panose="02040503050406030204" pitchFamily="18" charset="0"/>
                        <a:ea typeface="Microsoft YaHei" charset="0"/>
                      </a:rPr>
                      <m:t>− </m:t>
                    </m:r>
                  </m:oMath>
                </a14:m>
                <a:r>
                  <a:rPr lang="en-US" altLang="zh-CN" sz="1200" dirty="0">
                    <a:solidFill>
                      <a:srgbClr val="FF0000"/>
                    </a:solidFill>
                  </a:rPr>
                  <a:t>1</a:t>
                </a:r>
                <a:r>
                  <a:rPr lang="zh-CN" altLang="en-US" sz="1200" dirty="0">
                    <a:solidFill>
                      <a:srgbClr val="FF0000"/>
                    </a:solidFill>
                  </a:rPr>
                  <a:t>轮的模型预测结果</a:t>
                </a:r>
              </a:p>
            </p:txBody>
          </p:sp>
        </mc:Choice>
        <mc:Fallback xmlns="">
          <p:sp>
            <p:nvSpPr>
              <p:cNvPr id="13" name="文本框 12">
                <a:extLst>
                  <a:ext uri="{FF2B5EF4-FFF2-40B4-BE49-F238E27FC236}">
                    <a16:creationId xmlns:a16="http://schemas.microsoft.com/office/drawing/2014/main" id="{4E9970C6-77A6-4917-AC88-26501BB760BD}"/>
                  </a:ext>
                </a:extLst>
              </p:cNvPr>
              <p:cNvSpPr txBox="1">
                <a:spLocks noRot="1" noChangeAspect="1" noMove="1" noResize="1" noEditPoints="1" noAdjustHandles="1" noChangeArrowheads="1" noChangeShapeType="1" noTextEdit="1"/>
              </p:cNvSpPr>
              <p:nvPr/>
            </p:nvSpPr>
            <p:spPr>
              <a:xfrm>
                <a:off x="2257796" y="1298726"/>
                <a:ext cx="2225941" cy="276999"/>
              </a:xfrm>
              <a:prstGeom prst="rect">
                <a:avLst/>
              </a:prstGeom>
              <a:blipFill>
                <a:blip r:embed="rId7"/>
                <a:stretch>
                  <a:fillRect t="-2222" b="-17778"/>
                </a:stretch>
              </a:blipFill>
            </p:spPr>
            <p:txBody>
              <a:bodyPr/>
              <a:lstStyle/>
              <a:p>
                <a:r>
                  <a:rPr lang="zh-CN" altLang="en-US">
                    <a:noFill/>
                  </a:rPr>
                  <a:t> </a:t>
                </a:r>
              </a:p>
            </p:txBody>
          </p:sp>
        </mc:Fallback>
      </mc:AlternateContent>
      <p:sp>
        <p:nvSpPr>
          <p:cNvPr id="10" name="箭头: 上 9">
            <a:extLst>
              <a:ext uri="{FF2B5EF4-FFF2-40B4-BE49-F238E27FC236}">
                <a16:creationId xmlns:a16="http://schemas.microsoft.com/office/drawing/2014/main" id="{58B4948E-7340-4DCF-9752-0C90F6CA3946}"/>
              </a:ext>
            </a:extLst>
          </p:cNvPr>
          <p:cNvSpPr/>
          <p:nvPr/>
        </p:nvSpPr>
        <p:spPr>
          <a:xfrm>
            <a:off x="3579866" y="1658397"/>
            <a:ext cx="154807" cy="307200"/>
          </a:xfrm>
          <a:prstGeom prst="upArrow">
            <a:avLst/>
          </a:prstGeom>
          <a:solidFill>
            <a:schemeClr val="accent2"/>
          </a:solidFill>
          <a:ln>
            <a:solidFill>
              <a:srgbClr val="00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FD6355C0-19BA-43DF-AEE3-AE3F1FE914D2}"/>
              </a:ext>
            </a:extLst>
          </p:cNvPr>
          <p:cNvSpPr txBox="1"/>
          <p:nvPr/>
        </p:nvSpPr>
        <p:spPr>
          <a:xfrm>
            <a:off x="4431776" y="1284920"/>
            <a:ext cx="5961276" cy="276999"/>
          </a:xfrm>
          <a:prstGeom prst="rect">
            <a:avLst/>
          </a:prstGeom>
          <a:noFill/>
        </p:spPr>
        <p:txBody>
          <a:bodyPr wrap="square">
            <a:spAutoFit/>
          </a:bodyPr>
          <a:lstStyle>
            <a:defPPr>
              <a:defRPr lang="zh-CN"/>
            </a:defPPr>
            <a:lvl1pPr>
              <a:defRPr sz="1200"/>
            </a:lvl1pPr>
          </a:lstStyle>
          <a:p>
            <a:r>
              <a:rPr lang="zh-CN" altLang="en-US" dirty="0">
                <a:solidFill>
                  <a:srgbClr val="FF0000"/>
                </a:solidFill>
              </a:rPr>
              <a:t>加入新的预测函数</a:t>
            </a:r>
          </a:p>
        </p:txBody>
      </p:sp>
      <p:sp>
        <p:nvSpPr>
          <p:cNvPr id="17" name="箭头: 上 16">
            <a:extLst>
              <a:ext uri="{FF2B5EF4-FFF2-40B4-BE49-F238E27FC236}">
                <a16:creationId xmlns:a16="http://schemas.microsoft.com/office/drawing/2014/main" id="{B4329615-3FCE-4E4C-B137-B6192F8B2867}"/>
              </a:ext>
            </a:extLst>
          </p:cNvPr>
          <p:cNvSpPr/>
          <p:nvPr/>
        </p:nvSpPr>
        <p:spPr>
          <a:xfrm>
            <a:off x="4885943" y="1625878"/>
            <a:ext cx="154807" cy="307200"/>
          </a:xfrm>
          <a:prstGeom prst="upArrow">
            <a:avLst/>
          </a:prstGeom>
          <a:solidFill>
            <a:schemeClr val="accent2"/>
          </a:solidFill>
          <a:ln>
            <a:solidFill>
              <a:srgbClr val="00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25084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animEffect transition="in" filter="fade">
                                      <p:cBhvr>
                                        <p:cTn id="26" dur="500"/>
                                        <p:tgtEl>
                                          <p:spTgt spid="6"/>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ppt_w</p:attrName>
                                        </p:attrNameLst>
                                      </p:cBhvr>
                                      <p:tavLst>
                                        <p:tav tm="0">
                                          <p:val>
                                            <p:fltVal val="0"/>
                                          </p:val>
                                        </p:tav>
                                        <p:tav tm="100000">
                                          <p:val>
                                            <p:strVal val="#ppt_w"/>
                                          </p:val>
                                        </p:tav>
                                      </p:tavLst>
                                    </p:anim>
                                    <p:anim calcmode="lin" valueType="num">
                                      <p:cBhvr>
                                        <p:cTn id="30" dur="500" fill="hold"/>
                                        <p:tgtEl>
                                          <p:spTgt spid="4"/>
                                        </p:tgtEl>
                                        <p:attrNameLst>
                                          <p:attrName>ppt_h</p:attrName>
                                        </p:attrNameLst>
                                      </p:cBhvr>
                                      <p:tavLst>
                                        <p:tav tm="0">
                                          <p:val>
                                            <p:fltVal val="0"/>
                                          </p:val>
                                        </p:tav>
                                        <p:tav tm="100000">
                                          <p:val>
                                            <p:strVal val="#ppt_h"/>
                                          </p:val>
                                        </p:tav>
                                      </p:tavLst>
                                    </p:anim>
                                    <p:animEffect transition="in" filter="fade">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randombar(horizontal)">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p:cTn id="51" dur="500" fill="hold"/>
                                        <p:tgtEl>
                                          <p:spTgt spid="5"/>
                                        </p:tgtEl>
                                        <p:attrNameLst>
                                          <p:attrName>ppt_w</p:attrName>
                                        </p:attrNameLst>
                                      </p:cBhvr>
                                      <p:tavLst>
                                        <p:tav tm="0">
                                          <p:val>
                                            <p:fltVal val="0"/>
                                          </p:val>
                                        </p:tav>
                                        <p:tav tm="100000">
                                          <p:val>
                                            <p:strVal val="#ppt_w"/>
                                          </p:val>
                                        </p:tav>
                                      </p:tavLst>
                                    </p:anim>
                                    <p:anim calcmode="lin" valueType="num">
                                      <p:cBhvr>
                                        <p:cTn id="52" dur="500" fill="hold"/>
                                        <p:tgtEl>
                                          <p:spTgt spid="5"/>
                                        </p:tgtEl>
                                        <p:attrNameLst>
                                          <p:attrName>ppt_h</p:attrName>
                                        </p:attrNameLst>
                                      </p:cBhvr>
                                      <p:tavLst>
                                        <p:tav tm="0">
                                          <p:val>
                                            <p:fltVal val="0"/>
                                          </p:val>
                                        </p:tav>
                                        <p:tav tm="100000">
                                          <p:val>
                                            <p:strVal val="#ppt_h"/>
                                          </p:val>
                                        </p:tav>
                                      </p:tavLst>
                                    </p:anim>
                                    <p:animEffect transition="in" filter="fade">
                                      <p:cBhvr>
                                        <p:cTn id="5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animBg="1"/>
      <p:bldP spid="7" grpId="0"/>
      <p:bldP spid="8" grpId="0" animBg="1"/>
      <p:bldP spid="9" grpId="0" animBg="1"/>
      <p:bldP spid="13" grpId="0"/>
      <p:bldP spid="10" grpId="0" animBg="1"/>
      <p:bldP spid="16" grpId="0"/>
      <p:bldP spid="1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p:cNvSpPr/>
              <p:nvPr/>
            </p:nvSpPr>
            <p:spPr>
              <a:xfrm>
                <a:off x="654879" y="1242703"/>
                <a:ext cx="9650462" cy="11005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Microsoft YaHei" charset="0"/>
                        </a:rPr>
                        <m:t>𝑂𝑏𝑗</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𝑡</m:t>
                          </m:r>
                        </m:e>
                      </m:d>
                      <m:r>
                        <a:rPr lang="en-US" altLang="zh-CN" i="1">
                          <a:latin typeface="Cambria Math" panose="02040503050406030204" pitchFamily="18" charset="0"/>
                          <a:ea typeface="Cambria Math" panose="02040503050406030204" pitchFamily="18" charset="0"/>
                        </a:rPr>
                        <m:t>≈</m:t>
                      </m:r>
                      <m:nary>
                        <m:naryPr>
                          <m:chr m:val="∑"/>
                          <m:ctrlPr>
                            <a:rPr lang="en-US" altLang="zh-CN"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𝑛</m:t>
                          </m:r>
                        </m:sup>
                        <m:e>
                          <m:d>
                            <m:dPr>
                              <m:begChr m:val="["/>
                              <m:endChr m:val="]"/>
                              <m:ctrlPr>
                                <a:rPr lang="en-US" altLang="zh-CN" i="1">
                                  <a:latin typeface="Cambria Math" panose="02040503050406030204" pitchFamily="18" charset="0"/>
                                  <a:ea typeface="Microsoft YaHei" charset="0"/>
                                </a:rPr>
                              </m:ctrlPr>
                            </m:dPr>
                            <m:e>
                              <m:r>
                                <m:rPr>
                                  <m:sty m:val="p"/>
                                </m:rPr>
                                <a:rPr lang="en-US" altLang="zh-CN" i="0">
                                  <a:latin typeface="Cambria Math" panose="02040503050406030204" pitchFamily="18" charset="0"/>
                                  <a:ea typeface="Microsoft YaHei" charset="0"/>
                                </a:rPr>
                                <m:t>L</m:t>
                              </m:r>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𝑦</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Sup>
                                    <m:sSupPr>
                                      <m:ctrlPr>
                                        <a:rPr lang="en-US" altLang="zh-CN" i="1">
                                          <a:latin typeface="Cambria Math" panose="02040503050406030204" pitchFamily="18" charset="0"/>
                                          <a:ea typeface="Microsoft YaHei" charset="0"/>
                                        </a:rPr>
                                      </m:ctrlPr>
                                    </m:sSupPr>
                                    <m:e>
                                      <m:acc>
                                        <m:accPr>
                                          <m:chr m:val="̂"/>
                                          <m:ctrlPr>
                                            <a:rPr lang="en-US" altLang="zh-CN" i="1">
                                              <a:latin typeface="Cambria Math" panose="02040503050406030204" pitchFamily="18" charset="0"/>
                                              <a:ea typeface="Microsoft YaHei" charset="0"/>
                                            </a:rPr>
                                          </m:ctrlPr>
                                        </m:accPr>
                                        <m:e>
                                          <m:r>
                                            <a:rPr lang="en-US" altLang="zh-CN" i="1">
                                              <a:latin typeface="Cambria Math" panose="02040503050406030204" pitchFamily="18" charset="0"/>
                                              <a:ea typeface="Microsoft YaHei" charset="0"/>
                                            </a:rPr>
                                            <m:t>𝑦</m:t>
                                          </m:r>
                                        </m:e>
                                      </m:acc>
                                    </m:e>
                                    <m:sup>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𝑡</m:t>
                                      </m:r>
                                      <m:r>
                                        <a:rPr lang="en-US" altLang="zh-CN" i="1">
                                          <a:latin typeface="Cambria Math" panose="02040503050406030204" pitchFamily="18" charset="0"/>
                                          <a:ea typeface="Microsoft YaHei" charset="0"/>
                                        </a:rPr>
                                        <m:t>−1)</m:t>
                                      </m:r>
                                    </m:sup>
                                  </m:sSup>
                                </m:e>
                              </m:d>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𝑔</m:t>
                                  </m:r>
                                </m:e>
                                <m:sub>
                                  <m:r>
                                    <a:rPr lang="en-US" altLang="zh-CN" i="1">
                                      <a:latin typeface="Cambria Math" panose="02040503050406030204" pitchFamily="18" charset="0"/>
                                      <a:ea typeface="Microsoft YaHei" charset="0"/>
                                    </a:rPr>
                                    <m:t>𝑖</m:t>
                                  </m:r>
                                </m:sub>
                              </m:sSub>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𝑡</m:t>
                                  </m:r>
                                </m:sub>
                              </m:sSub>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e>
                              </m:d>
                              <m:r>
                                <a:rPr lang="en-US" altLang="zh-CN" i="1">
                                  <a:latin typeface="Cambria Math" panose="02040503050406030204" pitchFamily="18" charset="0"/>
                                  <a:ea typeface="Microsoft YaHei" charset="0"/>
                                </a:rPr>
                                <m:t>+</m:t>
                              </m:r>
                              <m:f>
                                <m:fPr>
                                  <m:ctrlPr>
                                    <a:rPr lang="en-US" altLang="zh-CN" i="1">
                                      <a:latin typeface="Cambria Math" panose="02040503050406030204" pitchFamily="18" charset="0"/>
                                      <a:ea typeface="Microsoft YaHei" charset="0"/>
                                    </a:rPr>
                                  </m:ctrlPr>
                                </m:fPr>
                                <m:num>
                                  <m:r>
                                    <a:rPr lang="en-US" altLang="zh-CN" i="1">
                                      <a:latin typeface="Cambria Math" panose="02040503050406030204" pitchFamily="18" charset="0"/>
                                      <a:ea typeface="Microsoft YaHei" charset="0"/>
                                    </a:rPr>
                                    <m:t>1</m:t>
                                  </m:r>
                                </m:num>
                                <m:den>
                                  <m:r>
                                    <a:rPr lang="en-US" altLang="zh-CN" i="1">
                                      <a:latin typeface="Cambria Math" panose="02040503050406030204" pitchFamily="18" charset="0"/>
                                      <a:ea typeface="Microsoft YaHei" charset="0"/>
                                    </a:rPr>
                                    <m:t>2</m:t>
                                  </m:r>
                                </m:den>
                              </m:f>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h</m:t>
                                  </m:r>
                                </m:e>
                                <m:sub>
                                  <m:r>
                                    <a:rPr lang="en-US" altLang="zh-CN" i="1">
                                      <a:latin typeface="Cambria Math" panose="02040503050406030204" pitchFamily="18" charset="0"/>
                                      <a:ea typeface="Microsoft YaHei" charset="0"/>
                                    </a:rPr>
                                    <m:t>𝑖</m:t>
                                  </m:r>
                                </m:sub>
                              </m:sSub>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𝑡</m:t>
                                      </m:r>
                                    </m:sub>
                                  </m:sSub>
                                </m:e>
                                <m:sup>
                                  <m:r>
                                    <a:rPr lang="en-US" altLang="zh-CN" i="1">
                                      <a:latin typeface="Cambria Math" panose="02040503050406030204" pitchFamily="18" charset="0"/>
                                      <a:ea typeface="Microsoft YaHei" charset="0"/>
                                    </a:rPr>
                                    <m:t>2</m:t>
                                  </m:r>
                                </m:sup>
                              </m:sSup>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e>
                          </m:d>
                        </m:e>
                      </m:nary>
                      <m:r>
                        <a:rPr lang="en-US" altLang="zh-CN">
                          <a:latin typeface="Cambria Math" panose="02040503050406030204" pitchFamily="18" charset="0"/>
                          <a:ea typeface="Cambria Math" panose="02040503050406030204" pitchFamily="18" charset="0"/>
                        </a:rPr>
                        <m:t>+</m:t>
                      </m:r>
                      <m:r>
                        <m:rPr>
                          <m:sty m:val="p"/>
                        </m:rPr>
                        <a:rPr lang="el-GR" altLang="zh-CN" i="1">
                          <a:latin typeface="Cambria Math" panose="02040503050406030204" pitchFamily="18" charset="0"/>
                          <a:ea typeface="Cambria Math" panose="02040503050406030204" pitchFamily="18" charset="0"/>
                        </a:rPr>
                        <m:t>Ω</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𝑓</m:t>
                              </m:r>
                            </m:e>
                            <m:sub>
                              <m:r>
                                <a:rPr lang="en-US" altLang="zh-CN" i="1">
                                  <a:latin typeface="Cambria Math" panose="02040503050406030204" pitchFamily="18" charset="0"/>
                                  <a:ea typeface="Cambria Math" panose="02040503050406030204" pitchFamily="18" charset="0"/>
                                </a:rPr>
                                <m:t>𝑡</m:t>
                              </m:r>
                            </m:sub>
                          </m:sSub>
                        </m:e>
                      </m:d>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𝑐𝑜𝑛𝑠𝑡𝑎𝑛𝑡</m:t>
                      </m:r>
                    </m:oMath>
                  </m:oMathPara>
                </a14:m>
                <a:endParaRPr lang="zh-CN" altLang="en-US" dirty="0">
                  <a:ea typeface="Microsoft YaHei"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654879" y="1242703"/>
                <a:ext cx="9650462" cy="110055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546415" y="2332340"/>
                <a:ext cx="4128823" cy="756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𝑛</m:t>
                          </m:r>
                        </m:sup>
                        <m:e>
                          <m:d>
                            <m:dPr>
                              <m:begChr m:val="["/>
                              <m:endChr m:val="]"/>
                              <m:ctrlPr>
                                <a:rPr lang="en-US" altLang="zh-CN" b="0" i="1" smtClean="0">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𝑔</m:t>
                                  </m:r>
                                </m:e>
                                <m:sub>
                                  <m:r>
                                    <a:rPr lang="en-US" altLang="zh-CN" i="1">
                                      <a:latin typeface="Cambria Math" panose="02040503050406030204" pitchFamily="18" charset="0"/>
                                      <a:ea typeface="Microsoft YaHei" charset="0"/>
                                    </a:rPr>
                                    <m:t>𝑖</m:t>
                                  </m:r>
                                </m:sub>
                              </m:sSub>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𝑡</m:t>
                                  </m:r>
                                </m:sub>
                              </m:sSub>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e>
                              </m:d>
                              <m:r>
                                <a:rPr lang="en-US" altLang="zh-CN" i="1">
                                  <a:latin typeface="Cambria Math" panose="02040503050406030204" pitchFamily="18" charset="0"/>
                                  <a:ea typeface="Microsoft YaHei" charset="0"/>
                                </a:rPr>
                                <m:t>+</m:t>
                              </m:r>
                              <m:f>
                                <m:fPr>
                                  <m:ctrlPr>
                                    <a:rPr lang="en-US" altLang="zh-CN" i="1">
                                      <a:latin typeface="Cambria Math" panose="02040503050406030204" pitchFamily="18" charset="0"/>
                                      <a:ea typeface="Microsoft YaHei" charset="0"/>
                                    </a:rPr>
                                  </m:ctrlPr>
                                </m:fPr>
                                <m:num>
                                  <m:r>
                                    <a:rPr lang="en-US" altLang="zh-CN" i="1">
                                      <a:latin typeface="Cambria Math" panose="02040503050406030204" pitchFamily="18" charset="0"/>
                                      <a:ea typeface="Microsoft YaHei" charset="0"/>
                                    </a:rPr>
                                    <m:t>1</m:t>
                                  </m:r>
                                </m:num>
                                <m:den>
                                  <m:r>
                                    <a:rPr lang="en-US" altLang="zh-CN" i="1">
                                      <a:latin typeface="Cambria Math" panose="02040503050406030204" pitchFamily="18" charset="0"/>
                                      <a:ea typeface="Microsoft YaHei" charset="0"/>
                                    </a:rPr>
                                    <m:t>2</m:t>
                                  </m:r>
                                </m:den>
                              </m:f>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h</m:t>
                                  </m:r>
                                </m:e>
                                <m:sub>
                                  <m:r>
                                    <a:rPr lang="en-US" altLang="zh-CN" i="1">
                                      <a:latin typeface="Cambria Math" panose="02040503050406030204" pitchFamily="18" charset="0"/>
                                      <a:ea typeface="Microsoft YaHei" charset="0"/>
                                    </a:rPr>
                                    <m:t>𝑖</m:t>
                                  </m:r>
                                </m:sub>
                              </m:sSub>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𝑡</m:t>
                                      </m:r>
                                    </m:sub>
                                  </m:sSub>
                                </m:e>
                                <m:sup>
                                  <m:r>
                                    <a:rPr lang="en-US" altLang="zh-CN" i="1">
                                      <a:latin typeface="Cambria Math" panose="02040503050406030204" pitchFamily="18" charset="0"/>
                                      <a:ea typeface="Microsoft YaHei" charset="0"/>
                                    </a:rPr>
                                    <m:t>2</m:t>
                                  </m:r>
                                </m:sup>
                              </m:sSup>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e>
                          </m:d>
                          <m:r>
                            <a:rPr lang="en-US" altLang="zh-CN">
                              <a:latin typeface="Cambria Math" panose="02040503050406030204" pitchFamily="18" charset="0"/>
                              <a:ea typeface="Cambria Math" panose="02040503050406030204" pitchFamily="18" charset="0"/>
                            </a:rPr>
                            <m:t>+</m:t>
                          </m:r>
                          <m:r>
                            <m:rPr>
                              <m:sty m:val="p"/>
                            </m:rPr>
                            <a:rPr lang="el-GR" altLang="zh-CN" i="1">
                              <a:latin typeface="Cambria Math" panose="02040503050406030204" pitchFamily="18" charset="0"/>
                              <a:ea typeface="Cambria Math" panose="02040503050406030204" pitchFamily="18" charset="0"/>
                            </a:rPr>
                            <m:t>Ω</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𝑓</m:t>
                                  </m:r>
                                </m:e>
                                <m:sub>
                                  <m:r>
                                    <a:rPr lang="en-US" altLang="zh-CN" i="1">
                                      <a:latin typeface="Cambria Math" panose="02040503050406030204" pitchFamily="18" charset="0"/>
                                      <a:ea typeface="Cambria Math" panose="02040503050406030204" pitchFamily="18" charset="0"/>
                                    </a:rPr>
                                    <m:t>𝑡</m:t>
                                  </m:r>
                                </m:sub>
                              </m:sSub>
                            </m:e>
                          </m:d>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e>
                      </m:nary>
                    </m:oMath>
                  </m:oMathPara>
                </a14:m>
                <a:endParaRPr lang="zh-CN" altLang="en-US" dirty="0">
                  <a:ea typeface="Microsoft YaHei"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546415" y="2332340"/>
                <a:ext cx="4128823" cy="756233"/>
              </a:xfrm>
              <a:prstGeom prst="rect">
                <a:avLst/>
              </a:prstGeom>
              <a:blipFill>
                <a:blip r:embed="rId4"/>
                <a:stretch>
                  <a:fillRect r="-29838" b="-314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1494834" y="3311108"/>
                <a:ext cx="5179751" cy="778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𝑛</m:t>
                          </m:r>
                        </m:sup>
                        <m:e>
                          <m:d>
                            <m:dPr>
                              <m:begChr m:val="["/>
                              <m:endChr m:val="]"/>
                              <m:ctrlPr>
                                <a:rPr lang="en-US" altLang="zh-CN" b="0" i="1" smtClean="0">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𝑔</m:t>
                                  </m:r>
                                </m:e>
                                <m:sub>
                                  <m:r>
                                    <a:rPr lang="en-US" altLang="zh-CN" i="1">
                                      <a:latin typeface="Cambria Math" panose="02040503050406030204" pitchFamily="18" charset="0"/>
                                      <a:ea typeface="Microsoft YaHei" charset="0"/>
                                    </a:rPr>
                                    <m:t>𝑖</m:t>
                                  </m:r>
                                </m:sub>
                              </m:sSub>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𝑤</m:t>
                                  </m:r>
                                </m:e>
                                <m:sub>
                                  <m:r>
                                    <a:rPr lang="en-US" altLang="zh-CN" b="0" i="1" smtClean="0">
                                      <a:latin typeface="Cambria Math" panose="02040503050406030204" pitchFamily="18" charset="0"/>
                                      <a:ea typeface="Microsoft YaHei" charset="0"/>
                                    </a:rPr>
                                    <m:t>𝑞</m:t>
                                  </m:r>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sub>
                              </m:sSub>
                              <m:r>
                                <a:rPr lang="en-US" altLang="zh-CN" b="0" i="1" smtClean="0">
                                  <a:latin typeface="Cambria Math" panose="02040503050406030204" pitchFamily="18" charset="0"/>
                                  <a:ea typeface="Microsoft YaHei" charset="0"/>
                                </a:rPr>
                                <m:t>+</m:t>
                              </m:r>
                              <m:f>
                                <m:fPr>
                                  <m:ctrlPr>
                                    <a:rPr lang="en-US" altLang="zh-CN" b="0" i="1" smtClean="0">
                                      <a:latin typeface="Cambria Math" panose="02040503050406030204" pitchFamily="18" charset="0"/>
                                      <a:ea typeface="Microsoft YaHei" charset="0"/>
                                    </a:rPr>
                                  </m:ctrlPr>
                                </m:fPr>
                                <m:num>
                                  <m:r>
                                    <a:rPr lang="en-US" altLang="zh-CN" b="0" i="1" smtClean="0">
                                      <a:latin typeface="Cambria Math" panose="02040503050406030204" pitchFamily="18" charset="0"/>
                                      <a:ea typeface="Microsoft YaHei" charset="0"/>
                                    </a:rPr>
                                    <m:t>1</m:t>
                                  </m:r>
                                </m:num>
                                <m:den>
                                  <m:r>
                                    <a:rPr lang="en-US" altLang="zh-CN" b="0" i="1" smtClean="0">
                                      <a:latin typeface="Cambria Math" panose="02040503050406030204" pitchFamily="18" charset="0"/>
                                      <a:ea typeface="Microsoft YaHei" charset="0"/>
                                    </a:rPr>
                                    <m:t>2</m:t>
                                  </m:r>
                                </m:den>
                              </m:f>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h</m:t>
                                  </m:r>
                                </m:e>
                                <m:sub>
                                  <m:r>
                                    <a:rPr lang="en-US" altLang="zh-CN" b="0" i="1" smtClean="0">
                                      <a:latin typeface="Cambria Math" panose="02040503050406030204" pitchFamily="18" charset="0"/>
                                      <a:ea typeface="Microsoft YaHei" charset="0"/>
                                    </a:rPr>
                                    <m:t>𝑖</m:t>
                                  </m:r>
                                </m:sub>
                              </m:sSub>
                              <m:sSup>
                                <m:sSupPr>
                                  <m:ctrlPr>
                                    <a:rPr lang="en-US" altLang="zh-CN" b="0" i="1" smtClean="0">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𝑤</m:t>
                                      </m:r>
                                    </m:e>
                                    <m:sub>
                                      <m:r>
                                        <a:rPr lang="en-US" altLang="zh-CN" i="1">
                                          <a:latin typeface="Cambria Math" panose="02040503050406030204" pitchFamily="18" charset="0"/>
                                          <a:ea typeface="Microsoft YaHei" charset="0"/>
                                        </a:rPr>
                                        <m:t>𝑞</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ub>
                                  </m:sSub>
                                </m:e>
                                <m:sup>
                                  <m:r>
                                    <a:rPr lang="en-US" altLang="zh-CN" b="0" i="1" smtClean="0">
                                      <a:latin typeface="Cambria Math" panose="02040503050406030204" pitchFamily="18" charset="0"/>
                                      <a:ea typeface="Microsoft YaHei" charset="0"/>
                                    </a:rPr>
                                    <m:t>2</m:t>
                                  </m:r>
                                </m:sup>
                              </m:sSup>
                            </m:e>
                          </m:d>
                          <m:r>
                            <a:rPr lang="en-US" altLang="zh-CN" b="0" i="1" smtClean="0">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𝛾</m:t>
                          </m:r>
                          <m:r>
                            <a:rPr lang="en-US" altLang="zh-CN" i="1">
                              <a:latin typeface="Cambria Math" panose="02040503050406030204" pitchFamily="18" charset="0"/>
                              <a:ea typeface="Cambria Math" panose="02040503050406030204" pitchFamily="18" charset="0"/>
                            </a:rPr>
                            <m:t>𝑇</m:t>
                          </m:r>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1</m:t>
                              </m:r>
                            </m:num>
                            <m:den>
                              <m:r>
                                <a:rPr lang="en-US" altLang="zh-CN" i="1">
                                  <a:latin typeface="Cambria Math" panose="02040503050406030204" pitchFamily="18" charset="0"/>
                                  <a:ea typeface="Cambria Math" panose="02040503050406030204" pitchFamily="18" charset="0"/>
                                </a:rPr>
                                <m:t>2</m:t>
                              </m:r>
                            </m:den>
                          </m:f>
                          <m:r>
                            <a:rPr lang="zh-CN" altLang="en-US" i="1">
                              <a:latin typeface="Cambria Math" panose="02040503050406030204" pitchFamily="18" charset="0"/>
                              <a:ea typeface="Cambria Math" panose="02040503050406030204" pitchFamily="18" charset="0"/>
                            </a:rPr>
                            <m:t>𝜆</m:t>
                          </m:r>
                          <m:nary>
                            <m:naryPr>
                              <m:chr m:val="∑"/>
                              <m:ctrlPr>
                                <a:rPr lang="zh-CN" altLang="en-US" i="1">
                                  <a:latin typeface="Cambria Math" panose="02040503050406030204" pitchFamily="18" charset="0"/>
                                  <a:ea typeface="Cambria Math" panose="02040503050406030204" pitchFamily="18" charset="0"/>
                                </a:rPr>
                              </m:ctrlPr>
                            </m:naryPr>
                            <m:sub>
                              <m:r>
                                <m:rPr>
                                  <m:brk m:alnAt="23"/>
                                </m:rP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𝑇</m:t>
                              </m:r>
                            </m:sup>
                            <m:e>
                              <m:sSup>
                                <m:sSupPr>
                                  <m:ctrlPr>
                                    <a:rPr lang="en-US" altLang="zh-CN" i="1">
                                      <a:latin typeface="Cambria Math" panose="02040503050406030204" pitchFamily="18" charset="0"/>
                                      <a:ea typeface="Cambria Math" panose="02040503050406030204" pitchFamily="18" charset="0"/>
                                    </a:rPr>
                                  </m:ctrlPr>
                                </m:sSup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𝑤</m:t>
                                      </m:r>
                                    </m:e>
                                    <m:sub>
                                      <m:r>
                                        <a:rPr lang="en-US" altLang="zh-CN" i="1">
                                          <a:latin typeface="Cambria Math" panose="02040503050406030204" pitchFamily="18" charset="0"/>
                                          <a:ea typeface="Cambria Math" panose="02040503050406030204" pitchFamily="18" charset="0"/>
                                        </a:rPr>
                                        <m:t>𝑗</m:t>
                                      </m:r>
                                    </m:sub>
                                  </m:sSub>
                                </m:e>
                                <m:sup>
                                  <m:r>
                                    <a:rPr lang="en-US" altLang="zh-CN" i="1">
                                      <a:latin typeface="Cambria Math" panose="02040503050406030204" pitchFamily="18" charset="0"/>
                                      <a:ea typeface="Cambria Math" panose="02040503050406030204" pitchFamily="18" charset="0"/>
                                    </a:rPr>
                                    <m:t>2</m:t>
                                  </m:r>
                                </m:sup>
                              </m:sSup>
                            </m:e>
                          </m:nary>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e>
                      </m:nary>
                    </m:oMath>
                  </m:oMathPara>
                </a14:m>
                <a:endParaRPr lang="zh-CN" altLang="en-US" dirty="0">
                  <a:ea typeface="Microsoft YaHei"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494834" y="3311108"/>
                <a:ext cx="5179751" cy="778931"/>
              </a:xfrm>
              <a:prstGeom prst="rect">
                <a:avLst/>
              </a:prstGeom>
              <a:blipFill>
                <a:blip r:embed="rId5"/>
                <a:stretch>
                  <a:fillRect r="-30235" b="-320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1494834" y="4566109"/>
                <a:ext cx="6510308" cy="9364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m:t>
                      </m:r>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𝑗</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𝑇</m:t>
                          </m:r>
                        </m:sup>
                        <m:e>
                          <m:d>
                            <m:dPr>
                              <m:begChr m:val="["/>
                              <m:endChr m:val="]"/>
                              <m:ctrlPr>
                                <a:rPr lang="en-US" altLang="zh-CN" sz="2000" b="0" i="1" smtClean="0">
                                  <a:latin typeface="Cambria Math" panose="02040503050406030204" pitchFamily="18" charset="0"/>
                                  <a:ea typeface="Microsoft YaHei" charset="0"/>
                                </a:rPr>
                              </m:ctrlPr>
                            </m:dPr>
                            <m:e>
                              <m:d>
                                <m:dPr>
                                  <m:ctrlPr>
                                    <a:rPr lang="en-US" altLang="zh-CN" sz="2000" i="1">
                                      <a:latin typeface="Cambria Math" panose="02040503050406030204" pitchFamily="18" charset="0"/>
                                      <a:ea typeface="Microsoft YaHei" charset="0"/>
                                    </a:rPr>
                                  </m:ctrlPr>
                                </m:dPr>
                                <m:e>
                                  <m:nary>
                                    <m:naryPr>
                                      <m:chr m:val="∑"/>
                                      <m:supHide m:val="on"/>
                                      <m:ctrlPr>
                                        <a:rPr lang="en-US" altLang="zh-CN" sz="2000" i="1">
                                          <a:latin typeface="Cambria Math" panose="02040503050406030204" pitchFamily="18" charset="0"/>
                                          <a:ea typeface="Microsoft YaHei" charset="0"/>
                                        </a:rPr>
                                      </m:ctrlPr>
                                    </m:naryPr>
                                    <m:sub>
                                      <m:r>
                                        <m:rPr>
                                          <m:brk m:alnAt="7"/>
                                        </m:rPr>
                                        <a:rPr lang="en-US" altLang="zh-CN" sz="2000" i="1">
                                          <a:latin typeface="Cambria Math" panose="02040503050406030204" pitchFamily="18" charset="0"/>
                                          <a:ea typeface="Microsoft YaHei" charset="0"/>
                                        </a:rPr>
                                        <m:t>𝑖</m:t>
                                      </m:r>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𝐼</m:t>
                                          </m:r>
                                        </m:e>
                                        <m:sub>
                                          <m:r>
                                            <a:rPr lang="en-US" altLang="zh-CN" sz="2000" i="1">
                                              <a:latin typeface="Cambria Math" panose="02040503050406030204" pitchFamily="18" charset="0"/>
                                              <a:ea typeface="Cambria Math" panose="02040503050406030204" pitchFamily="18" charset="0"/>
                                            </a:rPr>
                                            <m:t>𝑗</m:t>
                                          </m:r>
                                        </m:sub>
                                      </m:sSub>
                                    </m:sub>
                                    <m:sup/>
                                    <m:e>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𝑔</m:t>
                                          </m:r>
                                        </m:e>
                                        <m:sub>
                                          <m:r>
                                            <a:rPr lang="en-US" altLang="zh-CN" sz="2000" i="1">
                                              <a:latin typeface="Cambria Math" panose="02040503050406030204" pitchFamily="18" charset="0"/>
                                              <a:ea typeface="Microsoft YaHei" charset="0"/>
                                            </a:rPr>
                                            <m:t>𝑖</m:t>
                                          </m:r>
                                        </m:sub>
                                      </m:sSub>
                                    </m:e>
                                  </m:nary>
                                </m:e>
                              </m:d>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𝑤</m:t>
                                  </m:r>
                                </m:e>
                                <m:sub>
                                  <m:r>
                                    <a:rPr lang="en-US" altLang="zh-CN" sz="2000" i="1">
                                      <a:latin typeface="Cambria Math" panose="02040503050406030204" pitchFamily="18" charset="0"/>
                                      <a:ea typeface="Microsoft YaHei" charset="0"/>
                                    </a:rPr>
                                    <m:t>𝑗</m:t>
                                  </m:r>
                                </m:sub>
                              </m:sSub>
                              <m:r>
                                <a:rPr lang="en-US" altLang="zh-CN" sz="2000" b="0" i="1" smtClean="0">
                                  <a:latin typeface="Cambria Math" panose="02040503050406030204" pitchFamily="18" charset="0"/>
                                  <a:ea typeface="Microsoft YaHei" charset="0"/>
                                </a:rPr>
                                <m:t>+</m:t>
                              </m:r>
                              <m:f>
                                <m:fPr>
                                  <m:ctrlPr>
                                    <a:rPr lang="en-US" altLang="zh-CN" sz="2000" b="0" i="1" smtClean="0">
                                      <a:latin typeface="Cambria Math" panose="02040503050406030204" pitchFamily="18" charset="0"/>
                                      <a:ea typeface="Microsoft YaHei" charset="0"/>
                                    </a:rPr>
                                  </m:ctrlPr>
                                </m:fPr>
                                <m:num>
                                  <m:r>
                                    <a:rPr lang="en-US" altLang="zh-CN" sz="2000" b="0" i="1" smtClean="0">
                                      <a:latin typeface="Cambria Math" panose="02040503050406030204" pitchFamily="18" charset="0"/>
                                      <a:ea typeface="Microsoft YaHei" charset="0"/>
                                    </a:rPr>
                                    <m:t>1</m:t>
                                  </m:r>
                                </m:num>
                                <m:den>
                                  <m:r>
                                    <a:rPr lang="en-US" altLang="zh-CN" sz="2000" b="0" i="1" smtClean="0">
                                      <a:latin typeface="Cambria Math" panose="02040503050406030204" pitchFamily="18" charset="0"/>
                                      <a:ea typeface="Microsoft YaHei" charset="0"/>
                                    </a:rPr>
                                    <m:t>2</m:t>
                                  </m:r>
                                </m:den>
                              </m:f>
                              <m:d>
                                <m:dPr>
                                  <m:ctrlPr>
                                    <a:rPr lang="en-US" altLang="zh-CN" sz="2000" i="1">
                                      <a:latin typeface="Cambria Math" panose="02040503050406030204" pitchFamily="18" charset="0"/>
                                      <a:ea typeface="Microsoft YaHei" charset="0"/>
                                    </a:rPr>
                                  </m:ctrlPr>
                                </m:dPr>
                                <m:e>
                                  <m:nary>
                                    <m:naryPr>
                                      <m:chr m:val="∑"/>
                                      <m:supHide m:val="on"/>
                                      <m:ctrlPr>
                                        <a:rPr lang="en-US" altLang="zh-CN" sz="2000" i="1">
                                          <a:latin typeface="Cambria Math" panose="02040503050406030204" pitchFamily="18" charset="0"/>
                                          <a:ea typeface="Microsoft YaHei" charset="0"/>
                                        </a:rPr>
                                      </m:ctrlPr>
                                    </m:naryPr>
                                    <m:sub>
                                      <m:r>
                                        <m:rPr>
                                          <m:brk m:alnAt="7"/>
                                        </m:rPr>
                                        <a:rPr lang="en-US" altLang="zh-CN" sz="2000" i="1">
                                          <a:latin typeface="Cambria Math" panose="02040503050406030204" pitchFamily="18" charset="0"/>
                                          <a:ea typeface="Microsoft YaHei" charset="0"/>
                                        </a:rPr>
                                        <m:t>𝑖</m:t>
                                      </m:r>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𝐼</m:t>
                                          </m:r>
                                        </m:e>
                                        <m:sub>
                                          <m:r>
                                            <a:rPr lang="en-US" altLang="zh-CN" sz="2000" i="1">
                                              <a:latin typeface="Cambria Math" panose="02040503050406030204" pitchFamily="18" charset="0"/>
                                              <a:ea typeface="Cambria Math" panose="02040503050406030204" pitchFamily="18" charset="0"/>
                                            </a:rPr>
                                            <m:t>𝑗</m:t>
                                          </m:r>
                                        </m:sub>
                                      </m:sSub>
                                    </m:sub>
                                    <m:sup/>
                                    <m:e>
                                      <m:sSub>
                                        <m:sSubPr>
                                          <m:ctrlPr>
                                            <a:rPr lang="en-US" altLang="zh-CN" sz="2000" i="1">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h</m:t>
                                          </m:r>
                                        </m:e>
                                        <m:sub>
                                          <m:r>
                                            <a:rPr lang="en-US" altLang="zh-CN" sz="2000" i="1">
                                              <a:latin typeface="Cambria Math" panose="02040503050406030204" pitchFamily="18" charset="0"/>
                                              <a:ea typeface="Microsoft YaHei" charset="0"/>
                                            </a:rPr>
                                            <m:t>𝑖</m:t>
                                          </m:r>
                                        </m:sub>
                                      </m:sSub>
                                    </m:e>
                                  </m:nary>
                                </m:e>
                              </m:d>
                              <m:sSup>
                                <m:sSupPr>
                                  <m:ctrlPr>
                                    <a:rPr lang="en-US" altLang="zh-CN" sz="2000" i="1" smtClean="0">
                                      <a:latin typeface="Cambria Math" panose="02040503050406030204" pitchFamily="18" charset="0"/>
                                      <a:ea typeface="Microsoft YaHei" charset="0"/>
                                    </a:rPr>
                                  </m:ctrlPr>
                                </m:sSupPr>
                                <m:e>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𝑤</m:t>
                                      </m:r>
                                    </m:e>
                                    <m:sub>
                                      <m:r>
                                        <a:rPr lang="en-US" altLang="zh-CN" sz="2000" b="0" i="1" smtClean="0">
                                          <a:latin typeface="Cambria Math" panose="02040503050406030204" pitchFamily="18" charset="0"/>
                                          <a:ea typeface="Microsoft YaHei" charset="0"/>
                                        </a:rPr>
                                        <m:t>𝑗</m:t>
                                      </m:r>
                                    </m:sub>
                                  </m:sSub>
                                </m:e>
                                <m:sup>
                                  <m:r>
                                    <a:rPr lang="en-US" altLang="zh-CN" sz="2000" b="0" i="1" smtClean="0">
                                      <a:latin typeface="Cambria Math" panose="02040503050406030204" pitchFamily="18" charset="0"/>
                                      <a:ea typeface="Microsoft YaHei" charset="0"/>
                                    </a:rPr>
                                    <m:t>2</m:t>
                                  </m:r>
                                </m:sup>
                              </m:sSup>
                            </m:e>
                          </m:d>
                          <m:r>
                            <a:rPr lang="en-US" altLang="zh-CN" sz="2000" i="1">
                              <a:latin typeface="Cambria Math" panose="02040503050406030204" pitchFamily="18" charset="0"/>
                              <a:ea typeface="Microsoft YaHei" charset="0"/>
                            </a:rPr>
                            <m:t>+</m:t>
                          </m:r>
                          <m:r>
                            <a:rPr lang="zh-CN" altLang="en-US" sz="2000" i="1">
                              <a:latin typeface="Cambria Math" panose="02040503050406030204" pitchFamily="18" charset="0"/>
                              <a:ea typeface="Cambria Math" panose="02040503050406030204" pitchFamily="18" charset="0"/>
                            </a:rPr>
                            <m:t>𝛾</m:t>
                          </m:r>
                          <m:r>
                            <a:rPr lang="en-US" altLang="zh-CN" sz="2000" i="1">
                              <a:latin typeface="Cambria Math" panose="02040503050406030204" pitchFamily="18" charset="0"/>
                              <a:ea typeface="Cambria Math" panose="02040503050406030204" pitchFamily="18" charset="0"/>
                            </a:rPr>
                            <m:t>𝑇</m:t>
                          </m:r>
                          <m:r>
                            <a:rPr lang="en-US" altLang="zh-CN" sz="2000" i="1">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1</m:t>
                              </m:r>
                            </m:num>
                            <m:den>
                              <m:r>
                                <a:rPr lang="en-US" altLang="zh-CN" sz="2000" i="1">
                                  <a:latin typeface="Cambria Math" panose="02040503050406030204" pitchFamily="18" charset="0"/>
                                  <a:ea typeface="Cambria Math" panose="02040503050406030204" pitchFamily="18" charset="0"/>
                                </a:rPr>
                                <m:t>2</m:t>
                              </m:r>
                            </m:den>
                          </m:f>
                          <m:r>
                            <a:rPr lang="zh-CN" altLang="en-US" sz="2000" i="1">
                              <a:latin typeface="Cambria Math" panose="02040503050406030204" pitchFamily="18" charset="0"/>
                              <a:ea typeface="Cambria Math" panose="02040503050406030204" pitchFamily="18" charset="0"/>
                            </a:rPr>
                            <m:t>𝜆</m:t>
                          </m:r>
                          <m:nary>
                            <m:naryPr>
                              <m:chr m:val="∑"/>
                              <m:ctrlPr>
                                <a:rPr lang="zh-CN" altLang="en-US" sz="2000" i="1">
                                  <a:latin typeface="Cambria Math" panose="02040503050406030204" pitchFamily="18" charset="0"/>
                                  <a:ea typeface="Cambria Math" panose="02040503050406030204" pitchFamily="18" charset="0"/>
                                </a:rPr>
                              </m:ctrlPr>
                            </m:naryPr>
                            <m:sub>
                              <m:r>
                                <m:rPr>
                                  <m:brk m:alnAt="23"/>
                                </m:rPr>
                                <a:rPr lang="en-US" altLang="zh-CN" sz="2000" i="1">
                                  <a:latin typeface="Cambria Math" panose="02040503050406030204" pitchFamily="18" charset="0"/>
                                  <a:ea typeface="Cambria Math" panose="02040503050406030204" pitchFamily="18" charset="0"/>
                                </a:rPr>
                                <m:t>𝑖</m:t>
                              </m:r>
                              <m:r>
                                <a:rPr lang="en-US" altLang="zh-CN" sz="2000" i="1">
                                  <a:latin typeface="Cambria Math" panose="02040503050406030204" pitchFamily="18" charset="0"/>
                                  <a:ea typeface="Cambria Math" panose="02040503050406030204" pitchFamily="18" charset="0"/>
                                </a:rPr>
                                <m:t>=1</m:t>
                              </m:r>
                            </m:sub>
                            <m:sup>
                              <m:r>
                                <a:rPr lang="en-US" altLang="zh-CN" sz="2000" i="1">
                                  <a:latin typeface="Cambria Math" panose="02040503050406030204" pitchFamily="18" charset="0"/>
                                  <a:ea typeface="Cambria Math" panose="02040503050406030204" pitchFamily="18" charset="0"/>
                                </a:rPr>
                                <m:t>𝑇</m:t>
                              </m:r>
                            </m:sup>
                            <m:e>
                              <m:sSup>
                                <m:sSupPr>
                                  <m:ctrlPr>
                                    <a:rPr lang="en-US" altLang="zh-CN" sz="2000" i="1">
                                      <a:latin typeface="Cambria Math" panose="02040503050406030204" pitchFamily="18" charset="0"/>
                                      <a:ea typeface="Cambria Math" panose="02040503050406030204" pitchFamily="18" charset="0"/>
                                    </a:rPr>
                                  </m:ctrlPr>
                                </m:sSup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𝑤</m:t>
                                      </m:r>
                                    </m:e>
                                    <m:sub>
                                      <m:r>
                                        <a:rPr lang="en-US" altLang="zh-CN" sz="2000" i="1">
                                          <a:latin typeface="Cambria Math" panose="02040503050406030204" pitchFamily="18" charset="0"/>
                                          <a:ea typeface="Cambria Math" panose="02040503050406030204" pitchFamily="18" charset="0"/>
                                        </a:rPr>
                                        <m:t>𝑗</m:t>
                                      </m:r>
                                    </m:sub>
                                  </m:sSub>
                                </m:e>
                                <m:sup>
                                  <m:r>
                                    <a:rPr lang="en-US" altLang="zh-CN" sz="2000" i="1">
                                      <a:latin typeface="Cambria Math" panose="02040503050406030204" pitchFamily="18" charset="0"/>
                                      <a:ea typeface="Cambria Math" panose="02040503050406030204" pitchFamily="18" charset="0"/>
                                    </a:rPr>
                                    <m:t>2</m:t>
                                  </m:r>
                                </m:sup>
                              </m:sSup>
                            </m:e>
                          </m:nary>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𝐶</m:t>
                          </m:r>
                        </m:e>
                      </m:nary>
                    </m:oMath>
                  </m:oMathPara>
                </a14:m>
                <a:endParaRPr lang="zh-CN" altLang="en-US" dirty="0">
                  <a:ea typeface="Microsoft YaHei"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1494834" y="4566109"/>
                <a:ext cx="6510308" cy="93641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1483614" y="5531325"/>
                <a:ext cx="5516638" cy="9364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m:t>
                      </m:r>
                      <m:nary>
                        <m:naryPr>
                          <m:chr m:val="∑"/>
                          <m:ctrlPr>
                            <a:rPr lang="en-US" altLang="zh-CN" sz="2000" i="1">
                              <a:latin typeface="Cambria Math" panose="02040503050406030204" pitchFamily="18" charset="0"/>
                              <a:ea typeface="Microsoft YaHei" charset="0"/>
                            </a:rPr>
                          </m:ctrlPr>
                        </m:naryPr>
                        <m:sub>
                          <m:r>
                            <m:rPr>
                              <m:brk m:alnAt="23"/>
                            </m:rPr>
                            <a:rPr lang="en-US" altLang="zh-CN" sz="2000" i="1">
                              <a:latin typeface="Cambria Math" panose="02040503050406030204" pitchFamily="18" charset="0"/>
                              <a:ea typeface="Microsoft YaHei" charset="0"/>
                            </a:rPr>
                            <m:t>𝑗</m:t>
                          </m:r>
                          <m:r>
                            <a:rPr lang="en-US" altLang="zh-CN" sz="2000" i="1">
                              <a:latin typeface="Cambria Math" panose="02040503050406030204" pitchFamily="18" charset="0"/>
                              <a:ea typeface="Microsoft YaHei" charset="0"/>
                            </a:rPr>
                            <m:t>=1</m:t>
                          </m:r>
                        </m:sub>
                        <m:sup>
                          <m:r>
                            <a:rPr lang="en-US" altLang="zh-CN" sz="2000" i="1">
                              <a:latin typeface="Cambria Math" panose="02040503050406030204" pitchFamily="18" charset="0"/>
                              <a:ea typeface="Microsoft YaHei" charset="0"/>
                            </a:rPr>
                            <m:t>𝑇</m:t>
                          </m:r>
                        </m:sup>
                        <m:e>
                          <m:d>
                            <m:dPr>
                              <m:begChr m:val="["/>
                              <m:endChr m:val="]"/>
                              <m:ctrlPr>
                                <a:rPr lang="en-US" altLang="zh-CN" sz="2000" i="1">
                                  <a:latin typeface="Cambria Math" panose="02040503050406030204" pitchFamily="18" charset="0"/>
                                  <a:ea typeface="Microsoft YaHei" charset="0"/>
                                </a:rPr>
                              </m:ctrlPr>
                            </m:dPr>
                            <m:e>
                              <m:d>
                                <m:dPr>
                                  <m:ctrlPr>
                                    <a:rPr lang="en-US" altLang="zh-CN" sz="2000" i="1">
                                      <a:latin typeface="Cambria Math" panose="02040503050406030204" pitchFamily="18" charset="0"/>
                                      <a:ea typeface="Microsoft YaHei" charset="0"/>
                                    </a:rPr>
                                  </m:ctrlPr>
                                </m:dPr>
                                <m:e>
                                  <m:nary>
                                    <m:naryPr>
                                      <m:chr m:val="∑"/>
                                      <m:supHide m:val="on"/>
                                      <m:ctrlPr>
                                        <a:rPr lang="en-US" altLang="zh-CN" sz="2000" i="1">
                                          <a:latin typeface="Cambria Math" panose="02040503050406030204" pitchFamily="18" charset="0"/>
                                          <a:ea typeface="Microsoft YaHei" charset="0"/>
                                        </a:rPr>
                                      </m:ctrlPr>
                                    </m:naryPr>
                                    <m:sub>
                                      <m:r>
                                        <m:rPr>
                                          <m:brk m:alnAt="7"/>
                                        </m:rPr>
                                        <a:rPr lang="en-US" altLang="zh-CN" sz="2000" i="1">
                                          <a:latin typeface="Cambria Math" panose="02040503050406030204" pitchFamily="18" charset="0"/>
                                          <a:ea typeface="Microsoft YaHei" charset="0"/>
                                        </a:rPr>
                                        <m:t>𝑖</m:t>
                                      </m:r>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𝐼</m:t>
                                          </m:r>
                                        </m:e>
                                        <m:sub>
                                          <m:r>
                                            <a:rPr lang="en-US" altLang="zh-CN" sz="2000" i="1">
                                              <a:latin typeface="Cambria Math" panose="02040503050406030204" pitchFamily="18" charset="0"/>
                                              <a:ea typeface="Cambria Math" panose="02040503050406030204" pitchFamily="18" charset="0"/>
                                            </a:rPr>
                                            <m:t>𝑗</m:t>
                                          </m:r>
                                        </m:sub>
                                      </m:sSub>
                                    </m:sub>
                                    <m:sup/>
                                    <m:e>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𝑔</m:t>
                                          </m:r>
                                        </m:e>
                                        <m:sub>
                                          <m:r>
                                            <a:rPr lang="en-US" altLang="zh-CN" sz="2000" i="1">
                                              <a:latin typeface="Cambria Math" panose="02040503050406030204" pitchFamily="18" charset="0"/>
                                              <a:ea typeface="Microsoft YaHei" charset="0"/>
                                            </a:rPr>
                                            <m:t>𝑖</m:t>
                                          </m:r>
                                        </m:sub>
                                      </m:sSub>
                                    </m:e>
                                  </m:nary>
                                </m:e>
                              </m:d>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𝑤</m:t>
                                  </m:r>
                                </m:e>
                                <m:sub>
                                  <m:r>
                                    <a:rPr lang="en-US" altLang="zh-CN" sz="2000" i="1">
                                      <a:latin typeface="Cambria Math" panose="02040503050406030204" pitchFamily="18" charset="0"/>
                                      <a:ea typeface="Microsoft YaHei" charset="0"/>
                                    </a:rPr>
                                    <m:t>𝑗</m:t>
                                  </m:r>
                                </m:sub>
                              </m:sSub>
                              <m:r>
                                <a:rPr lang="en-US" altLang="zh-CN" sz="2000" i="1">
                                  <a:latin typeface="Cambria Math" panose="02040503050406030204" pitchFamily="18" charset="0"/>
                                  <a:ea typeface="Microsoft YaHei" charset="0"/>
                                </a:rPr>
                                <m:t>+</m:t>
                              </m:r>
                              <m:f>
                                <m:fPr>
                                  <m:ctrlPr>
                                    <a:rPr lang="en-US" altLang="zh-CN" sz="2000" i="1">
                                      <a:latin typeface="Cambria Math" panose="02040503050406030204" pitchFamily="18" charset="0"/>
                                      <a:ea typeface="Microsoft YaHei" charset="0"/>
                                    </a:rPr>
                                  </m:ctrlPr>
                                </m:fPr>
                                <m:num>
                                  <m:r>
                                    <a:rPr lang="en-US" altLang="zh-CN" sz="2000" i="1">
                                      <a:latin typeface="Cambria Math" panose="02040503050406030204" pitchFamily="18" charset="0"/>
                                      <a:ea typeface="Microsoft YaHei" charset="0"/>
                                    </a:rPr>
                                    <m:t>1</m:t>
                                  </m:r>
                                </m:num>
                                <m:den>
                                  <m:r>
                                    <a:rPr lang="en-US" altLang="zh-CN" sz="2000" i="1">
                                      <a:latin typeface="Cambria Math" panose="02040503050406030204" pitchFamily="18" charset="0"/>
                                      <a:ea typeface="Microsoft YaHei" charset="0"/>
                                    </a:rPr>
                                    <m:t>2</m:t>
                                  </m:r>
                                </m:den>
                              </m:f>
                              <m:d>
                                <m:dPr>
                                  <m:ctrlPr>
                                    <a:rPr lang="en-US" altLang="zh-CN" sz="2000" i="1">
                                      <a:latin typeface="Cambria Math" panose="02040503050406030204" pitchFamily="18" charset="0"/>
                                      <a:ea typeface="Microsoft YaHei" charset="0"/>
                                    </a:rPr>
                                  </m:ctrlPr>
                                </m:dPr>
                                <m:e>
                                  <m:nary>
                                    <m:naryPr>
                                      <m:chr m:val="∑"/>
                                      <m:supHide m:val="on"/>
                                      <m:ctrlPr>
                                        <a:rPr lang="en-US" altLang="zh-CN" sz="2000" i="1">
                                          <a:latin typeface="Cambria Math" panose="02040503050406030204" pitchFamily="18" charset="0"/>
                                          <a:ea typeface="Microsoft YaHei" charset="0"/>
                                        </a:rPr>
                                      </m:ctrlPr>
                                    </m:naryPr>
                                    <m:sub>
                                      <m:r>
                                        <m:rPr>
                                          <m:brk m:alnAt="7"/>
                                        </m:rPr>
                                        <a:rPr lang="en-US" altLang="zh-CN" sz="2000" i="1">
                                          <a:latin typeface="Cambria Math" panose="02040503050406030204" pitchFamily="18" charset="0"/>
                                          <a:ea typeface="Microsoft YaHei" charset="0"/>
                                        </a:rPr>
                                        <m:t>𝑖</m:t>
                                      </m:r>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𝐼</m:t>
                                          </m:r>
                                        </m:e>
                                        <m:sub>
                                          <m:r>
                                            <a:rPr lang="en-US" altLang="zh-CN" sz="2000" i="1">
                                              <a:latin typeface="Cambria Math" panose="02040503050406030204" pitchFamily="18" charset="0"/>
                                              <a:ea typeface="Cambria Math" panose="02040503050406030204" pitchFamily="18" charset="0"/>
                                            </a:rPr>
                                            <m:t>𝑗</m:t>
                                          </m:r>
                                        </m:sub>
                                      </m:sSub>
                                    </m:sub>
                                    <m:sup/>
                                    <m:e>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h</m:t>
                                          </m:r>
                                        </m:e>
                                        <m:sub>
                                          <m:r>
                                            <a:rPr lang="en-US" altLang="zh-CN" sz="2000" i="1">
                                              <a:latin typeface="Cambria Math" panose="02040503050406030204" pitchFamily="18" charset="0"/>
                                              <a:ea typeface="Microsoft YaHei" charset="0"/>
                                            </a:rPr>
                                            <m:t>𝑖</m:t>
                                          </m:r>
                                        </m:sub>
                                      </m:sSub>
                                    </m:e>
                                  </m:nary>
                                  <m:r>
                                    <a:rPr lang="en-US" altLang="zh-CN" sz="2000" b="0" i="1" smtClean="0">
                                      <a:latin typeface="Cambria Math" panose="02040503050406030204" pitchFamily="18" charset="0"/>
                                      <a:ea typeface="Microsoft YaHei" charset="0"/>
                                    </a:rPr>
                                    <m:t>+</m:t>
                                  </m:r>
                                  <m:r>
                                    <a:rPr lang="zh-CN" altLang="en-US" sz="2000" i="1">
                                      <a:latin typeface="Cambria Math" panose="02040503050406030204" pitchFamily="18" charset="0"/>
                                      <a:ea typeface="Cambria Math" panose="02040503050406030204" pitchFamily="18" charset="0"/>
                                    </a:rPr>
                                    <m:t>𝜆</m:t>
                                  </m:r>
                                </m:e>
                              </m:d>
                              <m:sSup>
                                <m:sSupPr>
                                  <m:ctrlPr>
                                    <a:rPr lang="en-US" altLang="zh-CN" sz="2000" i="1">
                                      <a:latin typeface="Cambria Math" panose="02040503050406030204" pitchFamily="18" charset="0"/>
                                      <a:ea typeface="Microsoft YaHei" charset="0"/>
                                    </a:rPr>
                                  </m:ctrlPr>
                                </m:sSupPr>
                                <m:e>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𝑤</m:t>
                                      </m:r>
                                    </m:e>
                                    <m:sub>
                                      <m:r>
                                        <a:rPr lang="en-US" altLang="zh-CN" sz="2000" i="1">
                                          <a:latin typeface="Cambria Math" panose="02040503050406030204" pitchFamily="18" charset="0"/>
                                          <a:ea typeface="Microsoft YaHei" charset="0"/>
                                        </a:rPr>
                                        <m:t>𝑗</m:t>
                                      </m:r>
                                    </m:sub>
                                  </m:sSub>
                                </m:e>
                                <m:sup>
                                  <m:r>
                                    <a:rPr lang="en-US" altLang="zh-CN" sz="2000" i="1">
                                      <a:latin typeface="Cambria Math" panose="02040503050406030204" pitchFamily="18" charset="0"/>
                                      <a:ea typeface="Microsoft YaHei" charset="0"/>
                                    </a:rPr>
                                    <m:t>2</m:t>
                                  </m:r>
                                </m:sup>
                              </m:sSup>
                            </m:e>
                          </m:d>
                          <m:r>
                            <a:rPr lang="en-US" altLang="zh-CN" sz="2000" i="1">
                              <a:latin typeface="Cambria Math" panose="02040503050406030204" pitchFamily="18" charset="0"/>
                              <a:ea typeface="Microsoft YaHei" charset="0"/>
                            </a:rPr>
                            <m:t>+</m:t>
                          </m:r>
                          <m:r>
                            <a:rPr lang="zh-CN" altLang="en-US" sz="2000" i="1">
                              <a:latin typeface="Cambria Math" panose="02040503050406030204" pitchFamily="18" charset="0"/>
                              <a:ea typeface="Cambria Math" panose="02040503050406030204" pitchFamily="18" charset="0"/>
                            </a:rPr>
                            <m:t>𝛾</m:t>
                          </m:r>
                          <m:r>
                            <a:rPr lang="en-US" altLang="zh-CN" sz="2000" i="1">
                              <a:latin typeface="Cambria Math" panose="02040503050406030204" pitchFamily="18" charset="0"/>
                              <a:ea typeface="Cambria Math" panose="02040503050406030204" pitchFamily="18" charset="0"/>
                            </a:rPr>
                            <m:t>𝑇</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𝐶</m:t>
                          </m:r>
                        </m:e>
                      </m:nary>
                    </m:oMath>
                  </m:oMathPara>
                </a14:m>
                <a:endParaRPr lang="zh-CN" altLang="en-US" sz="2000" dirty="0">
                  <a:ea typeface="Microsoft YaHei"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483614" y="5531325"/>
                <a:ext cx="5516638" cy="936410"/>
              </a:xfrm>
              <a:prstGeom prst="rect">
                <a:avLst/>
              </a:prstGeom>
              <a:blipFill>
                <a:blip r:embed="rId7"/>
                <a:stretch>
                  <a:fillRect/>
                </a:stretch>
              </a:blipFill>
            </p:spPr>
            <p:txBody>
              <a:bodyPr/>
              <a:lstStyle/>
              <a:p>
                <a:r>
                  <a:rPr lang="zh-CN" altLang="en-US">
                    <a:noFill/>
                  </a:rPr>
                  <a:t> </a:t>
                </a:r>
              </a:p>
            </p:txBody>
          </p:sp>
        </mc:Fallback>
      </mc:AlternateContent>
      <p:sp>
        <p:nvSpPr>
          <p:cNvPr id="10" name="圆角矩形 9"/>
          <p:cNvSpPr/>
          <p:nvPr/>
        </p:nvSpPr>
        <p:spPr>
          <a:xfrm>
            <a:off x="8641385" y="3762982"/>
            <a:ext cx="940526" cy="323622"/>
          </a:xfrm>
          <a:prstGeom prst="round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1,2,3</a:t>
            </a:r>
            <a:endParaRPr lang="zh-CN" altLang="en-US" sz="2000" dirty="0">
              <a:ea typeface="Microsoft YaHei" charset="0"/>
            </a:endParaRPr>
          </a:p>
        </p:txBody>
      </p:sp>
      <p:sp>
        <p:nvSpPr>
          <p:cNvPr id="11" name="圆角矩形 10"/>
          <p:cNvSpPr/>
          <p:nvPr/>
        </p:nvSpPr>
        <p:spPr>
          <a:xfrm>
            <a:off x="9488211" y="2877747"/>
            <a:ext cx="940526" cy="323622"/>
          </a:xfrm>
          <a:prstGeom prst="round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000" dirty="0">
              <a:ea typeface="Microsoft YaHei" charset="0"/>
            </a:endParaRPr>
          </a:p>
        </p:txBody>
      </p:sp>
      <p:sp>
        <p:nvSpPr>
          <p:cNvPr id="12" name="圆角矩形 11"/>
          <p:cNvSpPr/>
          <p:nvPr/>
        </p:nvSpPr>
        <p:spPr>
          <a:xfrm>
            <a:off x="10119582" y="3726833"/>
            <a:ext cx="940526" cy="323622"/>
          </a:xfrm>
          <a:prstGeom prst="round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000" dirty="0">
              <a:ea typeface="Microsoft YaHei" charset="0"/>
            </a:endParaRPr>
          </a:p>
        </p:txBody>
      </p:sp>
      <p:sp>
        <p:nvSpPr>
          <p:cNvPr id="13" name="圆角矩形 12"/>
          <p:cNvSpPr/>
          <p:nvPr/>
        </p:nvSpPr>
        <p:spPr>
          <a:xfrm>
            <a:off x="9588359" y="4517744"/>
            <a:ext cx="940526" cy="323622"/>
          </a:xfrm>
          <a:prstGeom prst="round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4,5,6</a:t>
            </a:r>
            <a:endParaRPr lang="zh-CN" altLang="en-US" sz="2000" dirty="0">
              <a:ea typeface="Microsoft YaHei" charset="0"/>
            </a:endParaRPr>
          </a:p>
        </p:txBody>
      </p:sp>
      <p:sp>
        <p:nvSpPr>
          <p:cNvPr id="14" name="圆角矩形 13"/>
          <p:cNvSpPr/>
          <p:nvPr/>
        </p:nvSpPr>
        <p:spPr>
          <a:xfrm>
            <a:off x="11118860" y="4530158"/>
            <a:ext cx="940526" cy="323622"/>
          </a:xfrm>
          <a:prstGeom prst="round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7,8,9</a:t>
            </a:r>
            <a:endParaRPr lang="zh-CN" altLang="en-US" sz="2000" dirty="0">
              <a:ea typeface="Microsoft YaHei" charset="0"/>
            </a:endParaRPr>
          </a:p>
        </p:txBody>
      </p:sp>
      <p:cxnSp>
        <p:nvCxnSpPr>
          <p:cNvPr id="16" name="直接连接符 15"/>
          <p:cNvCxnSpPr>
            <a:cxnSpLocks/>
            <a:stCxn id="11" idx="2"/>
          </p:cNvCxnSpPr>
          <p:nvPr/>
        </p:nvCxnSpPr>
        <p:spPr>
          <a:xfrm flipH="1">
            <a:off x="9218248" y="3201369"/>
            <a:ext cx="740226" cy="52546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1" idx="2"/>
            <a:endCxn id="12" idx="0"/>
          </p:cNvCxnSpPr>
          <p:nvPr/>
        </p:nvCxnSpPr>
        <p:spPr>
          <a:xfrm>
            <a:off x="9958474" y="3201369"/>
            <a:ext cx="631371" cy="52546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2" idx="2"/>
            <a:endCxn id="13" idx="0"/>
          </p:cNvCxnSpPr>
          <p:nvPr/>
        </p:nvCxnSpPr>
        <p:spPr>
          <a:xfrm flipH="1">
            <a:off x="10058622" y="4050455"/>
            <a:ext cx="531223" cy="467289"/>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2" idx="2"/>
          </p:cNvCxnSpPr>
          <p:nvPr/>
        </p:nvCxnSpPr>
        <p:spPr>
          <a:xfrm>
            <a:off x="10589845" y="4050455"/>
            <a:ext cx="705393" cy="467289"/>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22"/>
              <p:cNvSpPr txBox="1"/>
              <p:nvPr/>
            </p:nvSpPr>
            <p:spPr>
              <a:xfrm>
                <a:off x="8747981" y="4152486"/>
                <a:ext cx="3171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𝑤</m:t>
                          </m:r>
                        </m:e>
                        <m:sub>
                          <m:r>
                            <a:rPr lang="en-US" altLang="zh-CN" b="0" i="1" smtClean="0">
                              <a:latin typeface="Cambria Math" panose="02040503050406030204" pitchFamily="18" charset="0"/>
                              <a:ea typeface="Microsoft YaHei" charset="0"/>
                            </a:rPr>
                            <m:t>1</m:t>
                          </m:r>
                        </m:sub>
                      </m:sSub>
                    </m:oMath>
                  </m:oMathPara>
                </a14:m>
                <a:endParaRPr lang="zh-CN" altLang="en-US" dirty="0">
                  <a:ea typeface="Microsoft YaHei" charset="0"/>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8747981" y="4152486"/>
                <a:ext cx="317138" cy="276999"/>
              </a:xfrm>
              <a:prstGeom prst="rect">
                <a:avLst/>
              </a:prstGeom>
              <a:blipFill>
                <a:blip r:embed="rId8"/>
                <a:stretch>
                  <a:fillRect l="-23077" r="-28846" b="-5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p:cNvSpPr txBox="1"/>
              <p:nvPr/>
            </p:nvSpPr>
            <p:spPr>
              <a:xfrm>
                <a:off x="9900053" y="4846533"/>
                <a:ext cx="32246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𝑤</m:t>
                          </m:r>
                        </m:e>
                        <m:sub>
                          <m:r>
                            <a:rPr lang="en-US" altLang="zh-CN" b="0" i="1" smtClean="0">
                              <a:latin typeface="Cambria Math" panose="02040503050406030204" pitchFamily="18" charset="0"/>
                              <a:ea typeface="Microsoft YaHei" charset="0"/>
                            </a:rPr>
                            <m:t>2</m:t>
                          </m:r>
                        </m:sub>
                      </m:sSub>
                    </m:oMath>
                  </m:oMathPara>
                </a14:m>
                <a:endParaRPr lang="zh-CN" altLang="en-US" dirty="0">
                  <a:ea typeface="Microsoft YaHei" charset="0"/>
                </a:endParaRPr>
              </a:p>
            </p:txBody>
          </p:sp>
        </mc:Choice>
        <mc:Fallback xmlns="">
          <p:sp>
            <p:nvSpPr>
              <p:cNvPr id="24" name="文本框 23"/>
              <p:cNvSpPr txBox="1">
                <a:spLocks noRot="1" noChangeAspect="1" noMove="1" noResize="1" noEditPoints="1" noAdjustHandles="1" noChangeArrowheads="1" noChangeShapeType="1" noTextEdit="1"/>
              </p:cNvSpPr>
              <p:nvPr/>
            </p:nvSpPr>
            <p:spPr>
              <a:xfrm>
                <a:off x="9900053" y="4846533"/>
                <a:ext cx="322461" cy="276999"/>
              </a:xfrm>
              <a:prstGeom prst="rect">
                <a:avLst/>
              </a:prstGeom>
              <a:blipFill>
                <a:blip r:embed="rId9"/>
                <a:stretch>
                  <a:fillRect l="-22642" r="-28302" b="-5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p:cNvSpPr txBox="1"/>
              <p:nvPr/>
            </p:nvSpPr>
            <p:spPr>
              <a:xfrm>
                <a:off x="11136669" y="4846533"/>
                <a:ext cx="32246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𝑤</m:t>
                          </m:r>
                        </m:e>
                        <m:sub>
                          <m:r>
                            <a:rPr lang="en-US" altLang="zh-CN" b="0" i="1" smtClean="0">
                              <a:latin typeface="Cambria Math" panose="02040503050406030204" pitchFamily="18" charset="0"/>
                              <a:ea typeface="Microsoft YaHei" charset="0"/>
                            </a:rPr>
                            <m:t>3</m:t>
                          </m:r>
                        </m:sub>
                      </m:sSub>
                    </m:oMath>
                  </m:oMathPara>
                </a14:m>
                <a:endParaRPr lang="zh-CN" altLang="en-US" dirty="0">
                  <a:ea typeface="Microsoft YaHei" charset="0"/>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11136669" y="4846533"/>
                <a:ext cx="322461" cy="276999"/>
              </a:xfrm>
              <a:prstGeom prst="rect">
                <a:avLst/>
              </a:prstGeom>
              <a:blipFill>
                <a:blip r:embed="rId10"/>
                <a:stretch>
                  <a:fillRect l="-24528" r="-28302" b="-57778"/>
                </a:stretch>
              </a:blipFill>
            </p:spPr>
            <p:txBody>
              <a:bodyPr/>
              <a:lstStyle/>
              <a:p>
                <a:r>
                  <a:rPr lang="zh-CN" altLang="en-US">
                    <a:noFill/>
                  </a:rPr>
                  <a:t> </a:t>
                </a:r>
              </a:p>
            </p:txBody>
          </p:sp>
        </mc:Fallback>
      </mc:AlternateContent>
      <p:sp>
        <p:nvSpPr>
          <p:cNvPr id="26" name="圆角矩形 25"/>
          <p:cNvSpPr/>
          <p:nvPr/>
        </p:nvSpPr>
        <p:spPr>
          <a:xfrm>
            <a:off x="1751738" y="3319494"/>
            <a:ext cx="481788" cy="1076173"/>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27" name="圆角矩形 26"/>
          <p:cNvSpPr/>
          <p:nvPr/>
        </p:nvSpPr>
        <p:spPr>
          <a:xfrm>
            <a:off x="1751738" y="4535431"/>
            <a:ext cx="442823" cy="960962"/>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28" name="圆角矩形 27"/>
          <p:cNvSpPr/>
          <p:nvPr/>
        </p:nvSpPr>
        <p:spPr>
          <a:xfrm>
            <a:off x="2564738" y="1561514"/>
            <a:ext cx="1650880" cy="447474"/>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29" name="圆角矩形 28"/>
          <p:cNvSpPr/>
          <p:nvPr/>
        </p:nvSpPr>
        <p:spPr>
          <a:xfrm>
            <a:off x="5637381" y="2567285"/>
            <a:ext cx="744662" cy="537734"/>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30" name="圆角矩形 29"/>
          <p:cNvSpPr/>
          <p:nvPr/>
        </p:nvSpPr>
        <p:spPr>
          <a:xfrm>
            <a:off x="6261449" y="4484770"/>
            <a:ext cx="1217874" cy="1008619"/>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31" name="圆角矩形 30"/>
          <p:cNvSpPr/>
          <p:nvPr/>
        </p:nvSpPr>
        <p:spPr>
          <a:xfrm>
            <a:off x="3965505" y="5639922"/>
            <a:ext cx="1427110" cy="827813"/>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32" name="下箭头 31"/>
          <p:cNvSpPr/>
          <p:nvPr/>
        </p:nvSpPr>
        <p:spPr>
          <a:xfrm>
            <a:off x="2829789" y="3257742"/>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4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 name="组合 1">
            <a:extLst>
              <a:ext uri="{FF2B5EF4-FFF2-40B4-BE49-F238E27FC236}">
                <a16:creationId xmlns:a16="http://schemas.microsoft.com/office/drawing/2014/main" id="{A175D4EB-C1C7-435B-B198-7CF97A847886}"/>
              </a:ext>
            </a:extLst>
          </p:cNvPr>
          <p:cNvGrpSpPr/>
          <p:nvPr/>
        </p:nvGrpSpPr>
        <p:grpSpPr>
          <a:xfrm>
            <a:off x="5963386" y="6251325"/>
            <a:ext cx="6096000" cy="576857"/>
            <a:chOff x="5963386" y="6251325"/>
            <a:chExt cx="6096000" cy="576857"/>
          </a:xfrm>
        </p:grpSpPr>
        <p:sp>
          <p:nvSpPr>
            <p:cNvPr id="4" name="矩形: 圆角 3">
              <a:extLst>
                <a:ext uri="{FF2B5EF4-FFF2-40B4-BE49-F238E27FC236}">
                  <a16:creationId xmlns:a16="http://schemas.microsoft.com/office/drawing/2014/main" id="{17E4B301-1B82-4252-BEEB-C8718AFDCECD}"/>
                </a:ext>
              </a:extLst>
            </p:cNvPr>
            <p:cNvSpPr/>
            <p:nvPr/>
          </p:nvSpPr>
          <p:spPr>
            <a:xfrm>
              <a:off x="6058949" y="6252282"/>
              <a:ext cx="5875606" cy="575900"/>
            </a:xfrm>
            <a:prstGeom prst="roundRect">
              <a:avLst/>
            </a:prstGeom>
            <a:ln>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071A4C3F-DDA6-46F0-8C24-97BE2378DF2F}"/>
                    </a:ext>
                  </a:extLst>
                </p:cNvPr>
                <p:cNvSpPr txBox="1"/>
                <p:nvPr/>
              </p:nvSpPr>
              <p:spPr>
                <a:xfrm>
                  <a:off x="5963386" y="6251325"/>
                  <a:ext cx="6096000" cy="5052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𝑡</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𝑥</m:t>
                            </m:r>
                          </m:e>
                        </m:d>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𝑞</m:t>
                            </m:r>
                            <m:d>
                              <m:dPr>
                                <m:ctrlPr>
                                  <a:rPr lang="zh-CN" altLang="en-US" i="1">
                                    <a:latin typeface="Cambria Math" panose="02040503050406030204" pitchFamily="18" charset="0"/>
                                  </a:rPr>
                                </m:ctrlPr>
                              </m:dPr>
                              <m:e>
                                <m:r>
                                  <a:rPr lang="zh-CN" altLang="en-US" i="1">
                                    <a:latin typeface="Cambria Math" panose="02040503050406030204" pitchFamily="18" charset="0"/>
                                  </a:rPr>
                                  <m:t>𝑥</m:t>
                                </m:r>
                              </m:e>
                            </m:d>
                          </m:sub>
                        </m:sSub>
                        <m:r>
                          <a:rPr lang="zh-CN" altLang="en-US" i="0">
                            <a:latin typeface="Cambria Math" panose="02040503050406030204" pitchFamily="18" charset="0"/>
                          </a:rPr>
                          <m:t>, </m:t>
                        </m:r>
                        <m:r>
                          <a:rPr lang="zh-CN" altLang="en-US" i="1">
                            <a:latin typeface="Cambria Math" panose="02040503050406030204" pitchFamily="18" charset="0"/>
                          </a:rPr>
                          <m:t>𝑤</m:t>
                        </m:r>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𝑅</m:t>
                            </m:r>
                          </m:e>
                          <m:sup>
                            <m:r>
                              <m:rPr>
                                <m:sty m:val="p"/>
                              </m:rPr>
                              <a:rPr lang="zh-CN" altLang="en-US" i="0">
                                <a:latin typeface="Cambria Math" panose="02040503050406030204" pitchFamily="18" charset="0"/>
                              </a:rPr>
                              <m:t>T</m:t>
                            </m:r>
                          </m:sup>
                        </m:sSup>
                        <m:r>
                          <a:rPr lang="zh-CN" altLang="en-US" i="0">
                            <a:latin typeface="Cambria Math" panose="02040503050406030204" pitchFamily="18" charset="0"/>
                          </a:rPr>
                          <m:t>,</m:t>
                        </m:r>
                        <m:r>
                          <a:rPr lang="zh-CN" altLang="en-US" i="1">
                            <a:latin typeface="Cambria Math" panose="02040503050406030204" pitchFamily="18" charset="0"/>
                          </a:rPr>
                          <m:t>𝑞</m:t>
                        </m:r>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𝑅</m:t>
                            </m:r>
                          </m:e>
                          <m:sup>
                            <m:r>
                              <a:rPr lang="zh-CN" altLang="en-US" i="1">
                                <a:latin typeface="Cambria Math" panose="02040503050406030204" pitchFamily="18" charset="0"/>
                              </a:rPr>
                              <m:t>𝑑</m:t>
                            </m:r>
                          </m:sup>
                        </m:sSup>
                        <m:r>
                          <a:rPr lang="zh-CN" altLang="en-US" i="0">
                            <a:latin typeface="Cambria Math" panose="02040503050406030204" pitchFamily="18" charset="0"/>
                          </a:rPr>
                          <m:t>→</m:t>
                        </m:r>
                        <m:d>
                          <m:dPr>
                            <m:begChr m:val="{"/>
                            <m:endChr m:val="}"/>
                            <m:sepChr m:val=","/>
                            <m:ctrlPr>
                              <a:rPr lang="zh-CN" altLang="en-US" i="1">
                                <a:latin typeface="Cambria Math" panose="02040503050406030204" pitchFamily="18" charset="0"/>
                              </a:rPr>
                            </m:ctrlPr>
                          </m:dPr>
                          <m:e>
                            <m:r>
                              <a:rPr lang="zh-CN" altLang="en-US" i="0">
                                <a:latin typeface="Cambria Math" panose="02040503050406030204" pitchFamily="18" charset="0"/>
                              </a:rPr>
                              <m:t>1,2</m:t>
                            </m:r>
                          </m:e>
                          <m:e>
                            <m:r>
                              <a:rPr lang="zh-CN" altLang="en-US" i="0">
                                <a:latin typeface="Cambria Math" panose="02040503050406030204" pitchFamily="18" charset="0"/>
                              </a:rPr>
                              <m:t>⋯</m:t>
                            </m:r>
                          </m:e>
                          <m:e>
                            <m:r>
                              <a:rPr lang="zh-CN" altLang="en-US" i="1">
                                <a:latin typeface="Cambria Math" panose="02040503050406030204" pitchFamily="18" charset="0"/>
                              </a:rPr>
                              <m:t>𝑇</m:t>
                            </m:r>
                          </m:e>
                        </m:d>
                      </m:oMath>
                    </m:oMathPara>
                  </a14:m>
                  <a:endParaRPr lang="zh-CN" altLang="en-US" dirty="0"/>
                </a:p>
              </p:txBody>
            </p:sp>
          </mc:Choice>
          <mc:Fallback xmlns="">
            <p:sp>
              <p:nvSpPr>
                <p:cNvPr id="33" name="文本框 32">
                  <a:extLst>
                    <a:ext uri="{FF2B5EF4-FFF2-40B4-BE49-F238E27FC236}">
                      <a16:creationId xmlns:a16="http://schemas.microsoft.com/office/drawing/2014/main" id="{071A4C3F-DDA6-46F0-8C24-97BE2378DF2F}"/>
                    </a:ext>
                  </a:extLst>
                </p:cNvPr>
                <p:cNvSpPr txBox="1">
                  <a:spLocks noRot="1" noChangeAspect="1" noMove="1" noResize="1" noEditPoints="1" noAdjustHandles="1" noChangeArrowheads="1" noChangeShapeType="1" noTextEdit="1"/>
                </p:cNvSpPr>
                <p:nvPr/>
              </p:nvSpPr>
              <p:spPr>
                <a:xfrm>
                  <a:off x="5963386" y="6251325"/>
                  <a:ext cx="6096000" cy="505267"/>
                </a:xfrm>
                <a:prstGeom prst="rect">
                  <a:avLst/>
                </a:prstGeom>
                <a:blipFill>
                  <a:blip r:embed="rId11"/>
                  <a:stretch>
                    <a:fillRect/>
                  </a:stretch>
                </a:blipFill>
              </p:spPr>
              <p:txBody>
                <a:bodyPr/>
                <a:lstStyle/>
                <a:p>
                  <a:r>
                    <a:rPr lang="zh-CN" altLang="en-US">
                      <a:noFill/>
                    </a:rPr>
                    <a:t> </a:t>
                  </a:r>
                </a:p>
              </p:txBody>
            </p:sp>
          </mc:Fallback>
        </mc:AlternateContent>
      </p:grpSp>
      <p:sp>
        <p:nvSpPr>
          <p:cNvPr id="34" name="Rectangle 2">
            <a:extLst>
              <a:ext uri="{FF2B5EF4-FFF2-40B4-BE49-F238E27FC236}">
                <a16:creationId xmlns:a16="http://schemas.microsoft.com/office/drawing/2014/main" id="{D9D0C7C7-70A6-44BC-B8EA-34721AB92B70}"/>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3.XGBoost</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0B7FF6FE-D7E8-4098-A1F3-5930907F5AEA}"/>
                  </a:ext>
                </a:extLst>
              </p:cNvPr>
              <p:cNvSpPr txBox="1"/>
              <p:nvPr/>
            </p:nvSpPr>
            <p:spPr>
              <a:xfrm>
                <a:off x="2507539" y="4196632"/>
                <a:ext cx="2061891" cy="328808"/>
              </a:xfrm>
              <a:prstGeom prst="rect">
                <a:avLst/>
              </a:prstGeom>
              <a:noFill/>
            </p:spPr>
            <p:txBody>
              <a:bodyPr wrap="square">
                <a:spAutoFit/>
              </a:bodyPr>
              <a:lstStyle/>
              <a:p>
                <a14:m>
                  <m:oMath xmlns:m="http://schemas.openxmlformats.org/officeDocument/2006/math">
                    <m:sSub>
                      <m:sSubPr>
                        <m:ctrlPr>
                          <a:rPr lang="en-US" altLang="zh-CN" sz="1400" i="1" smtClean="0">
                            <a:solidFill>
                              <a:srgbClr val="FF0000"/>
                            </a:solidFill>
                            <a:latin typeface="Cambria Math" panose="02040503050406030204" pitchFamily="18" charset="0"/>
                            <a:ea typeface="Microsoft YaHei" charset="0"/>
                          </a:rPr>
                        </m:ctrlPr>
                      </m:sSubPr>
                      <m:e>
                        <m:r>
                          <a:rPr lang="en-US" altLang="zh-CN" sz="1400" b="0" i="1" smtClean="0">
                            <a:solidFill>
                              <a:srgbClr val="FF0000"/>
                            </a:solidFill>
                            <a:latin typeface="Cambria Math" panose="02040503050406030204" pitchFamily="18" charset="0"/>
                            <a:ea typeface="Microsoft YaHei" charset="0"/>
                          </a:rPr>
                          <m:t>𝑤</m:t>
                        </m:r>
                      </m:e>
                      <m:sub>
                        <m:r>
                          <a:rPr lang="en-US" altLang="zh-CN" sz="1400" b="0" i="1" smtClean="0">
                            <a:solidFill>
                              <a:srgbClr val="FF0000"/>
                            </a:solidFill>
                            <a:latin typeface="Cambria Math" panose="02040503050406030204" pitchFamily="18" charset="0"/>
                            <a:ea typeface="Microsoft YaHei" charset="0"/>
                          </a:rPr>
                          <m:t>𝑞</m:t>
                        </m:r>
                        <m:r>
                          <a:rPr lang="en-US" altLang="zh-CN" sz="1400" b="0" i="1" smtClean="0">
                            <a:solidFill>
                              <a:srgbClr val="FF0000"/>
                            </a:solidFill>
                            <a:latin typeface="Cambria Math" panose="02040503050406030204" pitchFamily="18" charset="0"/>
                            <a:ea typeface="Microsoft YaHei" charset="0"/>
                          </a:rPr>
                          <m:t>(</m:t>
                        </m:r>
                        <m:sSub>
                          <m:sSubPr>
                            <m:ctrlPr>
                              <a:rPr lang="en-US" altLang="zh-CN" sz="1400" b="0" i="1" smtClean="0">
                                <a:solidFill>
                                  <a:srgbClr val="FF0000"/>
                                </a:solidFill>
                                <a:latin typeface="Cambria Math" panose="02040503050406030204" pitchFamily="18" charset="0"/>
                                <a:ea typeface="Microsoft YaHei" charset="0"/>
                              </a:rPr>
                            </m:ctrlPr>
                          </m:sSubPr>
                          <m:e>
                            <m:r>
                              <a:rPr lang="en-US" altLang="zh-CN" sz="1400" b="0" i="1" smtClean="0">
                                <a:solidFill>
                                  <a:srgbClr val="FF0000"/>
                                </a:solidFill>
                                <a:latin typeface="Cambria Math" panose="02040503050406030204" pitchFamily="18" charset="0"/>
                                <a:ea typeface="Microsoft YaHei" charset="0"/>
                              </a:rPr>
                              <m:t>𝑥</m:t>
                            </m:r>
                          </m:e>
                          <m:sub>
                            <m:r>
                              <a:rPr lang="en-US" altLang="zh-CN" sz="1400" b="0" i="1" smtClean="0">
                                <a:solidFill>
                                  <a:srgbClr val="FF0000"/>
                                </a:solidFill>
                                <a:latin typeface="Cambria Math" panose="02040503050406030204" pitchFamily="18" charset="0"/>
                                <a:ea typeface="Microsoft YaHei" charset="0"/>
                              </a:rPr>
                              <m:t>𝑖</m:t>
                            </m:r>
                          </m:sub>
                        </m:sSub>
                        <m:r>
                          <a:rPr lang="en-US" altLang="zh-CN" sz="1400" b="0" i="1" smtClean="0">
                            <a:solidFill>
                              <a:srgbClr val="FF0000"/>
                            </a:solidFill>
                            <a:latin typeface="Cambria Math" panose="02040503050406030204" pitchFamily="18" charset="0"/>
                            <a:ea typeface="Microsoft YaHei" charset="0"/>
                          </a:rPr>
                          <m:t>)</m:t>
                        </m:r>
                      </m:sub>
                    </m:sSub>
                  </m:oMath>
                </a14:m>
                <a:r>
                  <a:rPr lang="zh-CN" altLang="en-US" sz="1100" dirty="0">
                    <a:solidFill>
                      <a:srgbClr val="FF0000"/>
                    </a:solidFill>
                  </a:rPr>
                  <a:t>第t棵树的叶子结点值</a:t>
                </a:r>
                <a:endParaRPr lang="zh-CN" altLang="en-US" dirty="0">
                  <a:solidFill>
                    <a:srgbClr val="FF0000"/>
                  </a:solidFill>
                </a:endParaRPr>
              </a:p>
            </p:txBody>
          </p:sp>
        </mc:Choice>
        <mc:Fallback xmlns="">
          <p:sp>
            <p:nvSpPr>
              <p:cNvPr id="35" name="文本框 34">
                <a:extLst>
                  <a:ext uri="{FF2B5EF4-FFF2-40B4-BE49-F238E27FC236}">
                    <a16:creationId xmlns:a16="http://schemas.microsoft.com/office/drawing/2014/main" id="{0B7FF6FE-D7E8-4098-A1F3-5930907F5AEA}"/>
                  </a:ext>
                </a:extLst>
              </p:cNvPr>
              <p:cNvSpPr txBox="1">
                <a:spLocks noRot="1" noChangeAspect="1" noMove="1" noResize="1" noEditPoints="1" noAdjustHandles="1" noChangeArrowheads="1" noChangeShapeType="1" noTextEdit="1"/>
              </p:cNvSpPr>
              <p:nvPr/>
            </p:nvSpPr>
            <p:spPr>
              <a:xfrm>
                <a:off x="2507539" y="4196632"/>
                <a:ext cx="2061891" cy="328808"/>
              </a:xfrm>
              <a:prstGeom prst="rect">
                <a:avLst/>
              </a:prstGeom>
              <a:blipFill>
                <a:blip r:embed="rId12"/>
                <a:stretch>
                  <a:fillRect b="-55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83215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1000"/>
                                        <p:tgtEl>
                                          <p:spTgt spid="29"/>
                                        </p:tgtEl>
                                      </p:cBhvr>
                                    </p:animEffect>
                                    <p:anim calcmode="lin" valueType="num">
                                      <p:cBhvr>
                                        <p:cTn id="29" dur="1000" fill="hold"/>
                                        <p:tgtEl>
                                          <p:spTgt spid="29"/>
                                        </p:tgtEl>
                                        <p:attrNameLst>
                                          <p:attrName>ppt_x</p:attrName>
                                        </p:attrNameLst>
                                      </p:cBhvr>
                                      <p:tavLst>
                                        <p:tav tm="0">
                                          <p:val>
                                            <p:strVal val="#ppt_x"/>
                                          </p:val>
                                        </p:tav>
                                        <p:tav tm="100000">
                                          <p:val>
                                            <p:strVal val="#ppt_x"/>
                                          </p:val>
                                        </p:tav>
                                      </p:tavLst>
                                    </p:anim>
                                    <p:anim calcmode="lin" valueType="num">
                                      <p:cBhvr>
                                        <p:cTn id="3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 calcmode="lin" valueType="num">
                                      <p:cBhvr>
                                        <p:cTn id="46" dur="500" fill="hold"/>
                                        <p:tgtEl>
                                          <p:spTgt spid="32"/>
                                        </p:tgtEl>
                                        <p:attrNameLst>
                                          <p:attrName>ppt_w</p:attrName>
                                        </p:attrNameLst>
                                      </p:cBhvr>
                                      <p:tavLst>
                                        <p:tav tm="0">
                                          <p:val>
                                            <p:fltVal val="0"/>
                                          </p:val>
                                        </p:tav>
                                        <p:tav tm="100000">
                                          <p:val>
                                            <p:strVal val="#ppt_w"/>
                                          </p:val>
                                        </p:tav>
                                      </p:tavLst>
                                    </p:anim>
                                    <p:anim calcmode="lin" valueType="num">
                                      <p:cBhvr>
                                        <p:cTn id="47" dur="500" fill="hold"/>
                                        <p:tgtEl>
                                          <p:spTgt spid="32"/>
                                        </p:tgtEl>
                                        <p:attrNameLst>
                                          <p:attrName>ppt_h</p:attrName>
                                        </p:attrNameLst>
                                      </p:cBhvr>
                                      <p:tavLst>
                                        <p:tav tm="0">
                                          <p:val>
                                            <p:fltVal val="0"/>
                                          </p:val>
                                        </p:tav>
                                        <p:tav tm="100000">
                                          <p:val>
                                            <p:strVal val="#ppt_h"/>
                                          </p:val>
                                        </p:tav>
                                      </p:tavLst>
                                    </p:anim>
                                    <p:animEffect transition="in" filter="fade">
                                      <p:cBhvr>
                                        <p:cTn id="48" dur="500"/>
                                        <p:tgtEl>
                                          <p:spTgt spid="32"/>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500" fill="hold"/>
                                        <p:tgtEl>
                                          <p:spTgt spid="8"/>
                                        </p:tgtEl>
                                        <p:attrNameLst>
                                          <p:attrName>ppt_w</p:attrName>
                                        </p:attrNameLst>
                                      </p:cBhvr>
                                      <p:tavLst>
                                        <p:tav tm="0">
                                          <p:val>
                                            <p:fltVal val="0"/>
                                          </p:val>
                                        </p:tav>
                                        <p:tav tm="100000">
                                          <p:val>
                                            <p:strVal val="#ppt_w"/>
                                          </p:val>
                                        </p:tav>
                                      </p:tavLst>
                                    </p:anim>
                                    <p:anim calcmode="lin" valueType="num">
                                      <p:cBhvr>
                                        <p:cTn id="58" dur="500" fill="hold"/>
                                        <p:tgtEl>
                                          <p:spTgt spid="8"/>
                                        </p:tgtEl>
                                        <p:attrNameLst>
                                          <p:attrName>ppt_h</p:attrName>
                                        </p:attrNameLst>
                                      </p:cBhvr>
                                      <p:tavLst>
                                        <p:tav tm="0">
                                          <p:val>
                                            <p:fltVal val="0"/>
                                          </p:val>
                                        </p:tav>
                                        <p:tav tm="100000">
                                          <p:val>
                                            <p:strVal val="#ppt_h"/>
                                          </p:val>
                                        </p:tav>
                                      </p:tavLst>
                                    </p:anim>
                                    <p:animEffect transition="in" filter="fade">
                                      <p:cBhvr>
                                        <p:cTn id="59" dur="500"/>
                                        <p:tgtEl>
                                          <p:spTgt spid="8"/>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anim calcmode="lin" valueType="num">
                                      <p:cBhvr>
                                        <p:cTn id="64" dur="500" fill="hold"/>
                                        <p:tgtEl>
                                          <p:spTgt spid="26"/>
                                        </p:tgtEl>
                                        <p:attrNameLst>
                                          <p:attrName>ppt_w</p:attrName>
                                        </p:attrNameLst>
                                      </p:cBhvr>
                                      <p:tavLst>
                                        <p:tav tm="0">
                                          <p:val>
                                            <p:fltVal val="0"/>
                                          </p:val>
                                        </p:tav>
                                        <p:tav tm="100000">
                                          <p:val>
                                            <p:strVal val="#ppt_w"/>
                                          </p:val>
                                        </p:tav>
                                      </p:tavLst>
                                    </p:anim>
                                    <p:anim calcmode="lin" valueType="num">
                                      <p:cBhvr>
                                        <p:cTn id="65" dur="500" fill="hold"/>
                                        <p:tgtEl>
                                          <p:spTgt spid="26"/>
                                        </p:tgtEl>
                                        <p:attrNameLst>
                                          <p:attrName>ppt_h</p:attrName>
                                        </p:attrNameLst>
                                      </p:cBhvr>
                                      <p:tavLst>
                                        <p:tav tm="0">
                                          <p:val>
                                            <p:fltVal val="0"/>
                                          </p:val>
                                        </p:tav>
                                        <p:tav tm="100000">
                                          <p:val>
                                            <p:strVal val="#ppt_h"/>
                                          </p:val>
                                        </p:tav>
                                      </p:tavLst>
                                    </p:anim>
                                    <p:animEffect transition="in" filter="fade">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anim calcmode="lin" valueType="num">
                                      <p:cBhvr>
                                        <p:cTn id="71" dur="500" fill="hold"/>
                                        <p:tgtEl>
                                          <p:spTgt spid="27"/>
                                        </p:tgtEl>
                                        <p:attrNameLst>
                                          <p:attrName>ppt_w</p:attrName>
                                        </p:attrNameLst>
                                      </p:cBhvr>
                                      <p:tavLst>
                                        <p:tav tm="0">
                                          <p:val>
                                            <p:fltVal val="0"/>
                                          </p:val>
                                        </p:tav>
                                        <p:tav tm="100000">
                                          <p:val>
                                            <p:strVal val="#ppt_w"/>
                                          </p:val>
                                        </p:tav>
                                      </p:tavLst>
                                    </p:anim>
                                    <p:anim calcmode="lin" valueType="num">
                                      <p:cBhvr>
                                        <p:cTn id="72" dur="500" fill="hold"/>
                                        <p:tgtEl>
                                          <p:spTgt spid="27"/>
                                        </p:tgtEl>
                                        <p:attrNameLst>
                                          <p:attrName>ppt_h</p:attrName>
                                        </p:attrNameLst>
                                      </p:cBhvr>
                                      <p:tavLst>
                                        <p:tav tm="0">
                                          <p:val>
                                            <p:fltVal val="0"/>
                                          </p:val>
                                        </p:tav>
                                        <p:tav tm="100000">
                                          <p:val>
                                            <p:strVal val="#ppt_h"/>
                                          </p:val>
                                        </p:tav>
                                      </p:tavLst>
                                    </p:anim>
                                    <p:animEffect transition="in" filter="fade">
                                      <p:cBhvr>
                                        <p:cTn id="73" dur="500"/>
                                        <p:tgtEl>
                                          <p:spTgt spid="27"/>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10"/>
                                        </p:tgtEl>
                                        <p:attrNameLst>
                                          <p:attrName>style.visibility</p:attrName>
                                        </p:attrNameLst>
                                      </p:cBhvr>
                                      <p:to>
                                        <p:strVal val="visible"/>
                                      </p:to>
                                    </p:set>
                                    <p:anim calcmode="lin" valueType="num">
                                      <p:cBhvr>
                                        <p:cTn id="78" dur="500" fill="hold"/>
                                        <p:tgtEl>
                                          <p:spTgt spid="10"/>
                                        </p:tgtEl>
                                        <p:attrNameLst>
                                          <p:attrName>ppt_w</p:attrName>
                                        </p:attrNameLst>
                                      </p:cBhvr>
                                      <p:tavLst>
                                        <p:tav tm="0">
                                          <p:val>
                                            <p:fltVal val="0"/>
                                          </p:val>
                                        </p:tav>
                                        <p:tav tm="100000">
                                          <p:val>
                                            <p:strVal val="#ppt_w"/>
                                          </p:val>
                                        </p:tav>
                                      </p:tavLst>
                                    </p:anim>
                                    <p:anim calcmode="lin" valueType="num">
                                      <p:cBhvr>
                                        <p:cTn id="79" dur="500" fill="hold"/>
                                        <p:tgtEl>
                                          <p:spTgt spid="10"/>
                                        </p:tgtEl>
                                        <p:attrNameLst>
                                          <p:attrName>ppt_h</p:attrName>
                                        </p:attrNameLst>
                                      </p:cBhvr>
                                      <p:tavLst>
                                        <p:tav tm="0">
                                          <p:val>
                                            <p:fltVal val="0"/>
                                          </p:val>
                                        </p:tav>
                                        <p:tav tm="100000">
                                          <p:val>
                                            <p:strVal val="#ppt_h"/>
                                          </p:val>
                                        </p:tav>
                                      </p:tavLst>
                                    </p:anim>
                                    <p:animEffect transition="in" filter="fade">
                                      <p:cBhvr>
                                        <p:cTn id="80" dur="500"/>
                                        <p:tgtEl>
                                          <p:spTgt spid="10"/>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11"/>
                                        </p:tgtEl>
                                        <p:attrNameLst>
                                          <p:attrName>style.visibility</p:attrName>
                                        </p:attrNameLst>
                                      </p:cBhvr>
                                      <p:to>
                                        <p:strVal val="visible"/>
                                      </p:to>
                                    </p:set>
                                    <p:anim calcmode="lin" valueType="num">
                                      <p:cBhvr>
                                        <p:cTn id="83" dur="500" fill="hold"/>
                                        <p:tgtEl>
                                          <p:spTgt spid="11"/>
                                        </p:tgtEl>
                                        <p:attrNameLst>
                                          <p:attrName>ppt_w</p:attrName>
                                        </p:attrNameLst>
                                      </p:cBhvr>
                                      <p:tavLst>
                                        <p:tav tm="0">
                                          <p:val>
                                            <p:fltVal val="0"/>
                                          </p:val>
                                        </p:tav>
                                        <p:tav tm="100000">
                                          <p:val>
                                            <p:strVal val="#ppt_w"/>
                                          </p:val>
                                        </p:tav>
                                      </p:tavLst>
                                    </p:anim>
                                    <p:anim calcmode="lin" valueType="num">
                                      <p:cBhvr>
                                        <p:cTn id="84" dur="500" fill="hold"/>
                                        <p:tgtEl>
                                          <p:spTgt spid="11"/>
                                        </p:tgtEl>
                                        <p:attrNameLst>
                                          <p:attrName>ppt_h</p:attrName>
                                        </p:attrNameLst>
                                      </p:cBhvr>
                                      <p:tavLst>
                                        <p:tav tm="0">
                                          <p:val>
                                            <p:fltVal val="0"/>
                                          </p:val>
                                        </p:tav>
                                        <p:tav tm="100000">
                                          <p:val>
                                            <p:strVal val="#ppt_h"/>
                                          </p:val>
                                        </p:tav>
                                      </p:tavLst>
                                    </p:anim>
                                    <p:animEffect transition="in" filter="fade">
                                      <p:cBhvr>
                                        <p:cTn id="85" dur="500"/>
                                        <p:tgtEl>
                                          <p:spTgt spid="11"/>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12"/>
                                        </p:tgtEl>
                                        <p:attrNameLst>
                                          <p:attrName>style.visibility</p:attrName>
                                        </p:attrNameLst>
                                      </p:cBhvr>
                                      <p:to>
                                        <p:strVal val="visible"/>
                                      </p:to>
                                    </p:set>
                                    <p:anim calcmode="lin" valueType="num">
                                      <p:cBhvr>
                                        <p:cTn id="88" dur="500" fill="hold"/>
                                        <p:tgtEl>
                                          <p:spTgt spid="12"/>
                                        </p:tgtEl>
                                        <p:attrNameLst>
                                          <p:attrName>ppt_w</p:attrName>
                                        </p:attrNameLst>
                                      </p:cBhvr>
                                      <p:tavLst>
                                        <p:tav tm="0">
                                          <p:val>
                                            <p:fltVal val="0"/>
                                          </p:val>
                                        </p:tav>
                                        <p:tav tm="100000">
                                          <p:val>
                                            <p:strVal val="#ppt_w"/>
                                          </p:val>
                                        </p:tav>
                                      </p:tavLst>
                                    </p:anim>
                                    <p:anim calcmode="lin" valueType="num">
                                      <p:cBhvr>
                                        <p:cTn id="89" dur="500" fill="hold"/>
                                        <p:tgtEl>
                                          <p:spTgt spid="12"/>
                                        </p:tgtEl>
                                        <p:attrNameLst>
                                          <p:attrName>ppt_h</p:attrName>
                                        </p:attrNameLst>
                                      </p:cBhvr>
                                      <p:tavLst>
                                        <p:tav tm="0">
                                          <p:val>
                                            <p:fltVal val="0"/>
                                          </p:val>
                                        </p:tav>
                                        <p:tav tm="100000">
                                          <p:val>
                                            <p:strVal val="#ppt_h"/>
                                          </p:val>
                                        </p:tav>
                                      </p:tavLst>
                                    </p:anim>
                                    <p:animEffect transition="in" filter="fade">
                                      <p:cBhvr>
                                        <p:cTn id="90" dur="500"/>
                                        <p:tgtEl>
                                          <p:spTgt spid="12"/>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13"/>
                                        </p:tgtEl>
                                        <p:attrNameLst>
                                          <p:attrName>style.visibility</p:attrName>
                                        </p:attrNameLst>
                                      </p:cBhvr>
                                      <p:to>
                                        <p:strVal val="visible"/>
                                      </p:to>
                                    </p:set>
                                    <p:anim calcmode="lin" valueType="num">
                                      <p:cBhvr>
                                        <p:cTn id="93" dur="500" fill="hold"/>
                                        <p:tgtEl>
                                          <p:spTgt spid="13"/>
                                        </p:tgtEl>
                                        <p:attrNameLst>
                                          <p:attrName>ppt_w</p:attrName>
                                        </p:attrNameLst>
                                      </p:cBhvr>
                                      <p:tavLst>
                                        <p:tav tm="0">
                                          <p:val>
                                            <p:fltVal val="0"/>
                                          </p:val>
                                        </p:tav>
                                        <p:tav tm="100000">
                                          <p:val>
                                            <p:strVal val="#ppt_w"/>
                                          </p:val>
                                        </p:tav>
                                      </p:tavLst>
                                    </p:anim>
                                    <p:anim calcmode="lin" valueType="num">
                                      <p:cBhvr>
                                        <p:cTn id="94" dur="500" fill="hold"/>
                                        <p:tgtEl>
                                          <p:spTgt spid="13"/>
                                        </p:tgtEl>
                                        <p:attrNameLst>
                                          <p:attrName>ppt_h</p:attrName>
                                        </p:attrNameLst>
                                      </p:cBhvr>
                                      <p:tavLst>
                                        <p:tav tm="0">
                                          <p:val>
                                            <p:fltVal val="0"/>
                                          </p:val>
                                        </p:tav>
                                        <p:tav tm="100000">
                                          <p:val>
                                            <p:strVal val="#ppt_h"/>
                                          </p:val>
                                        </p:tav>
                                      </p:tavLst>
                                    </p:anim>
                                    <p:animEffect transition="in" filter="fade">
                                      <p:cBhvr>
                                        <p:cTn id="95" dur="500"/>
                                        <p:tgtEl>
                                          <p:spTgt spid="13"/>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14"/>
                                        </p:tgtEl>
                                        <p:attrNameLst>
                                          <p:attrName>style.visibility</p:attrName>
                                        </p:attrNameLst>
                                      </p:cBhvr>
                                      <p:to>
                                        <p:strVal val="visible"/>
                                      </p:to>
                                    </p:set>
                                    <p:anim calcmode="lin" valueType="num">
                                      <p:cBhvr>
                                        <p:cTn id="98" dur="500" fill="hold"/>
                                        <p:tgtEl>
                                          <p:spTgt spid="14"/>
                                        </p:tgtEl>
                                        <p:attrNameLst>
                                          <p:attrName>ppt_w</p:attrName>
                                        </p:attrNameLst>
                                      </p:cBhvr>
                                      <p:tavLst>
                                        <p:tav tm="0">
                                          <p:val>
                                            <p:fltVal val="0"/>
                                          </p:val>
                                        </p:tav>
                                        <p:tav tm="100000">
                                          <p:val>
                                            <p:strVal val="#ppt_w"/>
                                          </p:val>
                                        </p:tav>
                                      </p:tavLst>
                                    </p:anim>
                                    <p:anim calcmode="lin" valueType="num">
                                      <p:cBhvr>
                                        <p:cTn id="99" dur="500" fill="hold"/>
                                        <p:tgtEl>
                                          <p:spTgt spid="14"/>
                                        </p:tgtEl>
                                        <p:attrNameLst>
                                          <p:attrName>ppt_h</p:attrName>
                                        </p:attrNameLst>
                                      </p:cBhvr>
                                      <p:tavLst>
                                        <p:tav tm="0">
                                          <p:val>
                                            <p:fltVal val="0"/>
                                          </p:val>
                                        </p:tav>
                                        <p:tav tm="100000">
                                          <p:val>
                                            <p:strVal val="#ppt_h"/>
                                          </p:val>
                                        </p:tav>
                                      </p:tavLst>
                                    </p:anim>
                                    <p:animEffect transition="in" filter="fade">
                                      <p:cBhvr>
                                        <p:cTn id="100" dur="500"/>
                                        <p:tgtEl>
                                          <p:spTgt spid="14"/>
                                        </p:tgtEl>
                                      </p:cBhvr>
                                    </p:animEffect>
                                  </p:childTnLst>
                                </p:cTn>
                              </p:par>
                              <p:par>
                                <p:cTn id="101" presetID="53" presetClass="entr" presetSubtype="16" fill="hold" nodeType="withEffect">
                                  <p:stCondLst>
                                    <p:cond delay="0"/>
                                  </p:stCondLst>
                                  <p:childTnLst>
                                    <p:set>
                                      <p:cBhvr>
                                        <p:cTn id="102" dur="1" fill="hold">
                                          <p:stCondLst>
                                            <p:cond delay="0"/>
                                          </p:stCondLst>
                                        </p:cTn>
                                        <p:tgtEl>
                                          <p:spTgt spid="16"/>
                                        </p:tgtEl>
                                        <p:attrNameLst>
                                          <p:attrName>style.visibility</p:attrName>
                                        </p:attrNameLst>
                                      </p:cBhvr>
                                      <p:to>
                                        <p:strVal val="visible"/>
                                      </p:to>
                                    </p:set>
                                    <p:anim calcmode="lin" valueType="num">
                                      <p:cBhvr>
                                        <p:cTn id="103" dur="500" fill="hold"/>
                                        <p:tgtEl>
                                          <p:spTgt spid="16"/>
                                        </p:tgtEl>
                                        <p:attrNameLst>
                                          <p:attrName>ppt_w</p:attrName>
                                        </p:attrNameLst>
                                      </p:cBhvr>
                                      <p:tavLst>
                                        <p:tav tm="0">
                                          <p:val>
                                            <p:fltVal val="0"/>
                                          </p:val>
                                        </p:tav>
                                        <p:tav tm="100000">
                                          <p:val>
                                            <p:strVal val="#ppt_w"/>
                                          </p:val>
                                        </p:tav>
                                      </p:tavLst>
                                    </p:anim>
                                    <p:anim calcmode="lin" valueType="num">
                                      <p:cBhvr>
                                        <p:cTn id="104" dur="500" fill="hold"/>
                                        <p:tgtEl>
                                          <p:spTgt spid="16"/>
                                        </p:tgtEl>
                                        <p:attrNameLst>
                                          <p:attrName>ppt_h</p:attrName>
                                        </p:attrNameLst>
                                      </p:cBhvr>
                                      <p:tavLst>
                                        <p:tav tm="0">
                                          <p:val>
                                            <p:fltVal val="0"/>
                                          </p:val>
                                        </p:tav>
                                        <p:tav tm="100000">
                                          <p:val>
                                            <p:strVal val="#ppt_h"/>
                                          </p:val>
                                        </p:tav>
                                      </p:tavLst>
                                    </p:anim>
                                    <p:animEffect transition="in" filter="fade">
                                      <p:cBhvr>
                                        <p:cTn id="105" dur="500"/>
                                        <p:tgtEl>
                                          <p:spTgt spid="16"/>
                                        </p:tgtEl>
                                      </p:cBhvr>
                                    </p:animEffect>
                                  </p:childTnLst>
                                </p:cTn>
                              </p:par>
                              <p:par>
                                <p:cTn id="106" presetID="53" presetClass="entr" presetSubtype="16" fill="hold" nodeType="withEffect">
                                  <p:stCondLst>
                                    <p:cond delay="0"/>
                                  </p:stCondLst>
                                  <p:childTnLst>
                                    <p:set>
                                      <p:cBhvr>
                                        <p:cTn id="107" dur="1" fill="hold">
                                          <p:stCondLst>
                                            <p:cond delay="0"/>
                                          </p:stCondLst>
                                        </p:cTn>
                                        <p:tgtEl>
                                          <p:spTgt spid="18"/>
                                        </p:tgtEl>
                                        <p:attrNameLst>
                                          <p:attrName>style.visibility</p:attrName>
                                        </p:attrNameLst>
                                      </p:cBhvr>
                                      <p:to>
                                        <p:strVal val="visible"/>
                                      </p:to>
                                    </p:set>
                                    <p:anim calcmode="lin" valueType="num">
                                      <p:cBhvr>
                                        <p:cTn id="108" dur="500" fill="hold"/>
                                        <p:tgtEl>
                                          <p:spTgt spid="18"/>
                                        </p:tgtEl>
                                        <p:attrNameLst>
                                          <p:attrName>ppt_w</p:attrName>
                                        </p:attrNameLst>
                                      </p:cBhvr>
                                      <p:tavLst>
                                        <p:tav tm="0">
                                          <p:val>
                                            <p:fltVal val="0"/>
                                          </p:val>
                                        </p:tav>
                                        <p:tav tm="100000">
                                          <p:val>
                                            <p:strVal val="#ppt_w"/>
                                          </p:val>
                                        </p:tav>
                                      </p:tavLst>
                                    </p:anim>
                                    <p:anim calcmode="lin" valueType="num">
                                      <p:cBhvr>
                                        <p:cTn id="109" dur="500" fill="hold"/>
                                        <p:tgtEl>
                                          <p:spTgt spid="18"/>
                                        </p:tgtEl>
                                        <p:attrNameLst>
                                          <p:attrName>ppt_h</p:attrName>
                                        </p:attrNameLst>
                                      </p:cBhvr>
                                      <p:tavLst>
                                        <p:tav tm="0">
                                          <p:val>
                                            <p:fltVal val="0"/>
                                          </p:val>
                                        </p:tav>
                                        <p:tav tm="100000">
                                          <p:val>
                                            <p:strVal val="#ppt_h"/>
                                          </p:val>
                                        </p:tav>
                                      </p:tavLst>
                                    </p:anim>
                                    <p:animEffect transition="in" filter="fade">
                                      <p:cBhvr>
                                        <p:cTn id="110" dur="500"/>
                                        <p:tgtEl>
                                          <p:spTgt spid="18"/>
                                        </p:tgtEl>
                                      </p:cBhvr>
                                    </p:animEffect>
                                  </p:childTnLst>
                                </p:cTn>
                              </p:par>
                              <p:par>
                                <p:cTn id="111" presetID="53" presetClass="entr" presetSubtype="16" fill="hold" nodeType="withEffect">
                                  <p:stCondLst>
                                    <p:cond delay="0"/>
                                  </p:stCondLst>
                                  <p:childTnLst>
                                    <p:set>
                                      <p:cBhvr>
                                        <p:cTn id="112" dur="1" fill="hold">
                                          <p:stCondLst>
                                            <p:cond delay="0"/>
                                          </p:stCondLst>
                                        </p:cTn>
                                        <p:tgtEl>
                                          <p:spTgt spid="20"/>
                                        </p:tgtEl>
                                        <p:attrNameLst>
                                          <p:attrName>style.visibility</p:attrName>
                                        </p:attrNameLst>
                                      </p:cBhvr>
                                      <p:to>
                                        <p:strVal val="visible"/>
                                      </p:to>
                                    </p:set>
                                    <p:anim calcmode="lin" valueType="num">
                                      <p:cBhvr>
                                        <p:cTn id="113" dur="500" fill="hold"/>
                                        <p:tgtEl>
                                          <p:spTgt spid="20"/>
                                        </p:tgtEl>
                                        <p:attrNameLst>
                                          <p:attrName>ppt_w</p:attrName>
                                        </p:attrNameLst>
                                      </p:cBhvr>
                                      <p:tavLst>
                                        <p:tav tm="0">
                                          <p:val>
                                            <p:fltVal val="0"/>
                                          </p:val>
                                        </p:tav>
                                        <p:tav tm="100000">
                                          <p:val>
                                            <p:strVal val="#ppt_w"/>
                                          </p:val>
                                        </p:tav>
                                      </p:tavLst>
                                    </p:anim>
                                    <p:anim calcmode="lin" valueType="num">
                                      <p:cBhvr>
                                        <p:cTn id="114" dur="500" fill="hold"/>
                                        <p:tgtEl>
                                          <p:spTgt spid="20"/>
                                        </p:tgtEl>
                                        <p:attrNameLst>
                                          <p:attrName>ppt_h</p:attrName>
                                        </p:attrNameLst>
                                      </p:cBhvr>
                                      <p:tavLst>
                                        <p:tav tm="0">
                                          <p:val>
                                            <p:fltVal val="0"/>
                                          </p:val>
                                        </p:tav>
                                        <p:tav tm="100000">
                                          <p:val>
                                            <p:strVal val="#ppt_h"/>
                                          </p:val>
                                        </p:tav>
                                      </p:tavLst>
                                    </p:anim>
                                    <p:animEffect transition="in" filter="fade">
                                      <p:cBhvr>
                                        <p:cTn id="115" dur="500"/>
                                        <p:tgtEl>
                                          <p:spTgt spid="20"/>
                                        </p:tgtEl>
                                      </p:cBhvr>
                                    </p:animEffect>
                                  </p:childTnLst>
                                </p:cTn>
                              </p:par>
                              <p:par>
                                <p:cTn id="116" presetID="53" presetClass="entr" presetSubtype="16" fill="hold" nodeType="withEffect">
                                  <p:stCondLst>
                                    <p:cond delay="0"/>
                                  </p:stCondLst>
                                  <p:childTnLst>
                                    <p:set>
                                      <p:cBhvr>
                                        <p:cTn id="117" dur="1" fill="hold">
                                          <p:stCondLst>
                                            <p:cond delay="0"/>
                                          </p:stCondLst>
                                        </p:cTn>
                                        <p:tgtEl>
                                          <p:spTgt spid="22"/>
                                        </p:tgtEl>
                                        <p:attrNameLst>
                                          <p:attrName>style.visibility</p:attrName>
                                        </p:attrNameLst>
                                      </p:cBhvr>
                                      <p:to>
                                        <p:strVal val="visible"/>
                                      </p:to>
                                    </p:set>
                                    <p:anim calcmode="lin" valueType="num">
                                      <p:cBhvr>
                                        <p:cTn id="118" dur="500" fill="hold"/>
                                        <p:tgtEl>
                                          <p:spTgt spid="22"/>
                                        </p:tgtEl>
                                        <p:attrNameLst>
                                          <p:attrName>ppt_w</p:attrName>
                                        </p:attrNameLst>
                                      </p:cBhvr>
                                      <p:tavLst>
                                        <p:tav tm="0">
                                          <p:val>
                                            <p:fltVal val="0"/>
                                          </p:val>
                                        </p:tav>
                                        <p:tav tm="100000">
                                          <p:val>
                                            <p:strVal val="#ppt_w"/>
                                          </p:val>
                                        </p:tav>
                                      </p:tavLst>
                                    </p:anim>
                                    <p:anim calcmode="lin" valueType="num">
                                      <p:cBhvr>
                                        <p:cTn id="119" dur="500" fill="hold"/>
                                        <p:tgtEl>
                                          <p:spTgt spid="22"/>
                                        </p:tgtEl>
                                        <p:attrNameLst>
                                          <p:attrName>ppt_h</p:attrName>
                                        </p:attrNameLst>
                                      </p:cBhvr>
                                      <p:tavLst>
                                        <p:tav tm="0">
                                          <p:val>
                                            <p:fltVal val="0"/>
                                          </p:val>
                                        </p:tav>
                                        <p:tav tm="100000">
                                          <p:val>
                                            <p:strVal val="#ppt_h"/>
                                          </p:val>
                                        </p:tav>
                                      </p:tavLst>
                                    </p:anim>
                                    <p:animEffect transition="in" filter="fade">
                                      <p:cBhvr>
                                        <p:cTn id="120" dur="500"/>
                                        <p:tgtEl>
                                          <p:spTgt spid="22"/>
                                        </p:tgtEl>
                                      </p:cBhvr>
                                    </p:animEffect>
                                  </p:childTnLst>
                                </p:cTn>
                              </p:par>
                              <p:par>
                                <p:cTn id="121" presetID="53" presetClass="entr" presetSubtype="16" fill="hold" grpId="0" nodeType="withEffect">
                                  <p:stCondLst>
                                    <p:cond delay="0"/>
                                  </p:stCondLst>
                                  <p:childTnLst>
                                    <p:set>
                                      <p:cBhvr>
                                        <p:cTn id="122" dur="1" fill="hold">
                                          <p:stCondLst>
                                            <p:cond delay="0"/>
                                          </p:stCondLst>
                                        </p:cTn>
                                        <p:tgtEl>
                                          <p:spTgt spid="23"/>
                                        </p:tgtEl>
                                        <p:attrNameLst>
                                          <p:attrName>style.visibility</p:attrName>
                                        </p:attrNameLst>
                                      </p:cBhvr>
                                      <p:to>
                                        <p:strVal val="visible"/>
                                      </p:to>
                                    </p:set>
                                    <p:anim calcmode="lin" valueType="num">
                                      <p:cBhvr>
                                        <p:cTn id="123" dur="500" fill="hold"/>
                                        <p:tgtEl>
                                          <p:spTgt spid="23"/>
                                        </p:tgtEl>
                                        <p:attrNameLst>
                                          <p:attrName>ppt_w</p:attrName>
                                        </p:attrNameLst>
                                      </p:cBhvr>
                                      <p:tavLst>
                                        <p:tav tm="0">
                                          <p:val>
                                            <p:fltVal val="0"/>
                                          </p:val>
                                        </p:tav>
                                        <p:tav tm="100000">
                                          <p:val>
                                            <p:strVal val="#ppt_w"/>
                                          </p:val>
                                        </p:tav>
                                      </p:tavLst>
                                    </p:anim>
                                    <p:anim calcmode="lin" valueType="num">
                                      <p:cBhvr>
                                        <p:cTn id="124" dur="500" fill="hold"/>
                                        <p:tgtEl>
                                          <p:spTgt spid="23"/>
                                        </p:tgtEl>
                                        <p:attrNameLst>
                                          <p:attrName>ppt_h</p:attrName>
                                        </p:attrNameLst>
                                      </p:cBhvr>
                                      <p:tavLst>
                                        <p:tav tm="0">
                                          <p:val>
                                            <p:fltVal val="0"/>
                                          </p:val>
                                        </p:tav>
                                        <p:tav tm="100000">
                                          <p:val>
                                            <p:strVal val="#ppt_h"/>
                                          </p:val>
                                        </p:tav>
                                      </p:tavLst>
                                    </p:anim>
                                    <p:animEffect transition="in" filter="fade">
                                      <p:cBhvr>
                                        <p:cTn id="125" dur="500"/>
                                        <p:tgtEl>
                                          <p:spTgt spid="23"/>
                                        </p:tgtEl>
                                      </p:cBhvr>
                                    </p:animEffect>
                                  </p:childTnLst>
                                </p:cTn>
                              </p:par>
                              <p:par>
                                <p:cTn id="126" presetID="53" presetClass="entr" presetSubtype="16" fill="hold" grpId="0" nodeType="withEffect">
                                  <p:stCondLst>
                                    <p:cond delay="0"/>
                                  </p:stCondLst>
                                  <p:childTnLst>
                                    <p:set>
                                      <p:cBhvr>
                                        <p:cTn id="127" dur="1" fill="hold">
                                          <p:stCondLst>
                                            <p:cond delay="0"/>
                                          </p:stCondLst>
                                        </p:cTn>
                                        <p:tgtEl>
                                          <p:spTgt spid="24"/>
                                        </p:tgtEl>
                                        <p:attrNameLst>
                                          <p:attrName>style.visibility</p:attrName>
                                        </p:attrNameLst>
                                      </p:cBhvr>
                                      <p:to>
                                        <p:strVal val="visible"/>
                                      </p:to>
                                    </p:set>
                                    <p:anim calcmode="lin" valueType="num">
                                      <p:cBhvr>
                                        <p:cTn id="128" dur="500" fill="hold"/>
                                        <p:tgtEl>
                                          <p:spTgt spid="24"/>
                                        </p:tgtEl>
                                        <p:attrNameLst>
                                          <p:attrName>ppt_w</p:attrName>
                                        </p:attrNameLst>
                                      </p:cBhvr>
                                      <p:tavLst>
                                        <p:tav tm="0">
                                          <p:val>
                                            <p:fltVal val="0"/>
                                          </p:val>
                                        </p:tav>
                                        <p:tav tm="100000">
                                          <p:val>
                                            <p:strVal val="#ppt_w"/>
                                          </p:val>
                                        </p:tav>
                                      </p:tavLst>
                                    </p:anim>
                                    <p:anim calcmode="lin" valueType="num">
                                      <p:cBhvr>
                                        <p:cTn id="129" dur="500" fill="hold"/>
                                        <p:tgtEl>
                                          <p:spTgt spid="24"/>
                                        </p:tgtEl>
                                        <p:attrNameLst>
                                          <p:attrName>ppt_h</p:attrName>
                                        </p:attrNameLst>
                                      </p:cBhvr>
                                      <p:tavLst>
                                        <p:tav tm="0">
                                          <p:val>
                                            <p:fltVal val="0"/>
                                          </p:val>
                                        </p:tav>
                                        <p:tav tm="100000">
                                          <p:val>
                                            <p:strVal val="#ppt_h"/>
                                          </p:val>
                                        </p:tav>
                                      </p:tavLst>
                                    </p:anim>
                                    <p:animEffect transition="in" filter="fade">
                                      <p:cBhvr>
                                        <p:cTn id="130" dur="500"/>
                                        <p:tgtEl>
                                          <p:spTgt spid="24"/>
                                        </p:tgtEl>
                                      </p:cBhvr>
                                    </p:animEffect>
                                  </p:childTnLst>
                                </p:cTn>
                              </p:par>
                              <p:par>
                                <p:cTn id="131" presetID="53" presetClass="entr" presetSubtype="16" fill="hold" grpId="0" nodeType="withEffect">
                                  <p:stCondLst>
                                    <p:cond delay="0"/>
                                  </p:stCondLst>
                                  <p:childTnLst>
                                    <p:set>
                                      <p:cBhvr>
                                        <p:cTn id="132" dur="1" fill="hold">
                                          <p:stCondLst>
                                            <p:cond delay="0"/>
                                          </p:stCondLst>
                                        </p:cTn>
                                        <p:tgtEl>
                                          <p:spTgt spid="25"/>
                                        </p:tgtEl>
                                        <p:attrNameLst>
                                          <p:attrName>style.visibility</p:attrName>
                                        </p:attrNameLst>
                                      </p:cBhvr>
                                      <p:to>
                                        <p:strVal val="visible"/>
                                      </p:to>
                                    </p:set>
                                    <p:anim calcmode="lin" valueType="num">
                                      <p:cBhvr>
                                        <p:cTn id="133" dur="500" fill="hold"/>
                                        <p:tgtEl>
                                          <p:spTgt spid="25"/>
                                        </p:tgtEl>
                                        <p:attrNameLst>
                                          <p:attrName>ppt_w</p:attrName>
                                        </p:attrNameLst>
                                      </p:cBhvr>
                                      <p:tavLst>
                                        <p:tav tm="0">
                                          <p:val>
                                            <p:fltVal val="0"/>
                                          </p:val>
                                        </p:tav>
                                        <p:tav tm="100000">
                                          <p:val>
                                            <p:strVal val="#ppt_w"/>
                                          </p:val>
                                        </p:tav>
                                      </p:tavLst>
                                    </p:anim>
                                    <p:anim calcmode="lin" valueType="num">
                                      <p:cBhvr>
                                        <p:cTn id="134" dur="500" fill="hold"/>
                                        <p:tgtEl>
                                          <p:spTgt spid="25"/>
                                        </p:tgtEl>
                                        <p:attrNameLst>
                                          <p:attrName>ppt_h</p:attrName>
                                        </p:attrNameLst>
                                      </p:cBhvr>
                                      <p:tavLst>
                                        <p:tav tm="0">
                                          <p:val>
                                            <p:fltVal val="0"/>
                                          </p:val>
                                        </p:tav>
                                        <p:tav tm="100000">
                                          <p:val>
                                            <p:strVal val="#ppt_h"/>
                                          </p:val>
                                        </p:tav>
                                      </p:tavLst>
                                    </p:anim>
                                    <p:animEffect transition="in" filter="fade">
                                      <p:cBhvr>
                                        <p:cTn id="135" dur="500"/>
                                        <p:tgtEl>
                                          <p:spTgt spid="25"/>
                                        </p:tgtEl>
                                      </p:cBhvr>
                                    </p:animEffect>
                                  </p:childTnLst>
                                </p:cTn>
                              </p:par>
                            </p:childTnLst>
                          </p:cTn>
                        </p:par>
                      </p:childTnLst>
                    </p:cTn>
                  </p:par>
                  <p:par>
                    <p:cTn id="136" fill="hold">
                      <p:stCondLst>
                        <p:cond delay="indefinite"/>
                      </p:stCondLst>
                      <p:childTnLst>
                        <p:par>
                          <p:cTn id="137" fill="hold">
                            <p:stCondLst>
                              <p:cond delay="0"/>
                            </p:stCondLst>
                            <p:childTnLst>
                              <p:par>
                                <p:cTn id="138" presetID="53" presetClass="entr" presetSubtype="16" fill="hold" grpId="0" nodeType="clickEffect">
                                  <p:stCondLst>
                                    <p:cond delay="0"/>
                                  </p:stCondLst>
                                  <p:childTnLst>
                                    <p:set>
                                      <p:cBhvr>
                                        <p:cTn id="139" dur="1" fill="hold">
                                          <p:stCondLst>
                                            <p:cond delay="0"/>
                                          </p:stCondLst>
                                        </p:cTn>
                                        <p:tgtEl>
                                          <p:spTgt spid="30"/>
                                        </p:tgtEl>
                                        <p:attrNameLst>
                                          <p:attrName>style.visibility</p:attrName>
                                        </p:attrNameLst>
                                      </p:cBhvr>
                                      <p:to>
                                        <p:strVal val="visible"/>
                                      </p:to>
                                    </p:set>
                                    <p:anim calcmode="lin" valueType="num">
                                      <p:cBhvr>
                                        <p:cTn id="140" dur="500" fill="hold"/>
                                        <p:tgtEl>
                                          <p:spTgt spid="30"/>
                                        </p:tgtEl>
                                        <p:attrNameLst>
                                          <p:attrName>ppt_w</p:attrName>
                                        </p:attrNameLst>
                                      </p:cBhvr>
                                      <p:tavLst>
                                        <p:tav tm="0">
                                          <p:val>
                                            <p:fltVal val="0"/>
                                          </p:val>
                                        </p:tav>
                                        <p:tav tm="100000">
                                          <p:val>
                                            <p:strVal val="#ppt_w"/>
                                          </p:val>
                                        </p:tav>
                                      </p:tavLst>
                                    </p:anim>
                                    <p:anim calcmode="lin" valueType="num">
                                      <p:cBhvr>
                                        <p:cTn id="141" dur="500" fill="hold"/>
                                        <p:tgtEl>
                                          <p:spTgt spid="30"/>
                                        </p:tgtEl>
                                        <p:attrNameLst>
                                          <p:attrName>ppt_h</p:attrName>
                                        </p:attrNameLst>
                                      </p:cBhvr>
                                      <p:tavLst>
                                        <p:tav tm="0">
                                          <p:val>
                                            <p:fltVal val="0"/>
                                          </p:val>
                                        </p:tav>
                                        <p:tav tm="100000">
                                          <p:val>
                                            <p:strVal val="#ppt_h"/>
                                          </p:val>
                                        </p:tav>
                                      </p:tavLst>
                                    </p:anim>
                                    <p:animEffect transition="in" filter="fade">
                                      <p:cBhvr>
                                        <p:cTn id="142" dur="500"/>
                                        <p:tgtEl>
                                          <p:spTgt spid="30"/>
                                        </p:tgtEl>
                                      </p:cBhvr>
                                    </p:animEffect>
                                  </p:childTnLst>
                                </p:cTn>
                              </p:par>
                            </p:childTnLst>
                          </p:cTn>
                        </p:par>
                      </p:childTnLst>
                    </p:cTn>
                  </p:par>
                  <p:par>
                    <p:cTn id="143" fill="hold">
                      <p:stCondLst>
                        <p:cond delay="indefinite"/>
                      </p:stCondLst>
                      <p:childTnLst>
                        <p:par>
                          <p:cTn id="144" fill="hold">
                            <p:stCondLst>
                              <p:cond delay="0"/>
                            </p:stCondLst>
                            <p:childTnLst>
                              <p:par>
                                <p:cTn id="145" presetID="53" presetClass="entr" presetSubtype="16" fill="hold" grpId="0" nodeType="clickEffect">
                                  <p:stCondLst>
                                    <p:cond delay="0"/>
                                  </p:stCondLst>
                                  <p:childTnLst>
                                    <p:set>
                                      <p:cBhvr>
                                        <p:cTn id="146" dur="1" fill="hold">
                                          <p:stCondLst>
                                            <p:cond delay="0"/>
                                          </p:stCondLst>
                                        </p:cTn>
                                        <p:tgtEl>
                                          <p:spTgt spid="9"/>
                                        </p:tgtEl>
                                        <p:attrNameLst>
                                          <p:attrName>style.visibility</p:attrName>
                                        </p:attrNameLst>
                                      </p:cBhvr>
                                      <p:to>
                                        <p:strVal val="visible"/>
                                      </p:to>
                                    </p:set>
                                    <p:anim calcmode="lin" valueType="num">
                                      <p:cBhvr>
                                        <p:cTn id="147" dur="500" fill="hold"/>
                                        <p:tgtEl>
                                          <p:spTgt spid="9"/>
                                        </p:tgtEl>
                                        <p:attrNameLst>
                                          <p:attrName>ppt_w</p:attrName>
                                        </p:attrNameLst>
                                      </p:cBhvr>
                                      <p:tavLst>
                                        <p:tav tm="0">
                                          <p:val>
                                            <p:fltVal val="0"/>
                                          </p:val>
                                        </p:tav>
                                        <p:tav tm="100000">
                                          <p:val>
                                            <p:strVal val="#ppt_w"/>
                                          </p:val>
                                        </p:tav>
                                      </p:tavLst>
                                    </p:anim>
                                    <p:anim calcmode="lin" valueType="num">
                                      <p:cBhvr>
                                        <p:cTn id="148" dur="500" fill="hold"/>
                                        <p:tgtEl>
                                          <p:spTgt spid="9"/>
                                        </p:tgtEl>
                                        <p:attrNameLst>
                                          <p:attrName>ppt_h</p:attrName>
                                        </p:attrNameLst>
                                      </p:cBhvr>
                                      <p:tavLst>
                                        <p:tav tm="0">
                                          <p:val>
                                            <p:fltVal val="0"/>
                                          </p:val>
                                        </p:tav>
                                        <p:tav tm="100000">
                                          <p:val>
                                            <p:strVal val="#ppt_h"/>
                                          </p:val>
                                        </p:tav>
                                      </p:tavLst>
                                    </p:anim>
                                    <p:animEffect transition="in" filter="fade">
                                      <p:cBhvr>
                                        <p:cTn id="149" dur="500"/>
                                        <p:tgtEl>
                                          <p:spTgt spid="9"/>
                                        </p:tgtEl>
                                      </p:cBhvr>
                                    </p:animEffect>
                                  </p:childTnLst>
                                </p:cTn>
                              </p:par>
                            </p:childTnLst>
                          </p:cTn>
                        </p:par>
                      </p:childTnLst>
                    </p:cTn>
                  </p:par>
                  <p:par>
                    <p:cTn id="150" fill="hold">
                      <p:stCondLst>
                        <p:cond delay="indefinite"/>
                      </p:stCondLst>
                      <p:childTnLst>
                        <p:par>
                          <p:cTn id="151" fill="hold">
                            <p:stCondLst>
                              <p:cond delay="0"/>
                            </p:stCondLst>
                            <p:childTnLst>
                              <p:par>
                                <p:cTn id="152" presetID="53" presetClass="entr" presetSubtype="16" fill="hold" grpId="0" nodeType="clickEffect">
                                  <p:stCondLst>
                                    <p:cond delay="0"/>
                                  </p:stCondLst>
                                  <p:childTnLst>
                                    <p:set>
                                      <p:cBhvr>
                                        <p:cTn id="153" dur="1" fill="hold">
                                          <p:stCondLst>
                                            <p:cond delay="0"/>
                                          </p:stCondLst>
                                        </p:cTn>
                                        <p:tgtEl>
                                          <p:spTgt spid="31"/>
                                        </p:tgtEl>
                                        <p:attrNameLst>
                                          <p:attrName>style.visibility</p:attrName>
                                        </p:attrNameLst>
                                      </p:cBhvr>
                                      <p:to>
                                        <p:strVal val="visible"/>
                                      </p:to>
                                    </p:set>
                                    <p:anim calcmode="lin" valueType="num">
                                      <p:cBhvr>
                                        <p:cTn id="154" dur="500" fill="hold"/>
                                        <p:tgtEl>
                                          <p:spTgt spid="31"/>
                                        </p:tgtEl>
                                        <p:attrNameLst>
                                          <p:attrName>ppt_w</p:attrName>
                                        </p:attrNameLst>
                                      </p:cBhvr>
                                      <p:tavLst>
                                        <p:tav tm="0">
                                          <p:val>
                                            <p:fltVal val="0"/>
                                          </p:val>
                                        </p:tav>
                                        <p:tav tm="100000">
                                          <p:val>
                                            <p:strVal val="#ppt_w"/>
                                          </p:val>
                                        </p:tav>
                                      </p:tavLst>
                                    </p:anim>
                                    <p:anim calcmode="lin" valueType="num">
                                      <p:cBhvr>
                                        <p:cTn id="155" dur="500" fill="hold"/>
                                        <p:tgtEl>
                                          <p:spTgt spid="31"/>
                                        </p:tgtEl>
                                        <p:attrNameLst>
                                          <p:attrName>ppt_h</p:attrName>
                                        </p:attrNameLst>
                                      </p:cBhvr>
                                      <p:tavLst>
                                        <p:tav tm="0">
                                          <p:val>
                                            <p:fltVal val="0"/>
                                          </p:val>
                                        </p:tav>
                                        <p:tav tm="100000">
                                          <p:val>
                                            <p:strVal val="#ppt_h"/>
                                          </p:val>
                                        </p:tav>
                                      </p:tavLst>
                                    </p:anim>
                                    <p:animEffect transition="in" filter="fade">
                                      <p:cBhvr>
                                        <p:cTn id="15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animBg="1"/>
      <p:bldP spid="11" grpId="0" animBg="1"/>
      <p:bldP spid="12" grpId="0" animBg="1"/>
      <p:bldP spid="13" grpId="0" animBg="1"/>
      <p:bldP spid="14" grpId="0" animBg="1"/>
      <p:bldP spid="23" grpId="0"/>
      <p:bldP spid="24" grpId="0"/>
      <p:bldP spid="25" grpId="0"/>
      <p:bldP spid="26" grpId="0" animBg="1"/>
      <p:bldP spid="27" grpId="0" animBg="1"/>
      <p:bldP spid="28" grpId="0" animBg="1"/>
      <p:bldP spid="29" grpId="0" animBg="1"/>
      <p:bldP spid="30" grpId="0" animBg="1"/>
      <p:bldP spid="31" grpId="0" animBg="1"/>
      <p:bldP spid="32" grpId="0" animBg="1"/>
      <p:bldP spid="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1692216" y="1330565"/>
                <a:ext cx="6701065" cy="10300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ea typeface="Microsoft YaHei" charset="0"/>
                        </a:rPr>
                        <m:t>𝐽</m:t>
                      </m:r>
                      <m:d>
                        <m:dPr>
                          <m:ctrlPr>
                            <a:rPr lang="en-US" altLang="zh-CN" sz="2200" i="1" smtClean="0">
                              <a:latin typeface="Cambria Math" panose="02040503050406030204" pitchFamily="18" charset="0"/>
                              <a:ea typeface="Microsoft YaHei" charset="0"/>
                            </a:rPr>
                          </m:ctrlPr>
                        </m:dPr>
                        <m:e>
                          <m:sSub>
                            <m:sSubPr>
                              <m:ctrlPr>
                                <a:rPr lang="en-US" altLang="zh-CN" sz="2200" i="1" smtClean="0">
                                  <a:latin typeface="Cambria Math" panose="02040503050406030204" pitchFamily="18" charset="0"/>
                                  <a:ea typeface="Microsoft YaHei" charset="0"/>
                                </a:rPr>
                              </m:ctrlPr>
                            </m:sSubPr>
                            <m:e>
                              <m:r>
                                <a:rPr lang="en-US" altLang="zh-CN" sz="2200" b="0" i="1" smtClean="0">
                                  <a:latin typeface="Cambria Math" panose="02040503050406030204" pitchFamily="18" charset="0"/>
                                  <a:ea typeface="Microsoft YaHei" charset="0"/>
                                </a:rPr>
                                <m:t>𝑓</m:t>
                              </m:r>
                            </m:e>
                            <m:sub>
                              <m:r>
                                <a:rPr lang="en-US" altLang="zh-CN" sz="2200" b="0" i="1" smtClean="0">
                                  <a:latin typeface="Cambria Math" panose="02040503050406030204" pitchFamily="18" charset="0"/>
                                  <a:ea typeface="Microsoft YaHei" charset="0"/>
                                </a:rPr>
                                <m:t>𝑡</m:t>
                              </m:r>
                            </m:sub>
                          </m:sSub>
                        </m:e>
                      </m:d>
                      <m:r>
                        <a:rPr lang="en-US" altLang="zh-CN" sz="2200" b="0" i="1" smtClean="0">
                          <a:latin typeface="Cambria Math" panose="02040503050406030204" pitchFamily="18" charset="0"/>
                          <a:ea typeface="Microsoft YaHei" charset="0"/>
                        </a:rPr>
                        <m:t>=</m:t>
                      </m:r>
                      <m:nary>
                        <m:naryPr>
                          <m:chr m:val="∑"/>
                          <m:ctrlPr>
                            <a:rPr lang="en-US" altLang="zh-CN" sz="2200" i="1">
                              <a:latin typeface="Cambria Math" panose="02040503050406030204" pitchFamily="18" charset="0"/>
                              <a:ea typeface="Microsoft YaHei" charset="0"/>
                            </a:rPr>
                          </m:ctrlPr>
                        </m:naryPr>
                        <m:sub>
                          <m:r>
                            <m:rPr>
                              <m:brk m:alnAt="23"/>
                            </m:rPr>
                            <a:rPr lang="en-US" altLang="zh-CN" sz="2200" i="1">
                              <a:latin typeface="Cambria Math" panose="02040503050406030204" pitchFamily="18" charset="0"/>
                              <a:ea typeface="Microsoft YaHei" charset="0"/>
                            </a:rPr>
                            <m:t>𝑗</m:t>
                          </m:r>
                          <m:r>
                            <a:rPr lang="en-US" altLang="zh-CN" sz="2200" i="1">
                              <a:latin typeface="Cambria Math" panose="02040503050406030204" pitchFamily="18" charset="0"/>
                              <a:ea typeface="Microsoft YaHei" charset="0"/>
                            </a:rPr>
                            <m:t>=1</m:t>
                          </m:r>
                        </m:sub>
                        <m:sup>
                          <m:r>
                            <a:rPr lang="en-US" altLang="zh-CN" sz="2200" i="1">
                              <a:latin typeface="Cambria Math" panose="02040503050406030204" pitchFamily="18" charset="0"/>
                              <a:ea typeface="Microsoft YaHei" charset="0"/>
                            </a:rPr>
                            <m:t>𝑇</m:t>
                          </m:r>
                        </m:sup>
                        <m:e>
                          <m:d>
                            <m:dPr>
                              <m:begChr m:val="["/>
                              <m:endChr m:val="]"/>
                              <m:ctrlPr>
                                <a:rPr lang="en-US" altLang="zh-CN" sz="2200" i="1">
                                  <a:latin typeface="Cambria Math" panose="02040503050406030204" pitchFamily="18" charset="0"/>
                                  <a:ea typeface="Microsoft YaHei" charset="0"/>
                                </a:rPr>
                              </m:ctrlPr>
                            </m:dPr>
                            <m:e>
                              <m:d>
                                <m:dPr>
                                  <m:ctrlPr>
                                    <a:rPr lang="en-US" altLang="zh-CN" sz="2200" i="1">
                                      <a:latin typeface="Cambria Math" panose="02040503050406030204" pitchFamily="18" charset="0"/>
                                      <a:ea typeface="Microsoft YaHei" charset="0"/>
                                    </a:rPr>
                                  </m:ctrlPr>
                                </m:dPr>
                                <m:e>
                                  <m:nary>
                                    <m:naryPr>
                                      <m:chr m:val="∑"/>
                                      <m:supHide m:val="on"/>
                                      <m:ctrlPr>
                                        <a:rPr lang="en-US" altLang="zh-CN" sz="2200" i="1">
                                          <a:latin typeface="Cambria Math" panose="02040503050406030204" pitchFamily="18" charset="0"/>
                                          <a:ea typeface="Microsoft YaHei" charset="0"/>
                                        </a:rPr>
                                      </m:ctrlPr>
                                    </m:naryPr>
                                    <m:sub>
                                      <m:r>
                                        <m:rPr>
                                          <m:brk m:alnAt="7"/>
                                        </m:rPr>
                                        <a:rPr lang="en-US" altLang="zh-CN" sz="2200" i="1">
                                          <a:latin typeface="Cambria Math" panose="02040503050406030204" pitchFamily="18" charset="0"/>
                                          <a:ea typeface="Microsoft YaHei" charset="0"/>
                                        </a:rPr>
                                        <m:t>𝑖</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𝐼</m:t>
                                          </m:r>
                                        </m:e>
                                        <m:sub>
                                          <m:r>
                                            <a:rPr lang="en-US" altLang="zh-CN" sz="2200" i="1">
                                              <a:latin typeface="Cambria Math" panose="02040503050406030204" pitchFamily="18" charset="0"/>
                                              <a:ea typeface="Cambria Math" panose="02040503050406030204" pitchFamily="18" charset="0"/>
                                            </a:rPr>
                                            <m:t>𝑗</m:t>
                                          </m:r>
                                        </m:sub>
                                      </m:sSub>
                                    </m:sub>
                                    <m:sup/>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𝑔</m:t>
                                          </m:r>
                                        </m:e>
                                        <m:sub>
                                          <m:r>
                                            <a:rPr lang="en-US" altLang="zh-CN" sz="2200" i="1">
                                              <a:latin typeface="Cambria Math" panose="02040503050406030204" pitchFamily="18" charset="0"/>
                                              <a:ea typeface="Microsoft YaHei" charset="0"/>
                                            </a:rPr>
                                            <m:t>𝑖</m:t>
                                          </m:r>
                                        </m:sub>
                                      </m:sSub>
                                    </m:e>
                                  </m:nary>
                                </m:e>
                              </m:d>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r>
                                <a:rPr lang="en-US" altLang="zh-CN" sz="2200" i="1">
                                  <a:latin typeface="Cambria Math" panose="02040503050406030204" pitchFamily="18" charset="0"/>
                                  <a:ea typeface="Microsoft YaHei" charset="0"/>
                                </a:rPr>
                                <m:t>+</m:t>
                              </m:r>
                              <m:f>
                                <m:fPr>
                                  <m:ctrlPr>
                                    <a:rPr lang="en-US" altLang="zh-CN" sz="2200" i="1">
                                      <a:latin typeface="Cambria Math" panose="02040503050406030204" pitchFamily="18" charset="0"/>
                                      <a:ea typeface="Microsoft YaHei" charset="0"/>
                                    </a:rPr>
                                  </m:ctrlPr>
                                </m:fPr>
                                <m:num>
                                  <m:r>
                                    <a:rPr lang="en-US" altLang="zh-CN" sz="2200" i="1">
                                      <a:latin typeface="Cambria Math" panose="02040503050406030204" pitchFamily="18" charset="0"/>
                                      <a:ea typeface="Microsoft YaHei" charset="0"/>
                                    </a:rPr>
                                    <m:t>1</m:t>
                                  </m:r>
                                </m:num>
                                <m:den>
                                  <m:r>
                                    <a:rPr lang="en-US" altLang="zh-CN" sz="2200" i="1">
                                      <a:latin typeface="Cambria Math" panose="02040503050406030204" pitchFamily="18" charset="0"/>
                                      <a:ea typeface="Microsoft YaHei" charset="0"/>
                                    </a:rPr>
                                    <m:t>2</m:t>
                                  </m:r>
                                </m:den>
                              </m:f>
                              <m:d>
                                <m:dPr>
                                  <m:ctrlPr>
                                    <a:rPr lang="en-US" altLang="zh-CN" sz="2200" i="1">
                                      <a:latin typeface="Cambria Math" panose="02040503050406030204" pitchFamily="18" charset="0"/>
                                      <a:ea typeface="Microsoft YaHei" charset="0"/>
                                    </a:rPr>
                                  </m:ctrlPr>
                                </m:dPr>
                                <m:e>
                                  <m:nary>
                                    <m:naryPr>
                                      <m:chr m:val="∑"/>
                                      <m:supHide m:val="on"/>
                                      <m:ctrlPr>
                                        <a:rPr lang="en-US" altLang="zh-CN" sz="2200" i="1">
                                          <a:latin typeface="Cambria Math" panose="02040503050406030204" pitchFamily="18" charset="0"/>
                                          <a:ea typeface="Microsoft YaHei" charset="0"/>
                                        </a:rPr>
                                      </m:ctrlPr>
                                    </m:naryPr>
                                    <m:sub>
                                      <m:r>
                                        <m:rPr>
                                          <m:brk m:alnAt="7"/>
                                        </m:rPr>
                                        <a:rPr lang="en-US" altLang="zh-CN" sz="2200" i="1">
                                          <a:latin typeface="Cambria Math" panose="02040503050406030204" pitchFamily="18" charset="0"/>
                                          <a:ea typeface="Microsoft YaHei" charset="0"/>
                                        </a:rPr>
                                        <m:t>𝑖</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𝐼</m:t>
                                          </m:r>
                                        </m:e>
                                        <m:sub>
                                          <m:r>
                                            <a:rPr lang="en-US" altLang="zh-CN" sz="2200" i="1">
                                              <a:latin typeface="Cambria Math" panose="02040503050406030204" pitchFamily="18" charset="0"/>
                                              <a:ea typeface="Cambria Math" panose="02040503050406030204" pitchFamily="18" charset="0"/>
                                            </a:rPr>
                                            <m:t>𝑗</m:t>
                                          </m:r>
                                        </m:sub>
                                      </m:sSub>
                                    </m:sub>
                                    <m:sup/>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h</m:t>
                                          </m:r>
                                        </m:e>
                                        <m:sub>
                                          <m:r>
                                            <a:rPr lang="en-US" altLang="zh-CN" sz="2200" i="1">
                                              <a:latin typeface="Cambria Math" panose="02040503050406030204" pitchFamily="18" charset="0"/>
                                              <a:ea typeface="Microsoft YaHei" charset="0"/>
                                            </a:rPr>
                                            <m:t>𝑖</m:t>
                                          </m:r>
                                        </m:sub>
                                      </m:sSub>
                                    </m:e>
                                  </m:nary>
                                  <m:r>
                                    <a:rPr lang="en-US" altLang="zh-CN" sz="2200" b="0" i="1" smtClean="0">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𝜆</m:t>
                                  </m:r>
                                </m:e>
                              </m:d>
                              <m:sSup>
                                <m:sSupPr>
                                  <m:ctrlPr>
                                    <a:rPr lang="en-US" altLang="zh-CN" sz="2200" i="1">
                                      <a:latin typeface="Cambria Math" panose="02040503050406030204" pitchFamily="18" charset="0"/>
                                      <a:ea typeface="Microsoft YaHei" charset="0"/>
                                    </a:rPr>
                                  </m:ctrlPr>
                                </m:sSup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e>
                                <m:sup>
                                  <m:r>
                                    <a:rPr lang="en-US" altLang="zh-CN" sz="2200" i="1">
                                      <a:latin typeface="Cambria Math" panose="02040503050406030204" pitchFamily="18" charset="0"/>
                                      <a:ea typeface="Microsoft YaHei" charset="0"/>
                                    </a:rPr>
                                    <m:t>2</m:t>
                                  </m:r>
                                </m:sup>
                              </m:sSup>
                            </m:e>
                          </m:d>
                          <m:r>
                            <a:rPr lang="en-US" altLang="zh-CN" sz="2200" i="1">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𝛾</m:t>
                          </m:r>
                          <m:r>
                            <a:rPr lang="en-US" altLang="zh-CN" sz="2200" i="1">
                              <a:latin typeface="Cambria Math" panose="02040503050406030204" pitchFamily="18" charset="0"/>
                              <a:ea typeface="Cambria Math" panose="02040503050406030204" pitchFamily="18" charset="0"/>
                            </a:rPr>
                            <m:t>𝑇</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𝐶</m:t>
                          </m:r>
                        </m:e>
                      </m:nary>
                    </m:oMath>
                  </m:oMathPara>
                </a14:m>
                <a:endParaRPr lang="zh-CN" altLang="en-US" sz="2200" dirty="0">
                  <a:ea typeface="Microsoft YaHei"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692216" y="1330565"/>
                <a:ext cx="6701065" cy="103009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2907740" y="2614741"/>
                <a:ext cx="1385636" cy="8996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ea typeface="Microsoft YaHei" charset="0"/>
                            </a:rPr>
                          </m:ctrlPr>
                        </m:sSubPr>
                        <m:e>
                          <m:r>
                            <a:rPr lang="en-US" altLang="zh-CN" sz="2200" b="0" i="1" smtClean="0">
                              <a:latin typeface="Cambria Math" panose="02040503050406030204" pitchFamily="18" charset="0"/>
                              <a:ea typeface="Microsoft YaHei" charset="0"/>
                            </a:rPr>
                            <m:t>𝐺</m:t>
                          </m:r>
                        </m:e>
                        <m:sub>
                          <m:r>
                            <a:rPr lang="en-US" altLang="zh-CN" sz="2200" b="0" i="1" smtClean="0">
                              <a:latin typeface="Cambria Math" panose="02040503050406030204" pitchFamily="18" charset="0"/>
                              <a:ea typeface="Microsoft YaHei" charset="0"/>
                            </a:rPr>
                            <m:t>𝑗</m:t>
                          </m:r>
                        </m:sub>
                      </m:sSub>
                      <m:r>
                        <a:rPr lang="en-US" altLang="zh-CN" sz="2200" b="0" i="1" smtClean="0">
                          <a:latin typeface="Cambria Math" panose="02040503050406030204" pitchFamily="18" charset="0"/>
                          <a:ea typeface="Microsoft YaHei" charset="0"/>
                        </a:rPr>
                        <m:t>=</m:t>
                      </m:r>
                      <m:nary>
                        <m:naryPr>
                          <m:chr m:val="∑"/>
                          <m:supHide m:val="on"/>
                          <m:ctrlPr>
                            <a:rPr lang="en-US" altLang="zh-CN" sz="2200" i="1">
                              <a:latin typeface="Cambria Math" panose="02040503050406030204" pitchFamily="18" charset="0"/>
                              <a:ea typeface="Microsoft YaHei" charset="0"/>
                            </a:rPr>
                          </m:ctrlPr>
                        </m:naryPr>
                        <m:sub>
                          <m:r>
                            <m:rPr>
                              <m:brk m:alnAt="7"/>
                            </m:rPr>
                            <a:rPr lang="en-US" altLang="zh-CN" sz="2200" i="1">
                              <a:latin typeface="Cambria Math" panose="02040503050406030204" pitchFamily="18" charset="0"/>
                              <a:ea typeface="Microsoft YaHei" charset="0"/>
                            </a:rPr>
                            <m:t>𝑖</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𝐼</m:t>
                              </m:r>
                            </m:e>
                            <m:sub>
                              <m:r>
                                <a:rPr lang="en-US" altLang="zh-CN" sz="2200" i="1">
                                  <a:latin typeface="Cambria Math" panose="02040503050406030204" pitchFamily="18" charset="0"/>
                                  <a:ea typeface="Cambria Math" panose="02040503050406030204" pitchFamily="18" charset="0"/>
                                </a:rPr>
                                <m:t>𝑗</m:t>
                              </m:r>
                            </m:sub>
                          </m:sSub>
                        </m:sub>
                        <m:sup/>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𝑔</m:t>
                              </m:r>
                            </m:e>
                            <m:sub>
                              <m:r>
                                <a:rPr lang="en-US" altLang="zh-CN" sz="2200" i="1">
                                  <a:latin typeface="Cambria Math" panose="02040503050406030204" pitchFamily="18" charset="0"/>
                                  <a:ea typeface="Microsoft YaHei" charset="0"/>
                                </a:rPr>
                                <m:t>𝑖</m:t>
                              </m:r>
                            </m:sub>
                          </m:sSub>
                        </m:e>
                      </m:nary>
                    </m:oMath>
                  </m:oMathPara>
                </a14:m>
                <a:endParaRPr lang="zh-CN" altLang="en-US" sz="2200" dirty="0">
                  <a:ea typeface="Microsoft YaHei"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907740" y="2614741"/>
                <a:ext cx="1385636" cy="89967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5161905" y="2650966"/>
                <a:ext cx="1398203" cy="8996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ea typeface="Microsoft YaHei" charset="0"/>
                            </a:rPr>
                          </m:ctrlPr>
                        </m:sSubPr>
                        <m:e>
                          <m:r>
                            <a:rPr lang="en-US" altLang="zh-CN" sz="2200" b="0" i="1" smtClean="0">
                              <a:latin typeface="Cambria Math" panose="02040503050406030204" pitchFamily="18" charset="0"/>
                              <a:ea typeface="Microsoft YaHei" charset="0"/>
                            </a:rPr>
                            <m:t>𝐻</m:t>
                          </m:r>
                        </m:e>
                        <m:sub>
                          <m:r>
                            <a:rPr lang="en-US" altLang="zh-CN" sz="2200" b="0" i="1" smtClean="0">
                              <a:latin typeface="Cambria Math" panose="02040503050406030204" pitchFamily="18" charset="0"/>
                              <a:ea typeface="Microsoft YaHei" charset="0"/>
                            </a:rPr>
                            <m:t>𝑗</m:t>
                          </m:r>
                        </m:sub>
                      </m:sSub>
                      <m:r>
                        <a:rPr lang="en-US" altLang="zh-CN" sz="2200" b="0" i="1" smtClean="0">
                          <a:latin typeface="Cambria Math" panose="02040503050406030204" pitchFamily="18" charset="0"/>
                          <a:ea typeface="Microsoft YaHei" charset="0"/>
                        </a:rPr>
                        <m:t>=</m:t>
                      </m:r>
                      <m:nary>
                        <m:naryPr>
                          <m:chr m:val="∑"/>
                          <m:supHide m:val="on"/>
                          <m:ctrlPr>
                            <a:rPr lang="en-US" altLang="zh-CN" sz="2200" i="1">
                              <a:latin typeface="Cambria Math" panose="02040503050406030204" pitchFamily="18" charset="0"/>
                              <a:ea typeface="Microsoft YaHei" charset="0"/>
                            </a:rPr>
                          </m:ctrlPr>
                        </m:naryPr>
                        <m:sub>
                          <m:r>
                            <m:rPr>
                              <m:brk m:alnAt="7"/>
                            </m:rPr>
                            <a:rPr lang="en-US" altLang="zh-CN" sz="2200" i="1">
                              <a:latin typeface="Cambria Math" panose="02040503050406030204" pitchFamily="18" charset="0"/>
                              <a:ea typeface="Microsoft YaHei" charset="0"/>
                            </a:rPr>
                            <m:t>𝑖</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𝐼</m:t>
                              </m:r>
                            </m:e>
                            <m:sub>
                              <m:r>
                                <a:rPr lang="en-US" altLang="zh-CN" sz="2200" i="1">
                                  <a:latin typeface="Cambria Math" panose="02040503050406030204" pitchFamily="18" charset="0"/>
                                  <a:ea typeface="Cambria Math" panose="02040503050406030204" pitchFamily="18" charset="0"/>
                                </a:rPr>
                                <m:t>𝑗</m:t>
                              </m:r>
                            </m:sub>
                          </m:sSub>
                        </m:sub>
                        <m:sup/>
                        <m:e>
                          <m:sSub>
                            <m:sSubPr>
                              <m:ctrlPr>
                                <a:rPr lang="en-US" altLang="zh-CN" sz="2200" i="1">
                                  <a:latin typeface="Cambria Math" panose="02040503050406030204" pitchFamily="18" charset="0"/>
                                  <a:ea typeface="Microsoft YaHei" charset="0"/>
                                </a:rPr>
                              </m:ctrlPr>
                            </m:sSubPr>
                            <m:e>
                              <m:r>
                                <a:rPr lang="en-US" altLang="zh-CN" sz="2200" b="0" i="1" smtClean="0">
                                  <a:latin typeface="Cambria Math" panose="02040503050406030204" pitchFamily="18" charset="0"/>
                                  <a:ea typeface="Microsoft YaHei" charset="0"/>
                                </a:rPr>
                                <m:t>h</m:t>
                              </m:r>
                            </m:e>
                            <m:sub>
                              <m:r>
                                <a:rPr lang="en-US" altLang="zh-CN" sz="2200" i="1">
                                  <a:latin typeface="Cambria Math" panose="02040503050406030204" pitchFamily="18" charset="0"/>
                                  <a:ea typeface="Microsoft YaHei" charset="0"/>
                                </a:rPr>
                                <m:t>𝑖</m:t>
                              </m:r>
                            </m:sub>
                          </m:sSub>
                        </m:e>
                      </m:nary>
                    </m:oMath>
                  </m:oMathPara>
                </a14:m>
                <a:endParaRPr lang="zh-CN" altLang="en-US" sz="2200" dirty="0">
                  <a:ea typeface="Microsoft YaHei"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5161905" y="2650966"/>
                <a:ext cx="1398203" cy="899670"/>
              </a:xfrm>
              <a:prstGeom prst="rect">
                <a:avLst/>
              </a:prstGeom>
              <a:blipFill>
                <a:blip r:embed="rId4"/>
                <a:stretch>
                  <a:fillRect/>
                </a:stretch>
              </a:blipFill>
            </p:spPr>
            <p:txBody>
              <a:bodyPr/>
              <a:lstStyle/>
              <a:p>
                <a:r>
                  <a:rPr lang="zh-CN" altLang="en-US">
                    <a:noFill/>
                  </a:rPr>
                  <a:t> </a:t>
                </a:r>
              </a:p>
            </p:txBody>
          </p:sp>
        </mc:Fallback>
      </mc:AlternateContent>
      <p:sp>
        <p:nvSpPr>
          <p:cNvPr id="7" name="下箭头 6"/>
          <p:cNvSpPr/>
          <p:nvPr/>
        </p:nvSpPr>
        <p:spPr>
          <a:xfrm>
            <a:off x="3705325" y="2379810"/>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ea typeface="Microsoft YaHei" charset="0"/>
            </a:endParaRPr>
          </a:p>
        </p:txBody>
      </p:sp>
      <p:sp>
        <p:nvSpPr>
          <p:cNvPr id="8" name="下箭头 7"/>
          <p:cNvSpPr/>
          <p:nvPr/>
        </p:nvSpPr>
        <p:spPr>
          <a:xfrm>
            <a:off x="5883896" y="2335267"/>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ea typeface="Microsoft YaHei" charset="0"/>
            </a:endParaRPr>
          </a:p>
        </p:txBody>
      </p:sp>
      <mc:AlternateContent xmlns:mc="http://schemas.openxmlformats.org/markup-compatibility/2006" xmlns:a14="http://schemas.microsoft.com/office/drawing/2010/main">
        <mc:Choice Requires="a14">
          <p:sp>
            <p:nvSpPr>
              <p:cNvPr id="9" name="矩形 8"/>
              <p:cNvSpPr/>
              <p:nvPr/>
            </p:nvSpPr>
            <p:spPr>
              <a:xfrm>
                <a:off x="1599883" y="3417222"/>
                <a:ext cx="5531771" cy="1082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Microsoft YaHei" charset="0"/>
                        </a:rPr>
                        <m:t>𝐽</m:t>
                      </m:r>
                      <m:d>
                        <m:dPr>
                          <m:ctrlPr>
                            <a:rPr lang="en-US" altLang="zh-CN" sz="2200" i="1">
                              <a:latin typeface="Cambria Math" panose="02040503050406030204" pitchFamily="18" charset="0"/>
                              <a:ea typeface="Microsoft YaHei" charset="0"/>
                            </a:rPr>
                          </m:ctrlPr>
                        </m:d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𝑓</m:t>
                              </m:r>
                            </m:e>
                            <m:sub>
                              <m:r>
                                <a:rPr lang="en-US" altLang="zh-CN" sz="2200" i="1">
                                  <a:latin typeface="Cambria Math" panose="02040503050406030204" pitchFamily="18" charset="0"/>
                                  <a:ea typeface="Microsoft YaHei" charset="0"/>
                                </a:rPr>
                                <m:t>𝑡</m:t>
                              </m:r>
                            </m:sub>
                          </m:sSub>
                        </m:e>
                      </m:d>
                      <m:r>
                        <a:rPr lang="en-US" altLang="zh-CN" sz="2200" i="1">
                          <a:latin typeface="Cambria Math" panose="02040503050406030204" pitchFamily="18" charset="0"/>
                          <a:ea typeface="Microsoft YaHei" charset="0"/>
                        </a:rPr>
                        <m:t>=</m:t>
                      </m:r>
                      <m:nary>
                        <m:naryPr>
                          <m:chr m:val="∑"/>
                          <m:ctrlPr>
                            <a:rPr lang="en-US" altLang="zh-CN" sz="2200" i="1">
                              <a:latin typeface="Cambria Math" panose="02040503050406030204" pitchFamily="18" charset="0"/>
                              <a:ea typeface="Microsoft YaHei" charset="0"/>
                            </a:rPr>
                          </m:ctrlPr>
                        </m:naryPr>
                        <m:sub>
                          <m:r>
                            <m:rPr>
                              <m:brk m:alnAt="23"/>
                            </m:rPr>
                            <a:rPr lang="en-US" altLang="zh-CN" sz="2200" i="1">
                              <a:latin typeface="Cambria Math" panose="02040503050406030204" pitchFamily="18" charset="0"/>
                              <a:ea typeface="Microsoft YaHei" charset="0"/>
                            </a:rPr>
                            <m:t>𝑗</m:t>
                          </m:r>
                          <m:r>
                            <a:rPr lang="en-US" altLang="zh-CN" sz="2200" i="1">
                              <a:latin typeface="Cambria Math" panose="02040503050406030204" pitchFamily="18" charset="0"/>
                              <a:ea typeface="Microsoft YaHei" charset="0"/>
                            </a:rPr>
                            <m:t>=1</m:t>
                          </m:r>
                        </m:sub>
                        <m:sup>
                          <m:r>
                            <a:rPr lang="en-US" altLang="zh-CN" sz="2200" i="1">
                              <a:latin typeface="Cambria Math" panose="02040503050406030204" pitchFamily="18" charset="0"/>
                              <a:ea typeface="Microsoft YaHei" charset="0"/>
                            </a:rPr>
                            <m:t>𝑇</m:t>
                          </m:r>
                        </m:sup>
                        <m:e>
                          <m:d>
                            <m:dPr>
                              <m:begChr m:val="["/>
                              <m:endChr m:val="]"/>
                              <m:ctrlPr>
                                <a:rPr lang="en-US" altLang="zh-CN" sz="2200" i="1">
                                  <a:latin typeface="Cambria Math" panose="02040503050406030204" pitchFamily="18" charset="0"/>
                                  <a:ea typeface="Microsoft YaHei" charset="0"/>
                                </a:rPr>
                              </m:ctrlPr>
                            </m:d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𝐺</m:t>
                                  </m:r>
                                </m:e>
                                <m:sub>
                                  <m:r>
                                    <a:rPr lang="en-US" altLang="zh-CN" sz="2200" i="1">
                                      <a:latin typeface="Cambria Math" panose="02040503050406030204" pitchFamily="18" charset="0"/>
                                      <a:ea typeface="Microsoft YaHei" charset="0"/>
                                    </a:rPr>
                                    <m:t>𝑗</m:t>
                                  </m:r>
                                </m:sub>
                              </m:sSub>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r>
                                <a:rPr lang="en-US" altLang="zh-CN" sz="2200" i="1">
                                  <a:latin typeface="Cambria Math" panose="02040503050406030204" pitchFamily="18" charset="0"/>
                                  <a:ea typeface="Microsoft YaHei" charset="0"/>
                                </a:rPr>
                                <m:t>+</m:t>
                              </m:r>
                              <m:f>
                                <m:fPr>
                                  <m:ctrlPr>
                                    <a:rPr lang="en-US" altLang="zh-CN" sz="2200" i="1">
                                      <a:latin typeface="Cambria Math" panose="02040503050406030204" pitchFamily="18" charset="0"/>
                                      <a:ea typeface="Microsoft YaHei" charset="0"/>
                                    </a:rPr>
                                  </m:ctrlPr>
                                </m:fPr>
                                <m:num>
                                  <m:r>
                                    <a:rPr lang="en-US" altLang="zh-CN" sz="2200" i="1">
                                      <a:latin typeface="Cambria Math" panose="02040503050406030204" pitchFamily="18" charset="0"/>
                                      <a:ea typeface="Microsoft YaHei" charset="0"/>
                                    </a:rPr>
                                    <m:t>1</m:t>
                                  </m:r>
                                </m:num>
                                <m:den>
                                  <m:r>
                                    <a:rPr lang="en-US" altLang="zh-CN" sz="2200" i="1">
                                      <a:latin typeface="Cambria Math" panose="02040503050406030204" pitchFamily="18" charset="0"/>
                                      <a:ea typeface="Microsoft YaHei" charset="0"/>
                                    </a:rPr>
                                    <m:t>2</m:t>
                                  </m:r>
                                </m:den>
                              </m:f>
                              <m:d>
                                <m:dPr>
                                  <m:ctrlPr>
                                    <a:rPr lang="en-US" altLang="zh-CN" sz="2200" i="1">
                                      <a:latin typeface="Cambria Math" panose="02040503050406030204" pitchFamily="18" charset="0"/>
                                      <a:ea typeface="Microsoft YaHei" charset="0"/>
                                    </a:rPr>
                                  </m:ctrlPr>
                                </m:d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𝐻</m:t>
                                      </m:r>
                                    </m:e>
                                    <m:sub>
                                      <m:r>
                                        <a:rPr lang="en-US" altLang="zh-CN" sz="2200" i="1">
                                          <a:latin typeface="Cambria Math" panose="02040503050406030204" pitchFamily="18" charset="0"/>
                                          <a:ea typeface="Microsoft YaHei" charset="0"/>
                                        </a:rPr>
                                        <m:t>𝑗</m:t>
                                      </m:r>
                                    </m:sub>
                                  </m:sSub>
                                  <m:r>
                                    <a:rPr lang="en-US" altLang="zh-CN" sz="2200" i="1">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𝜆</m:t>
                                  </m:r>
                                </m:e>
                              </m:d>
                              <m:sSup>
                                <m:sSupPr>
                                  <m:ctrlPr>
                                    <a:rPr lang="en-US" altLang="zh-CN" sz="2200" i="1">
                                      <a:latin typeface="Cambria Math" panose="02040503050406030204" pitchFamily="18" charset="0"/>
                                      <a:ea typeface="Microsoft YaHei" charset="0"/>
                                    </a:rPr>
                                  </m:ctrlPr>
                                </m:sSup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e>
                                <m:sup>
                                  <m:r>
                                    <a:rPr lang="en-US" altLang="zh-CN" sz="2200" i="1">
                                      <a:latin typeface="Cambria Math" panose="02040503050406030204" pitchFamily="18" charset="0"/>
                                      <a:ea typeface="Microsoft YaHei" charset="0"/>
                                    </a:rPr>
                                    <m:t>2</m:t>
                                  </m:r>
                                </m:sup>
                              </m:sSup>
                            </m:e>
                          </m:d>
                          <m:r>
                            <a:rPr lang="en-US" altLang="zh-CN" sz="2200" i="1">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𝛾</m:t>
                          </m:r>
                          <m:r>
                            <a:rPr lang="en-US" altLang="zh-CN" sz="2200" i="1">
                              <a:latin typeface="Cambria Math" panose="02040503050406030204" pitchFamily="18" charset="0"/>
                              <a:ea typeface="Cambria Math" panose="02040503050406030204" pitchFamily="18" charset="0"/>
                            </a:rPr>
                            <m:t>𝑇</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𝐶</m:t>
                          </m:r>
                        </m:e>
                      </m:nary>
                    </m:oMath>
                  </m:oMathPara>
                </a14:m>
                <a:endParaRPr lang="zh-CN" altLang="en-US" sz="2200" dirty="0">
                  <a:ea typeface="Microsoft YaHei"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1599883" y="3417222"/>
                <a:ext cx="5531771" cy="1082540"/>
              </a:xfrm>
              <a:prstGeom prst="rect">
                <a:avLst/>
              </a:prstGeom>
              <a:blipFill>
                <a:blip r:embed="rId5"/>
                <a:stretch>
                  <a:fillRect/>
                </a:stretch>
              </a:blipFill>
            </p:spPr>
            <p:txBody>
              <a:bodyPr/>
              <a:lstStyle/>
              <a:p>
                <a:r>
                  <a:rPr lang="zh-CN" altLang="en-US">
                    <a:noFill/>
                  </a:rPr>
                  <a:t> </a:t>
                </a:r>
              </a:p>
            </p:txBody>
          </p:sp>
        </mc:Fallback>
      </mc:AlternateContent>
      <p:sp>
        <p:nvSpPr>
          <p:cNvPr id="10" name="下箭头 9"/>
          <p:cNvSpPr/>
          <p:nvPr/>
        </p:nvSpPr>
        <p:spPr>
          <a:xfrm>
            <a:off x="4365768" y="3250199"/>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ea typeface="Microsoft YaHei" charset="0"/>
            </a:endParaRPr>
          </a:p>
        </p:txBody>
      </p:sp>
      <mc:AlternateContent xmlns:mc="http://schemas.openxmlformats.org/markup-compatibility/2006" xmlns:a14="http://schemas.microsoft.com/office/drawing/2010/main">
        <mc:Choice Requires="a14">
          <p:sp>
            <p:nvSpPr>
              <p:cNvPr id="11" name="文本框 10"/>
              <p:cNvSpPr txBox="1"/>
              <p:nvPr/>
            </p:nvSpPr>
            <p:spPr>
              <a:xfrm>
                <a:off x="1692216" y="4702482"/>
                <a:ext cx="3051861" cy="7525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200" i="1" smtClean="0">
                              <a:latin typeface="Cambria Math" panose="02040503050406030204" pitchFamily="18" charset="0"/>
                              <a:ea typeface="Microsoft YaHei" charset="0"/>
                            </a:rPr>
                          </m:ctrlPr>
                        </m:fPr>
                        <m:num>
                          <m:r>
                            <a:rPr lang="zh-CN" altLang="en-US" sz="2200" i="1" smtClean="0">
                              <a:latin typeface="Cambria Math" panose="02040503050406030204" pitchFamily="18" charset="0"/>
                              <a:ea typeface="Microsoft YaHei" charset="0"/>
                            </a:rPr>
                            <m:t>𝜕</m:t>
                          </m:r>
                          <m:r>
                            <a:rPr lang="en-US" altLang="zh-CN" sz="2200" i="1">
                              <a:latin typeface="Cambria Math" panose="02040503050406030204" pitchFamily="18" charset="0"/>
                              <a:ea typeface="Microsoft YaHei" charset="0"/>
                            </a:rPr>
                            <m:t>𝐽</m:t>
                          </m:r>
                          <m:d>
                            <m:dPr>
                              <m:ctrlPr>
                                <a:rPr lang="en-US" altLang="zh-CN" sz="2200" i="1">
                                  <a:latin typeface="Cambria Math" panose="02040503050406030204" pitchFamily="18" charset="0"/>
                                  <a:ea typeface="Microsoft YaHei" charset="0"/>
                                </a:rPr>
                              </m:ctrlPr>
                            </m:d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𝑓</m:t>
                                  </m:r>
                                </m:e>
                                <m:sub>
                                  <m:r>
                                    <a:rPr lang="en-US" altLang="zh-CN" sz="2200" i="1">
                                      <a:latin typeface="Cambria Math" panose="02040503050406030204" pitchFamily="18" charset="0"/>
                                      <a:ea typeface="Microsoft YaHei" charset="0"/>
                                    </a:rPr>
                                    <m:t>𝑡</m:t>
                                  </m:r>
                                </m:sub>
                              </m:sSub>
                            </m:e>
                          </m:d>
                        </m:num>
                        <m:den>
                          <m:r>
                            <a:rPr lang="zh-CN" altLang="en-US" sz="2200" i="1" smtClean="0">
                              <a:latin typeface="Cambria Math" panose="02040503050406030204" pitchFamily="18" charset="0"/>
                              <a:ea typeface="Microsoft YaHei" charset="0"/>
                            </a:rPr>
                            <m:t>𝜕</m:t>
                          </m:r>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den>
                      </m:f>
                      <m:r>
                        <a:rPr lang="en-US" altLang="zh-CN" sz="2200" b="0" i="1" smtClean="0">
                          <a:latin typeface="Cambria Math" panose="02040503050406030204" pitchFamily="18" charset="0"/>
                          <a:ea typeface="Microsoft YaHei" charset="0"/>
                        </a:rPr>
                        <m:t>=</m:t>
                      </m:r>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𝐺</m:t>
                          </m:r>
                        </m:e>
                        <m:sub>
                          <m:r>
                            <a:rPr lang="en-US" altLang="zh-CN" sz="2200" i="1">
                              <a:latin typeface="Cambria Math" panose="02040503050406030204" pitchFamily="18" charset="0"/>
                              <a:ea typeface="Microsoft YaHei" charset="0"/>
                            </a:rPr>
                            <m:t>𝑗</m:t>
                          </m:r>
                        </m:sub>
                      </m:sSub>
                      <m:r>
                        <a:rPr lang="en-US" altLang="zh-CN" sz="2200" b="0" i="1" smtClean="0">
                          <a:latin typeface="Cambria Math" panose="02040503050406030204" pitchFamily="18" charset="0"/>
                          <a:ea typeface="Microsoft YaHei" charset="0"/>
                        </a:rPr>
                        <m:t>+(</m:t>
                      </m:r>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𝐻</m:t>
                          </m:r>
                        </m:e>
                        <m:sub>
                          <m:r>
                            <a:rPr lang="en-US" altLang="zh-CN" sz="2200" i="1">
                              <a:latin typeface="Cambria Math" panose="02040503050406030204" pitchFamily="18" charset="0"/>
                              <a:ea typeface="Microsoft YaHei" charset="0"/>
                            </a:rPr>
                            <m:t>𝑗</m:t>
                          </m:r>
                        </m:sub>
                      </m:sSub>
                      <m:r>
                        <a:rPr lang="en-US" altLang="zh-CN" sz="2200" b="0" i="1" smtClean="0">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𝜆</m:t>
                      </m:r>
                      <m:r>
                        <a:rPr lang="en-US" altLang="zh-CN" sz="2200" b="0" i="1" smtClean="0">
                          <a:latin typeface="Cambria Math" panose="02040503050406030204" pitchFamily="18" charset="0"/>
                          <a:ea typeface="Microsoft YaHei" charset="0"/>
                        </a:rPr>
                        <m:t>)</m:t>
                      </m:r>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oMath>
                  </m:oMathPara>
                </a14:m>
                <a:endParaRPr lang="zh-CN" altLang="en-US" sz="2200" dirty="0">
                  <a:ea typeface="Microsoft YaHei"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1692216" y="4702482"/>
                <a:ext cx="3051861" cy="75251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4779822" y="4882599"/>
                <a:ext cx="732380"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box>
                        <m:boxPr>
                          <m:ctrlPr>
                            <a:rPr lang="en-US" altLang="zh-CN" sz="2200" i="1" smtClean="0">
                              <a:latin typeface="Cambria Math" panose="02040503050406030204" pitchFamily="18" charset="0"/>
                              <a:ea typeface="Microsoft YaHei" charset="0"/>
                            </a:rPr>
                          </m:ctrlPr>
                        </m:boxPr>
                        <m:e>
                          <m:r>
                            <a:rPr lang="en-US" altLang="zh-CN" sz="2200" i="1">
                              <a:latin typeface="Cambria Math" panose="02040503050406030204" pitchFamily="18" charset="0"/>
                              <a:ea typeface="Microsoft YaHei" charset="0"/>
                            </a:rPr>
                            <m:t>==</m:t>
                          </m:r>
                        </m:e>
                      </m:box>
                      <m:r>
                        <a:rPr lang="en-US" altLang="zh-CN" sz="2200" i="1">
                          <a:latin typeface="Cambria Math" panose="02040503050406030204" pitchFamily="18" charset="0"/>
                          <a:ea typeface="Microsoft YaHei" charset="0"/>
                        </a:rPr>
                        <m:t>0</m:t>
                      </m:r>
                    </m:oMath>
                  </m:oMathPara>
                </a14:m>
                <a:endParaRPr lang="zh-CN" altLang="en-US" sz="2200" dirty="0">
                  <a:ea typeface="Microsoft YaHei"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4779822" y="4882599"/>
                <a:ext cx="732380" cy="338554"/>
              </a:xfrm>
              <a:prstGeom prst="rect">
                <a:avLst/>
              </a:prstGeom>
              <a:blipFill>
                <a:blip r:embed="rId7"/>
                <a:stretch>
                  <a:fillRect l="-2500" r="-7500" b="-10909"/>
                </a:stretch>
              </a:blipFill>
            </p:spPr>
            <p:txBody>
              <a:bodyPr/>
              <a:lstStyle/>
              <a:p>
                <a:r>
                  <a:rPr lang="zh-CN" altLang="en-US">
                    <a:noFill/>
                  </a:rPr>
                  <a:t> </a:t>
                </a:r>
              </a:p>
            </p:txBody>
          </p:sp>
        </mc:Fallback>
      </mc:AlternateContent>
      <p:sp>
        <p:nvSpPr>
          <p:cNvPr id="13" name="下箭头 12"/>
          <p:cNvSpPr/>
          <p:nvPr/>
        </p:nvSpPr>
        <p:spPr>
          <a:xfrm>
            <a:off x="2139405" y="5520737"/>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ea typeface="Microsoft YaHei" charset="0"/>
            </a:endParaRPr>
          </a:p>
        </p:txBody>
      </p:sp>
      <mc:AlternateContent xmlns:mc="http://schemas.openxmlformats.org/markup-compatibility/2006" xmlns:a14="http://schemas.microsoft.com/office/drawing/2010/main">
        <mc:Choice Requires="a14">
          <p:sp>
            <p:nvSpPr>
              <p:cNvPr id="14" name="文本框 13"/>
              <p:cNvSpPr txBox="1"/>
              <p:nvPr/>
            </p:nvSpPr>
            <p:spPr>
              <a:xfrm>
                <a:off x="1678942" y="5890742"/>
                <a:ext cx="1755673" cy="7412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r>
                        <a:rPr lang="en-US" altLang="zh-CN" sz="2200" b="0" i="1" smtClean="0">
                          <a:latin typeface="Cambria Math" panose="02040503050406030204" pitchFamily="18" charset="0"/>
                          <a:ea typeface="Microsoft YaHei" charset="0"/>
                        </a:rPr>
                        <m:t>=−</m:t>
                      </m:r>
                      <m:f>
                        <m:fPr>
                          <m:ctrlPr>
                            <a:rPr lang="en-US" altLang="zh-CN" sz="2200" b="0" i="1" smtClean="0">
                              <a:latin typeface="Cambria Math" panose="02040503050406030204" pitchFamily="18" charset="0"/>
                              <a:ea typeface="Microsoft YaHei" charset="0"/>
                            </a:rPr>
                          </m:ctrlPr>
                        </m:fPr>
                        <m:num>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𝐺</m:t>
                              </m:r>
                            </m:e>
                            <m:sub>
                              <m:r>
                                <a:rPr lang="en-US" altLang="zh-CN" sz="2200" i="1">
                                  <a:latin typeface="Cambria Math" panose="02040503050406030204" pitchFamily="18" charset="0"/>
                                  <a:ea typeface="Microsoft YaHei" charset="0"/>
                                </a:rPr>
                                <m:t>𝑗</m:t>
                              </m:r>
                            </m:sub>
                          </m:sSub>
                        </m:num>
                        <m:den>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𝐻</m:t>
                              </m:r>
                            </m:e>
                            <m:sub>
                              <m:r>
                                <a:rPr lang="en-US" altLang="zh-CN" sz="2200" i="1">
                                  <a:latin typeface="Cambria Math" panose="02040503050406030204" pitchFamily="18" charset="0"/>
                                  <a:ea typeface="Microsoft YaHei" charset="0"/>
                                </a:rPr>
                                <m:t>𝑗</m:t>
                              </m:r>
                            </m:sub>
                          </m:sSub>
                          <m:r>
                            <a:rPr lang="en-US" altLang="zh-CN" sz="2200" i="1">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𝜆</m:t>
                          </m:r>
                        </m:den>
                      </m:f>
                    </m:oMath>
                  </m:oMathPara>
                </a14:m>
                <a:endParaRPr lang="zh-CN" altLang="en-US" sz="2200" dirty="0">
                  <a:ea typeface="Microsoft YaHei" charset="0"/>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1678942" y="5890742"/>
                <a:ext cx="1755673" cy="741229"/>
              </a:xfrm>
              <a:prstGeom prst="rect">
                <a:avLst/>
              </a:prstGeom>
              <a:blipFill>
                <a:blip r:embed="rId8"/>
                <a:stretch>
                  <a:fillRect/>
                </a:stretch>
              </a:blipFill>
            </p:spPr>
            <p:txBody>
              <a:bodyPr/>
              <a:lstStyle/>
              <a:p>
                <a:r>
                  <a:rPr lang="zh-CN" altLang="en-US">
                    <a:noFill/>
                  </a:rPr>
                  <a:t> </a:t>
                </a:r>
              </a:p>
            </p:txBody>
          </p:sp>
        </mc:Fallback>
      </mc:AlternateContent>
      <p:sp>
        <p:nvSpPr>
          <p:cNvPr id="16" name="上弧形箭头 15"/>
          <p:cNvSpPr/>
          <p:nvPr/>
        </p:nvSpPr>
        <p:spPr>
          <a:xfrm rot="16200000">
            <a:off x="-36654" y="4644562"/>
            <a:ext cx="2541554" cy="731520"/>
          </a:xfrm>
          <a:prstGeom prst="curvedDownArrow">
            <a:avLst>
              <a:gd name="adj1" fmla="val 5293"/>
              <a:gd name="adj2" fmla="val 50000"/>
              <a:gd name="adj3" fmla="val 23859"/>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solidFill>
                <a:schemeClr val="tx1"/>
              </a:solidFill>
              <a:ea typeface="Microsoft YaHei" charset="0"/>
            </a:endParaRPr>
          </a:p>
        </p:txBody>
      </p:sp>
      <mc:AlternateContent xmlns:mc="http://schemas.openxmlformats.org/markup-compatibility/2006" xmlns:a14="http://schemas.microsoft.com/office/drawing/2010/main">
        <mc:Choice Requires="a14">
          <p:sp>
            <p:nvSpPr>
              <p:cNvPr id="17" name="文本框 16"/>
              <p:cNvSpPr txBox="1"/>
              <p:nvPr/>
            </p:nvSpPr>
            <p:spPr>
              <a:xfrm>
                <a:off x="7483076" y="3463388"/>
                <a:ext cx="2669385" cy="990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ea typeface="Microsoft YaHei" charset="0"/>
                        </a:rPr>
                        <m:t>=−</m:t>
                      </m:r>
                      <m:f>
                        <m:fPr>
                          <m:ctrlPr>
                            <a:rPr lang="en-US" altLang="zh-CN" sz="2200" b="0" i="1" smtClean="0">
                              <a:latin typeface="Cambria Math" panose="02040503050406030204" pitchFamily="18" charset="0"/>
                              <a:ea typeface="Microsoft YaHei" charset="0"/>
                            </a:rPr>
                          </m:ctrlPr>
                        </m:fPr>
                        <m:num>
                          <m:r>
                            <a:rPr lang="en-US" altLang="zh-CN" sz="2200" b="0" i="1" smtClean="0">
                              <a:latin typeface="Cambria Math" panose="02040503050406030204" pitchFamily="18" charset="0"/>
                              <a:ea typeface="Microsoft YaHei" charset="0"/>
                            </a:rPr>
                            <m:t>1</m:t>
                          </m:r>
                        </m:num>
                        <m:den>
                          <m:r>
                            <a:rPr lang="en-US" altLang="zh-CN" sz="2200" b="0" i="1" smtClean="0">
                              <a:latin typeface="Cambria Math" panose="02040503050406030204" pitchFamily="18" charset="0"/>
                              <a:ea typeface="Microsoft YaHei" charset="0"/>
                            </a:rPr>
                            <m:t>2</m:t>
                          </m:r>
                        </m:den>
                      </m:f>
                      <m:nary>
                        <m:naryPr>
                          <m:chr m:val="∑"/>
                          <m:ctrlPr>
                            <a:rPr lang="en-US" altLang="zh-CN" sz="2200" b="0" i="1" smtClean="0">
                              <a:latin typeface="Cambria Math" panose="02040503050406030204" pitchFamily="18" charset="0"/>
                              <a:ea typeface="Microsoft YaHei" charset="0"/>
                            </a:rPr>
                          </m:ctrlPr>
                        </m:naryPr>
                        <m:sub>
                          <m:r>
                            <m:rPr>
                              <m:brk m:alnAt="23"/>
                            </m:rPr>
                            <a:rPr lang="en-US" altLang="zh-CN" sz="2200" b="0" i="1" smtClean="0">
                              <a:latin typeface="Cambria Math" panose="02040503050406030204" pitchFamily="18" charset="0"/>
                              <a:ea typeface="Microsoft YaHei" charset="0"/>
                            </a:rPr>
                            <m:t>𝑗</m:t>
                          </m:r>
                          <m:r>
                            <a:rPr lang="en-US" altLang="zh-CN" sz="2200" b="0" i="1" smtClean="0">
                              <a:latin typeface="Cambria Math" panose="02040503050406030204" pitchFamily="18" charset="0"/>
                              <a:ea typeface="Microsoft YaHei" charset="0"/>
                            </a:rPr>
                            <m:t>=1</m:t>
                          </m:r>
                        </m:sub>
                        <m:sup>
                          <m:r>
                            <a:rPr lang="en-US" altLang="zh-CN" sz="2200" b="0" i="1" smtClean="0">
                              <a:latin typeface="Cambria Math" panose="02040503050406030204" pitchFamily="18" charset="0"/>
                              <a:ea typeface="Microsoft YaHei" charset="0"/>
                            </a:rPr>
                            <m:t>𝑇</m:t>
                          </m:r>
                        </m:sup>
                        <m:e>
                          <m:f>
                            <m:fPr>
                              <m:ctrlPr>
                                <a:rPr lang="en-US" altLang="zh-CN" sz="2200" i="1">
                                  <a:latin typeface="Cambria Math" panose="02040503050406030204" pitchFamily="18" charset="0"/>
                                  <a:ea typeface="Microsoft YaHei" charset="0"/>
                                </a:rPr>
                              </m:ctrlPr>
                            </m:fPr>
                            <m:num>
                              <m:sSup>
                                <m:sSupPr>
                                  <m:ctrlPr>
                                    <a:rPr lang="en-US" altLang="zh-CN" sz="2200" i="1" smtClean="0">
                                      <a:latin typeface="Cambria Math" panose="02040503050406030204" pitchFamily="18" charset="0"/>
                                      <a:ea typeface="Microsoft YaHei" charset="0"/>
                                    </a:rPr>
                                  </m:ctrlPr>
                                </m:sSup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𝐺</m:t>
                                      </m:r>
                                    </m:e>
                                    <m:sub>
                                      <m:r>
                                        <a:rPr lang="en-US" altLang="zh-CN" sz="2200" i="1">
                                          <a:latin typeface="Cambria Math" panose="02040503050406030204" pitchFamily="18" charset="0"/>
                                          <a:ea typeface="Microsoft YaHei" charset="0"/>
                                        </a:rPr>
                                        <m:t>𝑗</m:t>
                                      </m:r>
                                    </m:sub>
                                  </m:sSub>
                                </m:e>
                                <m:sup>
                                  <m:r>
                                    <a:rPr lang="en-US" altLang="zh-CN" sz="2200" b="0" i="1" smtClean="0">
                                      <a:latin typeface="Cambria Math" panose="02040503050406030204" pitchFamily="18" charset="0"/>
                                      <a:ea typeface="Microsoft YaHei" charset="0"/>
                                    </a:rPr>
                                    <m:t>2</m:t>
                                  </m:r>
                                </m:sup>
                              </m:sSup>
                            </m:num>
                            <m:den>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𝐻</m:t>
                                  </m:r>
                                </m:e>
                                <m:sub>
                                  <m:r>
                                    <a:rPr lang="en-US" altLang="zh-CN" sz="2200" i="1">
                                      <a:latin typeface="Cambria Math" panose="02040503050406030204" pitchFamily="18" charset="0"/>
                                      <a:ea typeface="Microsoft YaHei" charset="0"/>
                                    </a:rPr>
                                    <m:t>𝑗</m:t>
                                  </m:r>
                                </m:sub>
                              </m:sSub>
                              <m:r>
                                <a:rPr lang="en-US" altLang="zh-CN" sz="2200" i="1">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𝜆</m:t>
                              </m:r>
                            </m:den>
                          </m:f>
                        </m:e>
                      </m:nary>
                      <m:r>
                        <a:rPr lang="en-US" altLang="zh-CN" sz="2200" i="1">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𝛾</m:t>
                      </m:r>
                      <m:r>
                        <a:rPr lang="en-US" altLang="zh-CN" sz="2200" i="1">
                          <a:latin typeface="Cambria Math" panose="02040503050406030204" pitchFamily="18" charset="0"/>
                          <a:ea typeface="Cambria Math" panose="02040503050406030204" pitchFamily="18" charset="0"/>
                        </a:rPr>
                        <m:t>𝑇</m:t>
                      </m:r>
                    </m:oMath>
                  </m:oMathPara>
                </a14:m>
                <a:endParaRPr lang="zh-CN" altLang="en-US" sz="2200" dirty="0">
                  <a:ea typeface="Microsoft YaHei" charset="0"/>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7483076" y="3463388"/>
                <a:ext cx="2669385" cy="990207"/>
              </a:xfrm>
              <a:prstGeom prst="rect">
                <a:avLst/>
              </a:prstGeom>
              <a:blipFill>
                <a:blip r:embed="rId9"/>
                <a:stretch>
                  <a:fillRect/>
                </a:stretch>
              </a:blipFill>
            </p:spPr>
            <p:txBody>
              <a:bodyPr/>
              <a:lstStyle/>
              <a:p>
                <a:r>
                  <a:rPr lang="zh-CN" altLang="en-US">
                    <a:noFill/>
                  </a:rPr>
                  <a:t> </a:t>
                </a:r>
              </a:p>
            </p:txBody>
          </p:sp>
        </mc:Fallback>
      </mc:AlternateContent>
      <p:sp>
        <p:nvSpPr>
          <p:cNvPr id="18" name="圆角矩形 17"/>
          <p:cNvSpPr/>
          <p:nvPr/>
        </p:nvSpPr>
        <p:spPr>
          <a:xfrm>
            <a:off x="7762328" y="3440004"/>
            <a:ext cx="2809519" cy="1057342"/>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ea typeface="Microsoft YaHei" charset="0"/>
            </a:endParaRPr>
          </a:p>
        </p:txBody>
      </p:sp>
      <p:sp>
        <p:nvSpPr>
          <p:cNvPr id="2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Rectangle 2">
            <a:extLst>
              <a:ext uri="{FF2B5EF4-FFF2-40B4-BE49-F238E27FC236}">
                <a16:creationId xmlns:a16="http://schemas.microsoft.com/office/drawing/2014/main" id="{704B7A34-64A2-490A-B00A-541846A1411F}"/>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3.XGBoost</a:t>
            </a:r>
            <a:endParaRPr lang="zh-CN" altLang="en-US" dirty="0">
              <a:solidFill>
                <a:schemeClr val="tx1"/>
              </a:solidFill>
            </a:endParaRPr>
          </a:p>
        </p:txBody>
      </p:sp>
    </p:spTree>
    <p:extLst>
      <p:ext uri="{BB962C8B-B14F-4D97-AF65-F5344CB8AC3E}">
        <p14:creationId xmlns:p14="http://schemas.microsoft.com/office/powerpoint/2010/main" val="2451545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Effect transition="in" filter="fade">
                                      <p:cBhvr>
                                        <p:cTn id="40" dur="500"/>
                                        <p:tgtEl>
                                          <p:spTgt spid="1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ppt_w</p:attrName>
                                        </p:attrNameLst>
                                      </p:cBhvr>
                                      <p:tavLst>
                                        <p:tav tm="0">
                                          <p:val>
                                            <p:fltVal val="0"/>
                                          </p:val>
                                        </p:tav>
                                        <p:tav tm="100000">
                                          <p:val>
                                            <p:strVal val="#ppt_w"/>
                                          </p:val>
                                        </p:tav>
                                      </p:tavLst>
                                    </p:anim>
                                    <p:anim calcmode="lin" valueType="num">
                                      <p:cBhvr>
                                        <p:cTn id="44" dur="500" fill="hold"/>
                                        <p:tgtEl>
                                          <p:spTgt spid="9"/>
                                        </p:tgtEl>
                                        <p:attrNameLst>
                                          <p:attrName>ppt_h</p:attrName>
                                        </p:attrNameLst>
                                      </p:cBhvr>
                                      <p:tavLst>
                                        <p:tav tm="0">
                                          <p:val>
                                            <p:fltVal val="0"/>
                                          </p:val>
                                        </p:tav>
                                        <p:tav tm="100000">
                                          <p:val>
                                            <p:strVal val="#ppt_h"/>
                                          </p:val>
                                        </p:tav>
                                      </p:tavLst>
                                    </p:anim>
                                    <p:animEffect transition="in" filter="fade">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00" fill="hold"/>
                                        <p:tgtEl>
                                          <p:spTgt spid="11"/>
                                        </p:tgtEl>
                                        <p:attrNameLst>
                                          <p:attrName>ppt_w</p:attrName>
                                        </p:attrNameLst>
                                      </p:cBhvr>
                                      <p:tavLst>
                                        <p:tav tm="0">
                                          <p:val>
                                            <p:fltVal val="0"/>
                                          </p:val>
                                        </p:tav>
                                        <p:tav tm="100000">
                                          <p:val>
                                            <p:strVal val="#ppt_w"/>
                                          </p:val>
                                        </p:tav>
                                      </p:tavLst>
                                    </p:anim>
                                    <p:anim calcmode="lin" valueType="num">
                                      <p:cBhvr>
                                        <p:cTn id="51" dur="500" fill="hold"/>
                                        <p:tgtEl>
                                          <p:spTgt spid="11"/>
                                        </p:tgtEl>
                                        <p:attrNameLst>
                                          <p:attrName>ppt_h</p:attrName>
                                        </p:attrNameLst>
                                      </p:cBhvr>
                                      <p:tavLst>
                                        <p:tav tm="0">
                                          <p:val>
                                            <p:fltVal val="0"/>
                                          </p:val>
                                        </p:tav>
                                        <p:tav tm="100000">
                                          <p:val>
                                            <p:strVal val="#ppt_h"/>
                                          </p:val>
                                        </p:tav>
                                      </p:tavLst>
                                    </p:anim>
                                    <p:animEffect transition="in" filter="fade">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500" fill="hold"/>
                                        <p:tgtEl>
                                          <p:spTgt spid="12"/>
                                        </p:tgtEl>
                                        <p:attrNameLst>
                                          <p:attrName>ppt_w</p:attrName>
                                        </p:attrNameLst>
                                      </p:cBhvr>
                                      <p:tavLst>
                                        <p:tav tm="0">
                                          <p:val>
                                            <p:fltVal val="0"/>
                                          </p:val>
                                        </p:tav>
                                        <p:tav tm="100000">
                                          <p:val>
                                            <p:strVal val="#ppt_w"/>
                                          </p:val>
                                        </p:tav>
                                      </p:tavLst>
                                    </p:anim>
                                    <p:anim calcmode="lin" valueType="num">
                                      <p:cBhvr>
                                        <p:cTn id="58" dur="500" fill="hold"/>
                                        <p:tgtEl>
                                          <p:spTgt spid="12"/>
                                        </p:tgtEl>
                                        <p:attrNameLst>
                                          <p:attrName>ppt_h</p:attrName>
                                        </p:attrNameLst>
                                      </p:cBhvr>
                                      <p:tavLst>
                                        <p:tav tm="0">
                                          <p:val>
                                            <p:fltVal val="0"/>
                                          </p:val>
                                        </p:tav>
                                        <p:tav tm="100000">
                                          <p:val>
                                            <p:strVal val="#ppt_h"/>
                                          </p:val>
                                        </p:tav>
                                      </p:tavLst>
                                    </p:anim>
                                    <p:animEffect transition="in" filter="fade">
                                      <p:cBhvr>
                                        <p:cTn id="59" dur="5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13"/>
                                        </p:tgtEl>
                                        <p:attrNameLst>
                                          <p:attrName>style.visibility</p:attrName>
                                        </p:attrNameLst>
                                      </p:cBhvr>
                                      <p:to>
                                        <p:strVal val="visible"/>
                                      </p:to>
                                    </p:set>
                                    <p:anim calcmode="lin" valueType="num">
                                      <p:cBhvr>
                                        <p:cTn id="64" dur="500" fill="hold"/>
                                        <p:tgtEl>
                                          <p:spTgt spid="13"/>
                                        </p:tgtEl>
                                        <p:attrNameLst>
                                          <p:attrName>ppt_w</p:attrName>
                                        </p:attrNameLst>
                                      </p:cBhvr>
                                      <p:tavLst>
                                        <p:tav tm="0">
                                          <p:val>
                                            <p:fltVal val="0"/>
                                          </p:val>
                                        </p:tav>
                                        <p:tav tm="100000">
                                          <p:val>
                                            <p:strVal val="#ppt_w"/>
                                          </p:val>
                                        </p:tav>
                                      </p:tavLst>
                                    </p:anim>
                                    <p:anim calcmode="lin" valueType="num">
                                      <p:cBhvr>
                                        <p:cTn id="65" dur="500" fill="hold"/>
                                        <p:tgtEl>
                                          <p:spTgt spid="13"/>
                                        </p:tgtEl>
                                        <p:attrNameLst>
                                          <p:attrName>ppt_h</p:attrName>
                                        </p:attrNameLst>
                                      </p:cBhvr>
                                      <p:tavLst>
                                        <p:tav tm="0">
                                          <p:val>
                                            <p:fltVal val="0"/>
                                          </p:val>
                                        </p:tav>
                                        <p:tav tm="100000">
                                          <p:val>
                                            <p:strVal val="#ppt_h"/>
                                          </p:val>
                                        </p:tav>
                                      </p:tavLst>
                                    </p:anim>
                                    <p:animEffect transition="in" filter="fade">
                                      <p:cBhvr>
                                        <p:cTn id="66" dur="500"/>
                                        <p:tgtEl>
                                          <p:spTgt spid="13"/>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 calcmode="lin" valueType="num">
                                      <p:cBhvr>
                                        <p:cTn id="69" dur="500" fill="hold"/>
                                        <p:tgtEl>
                                          <p:spTgt spid="14"/>
                                        </p:tgtEl>
                                        <p:attrNameLst>
                                          <p:attrName>ppt_w</p:attrName>
                                        </p:attrNameLst>
                                      </p:cBhvr>
                                      <p:tavLst>
                                        <p:tav tm="0">
                                          <p:val>
                                            <p:fltVal val="0"/>
                                          </p:val>
                                        </p:tav>
                                        <p:tav tm="100000">
                                          <p:val>
                                            <p:strVal val="#ppt_w"/>
                                          </p:val>
                                        </p:tav>
                                      </p:tavLst>
                                    </p:anim>
                                    <p:anim calcmode="lin" valueType="num">
                                      <p:cBhvr>
                                        <p:cTn id="70" dur="500" fill="hold"/>
                                        <p:tgtEl>
                                          <p:spTgt spid="14"/>
                                        </p:tgtEl>
                                        <p:attrNameLst>
                                          <p:attrName>ppt_h</p:attrName>
                                        </p:attrNameLst>
                                      </p:cBhvr>
                                      <p:tavLst>
                                        <p:tav tm="0">
                                          <p:val>
                                            <p:fltVal val="0"/>
                                          </p:val>
                                        </p:tav>
                                        <p:tav tm="100000">
                                          <p:val>
                                            <p:strVal val="#ppt_h"/>
                                          </p:val>
                                        </p:tav>
                                      </p:tavLst>
                                    </p:anim>
                                    <p:animEffect transition="in" filter="fade">
                                      <p:cBhvr>
                                        <p:cTn id="71" dur="500"/>
                                        <p:tgtEl>
                                          <p:spTgt spid="14"/>
                                        </p:tgtEl>
                                      </p:cBhvr>
                                    </p:animEffect>
                                  </p:childTnLst>
                                </p:cTn>
                              </p:par>
                            </p:childTnLst>
                          </p:cTn>
                        </p:par>
                      </p:childTnLst>
                    </p:cTn>
                  </p:par>
                  <p:par>
                    <p:cTn id="72" fill="hold">
                      <p:stCondLst>
                        <p:cond delay="indefinite"/>
                      </p:stCondLst>
                      <p:childTnLst>
                        <p:par>
                          <p:cTn id="73" fill="hold">
                            <p:stCondLst>
                              <p:cond delay="0"/>
                            </p:stCondLst>
                            <p:childTnLst>
                              <p:par>
                                <p:cTn id="74" presetID="14" presetClass="entr" presetSubtype="10"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randombar(horizontal)">
                                      <p:cBhvr>
                                        <p:cTn id="76" dur="500"/>
                                        <p:tgtEl>
                                          <p:spTgt spid="16"/>
                                        </p:tgtEl>
                                      </p:cBhvr>
                                    </p:animEffect>
                                  </p:childTnLst>
                                </p:cTn>
                              </p:par>
                            </p:childTnLst>
                          </p:cTn>
                        </p:par>
                      </p:childTnLst>
                    </p:cTn>
                  </p:par>
                  <p:par>
                    <p:cTn id="77" fill="hold">
                      <p:stCondLst>
                        <p:cond delay="indefinite"/>
                      </p:stCondLst>
                      <p:childTnLst>
                        <p:par>
                          <p:cTn id="78" fill="hold">
                            <p:stCondLst>
                              <p:cond delay="0"/>
                            </p:stCondLst>
                            <p:childTnLst>
                              <p:par>
                                <p:cTn id="79" presetID="53" presetClass="entr" presetSubtype="16" fill="hold" grpId="0" nodeType="clickEffect">
                                  <p:stCondLst>
                                    <p:cond delay="0"/>
                                  </p:stCondLst>
                                  <p:childTnLst>
                                    <p:set>
                                      <p:cBhvr>
                                        <p:cTn id="80" dur="1" fill="hold">
                                          <p:stCondLst>
                                            <p:cond delay="0"/>
                                          </p:stCondLst>
                                        </p:cTn>
                                        <p:tgtEl>
                                          <p:spTgt spid="17"/>
                                        </p:tgtEl>
                                        <p:attrNameLst>
                                          <p:attrName>style.visibility</p:attrName>
                                        </p:attrNameLst>
                                      </p:cBhvr>
                                      <p:to>
                                        <p:strVal val="visible"/>
                                      </p:to>
                                    </p:set>
                                    <p:anim calcmode="lin" valueType="num">
                                      <p:cBhvr>
                                        <p:cTn id="81" dur="500" fill="hold"/>
                                        <p:tgtEl>
                                          <p:spTgt spid="17"/>
                                        </p:tgtEl>
                                        <p:attrNameLst>
                                          <p:attrName>ppt_w</p:attrName>
                                        </p:attrNameLst>
                                      </p:cBhvr>
                                      <p:tavLst>
                                        <p:tav tm="0">
                                          <p:val>
                                            <p:fltVal val="0"/>
                                          </p:val>
                                        </p:tav>
                                        <p:tav tm="100000">
                                          <p:val>
                                            <p:strVal val="#ppt_w"/>
                                          </p:val>
                                        </p:tav>
                                      </p:tavLst>
                                    </p:anim>
                                    <p:anim calcmode="lin" valueType="num">
                                      <p:cBhvr>
                                        <p:cTn id="82" dur="500" fill="hold"/>
                                        <p:tgtEl>
                                          <p:spTgt spid="17"/>
                                        </p:tgtEl>
                                        <p:attrNameLst>
                                          <p:attrName>ppt_h</p:attrName>
                                        </p:attrNameLst>
                                      </p:cBhvr>
                                      <p:tavLst>
                                        <p:tav tm="0">
                                          <p:val>
                                            <p:fltVal val="0"/>
                                          </p:val>
                                        </p:tav>
                                        <p:tav tm="100000">
                                          <p:val>
                                            <p:strVal val="#ppt_h"/>
                                          </p:val>
                                        </p:tav>
                                      </p:tavLst>
                                    </p:anim>
                                    <p:animEffect transition="in" filter="fade">
                                      <p:cBhvr>
                                        <p:cTn id="83" dur="500"/>
                                        <p:tgtEl>
                                          <p:spTgt spid="17"/>
                                        </p:tgtEl>
                                      </p:cBhvr>
                                    </p:animEffect>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18"/>
                                        </p:tgtEl>
                                        <p:attrNameLst>
                                          <p:attrName>style.visibility</p:attrName>
                                        </p:attrNameLst>
                                      </p:cBhvr>
                                      <p:to>
                                        <p:strVal val="visible"/>
                                      </p:to>
                                    </p:set>
                                    <p:anim calcmode="lin" valueType="num">
                                      <p:cBhvr additive="base">
                                        <p:cTn id="88" dur="500" fill="hold"/>
                                        <p:tgtEl>
                                          <p:spTgt spid="18"/>
                                        </p:tgtEl>
                                        <p:attrNameLst>
                                          <p:attrName>ppt_x</p:attrName>
                                        </p:attrNameLst>
                                      </p:cBhvr>
                                      <p:tavLst>
                                        <p:tav tm="0">
                                          <p:val>
                                            <p:strVal val="#ppt_x"/>
                                          </p:val>
                                        </p:tav>
                                        <p:tav tm="100000">
                                          <p:val>
                                            <p:strVal val="#ppt_x"/>
                                          </p:val>
                                        </p:tav>
                                      </p:tavLst>
                                    </p:anim>
                                    <p:anim calcmode="lin" valueType="num">
                                      <p:cBhvr additive="base">
                                        <p:cTn id="8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P spid="10" grpId="0" animBg="1"/>
      <p:bldP spid="11" grpId="0"/>
      <p:bldP spid="12" grpId="0"/>
      <p:bldP spid="13" grpId="0" animBg="1"/>
      <p:bldP spid="14" grpId="0"/>
      <p:bldP spid="16" grpId="0" animBg="1"/>
      <p:bldP spid="17" grpId="0"/>
      <p:bldP spid="1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3101372" y="4361086"/>
                <a:ext cx="2837893" cy="1179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𝑂𝑏𝑗</m:t>
                      </m:r>
                      <m:r>
                        <a:rPr lang="en-US" altLang="zh-CN" i="1">
                          <a:latin typeface="Cambria Math" panose="02040503050406030204" pitchFamily="18" charset="0"/>
                          <a:ea typeface="Microsoft YaHei" charset="0"/>
                        </a:rPr>
                        <m:t>=−</m:t>
                      </m:r>
                      <m:f>
                        <m:fPr>
                          <m:ctrlPr>
                            <a:rPr lang="en-US" altLang="zh-CN" i="1">
                              <a:latin typeface="Cambria Math" panose="02040503050406030204" pitchFamily="18" charset="0"/>
                              <a:ea typeface="Microsoft YaHei" charset="0"/>
                            </a:rPr>
                          </m:ctrlPr>
                        </m:fPr>
                        <m:num>
                          <m:r>
                            <a:rPr lang="en-US" altLang="zh-CN" i="1">
                              <a:latin typeface="Cambria Math" panose="02040503050406030204" pitchFamily="18" charset="0"/>
                              <a:ea typeface="Microsoft YaHei" charset="0"/>
                            </a:rPr>
                            <m:t>1</m:t>
                          </m:r>
                        </m:num>
                        <m:den>
                          <m:r>
                            <a:rPr lang="en-US" altLang="zh-CN" i="1">
                              <a:latin typeface="Cambria Math" panose="02040503050406030204" pitchFamily="18" charset="0"/>
                              <a:ea typeface="Microsoft YaHei" charset="0"/>
                            </a:rPr>
                            <m:t>2</m:t>
                          </m:r>
                        </m:den>
                      </m:f>
                      <m:nary>
                        <m:naryPr>
                          <m:chr m:val="∑"/>
                          <m:ctrlPr>
                            <a:rPr lang="en-US" altLang="zh-CN" i="1">
                              <a:latin typeface="Cambria Math" panose="02040503050406030204" pitchFamily="18" charset="0"/>
                              <a:ea typeface="Microsoft YaHei" charset="0"/>
                            </a:rPr>
                          </m:ctrlPr>
                        </m:naryPr>
                        <m:sub>
                          <m:r>
                            <m:rPr>
                              <m:brk m:alnAt="23"/>
                            </m:rPr>
                            <a:rPr lang="en-US" altLang="zh-CN" i="1">
                              <a:latin typeface="Cambria Math" panose="02040503050406030204" pitchFamily="18" charset="0"/>
                              <a:ea typeface="Microsoft YaHei" charset="0"/>
                            </a:rPr>
                            <m:t>𝑗</m:t>
                          </m:r>
                          <m:r>
                            <a:rPr lang="en-US" altLang="zh-CN" i="1">
                              <a:latin typeface="Cambria Math" panose="02040503050406030204" pitchFamily="18" charset="0"/>
                              <a:ea typeface="Microsoft YaHei" charset="0"/>
                            </a:rPr>
                            <m:t>=1</m:t>
                          </m:r>
                        </m:sub>
                        <m:sup>
                          <m:r>
                            <a:rPr lang="en-US" altLang="zh-CN" i="1">
                              <a:latin typeface="Cambria Math" panose="02040503050406030204" pitchFamily="18" charset="0"/>
                              <a:ea typeface="Microsoft YaHei" charset="0"/>
                            </a:rPr>
                            <m:t>𝑇</m:t>
                          </m:r>
                        </m:sup>
                        <m:e>
                          <m:f>
                            <m:fPr>
                              <m:ctrlPr>
                                <a:rPr lang="en-US" altLang="zh-CN" i="1">
                                  <a:latin typeface="Cambria Math" panose="02040503050406030204" pitchFamily="18" charset="0"/>
                                  <a:ea typeface="Microsoft YaHei" charset="0"/>
                                </a:rPr>
                              </m:ctrlPr>
                            </m:fPr>
                            <m:num>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i="1">
                                          <a:latin typeface="Cambria Math" panose="02040503050406030204" pitchFamily="18" charset="0"/>
                                          <a:ea typeface="Microsoft YaHei" charset="0"/>
                                        </a:rPr>
                                        <m:t>𝑗</m:t>
                                      </m:r>
                                    </m:sub>
                                  </m:sSub>
                                </m:e>
                                <m:sup>
                                  <m:r>
                                    <a:rPr lang="en-US" altLang="zh-CN" i="1">
                                      <a:latin typeface="Cambria Math" panose="02040503050406030204" pitchFamily="18" charset="0"/>
                                      <a:ea typeface="Microsoft YaHei" charset="0"/>
                                    </a:rPr>
                                    <m:t>2</m:t>
                                  </m:r>
                                </m:sup>
                              </m:sSup>
                            </m:num>
                            <m:den>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i="1">
                                      <a:latin typeface="Cambria Math" panose="02040503050406030204" pitchFamily="18" charset="0"/>
                                      <a:ea typeface="Microsoft YaHei" charset="0"/>
                                    </a:rPr>
                                    <m:t>𝑗</m:t>
                                  </m:r>
                                </m:sub>
                              </m:sSub>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𝜆</m:t>
                              </m:r>
                            </m:den>
                          </m:f>
                        </m:e>
                      </m:nary>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𝛾</m:t>
                      </m:r>
                      <m:r>
                        <a:rPr lang="en-US" altLang="zh-CN" i="1">
                          <a:latin typeface="Cambria Math" panose="02040503050406030204" pitchFamily="18" charset="0"/>
                          <a:ea typeface="Cambria Math" panose="02040503050406030204" pitchFamily="18" charset="0"/>
                        </a:rPr>
                        <m:t>𝑇</m:t>
                      </m:r>
                    </m:oMath>
                  </m:oMathPara>
                </a14:m>
                <a:endParaRPr lang="zh-CN" altLang="en-US" dirty="0">
                  <a:ea typeface="Microsoft YaHei" charset="0"/>
                </a:endParaRPr>
              </a:p>
              <a:p>
                <a:endParaRPr lang="zh-CN" altLang="en-US" dirty="0">
                  <a:ea typeface="Microsoft YaHei"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101372" y="4361086"/>
                <a:ext cx="2837893" cy="1179554"/>
              </a:xfrm>
              <a:prstGeom prst="rect">
                <a:avLst/>
              </a:prstGeom>
              <a:blipFill>
                <a:blip r:embed="rId2"/>
                <a:stretch>
                  <a:fillRect r="-21720"/>
                </a:stretch>
              </a:blipFill>
            </p:spPr>
            <p:txBody>
              <a:bodyPr/>
              <a:lstStyle/>
              <a:p>
                <a:r>
                  <a:rPr lang="zh-CN" altLang="en-US">
                    <a:noFill/>
                  </a:rPr>
                  <a:t> </a:t>
                </a:r>
              </a:p>
            </p:txBody>
          </p:sp>
        </mc:Fallback>
      </mc:AlternateContent>
      <p:pic>
        <p:nvPicPr>
          <p:cNvPr id="5" name="图片 4"/>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775776" y="2036879"/>
            <a:ext cx="953134" cy="3276890"/>
          </a:xfrm>
          <a:prstGeom prst="rect">
            <a:avLst/>
          </a:prstGeom>
        </p:spPr>
      </p:pic>
      <p:pic>
        <p:nvPicPr>
          <p:cNvPr id="6" name="图片 5"/>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2044050" y="2036879"/>
            <a:ext cx="1057322" cy="3276890"/>
          </a:xfrm>
          <a:prstGeom prst="rect">
            <a:avLst/>
          </a:prstGeom>
        </p:spPr>
      </p:pic>
      <p:pic>
        <p:nvPicPr>
          <p:cNvPr id="7" name="图片 6"/>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tretch>
            <a:fillRect/>
          </a:stretch>
        </p:blipFill>
        <p:spPr>
          <a:xfrm>
            <a:off x="7173446" y="2036879"/>
            <a:ext cx="4063089" cy="2055688"/>
          </a:xfrm>
          <a:prstGeom prst="rect">
            <a:avLst/>
          </a:prstGeom>
        </p:spPr>
      </p:pic>
      <p:pic>
        <p:nvPicPr>
          <p:cNvPr id="8" name="图片 7"/>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Layer>
                </a14:imgProps>
              </a:ext>
              <a:ext uri="{28A0092B-C50C-407E-A947-70E740481C1C}">
                <a14:useLocalDpi xmlns:a14="http://schemas.microsoft.com/office/drawing/2010/main" val="0"/>
              </a:ext>
            </a:extLst>
          </a:blip>
          <a:stretch>
            <a:fillRect/>
          </a:stretch>
        </p:blipFill>
        <p:spPr>
          <a:xfrm>
            <a:off x="3350946" y="2038177"/>
            <a:ext cx="3363443" cy="2085665"/>
          </a:xfrm>
          <a:prstGeom prst="rect">
            <a:avLst/>
          </a:prstGeom>
        </p:spPr>
      </p:pic>
      <mc:AlternateContent xmlns:mc="http://schemas.openxmlformats.org/markup-compatibility/2006" xmlns:a14="http://schemas.microsoft.com/office/drawing/2010/main">
        <mc:Choice Requires="a14">
          <p:sp>
            <p:nvSpPr>
              <p:cNvPr id="9" name="矩形 8"/>
              <p:cNvSpPr/>
              <p:nvPr/>
            </p:nvSpPr>
            <p:spPr>
              <a:xfrm>
                <a:off x="7664387" y="4616080"/>
                <a:ext cx="2837893" cy="1179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Microsoft YaHei" charset="0"/>
                        </a:rPr>
                        <m:t>𝑂𝑏𝑗</m:t>
                      </m:r>
                      <m:r>
                        <a:rPr lang="en-US" altLang="zh-CN" i="1">
                          <a:latin typeface="Cambria Math" panose="02040503050406030204" pitchFamily="18" charset="0"/>
                          <a:ea typeface="Microsoft YaHei" charset="0"/>
                        </a:rPr>
                        <m:t>=−</m:t>
                      </m:r>
                      <m:f>
                        <m:fPr>
                          <m:ctrlPr>
                            <a:rPr lang="en-US" altLang="zh-CN" i="1">
                              <a:latin typeface="Cambria Math" panose="02040503050406030204" pitchFamily="18" charset="0"/>
                              <a:ea typeface="Microsoft YaHei" charset="0"/>
                            </a:rPr>
                          </m:ctrlPr>
                        </m:fPr>
                        <m:num>
                          <m:r>
                            <a:rPr lang="en-US" altLang="zh-CN" i="1">
                              <a:latin typeface="Cambria Math" panose="02040503050406030204" pitchFamily="18" charset="0"/>
                              <a:ea typeface="Microsoft YaHei" charset="0"/>
                            </a:rPr>
                            <m:t>1</m:t>
                          </m:r>
                        </m:num>
                        <m:den>
                          <m:r>
                            <a:rPr lang="en-US" altLang="zh-CN" i="1">
                              <a:latin typeface="Cambria Math" panose="02040503050406030204" pitchFamily="18" charset="0"/>
                              <a:ea typeface="Microsoft YaHei" charset="0"/>
                            </a:rPr>
                            <m:t>2</m:t>
                          </m:r>
                        </m:den>
                      </m:f>
                      <m:nary>
                        <m:naryPr>
                          <m:chr m:val="∑"/>
                          <m:ctrlPr>
                            <a:rPr lang="en-US" altLang="zh-CN" i="1">
                              <a:latin typeface="Cambria Math" panose="02040503050406030204" pitchFamily="18" charset="0"/>
                              <a:ea typeface="Microsoft YaHei" charset="0"/>
                            </a:rPr>
                          </m:ctrlPr>
                        </m:naryPr>
                        <m:sub>
                          <m:r>
                            <m:rPr>
                              <m:brk m:alnAt="23"/>
                            </m:rPr>
                            <a:rPr lang="en-US" altLang="zh-CN" i="1">
                              <a:latin typeface="Cambria Math" panose="02040503050406030204" pitchFamily="18" charset="0"/>
                              <a:ea typeface="Microsoft YaHei" charset="0"/>
                            </a:rPr>
                            <m:t>𝑗</m:t>
                          </m:r>
                          <m:r>
                            <a:rPr lang="en-US" altLang="zh-CN" i="1">
                              <a:latin typeface="Cambria Math" panose="02040503050406030204" pitchFamily="18" charset="0"/>
                              <a:ea typeface="Microsoft YaHei" charset="0"/>
                            </a:rPr>
                            <m:t>=1</m:t>
                          </m:r>
                        </m:sub>
                        <m:sup>
                          <m:r>
                            <a:rPr lang="en-US" altLang="zh-CN" i="1">
                              <a:latin typeface="Cambria Math" panose="02040503050406030204" pitchFamily="18" charset="0"/>
                              <a:ea typeface="Microsoft YaHei" charset="0"/>
                            </a:rPr>
                            <m:t>𝑇</m:t>
                          </m:r>
                        </m:sup>
                        <m:e>
                          <m:f>
                            <m:fPr>
                              <m:ctrlPr>
                                <a:rPr lang="en-US" altLang="zh-CN" i="1">
                                  <a:latin typeface="Cambria Math" panose="02040503050406030204" pitchFamily="18" charset="0"/>
                                  <a:ea typeface="Microsoft YaHei" charset="0"/>
                                </a:rPr>
                              </m:ctrlPr>
                            </m:fPr>
                            <m:num>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i="1">
                                          <a:latin typeface="Cambria Math" panose="02040503050406030204" pitchFamily="18" charset="0"/>
                                          <a:ea typeface="Microsoft YaHei" charset="0"/>
                                        </a:rPr>
                                        <m:t>𝑗</m:t>
                                      </m:r>
                                    </m:sub>
                                  </m:sSub>
                                </m:e>
                                <m:sup>
                                  <m:r>
                                    <a:rPr lang="en-US" altLang="zh-CN" i="1">
                                      <a:latin typeface="Cambria Math" panose="02040503050406030204" pitchFamily="18" charset="0"/>
                                      <a:ea typeface="Microsoft YaHei" charset="0"/>
                                    </a:rPr>
                                    <m:t>2</m:t>
                                  </m:r>
                                </m:sup>
                              </m:sSup>
                            </m:num>
                            <m:den>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i="1">
                                      <a:latin typeface="Cambria Math" panose="02040503050406030204" pitchFamily="18" charset="0"/>
                                      <a:ea typeface="Microsoft YaHei" charset="0"/>
                                    </a:rPr>
                                    <m:t>𝑗</m:t>
                                  </m:r>
                                </m:sub>
                              </m:sSub>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𝜆</m:t>
                              </m:r>
                            </m:den>
                          </m:f>
                        </m:e>
                      </m:nary>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3</m:t>
                      </m:r>
                      <m:r>
                        <a:rPr lang="zh-CN" altLang="en-US" i="1" smtClean="0">
                          <a:latin typeface="Cambria Math" panose="02040503050406030204" pitchFamily="18" charset="0"/>
                          <a:ea typeface="Cambria Math" panose="02040503050406030204" pitchFamily="18" charset="0"/>
                        </a:rPr>
                        <m:t>𝛾</m:t>
                      </m:r>
                    </m:oMath>
                  </m:oMathPara>
                </a14:m>
                <a:endParaRPr lang="zh-CN" altLang="en-US" dirty="0">
                  <a:ea typeface="Microsoft YaHei" charset="0"/>
                </a:endParaRPr>
              </a:p>
              <a:p>
                <a:endParaRPr lang="zh-CN" altLang="en-US" dirty="0">
                  <a:ea typeface="Microsoft YaHei"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7664387" y="4616080"/>
                <a:ext cx="2837893" cy="1179554"/>
              </a:xfrm>
              <a:prstGeom prst="rect">
                <a:avLst/>
              </a:prstGeom>
              <a:blipFill rotWithShape="0">
                <a:blip r:embed="rId11"/>
                <a:stretch>
                  <a:fillRect/>
                </a:stretch>
              </a:blipFill>
            </p:spPr>
            <p:txBody>
              <a:bodyPr/>
              <a:lstStyle/>
              <a:p>
                <a:r>
                  <a:rPr lang="zh-CN" altLang="en-US">
                    <a:noFill/>
                  </a:rPr>
                  <a:t> </a:t>
                </a:r>
                <a:endParaRPr lang="zh-CN" altLang="en-US">
                  <a:noFill/>
                </a:endParaRPr>
              </a:p>
            </p:txBody>
          </p:sp>
        </mc:Fallback>
      </mc:AlternateContent>
      <p:sp>
        <p:nvSpPr>
          <p:cNvPr id="10" name="下箭头 9"/>
          <p:cNvSpPr/>
          <p:nvPr/>
        </p:nvSpPr>
        <p:spPr>
          <a:xfrm>
            <a:off x="8917871" y="4235086"/>
            <a:ext cx="165463" cy="252000"/>
          </a:xfrm>
          <a:prstGeom prst="downArrow">
            <a:avLst/>
          </a:prstGeom>
          <a:solidFill>
            <a:srgbClr val="23BAC3"/>
          </a:solidFill>
          <a:ln>
            <a:solidFill>
              <a:srgbClr val="23BAC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11" name="文本框 10"/>
          <p:cNvSpPr txBox="1"/>
          <p:nvPr/>
        </p:nvSpPr>
        <p:spPr>
          <a:xfrm>
            <a:off x="7258958" y="5857482"/>
            <a:ext cx="4858013" cy="461665"/>
          </a:xfrm>
          <a:prstGeom prst="rect">
            <a:avLst/>
          </a:prstGeom>
          <a:noFill/>
        </p:spPr>
        <p:txBody>
          <a:bodyPr wrap="square" rtlCol="0">
            <a:spAutoFit/>
          </a:bodyPr>
          <a:lstStyle/>
          <a:p>
            <a:r>
              <a:rPr lang="zh-CN" altLang="en-US" dirty="0">
                <a:ea typeface="Microsoft YaHei" charset="0"/>
              </a:rPr>
              <a:t>分数越小，代表这个树的结构越好</a:t>
            </a:r>
          </a:p>
        </p:txBody>
      </p:sp>
      <p:sp>
        <p:nvSpPr>
          <p:cNvPr id="19"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Rectangle 2">
            <a:extLst>
              <a:ext uri="{FF2B5EF4-FFF2-40B4-BE49-F238E27FC236}">
                <a16:creationId xmlns:a16="http://schemas.microsoft.com/office/drawing/2014/main" id="{10D061B3-146E-4014-8BEF-79DB857741E1}"/>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3.XGBoost</a:t>
            </a:r>
            <a:endParaRPr lang="zh-CN" altLang="en-US" dirty="0">
              <a:solidFill>
                <a:schemeClr val="tx1"/>
              </a:solidFill>
            </a:endParaRPr>
          </a:p>
        </p:txBody>
      </p:sp>
    </p:spTree>
    <p:extLst>
      <p:ext uri="{BB962C8B-B14F-4D97-AF65-F5344CB8AC3E}">
        <p14:creationId xmlns:p14="http://schemas.microsoft.com/office/powerpoint/2010/main" val="3332439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500" fill="hold"/>
                                        <p:tgtEl>
                                          <p:spTgt spid="10"/>
                                        </p:tgtEl>
                                        <p:attrNameLst>
                                          <p:attrName>ppt_w</p:attrName>
                                        </p:attrNameLst>
                                      </p:cBhvr>
                                      <p:tavLst>
                                        <p:tav tm="0">
                                          <p:val>
                                            <p:fltVal val="0"/>
                                          </p:val>
                                        </p:tav>
                                        <p:tav tm="100000">
                                          <p:val>
                                            <p:strVal val="#ppt_w"/>
                                          </p:val>
                                        </p:tav>
                                      </p:tavLst>
                                    </p:anim>
                                    <p:anim calcmode="lin" valueType="num">
                                      <p:cBhvr>
                                        <p:cTn id="43" dur="500" fill="hold"/>
                                        <p:tgtEl>
                                          <p:spTgt spid="10"/>
                                        </p:tgtEl>
                                        <p:attrNameLst>
                                          <p:attrName>ppt_h</p:attrName>
                                        </p:attrNameLst>
                                      </p:cBhvr>
                                      <p:tavLst>
                                        <p:tav tm="0">
                                          <p:val>
                                            <p:fltVal val="0"/>
                                          </p:val>
                                        </p:tav>
                                        <p:tav tm="100000">
                                          <p:val>
                                            <p:strVal val="#ppt_h"/>
                                          </p:val>
                                        </p:tav>
                                      </p:tavLst>
                                    </p:anim>
                                    <p:animEffect transition="in" filter="fade">
                                      <p:cBhvr>
                                        <p:cTn id="44" dur="500"/>
                                        <p:tgtEl>
                                          <p:spTgt spid="10"/>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p:cTn id="47" dur="500" fill="hold"/>
                                        <p:tgtEl>
                                          <p:spTgt spid="9"/>
                                        </p:tgtEl>
                                        <p:attrNameLst>
                                          <p:attrName>ppt_w</p:attrName>
                                        </p:attrNameLst>
                                      </p:cBhvr>
                                      <p:tavLst>
                                        <p:tav tm="0">
                                          <p:val>
                                            <p:fltVal val="0"/>
                                          </p:val>
                                        </p:tav>
                                        <p:tav tm="100000">
                                          <p:val>
                                            <p:strVal val="#ppt_w"/>
                                          </p:val>
                                        </p:tav>
                                      </p:tavLst>
                                    </p:anim>
                                    <p:anim calcmode="lin" valueType="num">
                                      <p:cBhvr>
                                        <p:cTn id="48" dur="500" fill="hold"/>
                                        <p:tgtEl>
                                          <p:spTgt spid="9"/>
                                        </p:tgtEl>
                                        <p:attrNameLst>
                                          <p:attrName>ppt_h</p:attrName>
                                        </p:attrNameLst>
                                      </p:cBhvr>
                                      <p:tavLst>
                                        <p:tav tm="0">
                                          <p:val>
                                            <p:fltVal val="0"/>
                                          </p:val>
                                        </p:tav>
                                        <p:tav tm="100000">
                                          <p:val>
                                            <p:strVal val="#ppt_h"/>
                                          </p:val>
                                        </p:tav>
                                      </p:tavLst>
                                    </p:anim>
                                    <p:animEffect transition="in" filter="fade">
                                      <p:cBhvr>
                                        <p:cTn id="49" dur="50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p:cTn id="54" dur="500" fill="hold"/>
                                        <p:tgtEl>
                                          <p:spTgt spid="11"/>
                                        </p:tgtEl>
                                        <p:attrNameLst>
                                          <p:attrName>ppt_w</p:attrName>
                                        </p:attrNameLst>
                                      </p:cBhvr>
                                      <p:tavLst>
                                        <p:tav tm="0">
                                          <p:val>
                                            <p:fltVal val="0"/>
                                          </p:val>
                                        </p:tav>
                                        <p:tav tm="100000">
                                          <p:val>
                                            <p:strVal val="#ppt_w"/>
                                          </p:val>
                                        </p:tav>
                                      </p:tavLst>
                                    </p:anim>
                                    <p:anim calcmode="lin" valueType="num">
                                      <p:cBhvr>
                                        <p:cTn id="55" dur="500" fill="hold"/>
                                        <p:tgtEl>
                                          <p:spTgt spid="11"/>
                                        </p:tgtEl>
                                        <p:attrNameLst>
                                          <p:attrName>ppt_h</p:attrName>
                                        </p:attrNameLst>
                                      </p:cBhvr>
                                      <p:tavLst>
                                        <p:tav tm="0">
                                          <p:val>
                                            <p:fltVal val="0"/>
                                          </p:val>
                                        </p:tav>
                                        <p:tav tm="100000">
                                          <p:val>
                                            <p:strVal val="#ppt_h"/>
                                          </p:val>
                                        </p:tav>
                                      </p:tavLst>
                                    </p:anim>
                                    <p:animEffect transition="in" filter="fade">
                                      <p:cBhvr>
                                        <p:cTn id="5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animBg="1"/>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1628309" y="1722651"/>
                <a:ext cx="2837893" cy="1179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𝑂𝑏𝑗</m:t>
                      </m:r>
                      <m:r>
                        <a:rPr lang="en-US" altLang="zh-CN" i="1">
                          <a:latin typeface="Cambria Math" panose="02040503050406030204" pitchFamily="18" charset="0"/>
                          <a:ea typeface="Microsoft YaHei" charset="0"/>
                        </a:rPr>
                        <m:t>=−</m:t>
                      </m:r>
                      <m:f>
                        <m:fPr>
                          <m:ctrlPr>
                            <a:rPr lang="en-US" altLang="zh-CN" i="1">
                              <a:latin typeface="Cambria Math" panose="02040503050406030204" pitchFamily="18" charset="0"/>
                              <a:ea typeface="Microsoft YaHei" charset="0"/>
                            </a:rPr>
                          </m:ctrlPr>
                        </m:fPr>
                        <m:num>
                          <m:r>
                            <a:rPr lang="en-US" altLang="zh-CN" i="1">
                              <a:latin typeface="Cambria Math" panose="02040503050406030204" pitchFamily="18" charset="0"/>
                              <a:ea typeface="Microsoft YaHei" charset="0"/>
                            </a:rPr>
                            <m:t>1</m:t>
                          </m:r>
                        </m:num>
                        <m:den>
                          <m:r>
                            <a:rPr lang="en-US" altLang="zh-CN" i="1">
                              <a:latin typeface="Cambria Math" panose="02040503050406030204" pitchFamily="18" charset="0"/>
                              <a:ea typeface="Microsoft YaHei" charset="0"/>
                            </a:rPr>
                            <m:t>2</m:t>
                          </m:r>
                        </m:den>
                      </m:f>
                      <m:nary>
                        <m:naryPr>
                          <m:chr m:val="∑"/>
                          <m:ctrlPr>
                            <a:rPr lang="en-US" altLang="zh-CN" i="1">
                              <a:latin typeface="Cambria Math" panose="02040503050406030204" pitchFamily="18" charset="0"/>
                              <a:ea typeface="Microsoft YaHei" charset="0"/>
                            </a:rPr>
                          </m:ctrlPr>
                        </m:naryPr>
                        <m:sub>
                          <m:r>
                            <m:rPr>
                              <m:brk m:alnAt="23"/>
                            </m:rPr>
                            <a:rPr lang="en-US" altLang="zh-CN" i="1">
                              <a:latin typeface="Cambria Math" panose="02040503050406030204" pitchFamily="18" charset="0"/>
                              <a:ea typeface="Microsoft YaHei" charset="0"/>
                            </a:rPr>
                            <m:t>𝑗</m:t>
                          </m:r>
                          <m:r>
                            <a:rPr lang="en-US" altLang="zh-CN" i="1">
                              <a:latin typeface="Cambria Math" panose="02040503050406030204" pitchFamily="18" charset="0"/>
                              <a:ea typeface="Microsoft YaHei" charset="0"/>
                            </a:rPr>
                            <m:t>=1</m:t>
                          </m:r>
                        </m:sub>
                        <m:sup>
                          <m:r>
                            <a:rPr lang="en-US" altLang="zh-CN" i="1">
                              <a:latin typeface="Cambria Math" panose="02040503050406030204" pitchFamily="18" charset="0"/>
                              <a:ea typeface="Microsoft YaHei" charset="0"/>
                            </a:rPr>
                            <m:t>𝑇</m:t>
                          </m:r>
                        </m:sup>
                        <m:e>
                          <m:f>
                            <m:fPr>
                              <m:ctrlPr>
                                <a:rPr lang="en-US" altLang="zh-CN" i="1">
                                  <a:latin typeface="Cambria Math" panose="02040503050406030204" pitchFamily="18" charset="0"/>
                                  <a:ea typeface="Microsoft YaHei" charset="0"/>
                                </a:rPr>
                              </m:ctrlPr>
                            </m:fPr>
                            <m:num>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i="1">
                                          <a:latin typeface="Cambria Math" panose="02040503050406030204" pitchFamily="18" charset="0"/>
                                          <a:ea typeface="Microsoft YaHei" charset="0"/>
                                        </a:rPr>
                                        <m:t>𝑗</m:t>
                                      </m:r>
                                    </m:sub>
                                  </m:sSub>
                                </m:e>
                                <m:sup>
                                  <m:r>
                                    <a:rPr lang="en-US" altLang="zh-CN" i="1">
                                      <a:latin typeface="Cambria Math" panose="02040503050406030204" pitchFamily="18" charset="0"/>
                                      <a:ea typeface="Microsoft YaHei" charset="0"/>
                                    </a:rPr>
                                    <m:t>2</m:t>
                                  </m:r>
                                </m:sup>
                              </m:sSup>
                            </m:num>
                            <m:den>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i="1">
                                      <a:latin typeface="Cambria Math" panose="02040503050406030204" pitchFamily="18" charset="0"/>
                                      <a:ea typeface="Microsoft YaHei" charset="0"/>
                                    </a:rPr>
                                    <m:t>𝑗</m:t>
                                  </m:r>
                                </m:sub>
                              </m:sSub>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𝜆</m:t>
                              </m:r>
                            </m:den>
                          </m:f>
                        </m:e>
                      </m:nary>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𝛾</m:t>
                      </m:r>
                      <m:r>
                        <a:rPr lang="en-US" altLang="zh-CN" i="1">
                          <a:latin typeface="Cambria Math" panose="02040503050406030204" pitchFamily="18" charset="0"/>
                          <a:ea typeface="Cambria Math" panose="02040503050406030204" pitchFamily="18" charset="0"/>
                        </a:rPr>
                        <m:t>𝑇</m:t>
                      </m:r>
                    </m:oMath>
                  </m:oMathPara>
                </a14:m>
                <a:endParaRPr lang="zh-CN" altLang="en-US" dirty="0">
                  <a:ea typeface="Microsoft YaHei" charset="0"/>
                </a:endParaRPr>
              </a:p>
              <a:p>
                <a:endParaRPr lang="zh-CN" altLang="en-US" dirty="0">
                  <a:ea typeface="Microsoft YaHei"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1628309" y="1722651"/>
                <a:ext cx="2837893" cy="1179554"/>
              </a:xfrm>
              <a:prstGeom prst="rect">
                <a:avLst/>
              </a:prstGeom>
              <a:blipFill>
                <a:blip r:embed="rId2"/>
                <a:stretch>
                  <a:fillRect r="-216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1628309" y="3401440"/>
                <a:ext cx="40809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𝑔𝑎𝑖𝑛</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Cambria Math" panose="02040503050406030204" pitchFamily="18" charset="0"/>
                            </a:rPr>
                            <m:t>∅</m:t>
                          </m:r>
                        </m:e>
                      </m:d>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𝑔𝑎𝑖𝑛</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𝑏𝑒𝑓𝑜𝑟𝑒</m:t>
                          </m:r>
                        </m:e>
                      </m:d>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𝑔𝑎𝑖𝑛</m:t>
                      </m:r>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𝑎𝑓𝑡𝑒𝑟</m:t>
                      </m:r>
                      <m:r>
                        <a:rPr lang="en-US" altLang="zh-CN" b="0" i="1" smtClean="0">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628309" y="3401440"/>
                <a:ext cx="4080925" cy="276999"/>
              </a:xfrm>
              <a:prstGeom prst="rect">
                <a:avLst/>
              </a:prstGeom>
              <a:blipFill>
                <a:blip r:embed="rId3"/>
                <a:stretch>
                  <a:fillRect l="-3433" r="-33731" b="-844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2555100" y="4066531"/>
                <a:ext cx="4145174" cy="6442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m:t>
                      </m:r>
                      <m:f>
                        <m:fPr>
                          <m:ctrlPr>
                            <a:rPr lang="en-US" altLang="zh-CN" b="0" i="1" smtClean="0">
                              <a:latin typeface="Cambria Math" panose="02040503050406030204" pitchFamily="18" charset="0"/>
                              <a:ea typeface="Microsoft YaHei" charset="0"/>
                            </a:rPr>
                          </m:ctrlPr>
                        </m:fPr>
                        <m:num>
                          <m:r>
                            <a:rPr lang="en-US" altLang="zh-CN" b="0" i="1" smtClean="0">
                              <a:latin typeface="Cambria Math" panose="02040503050406030204" pitchFamily="18" charset="0"/>
                              <a:ea typeface="Microsoft YaHei" charset="0"/>
                            </a:rPr>
                            <m:t>1</m:t>
                          </m:r>
                        </m:num>
                        <m:den>
                          <m:r>
                            <a:rPr lang="en-US" altLang="zh-CN" b="0" i="1" smtClean="0">
                              <a:latin typeface="Cambria Math" panose="02040503050406030204" pitchFamily="18" charset="0"/>
                              <a:ea typeface="Microsoft YaHei" charset="0"/>
                            </a:rPr>
                            <m:t>2</m:t>
                          </m:r>
                        </m:den>
                      </m:f>
                      <m:d>
                        <m:dPr>
                          <m:begChr m:val="["/>
                          <m:endChr m:val="]"/>
                          <m:ctrlPr>
                            <a:rPr lang="en-US" altLang="zh-CN" b="0" i="1" smtClean="0">
                              <a:latin typeface="Cambria Math" panose="02040503050406030204" pitchFamily="18" charset="0"/>
                              <a:ea typeface="Microsoft YaHei" charset="0"/>
                            </a:rPr>
                          </m:ctrlPr>
                        </m:dPr>
                        <m:e>
                          <m:f>
                            <m:fPr>
                              <m:ctrlPr>
                                <a:rPr lang="en-US" altLang="zh-CN" i="1">
                                  <a:latin typeface="Cambria Math" panose="02040503050406030204" pitchFamily="18" charset="0"/>
                                  <a:ea typeface="Microsoft YaHei" charset="0"/>
                                </a:rPr>
                              </m:ctrlPr>
                            </m:fPr>
                            <m:num>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b="0" i="1" smtClean="0">
                                          <a:latin typeface="Cambria Math" panose="02040503050406030204" pitchFamily="18" charset="0"/>
                                          <a:ea typeface="Microsoft YaHei" charset="0"/>
                                        </a:rPr>
                                        <m:t>𝐿</m:t>
                                      </m:r>
                                    </m:sub>
                                  </m:sSub>
                                </m:e>
                                <m:sup>
                                  <m:r>
                                    <a:rPr lang="en-US" altLang="zh-CN" i="1">
                                      <a:latin typeface="Cambria Math" panose="02040503050406030204" pitchFamily="18" charset="0"/>
                                      <a:ea typeface="Microsoft YaHei" charset="0"/>
                                    </a:rPr>
                                    <m:t>2</m:t>
                                  </m:r>
                                </m:sup>
                              </m:sSup>
                            </m:num>
                            <m:den>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b="0" i="1" smtClean="0">
                                      <a:latin typeface="Cambria Math" panose="02040503050406030204" pitchFamily="18" charset="0"/>
                                      <a:ea typeface="Microsoft YaHei" charset="0"/>
                                    </a:rPr>
                                    <m:t>𝐿</m:t>
                                  </m:r>
                                </m:sub>
                              </m:sSub>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𝜆</m:t>
                              </m:r>
                            </m:den>
                          </m:f>
                          <m:r>
                            <a:rPr lang="en-US" altLang="zh-CN" b="0"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Microsoft YaHei" charset="0"/>
                                </a:rPr>
                              </m:ctrlPr>
                            </m:fPr>
                            <m:num>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b="0" i="1" smtClean="0">
                                          <a:latin typeface="Cambria Math" panose="02040503050406030204" pitchFamily="18" charset="0"/>
                                          <a:ea typeface="Microsoft YaHei" charset="0"/>
                                        </a:rPr>
                                        <m:t>𝑅</m:t>
                                      </m:r>
                                    </m:sub>
                                  </m:sSub>
                                </m:e>
                                <m:sup>
                                  <m:r>
                                    <a:rPr lang="en-US" altLang="zh-CN" i="1">
                                      <a:latin typeface="Cambria Math" panose="02040503050406030204" pitchFamily="18" charset="0"/>
                                      <a:ea typeface="Microsoft YaHei" charset="0"/>
                                    </a:rPr>
                                    <m:t>2</m:t>
                                  </m:r>
                                </m:sup>
                              </m:sSup>
                            </m:num>
                            <m:den>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b="0" i="1" smtClean="0">
                                      <a:latin typeface="Cambria Math" panose="02040503050406030204" pitchFamily="18" charset="0"/>
                                      <a:ea typeface="Microsoft YaHei" charset="0"/>
                                    </a:rPr>
                                    <m:t>𝑅</m:t>
                                  </m:r>
                                </m:sub>
                              </m:sSub>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𝜆</m:t>
                              </m:r>
                            </m:den>
                          </m:f>
                          <m:r>
                            <a:rPr lang="en-US" altLang="zh-CN" b="0"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Microsoft YaHei" charset="0"/>
                                </a:rPr>
                              </m:ctrlPr>
                            </m:fPr>
                            <m:num>
                              <m:sSup>
                                <m:sSupPr>
                                  <m:ctrlPr>
                                    <a:rPr lang="en-US" altLang="zh-CN" i="1">
                                      <a:latin typeface="Cambria Math" panose="02040503050406030204" pitchFamily="18" charset="0"/>
                                      <a:ea typeface="Microsoft YaHei" charset="0"/>
                                    </a:rPr>
                                  </m:ctrlPr>
                                </m:sSupPr>
                                <m:e>
                                  <m:r>
                                    <a:rPr lang="en-US" altLang="zh-CN" i="1" smtClean="0">
                                      <a:latin typeface="Cambria Math" panose="02040503050406030204" pitchFamily="18" charset="0"/>
                                      <a:ea typeface="Microsoft YaHei" charset="0"/>
                                    </a:rPr>
                                    <m:t> </m:t>
                                  </m:r>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b="0" i="1" smtClean="0">
                                          <a:latin typeface="Cambria Math" panose="02040503050406030204" pitchFamily="18" charset="0"/>
                                          <a:ea typeface="Microsoft YaHei" charset="0"/>
                                        </a:rPr>
                                        <m:t>𝐿</m:t>
                                      </m:r>
                                    </m:sub>
                                  </m:sSub>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b="0" i="1" smtClean="0">
                                          <a:latin typeface="Cambria Math" panose="02040503050406030204" pitchFamily="18" charset="0"/>
                                          <a:ea typeface="Microsoft YaHei" charset="0"/>
                                        </a:rPr>
                                        <m:t>𝑅</m:t>
                                      </m:r>
                                    </m:sub>
                                  </m:sSub>
                                  <m:r>
                                    <a:rPr lang="en-US" altLang="zh-CN" b="0" i="1" smtClean="0">
                                      <a:latin typeface="Cambria Math" panose="02040503050406030204" pitchFamily="18" charset="0"/>
                                      <a:ea typeface="Microsoft YaHei" charset="0"/>
                                    </a:rPr>
                                    <m:t>)</m:t>
                                  </m:r>
                                </m:e>
                                <m:sup>
                                  <m:r>
                                    <a:rPr lang="en-US" altLang="zh-CN" i="1">
                                      <a:latin typeface="Cambria Math" panose="02040503050406030204" pitchFamily="18" charset="0"/>
                                      <a:ea typeface="Microsoft YaHei" charset="0"/>
                                    </a:rPr>
                                    <m:t>2</m:t>
                                  </m:r>
                                </m:sup>
                              </m:sSup>
                            </m:num>
                            <m:den>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b="0" i="1" smtClean="0">
                                      <a:latin typeface="Cambria Math" panose="02040503050406030204" pitchFamily="18" charset="0"/>
                                      <a:ea typeface="Microsoft YaHei" charset="0"/>
                                    </a:rPr>
                                    <m:t>𝐿</m:t>
                                  </m:r>
                                </m:sub>
                              </m:sSub>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b="0" i="1" smtClean="0">
                                      <a:latin typeface="Cambria Math" panose="02040503050406030204" pitchFamily="18" charset="0"/>
                                      <a:ea typeface="Microsoft YaHei" charset="0"/>
                                    </a:rPr>
                                    <m:t>𝑅</m:t>
                                  </m:r>
                                </m:sub>
                              </m:sSub>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𝜆</m:t>
                              </m:r>
                            </m:den>
                          </m:f>
                        </m:e>
                      </m:d>
                      <m:r>
                        <a:rPr lang="en-US" altLang="zh-CN" b="0" i="0" smtClean="0">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𝛾</m:t>
                      </m:r>
                    </m:oMath>
                  </m:oMathPara>
                </a14:m>
                <a:endParaRPr lang="zh-CN" altLang="en-US" dirty="0">
                  <a:ea typeface="Microsoft YaHei" charset="0"/>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2555100" y="4066531"/>
                <a:ext cx="4145174" cy="644279"/>
              </a:xfrm>
              <a:prstGeom prst="rect">
                <a:avLst/>
              </a:prstGeom>
              <a:blipFill>
                <a:blip r:embed="rId4"/>
                <a:stretch>
                  <a:fillRect r="-30147" b="-46226"/>
                </a:stretch>
              </a:blipFill>
            </p:spPr>
            <p:txBody>
              <a:bodyPr/>
              <a:lstStyle/>
              <a:p>
                <a:r>
                  <a:rPr lang="zh-CN" altLang="en-US">
                    <a:noFill/>
                  </a:rPr>
                  <a:t> </a:t>
                </a:r>
              </a:p>
            </p:txBody>
          </p:sp>
        </mc:Fallback>
      </mc:AlternateContent>
      <p:sp>
        <p:nvSpPr>
          <p:cNvPr id="7" name="Rectangle 2">
            <a:extLst>
              <a:ext uri="{FF2B5EF4-FFF2-40B4-BE49-F238E27FC236}">
                <a16:creationId xmlns:a16="http://schemas.microsoft.com/office/drawing/2014/main" id="{E7F4AB40-BC47-4656-96D1-A28502A1995D}"/>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3.XGBoost</a:t>
            </a:r>
            <a:endParaRPr lang="zh-CN" altLang="en-US" dirty="0">
              <a:solidFill>
                <a:schemeClr val="tx1"/>
              </a:solidFill>
            </a:endParaRPr>
          </a:p>
        </p:txBody>
      </p:sp>
      <p:sp>
        <p:nvSpPr>
          <p:cNvPr id="8" name="下箭头 6">
            <a:extLst>
              <a:ext uri="{FF2B5EF4-FFF2-40B4-BE49-F238E27FC236}">
                <a16:creationId xmlns:a16="http://schemas.microsoft.com/office/drawing/2014/main" id="{81116AEA-A5B2-4879-A08B-583FABC8C980}"/>
              </a:ext>
            </a:extLst>
          </p:cNvPr>
          <p:cNvSpPr/>
          <p:nvPr/>
        </p:nvSpPr>
        <p:spPr>
          <a:xfrm>
            <a:off x="6826082" y="5182941"/>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ea typeface="Microsoft YaHei" charset="0"/>
            </a:endParaRPr>
          </a:p>
        </p:txBody>
      </p:sp>
      <p:sp>
        <p:nvSpPr>
          <p:cNvPr id="9" name="下箭头 6">
            <a:extLst>
              <a:ext uri="{FF2B5EF4-FFF2-40B4-BE49-F238E27FC236}">
                <a16:creationId xmlns:a16="http://schemas.microsoft.com/office/drawing/2014/main" id="{FB872D79-7C26-4E18-B82F-661539D11749}"/>
              </a:ext>
            </a:extLst>
          </p:cNvPr>
          <p:cNvSpPr/>
          <p:nvPr/>
        </p:nvSpPr>
        <p:spPr>
          <a:xfrm>
            <a:off x="5102063" y="5182941"/>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ea typeface="Microsoft YaHei" charset="0"/>
            </a:endParaRPr>
          </a:p>
        </p:txBody>
      </p:sp>
      <p:sp>
        <p:nvSpPr>
          <p:cNvPr id="10" name="下箭头 6">
            <a:extLst>
              <a:ext uri="{FF2B5EF4-FFF2-40B4-BE49-F238E27FC236}">
                <a16:creationId xmlns:a16="http://schemas.microsoft.com/office/drawing/2014/main" id="{CD411E5E-B73D-4DA1-9247-893032C27331}"/>
              </a:ext>
            </a:extLst>
          </p:cNvPr>
          <p:cNvSpPr/>
          <p:nvPr/>
        </p:nvSpPr>
        <p:spPr>
          <a:xfrm>
            <a:off x="3774993" y="5187803"/>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ea typeface="Microsoft YaHei" charset="0"/>
            </a:endParaRPr>
          </a:p>
        </p:txBody>
      </p:sp>
      <p:sp>
        <p:nvSpPr>
          <p:cNvPr id="11" name="文本框 10">
            <a:extLst>
              <a:ext uri="{FF2B5EF4-FFF2-40B4-BE49-F238E27FC236}">
                <a16:creationId xmlns:a16="http://schemas.microsoft.com/office/drawing/2014/main" id="{B7360F2F-93BD-479D-9BD1-C75D16153DD7}"/>
              </a:ext>
            </a:extLst>
          </p:cNvPr>
          <p:cNvSpPr txBox="1"/>
          <p:nvPr/>
        </p:nvSpPr>
        <p:spPr>
          <a:xfrm>
            <a:off x="2660842" y="5583273"/>
            <a:ext cx="1864047" cy="307777"/>
          </a:xfrm>
          <a:prstGeom prst="rect">
            <a:avLst/>
          </a:prstGeom>
          <a:noFill/>
        </p:spPr>
        <p:txBody>
          <a:bodyPr wrap="square">
            <a:spAutoFit/>
          </a:bodyPr>
          <a:lstStyle/>
          <a:p>
            <a:r>
              <a:rPr lang="zh-CN" altLang="en-US" sz="1400" dirty="0">
                <a:solidFill>
                  <a:srgbClr val="FF0000"/>
                </a:solidFill>
              </a:rPr>
              <a:t>分裂后左子树分数</a:t>
            </a:r>
          </a:p>
        </p:txBody>
      </p:sp>
      <p:sp>
        <p:nvSpPr>
          <p:cNvPr id="12" name="文本框 11">
            <a:extLst>
              <a:ext uri="{FF2B5EF4-FFF2-40B4-BE49-F238E27FC236}">
                <a16:creationId xmlns:a16="http://schemas.microsoft.com/office/drawing/2014/main" id="{D87D6897-A8E0-4767-8E02-B4315F4DB41D}"/>
              </a:ext>
            </a:extLst>
          </p:cNvPr>
          <p:cNvSpPr txBox="1"/>
          <p:nvPr/>
        </p:nvSpPr>
        <p:spPr>
          <a:xfrm>
            <a:off x="4836227" y="5583273"/>
            <a:ext cx="1864047" cy="307777"/>
          </a:xfrm>
          <a:prstGeom prst="rect">
            <a:avLst/>
          </a:prstGeom>
          <a:noFill/>
        </p:spPr>
        <p:txBody>
          <a:bodyPr wrap="square">
            <a:spAutoFit/>
          </a:bodyPr>
          <a:lstStyle/>
          <a:p>
            <a:r>
              <a:rPr lang="zh-CN" altLang="en-US" sz="1400" dirty="0">
                <a:solidFill>
                  <a:srgbClr val="FF0000"/>
                </a:solidFill>
              </a:rPr>
              <a:t>分裂后右子树分数</a:t>
            </a:r>
          </a:p>
        </p:txBody>
      </p:sp>
      <p:sp>
        <p:nvSpPr>
          <p:cNvPr id="16" name="文本框 15">
            <a:extLst>
              <a:ext uri="{FF2B5EF4-FFF2-40B4-BE49-F238E27FC236}">
                <a16:creationId xmlns:a16="http://schemas.microsoft.com/office/drawing/2014/main" id="{5E514A7A-9EDA-472B-9A1B-FD1B4CC7B2B3}"/>
              </a:ext>
            </a:extLst>
          </p:cNvPr>
          <p:cNvSpPr txBox="1"/>
          <p:nvPr/>
        </p:nvSpPr>
        <p:spPr>
          <a:xfrm>
            <a:off x="6743700" y="5560273"/>
            <a:ext cx="2348452" cy="523220"/>
          </a:xfrm>
          <a:prstGeom prst="rect">
            <a:avLst/>
          </a:prstGeom>
          <a:noFill/>
        </p:spPr>
        <p:txBody>
          <a:bodyPr wrap="square">
            <a:spAutoFit/>
          </a:bodyPr>
          <a:lstStyle>
            <a:defPPr>
              <a:defRPr lang="zh-CN"/>
            </a:defPPr>
            <a:lvl1pPr>
              <a:defRPr sz="1400" i="1">
                <a:solidFill>
                  <a:srgbClr val="FF0000"/>
                </a:solidFill>
                <a:latin typeface="Cambria Math" panose="02040503050406030204" pitchFamily="18" charset="0"/>
                <a:ea typeface="Microsoft YaHei" charset="0"/>
              </a:defRPr>
            </a:lvl1pPr>
          </a:lstStyle>
          <a:p>
            <a:r>
              <a:rPr lang="zh-CN" altLang="en-US" i="0" dirty="0"/>
              <a:t>分裂前左、右子树的分数：</a:t>
            </a:r>
          </a:p>
          <a:p>
            <a:r>
              <a:rPr lang="zh-CN" altLang="en-US" i="0" dirty="0"/>
              <a:t>不分割可以拿到的分数</a:t>
            </a:r>
          </a:p>
        </p:txBody>
      </p:sp>
      <p:sp>
        <p:nvSpPr>
          <p:cNvPr id="18" name="文本框 17">
            <a:extLst>
              <a:ext uri="{FF2B5EF4-FFF2-40B4-BE49-F238E27FC236}">
                <a16:creationId xmlns:a16="http://schemas.microsoft.com/office/drawing/2014/main" id="{E69BFF6F-4971-4790-A687-3DB0BF790DE5}"/>
              </a:ext>
            </a:extLst>
          </p:cNvPr>
          <p:cNvSpPr txBox="1"/>
          <p:nvPr/>
        </p:nvSpPr>
        <p:spPr>
          <a:xfrm>
            <a:off x="7947932" y="3948371"/>
            <a:ext cx="2960856" cy="307777"/>
          </a:xfrm>
          <a:prstGeom prst="rect">
            <a:avLst/>
          </a:prstGeom>
          <a:noFill/>
        </p:spPr>
        <p:txBody>
          <a:bodyPr wrap="square">
            <a:spAutoFit/>
          </a:bodyPr>
          <a:lstStyle/>
          <a:p>
            <a:r>
              <a:rPr lang="zh-CN" altLang="en-US" sz="1400" dirty="0">
                <a:solidFill>
                  <a:srgbClr val="FF0000"/>
                </a:solidFill>
              </a:rPr>
              <a:t>加入新叶子节点引入的复杂度代价</a:t>
            </a:r>
          </a:p>
        </p:txBody>
      </p:sp>
      <p:sp>
        <p:nvSpPr>
          <p:cNvPr id="19" name="下箭头 6">
            <a:extLst>
              <a:ext uri="{FF2B5EF4-FFF2-40B4-BE49-F238E27FC236}">
                <a16:creationId xmlns:a16="http://schemas.microsoft.com/office/drawing/2014/main" id="{F15DB958-4015-4D74-8D72-651A6BE80A86}"/>
              </a:ext>
            </a:extLst>
          </p:cNvPr>
          <p:cNvSpPr/>
          <p:nvPr/>
        </p:nvSpPr>
        <p:spPr>
          <a:xfrm rot="12778939">
            <a:off x="8246387" y="4262671"/>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ea typeface="Microsoft YaHei" charset="0"/>
            </a:endParaRPr>
          </a:p>
        </p:txBody>
      </p:sp>
    </p:spTree>
    <p:extLst>
      <p:ext uri="{BB962C8B-B14F-4D97-AF65-F5344CB8AC3E}">
        <p14:creationId xmlns:p14="http://schemas.microsoft.com/office/powerpoint/2010/main" val="2244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animBg="1"/>
      <p:bldP spid="9" grpId="0" animBg="1"/>
      <p:bldP spid="10" grpId="0" animBg="1"/>
      <p:bldP spid="11" grpId="0"/>
      <p:bldP spid="12" grpId="0"/>
      <p:bldP spid="16" grpId="0"/>
      <p:bldP spid="18" grpId="0"/>
      <p:bldP spid="1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E7F4AB40-BC47-4656-96D1-A28502A1995D}"/>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3.XGBoost</a:t>
            </a: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A60BE7D-A302-4E03-AF6D-C2873283B5D9}"/>
                  </a:ext>
                </a:extLst>
              </p:cNvPr>
              <p:cNvSpPr txBox="1"/>
              <p:nvPr/>
            </p:nvSpPr>
            <p:spPr>
              <a:xfrm>
                <a:off x="668338" y="2132938"/>
                <a:ext cx="7481134" cy="461665"/>
              </a:xfrm>
              <a:prstGeom prst="rect">
                <a:avLst/>
              </a:prstGeom>
              <a:noFill/>
            </p:spPr>
            <p:txBody>
              <a:bodyPr wrap="square">
                <a:spAutoFit/>
              </a:bodyPr>
              <a:lstStyle/>
              <a:p>
                <a:r>
                  <a:rPr lang="zh-CN" altLang="zh-CN" sz="2400" kern="0" dirty="0">
                    <a:solidFill>
                      <a:srgbClr val="121212"/>
                    </a:solidFill>
                    <a:effectLst/>
                    <a:ea typeface="微软雅黑" panose="020B0503020204020204" pitchFamily="34" charset="-122"/>
                    <a:cs typeface="宋体" panose="02010600030101010101" pitchFamily="2" charset="-122"/>
                  </a:rPr>
                  <a:t>使用贪心方法，选</a:t>
                </a:r>
                <a:r>
                  <a:rPr lang="zh-CN" altLang="en-US" sz="2400" kern="0" dirty="0">
                    <a:solidFill>
                      <a:srgbClr val="121212"/>
                    </a:solidFill>
                    <a:effectLst/>
                    <a:ea typeface="微软雅黑" panose="020B0503020204020204" pitchFamily="34" charset="-122"/>
                    <a:cs typeface="宋体" panose="02010600030101010101" pitchFamily="2" charset="-122"/>
                  </a:rPr>
                  <a:t>增</a:t>
                </a:r>
                <a:r>
                  <a:rPr lang="zh-CN" altLang="zh-CN" sz="2400" kern="0" dirty="0">
                    <a:solidFill>
                      <a:srgbClr val="121212"/>
                    </a:solidFill>
                    <a:effectLst/>
                    <a:ea typeface="微软雅黑" panose="020B0503020204020204" pitchFamily="34" charset="-122"/>
                    <a:cs typeface="宋体" panose="02010600030101010101" pitchFamily="2" charset="-122"/>
                  </a:rPr>
                  <a:t>益</a:t>
                </a:r>
                <a:r>
                  <a:rPr lang="zh-CN" altLang="en-US" sz="2400" kern="0" dirty="0">
                    <a:solidFill>
                      <a:srgbClr val="121212"/>
                    </a:solidFill>
                    <a:effectLst/>
                    <a:ea typeface="微软雅黑" panose="020B0503020204020204" pitchFamily="34" charset="-122"/>
                    <a:cs typeface="宋体" panose="02010600030101010101" pitchFamily="2" charset="-122"/>
                  </a:rPr>
                  <a:t>（</a:t>
                </a:r>
                <a:r>
                  <a:rPr lang="en-US" altLang="zh-CN" b="0" dirty="0">
                    <a:ea typeface="Microsoft YaHei" charset="0"/>
                  </a:rPr>
                  <a:t> </a:t>
                </a:r>
                <a14:m>
                  <m:oMath xmlns:m="http://schemas.openxmlformats.org/officeDocument/2006/math">
                    <m:r>
                      <a:rPr lang="en-US" altLang="zh-CN" b="0" i="1" smtClean="0">
                        <a:latin typeface="Cambria Math" panose="02040503050406030204" pitchFamily="18" charset="0"/>
                        <a:ea typeface="Microsoft YaHei" charset="0"/>
                      </a:rPr>
                      <m:t>𝑔𝑎𝑖𝑛</m:t>
                    </m:r>
                    <m:r>
                      <a:rPr lang="en-US" altLang="zh-CN" b="0" i="1" smtClean="0">
                        <a:latin typeface="Cambria Math" panose="02040503050406030204" pitchFamily="18" charset="0"/>
                        <a:ea typeface="Microsoft YaHei" charset="0"/>
                      </a:rPr>
                      <m:t> </m:t>
                    </m:r>
                  </m:oMath>
                </a14:m>
                <a:r>
                  <a:rPr lang="zh-CN" altLang="en-US" sz="2400" kern="0" dirty="0">
                    <a:solidFill>
                      <a:srgbClr val="121212"/>
                    </a:solidFill>
                    <a:effectLst/>
                    <a:ea typeface="微软雅黑" panose="020B0503020204020204" pitchFamily="34" charset="-122"/>
                    <a:cs typeface="宋体" panose="02010600030101010101" pitchFamily="2" charset="-122"/>
                  </a:rPr>
                  <a:t>）</a:t>
                </a:r>
                <a:r>
                  <a:rPr lang="zh-CN" altLang="zh-CN" sz="2400" kern="0" dirty="0">
                    <a:solidFill>
                      <a:srgbClr val="121212"/>
                    </a:solidFill>
                    <a:effectLst/>
                    <a:ea typeface="微软雅黑" panose="020B0503020204020204" pitchFamily="34" charset="-122"/>
                    <a:cs typeface="宋体" panose="02010600030101010101" pitchFamily="2" charset="-122"/>
                  </a:rPr>
                  <a:t>最大的分裂方式</a:t>
                </a:r>
                <a:endParaRPr lang="zh-CN" altLang="en-US" dirty="0"/>
              </a:p>
            </p:txBody>
          </p:sp>
        </mc:Choice>
        <mc:Fallback xmlns="">
          <p:sp>
            <p:nvSpPr>
              <p:cNvPr id="17" name="文本框 16">
                <a:extLst>
                  <a:ext uri="{FF2B5EF4-FFF2-40B4-BE49-F238E27FC236}">
                    <a16:creationId xmlns:a16="http://schemas.microsoft.com/office/drawing/2014/main" id="{BA60BE7D-A302-4E03-AF6D-C2873283B5D9}"/>
                  </a:ext>
                </a:extLst>
              </p:cNvPr>
              <p:cNvSpPr txBox="1">
                <a:spLocks noRot="1" noChangeAspect="1" noMove="1" noResize="1" noEditPoints="1" noAdjustHandles="1" noChangeArrowheads="1" noChangeShapeType="1" noTextEdit="1"/>
              </p:cNvSpPr>
              <p:nvPr/>
            </p:nvSpPr>
            <p:spPr>
              <a:xfrm>
                <a:off x="668338" y="2132938"/>
                <a:ext cx="7481134" cy="461665"/>
              </a:xfrm>
              <a:prstGeom prst="rect">
                <a:avLst/>
              </a:prstGeom>
              <a:blipFill>
                <a:blip r:embed="rId2"/>
                <a:stretch>
                  <a:fillRect l="-1304"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1B1E937B-DB17-45BD-9D42-714FD26F6F93}"/>
                  </a:ext>
                </a:extLst>
              </p:cNvPr>
              <p:cNvSpPr txBox="1"/>
              <p:nvPr/>
            </p:nvSpPr>
            <p:spPr>
              <a:xfrm>
                <a:off x="668338" y="2767406"/>
                <a:ext cx="11054106" cy="1696105"/>
              </a:xfrm>
              <a:prstGeom prst="rect">
                <a:avLst/>
              </a:prstGeom>
              <a:noFill/>
            </p:spPr>
            <p:txBody>
              <a:bodyPr wrap="square">
                <a:spAutoFit/>
              </a:bodyPr>
              <a:lstStyle/>
              <a:p>
                <a:pPr algn="l">
                  <a:lnSpc>
                    <a:spcPct val="150000"/>
                  </a:lnSpc>
                  <a:spcBef>
                    <a:spcPts val="1680"/>
                  </a:spcBef>
                  <a:spcAft>
                    <a:spcPts val="1680"/>
                  </a:spcAft>
                </a:pPr>
                <a:r>
                  <a:rPr lang="zh-CN" altLang="zh-CN" sz="2400" kern="0" dirty="0">
                    <a:solidFill>
                      <a:srgbClr val="121212"/>
                    </a:solidFill>
                    <a:effectLst/>
                    <a:latin typeface="等线" panose="02010600030101010101" pitchFamily="2" charset="-122"/>
                    <a:ea typeface="微软雅黑" panose="020B0503020204020204" pitchFamily="34" charset="-122"/>
                    <a:cs typeface="宋体" panose="02010600030101010101" pitchFamily="2" charset="-122"/>
                  </a:rPr>
                  <a:t>贪心方法，众多</a:t>
                </a:r>
                <a14:m>
                  <m:oMath xmlns:m="http://schemas.openxmlformats.org/officeDocument/2006/math">
                    <m:r>
                      <a:rPr lang="en-US" altLang="zh-CN" b="0" i="1" smtClean="0">
                        <a:latin typeface="Cambria Math" panose="02040503050406030204" pitchFamily="18" charset="0"/>
                        <a:ea typeface="Microsoft YaHei" charset="0"/>
                      </a:rPr>
                      <m:t>𝑔𝑎𝑖𝑛</m:t>
                    </m:r>
                  </m:oMath>
                </a14:m>
                <a:r>
                  <a:rPr lang="zh-CN" altLang="zh-CN" sz="2400" kern="0" dirty="0">
                    <a:solidFill>
                      <a:srgbClr val="121212"/>
                    </a:solidFill>
                    <a:effectLst/>
                    <a:latin typeface="等线" panose="02010600030101010101" pitchFamily="2" charset="-122"/>
                    <a:ea typeface="微软雅黑" panose="020B0503020204020204" pitchFamily="34" charset="-122"/>
                    <a:cs typeface="宋体" panose="02010600030101010101" pitchFamily="2" charset="-122"/>
                  </a:rPr>
                  <a:t>中找到最大值做为最优分割节点（</a:t>
                </a:r>
                <a:r>
                  <a:rPr lang="en-US" altLang="zh-CN" sz="2400" kern="0" dirty="0">
                    <a:solidFill>
                      <a:srgbClr val="121212"/>
                    </a:solidFill>
                    <a:effectLst/>
                    <a:latin typeface="等线" panose="02010600030101010101" pitchFamily="2" charset="-122"/>
                    <a:ea typeface="微软雅黑" panose="020B0503020204020204" pitchFamily="34" charset="-122"/>
                    <a:cs typeface="宋体" panose="02010600030101010101" pitchFamily="2" charset="-122"/>
                  </a:rPr>
                  <a:t>split point</a:t>
                </a:r>
                <a:r>
                  <a:rPr lang="zh-CN" altLang="zh-CN" sz="2400" kern="0" dirty="0">
                    <a:solidFill>
                      <a:srgbClr val="121212"/>
                    </a:solidFill>
                    <a:effectLst/>
                    <a:latin typeface="等线" panose="02010600030101010101" pitchFamily="2" charset="-122"/>
                    <a:ea typeface="微软雅黑" panose="020B0503020204020204" pitchFamily="34" charset="-122"/>
                    <a:cs typeface="宋体" panose="02010600030101010101" pitchFamily="2" charset="-122"/>
                  </a:rPr>
                  <a:t>），因此模型会将所有样本按照（一阶梯度）从小到大排序，通过遍历，查看每个节点是否需要分割，计算复杂度是：决策树叶子节点数 –</a:t>
                </a:r>
                <a:r>
                  <a:rPr lang="en-US" altLang="zh-CN" sz="2400" kern="0" dirty="0">
                    <a:solidFill>
                      <a:srgbClr val="121212"/>
                    </a:solidFill>
                    <a:effectLst/>
                    <a:latin typeface="等线" panose="02010600030101010101" pitchFamily="2" charset="-122"/>
                    <a:ea typeface="微软雅黑" panose="020B0503020204020204" pitchFamily="34" charset="-122"/>
                    <a:cs typeface="宋体" panose="02010600030101010101" pitchFamily="2" charset="-122"/>
                  </a:rPr>
                  <a:t> 1</a:t>
                </a:r>
                <a:r>
                  <a:rPr lang="zh-CN" altLang="zh-CN" sz="2400" kern="0" dirty="0">
                    <a:solidFill>
                      <a:srgbClr val="121212"/>
                    </a:solidFill>
                    <a:effectLst/>
                    <a:latin typeface="等线" panose="02010600030101010101" pitchFamily="2" charset="-122"/>
                    <a:ea typeface="微软雅黑" panose="020B0503020204020204" pitchFamily="34" charset="-122"/>
                    <a:cs typeface="宋体" panose="02010600030101010101" pitchFamily="2" charset="-122"/>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20" name="文本框 19">
                <a:extLst>
                  <a:ext uri="{FF2B5EF4-FFF2-40B4-BE49-F238E27FC236}">
                    <a16:creationId xmlns:a16="http://schemas.microsoft.com/office/drawing/2014/main" id="{1B1E937B-DB17-45BD-9D42-714FD26F6F93}"/>
                  </a:ext>
                </a:extLst>
              </p:cNvPr>
              <p:cNvSpPr txBox="1">
                <a:spLocks noRot="1" noChangeAspect="1" noMove="1" noResize="1" noEditPoints="1" noAdjustHandles="1" noChangeArrowheads="1" noChangeShapeType="1" noTextEdit="1"/>
              </p:cNvSpPr>
              <p:nvPr/>
            </p:nvSpPr>
            <p:spPr>
              <a:xfrm>
                <a:off x="668338" y="2767406"/>
                <a:ext cx="11054106" cy="1696105"/>
              </a:xfrm>
              <a:prstGeom prst="rect">
                <a:avLst/>
              </a:prstGeom>
              <a:blipFill>
                <a:blip r:embed="rId3"/>
                <a:stretch>
                  <a:fillRect l="-883" b="-7914"/>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9B6240DE-0BB7-4DEB-BDF2-585746E81F56}"/>
              </a:ext>
            </a:extLst>
          </p:cNvPr>
          <p:cNvSpPr txBox="1"/>
          <p:nvPr/>
        </p:nvSpPr>
        <p:spPr>
          <a:xfrm>
            <a:off x="668338" y="1460493"/>
            <a:ext cx="6096784" cy="461665"/>
          </a:xfrm>
          <a:prstGeom prst="rect">
            <a:avLst/>
          </a:prstGeom>
          <a:noFill/>
        </p:spPr>
        <p:txBody>
          <a:bodyPr wrap="square">
            <a:spAutoFit/>
          </a:bodyPr>
          <a:lstStyle/>
          <a:p>
            <a:r>
              <a:rPr lang="en-US" altLang="zh-CN" sz="2400" b="1" kern="0" dirty="0" err="1">
                <a:solidFill>
                  <a:srgbClr val="121212"/>
                </a:solidFill>
                <a:effectLst/>
                <a:ea typeface="微软雅黑" panose="020B0503020204020204" pitchFamily="34" charset="-122"/>
                <a:cs typeface="宋体" panose="02010600030101010101" pitchFamily="2" charset="-122"/>
              </a:rPr>
              <a:t>XGBoost</a:t>
            </a:r>
            <a:r>
              <a:rPr lang="zh-CN" altLang="zh-CN" sz="2400" b="1" kern="0" dirty="0">
                <a:solidFill>
                  <a:srgbClr val="121212"/>
                </a:solidFill>
                <a:effectLst/>
                <a:ea typeface="微软雅黑" panose="020B0503020204020204" pitchFamily="34" charset="-122"/>
                <a:cs typeface="宋体" panose="02010600030101010101" pitchFamily="2" charset="-122"/>
              </a:rPr>
              <a:t>的分裂方式</a:t>
            </a:r>
            <a:endParaRPr lang="zh-CN" altLang="en-US" b="1" dirty="0"/>
          </a:p>
        </p:txBody>
      </p:sp>
    </p:spTree>
    <p:extLst>
      <p:ext uri="{BB962C8B-B14F-4D97-AF65-F5344CB8AC3E}">
        <p14:creationId xmlns:p14="http://schemas.microsoft.com/office/powerpoint/2010/main" val="36496592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a:extLst>
              <a:ext uri="{FF2B5EF4-FFF2-40B4-BE49-F238E27FC236}">
                <a16:creationId xmlns:a16="http://schemas.microsoft.com/office/drawing/2014/main" id="{CAE08E35-DEC9-4689-915B-1B27E7F9279D}"/>
              </a:ext>
            </a:extLst>
          </p:cNvPr>
          <p:cNvSpPr/>
          <p:nvPr/>
        </p:nvSpPr>
        <p:spPr>
          <a:xfrm>
            <a:off x="2415827" y="4333224"/>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chemeClr val="bg1"/>
              </a:solidFill>
            </a:endParaRPr>
          </a:p>
        </p:txBody>
      </p:sp>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4.LightGBM</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01 </a:t>
            </a:r>
            <a:r>
              <a:rPr lang="en-US" altLang="zh-CN" sz="4000" dirty="0">
                <a:latin typeface="Impact" pitchFamily="34" charset="0"/>
                <a:ea typeface="微软雅黑" pitchFamily="34" charset="-122"/>
              </a:rPr>
              <a:t> </a:t>
            </a:r>
            <a:r>
              <a:rPr lang="en-US" altLang="zh-CN" sz="3600" dirty="0">
                <a:latin typeface="Impact" pitchFamily="34" charset="0"/>
                <a:ea typeface="微软雅黑" pitchFamily="34" charset="-122"/>
              </a:rPr>
              <a:t>  </a:t>
            </a:r>
            <a:r>
              <a:rPr lang="zh-CN" altLang="en-US" sz="3600" dirty="0">
                <a:latin typeface="Impact" pitchFamily="34" charset="0"/>
                <a:ea typeface="微软雅黑" pitchFamily="34" charset="-122"/>
              </a:rPr>
              <a:t>集成学习方法概述</a:t>
            </a:r>
            <a:endParaRPr lang="en-US" altLang="zh-CN" sz="3600" dirty="0">
              <a:latin typeface="Impact" pitchFamily="34" charset="0"/>
              <a:ea typeface="微软雅黑" pitchFamily="34" charset="-122"/>
            </a:endParaRPr>
          </a:p>
        </p:txBody>
      </p:sp>
      <p:sp>
        <p:nvSpPr>
          <p:cNvPr id="8" name="TextBox 10">
            <a:extLst>
              <a:ext uri="{FF2B5EF4-FFF2-40B4-BE49-F238E27FC236}">
                <a16:creationId xmlns:a16="http://schemas.microsoft.com/office/drawing/2014/main" id="{9BE43E83-03B8-4699-AB74-C8EEEC383F30}"/>
              </a:ext>
            </a:extLst>
          </p:cNvPr>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02    </a:t>
            </a:r>
            <a:r>
              <a:rPr lang="en-US" altLang="zh-CN" sz="3600" dirty="0" err="1">
                <a:latin typeface="Impact" pitchFamily="34" charset="0"/>
                <a:ea typeface="微软雅黑" pitchFamily="34" charset="-122"/>
              </a:rPr>
              <a:t>Adaboost</a:t>
            </a:r>
            <a:r>
              <a:rPr lang="zh-CN" altLang="en-US" sz="3600" dirty="0">
                <a:latin typeface="Impact" pitchFamily="34" charset="0"/>
                <a:ea typeface="微软雅黑" pitchFamily="34" charset="-122"/>
              </a:rPr>
              <a:t>和</a:t>
            </a:r>
            <a:r>
              <a:rPr lang="en-US" altLang="zh-CN" sz="3600" dirty="0">
                <a:latin typeface="Impact" pitchFamily="34" charset="0"/>
                <a:ea typeface="微软雅黑" pitchFamily="34" charset="-122"/>
              </a:rPr>
              <a:t>GBDT</a:t>
            </a:r>
            <a:r>
              <a:rPr lang="zh-CN" altLang="en-US" sz="3600" dirty="0">
                <a:latin typeface="Impact" pitchFamily="34" charset="0"/>
                <a:ea typeface="微软雅黑" pitchFamily="34" charset="-122"/>
              </a:rPr>
              <a:t>算法</a:t>
            </a:r>
          </a:p>
        </p:txBody>
      </p:sp>
      <p:sp>
        <p:nvSpPr>
          <p:cNvPr id="9" name="TextBox 11">
            <a:extLst>
              <a:ext uri="{FF2B5EF4-FFF2-40B4-BE49-F238E27FC236}">
                <a16:creationId xmlns:a16="http://schemas.microsoft.com/office/drawing/2014/main" id="{34978614-EBE8-42CE-98D3-1A12F275A36E}"/>
              </a:ext>
            </a:extLst>
          </p:cNvPr>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03    </a:t>
            </a:r>
            <a:r>
              <a:rPr lang="en-US" altLang="zh-CN" sz="3600" dirty="0" err="1">
                <a:latin typeface="Impact" pitchFamily="34" charset="0"/>
                <a:ea typeface="微软雅黑" pitchFamily="34" charset="-122"/>
              </a:rPr>
              <a:t>XGBoost</a:t>
            </a:r>
            <a:endParaRPr lang="zh-CN" altLang="en-US" sz="3600" dirty="0">
              <a:latin typeface="Impact" pitchFamily="34" charset="0"/>
              <a:ea typeface="微软雅黑" pitchFamily="34" charset="-122"/>
            </a:endParaRPr>
          </a:p>
        </p:txBody>
      </p:sp>
      <p:sp>
        <p:nvSpPr>
          <p:cNvPr id="10" name="TextBox 10">
            <a:extLst>
              <a:ext uri="{FF2B5EF4-FFF2-40B4-BE49-F238E27FC236}">
                <a16:creationId xmlns:a16="http://schemas.microsoft.com/office/drawing/2014/main" id="{C420D502-7B94-4817-BEB4-B1C83D329CB1}"/>
              </a:ext>
            </a:extLst>
          </p:cNvPr>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04    </a:t>
            </a:r>
            <a:r>
              <a:rPr lang="en-US" altLang="zh-CN" sz="3600" dirty="0" err="1">
                <a:solidFill>
                  <a:schemeClr val="bg1"/>
                </a:solidFill>
                <a:latin typeface="Impact" pitchFamily="34" charset="0"/>
                <a:ea typeface="微软雅黑" pitchFamily="34" charset="-122"/>
              </a:rPr>
              <a:t>LightGBM</a:t>
            </a:r>
            <a:endParaRPr lang="zh-CN" altLang="en-US" sz="3600" dirty="0">
              <a:solidFill>
                <a:schemeClr val="bg1"/>
              </a:solidFill>
              <a:latin typeface="Impact" pitchFamily="34" charset="0"/>
              <a:ea typeface="微软雅黑" pitchFamily="34" charset="-122"/>
            </a:endParaRPr>
          </a:p>
        </p:txBody>
      </p:sp>
    </p:spTree>
    <p:extLst>
      <p:ext uri="{BB962C8B-B14F-4D97-AF65-F5344CB8AC3E}">
        <p14:creationId xmlns:p14="http://schemas.microsoft.com/office/powerpoint/2010/main" val="958013708"/>
      </p:ext>
    </p:extLst>
  </p:cSld>
  <p:clrMapOvr>
    <a:masterClrMapping/>
  </p:clrMapOvr>
  <p:transition advTm="8005"/>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4.LightGBM</a:t>
            </a:r>
            <a:endParaRPr lang="zh-CN" altLang="en-US" dirty="0">
              <a:solidFill>
                <a:schemeClr val="tx1"/>
              </a:solidFill>
            </a:endParaRPr>
          </a:p>
        </p:txBody>
      </p:sp>
      <p:sp>
        <p:nvSpPr>
          <p:cNvPr id="11" name="文本框 10">
            <a:extLst>
              <a:ext uri="{FF2B5EF4-FFF2-40B4-BE49-F238E27FC236}">
                <a16:creationId xmlns:a16="http://schemas.microsoft.com/office/drawing/2014/main" id="{8257A49D-8528-42C1-A3D4-D6D48F9C5FC9}"/>
              </a:ext>
            </a:extLst>
          </p:cNvPr>
          <p:cNvSpPr txBox="1"/>
          <p:nvPr/>
        </p:nvSpPr>
        <p:spPr>
          <a:xfrm>
            <a:off x="668338" y="1346750"/>
            <a:ext cx="9739532" cy="4459041"/>
          </a:xfrm>
          <a:prstGeom prst="rect">
            <a:avLst/>
          </a:prstGeom>
          <a:noFill/>
        </p:spPr>
        <p:txBody>
          <a:bodyPr wrap="square">
            <a:spAutoFit/>
          </a:bodyPr>
          <a:lstStyle/>
          <a:p>
            <a:pPr algn="just">
              <a:lnSpc>
                <a:spcPct val="150000"/>
              </a:lnSpc>
            </a:pPr>
            <a:r>
              <a:rPr lang="en-US" altLang="zh-CN" sz="2400" b="1" kern="100" dirty="0" err="1">
                <a:effectLst/>
                <a:latin typeface="+mj-ea"/>
                <a:ea typeface="+mj-ea"/>
              </a:rPr>
              <a:t>LightGBM</a:t>
            </a:r>
            <a:r>
              <a:rPr lang="en-US" altLang="zh-CN" sz="2400" kern="100" dirty="0">
                <a:effectLst/>
                <a:latin typeface="+mj-ea"/>
                <a:ea typeface="+mj-ea"/>
              </a:rPr>
              <a:t> </a:t>
            </a:r>
            <a:r>
              <a:rPr lang="zh-CN" altLang="zh-CN" sz="2400" kern="100" dirty="0">
                <a:effectLst/>
                <a:latin typeface="+mj-ea"/>
                <a:ea typeface="+mj-ea"/>
              </a:rPr>
              <a:t>由微软提出，主要用于解决</a:t>
            </a:r>
            <a:r>
              <a:rPr lang="en-US" altLang="zh-CN" sz="2400" kern="100" dirty="0">
                <a:effectLst/>
                <a:latin typeface="+mj-ea"/>
                <a:ea typeface="+mj-ea"/>
              </a:rPr>
              <a:t> GDBT </a:t>
            </a:r>
            <a:r>
              <a:rPr lang="zh-CN" altLang="zh-CN" sz="2400" kern="100" dirty="0">
                <a:effectLst/>
                <a:latin typeface="+mj-ea"/>
                <a:ea typeface="+mj-ea"/>
              </a:rPr>
              <a:t>在海量数据中遇到的问题，以便其可以更好更快地用于工业实践中</a:t>
            </a:r>
            <a:r>
              <a:rPr lang="zh-CN" altLang="en-US" sz="2400" kern="100" dirty="0">
                <a:effectLst/>
                <a:latin typeface="+mj-ea"/>
                <a:ea typeface="+mj-ea"/>
              </a:rPr>
              <a:t>，</a:t>
            </a:r>
            <a:r>
              <a:rPr lang="zh-CN" altLang="zh-CN" sz="2400" kern="100" dirty="0">
                <a:effectLst/>
                <a:latin typeface="+mj-ea"/>
                <a:ea typeface="+mj-ea"/>
              </a:rPr>
              <a:t>其相对</a:t>
            </a:r>
            <a:r>
              <a:rPr lang="en-US" altLang="zh-CN" sz="2400" kern="100" dirty="0">
                <a:effectLst/>
                <a:latin typeface="+mj-ea"/>
                <a:ea typeface="+mj-ea"/>
              </a:rPr>
              <a:t> </a:t>
            </a:r>
            <a:r>
              <a:rPr lang="en-US" altLang="zh-CN" sz="2400" kern="100" dirty="0" err="1">
                <a:effectLst/>
                <a:latin typeface="+mj-ea"/>
                <a:ea typeface="+mj-ea"/>
              </a:rPr>
              <a:t>XGBoost</a:t>
            </a:r>
            <a:r>
              <a:rPr lang="en-US" altLang="zh-CN" sz="2400" kern="100" dirty="0">
                <a:effectLst/>
                <a:latin typeface="+mj-ea"/>
                <a:ea typeface="+mj-ea"/>
              </a:rPr>
              <a:t> </a:t>
            </a:r>
            <a:r>
              <a:rPr lang="zh-CN" altLang="zh-CN" sz="2400" kern="100" dirty="0">
                <a:effectLst/>
                <a:latin typeface="+mj-ea"/>
                <a:ea typeface="+mj-ea"/>
              </a:rPr>
              <a:t>具有训练速度快、内存占用低的特点。</a:t>
            </a:r>
            <a:endParaRPr lang="en-US" altLang="zh-CN" sz="2400" kern="100" dirty="0">
              <a:effectLst/>
              <a:latin typeface="+mj-ea"/>
              <a:ea typeface="+mj-ea"/>
            </a:endParaRPr>
          </a:p>
          <a:p>
            <a:pPr algn="just">
              <a:lnSpc>
                <a:spcPct val="150000"/>
              </a:lnSpc>
            </a:pPr>
            <a:r>
              <a:rPr lang="en-US" altLang="zh-CN" sz="2400" kern="100" dirty="0" err="1">
                <a:effectLst/>
                <a:latin typeface="+mj-ea"/>
                <a:ea typeface="+mj-ea"/>
              </a:rPr>
              <a:t>LightGBM</a:t>
            </a:r>
            <a:r>
              <a:rPr lang="zh-CN" altLang="zh-CN" sz="2400" kern="100" dirty="0">
                <a:effectLst/>
                <a:latin typeface="+mj-ea"/>
                <a:ea typeface="+mj-ea"/>
              </a:rPr>
              <a:t>与</a:t>
            </a:r>
            <a:r>
              <a:rPr lang="en-US" altLang="zh-CN" sz="2400" kern="100" dirty="0" err="1">
                <a:effectLst/>
                <a:latin typeface="+mj-ea"/>
                <a:ea typeface="+mj-ea"/>
              </a:rPr>
              <a:t>XGBoost</a:t>
            </a:r>
            <a:r>
              <a:rPr lang="zh-CN" altLang="zh-CN" sz="2400" kern="100" dirty="0">
                <a:effectLst/>
                <a:latin typeface="+mj-ea"/>
                <a:ea typeface="+mj-ea"/>
              </a:rPr>
              <a:t>相比，主要有以下几个优势：</a:t>
            </a:r>
          </a:p>
          <a:p>
            <a:pPr indent="266700" algn="just">
              <a:lnSpc>
                <a:spcPct val="150000"/>
              </a:lnSpc>
            </a:pPr>
            <a:r>
              <a:rPr lang="en-US" altLang="zh-CN" sz="2400" kern="100" dirty="0">
                <a:effectLst/>
                <a:latin typeface="+mj-ea"/>
                <a:ea typeface="+mj-ea"/>
              </a:rPr>
              <a:t>1</a:t>
            </a:r>
            <a:r>
              <a:rPr lang="zh-CN" altLang="zh-CN" sz="2400" kern="100" dirty="0">
                <a:effectLst/>
                <a:latin typeface="+mj-ea"/>
                <a:ea typeface="+mj-ea"/>
              </a:rPr>
              <a:t>）更快的训练速度</a:t>
            </a:r>
          </a:p>
          <a:p>
            <a:pPr indent="266700" algn="just">
              <a:lnSpc>
                <a:spcPct val="150000"/>
              </a:lnSpc>
            </a:pPr>
            <a:r>
              <a:rPr lang="en-US" altLang="zh-CN" sz="2400" kern="100" dirty="0">
                <a:effectLst/>
                <a:latin typeface="+mj-ea"/>
                <a:ea typeface="+mj-ea"/>
              </a:rPr>
              <a:t>2</a:t>
            </a:r>
            <a:r>
              <a:rPr lang="zh-CN" altLang="zh-CN" sz="2400" kern="100" dirty="0">
                <a:effectLst/>
                <a:latin typeface="+mj-ea"/>
                <a:ea typeface="+mj-ea"/>
              </a:rPr>
              <a:t>）更低的内存消耗</a:t>
            </a:r>
          </a:p>
          <a:p>
            <a:pPr indent="266700" algn="just">
              <a:lnSpc>
                <a:spcPct val="150000"/>
              </a:lnSpc>
            </a:pPr>
            <a:r>
              <a:rPr lang="en-US" altLang="zh-CN" sz="2400" kern="100" dirty="0">
                <a:effectLst/>
                <a:latin typeface="+mj-ea"/>
                <a:ea typeface="+mj-ea"/>
              </a:rPr>
              <a:t>3</a:t>
            </a:r>
            <a:r>
              <a:rPr lang="zh-CN" altLang="zh-CN" sz="2400" kern="100" dirty="0">
                <a:effectLst/>
                <a:latin typeface="+mj-ea"/>
                <a:ea typeface="+mj-ea"/>
              </a:rPr>
              <a:t>）更好的准确率</a:t>
            </a:r>
          </a:p>
          <a:p>
            <a:pPr indent="266700" algn="just">
              <a:lnSpc>
                <a:spcPct val="150000"/>
              </a:lnSpc>
            </a:pPr>
            <a:r>
              <a:rPr lang="en-US" altLang="zh-CN" sz="2400" kern="100" dirty="0">
                <a:effectLst/>
                <a:latin typeface="+mj-ea"/>
                <a:ea typeface="+mj-ea"/>
              </a:rPr>
              <a:t>4</a:t>
            </a:r>
            <a:r>
              <a:rPr lang="zh-CN" altLang="zh-CN" sz="2400" kern="100" dirty="0">
                <a:effectLst/>
                <a:latin typeface="+mj-ea"/>
                <a:ea typeface="+mj-ea"/>
              </a:rPr>
              <a:t>）分布式支持，可快速处理海量数据</a:t>
            </a:r>
          </a:p>
        </p:txBody>
      </p:sp>
    </p:spTree>
    <p:extLst>
      <p:ext uri="{BB962C8B-B14F-4D97-AF65-F5344CB8AC3E}">
        <p14:creationId xmlns:p14="http://schemas.microsoft.com/office/powerpoint/2010/main" val="708948968"/>
      </p:ext>
    </p:extLst>
  </p:cSld>
  <p:clrMapOvr>
    <a:masterClrMapping/>
  </p:clrMapOvr>
  <p:transition advTm="8005"/>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4.LightGBM</a:t>
            </a:r>
            <a:endParaRPr lang="zh-CN" altLang="en-US" dirty="0">
              <a:solidFill>
                <a:schemeClr val="tx1"/>
              </a:solidFill>
            </a:endParaRPr>
          </a:p>
        </p:txBody>
      </p:sp>
      <p:sp>
        <p:nvSpPr>
          <p:cNvPr id="11" name="文本框 10">
            <a:extLst>
              <a:ext uri="{FF2B5EF4-FFF2-40B4-BE49-F238E27FC236}">
                <a16:creationId xmlns:a16="http://schemas.microsoft.com/office/drawing/2014/main" id="{8257A49D-8528-42C1-A3D4-D6D48F9C5FC9}"/>
              </a:ext>
            </a:extLst>
          </p:cNvPr>
          <p:cNvSpPr txBox="1"/>
          <p:nvPr/>
        </p:nvSpPr>
        <p:spPr>
          <a:xfrm>
            <a:off x="621203" y="1346750"/>
            <a:ext cx="10954911" cy="3062377"/>
          </a:xfrm>
          <a:prstGeom prst="rect">
            <a:avLst/>
          </a:prstGeom>
          <a:noFill/>
        </p:spPr>
        <p:txBody>
          <a:bodyPr wrap="square">
            <a:spAutoFit/>
          </a:bodyPr>
          <a:lstStyle/>
          <a:p>
            <a:pPr algn="just">
              <a:lnSpc>
                <a:spcPct val="150000"/>
              </a:lnSpc>
            </a:pPr>
            <a:r>
              <a:rPr lang="en-US" altLang="zh-CN" sz="2400" b="1" kern="100" dirty="0" err="1">
                <a:effectLst/>
                <a:latin typeface="+mj-ea"/>
                <a:ea typeface="+mj-ea"/>
              </a:rPr>
              <a:t>LightGBM</a:t>
            </a:r>
            <a:r>
              <a:rPr lang="en-US" altLang="zh-CN" sz="2400" kern="100" dirty="0">
                <a:effectLst/>
                <a:latin typeface="+mj-ea"/>
                <a:ea typeface="+mj-ea"/>
              </a:rPr>
              <a:t> </a:t>
            </a:r>
            <a:r>
              <a:rPr lang="zh-CN" altLang="en-US" sz="2400" kern="100" dirty="0">
                <a:effectLst/>
                <a:latin typeface="+mj-ea"/>
                <a:ea typeface="+mj-ea"/>
              </a:rPr>
              <a:t>的主要改进</a:t>
            </a:r>
            <a:endParaRPr lang="en-US" altLang="zh-CN" sz="2400" kern="100" dirty="0">
              <a:effectLst/>
              <a:latin typeface="+mj-ea"/>
              <a:ea typeface="+mj-ea"/>
            </a:endParaRPr>
          </a:p>
          <a:p>
            <a:pPr algn="just">
              <a:lnSpc>
                <a:spcPct val="150000"/>
              </a:lnSpc>
            </a:pPr>
            <a:r>
              <a:rPr lang="en-US" altLang="zh-CN" sz="2400" kern="100" dirty="0" err="1">
                <a:effectLst/>
                <a:latin typeface="+mj-ea"/>
                <a:ea typeface="+mj-ea"/>
              </a:rPr>
              <a:t>LightGBM</a:t>
            </a:r>
            <a:r>
              <a:rPr lang="zh-CN" altLang="zh-CN" sz="2400" kern="100" dirty="0">
                <a:effectLst/>
                <a:latin typeface="+mj-ea"/>
                <a:ea typeface="+mj-ea"/>
              </a:rPr>
              <a:t>与</a:t>
            </a:r>
            <a:r>
              <a:rPr lang="en-US" altLang="zh-CN" sz="2400" kern="100" dirty="0" err="1">
                <a:effectLst/>
                <a:latin typeface="+mj-ea"/>
                <a:ea typeface="+mj-ea"/>
              </a:rPr>
              <a:t>XGBoost</a:t>
            </a:r>
            <a:r>
              <a:rPr lang="zh-CN" altLang="zh-CN" sz="2400" kern="100" dirty="0">
                <a:effectLst/>
                <a:latin typeface="+mj-ea"/>
                <a:ea typeface="+mj-ea"/>
              </a:rPr>
              <a:t>相比，主要有以下几个</a:t>
            </a:r>
            <a:r>
              <a:rPr lang="zh-CN" altLang="en-US" sz="2400" kern="100" dirty="0">
                <a:effectLst/>
                <a:latin typeface="+mj-ea"/>
                <a:ea typeface="+mj-ea"/>
              </a:rPr>
              <a:t>改进</a:t>
            </a:r>
            <a:r>
              <a:rPr lang="zh-CN" altLang="zh-CN" sz="2400" kern="100" dirty="0">
                <a:effectLst/>
                <a:latin typeface="+mj-ea"/>
                <a:ea typeface="+mj-ea"/>
              </a:rPr>
              <a:t>：</a:t>
            </a:r>
          </a:p>
          <a:p>
            <a:pPr marL="342900" indent="-342900">
              <a:spcAft>
                <a:spcPts val="1000"/>
              </a:spcAft>
              <a:buFont typeface="Arial" panose="020B0604020202020204" pitchFamily="34" charset="0"/>
              <a:buChar char="•"/>
            </a:pPr>
            <a:r>
              <a:rPr lang="zh-CN" altLang="zh-CN" sz="2400" kern="100" dirty="0">
                <a:effectLst/>
                <a:latin typeface="微软雅黑" panose="020B0503020204020204" pitchFamily="34" charset="-122"/>
                <a:cs typeface="Times New Roman" panose="02020603050405020304" pitchFamily="18" charset="0"/>
              </a:rPr>
              <a:t>基于梯度的单边采样算法（</a:t>
            </a:r>
            <a:r>
              <a:rPr lang="en-US" altLang="zh-CN" sz="2400" kern="100" dirty="0">
                <a:effectLst/>
                <a:latin typeface="微软雅黑" panose="020B0503020204020204" pitchFamily="34" charset="-122"/>
                <a:cs typeface="Times New Roman" panose="02020603050405020304" pitchFamily="18" charset="0"/>
              </a:rPr>
              <a:t>Gradient-based One-Side Sampling, GOSS</a:t>
            </a:r>
            <a:r>
              <a:rPr lang="zh-CN" altLang="zh-CN" sz="2400" kern="100" dirty="0">
                <a:effectLst/>
                <a:latin typeface="微软雅黑" panose="020B0503020204020204" pitchFamily="34" charset="-122"/>
                <a:cs typeface="Times New Roman" panose="02020603050405020304" pitchFamily="18" charset="0"/>
              </a:rPr>
              <a:t>）</a:t>
            </a:r>
            <a:r>
              <a:rPr lang="zh-CN" altLang="en-US" sz="2400" kern="100" dirty="0">
                <a:effectLst/>
                <a:latin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ndParaRPr>
          </a:p>
          <a:p>
            <a:pPr marL="342900" indent="-342900">
              <a:spcAft>
                <a:spcPts val="1000"/>
              </a:spcAft>
              <a:buFont typeface="Arial" panose="020B0604020202020204" pitchFamily="34" charset="0"/>
              <a:buChar char="•"/>
            </a:pPr>
            <a:r>
              <a:rPr lang="zh-CN" altLang="zh-CN" sz="2400" kern="100" dirty="0">
                <a:effectLst/>
                <a:latin typeface="微软雅黑" panose="020B0503020204020204" pitchFamily="34" charset="-122"/>
                <a:cs typeface="Times New Roman" panose="02020603050405020304" pitchFamily="18" charset="0"/>
              </a:rPr>
              <a:t>互斥特征捆绑算法（</a:t>
            </a:r>
            <a:r>
              <a:rPr lang="en-US" altLang="zh-CN" sz="2400" kern="100" dirty="0">
                <a:effectLst/>
                <a:latin typeface="微软雅黑" panose="020B0503020204020204" pitchFamily="34" charset="-122"/>
                <a:cs typeface="Times New Roman" panose="02020603050405020304" pitchFamily="18" charset="0"/>
              </a:rPr>
              <a:t>Exclusive Feature Bundling, EFB</a:t>
            </a:r>
            <a:r>
              <a:rPr lang="zh-CN" altLang="zh-CN" sz="2400" kern="100" dirty="0">
                <a:effectLst/>
                <a:latin typeface="微软雅黑" panose="020B0503020204020204" pitchFamily="34" charset="-122"/>
                <a:cs typeface="Times New Roman" panose="02020603050405020304" pitchFamily="18" charset="0"/>
              </a:rPr>
              <a:t>）</a:t>
            </a:r>
            <a:r>
              <a:rPr lang="zh-CN" altLang="zh-CN" kern="100" dirty="0">
                <a:latin typeface="+mj-ea"/>
                <a:ea typeface="+mj-ea"/>
                <a:cs typeface="Times New Roman" panose="02020603050405020304" pitchFamily="18" charset="0"/>
              </a:rPr>
              <a:t>；</a:t>
            </a:r>
            <a:endParaRPr lang="zh-CN" altLang="zh-CN" kern="100" dirty="0">
              <a:effectLst/>
              <a:latin typeface="+mj-ea"/>
              <a:ea typeface="+mj-ea"/>
              <a:cs typeface="Times New Roman" panose="02020603050405020304" pitchFamily="18" charset="0"/>
            </a:endParaRPr>
          </a:p>
          <a:p>
            <a:pPr marL="342900" lvl="0" indent="-342900" algn="l">
              <a:spcAft>
                <a:spcPts val="1000"/>
              </a:spcAft>
              <a:buFont typeface="Arial" panose="020B0604020202020204" pitchFamily="34" charset="0"/>
              <a:buChar char="•"/>
            </a:pPr>
            <a:r>
              <a:rPr lang="zh-CN" altLang="zh-CN" kern="100" dirty="0">
                <a:effectLst/>
                <a:latin typeface="+mj-ea"/>
                <a:ea typeface="+mj-ea"/>
                <a:cs typeface="Times New Roman" panose="02020603050405020304" pitchFamily="18" charset="0"/>
              </a:rPr>
              <a:t>直方图算法</a:t>
            </a:r>
            <a:r>
              <a:rPr lang="zh-CN" altLang="en-US" kern="100" dirty="0">
                <a:latin typeface="+mj-ea"/>
                <a:ea typeface="+mj-ea"/>
                <a:cs typeface="Times New Roman" panose="02020603050405020304" pitchFamily="18" charset="0"/>
              </a:rPr>
              <a:t>（</a:t>
            </a:r>
            <a:r>
              <a:rPr lang="en-US" altLang="zh-CN" kern="100" dirty="0">
                <a:latin typeface="+mj-ea"/>
                <a:ea typeface="+mj-ea"/>
                <a:cs typeface="Times New Roman" panose="02020603050405020304" pitchFamily="18" charset="0"/>
              </a:rPr>
              <a:t> Histogram </a:t>
            </a:r>
            <a:r>
              <a:rPr lang="zh-CN" altLang="en-US" kern="100" dirty="0">
                <a:effectLst/>
                <a:latin typeface="+mj-ea"/>
                <a:ea typeface="+mj-ea"/>
                <a:cs typeface="Times New Roman" panose="02020603050405020304" pitchFamily="18" charset="0"/>
              </a:rPr>
              <a:t>）</a:t>
            </a:r>
            <a:r>
              <a:rPr lang="zh-CN" altLang="zh-CN" kern="100" dirty="0">
                <a:effectLst/>
                <a:latin typeface="+mj-ea"/>
                <a:ea typeface="+mj-ea"/>
                <a:cs typeface="Times New Roman" panose="02020603050405020304" pitchFamily="18" charset="0"/>
              </a:rPr>
              <a:t>；</a:t>
            </a:r>
          </a:p>
          <a:p>
            <a:pPr marL="342900" lvl="0" indent="-342900" algn="l">
              <a:spcAft>
                <a:spcPts val="1000"/>
              </a:spcAft>
              <a:buFont typeface="Arial" panose="020B0604020202020204" pitchFamily="34" charset="0"/>
              <a:buChar char="•"/>
            </a:pPr>
            <a:r>
              <a:rPr lang="zh-CN" altLang="zh-CN" kern="100" dirty="0">
                <a:effectLst/>
                <a:latin typeface="+mj-ea"/>
                <a:ea typeface="+mj-ea"/>
                <a:cs typeface="Times New Roman" panose="02020603050405020304" pitchFamily="18" charset="0"/>
              </a:rPr>
              <a:t>基于最大深度的</a:t>
            </a:r>
            <a:r>
              <a:rPr lang="en-US" altLang="zh-CN" kern="100" dirty="0">
                <a:effectLst/>
                <a:latin typeface="+mj-ea"/>
                <a:ea typeface="+mj-ea"/>
                <a:cs typeface="Times New Roman" panose="02020603050405020304" pitchFamily="18" charset="0"/>
              </a:rPr>
              <a:t> Leaf-wise </a:t>
            </a:r>
            <a:r>
              <a:rPr lang="zh-CN" altLang="zh-CN" kern="100" dirty="0">
                <a:effectLst/>
                <a:latin typeface="+mj-ea"/>
                <a:ea typeface="+mj-ea"/>
                <a:cs typeface="Times New Roman" panose="02020603050405020304" pitchFamily="18" charset="0"/>
              </a:rPr>
              <a:t>的垂直生长算法；</a:t>
            </a:r>
          </a:p>
        </p:txBody>
      </p:sp>
      <p:sp>
        <p:nvSpPr>
          <p:cNvPr id="5" name="文本框 4">
            <a:extLst>
              <a:ext uri="{FF2B5EF4-FFF2-40B4-BE49-F238E27FC236}">
                <a16:creationId xmlns:a16="http://schemas.microsoft.com/office/drawing/2014/main" id="{699EA42B-413D-4263-8EC6-FC49B3B43557}"/>
              </a:ext>
            </a:extLst>
          </p:cNvPr>
          <p:cNvSpPr txBox="1"/>
          <p:nvPr/>
        </p:nvSpPr>
        <p:spPr>
          <a:xfrm>
            <a:off x="668338" y="5049585"/>
            <a:ext cx="9026769" cy="461665"/>
          </a:xfrm>
          <a:prstGeom prst="rect">
            <a:avLst/>
          </a:prstGeom>
          <a:noFill/>
        </p:spPr>
        <p:txBody>
          <a:bodyPr wrap="square">
            <a:spAutoFit/>
          </a:bodyPr>
          <a:lstStyle/>
          <a:p>
            <a:r>
              <a:rPr lang="en-US" altLang="zh-CN" b="1" i="0" dirty="0" err="1">
                <a:solidFill>
                  <a:srgbClr val="FF0000"/>
                </a:solidFill>
                <a:effectLst/>
                <a:latin typeface="微软雅黑" panose="020B0503020204020204" pitchFamily="34" charset="-122"/>
              </a:rPr>
              <a:t>LightGBM</a:t>
            </a:r>
            <a:r>
              <a:rPr lang="en-US" altLang="zh-CN" b="1" i="0" dirty="0">
                <a:solidFill>
                  <a:srgbClr val="FF0000"/>
                </a:solidFill>
                <a:effectLst/>
                <a:latin typeface="微软雅黑" panose="020B0503020204020204" pitchFamily="34" charset="-122"/>
              </a:rPr>
              <a:t> = </a:t>
            </a:r>
            <a:r>
              <a:rPr lang="en-US" altLang="zh-CN" b="1" i="0" dirty="0" err="1">
                <a:solidFill>
                  <a:srgbClr val="FF0000"/>
                </a:solidFill>
                <a:effectLst/>
                <a:latin typeface="微软雅黑" panose="020B0503020204020204" pitchFamily="34" charset="-122"/>
              </a:rPr>
              <a:t>XGBoost</a:t>
            </a:r>
            <a:r>
              <a:rPr lang="en-US" altLang="zh-CN" b="1" i="0" dirty="0">
                <a:solidFill>
                  <a:srgbClr val="FF0000"/>
                </a:solidFill>
                <a:effectLst/>
                <a:latin typeface="微软雅黑" panose="020B0503020204020204" pitchFamily="34" charset="-122"/>
              </a:rPr>
              <a:t> + GOSS + </a:t>
            </a:r>
            <a:r>
              <a:rPr lang="en-US" altLang="zh-CN" b="1" dirty="0">
                <a:solidFill>
                  <a:srgbClr val="FF0000"/>
                </a:solidFill>
                <a:latin typeface="微软雅黑" panose="020B0503020204020204" pitchFamily="34" charset="-122"/>
              </a:rPr>
              <a:t>EFB+ Histogram </a:t>
            </a:r>
            <a:endParaRPr lang="zh-CN" altLang="en-US" b="1" dirty="0">
              <a:solidFill>
                <a:srgbClr val="FF0000"/>
              </a:solidFill>
              <a:latin typeface="微软雅黑" panose="020B0503020204020204" pitchFamily="34" charset="-122"/>
            </a:endParaRPr>
          </a:p>
        </p:txBody>
      </p:sp>
    </p:spTree>
    <p:extLst>
      <p:ext uri="{BB962C8B-B14F-4D97-AF65-F5344CB8AC3E}">
        <p14:creationId xmlns:p14="http://schemas.microsoft.com/office/powerpoint/2010/main" val="3451921140"/>
      </p:ext>
    </p:extLst>
  </p:cSld>
  <p:clrMapOvr>
    <a:masterClrMapping/>
  </p:clrMapOvr>
  <p:transition advTm="8005"/>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4.LightGBM</a:t>
            </a:r>
            <a:endParaRPr lang="zh-CN" altLang="en-US" dirty="0">
              <a:solidFill>
                <a:schemeClr val="tx1"/>
              </a:solidFill>
            </a:endParaRPr>
          </a:p>
        </p:txBody>
      </p:sp>
      <p:sp>
        <p:nvSpPr>
          <p:cNvPr id="11" name="文本框 10">
            <a:extLst>
              <a:ext uri="{FF2B5EF4-FFF2-40B4-BE49-F238E27FC236}">
                <a16:creationId xmlns:a16="http://schemas.microsoft.com/office/drawing/2014/main" id="{8257A49D-8528-42C1-A3D4-D6D48F9C5FC9}"/>
              </a:ext>
            </a:extLst>
          </p:cNvPr>
          <p:cNvSpPr txBox="1"/>
          <p:nvPr/>
        </p:nvSpPr>
        <p:spPr>
          <a:xfrm>
            <a:off x="668337" y="1548387"/>
            <a:ext cx="10824967" cy="461665"/>
          </a:xfrm>
          <a:prstGeom prst="rect">
            <a:avLst/>
          </a:prstGeom>
          <a:noFill/>
        </p:spPr>
        <p:txBody>
          <a:bodyPr wrap="square">
            <a:spAutoFit/>
          </a:bodyPr>
          <a:lstStyle/>
          <a:p>
            <a:pPr lvl="0" algn="l">
              <a:spcAft>
                <a:spcPts val="1000"/>
              </a:spcAft>
            </a:pPr>
            <a:r>
              <a:rPr lang="zh-CN" altLang="en-US" b="1" kern="100" dirty="0">
                <a:effectLst/>
                <a:latin typeface="+mj-ea"/>
                <a:ea typeface="+mj-ea"/>
                <a:cs typeface="Times New Roman" panose="02020603050405020304" pitchFamily="18" charset="0"/>
              </a:rPr>
              <a:t>基于梯度的单边采样算法（</a:t>
            </a:r>
            <a:r>
              <a:rPr lang="en-US" altLang="zh-CN" b="1" kern="100" dirty="0">
                <a:effectLst/>
                <a:latin typeface="+mj-ea"/>
                <a:ea typeface="+mj-ea"/>
                <a:cs typeface="Times New Roman" panose="02020603050405020304" pitchFamily="18" charset="0"/>
              </a:rPr>
              <a:t>Gradient-based One-Side Sampling, GOSS</a:t>
            </a:r>
            <a:r>
              <a:rPr lang="zh-CN" altLang="en-US" b="1" kern="100" dirty="0">
                <a:effectLst/>
                <a:latin typeface="+mj-ea"/>
                <a:ea typeface="+mj-ea"/>
                <a:cs typeface="Times New Roman" panose="02020603050405020304" pitchFamily="18" charset="0"/>
              </a:rPr>
              <a:t>）</a:t>
            </a:r>
            <a:endParaRPr lang="zh-CN" altLang="zh-CN" b="1" kern="100" dirty="0">
              <a:effectLst/>
              <a:latin typeface="+mj-ea"/>
              <a:ea typeface="+mj-ea"/>
              <a:cs typeface="Times New Roman" panose="02020603050405020304" pitchFamily="18" charset="0"/>
            </a:endParaRPr>
          </a:p>
        </p:txBody>
      </p:sp>
      <p:sp>
        <p:nvSpPr>
          <p:cNvPr id="5" name="文本框 4">
            <a:extLst>
              <a:ext uri="{FF2B5EF4-FFF2-40B4-BE49-F238E27FC236}">
                <a16:creationId xmlns:a16="http://schemas.microsoft.com/office/drawing/2014/main" id="{D1DFB934-4A0F-4889-AE98-679DF57AF596}"/>
              </a:ext>
            </a:extLst>
          </p:cNvPr>
          <p:cNvSpPr txBox="1"/>
          <p:nvPr/>
        </p:nvSpPr>
        <p:spPr>
          <a:xfrm>
            <a:off x="668337" y="2096996"/>
            <a:ext cx="11066585" cy="461665"/>
          </a:xfrm>
          <a:prstGeom prst="rect">
            <a:avLst/>
          </a:prstGeom>
          <a:noFill/>
        </p:spPr>
        <p:txBody>
          <a:bodyPr wrap="square">
            <a:spAutoFit/>
          </a:bodyPr>
          <a:lstStyle/>
          <a:p>
            <a:r>
              <a:rPr lang="zh-CN" altLang="en-US" b="0" i="0" dirty="0">
                <a:solidFill>
                  <a:srgbClr val="333333"/>
                </a:solidFill>
                <a:effectLst/>
                <a:latin typeface="-apple-system"/>
              </a:rPr>
              <a:t>主要思想是通过对样本采样的方法来减少计算目标函数增益时候的复杂度。</a:t>
            </a:r>
            <a:endParaRPr lang="zh-CN" altLang="en-US" dirty="0"/>
          </a:p>
        </p:txBody>
      </p:sp>
      <p:sp>
        <p:nvSpPr>
          <p:cNvPr id="8" name="文本框 7">
            <a:extLst>
              <a:ext uri="{FF2B5EF4-FFF2-40B4-BE49-F238E27FC236}">
                <a16:creationId xmlns:a16="http://schemas.microsoft.com/office/drawing/2014/main" id="{7C1A6518-4960-4368-95F2-5D5802431F17}"/>
              </a:ext>
            </a:extLst>
          </p:cNvPr>
          <p:cNvSpPr txBox="1"/>
          <p:nvPr/>
        </p:nvSpPr>
        <p:spPr>
          <a:xfrm>
            <a:off x="668337" y="2811849"/>
            <a:ext cx="10649245" cy="1130246"/>
          </a:xfrm>
          <a:prstGeom prst="rect">
            <a:avLst/>
          </a:prstGeom>
          <a:noFill/>
        </p:spPr>
        <p:txBody>
          <a:bodyPr wrap="square">
            <a:spAutoFit/>
          </a:bodyPr>
          <a:lstStyle/>
          <a:p>
            <a:pPr algn="just">
              <a:lnSpc>
                <a:spcPct val="150000"/>
              </a:lnSpc>
            </a:pPr>
            <a:r>
              <a:rPr lang="en-US" altLang="zh-CN" sz="2400" kern="100" dirty="0">
                <a:effectLst/>
                <a:latin typeface="+mj-ea"/>
                <a:ea typeface="+mj-ea"/>
              </a:rPr>
              <a:t>GOSS </a:t>
            </a:r>
            <a:r>
              <a:rPr lang="zh-CN" altLang="zh-CN" sz="2400" kern="100" dirty="0">
                <a:effectLst/>
                <a:latin typeface="+mj-ea"/>
                <a:ea typeface="+mj-ea"/>
              </a:rPr>
              <a:t>算法保留了梯度大的样本，并对梯度小的样本进行随机抽样，为了不改变样本的数据分布，在计算增益时为梯度小的样本引入一个常数进行平衡。</a:t>
            </a:r>
          </a:p>
        </p:txBody>
      </p:sp>
      <p:sp>
        <p:nvSpPr>
          <p:cNvPr id="7" name="文本框 6">
            <a:extLst>
              <a:ext uri="{FF2B5EF4-FFF2-40B4-BE49-F238E27FC236}">
                <a16:creationId xmlns:a16="http://schemas.microsoft.com/office/drawing/2014/main" id="{10A3B21D-F954-462A-A727-56FE4B8AD561}"/>
              </a:ext>
            </a:extLst>
          </p:cNvPr>
          <p:cNvSpPr txBox="1"/>
          <p:nvPr/>
        </p:nvSpPr>
        <p:spPr>
          <a:xfrm>
            <a:off x="668337" y="4709448"/>
            <a:ext cx="10698358" cy="830997"/>
          </a:xfrm>
          <a:prstGeom prst="rect">
            <a:avLst/>
          </a:prstGeom>
          <a:noFill/>
        </p:spPr>
        <p:txBody>
          <a:bodyPr wrap="square">
            <a:spAutoFit/>
          </a:bodyPr>
          <a:lstStyle/>
          <a:p>
            <a:r>
              <a:rPr lang="zh-CN" altLang="en-US" b="1" i="0" dirty="0">
                <a:solidFill>
                  <a:srgbClr val="FF0000"/>
                </a:solidFill>
                <a:effectLst/>
                <a:latin typeface="-apple-system"/>
              </a:rPr>
              <a:t>如果一个样本的梯度很小，说明该样本的训练误差很小，或者说该样本已经得到了很好的训练</a:t>
            </a:r>
            <a:r>
              <a:rPr lang="en-US" altLang="zh-CN" b="1" i="0" dirty="0">
                <a:solidFill>
                  <a:srgbClr val="FF0000"/>
                </a:solidFill>
                <a:effectLst/>
                <a:latin typeface="-apple-system"/>
              </a:rPr>
              <a:t>(well-trained)</a:t>
            </a:r>
            <a:r>
              <a:rPr lang="zh-CN" altLang="en-US" b="1" i="0" dirty="0">
                <a:solidFill>
                  <a:srgbClr val="FF0000"/>
                </a:solidFill>
                <a:effectLst/>
                <a:latin typeface="-apple-system"/>
              </a:rPr>
              <a:t>。</a:t>
            </a:r>
            <a:endParaRPr lang="zh-CN" altLang="en-US" b="1" dirty="0">
              <a:solidFill>
                <a:srgbClr val="FF0000"/>
              </a:solidFill>
            </a:endParaRPr>
          </a:p>
        </p:txBody>
      </p:sp>
    </p:spTree>
    <p:extLst>
      <p:ext uri="{BB962C8B-B14F-4D97-AF65-F5344CB8AC3E}">
        <p14:creationId xmlns:p14="http://schemas.microsoft.com/office/powerpoint/2010/main" val="3210429881"/>
      </p:ext>
    </p:extLst>
  </p:cSld>
  <p:clrMapOvr>
    <a:masterClrMapping/>
  </p:clrMapOvr>
  <p:transition advTm="8005"/>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4.LightGBM</a:t>
            </a:r>
            <a:endParaRPr lang="zh-CN" altLang="en-US" dirty="0">
              <a:solidFill>
                <a:schemeClr val="tx1"/>
              </a:solidFill>
            </a:endParaRPr>
          </a:p>
        </p:txBody>
      </p:sp>
      <p:sp>
        <p:nvSpPr>
          <p:cNvPr id="11" name="文本框 10">
            <a:extLst>
              <a:ext uri="{FF2B5EF4-FFF2-40B4-BE49-F238E27FC236}">
                <a16:creationId xmlns:a16="http://schemas.microsoft.com/office/drawing/2014/main" id="{8257A49D-8528-42C1-A3D4-D6D48F9C5FC9}"/>
              </a:ext>
            </a:extLst>
          </p:cNvPr>
          <p:cNvSpPr txBox="1"/>
          <p:nvPr/>
        </p:nvSpPr>
        <p:spPr>
          <a:xfrm>
            <a:off x="668337" y="1391977"/>
            <a:ext cx="10824967" cy="461665"/>
          </a:xfrm>
          <a:prstGeom prst="rect">
            <a:avLst/>
          </a:prstGeom>
          <a:noFill/>
        </p:spPr>
        <p:txBody>
          <a:bodyPr wrap="square">
            <a:spAutoFit/>
          </a:bodyPr>
          <a:lstStyle/>
          <a:p>
            <a:pPr lvl="0" algn="l">
              <a:spcAft>
                <a:spcPts val="1000"/>
              </a:spcAft>
            </a:pPr>
            <a:r>
              <a:rPr lang="zh-CN" altLang="en-US" b="1" kern="100" dirty="0">
                <a:effectLst/>
                <a:latin typeface="+mj-ea"/>
                <a:ea typeface="+mj-ea"/>
                <a:cs typeface="Times New Roman" panose="02020603050405020304" pitchFamily="18" charset="0"/>
              </a:rPr>
              <a:t>基于梯度的单边采样算法（</a:t>
            </a:r>
            <a:r>
              <a:rPr lang="en-US" altLang="zh-CN" b="1" kern="100" dirty="0">
                <a:effectLst/>
                <a:latin typeface="+mj-ea"/>
                <a:ea typeface="+mj-ea"/>
                <a:cs typeface="Times New Roman" panose="02020603050405020304" pitchFamily="18" charset="0"/>
              </a:rPr>
              <a:t>Gradient-based One-Side Sampling, GOSS</a:t>
            </a:r>
            <a:r>
              <a:rPr lang="zh-CN" altLang="en-US" b="1" kern="100" dirty="0">
                <a:effectLst/>
                <a:latin typeface="+mj-ea"/>
                <a:ea typeface="+mj-ea"/>
                <a:cs typeface="Times New Roman" panose="02020603050405020304" pitchFamily="18" charset="0"/>
              </a:rPr>
              <a:t>）</a:t>
            </a:r>
            <a:endParaRPr lang="zh-CN" altLang="zh-CN" b="1" kern="100" dirty="0">
              <a:effectLst/>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4F83D38-BFBD-4D0C-90B7-C8517321381E}"/>
                  </a:ext>
                </a:extLst>
              </p:cNvPr>
              <p:cNvSpPr txBox="1"/>
              <p:nvPr/>
            </p:nvSpPr>
            <p:spPr>
              <a:xfrm>
                <a:off x="668337" y="1853642"/>
                <a:ext cx="10592973" cy="4799263"/>
              </a:xfrm>
              <a:prstGeom prst="rect">
                <a:avLst/>
              </a:prstGeom>
              <a:noFill/>
            </p:spPr>
            <p:txBody>
              <a:bodyPr wrap="square">
                <a:spAutoFit/>
              </a:bodyPr>
              <a:lstStyle/>
              <a:p>
                <a:r>
                  <a:rPr lang="zh-CN" altLang="en-US" sz="2000" dirty="0"/>
                  <a:t>输入：训练数据，迭代步数d，大梯度数据的采样率a，小梯度数据的采样率b，损失函数和若学习器的类型（一般为决策树）</a:t>
                </a:r>
                <a:endParaRPr lang="en-US" altLang="zh-CN" sz="2000" dirty="0"/>
              </a:p>
              <a:p>
                <a:r>
                  <a:rPr lang="zh-CN" altLang="en-US" sz="2000" dirty="0"/>
                  <a:t>输出：训练好的强学习器</a:t>
                </a:r>
                <a:endParaRPr lang="en-US" altLang="zh-CN" sz="2000" dirty="0"/>
              </a:p>
              <a:p>
                <a:pPr>
                  <a:lnSpc>
                    <a:spcPct val="150000"/>
                  </a:lnSpc>
                </a:pPr>
                <a:r>
                  <a:rPr lang="zh-CN" altLang="en-US" sz="2000" dirty="0"/>
                  <a:t>（1）根据样本点的梯度的绝对值对它们进行降序排序；</a:t>
                </a:r>
                <a:endParaRPr lang="en-US" altLang="zh-CN" sz="2000" dirty="0"/>
              </a:p>
              <a:p>
                <a:pPr>
                  <a:lnSpc>
                    <a:spcPct val="150000"/>
                  </a:lnSpc>
                </a:pPr>
                <a:r>
                  <a:rPr lang="zh-CN" altLang="en-US" sz="2000" dirty="0"/>
                  <a:t>（2）对排序后的结果选取前a*100%的样本生成一个大梯度样本点的子集；</a:t>
                </a:r>
                <a:endParaRPr lang="en-US" altLang="zh-CN" sz="2000" dirty="0"/>
              </a:p>
              <a:p>
                <a:pPr>
                  <a:lnSpc>
                    <a:spcPct val="150000"/>
                  </a:lnSpc>
                </a:pPr>
                <a:r>
                  <a:rPr lang="zh-CN" altLang="en-US" sz="2000" dirty="0"/>
                  <a:t>（3）对剩下的样本集合</a:t>
                </a:r>
                <a:r>
                  <a:rPr lang="en-US" altLang="zh-CN" sz="2000" dirty="0"/>
                  <a:t>(</a:t>
                </a:r>
                <a:r>
                  <a:rPr lang="zh-CN" altLang="en-US" sz="2000" dirty="0"/>
                  <a:t>1-a</a:t>
                </a:r>
                <a:r>
                  <a:rPr lang="en-US" altLang="zh-CN" sz="2000" dirty="0"/>
                  <a:t>)</a:t>
                </a:r>
                <a:r>
                  <a:rPr lang="zh-CN" altLang="en-US" sz="2000" dirty="0"/>
                  <a:t>*100%的样本，随机的选取b *</a:t>
                </a:r>
                <a:r>
                  <a:rPr lang="en-US" altLang="zh-CN" sz="2000" dirty="0"/>
                  <a:t>(</a:t>
                </a:r>
                <a:r>
                  <a:rPr lang="zh-CN" altLang="en-US" sz="2000" dirty="0"/>
                  <a:t>1-a</a:t>
                </a:r>
                <a:r>
                  <a:rPr lang="en-US" altLang="zh-CN" sz="2000" dirty="0"/>
                  <a:t>)</a:t>
                </a:r>
                <a:r>
                  <a:rPr lang="zh-CN" altLang="en-US" sz="2000" dirty="0"/>
                  <a:t>*100%个样本点，生成一个小梯度样本点的集合；</a:t>
                </a:r>
                <a:endParaRPr lang="en-US" altLang="zh-CN" sz="2000" dirty="0"/>
              </a:p>
              <a:p>
                <a:pPr>
                  <a:lnSpc>
                    <a:spcPct val="150000"/>
                  </a:lnSpc>
                </a:pPr>
                <a:r>
                  <a:rPr lang="zh-CN" altLang="en-US" sz="2000" dirty="0"/>
                  <a:t>（4）将大梯度样本和采样的小梯度样本合并；</a:t>
                </a:r>
                <a:endParaRPr lang="en-US" altLang="zh-CN" sz="2000" dirty="0"/>
              </a:p>
              <a:p>
                <a:pPr>
                  <a:lnSpc>
                    <a:spcPct val="150000"/>
                  </a:lnSpc>
                </a:pPr>
                <a:r>
                  <a:rPr lang="zh-CN" altLang="en-US" sz="2000" dirty="0"/>
                  <a:t>（5）将小梯度样本乘上一个权重系数</a:t>
                </a:r>
                <a14:m>
                  <m:oMath xmlns:m="http://schemas.openxmlformats.org/officeDocument/2006/math">
                    <m:f>
                      <m:fPr>
                        <m:ctrlPr>
                          <a:rPr lang="zh-CN" altLang="zh-CN" sz="1800" i="1" smtClean="0">
                            <a:latin typeface="Cambria Math" panose="02040503050406030204" pitchFamily="18" charset="0"/>
                            <a:ea typeface="Cambria Math" panose="02040503050406030204" pitchFamily="18" charset="0"/>
                          </a:rPr>
                        </m:ctrlPr>
                      </m:fPr>
                      <m:num>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𝑎</m:t>
                        </m:r>
                      </m:num>
                      <m:den>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𝑏</m:t>
                        </m:r>
                      </m:den>
                    </m:f>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sz="2000" dirty="0"/>
                  <a:t>；</a:t>
                </a:r>
                <a:endParaRPr lang="en-US" altLang="zh-CN" sz="2000" dirty="0"/>
              </a:p>
              <a:p>
                <a:pPr>
                  <a:lnSpc>
                    <a:spcPct val="150000"/>
                  </a:lnSpc>
                </a:pPr>
                <a:r>
                  <a:rPr lang="zh-CN" altLang="en-US" sz="2000" dirty="0"/>
                  <a:t>（6）使用上述的采样的样本，学习一个新的弱学习器；</a:t>
                </a:r>
                <a:endParaRPr lang="en-US" altLang="zh-CN" sz="2000" dirty="0"/>
              </a:p>
              <a:p>
                <a:pPr>
                  <a:lnSpc>
                    <a:spcPct val="150000"/>
                  </a:lnSpc>
                </a:pPr>
                <a:r>
                  <a:rPr lang="zh-CN" altLang="en-US" sz="2000" dirty="0"/>
                  <a:t>（7）不断地重复（1）~（6）步骤直到达到规定的迭代次数或者收敛为止。</a:t>
                </a:r>
              </a:p>
            </p:txBody>
          </p:sp>
        </mc:Choice>
        <mc:Fallback xmlns="">
          <p:sp>
            <p:nvSpPr>
              <p:cNvPr id="9" name="文本框 8">
                <a:extLst>
                  <a:ext uri="{FF2B5EF4-FFF2-40B4-BE49-F238E27FC236}">
                    <a16:creationId xmlns:a16="http://schemas.microsoft.com/office/drawing/2014/main" id="{B4F83D38-BFBD-4D0C-90B7-C8517321381E}"/>
                  </a:ext>
                </a:extLst>
              </p:cNvPr>
              <p:cNvSpPr txBox="1">
                <a:spLocks noRot="1" noChangeAspect="1" noMove="1" noResize="1" noEditPoints="1" noAdjustHandles="1" noChangeArrowheads="1" noChangeShapeType="1" noTextEdit="1"/>
              </p:cNvSpPr>
              <p:nvPr/>
            </p:nvSpPr>
            <p:spPr>
              <a:xfrm>
                <a:off x="668337" y="1853642"/>
                <a:ext cx="10592973" cy="4799263"/>
              </a:xfrm>
              <a:prstGeom prst="rect">
                <a:avLst/>
              </a:prstGeom>
              <a:blipFill>
                <a:blip r:embed="rId3"/>
                <a:stretch>
                  <a:fillRect l="-633" t="-635" r="-518" b="-13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48342277"/>
      </p:ext>
    </p:extLst>
  </p:cSld>
  <p:clrMapOvr>
    <a:masterClrMapping/>
  </p:clrMapOvr>
  <p:transition advTm="8005"/>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4.LightGBM</a:t>
            </a:r>
            <a:endParaRPr lang="zh-CN" altLang="en-US" dirty="0">
              <a:solidFill>
                <a:schemeClr val="tx1"/>
              </a:solidFill>
            </a:endParaRPr>
          </a:p>
        </p:txBody>
      </p:sp>
      <p:sp>
        <p:nvSpPr>
          <p:cNvPr id="3" name="Rectangle 1">
            <a:extLst>
              <a:ext uri="{FF2B5EF4-FFF2-40B4-BE49-F238E27FC236}">
                <a16:creationId xmlns:a16="http://schemas.microsoft.com/office/drawing/2014/main" id="{9B7F1399-DB4D-4DCD-B4F1-4E32F6C3AA5F}"/>
              </a:ext>
            </a:extLst>
          </p:cNvPr>
          <p:cNvSpPr>
            <a:spLocks noChangeArrowheads="1"/>
          </p:cNvSpPr>
          <p:nvPr/>
        </p:nvSpPr>
        <p:spPr bwMode="auto">
          <a:xfrm>
            <a:off x="1871662" y="23066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3" name="文本框 12">
            <a:extLst>
              <a:ext uri="{FF2B5EF4-FFF2-40B4-BE49-F238E27FC236}">
                <a16:creationId xmlns:a16="http://schemas.microsoft.com/office/drawing/2014/main" id="{3679B423-AD35-40FE-91C6-307F2FEAEBE5}"/>
              </a:ext>
            </a:extLst>
          </p:cNvPr>
          <p:cNvSpPr txBox="1"/>
          <p:nvPr/>
        </p:nvSpPr>
        <p:spPr>
          <a:xfrm>
            <a:off x="1231654" y="1775630"/>
            <a:ext cx="897190" cy="276999"/>
          </a:xfrm>
          <a:prstGeom prst="rect">
            <a:avLst/>
          </a:prstGeom>
          <a:noFill/>
        </p:spPr>
        <p:txBody>
          <a:bodyPr wrap="square">
            <a:spAutoFit/>
          </a:bodyPr>
          <a:lstStyle/>
          <a:p>
            <a:r>
              <a:rPr lang="zh-CN" altLang="en-US" sz="1200" dirty="0"/>
              <a:t>样本序号</a:t>
            </a:r>
          </a:p>
        </p:txBody>
      </p:sp>
      <p:sp>
        <p:nvSpPr>
          <p:cNvPr id="15" name="文本框 14">
            <a:extLst>
              <a:ext uri="{FF2B5EF4-FFF2-40B4-BE49-F238E27FC236}">
                <a16:creationId xmlns:a16="http://schemas.microsoft.com/office/drawing/2014/main" id="{6D214300-3342-4BA2-9A08-691EB8582A13}"/>
              </a:ext>
            </a:extLst>
          </p:cNvPr>
          <p:cNvSpPr txBox="1"/>
          <p:nvPr/>
        </p:nvSpPr>
        <p:spPr>
          <a:xfrm>
            <a:off x="775104" y="2113694"/>
            <a:ext cx="2425302" cy="276999"/>
          </a:xfrm>
          <a:prstGeom prst="rect">
            <a:avLst/>
          </a:prstGeom>
          <a:noFill/>
        </p:spPr>
        <p:txBody>
          <a:bodyPr wrap="square">
            <a:spAutoFit/>
          </a:bodyPr>
          <a:lstStyle/>
          <a:p>
            <a:r>
              <a:rPr lang="zh-CN" altLang="en-US" sz="1200" dirty="0"/>
              <a:t>样本的特征取值</a:t>
            </a:r>
          </a:p>
        </p:txBody>
      </p:sp>
      <p:sp>
        <p:nvSpPr>
          <p:cNvPr id="17" name="文本框 16">
            <a:extLst>
              <a:ext uri="{FF2B5EF4-FFF2-40B4-BE49-F238E27FC236}">
                <a16:creationId xmlns:a16="http://schemas.microsoft.com/office/drawing/2014/main" id="{609918ED-B905-4568-A02E-70725B64537C}"/>
              </a:ext>
            </a:extLst>
          </p:cNvPr>
          <p:cNvSpPr txBox="1"/>
          <p:nvPr/>
        </p:nvSpPr>
        <p:spPr>
          <a:xfrm>
            <a:off x="941791" y="2489907"/>
            <a:ext cx="2258615" cy="276999"/>
          </a:xfrm>
          <a:prstGeom prst="rect">
            <a:avLst/>
          </a:prstGeom>
          <a:noFill/>
        </p:spPr>
        <p:txBody>
          <a:bodyPr wrap="square">
            <a:spAutoFit/>
          </a:bodyPr>
          <a:lstStyle/>
          <a:p>
            <a:r>
              <a:rPr lang="zh-CN" altLang="en-US" sz="1200" dirty="0"/>
              <a:t>样本的一阶导</a:t>
            </a:r>
          </a:p>
        </p:txBody>
      </p:sp>
      <p:sp>
        <p:nvSpPr>
          <p:cNvPr id="19" name="文本框 18">
            <a:extLst>
              <a:ext uri="{FF2B5EF4-FFF2-40B4-BE49-F238E27FC236}">
                <a16:creationId xmlns:a16="http://schemas.microsoft.com/office/drawing/2014/main" id="{C78C5946-FC99-4B24-BF4E-18ADC7D35A19}"/>
              </a:ext>
            </a:extLst>
          </p:cNvPr>
          <p:cNvSpPr txBox="1"/>
          <p:nvPr/>
        </p:nvSpPr>
        <p:spPr>
          <a:xfrm>
            <a:off x="941791" y="2827971"/>
            <a:ext cx="2063352" cy="276999"/>
          </a:xfrm>
          <a:prstGeom prst="rect">
            <a:avLst/>
          </a:prstGeom>
          <a:noFill/>
        </p:spPr>
        <p:txBody>
          <a:bodyPr wrap="square">
            <a:spAutoFit/>
          </a:bodyPr>
          <a:lstStyle/>
          <a:p>
            <a:r>
              <a:rPr lang="zh-CN" altLang="en-US" sz="1200" dirty="0"/>
              <a:t>样本的二阶导</a:t>
            </a:r>
          </a:p>
        </p:txBody>
      </p:sp>
      <mc:AlternateContent xmlns:mc="http://schemas.openxmlformats.org/markup-compatibility/2006" xmlns:a14="http://schemas.microsoft.com/office/drawing/2010/main">
        <mc:Choice Requires="a14">
          <p:graphicFrame>
            <p:nvGraphicFramePr>
              <p:cNvPr id="20" name="表格 19">
                <a:extLst>
                  <a:ext uri="{FF2B5EF4-FFF2-40B4-BE49-F238E27FC236}">
                    <a16:creationId xmlns:a16="http://schemas.microsoft.com/office/drawing/2014/main" id="{BD34356E-EAF8-4F51-BF90-48E2DA90E938}"/>
                  </a:ext>
                </a:extLst>
              </p:cNvPr>
              <p:cNvGraphicFramePr>
                <a:graphicFrameLocks noGrp="1"/>
              </p:cNvGraphicFramePr>
              <p:nvPr>
                <p:extLst>
                  <p:ext uri="{D42A27DB-BD31-4B8C-83A1-F6EECF244321}">
                    <p14:modId xmlns:p14="http://schemas.microsoft.com/office/powerpoint/2010/main" val="3385270254"/>
                  </p:ext>
                </p:extLst>
              </p:nvPr>
            </p:nvGraphicFramePr>
            <p:xfrm>
              <a:off x="2200275" y="1746339"/>
              <a:ext cx="5908989" cy="1468916"/>
            </p:xfrm>
            <a:graphic>
              <a:graphicData uri="http://schemas.openxmlformats.org/drawingml/2006/table">
                <a:tbl>
                  <a:tblPr>
                    <a:tableStyleId>{16D9F66E-5EB9-4882-86FB-DCBF35E3C3E4}</a:tableStyleId>
                  </a:tblPr>
                  <a:tblGrid>
                    <a:gridCol w="530992">
                      <a:extLst>
                        <a:ext uri="{9D8B030D-6E8A-4147-A177-3AD203B41FA5}">
                          <a16:colId xmlns:a16="http://schemas.microsoft.com/office/drawing/2014/main" val="1249735316"/>
                        </a:ext>
                      </a:extLst>
                    </a:gridCol>
                    <a:gridCol w="672160">
                      <a:extLst>
                        <a:ext uri="{9D8B030D-6E8A-4147-A177-3AD203B41FA5}">
                          <a16:colId xmlns:a16="http://schemas.microsoft.com/office/drawing/2014/main" val="1599078345"/>
                        </a:ext>
                      </a:extLst>
                    </a:gridCol>
                    <a:gridCol w="672160">
                      <a:extLst>
                        <a:ext uri="{9D8B030D-6E8A-4147-A177-3AD203B41FA5}">
                          <a16:colId xmlns:a16="http://schemas.microsoft.com/office/drawing/2014/main" val="1421292375"/>
                        </a:ext>
                      </a:extLst>
                    </a:gridCol>
                    <a:gridCol w="672160">
                      <a:extLst>
                        <a:ext uri="{9D8B030D-6E8A-4147-A177-3AD203B41FA5}">
                          <a16:colId xmlns:a16="http://schemas.microsoft.com/office/drawing/2014/main" val="823422371"/>
                        </a:ext>
                      </a:extLst>
                    </a:gridCol>
                    <a:gridCol w="672160">
                      <a:extLst>
                        <a:ext uri="{9D8B030D-6E8A-4147-A177-3AD203B41FA5}">
                          <a16:colId xmlns:a16="http://schemas.microsoft.com/office/drawing/2014/main" val="2480129256"/>
                        </a:ext>
                      </a:extLst>
                    </a:gridCol>
                    <a:gridCol w="672160">
                      <a:extLst>
                        <a:ext uri="{9D8B030D-6E8A-4147-A177-3AD203B41FA5}">
                          <a16:colId xmlns:a16="http://schemas.microsoft.com/office/drawing/2014/main" val="1831886132"/>
                        </a:ext>
                      </a:extLst>
                    </a:gridCol>
                    <a:gridCol w="672160">
                      <a:extLst>
                        <a:ext uri="{9D8B030D-6E8A-4147-A177-3AD203B41FA5}">
                          <a16:colId xmlns:a16="http://schemas.microsoft.com/office/drawing/2014/main" val="1113351770"/>
                        </a:ext>
                      </a:extLst>
                    </a:gridCol>
                    <a:gridCol w="672160">
                      <a:extLst>
                        <a:ext uri="{9D8B030D-6E8A-4147-A177-3AD203B41FA5}">
                          <a16:colId xmlns:a16="http://schemas.microsoft.com/office/drawing/2014/main" val="3932908683"/>
                        </a:ext>
                      </a:extLst>
                    </a:gridCol>
                    <a:gridCol w="672877">
                      <a:extLst>
                        <a:ext uri="{9D8B030D-6E8A-4147-A177-3AD203B41FA5}">
                          <a16:colId xmlns:a16="http://schemas.microsoft.com/office/drawing/2014/main" val="3512341128"/>
                        </a:ext>
                      </a:extLst>
                    </a:gridCol>
                  </a:tblGrid>
                  <a:tr h="367229">
                    <a:tc>
                      <a:txBody>
                        <a:bodyPr/>
                        <a:lstStyle/>
                        <a:p>
                          <a:pPr algn="just"/>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𝑖</m:t>
                                </m:r>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1705634783"/>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𝑥</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2.5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3.0</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5.0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2954762"/>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𝑔</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3412011"/>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i="1" kern="1200" dirty="0" smtClean="0">
                                        <a:effectLst/>
                                        <a:latin typeface="Cambria Math" panose="02040503050406030204" pitchFamily="18" charset="0"/>
                                      </a:rPr>
                                    </m:ctrlPr>
                                  </m:sSubPr>
                                  <m:e>
                                    <m:r>
                                      <a:rPr lang="en-US" altLang="zh-CN" sz="1600" kern="1200" dirty="0" smtClean="0">
                                        <a:effectLst/>
                                        <a:latin typeface="Cambria Math" panose="02040503050406030204" pitchFamily="18" charset="0"/>
                                      </a:rPr>
                                      <m:t>h</m:t>
                                    </m:r>
                                  </m:e>
                                  <m:sub>
                                    <m:r>
                                      <a:rPr lang="en-US" altLang="zh-CN" sz="1600" kern="12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dirty="0">
                              <a:effectLst/>
                            </a:rPr>
                            <a:t>0.02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8597207"/>
                      </a:ext>
                    </a:extLst>
                  </a:tr>
                </a:tbl>
              </a:graphicData>
            </a:graphic>
          </p:graphicFrame>
        </mc:Choice>
        <mc:Fallback xmlns="">
          <p:graphicFrame>
            <p:nvGraphicFramePr>
              <p:cNvPr id="20" name="表格 19">
                <a:extLst>
                  <a:ext uri="{FF2B5EF4-FFF2-40B4-BE49-F238E27FC236}">
                    <a16:creationId xmlns:a16="http://schemas.microsoft.com/office/drawing/2014/main" id="{BD34356E-EAF8-4F51-BF90-48E2DA90E938}"/>
                  </a:ext>
                </a:extLst>
              </p:cNvPr>
              <p:cNvGraphicFramePr>
                <a:graphicFrameLocks noGrp="1"/>
              </p:cNvGraphicFramePr>
              <p:nvPr>
                <p:extLst>
                  <p:ext uri="{D42A27DB-BD31-4B8C-83A1-F6EECF244321}">
                    <p14:modId xmlns:p14="http://schemas.microsoft.com/office/powerpoint/2010/main" val="3385270254"/>
                  </p:ext>
                </p:extLst>
              </p:nvPr>
            </p:nvGraphicFramePr>
            <p:xfrm>
              <a:off x="2200275" y="1746339"/>
              <a:ext cx="5908989" cy="1468916"/>
            </p:xfrm>
            <a:graphic>
              <a:graphicData uri="http://schemas.openxmlformats.org/drawingml/2006/table">
                <a:tbl>
                  <a:tblPr>
                    <a:tableStyleId>{16D9F66E-5EB9-4882-86FB-DCBF35E3C3E4}</a:tableStyleId>
                  </a:tblPr>
                  <a:tblGrid>
                    <a:gridCol w="530992">
                      <a:extLst>
                        <a:ext uri="{9D8B030D-6E8A-4147-A177-3AD203B41FA5}">
                          <a16:colId xmlns:a16="http://schemas.microsoft.com/office/drawing/2014/main" val="1249735316"/>
                        </a:ext>
                      </a:extLst>
                    </a:gridCol>
                    <a:gridCol w="672160">
                      <a:extLst>
                        <a:ext uri="{9D8B030D-6E8A-4147-A177-3AD203B41FA5}">
                          <a16:colId xmlns:a16="http://schemas.microsoft.com/office/drawing/2014/main" val="1599078345"/>
                        </a:ext>
                      </a:extLst>
                    </a:gridCol>
                    <a:gridCol w="672160">
                      <a:extLst>
                        <a:ext uri="{9D8B030D-6E8A-4147-A177-3AD203B41FA5}">
                          <a16:colId xmlns:a16="http://schemas.microsoft.com/office/drawing/2014/main" val="1421292375"/>
                        </a:ext>
                      </a:extLst>
                    </a:gridCol>
                    <a:gridCol w="672160">
                      <a:extLst>
                        <a:ext uri="{9D8B030D-6E8A-4147-A177-3AD203B41FA5}">
                          <a16:colId xmlns:a16="http://schemas.microsoft.com/office/drawing/2014/main" val="823422371"/>
                        </a:ext>
                      </a:extLst>
                    </a:gridCol>
                    <a:gridCol w="672160">
                      <a:extLst>
                        <a:ext uri="{9D8B030D-6E8A-4147-A177-3AD203B41FA5}">
                          <a16:colId xmlns:a16="http://schemas.microsoft.com/office/drawing/2014/main" val="2480129256"/>
                        </a:ext>
                      </a:extLst>
                    </a:gridCol>
                    <a:gridCol w="672160">
                      <a:extLst>
                        <a:ext uri="{9D8B030D-6E8A-4147-A177-3AD203B41FA5}">
                          <a16:colId xmlns:a16="http://schemas.microsoft.com/office/drawing/2014/main" val="1831886132"/>
                        </a:ext>
                      </a:extLst>
                    </a:gridCol>
                    <a:gridCol w="672160">
                      <a:extLst>
                        <a:ext uri="{9D8B030D-6E8A-4147-A177-3AD203B41FA5}">
                          <a16:colId xmlns:a16="http://schemas.microsoft.com/office/drawing/2014/main" val="1113351770"/>
                        </a:ext>
                      </a:extLst>
                    </a:gridCol>
                    <a:gridCol w="672160">
                      <a:extLst>
                        <a:ext uri="{9D8B030D-6E8A-4147-A177-3AD203B41FA5}">
                          <a16:colId xmlns:a16="http://schemas.microsoft.com/office/drawing/2014/main" val="3932908683"/>
                        </a:ext>
                      </a:extLst>
                    </a:gridCol>
                    <a:gridCol w="672877">
                      <a:extLst>
                        <a:ext uri="{9D8B030D-6E8A-4147-A177-3AD203B41FA5}">
                          <a16:colId xmlns:a16="http://schemas.microsoft.com/office/drawing/2014/main" val="3512341128"/>
                        </a:ext>
                      </a:extLst>
                    </a:gridCol>
                  </a:tblGrid>
                  <a:tr h="367229">
                    <a:tc>
                      <a:txBody>
                        <a:bodyPr/>
                        <a:lstStyle/>
                        <a:p>
                          <a:endParaRPr lang="zh-CN"/>
                        </a:p>
                      </a:txBody>
                      <a:tcPr anchor="ctr">
                        <a:blipFill>
                          <a:blip r:embed="rId3"/>
                          <a:stretch>
                            <a:fillRect l="-1149" t="-1639" r="-1018391" b="-313115"/>
                          </a:stretch>
                        </a:blipFill>
                      </a:tcP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1705634783"/>
                      </a:ext>
                    </a:extLst>
                  </a:tr>
                  <a:tr h="367229">
                    <a:tc>
                      <a:txBody>
                        <a:bodyPr/>
                        <a:lstStyle/>
                        <a:p>
                          <a:endParaRPr lang="zh-CN"/>
                        </a:p>
                      </a:txBody>
                      <a:tcPr anchor="ctr">
                        <a:blipFill>
                          <a:blip r:embed="rId3"/>
                          <a:stretch>
                            <a:fillRect l="-1149" t="-103333" r="-1018391" b="-218333"/>
                          </a:stretch>
                        </a:blipFill>
                      </a:tcPr>
                    </a:tc>
                    <a:tc>
                      <a:txBody>
                        <a:bodyPr/>
                        <a:lstStyle/>
                        <a:p>
                          <a:pPr algn="ctr"/>
                          <a:r>
                            <a:rPr lang="en-US" sz="1600" kern="100" dirty="0">
                              <a:effectLst/>
                            </a:rPr>
                            <a:t>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2.5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3.0</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5.0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2954762"/>
                      </a:ext>
                    </a:extLst>
                  </a:tr>
                  <a:tr h="367229">
                    <a:tc>
                      <a:txBody>
                        <a:bodyPr/>
                        <a:lstStyle/>
                        <a:p>
                          <a:endParaRPr lang="zh-CN"/>
                        </a:p>
                      </a:txBody>
                      <a:tcPr anchor="ctr">
                        <a:blipFill>
                          <a:blip r:embed="rId3"/>
                          <a:stretch>
                            <a:fillRect l="-1149" t="-200000" r="-1018391" b="-114754"/>
                          </a:stretch>
                        </a:blipFill>
                      </a:tcPr>
                    </a:tc>
                    <a:tc>
                      <a:txBody>
                        <a:bodyPr/>
                        <a:lstStyle/>
                        <a:p>
                          <a:pPr algn="ctr"/>
                          <a:r>
                            <a:rPr lang="en-US" sz="1600" kern="100" dirty="0">
                              <a:effectLst/>
                            </a:rPr>
                            <a:t>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3412011"/>
                      </a:ext>
                    </a:extLst>
                  </a:tr>
                  <a:tr h="367229">
                    <a:tc>
                      <a:txBody>
                        <a:bodyPr/>
                        <a:lstStyle/>
                        <a:p>
                          <a:endParaRPr lang="zh-CN"/>
                        </a:p>
                      </a:txBody>
                      <a:tcPr anchor="ctr">
                        <a:blipFill>
                          <a:blip r:embed="rId3"/>
                          <a:stretch>
                            <a:fillRect l="-1149" t="-305000" r="-1018391" b="-16667"/>
                          </a:stretch>
                        </a:blipFill>
                      </a:tcPr>
                    </a:tc>
                    <a:tc>
                      <a:txBody>
                        <a:bodyPr/>
                        <a:lstStyle/>
                        <a:p>
                          <a:pPr algn="ctr"/>
                          <a:r>
                            <a:rPr lang="en-US" sz="16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dirty="0">
                              <a:effectLst/>
                            </a:rPr>
                            <a:t>0.02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859720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表格 17">
                <a:extLst>
                  <a:ext uri="{FF2B5EF4-FFF2-40B4-BE49-F238E27FC236}">
                    <a16:creationId xmlns:a16="http://schemas.microsoft.com/office/drawing/2014/main" id="{36E437C5-3C42-4822-861C-E5FEC2218D4C}"/>
                  </a:ext>
                </a:extLst>
              </p:cNvPr>
              <p:cNvGraphicFramePr>
                <a:graphicFrameLocks noGrp="1"/>
              </p:cNvGraphicFramePr>
              <p:nvPr>
                <p:extLst>
                  <p:ext uri="{D42A27DB-BD31-4B8C-83A1-F6EECF244321}">
                    <p14:modId xmlns:p14="http://schemas.microsoft.com/office/powerpoint/2010/main" val="3481154682"/>
                  </p:ext>
                </p:extLst>
              </p:nvPr>
            </p:nvGraphicFramePr>
            <p:xfrm>
              <a:off x="5900923" y="4948912"/>
              <a:ext cx="4416681" cy="1468916"/>
            </p:xfrm>
            <a:graphic>
              <a:graphicData uri="http://schemas.openxmlformats.org/drawingml/2006/table">
                <a:tbl>
                  <a:tblPr>
                    <a:tableStyleId>{16D9F66E-5EB9-4882-86FB-DCBF35E3C3E4}</a:tableStyleId>
                  </a:tblPr>
                  <a:tblGrid>
                    <a:gridCol w="538163">
                      <a:extLst>
                        <a:ext uri="{9D8B030D-6E8A-4147-A177-3AD203B41FA5}">
                          <a16:colId xmlns:a16="http://schemas.microsoft.com/office/drawing/2014/main" val="1357968393"/>
                        </a:ext>
                      </a:extLst>
                    </a:gridCol>
                    <a:gridCol w="1423988">
                      <a:extLst>
                        <a:ext uri="{9D8B030D-6E8A-4147-A177-3AD203B41FA5}">
                          <a16:colId xmlns:a16="http://schemas.microsoft.com/office/drawing/2014/main" val="2558101461"/>
                        </a:ext>
                      </a:extLst>
                    </a:gridCol>
                    <a:gridCol w="1289172">
                      <a:extLst>
                        <a:ext uri="{9D8B030D-6E8A-4147-A177-3AD203B41FA5}">
                          <a16:colId xmlns:a16="http://schemas.microsoft.com/office/drawing/2014/main" val="3761778169"/>
                        </a:ext>
                      </a:extLst>
                    </a:gridCol>
                    <a:gridCol w="1165358">
                      <a:extLst>
                        <a:ext uri="{9D8B030D-6E8A-4147-A177-3AD203B41FA5}">
                          <a16:colId xmlns:a16="http://schemas.microsoft.com/office/drawing/2014/main" val="3119682786"/>
                        </a:ext>
                      </a:extLst>
                    </a:gridCol>
                  </a:tblGrid>
                  <a:tr h="36722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kern="100" dirty="0" err="1">
                              <a:effectLst/>
                            </a:rPr>
                            <a:t>bini</a:t>
                          </a:r>
                          <a:endParaRPr lang="zh-CN" sz="1600" kern="100" dirty="0">
                            <a:solidFill>
                              <a:schemeClr val="dk1"/>
                            </a:solidFill>
                            <a:effectLst/>
                            <a:latin typeface="微软雅黑" panose="020B0503020204020204" pitchFamily="34" charset="-122"/>
                            <a:ea typeface="微软雅黑" panose="020B0503020204020204" pitchFamily="34" charset="-122"/>
                            <a:cs typeface="+mn-cs"/>
                          </a:endParaRPr>
                        </a:p>
                      </a:txBody>
                      <a:tcPr anchor="ctr">
                        <a:solidFill>
                          <a:srgbClr val="A3D6D9"/>
                        </a:solidFill>
                      </a:tcPr>
                    </a:tc>
                    <a:tc>
                      <a:txBody>
                        <a:bodyPr/>
                        <a:lstStyle/>
                        <a:p>
                          <a:pPr algn="ctr"/>
                          <a:r>
                            <a:rPr lang="en-US" sz="1600" kern="100" dirty="0">
                              <a:effectLst/>
                            </a:rPr>
                            <a:t>bin1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2134801552"/>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b="0" i="1" kern="100" dirty="0" smtClean="0">
                                        <a:effectLst/>
                                        <a:latin typeface="Cambria Math" panose="02040503050406030204" pitchFamily="18" charset="0"/>
                                      </a:rPr>
                                    </m:ctrlPr>
                                  </m:sSubPr>
                                  <m:e>
                                    <m:r>
                                      <a:rPr lang="en-US" altLang="zh-CN" sz="1600" b="0" i="1" kern="100" dirty="0" smtClean="0">
                                        <a:effectLst/>
                                        <a:latin typeface="Cambria Math" panose="02040503050406030204" pitchFamily="18" charset="0"/>
                                      </a:rPr>
                                      <m:t>𝑁</m:t>
                                    </m:r>
                                  </m:e>
                                  <m:sub>
                                    <m:r>
                                      <a:rPr lang="en-US" altLang="zh-CN" sz="1600" i="1" kern="1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1*3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1*3+1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329710791"/>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𝑔</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0.05*3+0.7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4070112340"/>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i="1" kern="1200" dirty="0" smtClean="0">
                                        <a:effectLst/>
                                        <a:latin typeface="Cambria Math" panose="02040503050406030204" pitchFamily="18" charset="0"/>
                                      </a:rPr>
                                    </m:ctrlPr>
                                  </m:sSubPr>
                                  <m:e>
                                    <m:r>
                                      <a:rPr lang="en-US" altLang="zh-CN" sz="1600" kern="1200" dirty="0" smtClean="0">
                                        <a:effectLst/>
                                        <a:latin typeface="Cambria Math" panose="02040503050406030204" pitchFamily="18" charset="0"/>
                                      </a:rPr>
                                      <m:t>h</m:t>
                                    </m:r>
                                  </m:e>
                                  <m:sub>
                                    <m:r>
                                      <a:rPr lang="en-US" altLang="zh-CN" sz="1600" kern="12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0.04*3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0.02*3+0.02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970834516"/>
                      </a:ext>
                    </a:extLst>
                  </a:tr>
                </a:tbl>
              </a:graphicData>
            </a:graphic>
          </p:graphicFrame>
        </mc:Choice>
        <mc:Fallback xmlns="">
          <p:graphicFrame>
            <p:nvGraphicFramePr>
              <p:cNvPr id="18" name="表格 17">
                <a:extLst>
                  <a:ext uri="{FF2B5EF4-FFF2-40B4-BE49-F238E27FC236}">
                    <a16:creationId xmlns:a16="http://schemas.microsoft.com/office/drawing/2014/main" id="{36E437C5-3C42-4822-861C-E5FEC2218D4C}"/>
                  </a:ext>
                </a:extLst>
              </p:cNvPr>
              <p:cNvGraphicFramePr>
                <a:graphicFrameLocks noGrp="1"/>
              </p:cNvGraphicFramePr>
              <p:nvPr>
                <p:extLst>
                  <p:ext uri="{D42A27DB-BD31-4B8C-83A1-F6EECF244321}">
                    <p14:modId xmlns:p14="http://schemas.microsoft.com/office/powerpoint/2010/main" val="3481154682"/>
                  </p:ext>
                </p:extLst>
              </p:nvPr>
            </p:nvGraphicFramePr>
            <p:xfrm>
              <a:off x="5900923" y="4948912"/>
              <a:ext cx="4416681" cy="1468916"/>
            </p:xfrm>
            <a:graphic>
              <a:graphicData uri="http://schemas.openxmlformats.org/drawingml/2006/table">
                <a:tbl>
                  <a:tblPr>
                    <a:tableStyleId>{16D9F66E-5EB9-4882-86FB-DCBF35E3C3E4}</a:tableStyleId>
                  </a:tblPr>
                  <a:tblGrid>
                    <a:gridCol w="538163">
                      <a:extLst>
                        <a:ext uri="{9D8B030D-6E8A-4147-A177-3AD203B41FA5}">
                          <a16:colId xmlns:a16="http://schemas.microsoft.com/office/drawing/2014/main" val="1357968393"/>
                        </a:ext>
                      </a:extLst>
                    </a:gridCol>
                    <a:gridCol w="1423988">
                      <a:extLst>
                        <a:ext uri="{9D8B030D-6E8A-4147-A177-3AD203B41FA5}">
                          <a16:colId xmlns:a16="http://schemas.microsoft.com/office/drawing/2014/main" val="2558101461"/>
                        </a:ext>
                      </a:extLst>
                    </a:gridCol>
                    <a:gridCol w="1289172">
                      <a:extLst>
                        <a:ext uri="{9D8B030D-6E8A-4147-A177-3AD203B41FA5}">
                          <a16:colId xmlns:a16="http://schemas.microsoft.com/office/drawing/2014/main" val="3761778169"/>
                        </a:ext>
                      </a:extLst>
                    </a:gridCol>
                    <a:gridCol w="1165358">
                      <a:extLst>
                        <a:ext uri="{9D8B030D-6E8A-4147-A177-3AD203B41FA5}">
                          <a16:colId xmlns:a16="http://schemas.microsoft.com/office/drawing/2014/main" val="3119682786"/>
                        </a:ext>
                      </a:extLst>
                    </a:gridCol>
                  </a:tblGrid>
                  <a:tr h="36722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kern="100" dirty="0" err="1">
                              <a:effectLst/>
                            </a:rPr>
                            <a:t>bini</a:t>
                          </a:r>
                          <a:endParaRPr lang="zh-CN" sz="1600" kern="100" dirty="0">
                            <a:solidFill>
                              <a:schemeClr val="dk1"/>
                            </a:solidFill>
                            <a:effectLst/>
                            <a:latin typeface="微软雅黑" panose="020B0503020204020204" pitchFamily="34" charset="-122"/>
                            <a:ea typeface="微软雅黑" panose="020B0503020204020204" pitchFamily="34" charset="-122"/>
                            <a:cs typeface="+mn-cs"/>
                          </a:endParaRPr>
                        </a:p>
                      </a:txBody>
                      <a:tcPr anchor="ctr">
                        <a:solidFill>
                          <a:srgbClr val="A3D6D9"/>
                        </a:solidFill>
                      </a:tcPr>
                    </a:tc>
                    <a:tc>
                      <a:txBody>
                        <a:bodyPr/>
                        <a:lstStyle/>
                        <a:p>
                          <a:pPr algn="ctr"/>
                          <a:r>
                            <a:rPr lang="en-US" sz="1600" kern="100" dirty="0">
                              <a:effectLst/>
                            </a:rPr>
                            <a:t>bin1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2134801552"/>
                      </a:ext>
                    </a:extLst>
                  </a:tr>
                  <a:tr h="367229">
                    <a:tc>
                      <a:txBody>
                        <a:bodyPr/>
                        <a:lstStyle/>
                        <a:p>
                          <a:endParaRPr lang="zh-CN"/>
                        </a:p>
                      </a:txBody>
                      <a:tcPr anchor="ctr">
                        <a:blipFill>
                          <a:blip r:embed="rId4"/>
                          <a:stretch>
                            <a:fillRect l="-1136" t="-103333" r="-727273" b="-216667"/>
                          </a:stretch>
                        </a:blipFill>
                      </a:tcPr>
                    </a:tc>
                    <a:tc>
                      <a:txBody>
                        <a:bodyPr/>
                        <a:lstStyle/>
                        <a:p>
                          <a:pPr algn="ctr"/>
                          <a:r>
                            <a:rPr lang="en-US" sz="1600" kern="100" dirty="0">
                              <a:effectLst/>
                            </a:rPr>
                            <a:t>1*3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1*3+1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329710791"/>
                      </a:ext>
                    </a:extLst>
                  </a:tr>
                  <a:tr h="367229">
                    <a:tc>
                      <a:txBody>
                        <a:bodyPr/>
                        <a:lstStyle/>
                        <a:p>
                          <a:endParaRPr lang="zh-CN"/>
                        </a:p>
                      </a:txBody>
                      <a:tcPr anchor="ctr">
                        <a:blipFill>
                          <a:blip r:embed="rId4"/>
                          <a:stretch>
                            <a:fillRect l="-1136" t="-200000" r="-727273" b="-113115"/>
                          </a:stretch>
                        </a:blipFill>
                      </a:tcPr>
                    </a:tc>
                    <a:tc>
                      <a:txBody>
                        <a:bodyPr/>
                        <a:lstStyle/>
                        <a:p>
                          <a:pPr algn="ctr"/>
                          <a:r>
                            <a:rPr lang="en-US" sz="1600" kern="100" dirty="0">
                              <a:effectLst/>
                            </a:rPr>
                            <a:t>0.03*3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0.05*3+0.7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4070112340"/>
                      </a:ext>
                    </a:extLst>
                  </a:tr>
                  <a:tr h="367229">
                    <a:tc>
                      <a:txBody>
                        <a:bodyPr/>
                        <a:lstStyle/>
                        <a:p>
                          <a:endParaRPr lang="zh-CN"/>
                        </a:p>
                      </a:txBody>
                      <a:tcPr anchor="ctr">
                        <a:blipFill>
                          <a:blip r:embed="rId4"/>
                          <a:stretch>
                            <a:fillRect l="-1136" t="-305000" r="-727273" b="-15000"/>
                          </a:stretch>
                        </a:blipFill>
                      </a:tcPr>
                    </a:tc>
                    <a:tc>
                      <a:txBody>
                        <a:bodyPr/>
                        <a:lstStyle/>
                        <a:p>
                          <a:pPr algn="ctr"/>
                          <a:r>
                            <a:rPr lang="en-US" sz="1600" kern="100" dirty="0">
                              <a:effectLst/>
                            </a:rPr>
                            <a:t>0.04*3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0.02*3+0.02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970834516"/>
                      </a:ext>
                    </a:extLst>
                  </a:tr>
                </a:tbl>
              </a:graphicData>
            </a:graphic>
          </p:graphicFrame>
        </mc:Fallback>
      </mc:AlternateContent>
      <p:sp>
        <p:nvSpPr>
          <p:cNvPr id="59" name="文本框 58">
            <a:extLst>
              <a:ext uri="{FF2B5EF4-FFF2-40B4-BE49-F238E27FC236}">
                <a16:creationId xmlns:a16="http://schemas.microsoft.com/office/drawing/2014/main" id="{98EA32FC-8765-4213-B775-F17B556B2C8A}"/>
              </a:ext>
            </a:extLst>
          </p:cNvPr>
          <p:cNvSpPr txBox="1"/>
          <p:nvPr/>
        </p:nvSpPr>
        <p:spPr>
          <a:xfrm>
            <a:off x="2708123" y="1239336"/>
            <a:ext cx="733989" cy="338554"/>
          </a:xfrm>
          <a:prstGeom prst="rect">
            <a:avLst/>
          </a:prstGeom>
          <a:noFill/>
        </p:spPr>
        <p:txBody>
          <a:bodyPr wrap="square">
            <a:spAutoFit/>
          </a:bodyPr>
          <a:lstStyle/>
          <a:p>
            <a:r>
              <a:rPr lang="en-US" altLang="zh-CN" sz="1600" dirty="0">
                <a:latin typeface="微软雅黑" panose="020B0503020204020204" pitchFamily="34" charset="-122"/>
              </a:rPr>
              <a:t>bin1</a:t>
            </a:r>
            <a:endParaRPr lang="zh-CN" altLang="en-US" sz="1600" dirty="0">
              <a:latin typeface="微软雅黑" panose="020B0503020204020204" pitchFamily="34" charset="-122"/>
            </a:endParaRPr>
          </a:p>
        </p:txBody>
      </p:sp>
      <p:sp>
        <p:nvSpPr>
          <p:cNvPr id="60" name="文本框 59">
            <a:extLst>
              <a:ext uri="{FF2B5EF4-FFF2-40B4-BE49-F238E27FC236}">
                <a16:creationId xmlns:a16="http://schemas.microsoft.com/office/drawing/2014/main" id="{BB7DC42D-475C-48D8-AA0B-0F29124DE7A5}"/>
              </a:ext>
            </a:extLst>
          </p:cNvPr>
          <p:cNvSpPr txBox="1"/>
          <p:nvPr/>
        </p:nvSpPr>
        <p:spPr>
          <a:xfrm>
            <a:off x="5411371" y="1236549"/>
            <a:ext cx="733989" cy="338554"/>
          </a:xfrm>
          <a:prstGeom prst="rect">
            <a:avLst/>
          </a:prstGeom>
          <a:noFill/>
        </p:spPr>
        <p:txBody>
          <a:bodyPr wrap="square">
            <a:spAutoFit/>
          </a:bodyPr>
          <a:lstStyle/>
          <a:p>
            <a:r>
              <a:rPr lang="en-US" altLang="zh-CN" sz="1600" dirty="0">
                <a:latin typeface="微软雅黑" panose="020B0503020204020204" pitchFamily="34" charset="-122"/>
              </a:rPr>
              <a:t>bin2</a:t>
            </a:r>
            <a:endParaRPr lang="zh-CN" altLang="en-US" sz="1600" dirty="0">
              <a:latin typeface="微软雅黑" panose="020B0503020204020204" pitchFamily="34" charset="-122"/>
            </a:endParaRPr>
          </a:p>
        </p:txBody>
      </p:sp>
      <p:sp>
        <p:nvSpPr>
          <p:cNvPr id="61" name="文本框 60">
            <a:extLst>
              <a:ext uri="{FF2B5EF4-FFF2-40B4-BE49-F238E27FC236}">
                <a16:creationId xmlns:a16="http://schemas.microsoft.com/office/drawing/2014/main" id="{7766CABA-8EAE-46D7-9CBF-2249452CA9CC}"/>
              </a:ext>
            </a:extLst>
          </p:cNvPr>
          <p:cNvSpPr txBox="1"/>
          <p:nvPr/>
        </p:nvSpPr>
        <p:spPr>
          <a:xfrm>
            <a:off x="7449881" y="1273303"/>
            <a:ext cx="733989" cy="338554"/>
          </a:xfrm>
          <a:prstGeom prst="rect">
            <a:avLst/>
          </a:prstGeom>
          <a:noFill/>
        </p:spPr>
        <p:txBody>
          <a:bodyPr wrap="square">
            <a:spAutoFit/>
          </a:bodyPr>
          <a:lstStyle/>
          <a:p>
            <a:r>
              <a:rPr lang="en-US" altLang="zh-CN" sz="1600" dirty="0">
                <a:latin typeface="微软雅黑" panose="020B0503020204020204" pitchFamily="34" charset="-122"/>
              </a:rPr>
              <a:t>bin3</a:t>
            </a:r>
            <a:endParaRPr lang="zh-CN" altLang="en-US" sz="1600" dirty="0">
              <a:latin typeface="微软雅黑" panose="020B0503020204020204" pitchFamily="34" charset="-122"/>
            </a:endParaRPr>
          </a:p>
        </p:txBody>
      </p:sp>
      <p:sp>
        <p:nvSpPr>
          <p:cNvPr id="62" name="文本框 61">
            <a:extLst>
              <a:ext uri="{FF2B5EF4-FFF2-40B4-BE49-F238E27FC236}">
                <a16:creationId xmlns:a16="http://schemas.microsoft.com/office/drawing/2014/main" id="{3DA2DE30-E4ED-4844-AEE5-F9E85CC5F161}"/>
              </a:ext>
            </a:extLst>
          </p:cNvPr>
          <p:cNvSpPr txBox="1"/>
          <p:nvPr/>
        </p:nvSpPr>
        <p:spPr>
          <a:xfrm>
            <a:off x="5099255" y="5012242"/>
            <a:ext cx="897190" cy="276999"/>
          </a:xfrm>
          <a:prstGeom prst="rect">
            <a:avLst/>
          </a:prstGeom>
          <a:noFill/>
        </p:spPr>
        <p:txBody>
          <a:bodyPr wrap="square">
            <a:spAutoFit/>
          </a:bodyPr>
          <a:lstStyle/>
          <a:p>
            <a:r>
              <a:rPr lang="en-US" altLang="zh-CN" sz="1200" dirty="0"/>
              <a:t>bin</a:t>
            </a:r>
            <a:r>
              <a:rPr lang="zh-CN" altLang="en-US" sz="1200" dirty="0"/>
              <a:t>序号</a:t>
            </a:r>
          </a:p>
        </p:txBody>
      </p:sp>
      <p:sp>
        <p:nvSpPr>
          <p:cNvPr id="63" name="文本框 62">
            <a:extLst>
              <a:ext uri="{FF2B5EF4-FFF2-40B4-BE49-F238E27FC236}">
                <a16:creationId xmlns:a16="http://schemas.microsoft.com/office/drawing/2014/main" id="{5900B22D-71FD-4BAE-8BEF-18D0DCA9DFC0}"/>
              </a:ext>
            </a:extLst>
          </p:cNvPr>
          <p:cNvSpPr txBox="1"/>
          <p:nvPr/>
        </p:nvSpPr>
        <p:spPr>
          <a:xfrm>
            <a:off x="4621599" y="5390456"/>
            <a:ext cx="1173423" cy="276999"/>
          </a:xfrm>
          <a:prstGeom prst="rect">
            <a:avLst/>
          </a:prstGeom>
          <a:noFill/>
        </p:spPr>
        <p:txBody>
          <a:bodyPr wrap="square">
            <a:spAutoFit/>
          </a:bodyPr>
          <a:lstStyle/>
          <a:p>
            <a:r>
              <a:rPr lang="en-US" altLang="zh-CN" sz="1200" dirty="0"/>
              <a:t>bin</a:t>
            </a:r>
            <a:r>
              <a:rPr lang="zh-CN" altLang="en-US" sz="1200" dirty="0"/>
              <a:t>样本的之和</a:t>
            </a:r>
          </a:p>
        </p:txBody>
      </p:sp>
      <p:sp>
        <p:nvSpPr>
          <p:cNvPr id="64" name="文本框 63">
            <a:extLst>
              <a:ext uri="{FF2B5EF4-FFF2-40B4-BE49-F238E27FC236}">
                <a16:creationId xmlns:a16="http://schemas.microsoft.com/office/drawing/2014/main" id="{39A0CEED-CDA8-4051-9722-A46560B66E5B}"/>
              </a:ext>
            </a:extLst>
          </p:cNvPr>
          <p:cNvSpPr txBox="1"/>
          <p:nvPr/>
        </p:nvSpPr>
        <p:spPr>
          <a:xfrm>
            <a:off x="3737830" y="5751700"/>
            <a:ext cx="2258615" cy="276999"/>
          </a:xfrm>
          <a:prstGeom prst="rect">
            <a:avLst/>
          </a:prstGeom>
          <a:noFill/>
        </p:spPr>
        <p:txBody>
          <a:bodyPr wrap="square">
            <a:spAutoFit/>
          </a:bodyPr>
          <a:lstStyle/>
          <a:p>
            <a:r>
              <a:rPr lang="en-US" altLang="zh-CN" sz="1200" dirty="0"/>
              <a:t>bin</a:t>
            </a:r>
            <a:r>
              <a:rPr lang="zh-CN" altLang="en-US" sz="1200" dirty="0"/>
              <a:t>内所有样本的一阶导之和</a:t>
            </a:r>
          </a:p>
        </p:txBody>
      </p:sp>
      <p:sp>
        <p:nvSpPr>
          <p:cNvPr id="66" name="文本框 65">
            <a:extLst>
              <a:ext uri="{FF2B5EF4-FFF2-40B4-BE49-F238E27FC236}">
                <a16:creationId xmlns:a16="http://schemas.microsoft.com/office/drawing/2014/main" id="{41DF4354-FCA9-4929-A69B-292193EE285F}"/>
              </a:ext>
            </a:extLst>
          </p:cNvPr>
          <p:cNvSpPr txBox="1"/>
          <p:nvPr/>
        </p:nvSpPr>
        <p:spPr>
          <a:xfrm>
            <a:off x="3737830" y="6129914"/>
            <a:ext cx="2258615" cy="276999"/>
          </a:xfrm>
          <a:prstGeom prst="rect">
            <a:avLst/>
          </a:prstGeom>
          <a:noFill/>
        </p:spPr>
        <p:txBody>
          <a:bodyPr wrap="square">
            <a:spAutoFit/>
          </a:bodyPr>
          <a:lstStyle/>
          <a:p>
            <a:r>
              <a:rPr lang="en-US" altLang="zh-CN" sz="1200" dirty="0"/>
              <a:t>bin</a:t>
            </a:r>
            <a:r>
              <a:rPr lang="zh-CN" altLang="en-US" sz="1200" dirty="0"/>
              <a:t>内所有样本的二阶导之和</a:t>
            </a:r>
          </a:p>
        </p:txBody>
      </p:sp>
      <p:sp>
        <p:nvSpPr>
          <p:cNvPr id="69" name="文本框 68">
            <a:extLst>
              <a:ext uri="{FF2B5EF4-FFF2-40B4-BE49-F238E27FC236}">
                <a16:creationId xmlns:a16="http://schemas.microsoft.com/office/drawing/2014/main" id="{D11DE173-067A-4BC8-8C20-801EFBB9CDFF}"/>
              </a:ext>
            </a:extLst>
          </p:cNvPr>
          <p:cNvSpPr txBox="1"/>
          <p:nvPr/>
        </p:nvSpPr>
        <p:spPr>
          <a:xfrm>
            <a:off x="8250494" y="2274833"/>
            <a:ext cx="2179766" cy="523220"/>
          </a:xfrm>
          <a:prstGeom prst="rect">
            <a:avLst/>
          </a:prstGeom>
          <a:noFill/>
        </p:spPr>
        <p:txBody>
          <a:bodyPr wrap="square">
            <a:spAutoFit/>
          </a:bodyPr>
          <a:lstStyle/>
          <a:p>
            <a:r>
              <a:rPr lang="zh-CN" altLang="en-US" sz="1400" dirty="0"/>
              <a:t>可能的候选点分裂点个数等于样本取值个数减一</a:t>
            </a:r>
          </a:p>
        </p:txBody>
      </p:sp>
      <p:grpSp>
        <p:nvGrpSpPr>
          <p:cNvPr id="80" name="组合 79">
            <a:extLst>
              <a:ext uri="{FF2B5EF4-FFF2-40B4-BE49-F238E27FC236}">
                <a16:creationId xmlns:a16="http://schemas.microsoft.com/office/drawing/2014/main" id="{004BD541-50F7-4850-82EB-2D710B361F8B}"/>
              </a:ext>
            </a:extLst>
          </p:cNvPr>
          <p:cNvGrpSpPr/>
          <p:nvPr/>
        </p:nvGrpSpPr>
        <p:grpSpPr>
          <a:xfrm>
            <a:off x="3393039" y="1541767"/>
            <a:ext cx="666252" cy="1950298"/>
            <a:chOff x="1225300" y="3451362"/>
            <a:chExt cx="2033838" cy="1468916"/>
          </a:xfrm>
        </p:grpSpPr>
        <p:cxnSp>
          <p:nvCxnSpPr>
            <p:cNvPr id="81" name="直接连接符 80">
              <a:extLst>
                <a:ext uri="{FF2B5EF4-FFF2-40B4-BE49-F238E27FC236}">
                  <a16:creationId xmlns:a16="http://schemas.microsoft.com/office/drawing/2014/main" id="{D5F712C4-D168-4056-91BC-1160ACF9ACC1}"/>
                </a:ext>
              </a:extLst>
            </p:cNvPr>
            <p:cNvCxnSpPr>
              <a:cxnSpLocks/>
            </p:cNvCxnSpPr>
            <p:nvPr/>
          </p:nvCxnSpPr>
          <p:spPr>
            <a:xfrm>
              <a:off x="1238000" y="3451362"/>
              <a:ext cx="0" cy="1468916"/>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cxnSp>
          <p:nvCxnSpPr>
            <p:cNvPr id="82" name="直接连接符 81">
              <a:extLst>
                <a:ext uri="{FF2B5EF4-FFF2-40B4-BE49-F238E27FC236}">
                  <a16:creationId xmlns:a16="http://schemas.microsoft.com/office/drawing/2014/main" id="{6344502F-C4E8-4170-BE5D-BD5F88822F3D}"/>
                </a:ext>
              </a:extLst>
            </p:cNvPr>
            <p:cNvCxnSpPr>
              <a:cxnSpLocks/>
            </p:cNvCxnSpPr>
            <p:nvPr/>
          </p:nvCxnSpPr>
          <p:spPr>
            <a:xfrm>
              <a:off x="3247774" y="3451362"/>
              <a:ext cx="0" cy="1468916"/>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cxnSp>
          <p:nvCxnSpPr>
            <p:cNvPr id="83" name="直接连接符 82">
              <a:extLst>
                <a:ext uri="{FF2B5EF4-FFF2-40B4-BE49-F238E27FC236}">
                  <a16:creationId xmlns:a16="http://schemas.microsoft.com/office/drawing/2014/main" id="{9D5B06E9-AAD0-4BA7-AEEC-930F8FA5C589}"/>
                </a:ext>
              </a:extLst>
            </p:cNvPr>
            <p:cNvCxnSpPr>
              <a:cxnSpLocks/>
            </p:cNvCxnSpPr>
            <p:nvPr/>
          </p:nvCxnSpPr>
          <p:spPr>
            <a:xfrm>
              <a:off x="1225300" y="4920278"/>
              <a:ext cx="2033838" cy="0"/>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cxnSp>
          <p:nvCxnSpPr>
            <p:cNvPr id="84" name="直接连接符 83">
              <a:extLst>
                <a:ext uri="{FF2B5EF4-FFF2-40B4-BE49-F238E27FC236}">
                  <a16:creationId xmlns:a16="http://schemas.microsoft.com/office/drawing/2014/main" id="{8E97985B-D579-4BC8-91AA-63DAABF02303}"/>
                </a:ext>
              </a:extLst>
            </p:cNvPr>
            <p:cNvCxnSpPr>
              <a:cxnSpLocks/>
            </p:cNvCxnSpPr>
            <p:nvPr/>
          </p:nvCxnSpPr>
          <p:spPr>
            <a:xfrm>
              <a:off x="1225300" y="3456261"/>
              <a:ext cx="2033838" cy="0"/>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grpSp>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520359AB-6F78-4CC8-A86A-D1BF85A7665F}"/>
                  </a:ext>
                </a:extLst>
              </p:cNvPr>
              <p:cNvSpPr txBox="1"/>
              <p:nvPr/>
            </p:nvSpPr>
            <p:spPr>
              <a:xfrm>
                <a:off x="1166034" y="3609718"/>
                <a:ext cx="9578163" cy="1227772"/>
              </a:xfrm>
              <a:prstGeom prst="rect">
                <a:avLst/>
              </a:prstGeom>
              <a:noFill/>
            </p:spPr>
            <p:txBody>
              <a:bodyPr wrap="square">
                <a:spAutoFit/>
              </a:bodyPr>
              <a:lstStyle/>
              <a:p>
                <a:r>
                  <a:rPr lang="zh-CN" altLang="en-US" sz="1400" dirty="0"/>
                  <a:t>排序完了之后，我们就选出a * data</a:t>
                </a:r>
                <a:r>
                  <a:rPr lang="en-US" altLang="zh-CN" sz="1400" dirty="0"/>
                  <a:t>_</a:t>
                </a:r>
                <a:r>
                  <a:rPr lang="zh-CN" altLang="en-US" sz="1400" dirty="0"/>
                  <a:t>num个梯度大的，然后从剩下的那些样本里面选出b*data</a:t>
                </a:r>
                <a:r>
                  <a:rPr lang="en-US" altLang="zh-CN" sz="1400" dirty="0"/>
                  <a:t>_</a:t>
                </a:r>
                <a:r>
                  <a:rPr lang="zh-CN" altLang="en-US" sz="1400" dirty="0"/>
                  <a:t>num个梯度小的：</a:t>
                </a:r>
              </a:p>
              <a:p>
                <a:r>
                  <a:rPr lang="zh-CN" altLang="en-US" sz="1400" dirty="0"/>
                  <a:t>这里是8个样本，所以a*8=2，b*8=2，</a:t>
                </a:r>
                <a14:m>
                  <m:oMath xmlns:m="http://schemas.openxmlformats.org/officeDocument/2006/math">
                    <m:f>
                      <m:fPr>
                        <m:ctrlPr>
                          <a:rPr lang="zh-CN" altLang="zh-CN" sz="1200" i="1">
                            <a:latin typeface="Cambria Math" panose="02040503050406030204" pitchFamily="18" charset="0"/>
                            <a:ea typeface="Cambria Math" panose="02040503050406030204" pitchFamily="18" charset="0"/>
                          </a:rPr>
                        </m:ctrlPr>
                      </m:fPr>
                      <m:num>
                        <m:r>
                          <a:rPr lang="en-US" altLang="zh-CN" sz="14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1400" i="1" kern="100">
                            <a:latin typeface="Cambria Math" panose="02040503050406030204" pitchFamily="18" charset="0"/>
                            <a:ea typeface="宋体" panose="02010600030101010101" pitchFamily="2" charset="-122"/>
                            <a:cs typeface="Times New Roman" panose="02020603050405020304" pitchFamily="18" charset="0"/>
                          </a:rPr>
                          <m:t>𝑎</m:t>
                        </m:r>
                      </m:num>
                      <m:den>
                        <m:r>
                          <a:rPr lang="en-US" altLang="zh-CN" sz="1400" i="1" kern="100">
                            <a:latin typeface="Cambria Math" panose="02040503050406030204" pitchFamily="18" charset="0"/>
                            <a:ea typeface="宋体" panose="02010600030101010101" pitchFamily="2" charset="-122"/>
                            <a:cs typeface="Times New Roman" panose="02020603050405020304" pitchFamily="18" charset="0"/>
                          </a:rPr>
                          <m:t>𝑏</m:t>
                        </m:r>
                      </m:den>
                    </m:f>
                    <m:r>
                      <a:rPr lang="en-US" altLang="zh-CN" sz="1400" kern="100">
                        <a:latin typeface="Cambria Math" panose="02040503050406030204" pitchFamily="18" charset="0"/>
                        <a:ea typeface="宋体" panose="02010600030101010101" pitchFamily="2" charset="-122"/>
                        <a:cs typeface="Times New Roman" panose="02020603050405020304" pitchFamily="18" charset="0"/>
                      </a:rPr>
                      <m:t>=3</m:t>
                    </m:r>
                    <m:r>
                      <a:rPr lang="zh-CN" altLang="en-US" sz="1400" i="1" kern="100" smtClean="0">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1400" dirty="0"/>
              </a:p>
              <a:p>
                <a:r>
                  <a:rPr lang="zh-CN" altLang="en-US" sz="1400" dirty="0"/>
                  <a:t>即先选出2个梯度大的样本，然后从剩下的里面随机选出2个梯度小的样本</a:t>
                </a:r>
                <a:endParaRPr lang="en-US" altLang="zh-CN" sz="1400" dirty="0"/>
              </a:p>
              <a:p>
                <a:r>
                  <a:rPr lang="zh-CN" altLang="en-US" sz="1400" dirty="0"/>
                  <a:t>这里选取两个大的（</a:t>
                </a:r>
                <a:r>
                  <a:rPr lang="en-US" altLang="zh-CN" sz="1400" dirty="0"/>
                  <a:t>6</a:t>
                </a:r>
                <a:r>
                  <a:rPr lang="zh-CN" altLang="en-US" sz="1400" dirty="0"/>
                  <a:t>号、</a:t>
                </a:r>
                <a:r>
                  <a:rPr lang="en-US" altLang="zh-CN" sz="1400" dirty="0"/>
                  <a:t>7</a:t>
                </a:r>
                <a:r>
                  <a:rPr lang="zh-CN" altLang="en-US" sz="1400" dirty="0"/>
                  <a:t>号），然后随机选择两个小的（</a:t>
                </a:r>
                <a:r>
                  <a:rPr lang="en-US" altLang="zh-CN" sz="1400" dirty="0"/>
                  <a:t>2</a:t>
                </a:r>
                <a:r>
                  <a:rPr lang="zh-CN" altLang="en-US" sz="1400" dirty="0"/>
                  <a:t>号、</a:t>
                </a:r>
                <a:r>
                  <a:rPr lang="en-US" altLang="zh-CN" sz="1400" dirty="0"/>
                  <a:t>4</a:t>
                </a:r>
                <a:r>
                  <a:rPr lang="zh-CN" altLang="en-US" sz="1400" dirty="0"/>
                  <a:t>号）</a:t>
                </a:r>
                <a:endParaRPr lang="en-US" altLang="zh-CN" sz="1400" dirty="0"/>
              </a:p>
              <a:p>
                <a:endParaRPr lang="zh-CN" altLang="en-US" sz="1400" dirty="0"/>
              </a:p>
            </p:txBody>
          </p:sp>
        </mc:Choice>
        <mc:Fallback xmlns="">
          <p:sp>
            <p:nvSpPr>
              <p:cNvPr id="65" name="文本框 64">
                <a:extLst>
                  <a:ext uri="{FF2B5EF4-FFF2-40B4-BE49-F238E27FC236}">
                    <a16:creationId xmlns:a16="http://schemas.microsoft.com/office/drawing/2014/main" id="{520359AB-6F78-4CC8-A86A-D1BF85A7665F}"/>
                  </a:ext>
                </a:extLst>
              </p:cNvPr>
              <p:cNvSpPr txBox="1">
                <a:spLocks noRot="1" noChangeAspect="1" noMove="1" noResize="1" noEditPoints="1" noAdjustHandles="1" noChangeArrowheads="1" noChangeShapeType="1" noTextEdit="1"/>
              </p:cNvSpPr>
              <p:nvPr/>
            </p:nvSpPr>
            <p:spPr>
              <a:xfrm>
                <a:off x="1166034" y="3609718"/>
                <a:ext cx="9578163" cy="1227772"/>
              </a:xfrm>
              <a:prstGeom prst="rect">
                <a:avLst/>
              </a:prstGeom>
              <a:blipFill>
                <a:blip r:embed="rId5"/>
                <a:stretch>
                  <a:fillRect l="-191" t="-990"/>
                </a:stretch>
              </a:blipFill>
            </p:spPr>
            <p:txBody>
              <a:bodyPr/>
              <a:lstStyle/>
              <a:p>
                <a:r>
                  <a:rPr lang="zh-CN" altLang="en-US">
                    <a:noFill/>
                  </a:rPr>
                  <a:t> </a:t>
                </a:r>
              </a:p>
            </p:txBody>
          </p:sp>
        </mc:Fallback>
      </mc:AlternateContent>
      <p:grpSp>
        <p:nvGrpSpPr>
          <p:cNvPr id="94" name="组合 93">
            <a:extLst>
              <a:ext uri="{FF2B5EF4-FFF2-40B4-BE49-F238E27FC236}">
                <a16:creationId xmlns:a16="http://schemas.microsoft.com/office/drawing/2014/main" id="{8D4E767E-547E-4659-8265-0DFE843A845F}"/>
              </a:ext>
            </a:extLst>
          </p:cNvPr>
          <p:cNvGrpSpPr/>
          <p:nvPr/>
        </p:nvGrpSpPr>
        <p:grpSpPr>
          <a:xfrm>
            <a:off x="6096000" y="1546695"/>
            <a:ext cx="641566" cy="1950298"/>
            <a:chOff x="1225300" y="3451362"/>
            <a:chExt cx="2033838" cy="1468916"/>
          </a:xfrm>
        </p:grpSpPr>
        <p:cxnSp>
          <p:nvCxnSpPr>
            <p:cNvPr id="95" name="直接连接符 94">
              <a:extLst>
                <a:ext uri="{FF2B5EF4-FFF2-40B4-BE49-F238E27FC236}">
                  <a16:creationId xmlns:a16="http://schemas.microsoft.com/office/drawing/2014/main" id="{B3E954D9-DF4B-4379-B111-EE7F41F3BC3D}"/>
                </a:ext>
              </a:extLst>
            </p:cNvPr>
            <p:cNvCxnSpPr>
              <a:cxnSpLocks/>
            </p:cNvCxnSpPr>
            <p:nvPr/>
          </p:nvCxnSpPr>
          <p:spPr>
            <a:xfrm>
              <a:off x="1238000"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96" name="直接连接符 95">
              <a:extLst>
                <a:ext uri="{FF2B5EF4-FFF2-40B4-BE49-F238E27FC236}">
                  <a16:creationId xmlns:a16="http://schemas.microsoft.com/office/drawing/2014/main" id="{9C41ACA6-CF5A-40A4-BDD1-300CD6B0A61A}"/>
                </a:ext>
              </a:extLst>
            </p:cNvPr>
            <p:cNvCxnSpPr>
              <a:cxnSpLocks/>
            </p:cNvCxnSpPr>
            <p:nvPr/>
          </p:nvCxnSpPr>
          <p:spPr>
            <a:xfrm>
              <a:off x="3247774"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97" name="直接连接符 96">
              <a:extLst>
                <a:ext uri="{FF2B5EF4-FFF2-40B4-BE49-F238E27FC236}">
                  <a16:creationId xmlns:a16="http://schemas.microsoft.com/office/drawing/2014/main" id="{90D24067-230B-4515-A56F-9CED0679A42C}"/>
                </a:ext>
              </a:extLst>
            </p:cNvPr>
            <p:cNvCxnSpPr>
              <a:cxnSpLocks/>
            </p:cNvCxnSpPr>
            <p:nvPr/>
          </p:nvCxnSpPr>
          <p:spPr>
            <a:xfrm>
              <a:off x="1225300" y="4920278"/>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98" name="直接连接符 97">
              <a:extLst>
                <a:ext uri="{FF2B5EF4-FFF2-40B4-BE49-F238E27FC236}">
                  <a16:creationId xmlns:a16="http://schemas.microsoft.com/office/drawing/2014/main" id="{77982B06-EC4C-436A-931A-2B3D065433E5}"/>
                </a:ext>
              </a:extLst>
            </p:cNvPr>
            <p:cNvCxnSpPr>
              <a:cxnSpLocks/>
            </p:cNvCxnSpPr>
            <p:nvPr/>
          </p:nvCxnSpPr>
          <p:spPr>
            <a:xfrm>
              <a:off x="1225300" y="3456261"/>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grpSp>
      <p:grpSp>
        <p:nvGrpSpPr>
          <p:cNvPr id="99" name="组合 98">
            <a:extLst>
              <a:ext uri="{FF2B5EF4-FFF2-40B4-BE49-F238E27FC236}">
                <a16:creationId xmlns:a16="http://schemas.microsoft.com/office/drawing/2014/main" id="{23D6F23D-614C-4167-A144-7F67F290FC27}"/>
              </a:ext>
            </a:extLst>
          </p:cNvPr>
          <p:cNvGrpSpPr/>
          <p:nvPr/>
        </p:nvGrpSpPr>
        <p:grpSpPr>
          <a:xfrm>
            <a:off x="4792730" y="1535265"/>
            <a:ext cx="605318" cy="1950298"/>
            <a:chOff x="1225300" y="3451362"/>
            <a:chExt cx="2033838" cy="1468916"/>
          </a:xfrm>
        </p:grpSpPr>
        <p:cxnSp>
          <p:nvCxnSpPr>
            <p:cNvPr id="100" name="直接连接符 99">
              <a:extLst>
                <a:ext uri="{FF2B5EF4-FFF2-40B4-BE49-F238E27FC236}">
                  <a16:creationId xmlns:a16="http://schemas.microsoft.com/office/drawing/2014/main" id="{674607F1-10D9-4A32-8889-09C85F5FE625}"/>
                </a:ext>
              </a:extLst>
            </p:cNvPr>
            <p:cNvCxnSpPr>
              <a:cxnSpLocks/>
            </p:cNvCxnSpPr>
            <p:nvPr/>
          </p:nvCxnSpPr>
          <p:spPr>
            <a:xfrm>
              <a:off x="1238000" y="3451362"/>
              <a:ext cx="0" cy="1468916"/>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cxnSp>
          <p:nvCxnSpPr>
            <p:cNvPr id="101" name="直接连接符 100">
              <a:extLst>
                <a:ext uri="{FF2B5EF4-FFF2-40B4-BE49-F238E27FC236}">
                  <a16:creationId xmlns:a16="http://schemas.microsoft.com/office/drawing/2014/main" id="{0A7930C4-1223-409B-B248-A80A667F4891}"/>
                </a:ext>
              </a:extLst>
            </p:cNvPr>
            <p:cNvCxnSpPr>
              <a:cxnSpLocks/>
            </p:cNvCxnSpPr>
            <p:nvPr/>
          </p:nvCxnSpPr>
          <p:spPr>
            <a:xfrm>
              <a:off x="3247774" y="3451362"/>
              <a:ext cx="0" cy="1468916"/>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cxnSp>
          <p:nvCxnSpPr>
            <p:cNvPr id="102" name="直接连接符 101">
              <a:extLst>
                <a:ext uri="{FF2B5EF4-FFF2-40B4-BE49-F238E27FC236}">
                  <a16:creationId xmlns:a16="http://schemas.microsoft.com/office/drawing/2014/main" id="{95ACEC29-7FEF-47F4-9610-A6AD9073CD48}"/>
                </a:ext>
              </a:extLst>
            </p:cNvPr>
            <p:cNvCxnSpPr>
              <a:cxnSpLocks/>
            </p:cNvCxnSpPr>
            <p:nvPr/>
          </p:nvCxnSpPr>
          <p:spPr>
            <a:xfrm>
              <a:off x="1225300" y="4920278"/>
              <a:ext cx="2033838" cy="0"/>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cxnSp>
          <p:nvCxnSpPr>
            <p:cNvPr id="103" name="直接连接符 102">
              <a:extLst>
                <a:ext uri="{FF2B5EF4-FFF2-40B4-BE49-F238E27FC236}">
                  <a16:creationId xmlns:a16="http://schemas.microsoft.com/office/drawing/2014/main" id="{9B22AE1A-D747-427C-9235-D794B753BC47}"/>
                </a:ext>
              </a:extLst>
            </p:cNvPr>
            <p:cNvCxnSpPr>
              <a:cxnSpLocks/>
            </p:cNvCxnSpPr>
            <p:nvPr/>
          </p:nvCxnSpPr>
          <p:spPr>
            <a:xfrm>
              <a:off x="1225300" y="3456261"/>
              <a:ext cx="2033838" cy="0"/>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grpSp>
      <p:grpSp>
        <p:nvGrpSpPr>
          <p:cNvPr id="104" name="组合 103">
            <a:extLst>
              <a:ext uri="{FF2B5EF4-FFF2-40B4-BE49-F238E27FC236}">
                <a16:creationId xmlns:a16="http://schemas.microsoft.com/office/drawing/2014/main" id="{D49B04F2-8CDA-4572-A75D-A82E9ABE26C1}"/>
              </a:ext>
            </a:extLst>
          </p:cNvPr>
          <p:cNvGrpSpPr/>
          <p:nvPr/>
        </p:nvGrpSpPr>
        <p:grpSpPr>
          <a:xfrm>
            <a:off x="6773813" y="1541767"/>
            <a:ext cx="684630" cy="1950298"/>
            <a:chOff x="1225300" y="3451362"/>
            <a:chExt cx="2033838" cy="1468916"/>
          </a:xfrm>
        </p:grpSpPr>
        <p:cxnSp>
          <p:nvCxnSpPr>
            <p:cNvPr id="105" name="直接连接符 104">
              <a:extLst>
                <a:ext uri="{FF2B5EF4-FFF2-40B4-BE49-F238E27FC236}">
                  <a16:creationId xmlns:a16="http://schemas.microsoft.com/office/drawing/2014/main" id="{BB364154-4861-4DCE-A2DE-B2FEB1E3472D}"/>
                </a:ext>
              </a:extLst>
            </p:cNvPr>
            <p:cNvCxnSpPr>
              <a:cxnSpLocks/>
            </p:cNvCxnSpPr>
            <p:nvPr/>
          </p:nvCxnSpPr>
          <p:spPr>
            <a:xfrm>
              <a:off x="1238000"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106" name="直接连接符 105">
              <a:extLst>
                <a:ext uri="{FF2B5EF4-FFF2-40B4-BE49-F238E27FC236}">
                  <a16:creationId xmlns:a16="http://schemas.microsoft.com/office/drawing/2014/main" id="{5CCA0DBC-BA56-4343-A1A9-03D977495F5F}"/>
                </a:ext>
              </a:extLst>
            </p:cNvPr>
            <p:cNvCxnSpPr>
              <a:cxnSpLocks/>
            </p:cNvCxnSpPr>
            <p:nvPr/>
          </p:nvCxnSpPr>
          <p:spPr>
            <a:xfrm>
              <a:off x="3247774"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107" name="直接连接符 106">
              <a:extLst>
                <a:ext uri="{FF2B5EF4-FFF2-40B4-BE49-F238E27FC236}">
                  <a16:creationId xmlns:a16="http://schemas.microsoft.com/office/drawing/2014/main" id="{027ED9FC-80D1-45D4-B4B1-66E54BF30EB2}"/>
                </a:ext>
              </a:extLst>
            </p:cNvPr>
            <p:cNvCxnSpPr>
              <a:cxnSpLocks/>
            </p:cNvCxnSpPr>
            <p:nvPr/>
          </p:nvCxnSpPr>
          <p:spPr>
            <a:xfrm>
              <a:off x="1225300" y="4920278"/>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108" name="直接连接符 107">
              <a:extLst>
                <a:ext uri="{FF2B5EF4-FFF2-40B4-BE49-F238E27FC236}">
                  <a16:creationId xmlns:a16="http://schemas.microsoft.com/office/drawing/2014/main" id="{70B21A17-2B92-4836-996C-8E65C67E1907}"/>
                </a:ext>
              </a:extLst>
            </p:cNvPr>
            <p:cNvCxnSpPr>
              <a:cxnSpLocks/>
            </p:cNvCxnSpPr>
            <p:nvPr/>
          </p:nvCxnSpPr>
          <p:spPr>
            <a:xfrm>
              <a:off x="1225300" y="3456261"/>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grpSp>
      <p:sp>
        <p:nvSpPr>
          <p:cNvPr id="109" name="文本框 108">
            <a:extLst>
              <a:ext uri="{FF2B5EF4-FFF2-40B4-BE49-F238E27FC236}">
                <a16:creationId xmlns:a16="http://schemas.microsoft.com/office/drawing/2014/main" id="{A0A82797-28CC-4BD5-A147-CB0BF4CCF44C}"/>
              </a:ext>
            </a:extLst>
          </p:cNvPr>
          <p:cNvSpPr txBox="1"/>
          <p:nvPr/>
        </p:nvSpPr>
        <p:spPr>
          <a:xfrm>
            <a:off x="4086119" y="4293517"/>
            <a:ext cx="2212509" cy="369332"/>
          </a:xfrm>
          <a:prstGeom prst="rect">
            <a:avLst/>
          </a:prstGeom>
          <a:noFill/>
        </p:spPr>
        <p:txBody>
          <a:bodyPr wrap="square">
            <a:spAutoFit/>
          </a:bodyPr>
          <a:lstStyle/>
          <a:p>
            <a:endParaRPr lang="zh-CN" altLang="en-US" sz="1800" dirty="0"/>
          </a:p>
        </p:txBody>
      </p:sp>
      <p:cxnSp>
        <p:nvCxnSpPr>
          <p:cNvPr id="7" name="直接连接符 6">
            <a:extLst>
              <a:ext uri="{FF2B5EF4-FFF2-40B4-BE49-F238E27FC236}">
                <a16:creationId xmlns:a16="http://schemas.microsoft.com/office/drawing/2014/main" id="{721716F3-C4EF-4244-8B79-F2ABB13E02E3}"/>
              </a:ext>
            </a:extLst>
          </p:cNvPr>
          <p:cNvCxnSpPr>
            <a:cxnSpLocks/>
          </p:cNvCxnSpPr>
          <p:nvPr/>
        </p:nvCxnSpPr>
        <p:spPr>
          <a:xfrm>
            <a:off x="4756482" y="1273303"/>
            <a:ext cx="0" cy="2336415"/>
          </a:xfrm>
          <a:prstGeom prst="line">
            <a:avLst/>
          </a:prstGeom>
          <a:ln>
            <a:solidFill>
              <a:srgbClr val="FF0000"/>
            </a:solidFill>
            <a:prstDash val="dash"/>
          </a:ln>
        </p:spPr>
        <p:style>
          <a:lnRef idx="3">
            <a:schemeClr val="accent6"/>
          </a:lnRef>
          <a:fillRef idx="0">
            <a:schemeClr val="accent6"/>
          </a:fillRef>
          <a:effectRef idx="2">
            <a:schemeClr val="accent6"/>
          </a:effectRef>
          <a:fontRef idx="minor">
            <a:schemeClr val="tx1"/>
          </a:fontRef>
        </p:style>
      </p:cxnSp>
      <p:cxnSp>
        <p:nvCxnSpPr>
          <p:cNvPr id="110" name="直接连接符 109">
            <a:extLst>
              <a:ext uri="{FF2B5EF4-FFF2-40B4-BE49-F238E27FC236}">
                <a16:creationId xmlns:a16="http://schemas.microsoft.com/office/drawing/2014/main" id="{61C9FC45-088E-4764-817A-5B3A12B48027}"/>
              </a:ext>
            </a:extLst>
          </p:cNvPr>
          <p:cNvCxnSpPr>
            <a:cxnSpLocks/>
          </p:cNvCxnSpPr>
          <p:nvPr/>
        </p:nvCxnSpPr>
        <p:spPr>
          <a:xfrm>
            <a:off x="6773813" y="1273303"/>
            <a:ext cx="0" cy="2384297"/>
          </a:xfrm>
          <a:prstGeom prst="line">
            <a:avLst/>
          </a:prstGeom>
          <a:ln>
            <a:solidFill>
              <a:srgbClr val="FF0000"/>
            </a:solidFill>
            <a:prstDash val="dash"/>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641292723"/>
      </p:ext>
    </p:extLst>
  </p:cSld>
  <p:clrMapOvr>
    <a:masterClrMapping/>
  </p:clrMapOvr>
  <mc:AlternateContent xmlns:mc="http://schemas.openxmlformats.org/markup-compatibility/2006" xmlns:p14="http://schemas.microsoft.com/office/powerpoint/2010/main">
    <mc:Choice Requires="p14">
      <p:transition spd="slow" p14:dur="999" advTm="8005"/>
    </mc:Choice>
    <mc:Fallback xmlns="">
      <p:transition spd="slow" advTm="800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4.LightGBM</a:t>
            </a:r>
            <a:endParaRPr lang="zh-CN" altLang="en-US" dirty="0">
              <a:solidFill>
                <a:schemeClr val="tx1"/>
              </a:solidFill>
            </a:endParaRPr>
          </a:p>
        </p:txBody>
      </p:sp>
      <p:sp>
        <p:nvSpPr>
          <p:cNvPr id="6" name="文本框 5">
            <a:extLst>
              <a:ext uri="{FF2B5EF4-FFF2-40B4-BE49-F238E27FC236}">
                <a16:creationId xmlns:a16="http://schemas.microsoft.com/office/drawing/2014/main" id="{0B912DAA-1D12-4AD6-819E-149C4FCACE3C}"/>
              </a:ext>
            </a:extLst>
          </p:cNvPr>
          <p:cNvSpPr txBox="1"/>
          <p:nvPr/>
        </p:nvSpPr>
        <p:spPr>
          <a:xfrm>
            <a:off x="668337" y="1533618"/>
            <a:ext cx="10460873" cy="461665"/>
          </a:xfrm>
          <a:prstGeom prst="rect">
            <a:avLst/>
          </a:prstGeom>
          <a:noFill/>
        </p:spPr>
        <p:txBody>
          <a:bodyPr wrap="square">
            <a:spAutoFit/>
          </a:bodyPr>
          <a:lstStyle/>
          <a:p>
            <a:r>
              <a:rPr lang="zh-CN" altLang="zh-CN" sz="2400" b="1" kern="100" dirty="0">
                <a:effectLst/>
                <a:latin typeface="微软雅黑" panose="020B0503020204020204" pitchFamily="34" charset="-122"/>
                <a:cs typeface="Times New Roman" panose="02020603050405020304" pitchFamily="18" charset="0"/>
              </a:rPr>
              <a:t>互斥特征捆绑算法（</a:t>
            </a:r>
            <a:r>
              <a:rPr lang="en-US" altLang="zh-CN" sz="2400" b="1" kern="100" dirty="0">
                <a:effectLst/>
                <a:latin typeface="微软雅黑" panose="020B0503020204020204" pitchFamily="34" charset="-122"/>
                <a:cs typeface="Times New Roman" panose="02020603050405020304" pitchFamily="18" charset="0"/>
              </a:rPr>
              <a:t>Exclusive Feature Bundling, EFB</a:t>
            </a:r>
            <a:r>
              <a:rPr lang="zh-CN" altLang="zh-CN" sz="2400" b="1" kern="100" dirty="0">
                <a:effectLst/>
                <a:latin typeface="微软雅黑" panose="020B0503020204020204" pitchFamily="34" charset="-122"/>
                <a:cs typeface="Times New Roman" panose="02020603050405020304" pitchFamily="18" charset="0"/>
              </a:rPr>
              <a:t>）</a:t>
            </a:r>
            <a:endParaRPr lang="zh-CN" altLang="en-US" b="1" dirty="0">
              <a:latin typeface="微软雅黑" panose="020B0503020204020204" pitchFamily="34" charset="-122"/>
            </a:endParaRPr>
          </a:p>
        </p:txBody>
      </p:sp>
      <p:sp>
        <p:nvSpPr>
          <p:cNvPr id="9" name="文本框 8">
            <a:extLst>
              <a:ext uri="{FF2B5EF4-FFF2-40B4-BE49-F238E27FC236}">
                <a16:creationId xmlns:a16="http://schemas.microsoft.com/office/drawing/2014/main" id="{6182B940-5049-4DF1-89AD-9948653D3A48}"/>
              </a:ext>
            </a:extLst>
          </p:cNvPr>
          <p:cNvSpPr txBox="1"/>
          <p:nvPr/>
        </p:nvSpPr>
        <p:spPr>
          <a:xfrm>
            <a:off x="605088" y="1947080"/>
            <a:ext cx="10981824" cy="2243050"/>
          </a:xfrm>
          <a:prstGeom prst="rect">
            <a:avLst/>
          </a:prstGeom>
          <a:noFill/>
        </p:spPr>
        <p:txBody>
          <a:bodyPr wrap="square">
            <a:spAutoFit/>
          </a:bodyPr>
          <a:lstStyle/>
          <a:p>
            <a:pPr>
              <a:lnSpc>
                <a:spcPct val="150000"/>
              </a:lnSpc>
            </a:pPr>
            <a:r>
              <a:rPr lang="zh-CN" altLang="zh-CN" sz="2400" dirty="0">
                <a:effectLst/>
                <a:latin typeface="微软雅黑" panose="020B0503020204020204" pitchFamily="34" charset="-122"/>
                <a:cs typeface="Euclid" panose="02020503060505020303" pitchFamily="18" charset="0"/>
              </a:rPr>
              <a:t>高维特征往往是稀疏的，而且特征间可能是相互排斥的（如两个特征不同时取非零值），如果两个特征并不完全互斥（如只有一部分情况下是不同时取非零值），可以用互斥率表示互斥程度。</a:t>
            </a:r>
            <a:r>
              <a:rPr lang="en-US" altLang="zh-CN" sz="2400" dirty="0">
                <a:effectLst/>
                <a:latin typeface="微软雅黑" panose="020B0503020204020204" pitchFamily="34" charset="-122"/>
                <a:cs typeface="Euclid" panose="02020503060505020303" pitchFamily="18" charset="0"/>
              </a:rPr>
              <a:t>EFB</a:t>
            </a:r>
            <a:r>
              <a:rPr lang="zh-CN" altLang="en-US" sz="2400" dirty="0">
                <a:effectLst/>
                <a:latin typeface="微软雅黑" panose="020B0503020204020204" pitchFamily="34" charset="-122"/>
                <a:cs typeface="Euclid" panose="02020503060505020303" pitchFamily="18" charset="0"/>
              </a:rPr>
              <a:t>算法</a:t>
            </a:r>
            <a:r>
              <a:rPr lang="en-US" altLang="zh-CN" sz="2400" dirty="0" err="1">
                <a:effectLst/>
                <a:latin typeface="微软雅黑" panose="020B0503020204020204" pitchFamily="34" charset="-122"/>
                <a:cs typeface="Euclid" panose="02020503060505020303" pitchFamily="18" charset="0"/>
              </a:rPr>
              <a:t>指出如果将一些特征进行融合绑定，则可以降低特征数量</a:t>
            </a:r>
            <a:r>
              <a:rPr lang="en-US" altLang="zh-CN" sz="2400" dirty="0">
                <a:effectLst/>
                <a:latin typeface="微软雅黑" panose="020B0503020204020204" pitchFamily="34" charset="-122"/>
                <a:cs typeface="Euclid" panose="02020503060505020303" pitchFamily="18" charset="0"/>
              </a:rPr>
              <a:t>。</a:t>
            </a:r>
            <a:endParaRPr lang="zh-CN" altLang="zh-CN" sz="2400" dirty="0">
              <a:effectLst/>
              <a:latin typeface="微软雅黑" panose="020B0503020204020204" pitchFamily="34" charset="-122"/>
              <a:cs typeface="Euclid" panose="02020503060505020303" pitchFamily="18" charset="0"/>
            </a:endParaRPr>
          </a:p>
        </p:txBody>
      </p:sp>
      <p:sp>
        <p:nvSpPr>
          <p:cNvPr id="11" name="文本框 10">
            <a:extLst>
              <a:ext uri="{FF2B5EF4-FFF2-40B4-BE49-F238E27FC236}">
                <a16:creationId xmlns:a16="http://schemas.microsoft.com/office/drawing/2014/main" id="{7C7F29AB-E21F-419D-9C35-25039FA2DBED}"/>
              </a:ext>
            </a:extLst>
          </p:cNvPr>
          <p:cNvSpPr txBox="1"/>
          <p:nvPr/>
        </p:nvSpPr>
        <p:spPr>
          <a:xfrm>
            <a:off x="605088" y="4190130"/>
            <a:ext cx="10806058" cy="580415"/>
          </a:xfrm>
          <a:prstGeom prst="rect">
            <a:avLst/>
          </a:prstGeom>
          <a:noFill/>
        </p:spPr>
        <p:txBody>
          <a:bodyPr wrap="square">
            <a:spAutoFit/>
          </a:bodyPr>
          <a:lstStyle/>
          <a:p>
            <a:pPr>
              <a:lnSpc>
                <a:spcPct val="150000"/>
              </a:lnSpc>
            </a:pPr>
            <a:r>
              <a:rPr lang="zh-CN" altLang="en-US" dirty="0"/>
              <a:t>论文给出特征合并算法，其关键在于原始特征能从合并的特征中分离出来。</a:t>
            </a:r>
          </a:p>
        </p:txBody>
      </p:sp>
    </p:spTree>
    <p:extLst>
      <p:ext uri="{BB962C8B-B14F-4D97-AF65-F5344CB8AC3E}">
        <p14:creationId xmlns:p14="http://schemas.microsoft.com/office/powerpoint/2010/main" val="3088635524"/>
      </p:ext>
    </p:extLst>
  </p:cSld>
  <p:clrMapOvr>
    <a:masterClrMapping/>
  </p:clrMapOvr>
  <p:transition advTm="8005"/>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5" name="矩形: 圆角 4104">
            <a:extLst>
              <a:ext uri="{FF2B5EF4-FFF2-40B4-BE49-F238E27FC236}">
                <a16:creationId xmlns:a16="http://schemas.microsoft.com/office/drawing/2014/main" id="{27D3C78E-AF50-437B-8BBA-16199F2FF39C}"/>
              </a:ext>
            </a:extLst>
          </p:cNvPr>
          <p:cNvSpPr/>
          <p:nvPr/>
        </p:nvSpPr>
        <p:spPr>
          <a:xfrm>
            <a:off x="6883790" y="4994151"/>
            <a:ext cx="5270695" cy="16129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4.LightGBM</a:t>
            </a:r>
            <a:endParaRPr lang="zh-CN" altLang="en-US" dirty="0">
              <a:solidFill>
                <a:schemeClr val="tx1"/>
              </a:solidFill>
            </a:endParaRPr>
          </a:p>
        </p:txBody>
      </p:sp>
      <p:sp>
        <p:nvSpPr>
          <p:cNvPr id="6" name="文本框 5">
            <a:extLst>
              <a:ext uri="{FF2B5EF4-FFF2-40B4-BE49-F238E27FC236}">
                <a16:creationId xmlns:a16="http://schemas.microsoft.com/office/drawing/2014/main" id="{0B912DAA-1D12-4AD6-819E-149C4FCACE3C}"/>
              </a:ext>
            </a:extLst>
          </p:cNvPr>
          <p:cNvSpPr txBox="1"/>
          <p:nvPr/>
        </p:nvSpPr>
        <p:spPr>
          <a:xfrm>
            <a:off x="668337" y="1533618"/>
            <a:ext cx="10460873" cy="461665"/>
          </a:xfrm>
          <a:prstGeom prst="rect">
            <a:avLst/>
          </a:prstGeom>
          <a:noFill/>
        </p:spPr>
        <p:txBody>
          <a:bodyPr wrap="square">
            <a:spAutoFit/>
          </a:bodyPr>
          <a:lstStyle/>
          <a:p>
            <a:r>
              <a:rPr lang="zh-CN" altLang="zh-CN" sz="2400" b="1" kern="100" dirty="0">
                <a:effectLst/>
                <a:latin typeface="微软雅黑" panose="020B0503020204020204" pitchFamily="34" charset="-122"/>
                <a:cs typeface="Times New Roman" panose="02020603050405020304" pitchFamily="18" charset="0"/>
              </a:rPr>
              <a:t>互斥特征捆绑算法（</a:t>
            </a:r>
            <a:r>
              <a:rPr lang="en-US" altLang="zh-CN" sz="2400" b="1" kern="100" dirty="0">
                <a:effectLst/>
                <a:latin typeface="微软雅黑" panose="020B0503020204020204" pitchFamily="34" charset="-122"/>
                <a:cs typeface="Times New Roman" panose="02020603050405020304" pitchFamily="18" charset="0"/>
              </a:rPr>
              <a:t>Exclusive Feature Bundling, EFB</a:t>
            </a:r>
            <a:r>
              <a:rPr lang="zh-CN" altLang="zh-CN" sz="2400" b="1" kern="100" dirty="0">
                <a:effectLst/>
                <a:latin typeface="微软雅黑" panose="020B0503020204020204" pitchFamily="34" charset="-122"/>
                <a:cs typeface="Times New Roman" panose="02020603050405020304" pitchFamily="18" charset="0"/>
              </a:rPr>
              <a:t>）</a:t>
            </a:r>
            <a:endParaRPr lang="zh-CN" altLang="en-US" b="1" dirty="0">
              <a:latin typeface="微软雅黑" panose="020B0503020204020204" pitchFamily="34" charset="-122"/>
            </a:endParaRPr>
          </a:p>
        </p:txBody>
      </p:sp>
      <p:sp>
        <p:nvSpPr>
          <p:cNvPr id="9" name="文本框 8">
            <a:extLst>
              <a:ext uri="{FF2B5EF4-FFF2-40B4-BE49-F238E27FC236}">
                <a16:creationId xmlns:a16="http://schemas.microsoft.com/office/drawing/2014/main" id="{6182B940-5049-4DF1-89AD-9948653D3A48}"/>
              </a:ext>
            </a:extLst>
          </p:cNvPr>
          <p:cNvSpPr txBox="1"/>
          <p:nvPr/>
        </p:nvSpPr>
        <p:spPr>
          <a:xfrm>
            <a:off x="605087" y="1947080"/>
            <a:ext cx="5960951" cy="3905043"/>
          </a:xfrm>
          <a:prstGeom prst="rect">
            <a:avLst/>
          </a:prstGeom>
          <a:noFill/>
        </p:spPr>
        <p:txBody>
          <a:bodyPr wrap="square">
            <a:spAutoFit/>
          </a:bodyPr>
          <a:lstStyle/>
          <a:p>
            <a:pPr>
              <a:lnSpc>
                <a:spcPct val="150000"/>
              </a:lnSpc>
            </a:pPr>
            <a:r>
              <a:rPr lang="zh-CN" altLang="zh-CN" sz="2400" dirty="0">
                <a:effectLst/>
                <a:latin typeface="微软雅黑" panose="020B0503020204020204" pitchFamily="34" charset="-122"/>
                <a:cs typeface="Euclid" panose="02020503060505020303" pitchFamily="18" charset="0"/>
              </a:rPr>
              <a:t>高维特征往往是稀疏的，而且特征间可能是相互排斥的（如两个特征不同时取非零值），如果两个特征并不完全互斥（如只有一部分情况下是不同时取非零值），可以用互斥率表示互斥程度。</a:t>
            </a:r>
            <a:r>
              <a:rPr lang="en-US" altLang="zh-CN" sz="2400" dirty="0">
                <a:effectLst/>
                <a:latin typeface="微软雅黑" panose="020B0503020204020204" pitchFamily="34" charset="-122"/>
                <a:cs typeface="Euclid" panose="02020503060505020303" pitchFamily="18" charset="0"/>
              </a:rPr>
              <a:t>EFB</a:t>
            </a:r>
            <a:r>
              <a:rPr lang="zh-CN" altLang="en-US" sz="2400" dirty="0">
                <a:effectLst/>
                <a:latin typeface="微软雅黑" panose="020B0503020204020204" pitchFamily="34" charset="-122"/>
                <a:cs typeface="Euclid" panose="02020503060505020303" pitchFamily="18" charset="0"/>
              </a:rPr>
              <a:t>算法</a:t>
            </a:r>
            <a:r>
              <a:rPr lang="en-US" altLang="zh-CN" sz="2400" dirty="0" err="1">
                <a:effectLst/>
                <a:latin typeface="微软雅黑" panose="020B0503020204020204" pitchFamily="34" charset="-122"/>
                <a:cs typeface="Euclid" panose="02020503060505020303" pitchFamily="18" charset="0"/>
              </a:rPr>
              <a:t>指出如果将一些特征进行融合绑定，则可以降低特征数量</a:t>
            </a:r>
            <a:r>
              <a:rPr lang="en-US" altLang="zh-CN" sz="2400" dirty="0">
                <a:effectLst/>
                <a:latin typeface="微软雅黑" panose="020B0503020204020204" pitchFamily="34" charset="-122"/>
                <a:cs typeface="Euclid" panose="02020503060505020303" pitchFamily="18" charset="0"/>
              </a:rPr>
              <a:t>。</a:t>
            </a:r>
            <a:endParaRPr lang="zh-CN" altLang="zh-CN" sz="2400" dirty="0">
              <a:effectLst/>
              <a:latin typeface="微软雅黑" panose="020B0503020204020204" pitchFamily="34" charset="-122"/>
              <a:cs typeface="Euclid" panose="02020503060505020303" pitchFamily="18" charset="0"/>
            </a:endParaRPr>
          </a:p>
        </p:txBody>
      </p:sp>
      <p:grpSp>
        <p:nvGrpSpPr>
          <p:cNvPr id="4104" name="组合 4103">
            <a:extLst>
              <a:ext uri="{FF2B5EF4-FFF2-40B4-BE49-F238E27FC236}">
                <a16:creationId xmlns:a16="http://schemas.microsoft.com/office/drawing/2014/main" id="{DB479AAC-C172-4ABF-AEAF-3F582714F8DA}"/>
              </a:ext>
            </a:extLst>
          </p:cNvPr>
          <p:cNvGrpSpPr/>
          <p:nvPr/>
        </p:nvGrpSpPr>
        <p:grpSpPr>
          <a:xfrm>
            <a:off x="7428264" y="2703242"/>
            <a:ext cx="4534476" cy="2192988"/>
            <a:chOff x="7428264" y="2703242"/>
            <a:chExt cx="4534476" cy="2192988"/>
          </a:xfrm>
        </p:grpSpPr>
        <p:cxnSp>
          <p:nvCxnSpPr>
            <p:cNvPr id="8" name="Google Shape;517;p30">
              <a:extLst>
                <a:ext uri="{FF2B5EF4-FFF2-40B4-BE49-F238E27FC236}">
                  <a16:creationId xmlns:a16="http://schemas.microsoft.com/office/drawing/2014/main" id="{352915D3-8EE0-45A7-BA28-FD1E616242DA}"/>
                </a:ext>
              </a:extLst>
            </p:cNvPr>
            <p:cNvCxnSpPr>
              <a:cxnSpLocks/>
            </p:cNvCxnSpPr>
            <p:nvPr/>
          </p:nvCxnSpPr>
          <p:spPr>
            <a:xfrm flipV="1">
              <a:off x="7633563" y="2768411"/>
              <a:ext cx="0" cy="2061664"/>
            </a:xfrm>
            <a:prstGeom prst="straightConnector1">
              <a:avLst/>
            </a:prstGeom>
            <a:noFill/>
            <a:ln w="19050" cap="flat" cmpd="sng">
              <a:solidFill>
                <a:srgbClr val="000000"/>
              </a:solidFill>
              <a:prstDash val="solid"/>
              <a:round/>
              <a:headEnd type="none" w="med" len="med"/>
              <a:tailEnd type="triangle" w="med" len="med"/>
            </a:ln>
          </p:spPr>
        </p:cxnSp>
        <p:cxnSp>
          <p:nvCxnSpPr>
            <p:cNvPr id="10" name="Google Shape;517;p30">
              <a:extLst>
                <a:ext uri="{FF2B5EF4-FFF2-40B4-BE49-F238E27FC236}">
                  <a16:creationId xmlns:a16="http://schemas.microsoft.com/office/drawing/2014/main" id="{4590FFCB-A2BD-48E0-B29F-D4092A1073F8}"/>
                </a:ext>
              </a:extLst>
            </p:cNvPr>
            <p:cNvCxnSpPr>
              <a:cxnSpLocks/>
            </p:cNvCxnSpPr>
            <p:nvPr/>
          </p:nvCxnSpPr>
          <p:spPr>
            <a:xfrm flipV="1">
              <a:off x="7428264" y="4555580"/>
              <a:ext cx="2230818" cy="2"/>
            </a:xfrm>
            <a:prstGeom prst="straightConnector1">
              <a:avLst/>
            </a:prstGeom>
            <a:noFill/>
            <a:ln w="19050" cap="flat" cmpd="sng">
              <a:solidFill>
                <a:srgbClr val="000000"/>
              </a:solidFill>
              <a:prstDash val="solid"/>
              <a:round/>
              <a:headEnd type="none" w="med" len="med"/>
              <a:tailEnd type="triangle" w="med" len="med"/>
            </a:ln>
          </p:spPr>
        </p:cxnSp>
        <p:sp>
          <p:nvSpPr>
            <p:cNvPr id="12" name="矩形 11">
              <a:extLst>
                <a:ext uri="{FF2B5EF4-FFF2-40B4-BE49-F238E27FC236}">
                  <a16:creationId xmlns:a16="http://schemas.microsoft.com/office/drawing/2014/main" id="{4125C8DF-4B1B-4F26-A5D5-E1FB89CC25DF}"/>
                </a:ext>
              </a:extLst>
            </p:cNvPr>
            <p:cNvSpPr/>
            <p:nvPr/>
          </p:nvSpPr>
          <p:spPr>
            <a:xfrm>
              <a:off x="7977589" y="3970828"/>
              <a:ext cx="215986" cy="584748"/>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3DDF712D-9BBB-4F85-8428-A598B59070B0}"/>
                </a:ext>
              </a:extLst>
            </p:cNvPr>
            <p:cNvSpPr/>
            <p:nvPr/>
          </p:nvSpPr>
          <p:spPr>
            <a:xfrm>
              <a:off x="8401224" y="3318360"/>
              <a:ext cx="227221" cy="1237220"/>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20" name="Google Shape;517;p30">
              <a:extLst>
                <a:ext uri="{FF2B5EF4-FFF2-40B4-BE49-F238E27FC236}">
                  <a16:creationId xmlns:a16="http://schemas.microsoft.com/office/drawing/2014/main" id="{9B27E199-5A1D-4E0A-82D0-0A00B4805D5B}"/>
                </a:ext>
              </a:extLst>
            </p:cNvPr>
            <p:cNvCxnSpPr>
              <a:cxnSpLocks/>
            </p:cNvCxnSpPr>
            <p:nvPr/>
          </p:nvCxnSpPr>
          <p:spPr>
            <a:xfrm flipV="1">
              <a:off x="9937220" y="2762781"/>
              <a:ext cx="0" cy="2061664"/>
            </a:xfrm>
            <a:prstGeom prst="straightConnector1">
              <a:avLst/>
            </a:prstGeom>
            <a:noFill/>
            <a:ln w="19050" cap="flat" cmpd="sng">
              <a:solidFill>
                <a:srgbClr val="000000"/>
              </a:solidFill>
              <a:prstDash val="solid"/>
              <a:round/>
              <a:headEnd type="none" w="med" len="med"/>
              <a:tailEnd type="triangle" w="med" len="med"/>
            </a:ln>
          </p:spPr>
        </p:cxnSp>
        <p:cxnSp>
          <p:nvCxnSpPr>
            <p:cNvPr id="21" name="Google Shape;517;p30">
              <a:extLst>
                <a:ext uri="{FF2B5EF4-FFF2-40B4-BE49-F238E27FC236}">
                  <a16:creationId xmlns:a16="http://schemas.microsoft.com/office/drawing/2014/main" id="{3F37AB29-3CA3-4064-ABD8-9BE9098FD804}"/>
                </a:ext>
              </a:extLst>
            </p:cNvPr>
            <p:cNvCxnSpPr>
              <a:cxnSpLocks/>
            </p:cNvCxnSpPr>
            <p:nvPr/>
          </p:nvCxnSpPr>
          <p:spPr>
            <a:xfrm flipV="1">
              <a:off x="9731922" y="4549950"/>
              <a:ext cx="2230818" cy="2"/>
            </a:xfrm>
            <a:prstGeom prst="straightConnector1">
              <a:avLst/>
            </a:prstGeom>
            <a:noFill/>
            <a:ln w="19050" cap="flat" cmpd="sng">
              <a:solidFill>
                <a:srgbClr val="000000"/>
              </a:solidFill>
              <a:prstDash val="solid"/>
              <a:round/>
              <a:headEnd type="none" w="med" len="med"/>
              <a:tailEnd type="triangle" w="med" len="med"/>
            </a:ln>
          </p:spPr>
        </p:cxnSp>
        <p:sp>
          <p:nvSpPr>
            <p:cNvPr id="24" name="矩形 23">
              <a:extLst>
                <a:ext uri="{FF2B5EF4-FFF2-40B4-BE49-F238E27FC236}">
                  <a16:creationId xmlns:a16="http://schemas.microsoft.com/office/drawing/2014/main" id="{A55C4701-26BD-43EE-A120-06685CEC307E}"/>
                </a:ext>
              </a:extLst>
            </p:cNvPr>
            <p:cNvSpPr/>
            <p:nvPr/>
          </p:nvSpPr>
          <p:spPr>
            <a:xfrm>
              <a:off x="10716051" y="2759107"/>
              <a:ext cx="216049" cy="1790841"/>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796D3929-AF77-42A4-BF44-1C45E1FC370B}"/>
                </a:ext>
              </a:extLst>
            </p:cNvPr>
            <p:cNvSpPr txBox="1"/>
            <p:nvPr/>
          </p:nvSpPr>
          <p:spPr>
            <a:xfrm>
              <a:off x="7874814" y="3557835"/>
              <a:ext cx="494817" cy="276999"/>
            </a:xfrm>
            <a:prstGeom prst="rect">
              <a:avLst/>
            </a:prstGeom>
            <a:noFill/>
          </p:spPr>
          <p:txBody>
            <a:bodyPr wrap="square" rtlCol="0">
              <a:spAutoFit/>
            </a:bodyPr>
            <a:lstStyle/>
            <a:p>
              <a:r>
                <a:rPr lang="en-US" altLang="zh-CN" sz="1200" dirty="0">
                  <a:latin typeface="微软雅黑" panose="020B0503020204020204" pitchFamily="34" charset="-122"/>
                </a:rPr>
                <a:t>10</a:t>
              </a:r>
              <a:endParaRPr lang="zh-CN" altLang="en-US" sz="1200" dirty="0">
                <a:latin typeface="微软雅黑" panose="020B0503020204020204" pitchFamily="34" charset="-122"/>
              </a:endParaRPr>
            </a:p>
          </p:txBody>
        </p:sp>
        <p:sp>
          <p:nvSpPr>
            <p:cNvPr id="43" name="文本框 42">
              <a:extLst>
                <a:ext uri="{FF2B5EF4-FFF2-40B4-BE49-F238E27FC236}">
                  <a16:creationId xmlns:a16="http://schemas.microsoft.com/office/drawing/2014/main" id="{3BC7BAE6-BF23-4944-82C2-69865C623345}"/>
                </a:ext>
              </a:extLst>
            </p:cNvPr>
            <p:cNvSpPr txBox="1"/>
            <p:nvPr/>
          </p:nvSpPr>
          <p:spPr>
            <a:xfrm>
              <a:off x="10302372" y="2703242"/>
              <a:ext cx="538740" cy="276999"/>
            </a:xfrm>
            <a:prstGeom prst="rect">
              <a:avLst/>
            </a:prstGeom>
            <a:noFill/>
          </p:spPr>
          <p:txBody>
            <a:bodyPr wrap="square" rtlCol="0">
              <a:spAutoFit/>
            </a:bodyPr>
            <a:lstStyle/>
            <a:p>
              <a:r>
                <a:rPr lang="en-US" altLang="zh-CN" sz="1200" dirty="0">
                  <a:latin typeface="微软雅黑" panose="020B0503020204020204" pitchFamily="34" charset="-122"/>
                </a:rPr>
                <a:t>30</a:t>
              </a:r>
              <a:endParaRPr lang="zh-CN" altLang="en-US" sz="1200" dirty="0">
                <a:latin typeface="微软雅黑" panose="020B0503020204020204" pitchFamily="34" charset="-122"/>
              </a:endParaRPr>
            </a:p>
          </p:txBody>
        </p: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49133449-48B8-4AA3-94A8-A3FA06D28F69}"/>
                    </a:ext>
                  </a:extLst>
                </p:cNvPr>
                <p:cNvSpPr txBox="1"/>
                <p:nvPr/>
              </p:nvSpPr>
              <p:spPr>
                <a:xfrm>
                  <a:off x="7720347" y="4539786"/>
                  <a:ext cx="847263"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i="1" smtClean="0">
                            <a:solidFill>
                              <a:schemeClr val="tx1"/>
                            </a:solidFill>
                            <a:latin typeface="Cambria Math" panose="02040503050406030204" pitchFamily="18" charset="0"/>
                          </a:rPr>
                          <m:t>𝐴</m:t>
                        </m:r>
                      </m:oMath>
                    </m:oMathPara>
                  </a14:m>
                  <a:endParaRPr lang="zh-CN" altLang="en-US" sz="1600" dirty="0">
                    <a:solidFill>
                      <a:schemeClr val="tx1"/>
                    </a:solidFill>
                  </a:endParaRPr>
                </a:p>
              </p:txBody>
            </p:sp>
          </mc:Choice>
          <mc:Fallback xmlns="">
            <p:sp>
              <p:nvSpPr>
                <p:cNvPr id="59" name="文本框 58">
                  <a:extLst>
                    <a:ext uri="{FF2B5EF4-FFF2-40B4-BE49-F238E27FC236}">
                      <a16:creationId xmlns:a16="http://schemas.microsoft.com/office/drawing/2014/main" id="{49133449-48B8-4AA3-94A8-A3FA06D28F69}"/>
                    </a:ext>
                  </a:extLst>
                </p:cNvPr>
                <p:cNvSpPr txBox="1">
                  <a:spLocks noRot="1" noChangeAspect="1" noMove="1" noResize="1" noEditPoints="1" noAdjustHandles="1" noChangeArrowheads="1" noChangeShapeType="1" noTextEdit="1"/>
                </p:cNvSpPr>
                <p:nvPr/>
              </p:nvSpPr>
              <p:spPr>
                <a:xfrm>
                  <a:off x="7720347" y="4539786"/>
                  <a:ext cx="847263" cy="33855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90666597-F578-4009-864D-172A548A7F24}"/>
                    </a:ext>
                  </a:extLst>
                </p:cNvPr>
                <p:cNvSpPr txBox="1"/>
                <p:nvPr/>
              </p:nvSpPr>
              <p:spPr>
                <a:xfrm>
                  <a:off x="8105829" y="4549948"/>
                  <a:ext cx="847263"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i="1" smtClean="0">
                            <a:solidFill>
                              <a:schemeClr val="tx1"/>
                            </a:solidFill>
                            <a:latin typeface="Cambria Math" panose="02040503050406030204" pitchFamily="18" charset="0"/>
                          </a:rPr>
                          <m:t>𝐵</m:t>
                        </m:r>
                      </m:oMath>
                    </m:oMathPara>
                  </a14:m>
                  <a:endParaRPr lang="zh-CN" altLang="en-US" sz="1600" dirty="0">
                    <a:solidFill>
                      <a:schemeClr val="tx1"/>
                    </a:solidFill>
                  </a:endParaRPr>
                </a:p>
              </p:txBody>
            </p:sp>
          </mc:Choice>
          <mc:Fallback xmlns="">
            <p:sp>
              <p:nvSpPr>
                <p:cNvPr id="60" name="文本框 59">
                  <a:extLst>
                    <a:ext uri="{FF2B5EF4-FFF2-40B4-BE49-F238E27FC236}">
                      <a16:creationId xmlns:a16="http://schemas.microsoft.com/office/drawing/2014/main" id="{90666597-F578-4009-864D-172A548A7F24}"/>
                    </a:ext>
                  </a:extLst>
                </p:cNvPr>
                <p:cNvSpPr txBox="1">
                  <a:spLocks noRot="1" noChangeAspect="1" noMove="1" noResize="1" noEditPoints="1" noAdjustHandles="1" noChangeArrowheads="1" noChangeShapeType="1" noTextEdit="1"/>
                </p:cNvSpPr>
                <p:nvPr/>
              </p:nvSpPr>
              <p:spPr>
                <a:xfrm>
                  <a:off x="8105829" y="4549948"/>
                  <a:ext cx="847263" cy="33855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1F852A2D-0A73-44D4-B684-DB667BB0E410}"/>
                    </a:ext>
                  </a:extLst>
                </p:cNvPr>
                <p:cNvSpPr txBox="1"/>
                <p:nvPr/>
              </p:nvSpPr>
              <p:spPr>
                <a:xfrm>
                  <a:off x="10417481" y="4557676"/>
                  <a:ext cx="847263"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𝐶</m:t>
                        </m:r>
                      </m:oMath>
                    </m:oMathPara>
                  </a14:m>
                  <a:endParaRPr lang="zh-CN" altLang="en-US" sz="1600" dirty="0">
                    <a:solidFill>
                      <a:schemeClr val="tx1"/>
                    </a:solidFill>
                  </a:endParaRPr>
                </a:p>
              </p:txBody>
            </p:sp>
          </mc:Choice>
          <mc:Fallback xmlns="">
            <p:sp>
              <p:nvSpPr>
                <p:cNvPr id="77" name="文本框 76">
                  <a:extLst>
                    <a:ext uri="{FF2B5EF4-FFF2-40B4-BE49-F238E27FC236}">
                      <a16:creationId xmlns:a16="http://schemas.microsoft.com/office/drawing/2014/main" id="{1F852A2D-0A73-44D4-B684-DB667BB0E410}"/>
                    </a:ext>
                  </a:extLst>
                </p:cNvPr>
                <p:cNvSpPr txBox="1">
                  <a:spLocks noRot="1" noChangeAspect="1" noMove="1" noResize="1" noEditPoints="1" noAdjustHandles="1" noChangeArrowheads="1" noChangeShapeType="1" noTextEdit="1"/>
                </p:cNvSpPr>
                <p:nvPr/>
              </p:nvSpPr>
              <p:spPr>
                <a:xfrm>
                  <a:off x="10417481" y="4557676"/>
                  <a:ext cx="847263" cy="338554"/>
                </a:xfrm>
                <a:prstGeom prst="rect">
                  <a:avLst/>
                </a:prstGeom>
                <a:blipFill>
                  <a:blip r:embed="rId5"/>
                  <a:stretch>
                    <a:fillRect/>
                  </a:stretch>
                </a:blipFill>
              </p:spPr>
              <p:txBody>
                <a:bodyPr/>
                <a:lstStyle/>
                <a:p>
                  <a:r>
                    <a:rPr lang="zh-CN" altLang="en-US">
                      <a:noFill/>
                    </a:rPr>
                    <a:t> </a:t>
                  </a:r>
                </a:p>
              </p:txBody>
            </p:sp>
          </mc:Fallback>
        </mc:AlternateContent>
        <p:sp>
          <p:nvSpPr>
            <p:cNvPr id="78" name="矩形 77">
              <a:extLst>
                <a:ext uri="{FF2B5EF4-FFF2-40B4-BE49-F238E27FC236}">
                  <a16:creationId xmlns:a16="http://schemas.microsoft.com/office/drawing/2014/main" id="{0F4C09C4-F30A-4F04-99C9-7E4B62C253A8}"/>
                </a:ext>
              </a:extLst>
            </p:cNvPr>
            <p:cNvSpPr/>
            <p:nvPr/>
          </p:nvSpPr>
          <p:spPr>
            <a:xfrm>
              <a:off x="10722294" y="3965200"/>
              <a:ext cx="209806" cy="584748"/>
            </a:xfrm>
            <a:prstGeom prst="rect">
              <a:avLst/>
            </a:prstGeom>
            <a:solidFill>
              <a:srgbClr val="FFC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79" name="文本框 78">
              <a:extLst>
                <a:ext uri="{FF2B5EF4-FFF2-40B4-BE49-F238E27FC236}">
                  <a16:creationId xmlns:a16="http://schemas.microsoft.com/office/drawing/2014/main" id="{2E93D823-BE38-4A5A-907D-9EBF259BCBBE}"/>
                </a:ext>
              </a:extLst>
            </p:cNvPr>
            <p:cNvSpPr txBox="1"/>
            <p:nvPr/>
          </p:nvSpPr>
          <p:spPr>
            <a:xfrm>
              <a:off x="8333446" y="2982638"/>
              <a:ext cx="538740" cy="276999"/>
            </a:xfrm>
            <a:prstGeom prst="rect">
              <a:avLst/>
            </a:prstGeom>
            <a:noFill/>
          </p:spPr>
          <p:txBody>
            <a:bodyPr wrap="square" rtlCol="0">
              <a:spAutoFit/>
            </a:bodyPr>
            <a:lstStyle/>
            <a:p>
              <a:r>
                <a:rPr lang="en-US" altLang="zh-CN" sz="1200" dirty="0">
                  <a:latin typeface="微软雅黑" panose="020B0503020204020204" pitchFamily="34" charset="-122"/>
                </a:rPr>
                <a:t>20</a:t>
              </a:r>
              <a:endParaRPr lang="zh-CN" altLang="en-US" sz="1200" dirty="0">
                <a:latin typeface="微软雅黑" panose="020B0503020204020204" pitchFamily="34" charset="-122"/>
              </a:endParaRPr>
            </a:p>
          </p:txBody>
        </p:sp>
        <p:sp>
          <p:nvSpPr>
            <p:cNvPr id="4102" name="箭头: 右 4101">
              <a:extLst>
                <a:ext uri="{FF2B5EF4-FFF2-40B4-BE49-F238E27FC236}">
                  <a16:creationId xmlns:a16="http://schemas.microsoft.com/office/drawing/2014/main" id="{A2CF6906-2B77-43A3-B97A-10198C165A68}"/>
                </a:ext>
              </a:extLst>
            </p:cNvPr>
            <p:cNvSpPr/>
            <p:nvPr/>
          </p:nvSpPr>
          <p:spPr>
            <a:xfrm>
              <a:off x="9283700" y="3502025"/>
              <a:ext cx="473075" cy="250817"/>
            </a:xfrm>
            <a:prstGeom prst="rightArrow">
              <a:avLst/>
            </a:prstGeom>
            <a:solidFill>
              <a:srgbClr val="FF0000"/>
            </a:solidFill>
            <a:ln>
              <a:solidFill>
                <a:srgbClr val="FF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grpSp>
      <p:sp>
        <p:nvSpPr>
          <p:cNvPr id="82" name="文本框 81">
            <a:extLst>
              <a:ext uri="{FF2B5EF4-FFF2-40B4-BE49-F238E27FC236}">
                <a16:creationId xmlns:a16="http://schemas.microsoft.com/office/drawing/2014/main" id="{65E409D7-28EE-4A0C-A238-570CC8C9B581}"/>
              </a:ext>
            </a:extLst>
          </p:cNvPr>
          <p:cNvSpPr txBox="1"/>
          <p:nvPr/>
        </p:nvSpPr>
        <p:spPr>
          <a:xfrm>
            <a:off x="6968197" y="4994151"/>
            <a:ext cx="5186289" cy="1525739"/>
          </a:xfrm>
          <a:prstGeom prst="rect">
            <a:avLst/>
          </a:prstGeom>
          <a:noFill/>
        </p:spPr>
        <p:txBody>
          <a:bodyPr wrap="square">
            <a:spAutoFit/>
          </a:bodyPr>
          <a:lstStyle/>
          <a:p>
            <a:pPr>
              <a:lnSpc>
                <a:spcPct val="150000"/>
              </a:lnSpc>
            </a:pPr>
            <a:r>
              <a:rPr lang="zh-CN" altLang="en-US" sz="1600" dirty="0"/>
              <a:t>假设 Bundle中有两个特征值，A取值为</a:t>
            </a:r>
            <a:r>
              <a:rPr lang="en-US" altLang="zh-CN" sz="1600" dirty="0"/>
              <a:t>[</a:t>
            </a:r>
            <a:r>
              <a:rPr lang="zh-CN" altLang="en-US" sz="1600" dirty="0"/>
              <a:t>0,10</a:t>
            </a:r>
            <a:r>
              <a:rPr lang="en-US" altLang="zh-CN" sz="1600" dirty="0"/>
              <a:t>]</a:t>
            </a:r>
            <a:r>
              <a:rPr lang="zh-CN" altLang="en-US" sz="1600" dirty="0"/>
              <a:t>，B取值为</a:t>
            </a:r>
            <a:r>
              <a:rPr lang="en-US" altLang="zh-CN" sz="1600" dirty="0"/>
              <a:t>[</a:t>
            </a:r>
            <a:r>
              <a:rPr lang="zh-CN" altLang="en-US" sz="1600" dirty="0"/>
              <a:t>0,20</a:t>
            </a:r>
            <a:r>
              <a:rPr lang="en-US" altLang="zh-CN" sz="1600" dirty="0"/>
              <a:t>]</a:t>
            </a:r>
            <a:r>
              <a:rPr lang="zh-CN" altLang="en-US" sz="1600" dirty="0"/>
              <a:t>，为了保证特征A、B的互斥性，我们可以给特征B添加一个偏移量转换为</a:t>
            </a:r>
            <a:r>
              <a:rPr lang="en-US" altLang="zh-CN" sz="1600" dirty="0"/>
              <a:t>C[</a:t>
            </a:r>
            <a:r>
              <a:rPr lang="zh-CN" altLang="en-US" sz="1600" dirty="0"/>
              <a:t>10,30</a:t>
            </a:r>
            <a:r>
              <a:rPr lang="en-US" altLang="zh-CN" sz="1600" dirty="0"/>
              <a:t>]</a:t>
            </a:r>
            <a:r>
              <a:rPr lang="zh-CN" altLang="en-US" sz="1600" dirty="0"/>
              <a:t>， Bundle后的特征其取值为</a:t>
            </a:r>
            <a:r>
              <a:rPr lang="en-US" altLang="zh-CN" sz="1600" dirty="0"/>
              <a:t>[</a:t>
            </a:r>
            <a:r>
              <a:rPr lang="zh-CN" altLang="en-US" sz="1600" dirty="0"/>
              <a:t>0,30</a:t>
            </a:r>
            <a:r>
              <a:rPr lang="en-US" altLang="zh-CN" sz="1600" dirty="0"/>
              <a:t>]</a:t>
            </a:r>
            <a:r>
              <a:rPr lang="zh-CN" altLang="en-US" sz="1600" dirty="0"/>
              <a:t>，这样便实现了特征合并。</a:t>
            </a:r>
          </a:p>
        </p:txBody>
      </p:sp>
    </p:spTree>
    <p:extLst>
      <p:ext uri="{BB962C8B-B14F-4D97-AF65-F5344CB8AC3E}">
        <p14:creationId xmlns:p14="http://schemas.microsoft.com/office/powerpoint/2010/main" val="1778534118"/>
      </p:ext>
    </p:extLst>
  </p:cSld>
  <p:clrMapOvr>
    <a:masterClrMapping/>
  </p:clrMapOvr>
  <p:transition advTm="8005"/>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4.LightGBM</a:t>
            </a:r>
            <a:endParaRPr lang="zh-CN" altLang="en-US" dirty="0">
              <a:solidFill>
                <a:schemeClr val="tx1"/>
              </a:solidFill>
            </a:endParaRPr>
          </a:p>
        </p:txBody>
      </p:sp>
      <p:sp>
        <p:nvSpPr>
          <p:cNvPr id="8" name="文本框 7">
            <a:extLst>
              <a:ext uri="{FF2B5EF4-FFF2-40B4-BE49-F238E27FC236}">
                <a16:creationId xmlns:a16="http://schemas.microsoft.com/office/drawing/2014/main" id="{A32F78D6-68AF-4A75-8399-473DB41D5BDB}"/>
              </a:ext>
            </a:extLst>
          </p:cNvPr>
          <p:cNvSpPr txBox="1"/>
          <p:nvPr/>
        </p:nvSpPr>
        <p:spPr>
          <a:xfrm>
            <a:off x="622048" y="1355957"/>
            <a:ext cx="7853614" cy="461665"/>
          </a:xfrm>
          <a:prstGeom prst="rect">
            <a:avLst/>
          </a:prstGeom>
          <a:noFill/>
        </p:spPr>
        <p:txBody>
          <a:bodyPr wrap="square">
            <a:spAutoFit/>
          </a:bodyPr>
          <a:lstStyle/>
          <a:p>
            <a:pPr algn="l"/>
            <a:r>
              <a:rPr lang="zh-CN" altLang="en-US" b="1" i="0" dirty="0">
                <a:solidFill>
                  <a:srgbClr val="121212"/>
                </a:solidFill>
                <a:effectLst/>
                <a:latin typeface="-apple-system"/>
              </a:rPr>
              <a:t>直方图算法</a:t>
            </a:r>
            <a:endParaRPr lang="zh-CN" altLang="en-US" dirty="0"/>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C1306D84-E293-4F03-A263-654737C10B06}"/>
                  </a:ext>
                </a:extLst>
              </p:cNvPr>
              <p:cNvSpPr txBox="1"/>
              <p:nvPr/>
            </p:nvSpPr>
            <p:spPr>
              <a:xfrm>
                <a:off x="622047" y="1795746"/>
                <a:ext cx="9834937" cy="1689052"/>
              </a:xfrm>
              <a:prstGeom prst="rect">
                <a:avLst/>
              </a:prstGeom>
              <a:noFill/>
            </p:spPr>
            <p:txBody>
              <a:bodyPr wrap="square">
                <a:spAutoFit/>
              </a:bodyPr>
              <a:lstStyle/>
              <a:p>
                <a:pPr algn="just">
                  <a:lnSpc>
                    <a:spcPct val="150000"/>
                  </a:lnSpc>
                </a:pPr>
                <a:r>
                  <a:rPr lang="zh-CN" altLang="zh-CN" sz="2400" kern="100" dirty="0">
                    <a:effectLst/>
                    <a:latin typeface="微软雅黑" panose="020B0503020204020204" pitchFamily="34" charset="-122"/>
                  </a:rPr>
                  <a:t>直方图算法的基本思想是将连续的特征离散化为</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𝑘</m:t>
                    </m:r>
                  </m:oMath>
                </a14:m>
                <a:r>
                  <a:rPr lang="zh-CN" altLang="zh-CN" sz="2400" kern="100" dirty="0">
                    <a:effectLst/>
                    <a:latin typeface="微软雅黑" panose="020B0503020204020204" pitchFamily="34" charset="-122"/>
                  </a:rPr>
                  <a:t>个离散特征，同时构造一个宽度为</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𝑘</m:t>
                    </m:r>
                  </m:oMath>
                </a14:m>
                <a:r>
                  <a:rPr lang="zh-CN" altLang="zh-CN" sz="2400" kern="100" dirty="0">
                    <a:effectLst/>
                    <a:latin typeface="微软雅黑" panose="020B0503020204020204" pitchFamily="34" charset="-122"/>
                  </a:rPr>
                  <a:t>的直方图用于统计信息（含有 </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𝑘</m:t>
                    </m:r>
                  </m:oMath>
                </a14:m>
                <a:r>
                  <a:rPr lang="en-US" altLang="zh-CN" sz="2400" kern="100" dirty="0">
                    <a:effectLst/>
                    <a:latin typeface="微软雅黑" panose="020B0503020204020204" pitchFamily="34" charset="-122"/>
                  </a:rPr>
                  <a:t> </a:t>
                </a:r>
                <a:r>
                  <a:rPr lang="zh-CN" altLang="zh-CN" sz="2400" kern="100" dirty="0">
                    <a:effectLst/>
                    <a:latin typeface="微软雅黑" panose="020B0503020204020204" pitchFamily="34" charset="-122"/>
                  </a:rPr>
                  <a:t>个</a:t>
                </a:r>
                <a:r>
                  <a:rPr lang="en-US" altLang="zh-CN" sz="2400" kern="100" dirty="0">
                    <a:effectLst/>
                    <a:latin typeface="微软雅黑" panose="020B0503020204020204" pitchFamily="34" charset="-122"/>
                  </a:rPr>
                  <a:t> bin</a:t>
                </a:r>
                <a:r>
                  <a:rPr lang="zh-CN" altLang="zh-CN" sz="2400" kern="100" dirty="0">
                    <a:effectLst/>
                    <a:latin typeface="微软雅黑" panose="020B0503020204020204" pitchFamily="34" charset="-122"/>
                  </a:rPr>
                  <a:t>）。利用直方图算法我们无需遍历数据，只需要遍历 </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𝑘</m:t>
                    </m:r>
                  </m:oMath>
                </a14:m>
                <a:r>
                  <a:rPr lang="en-US" altLang="zh-CN" sz="2400" kern="100" dirty="0">
                    <a:effectLst/>
                    <a:latin typeface="微软雅黑" panose="020B0503020204020204" pitchFamily="34" charset="-122"/>
                  </a:rPr>
                  <a:t> </a:t>
                </a:r>
                <a:r>
                  <a:rPr lang="zh-CN" altLang="zh-CN" sz="2400" kern="100" dirty="0">
                    <a:effectLst/>
                    <a:latin typeface="微软雅黑" panose="020B0503020204020204" pitchFamily="34" charset="-122"/>
                  </a:rPr>
                  <a:t>个</a:t>
                </a:r>
                <a:r>
                  <a:rPr lang="en-US" altLang="zh-CN" sz="2400" kern="100" dirty="0">
                    <a:effectLst/>
                    <a:latin typeface="微软雅黑" panose="020B0503020204020204" pitchFamily="34" charset="-122"/>
                  </a:rPr>
                  <a:t> bin </a:t>
                </a:r>
                <a:r>
                  <a:rPr lang="zh-CN" altLang="zh-CN" sz="2400" kern="100" dirty="0">
                    <a:effectLst/>
                    <a:latin typeface="微软雅黑" panose="020B0503020204020204" pitchFamily="34" charset="-122"/>
                  </a:rPr>
                  <a:t>即可找到最佳分裂点。</a:t>
                </a:r>
              </a:p>
            </p:txBody>
          </p:sp>
        </mc:Choice>
        <mc:Fallback xmlns="">
          <p:sp>
            <p:nvSpPr>
              <p:cNvPr id="70" name="文本框 69">
                <a:extLst>
                  <a:ext uri="{FF2B5EF4-FFF2-40B4-BE49-F238E27FC236}">
                    <a16:creationId xmlns:a16="http://schemas.microsoft.com/office/drawing/2014/main" id="{C1306D84-E293-4F03-A263-654737C10B06}"/>
                  </a:ext>
                </a:extLst>
              </p:cNvPr>
              <p:cNvSpPr txBox="1">
                <a:spLocks noRot="1" noChangeAspect="1" noMove="1" noResize="1" noEditPoints="1" noAdjustHandles="1" noChangeArrowheads="1" noChangeShapeType="1" noTextEdit="1"/>
              </p:cNvSpPr>
              <p:nvPr/>
            </p:nvSpPr>
            <p:spPr>
              <a:xfrm>
                <a:off x="622047" y="1795746"/>
                <a:ext cx="9834937" cy="1689052"/>
              </a:xfrm>
              <a:prstGeom prst="rect">
                <a:avLst/>
              </a:prstGeom>
              <a:blipFill>
                <a:blip r:embed="rId4"/>
                <a:stretch>
                  <a:fillRect l="-930" r="-992" b="-7581"/>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A5289028-EE34-4A6D-9D48-0F9F6E830B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42385" y="3521130"/>
            <a:ext cx="6850082" cy="3148333"/>
          </a:xfrm>
          <a:prstGeom prst="rect">
            <a:avLst/>
          </a:prstGeom>
        </p:spPr>
      </p:pic>
    </p:spTree>
    <p:extLst>
      <p:ext uri="{BB962C8B-B14F-4D97-AF65-F5344CB8AC3E}">
        <p14:creationId xmlns:p14="http://schemas.microsoft.com/office/powerpoint/2010/main" val="551376485"/>
      </p:ext>
    </p:extLst>
  </p:cSld>
  <p:clrMapOvr>
    <a:masterClrMapping/>
  </p:clrMapOvr>
  <p:transition advTm="8005"/>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a:t>
            </a:r>
            <a:r>
              <a:rPr lang="zh-CN" altLang="en-US" dirty="0">
                <a:solidFill>
                  <a:schemeClr val="tx1"/>
                </a:solidFill>
              </a:rPr>
              <a:t>直方图算法</a:t>
            </a:r>
          </a:p>
        </p:txBody>
      </p:sp>
      <p:sp>
        <p:nvSpPr>
          <p:cNvPr id="3" name="Rectangle 1">
            <a:extLst>
              <a:ext uri="{FF2B5EF4-FFF2-40B4-BE49-F238E27FC236}">
                <a16:creationId xmlns:a16="http://schemas.microsoft.com/office/drawing/2014/main" id="{9B7F1399-DB4D-4DCD-B4F1-4E32F6C3AA5F}"/>
              </a:ext>
            </a:extLst>
          </p:cNvPr>
          <p:cNvSpPr>
            <a:spLocks noChangeArrowheads="1"/>
          </p:cNvSpPr>
          <p:nvPr/>
        </p:nvSpPr>
        <p:spPr bwMode="auto">
          <a:xfrm>
            <a:off x="1871662" y="23066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C87A997B-91F1-48BB-B55E-6FEA34FE3E3D}"/>
                  </a:ext>
                </a:extLst>
              </p:cNvPr>
              <p:cNvGraphicFramePr>
                <a:graphicFrameLocks noGrp="1"/>
              </p:cNvGraphicFramePr>
              <p:nvPr>
                <p:extLst>
                  <p:ext uri="{D42A27DB-BD31-4B8C-83A1-F6EECF244321}">
                    <p14:modId xmlns:p14="http://schemas.microsoft.com/office/powerpoint/2010/main" val="206738069"/>
                  </p:ext>
                </p:extLst>
              </p:nvPr>
            </p:nvGraphicFramePr>
            <p:xfrm>
              <a:off x="2119314" y="1294922"/>
              <a:ext cx="5908989" cy="1468916"/>
            </p:xfrm>
            <a:graphic>
              <a:graphicData uri="http://schemas.openxmlformats.org/drawingml/2006/table">
                <a:tbl>
                  <a:tblPr>
                    <a:tableStyleId>{16D9F66E-5EB9-4882-86FB-DCBF35E3C3E4}</a:tableStyleId>
                  </a:tblPr>
                  <a:tblGrid>
                    <a:gridCol w="530992">
                      <a:extLst>
                        <a:ext uri="{9D8B030D-6E8A-4147-A177-3AD203B41FA5}">
                          <a16:colId xmlns:a16="http://schemas.microsoft.com/office/drawing/2014/main" val="1249735316"/>
                        </a:ext>
                      </a:extLst>
                    </a:gridCol>
                    <a:gridCol w="672160">
                      <a:extLst>
                        <a:ext uri="{9D8B030D-6E8A-4147-A177-3AD203B41FA5}">
                          <a16:colId xmlns:a16="http://schemas.microsoft.com/office/drawing/2014/main" val="1599078345"/>
                        </a:ext>
                      </a:extLst>
                    </a:gridCol>
                    <a:gridCol w="672160">
                      <a:extLst>
                        <a:ext uri="{9D8B030D-6E8A-4147-A177-3AD203B41FA5}">
                          <a16:colId xmlns:a16="http://schemas.microsoft.com/office/drawing/2014/main" val="1421292375"/>
                        </a:ext>
                      </a:extLst>
                    </a:gridCol>
                    <a:gridCol w="672160">
                      <a:extLst>
                        <a:ext uri="{9D8B030D-6E8A-4147-A177-3AD203B41FA5}">
                          <a16:colId xmlns:a16="http://schemas.microsoft.com/office/drawing/2014/main" val="823422371"/>
                        </a:ext>
                      </a:extLst>
                    </a:gridCol>
                    <a:gridCol w="672160">
                      <a:extLst>
                        <a:ext uri="{9D8B030D-6E8A-4147-A177-3AD203B41FA5}">
                          <a16:colId xmlns:a16="http://schemas.microsoft.com/office/drawing/2014/main" val="2480129256"/>
                        </a:ext>
                      </a:extLst>
                    </a:gridCol>
                    <a:gridCol w="672160">
                      <a:extLst>
                        <a:ext uri="{9D8B030D-6E8A-4147-A177-3AD203B41FA5}">
                          <a16:colId xmlns:a16="http://schemas.microsoft.com/office/drawing/2014/main" val="1831886132"/>
                        </a:ext>
                      </a:extLst>
                    </a:gridCol>
                    <a:gridCol w="672160">
                      <a:extLst>
                        <a:ext uri="{9D8B030D-6E8A-4147-A177-3AD203B41FA5}">
                          <a16:colId xmlns:a16="http://schemas.microsoft.com/office/drawing/2014/main" val="1113351770"/>
                        </a:ext>
                      </a:extLst>
                    </a:gridCol>
                    <a:gridCol w="672160">
                      <a:extLst>
                        <a:ext uri="{9D8B030D-6E8A-4147-A177-3AD203B41FA5}">
                          <a16:colId xmlns:a16="http://schemas.microsoft.com/office/drawing/2014/main" val="3932908683"/>
                        </a:ext>
                      </a:extLst>
                    </a:gridCol>
                    <a:gridCol w="672877">
                      <a:extLst>
                        <a:ext uri="{9D8B030D-6E8A-4147-A177-3AD203B41FA5}">
                          <a16:colId xmlns:a16="http://schemas.microsoft.com/office/drawing/2014/main" val="3512341128"/>
                        </a:ext>
                      </a:extLst>
                    </a:gridCol>
                  </a:tblGrid>
                  <a:tr h="367229">
                    <a:tc>
                      <a:txBody>
                        <a:bodyPr/>
                        <a:lstStyle/>
                        <a:p>
                          <a:pPr algn="just"/>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𝑖</m:t>
                                </m:r>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1705634783"/>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𝑥</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2.5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5.0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2954762"/>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𝑔</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3412011"/>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i="1" kern="1200" dirty="0" smtClean="0">
                                        <a:effectLst/>
                                        <a:latin typeface="Cambria Math" panose="02040503050406030204" pitchFamily="18" charset="0"/>
                                      </a:rPr>
                                    </m:ctrlPr>
                                  </m:sSubPr>
                                  <m:e>
                                    <m:r>
                                      <a:rPr lang="en-US" altLang="zh-CN" sz="1600" kern="1200" dirty="0" smtClean="0">
                                        <a:effectLst/>
                                        <a:latin typeface="Cambria Math" panose="02040503050406030204" pitchFamily="18" charset="0"/>
                                      </a:rPr>
                                      <m:t>h</m:t>
                                    </m:r>
                                  </m:e>
                                  <m:sub>
                                    <m:r>
                                      <a:rPr lang="en-US" altLang="zh-CN" sz="1600" kern="12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0.08</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8597207"/>
                      </a:ext>
                    </a:extLst>
                  </a:tr>
                </a:tbl>
              </a:graphicData>
            </a:graphic>
          </p:graphicFrame>
        </mc:Choice>
        <mc:Fallback xmlns="">
          <p:graphicFrame>
            <p:nvGraphicFramePr>
              <p:cNvPr id="10" name="表格 9">
                <a:extLst>
                  <a:ext uri="{FF2B5EF4-FFF2-40B4-BE49-F238E27FC236}">
                    <a16:creationId xmlns:a16="http://schemas.microsoft.com/office/drawing/2014/main" id="{C87A997B-91F1-48BB-B55E-6FEA34FE3E3D}"/>
                  </a:ext>
                </a:extLst>
              </p:cNvPr>
              <p:cNvGraphicFramePr>
                <a:graphicFrameLocks noGrp="1"/>
              </p:cNvGraphicFramePr>
              <p:nvPr>
                <p:extLst>
                  <p:ext uri="{D42A27DB-BD31-4B8C-83A1-F6EECF244321}">
                    <p14:modId xmlns:p14="http://schemas.microsoft.com/office/powerpoint/2010/main" val="206738069"/>
                  </p:ext>
                </p:extLst>
              </p:nvPr>
            </p:nvGraphicFramePr>
            <p:xfrm>
              <a:off x="2119314" y="1294922"/>
              <a:ext cx="5908989" cy="1468916"/>
            </p:xfrm>
            <a:graphic>
              <a:graphicData uri="http://schemas.openxmlformats.org/drawingml/2006/table">
                <a:tbl>
                  <a:tblPr>
                    <a:tableStyleId>{16D9F66E-5EB9-4882-86FB-DCBF35E3C3E4}</a:tableStyleId>
                  </a:tblPr>
                  <a:tblGrid>
                    <a:gridCol w="530992">
                      <a:extLst>
                        <a:ext uri="{9D8B030D-6E8A-4147-A177-3AD203B41FA5}">
                          <a16:colId xmlns:a16="http://schemas.microsoft.com/office/drawing/2014/main" val="1249735316"/>
                        </a:ext>
                      </a:extLst>
                    </a:gridCol>
                    <a:gridCol w="672160">
                      <a:extLst>
                        <a:ext uri="{9D8B030D-6E8A-4147-A177-3AD203B41FA5}">
                          <a16:colId xmlns:a16="http://schemas.microsoft.com/office/drawing/2014/main" val="1599078345"/>
                        </a:ext>
                      </a:extLst>
                    </a:gridCol>
                    <a:gridCol w="672160">
                      <a:extLst>
                        <a:ext uri="{9D8B030D-6E8A-4147-A177-3AD203B41FA5}">
                          <a16:colId xmlns:a16="http://schemas.microsoft.com/office/drawing/2014/main" val="1421292375"/>
                        </a:ext>
                      </a:extLst>
                    </a:gridCol>
                    <a:gridCol w="672160">
                      <a:extLst>
                        <a:ext uri="{9D8B030D-6E8A-4147-A177-3AD203B41FA5}">
                          <a16:colId xmlns:a16="http://schemas.microsoft.com/office/drawing/2014/main" val="823422371"/>
                        </a:ext>
                      </a:extLst>
                    </a:gridCol>
                    <a:gridCol w="672160">
                      <a:extLst>
                        <a:ext uri="{9D8B030D-6E8A-4147-A177-3AD203B41FA5}">
                          <a16:colId xmlns:a16="http://schemas.microsoft.com/office/drawing/2014/main" val="2480129256"/>
                        </a:ext>
                      </a:extLst>
                    </a:gridCol>
                    <a:gridCol w="672160">
                      <a:extLst>
                        <a:ext uri="{9D8B030D-6E8A-4147-A177-3AD203B41FA5}">
                          <a16:colId xmlns:a16="http://schemas.microsoft.com/office/drawing/2014/main" val="1831886132"/>
                        </a:ext>
                      </a:extLst>
                    </a:gridCol>
                    <a:gridCol w="672160">
                      <a:extLst>
                        <a:ext uri="{9D8B030D-6E8A-4147-A177-3AD203B41FA5}">
                          <a16:colId xmlns:a16="http://schemas.microsoft.com/office/drawing/2014/main" val="1113351770"/>
                        </a:ext>
                      </a:extLst>
                    </a:gridCol>
                    <a:gridCol w="672160">
                      <a:extLst>
                        <a:ext uri="{9D8B030D-6E8A-4147-A177-3AD203B41FA5}">
                          <a16:colId xmlns:a16="http://schemas.microsoft.com/office/drawing/2014/main" val="3932908683"/>
                        </a:ext>
                      </a:extLst>
                    </a:gridCol>
                    <a:gridCol w="672877">
                      <a:extLst>
                        <a:ext uri="{9D8B030D-6E8A-4147-A177-3AD203B41FA5}">
                          <a16:colId xmlns:a16="http://schemas.microsoft.com/office/drawing/2014/main" val="3512341128"/>
                        </a:ext>
                      </a:extLst>
                    </a:gridCol>
                  </a:tblGrid>
                  <a:tr h="367229">
                    <a:tc>
                      <a:txBody>
                        <a:bodyPr/>
                        <a:lstStyle/>
                        <a:p>
                          <a:endParaRPr lang="zh-CN"/>
                        </a:p>
                      </a:txBody>
                      <a:tcPr anchor="ctr">
                        <a:blipFill>
                          <a:blip r:embed="rId3"/>
                          <a:stretch>
                            <a:fillRect l="-1149" t="-1639" r="-1018391" b="-313115"/>
                          </a:stretch>
                        </a:blipFill>
                      </a:tcP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1705634783"/>
                      </a:ext>
                    </a:extLst>
                  </a:tr>
                  <a:tr h="367229">
                    <a:tc>
                      <a:txBody>
                        <a:bodyPr/>
                        <a:lstStyle/>
                        <a:p>
                          <a:endParaRPr lang="zh-CN"/>
                        </a:p>
                      </a:txBody>
                      <a:tcPr anchor="ctr">
                        <a:blipFill>
                          <a:blip r:embed="rId3"/>
                          <a:stretch>
                            <a:fillRect l="-1149" t="-103333" r="-1018391" b="-218333"/>
                          </a:stretch>
                        </a:blipFill>
                      </a:tcPr>
                    </a:tc>
                    <a:tc>
                      <a:txBody>
                        <a:bodyPr/>
                        <a:lstStyle/>
                        <a:p>
                          <a:pPr algn="ctr"/>
                          <a:r>
                            <a:rPr lang="en-US" sz="1600" kern="100">
                              <a:effectLst/>
                            </a:rPr>
                            <a:t>0.1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2.5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5.0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2954762"/>
                      </a:ext>
                    </a:extLst>
                  </a:tr>
                  <a:tr h="367229">
                    <a:tc>
                      <a:txBody>
                        <a:bodyPr/>
                        <a:lstStyle/>
                        <a:p>
                          <a:endParaRPr lang="zh-CN"/>
                        </a:p>
                      </a:txBody>
                      <a:tcPr anchor="ctr">
                        <a:blipFill>
                          <a:blip r:embed="rId3"/>
                          <a:stretch>
                            <a:fillRect l="-1149" t="-200000" r="-1018391" b="-114754"/>
                          </a:stretch>
                        </a:blipFill>
                      </a:tcPr>
                    </a:tc>
                    <a:tc>
                      <a:txBody>
                        <a:bodyPr/>
                        <a:lstStyle/>
                        <a:p>
                          <a:pPr algn="ctr"/>
                          <a:r>
                            <a:rPr lang="en-US" sz="1600" kern="100" dirty="0">
                              <a:effectLst/>
                            </a:rPr>
                            <a:t>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3412011"/>
                      </a:ext>
                    </a:extLst>
                  </a:tr>
                  <a:tr h="367229">
                    <a:tc>
                      <a:txBody>
                        <a:bodyPr/>
                        <a:lstStyle/>
                        <a:p>
                          <a:endParaRPr lang="zh-CN"/>
                        </a:p>
                      </a:txBody>
                      <a:tcPr anchor="ctr">
                        <a:blipFill>
                          <a:blip r:embed="rId3"/>
                          <a:stretch>
                            <a:fillRect l="-1149" t="-305000" r="-1018391" b="-16667"/>
                          </a:stretch>
                        </a:blipFill>
                      </a:tcPr>
                    </a:tc>
                    <a:tc>
                      <a:txBody>
                        <a:bodyPr/>
                        <a:lstStyle/>
                        <a:p>
                          <a:pPr algn="ctr"/>
                          <a:r>
                            <a:rPr lang="en-US" sz="16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0.08</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8597207"/>
                      </a:ext>
                    </a:extLst>
                  </a:tr>
                </a:tbl>
              </a:graphicData>
            </a:graphic>
          </p:graphicFrame>
        </mc:Fallback>
      </mc:AlternateContent>
      <p:sp>
        <p:nvSpPr>
          <p:cNvPr id="13" name="文本框 12">
            <a:extLst>
              <a:ext uri="{FF2B5EF4-FFF2-40B4-BE49-F238E27FC236}">
                <a16:creationId xmlns:a16="http://schemas.microsoft.com/office/drawing/2014/main" id="{3679B423-AD35-40FE-91C6-307F2FEAEBE5}"/>
              </a:ext>
            </a:extLst>
          </p:cNvPr>
          <p:cNvSpPr txBox="1"/>
          <p:nvPr/>
        </p:nvSpPr>
        <p:spPr>
          <a:xfrm>
            <a:off x="1222124" y="1360190"/>
            <a:ext cx="897190" cy="276999"/>
          </a:xfrm>
          <a:prstGeom prst="rect">
            <a:avLst/>
          </a:prstGeom>
          <a:noFill/>
        </p:spPr>
        <p:txBody>
          <a:bodyPr wrap="square">
            <a:spAutoFit/>
          </a:bodyPr>
          <a:lstStyle/>
          <a:p>
            <a:r>
              <a:rPr lang="zh-CN" altLang="en-US" sz="1200" dirty="0"/>
              <a:t>样本序号</a:t>
            </a:r>
          </a:p>
        </p:txBody>
      </p:sp>
      <p:sp>
        <p:nvSpPr>
          <p:cNvPr id="15" name="文本框 14">
            <a:extLst>
              <a:ext uri="{FF2B5EF4-FFF2-40B4-BE49-F238E27FC236}">
                <a16:creationId xmlns:a16="http://schemas.microsoft.com/office/drawing/2014/main" id="{6D214300-3342-4BA2-9A08-691EB8582A13}"/>
              </a:ext>
            </a:extLst>
          </p:cNvPr>
          <p:cNvSpPr txBox="1"/>
          <p:nvPr/>
        </p:nvSpPr>
        <p:spPr>
          <a:xfrm>
            <a:off x="765574" y="1698254"/>
            <a:ext cx="2425302" cy="276999"/>
          </a:xfrm>
          <a:prstGeom prst="rect">
            <a:avLst/>
          </a:prstGeom>
          <a:noFill/>
        </p:spPr>
        <p:txBody>
          <a:bodyPr wrap="square">
            <a:spAutoFit/>
          </a:bodyPr>
          <a:lstStyle/>
          <a:p>
            <a:r>
              <a:rPr lang="zh-CN" altLang="en-US" sz="1200" dirty="0"/>
              <a:t>样本的特征取值</a:t>
            </a:r>
          </a:p>
        </p:txBody>
      </p:sp>
      <p:sp>
        <p:nvSpPr>
          <p:cNvPr id="17" name="文本框 16">
            <a:extLst>
              <a:ext uri="{FF2B5EF4-FFF2-40B4-BE49-F238E27FC236}">
                <a16:creationId xmlns:a16="http://schemas.microsoft.com/office/drawing/2014/main" id="{609918ED-B905-4568-A02E-70725B64537C}"/>
              </a:ext>
            </a:extLst>
          </p:cNvPr>
          <p:cNvSpPr txBox="1"/>
          <p:nvPr/>
        </p:nvSpPr>
        <p:spPr>
          <a:xfrm>
            <a:off x="932261" y="2074467"/>
            <a:ext cx="2258615" cy="276999"/>
          </a:xfrm>
          <a:prstGeom prst="rect">
            <a:avLst/>
          </a:prstGeom>
          <a:noFill/>
        </p:spPr>
        <p:txBody>
          <a:bodyPr wrap="square">
            <a:spAutoFit/>
          </a:bodyPr>
          <a:lstStyle/>
          <a:p>
            <a:r>
              <a:rPr lang="zh-CN" altLang="en-US" sz="1200" dirty="0"/>
              <a:t>样本的一阶导</a:t>
            </a:r>
          </a:p>
        </p:txBody>
      </p:sp>
      <p:sp>
        <p:nvSpPr>
          <p:cNvPr id="19" name="文本框 18">
            <a:extLst>
              <a:ext uri="{FF2B5EF4-FFF2-40B4-BE49-F238E27FC236}">
                <a16:creationId xmlns:a16="http://schemas.microsoft.com/office/drawing/2014/main" id="{C78C5946-FC99-4B24-BF4E-18ADC7D35A19}"/>
              </a:ext>
            </a:extLst>
          </p:cNvPr>
          <p:cNvSpPr txBox="1"/>
          <p:nvPr/>
        </p:nvSpPr>
        <p:spPr>
          <a:xfrm>
            <a:off x="932261" y="2412531"/>
            <a:ext cx="2063352" cy="276999"/>
          </a:xfrm>
          <a:prstGeom prst="rect">
            <a:avLst/>
          </a:prstGeom>
          <a:noFill/>
        </p:spPr>
        <p:txBody>
          <a:bodyPr wrap="square">
            <a:spAutoFit/>
          </a:bodyPr>
          <a:lstStyle/>
          <a:p>
            <a:r>
              <a:rPr lang="zh-CN" altLang="en-US" sz="1200" dirty="0"/>
              <a:t>样本的二阶导</a:t>
            </a:r>
          </a:p>
        </p:txBody>
      </p:sp>
      <mc:AlternateContent xmlns:mc="http://schemas.openxmlformats.org/markup-compatibility/2006" xmlns:a14="http://schemas.microsoft.com/office/drawing/2010/main">
        <mc:Choice Requires="a14">
          <p:graphicFrame>
            <p:nvGraphicFramePr>
              <p:cNvPr id="20" name="表格 19">
                <a:extLst>
                  <a:ext uri="{FF2B5EF4-FFF2-40B4-BE49-F238E27FC236}">
                    <a16:creationId xmlns:a16="http://schemas.microsoft.com/office/drawing/2014/main" id="{BD34356E-EAF8-4F51-BF90-48E2DA90E938}"/>
                  </a:ext>
                </a:extLst>
              </p:cNvPr>
              <p:cNvGraphicFramePr>
                <a:graphicFrameLocks noGrp="1"/>
              </p:cNvGraphicFramePr>
              <p:nvPr>
                <p:extLst>
                  <p:ext uri="{D42A27DB-BD31-4B8C-83A1-F6EECF244321}">
                    <p14:modId xmlns:p14="http://schemas.microsoft.com/office/powerpoint/2010/main" val="2535061622"/>
                  </p:ext>
                </p:extLst>
              </p:nvPr>
            </p:nvGraphicFramePr>
            <p:xfrm>
              <a:off x="2119313" y="3236355"/>
              <a:ext cx="5908989" cy="1468916"/>
            </p:xfrm>
            <a:graphic>
              <a:graphicData uri="http://schemas.openxmlformats.org/drawingml/2006/table">
                <a:tbl>
                  <a:tblPr>
                    <a:tableStyleId>{16D9F66E-5EB9-4882-86FB-DCBF35E3C3E4}</a:tableStyleId>
                  </a:tblPr>
                  <a:tblGrid>
                    <a:gridCol w="530992">
                      <a:extLst>
                        <a:ext uri="{9D8B030D-6E8A-4147-A177-3AD203B41FA5}">
                          <a16:colId xmlns:a16="http://schemas.microsoft.com/office/drawing/2014/main" val="1249735316"/>
                        </a:ext>
                      </a:extLst>
                    </a:gridCol>
                    <a:gridCol w="672160">
                      <a:extLst>
                        <a:ext uri="{9D8B030D-6E8A-4147-A177-3AD203B41FA5}">
                          <a16:colId xmlns:a16="http://schemas.microsoft.com/office/drawing/2014/main" val="1599078345"/>
                        </a:ext>
                      </a:extLst>
                    </a:gridCol>
                    <a:gridCol w="672160">
                      <a:extLst>
                        <a:ext uri="{9D8B030D-6E8A-4147-A177-3AD203B41FA5}">
                          <a16:colId xmlns:a16="http://schemas.microsoft.com/office/drawing/2014/main" val="1421292375"/>
                        </a:ext>
                      </a:extLst>
                    </a:gridCol>
                    <a:gridCol w="672160">
                      <a:extLst>
                        <a:ext uri="{9D8B030D-6E8A-4147-A177-3AD203B41FA5}">
                          <a16:colId xmlns:a16="http://schemas.microsoft.com/office/drawing/2014/main" val="823422371"/>
                        </a:ext>
                      </a:extLst>
                    </a:gridCol>
                    <a:gridCol w="672160">
                      <a:extLst>
                        <a:ext uri="{9D8B030D-6E8A-4147-A177-3AD203B41FA5}">
                          <a16:colId xmlns:a16="http://schemas.microsoft.com/office/drawing/2014/main" val="2480129256"/>
                        </a:ext>
                      </a:extLst>
                    </a:gridCol>
                    <a:gridCol w="672160">
                      <a:extLst>
                        <a:ext uri="{9D8B030D-6E8A-4147-A177-3AD203B41FA5}">
                          <a16:colId xmlns:a16="http://schemas.microsoft.com/office/drawing/2014/main" val="1831886132"/>
                        </a:ext>
                      </a:extLst>
                    </a:gridCol>
                    <a:gridCol w="672160">
                      <a:extLst>
                        <a:ext uri="{9D8B030D-6E8A-4147-A177-3AD203B41FA5}">
                          <a16:colId xmlns:a16="http://schemas.microsoft.com/office/drawing/2014/main" val="1113351770"/>
                        </a:ext>
                      </a:extLst>
                    </a:gridCol>
                    <a:gridCol w="672160">
                      <a:extLst>
                        <a:ext uri="{9D8B030D-6E8A-4147-A177-3AD203B41FA5}">
                          <a16:colId xmlns:a16="http://schemas.microsoft.com/office/drawing/2014/main" val="3932908683"/>
                        </a:ext>
                      </a:extLst>
                    </a:gridCol>
                    <a:gridCol w="672877">
                      <a:extLst>
                        <a:ext uri="{9D8B030D-6E8A-4147-A177-3AD203B41FA5}">
                          <a16:colId xmlns:a16="http://schemas.microsoft.com/office/drawing/2014/main" val="3512341128"/>
                        </a:ext>
                      </a:extLst>
                    </a:gridCol>
                  </a:tblGrid>
                  <a:tr h="367229">
                    <a:tc>
                      <a:txBody>
                        <a:bodyPr/>
                        <a:lstStyle/>
                        <a:p>
                          <a:pPr algn="just"/>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𝑖</m:t>
                                </m:r>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1705634783"/>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𝑥</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2.5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3.0</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5.0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2954762"/>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𝑔</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3412011"/>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i="1" kern="1200" dirty="0" smtClean="0">
                                        <a:effectLst/>
                                        <a:latin typeface="Cambria Math" panose="02040503050406030204" pitchFamily="18" charset="0"/>
                                      </a:rPr>
                                    </m:ctrlPr>
                                  </m:sSubPr>
                                  <m:e>
                                    <m:r>
                                      <a:rPr lang="en-US" altLang="zh-CN" sz="1600" kern="1200" dirty="0" smtClean="0">
                                        <a:effectLst/>
                                        <a:latin typeface="Cambria Math" panose="02040503050406030204" pitchFamily="18" charset="0"/>
                                      </a:rPr>
                                      <m:t>h</m:t>
                                    </m:r>
                                  </m:e>
                                  <m:sub>
                                    <m:r>
                                      <a:rPr lang="en-US" altLang="zh-CN" sz="1600" kern="12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dirty="0">
                              <a:effectLst/>
                            </a:rPr>
                            <a:t>0.02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8597207"/>
                      </a:ext>
                    </a:extLst>
                  </a:tr>
                </a:tbl>
              </a:graphicData>
            </a:graphic>
          </p:graphicFrame>
        </mc:Choice>
        <mc:Fallback xmlns="">
          <p:graphicFrame>
            <p:nvGraphicFramePr>
              <p:cNvPr id="20" name="表格 19">
                <a:extLst>
                  <a:ext uri="{FF2B5EF4-FFF2-40B4-BE49-F238E27FC236}">
                    <a16:creationId xmlns:a16="http://schemas.microsoft.com/office/drawing/2014/main" id="{BD34356E-EAF8-4F51-BF90-48E2DA90E938}"/>
                  </a:ext>
                </a:extLst>
              </p:cNvPr>
              <p:cNvGraphicFramePr>
                <a:graphicFrameLocks noGrp="1"/>
              </p:cNvGraphicFramePr>
              <p:nvPr>
                <p:extLst>
                  <p:ext uri="{D42A27DB-BD31-4B8C-83A1-F6EECF244321}">
                    <p14:modId xmlns:p14="http://schemas.microsoft.com/office/powerpoint/2010/main" val="2535061622"/>
                  </p:ext>
                </p:extLst>
              </p:nvPr>
            </p:nvGraphicFramePr>
            <p:xfrm>
              <a:off x="2119313" y="3236355"/>
              <a:ext cx="5908989" cy="1468916"/>
            </p:xfrm>
            <a:graphic>
              <a:graphicData uri="http://schemas.openxmlformats.org/drawingml/2006/table">
                <a:tbl>
                  <a:tblPr>
                    <a:tableStyleId>{16D9F66E-5EB9-4882-86FB-DCBF35E3C3E4}</a:tableStyleId>
                  </a:tblPr>
                  <a:tblGrid>
                    <a:gridCol w="530992">
                      <a:extLst>
                        <a:ext uri="{9D8B030D-6E8A-4147-A177-3AD203B41FA5}">
                          <a16:colId xmlns:a16="http://schemas.microsoft.com/office/drawing/2014/main" val="1249735316"/>
                        </a:ext>
                      </a:extLst>
                    </a:gridCol>
                    <a:gridCol w="672160">
                      <a:extLst>
                        <a:ext uri="{9D8B030D-6E8A-4147-A177-3AD203B41FA5}">
                          <a16:colId xmlns:a16="http://schemas.microsoft.com/office/drawing/2014/main" val="1599078345"/>
                        </a:ext>
                      </a:extLst>
                    </a:gridCol>
                    <a:gridCol w="672160">
                      <a:extLst>
                        <a:ext uri="{9D8B030D-6E8A-4147-A177-3AD203B41FA5}">
                          <a16:colId xmlns:a16="http://schemas.microsoft.com/office/drawing/2014/main" val="1421292375"/>
                        </a:ext>
                      </a:extLst>
                    </a:gridCol>
                    <a:gridCol w="672160">
                      <a:extLst>
                        <a:ext uri="{9D8B030D-6E8A-4147-A177-3AD203B41FA5}">
                          <a16:colId xmlns:a16="http://schemas.microsoft.com/office/drawing/2014/main" val="823422371"/>
                        </a:ext>
                      </a:extLst>
                    </a:gridCol>
                    <a:gridCol w="672160">
                      <a:extLst>
                        <a:ext uri="{9D8B030D-6E8A-4147-A177-3AD203B41FA5}">
                          <a16:colId xmlns:a16="http://schemas.microsoft.com/office/drawing/2014/main" val="2480129256"/>
                        </a:ext>
                      </a:extLst>
                    </a:gridCol>
                    <a:gridCol w="672160">
                      <a:extLst>
                        <a:ext uri="{9D8B030D-6E8A-4147-A177-3AD203B41FA5}">
                          <a16:colId xmlns:a16="http://schemas.microsoft.com/office/drawing/2014/main" val="1831886132"/>
                        </a:ext>
                      </a:extLst>
                    </a:gridCol>
                    <a:gridCol w="672160">
                      <a:extLst>
                        <a:ext uri="{9D8B030D-6E8A-4147-A177-3AD203B41FA5}">
                          <a16:colId xmlns:a16="http://schemas.microsoft.com/office/drawing/2014/main" val="1113351770"/>
                        </a:ext>
                      </a:extLst>
                    </a:gridCol>
                    <a:gridCol w="672160">
                      <a:extLst>
                        <a:ext uri="{9D8B030D-6E8A-4147-A177-3AD203B41FA5}">
                          <a16:colId xmlns:a16="http://schemas.microsoft.com/office/drawing/2014/main" val="3932908683"/>
                        </a:ext>
                      </a:extLst>
                    </a:gridCol>
                    <a:gridCol w="672877">
                      <a:extLst>
                        <a:ext uri="{9D8B030D-6E8A-4147-A177-3AD203B41FA5}">
                          <a16:colId xmlns:a16="http://schemas.microsoft.com/office/drawing/2014/main" val="3512341128"/>
                        </a:ext>
                      </a:extLst>
                    </a:gridCol>
                  </a:tblGrid>
                  <a:tr h="367229">
                    <a:tc>
                      <a:txBody>
                        <a:bodyPr/>
                        <a:lstStyle/>
                        <a:p>
                          <a:endParaRPr lang="zh-CN"/>
                        </a:p>
                      </a:txBody>
                      <a:tcPr anchor="ctr">
                        <a:blipFill>
                          <a:blip r:embed="rId4"/>
                          <a:stretch>
                            <a:fillRect l="-1149" t="-1639" r="-1018391" b="-313115"/>
                          </a:stretch>
                        </a:blipFill>
                      </a:tcP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1705634783"/>
                      </a:ext>
                    </a:extLst>
                  </a:tr>
                  <a:tr h="367229">
                    <a:tc>
                      <a:txBody>
                        <a:bodyPr/>
                        <a:lstStyle/>
                        <a:p>
                          <a:endParaRPr lang="zh-CN"/>
                        </a:p>
                      </a:txBody>
                      <a:tcPr anchor="ctr">
                        <a:blipFill>
                          <a:blip r:embed="rId4"/>
                          <a:stretch>
                            <a:fillRect l="-1149" t="-103333" r="-1018391" b="-218333"/>
                          </a:stretch>
                        </a:blipFill>
                      </a:tcPr>
                    </a:tc>
                    <a:tc>
                      <a:txBody>
                        <a:bodyPr/>
                        <a:lstStyle/>
                        <a:p>
                          <a:pPr algn="ctr"/>
                          <a:r>
                            <a:rPr lang="en-US" sz="1600" kern="100" dirty="0">
                              <a:effectLst/>
                            </a:rPr>
                            <a:t>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2.5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3.0</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5.0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2954762"/>
                      </a:ext>
                    </a:extLst>
                  </a:tr>
                  <a:tr h="367229">
                    <a:tc>
                      <a:txBody>
                        <a:bodyPr/>
                        <a:lstStyle/>
                        <a:p>
                          <a:endParaRPr lang="zh-CN"/>
                        </a:p>
                      </a:txBody>
                      <a:tcPr anchor="ctr">
                        <a:blipFill>
                          <a:blip r:embed="rId4"/>
                          <a:stretch>
                            <a:fillRect l="-1149" t="-200000" r="-1018391" b="-114754"/>
                          </a:stretch>
                        </a:blipFill>
                      </a:tcPr>
                    </a:tc>
                    <a:tc>
                      <a:txBody>
                        <a:bodyPr/>
                        <a:lstStyle/>
                        <a:p>
                          <a:pPr algn="ctr"/>
                          <a:r>
                            <a:rPr lang="en-US" sz="1600" kern="100" dirty="0">
                              <a:effectLst/>
                            </a:rPr>
                            <a:t>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3412011"/>
                      </a:ext>
                    </a:extLst>
                  </a:tr>
                  <a:tr h="367229">
                    <a:tc>
                      <a:txBody>
                        <a:bodyPr/>
                        <a:lstStyle/>
                        <a:p>
                          <a:endParaRPr lang="zh-CN"/>
                        </a:p>
                      </a:txBody>
                      <a:tcPr anchor="ctr">
                        <a:blipFill>
                          <a:blip r:embed="rId4"/>
                          <a:stretch>
                            <a:fillRect l="-1149" t="-305000" r="-1018391" b="-16667"/>
                          </a:stretch>
                        </a:blipFill>
                      </a:tcPr>
                    </a:tc>
                    <a:tc>
                      <a:txBody>
                        <a:bodyPr/>
                        <a:lstStyle/>
                        <a:p>
                          <a:pPr algn="ctr"/>
                          <a:r>
                            <a:rPr lang="en-US" sz="16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dirty="0">
                              <a:effectLst/>
                            </a:rPr>
                            <a:t>0.02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859720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表格 17">
                <a:extLst>
                  <a:ext uri="{FF2B5EF4-FFF2-40B4-BE49-F238E27FC236}">
                    <a16:creationId xmlns:a16="http://schemas.microsoft.com/office/drawing/2014/main" id="{36E437C5-3C42-4822-861C-E5FEC2218D4C}"/>
                  </a:ext>
                </a:extLst>
              </p:cNvPr>
              <p:cNvGraphicFramePr>
                <a:graphicFrameLocks noGrp="1"/>
              </p:cNvGraphicFramePr>
              <p:nvPr>
                <p:extLst>
                  <p:ext uri="{D42A27DB-BD31-4B8C-83A1-F6EECF244321}">
                    <p14:modId xmlns:p14="http://schemas.microsoft.com/office/powerpoint/2010/main" val="946184673"/>
                  </p:ext>
                </p:extLst>
              </p:nvPr>
            </p:nvGraphicFramePr>
            <p:xfrm>
              <a:off x="3833812" y="5097462"/>
              <a:ext cx="2547472" cy="1468916"/>
            </p:xfrm>
            <a:graphic>
              <a:graphicData uri="http://schemas.openxmlformats.org/drawingml/2006/table">
                <a:tbl>
                  <a:tblPr>
                    <a:tableStyleId>{16D9F66E-5EB9-4882-86FB-DCBF35E3C3E4}</a:tableStyleId>
                  </a:tblPr>
                  <a:tblGrid>
                    <a:gridCol w="561976">
                      <a:extLst>
                        <a:ext uri="{9D8B030D-6E8A-4147-A177-3AD203B41FA5}">
                          <a16:colId xmlns:a16="http://schemas.microsoft.com/office/drawing/2014/main" val="1357968393"/>
                        </a:ext>
                      </a:extLst>
                    </a:gridCol>
                    <a:gridCol w="641176">
                      <a:extLst>
                        <a:ext uri="{9D8B030D-6E8A-4147-A177-3AD203B41FA5}">
                          <a16:colId xmlns:a16="http://schemas.microsoft.com/office/drawing/2014/main" val="2558101461"/>
                        </a:ext>
                      </a:extLst>
                    </a:gridCol>
                    <a:gridCol w="672160">
                      <a:extLst>
                        <a:ext uri="{9D8B030D-6E8A-4147-A177-3AD203B41FA5}">
                          <a16:colId xmlns:a16="http://schemas.microsoft.com/office/drawing/2014/main" val="3761778169"/>
                        </a:ext>
                      </a:extLst>
                    </a:gridCol>
                    <a:gridCol w="672160">
                      <a:extLst>
                        <a:ext uri="{9D8B030D-6E8A-4147-A177-3AD203B41FA5}">
                          <a16:colId xmlns:a16="http://schemas.microsoft.com/office/drawing/2014/main" val="3119682786"/>
                        </a:ext>
                      </a:extLst>
                    </a:gridCol>
                  </a:tblGrid>
                  <a:tr h="36722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kern="100" dirty="0" err="1">
                              <a:effectLst/>
                            </a:rPr>
                            <a:t>bini</a:t>
                          </a:r>
                          <a:endParaRPr lang="zh-CN" sz="1600" kern="100" dirty="0">
                            <a:solidFill>
                              <a:schemeClr val="dk1"/>
                            </a:solidFill>
                            <a:effectLst/>
                            <a:latin typeface="微软雅黑" panose="020B0503020204020204" pitchFamily="34" charset="-122"/>
                            <a:ea typeface="微软雅黑" panose="020B0503020204020204" pitchFamily="34" charset="-122"/>
                            <a:cs typeface="+mn-cs"/>
                          </a:endParaRPr>
                        </a:p>
                      </a:txBody>
                      <a:tcPr anchor="ctr">
                        <a:solidFill>
                          <a:srgbClr val="A3D6D9"/>
                        </a:solidFill>
                      </a:tcPr>
                    </a:tc>
                    <a:tc>
                      <a:txBody>
                        <a:bodyPr/>
                        <a:lstStyle/>
                        <a:p>
                          <a:pPr algn="ctr"/>
                          <a:r>
                            <a:rPr lang="en-US" sz="1600" kern="100" dirty="0">
                              <a:effectLst/>
                            </a:rPr>
                            <a:t>bin1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2134801552"/>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b="0" i="1" kern="100" dirty="0" smtClean="0">
                                        <a:effectLst/>
                                        <a:latin typeface="Cambria Math" panose="02040503050406030204" pitchFamily="18" charset="0"/>
                                      </a:rPr>
                                    </m:ctrlPr>
                                  </m:sSubPr>
                                  <m:e>
                                    <m:r>
                                      <a:rPr lang="en-US" altLang="zh-CN" sz="1600" b="0" i="1" kern="100" dirty="0" smtClean="0">
                                        <a:effectLst/>
                                        <a:latin typeface="Cambria Math" panose="02040503050406030204" pitchFamily="18" charset="0"/>
                                      </a:rPr>
                                      <m:t>𝑁</m:t>
                                    </m:r>
                                  </m:e>
                                  <m:sub>
                                    <m:r>
                                      <a:rPr lang="en-US" altLang="zh-CN" sz="1600" i="1" kern="1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329710791"/>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𝑔</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0.79</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0.67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4070112340"/>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i="1" kern="1200" dirty="0" smtClean="0">
                                        <a:effectLst/>
                                        <a:latin typeface="Cambria Math" panose="02040503050406030204" pitchFamily="18" charset="0"/>
                                      </a:rPr>
                                    </m:ctrlPr>
                                  </m:sSubPr>
                                  <m:e>
                                    <m:r>
                                      <a:rPr lang="en-US" altLang="zh-CN" sz="1600" kern="1200" dirty="0" smtClean="0">
                                        <a:effectLst/>
                                        <a:latin typeface="Cambria Math" panose="02040503050406030204" pitchFamily="18" charset="0"/>
                                      </a:rPr>
                                      <m:t>h</m:t>
                                    </m:r>
                                  </m:e>
                                  <m:sub>
                                    <m:r>
                                      <a:rPr lang="en-US" altLang="zh-CN" sz="1600" kern="12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0.29</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0.12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970834516"/>
                      </a:ext>
                    </a:extLst>
                  </a:tr>
                </a:tbl>
              </a:graphicData>
            </a:graphic>
          </p:graphicFrame>
        </mc:Choice>
        <mc:Fallback xmlns="">
          <p:graphicFrame>
            <p:nvGraphicFramePr>
              <p:cNvPr id="18" name="表格 17">
                <a:extLst>
                  <a:ext uri="{FF2B5EF4-FFF2-40B4-BE49-F238E27FC236}">
                    <a16:creationId xmlns:a16="http://schemas.microsoft.com/office/drawing/2014/main" id="{36E437C5-3C42-4822-861C-E5FEC2218D4C}"/>
                  </a:ext>
                </a:extLst>
              </p:cNvPr>
              <p:cNvGraphicFramePr>
                <a:graphicFrameLocks noGrp="1"/>
              </p:cNvGraphicFramePr>
              <p:nvPr>
                <p:extLst>
                  <p:ext uri="{D42A27DB-BD31-4B8C-83A1-F6EECF244321}">
                    <p14:modId xmlns:p14="http://schemas.microsoft.com/office/powerpoint/2010/main" val="946184673"/>
                  </p:ext>
                </p:extLst>
              </p:nvPr>
            </p:nvGraphicFramePr>
            <p:xfrm>
              <a:off x="3833812" y="5097462"/>
              <a:ext cx="2547472" cy="1468916"/>
            </p:xfrm>
            <a:graphic>
              <a:graphicData uri="http://schemas.openxmlformats.org/drawingml/2006/table">
                <a:tbl>
                  <a:tblPr>
                    <a:tableStyleId>{16D9F66E-5EB9-4882-86FB-DCBF35E3C3E4}</a:tableStyleId>
                  </a:tblPr>
                  <a:tblGrid>
                    <a:gridCol w="561976">
                      <a:extLst>
                        <a:ext uri="{9D8B030D-6E8A-4147-A177-3AD203B41FA5}">
                          <a16:colId xmlns:a16="http://schemas.microsoft.com/office/drawing/2014/main" val="1357968393"/>
                        </a:ext>
                      </a:extLst>
                    </a:gridCol>
                    <a:gridCol w="641176">
                      <a:extLst>
                        <a:ext uri="{9D8B030D-6E8A-4147-A177-3AD203B41FA5}">
                          <a16:colId xmlns:a16="http://schemas.microsoft.com/office/drawing/2014/main" val="2558101461"/>
                        </a:ext>
                      </a:extLst>
                    </a:gridCol>
                    <a:gridCol w="672160">
                      <a:extLst>
                        <a:ext uri="{9D8B030D-6E8A-4147-A177-3AD203B41FA5}">
                          <a16:colId xmlns:a16="http://schemas.microsoft.com/office/drawing/2014/main" val="3761778169"/>
                        </a:ext>
                      </a:extLst>
                    </a:gridCol>
                    <a:gridCol w="672160">
                      <a:extLst>
                        <a:ext uri="{9D8B030D-6E8A-4147-A177-3AD203B41FA5}">
                          <a16:colId xmlns:a16="http://schemas.microsoft.com/office/drawing/2014/main" val="3119682786"/>
                        </a:ext>
                      </a:extLst>
                    </a:gridCol>
                  </a:tblGrid>
                  <a:tr h="36722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kern="100" dirty="0" err="1">
                              <a:effectLst/>
                            </a:rPr>
                            <a:t>bini</a:t>
                          </a:r>
                          <a:endParaRPr lang="zh-CN" sz="1600" kern="100" dirty="0">
                            <a:solidFill>
                              <a:schemeClr val="dk1"/>
                            </a:solidFill>
                            <a:effectLst/>
                            <a:latin typeface="微软雅黑" panose="020B0503020204020204" pitchFamily="34" charset="-122"/>
                            <a:ea typeface="微软雅黑" panose="020B0503020204020204" pitchFamily="34" charset="-122"/>
                            <a:cs typeface="+mn-cs"/>
                          </a:endParaRPr>
                        </a:p>
                      </a:txBody>
                      <a:tcPr anchor="ctr">
                        <a:solidFill>
                          <a:srgbClr val="A3D6D9"/>
                        </a:solidFill>
                      </a:tcPr>
                    </a:tc>
                    <a:tc>
                      <a:txBody>
                        <a:bodyPr/>
                        <a:lstStyle/>
                        <a:p>
                          <a:pPr algn="ctr"/>
                          <a:r>
                            <a:rPr lang="en-US" sz="1600" kern="100" dirty="0">
                              <a:effectLst/>
                            </a:rPr>
                            <a:t>bin1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2134801552"/>
                      </a:ext>
                    </a:extLst>
                  </a:tr>
                  <a:tr h="367229">
                    <a:tc>
                      <a:txBody>
                        <a:bodyPr/>
                        <a:lstStyle/>
                        <a:p>
                          <a:endParaRPr lang="zh-CN"/>
                        </a:p>
                      </a:txBody>
                      <a:tcPr anchor="ctr">
                        <a:blipFill>
                          <a:blip r:embed="rId5"/>
                          <a:stretch>
                            <a:fillRect l="-1087" t="-103333" r="-357609" b="-216667"/>
                          </a:stretch>
                        </a:blip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329710791"/>
                      </a:ext>
                    </a:extLst>
                  </a:tr>
                  <a:tr h="367229">
                    <a:tc>
                      <a:txBody>
                        <a:bodyPr/>
                        <a:lstStyle/>
                        <a:p>
                          <a:endParaRPr lang="zh-CN"/>
                        </a:p>
                      </a:txBody>
                      <a:tcPr anchor="ctr">
                        <a:blipFill>
                          <a:blip r:embed="rId5"/>
                          <a:stretch>
                            <a:fillRect l="-1087" t="-200000" r="-357609" b="-113115"/>
                          </a:stretch>
                        </a:blipFill>
                      </a:tcPr>
                    </a:tc>
                    <a:tc>
                      <a:txBody>
                        <a:bodyPr/>
                        <a:lstStyle/>
                        <a:p>
                          <a:pPr algn="ctr"/>
                          <a:r>
                            <a:rPr lang="en-US" sz="1600" kern="100" dirty="0">
                              <a:effectLst/>
                            </a:rPr>
                            <a:t>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0.79</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0.67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4070112340"/>
                      </a:ext>
                    </a:extLst>
                  </a:tr>
                  <a:tr h="367229">
                    <a:tc>
                      <a:txBody>
                        <a:bodyPr/>
                        <a:lstStyle/>
                        <a:p>
                          <a:endParaRPr lang="zh-CN"/>
                        </a:p>
                      </a:txBody>
                      <a:tcPr anchor="ctr">
                        <a:blipFill>
                          <a:blip r:embed="rId5"/>
                          <a:stretch>
                            <a:fillRect l="-1087" t="-305000" r="-357609" b="-15000"/>
                          </a:stretch>
                        </a:blipFill>
                      </a:tcPr>
                    </a:tc>
                    <a:tc>
                      <a:txBody>
                        <a:bodyPr/>
                        <a:lstStyle/>
                        <a:p>
                          <a:pPr algn="ctr"/>
                          <a:r>
                            <a:rPr lang="en-US" sz="1600" kern="100" dirty="0">
                              <a:effectLst/>
                            </a:rPr>
                            <a:t>0.29</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0.12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970834516"/>
                      </a:ext>
                    </a:extLst>
                  </a:tr>
                </a:tbl>
              </a:graphicData>
            </a:graphic>
          </p:graphicFrame>
        </mc:Fallback>
      </mc:AlternateContent>
      <p:grpSp>
        <p:nvGrpSpPr>
          <p:cNvPr id="47" name="组合 46">
            <a:extLst>
              <a:ext uri="{FF2B5EF4-FFF2-40B4-BE49-F238E27FC236}">
                <a16:creationId xmlns:a16="http://schemas.microsoft.com/office/drawing/2014/main" id="{BA9B5ED9-C860-4E3E-8B65-113084EFECFF}"/>
              </a:ext>
            </a:extLst>
          </p:cNvPr>
          <p:cNvGrpSpPr/>
          <p:nvPr/>
        </p:nvGrpSpPr>
        <p:grpSpPr>
          <a:xfrm>
            <a:off x="6661149" y="3095222"/>
            <a:ext cx="1355788" cy="1762525"/>
            <a:chOff x="1225300" y="3451362"/>
            <a:chExt cx="2033838" cy="1468916"/>
          </a:xfrm>
        </p:grpSpPr>
        <p:cxnSp>
          <p:nvCxnSpPr>
            <p:cNvPr id="25" name="直接连接符 24">
              <a:extLst>
                <a:ext uri="{FF2B5EF4-FFF2-40B4-BE49-F238E27FC236}">
                  <a16:creationId xmlns:a16="http://schemas.microsoft.com/office/drawing/2014/main" id="{937BBFCA-40C8-4003-A6C3-BC8FE5C3FC7C}"/>
                </a:ext>
              </a:extLst>
            </p:cNvPr>
            <p:cNvCxnSpPr>
              <a:cxnSpLocks/>
            </p:cNvCxnSpPr>
            <p:nvPr/>
          </p:nvCxnSpPr>
          <p:spPr>
            <a:xfrm>
              <a:off x="1238000"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28" name="直接连接符 27">
              <a:extLst>
                <a:ext uri="{FF2B5EF4-FFF2-40B4-BE49-F238E27FC236}">
                  <a16:creationId xmlns:a16="http://schemas.microsoft.com/office/drawing/2014/main" id="{0389BBE7-2537-49DD-A252-AA32E774B2BB}"/>
                </a:ext>
              </a:extLst>
            </p:cNvPr>
            <p:cNvCxnSpPr>
              <a:cxnSpLocks/>
            </p:cNvCxnSpPr>
            <p:nvPr/>
          </p:nvCxnSpPr>
          <p:spPr>
            <a:xfrm>
              <a:off x="3247774"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34" name="直接连接符 33">
              <a:extLst>
                <a:ext uri="{FF2B5EF4-FFF2-40B4-BE49-F238E27FC236}">
                  <a16:creationId xmlns:a16="http://schemas.microsoft.com/office/drawing/2014/main" id="{66C6E147-95F4-4920-B701-C291465CEF61}"/>
                </a:ext>
              </a:extLst>
            </p:cNvPr>
            <p:cNvCxnSpPr>
              <a:cxnSpLocks/>
            </p:cNvCxnSpPr>
            <p:nvPr/>
          </p:nvCxnSpPr>
          <p:spPr>
            <a:xfrm>
              <a:off x="1225300" y="4920278"/>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37" name="直接连接符 36">
              <a:extLst>
                <a:ext uri="{FF2B5EF4-FFF2-40B4-BE49-F238E27FC236}">
                  <a16:creationId xmlns:a16="http://schemas.microsoft.com/office/drawing/2014/main" id="{44EBD9E2-6FB4-41A9-BD1D-20D1F73095A0}"/>
                </a:ext>
              </a:extLst>
            </p:cNvPr>
            <p:cNvCxnSpPr>
              <a:cxnSpLocks/>
            </p:cNvCxnSpPr>
            <p:nvPr/>
          </p:nvCxnSpPr>
          <p:spPr>
            <a:xfrm>
              <a:off x="1225300" y="3456261"/>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grpSp>
      <p:grpSp>
        <p:nvGrpSpPr>
          <p:cNvPr id="49" name="组合 48">
            <a:extLst>
              <a:ext uri="{FF2B5EF4-FFF2-40B4-BE49-F238E27FC236}">
                <a16:creationId xmlns:a16="http://schemas.microsoft.com/office/drawing/2014/main" id="{0CEC71A6-F4DD-4D3B-B8DF-CBC0822B37FE}"/>
              </a:ext>
            </a:extLst>
          </p:cNvPr>
          <p:cNvGrpSpPr/>
          <p:nvPr/>
        </p:nvGrpSpPr>
        <p:grpSpPr>
          <a:xfrm>
            <a:off x="4662739" y="3095222"/>
            <a:ext cx="1989135" cy="1762525"/>
            <a:chOff x="1225300" y="3451362"/>
            <a:chExt cx="2033838" cy="1468916"/>
          </a:xfrm>
        </p:grpSpPr>
        <p:cxnSp>
          <p:nvCxnSpPr>
            <p:cNvPr id="50" name="直接连接符 49">
              <a:extLst>
                <a:ext uri="{FF2B5EF4-FFF2-40B4-BE49-F238E27FC236}">
                  <a16:creationId xmlns:a16="http://schemas.microsoft.com/office/drawing/2014/main" id="{8C796BF2-3AE9-409A-B41D-3BA1ED9717CA}"/>
                </a:ext>
              </a:extLst>
            </p:cNvPr>
            <p:cNvCxnSpPr>
              <a:cxnSpLocks/>
            </p:cNvCxnSpPr>
            <p:nvPr/>
          </p:nvCxnSpPr>
          <p:spPr>
            <a:xfrm>
              <a:off x="1238000" y="3451362"/>
              <a:ext cx="0" cy="1468916"/>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51" name="直接连接符 50">
              <a:extLst>
                <a:ext uri="{FF2B5EF4-FFF2-40B4-BE49-F238E27FC236}">
                  <a16:creationId xmlns:a16="http://schemas.microsoft.com/office/drawing/2014/main" id="{1149011E-5238-4B5C-BD04-DBAD92C9CEA9}"/>
                </a:ext>
              </a:extLst>
            </p:cNvPr>
            <p:cNvCxnSpPr>
              <a:cxnSpLocks/>
            </p:cNvCxnSpPr>
            <p:nvPr/>
          </p:nvCxnSpPr>
          <p:spPr>
            <a:xfrm>
              <a:off x="3247774" y="3451362"/>
              <a:ext cx="0" cy="1468916"/>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52" name="直接连接符 51">
              <a:extLst>
                <a:ext uri="{FF2B5EF4-FFF2-40B4-BE49-F238E27FC236}">
                  <a16:creationId xmlns:a16="http://schemas.microsoft.com/office/drawing/2014/main" id="{6478BEF5-78A2-4681-B815-2B39408DE67E}"/>
                </a:ext>
              </a:extLst>
            </p:cNvPr>
            <p:cNvCxnSpPr>
              <a:cxnSpLocks/>
            </p:cNvCxnSpPr>
            <p:nvPr/>
          </p:nvCxnSpPr>
          <p:spPr>
            <a:xfrm>
              <a:off x="1225300" y="4920278"/>
              <a:ext cx="2033838"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53" name="直接连接符 52">
              <a:extLst>
                <a:ext uri="{FF2B5EF4-FFF2-40B4-BE49-F238E27FC236}">
                  <a16:creationId xmlns:a16="http://schemas.microsoft.com/office/drawing/2014/main" id="{00028E24-FBDC-442A-B342-EE77BA6EFA03}"/>
                </a:ext>
              </a:extLst>
            </p:cNvPr>
            <p:cNvCxnSpPr>
              <a:cxnSpLocks/>
            </p:cNvCxnSpPr>
            <p:nvPr/>
          </p:nvCxnSpPr>
          <p:spPr>
            <a:xfrm>
              <a:off x="1225300" y="3456261"/>
              <a:ext cx="2033838"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grpSp>
      <p:grpSp>
        <p:nvGrpSpPr>
          <p:cNvPr id="54" name="组合 53">
            <a:extLst>
              <a:ext uri="{FF2B5EF4-FFF2-40B4-BE49-F238E27FC236}">
                <a16:creationId xmlns:a16="http://schemas.microsoft.com/office/drawing/2014/main" id="{ABD18413-8453-4DBE-96E9-91C0DDE3448F}"/>
              </a:ext>
            </a:extLst>
          </p:cNvPr>
          <p:cNvGrpSpPr/>
          <p:nvPr/>
        </p:nvGrpSpPr>
        <p:grpSpPr>
          <a:xfrm>
            <a:off x="2628901" y="3095221"/>
            <a:ext cx="2033838" cy="1762525"/>
            <a:chOff x="1225300" y="3451362"/>
            <a:chExt cx="2033838" cy="1468916"/>
          </a:xfrm>
        </p:grpSpPr>
        <p:cxnSp>
          <p:nvCxnSpPr>
            <p:cNvPr id="55" name="直接连接符 54">
              <a:extLst>
                <a:ext uri="{FF2B5EF4-FFF2-40B4-BE49-F238E27FC236}">
                  <a16:creationId xmlns:a16="http://schemas.microsoft.com/office/drawing/2014/main" id="{A8770B31-4A27-4DB8-B661-21FC288A752A}"/>
                </a:ext>
              </a:extLst>
            </p:cNvPr>
            <p:cNvCxnSpPr>
              <a:cxnSpLocks/>
            </p:cNvCxnSpPr>
            <p:nvPr/>
          </p:nvCxnSpPr>
          <p:spPr>
            <a:xfrm>
              <a:off x="1238000" y="3451362"/>
              <a:ext cx="0" cy="1468916"/>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cxnSp>
          <p:nvCxnSpPr>
            <p:cNvPr id="56" name="直接连接符 55">
              <a:extLst>
                <a:ext uri="{FF2B5EF4-FFF2-40B4-BE49-F238E27FC236}">
                  <a16:creationId xmlns:a16="http://schemas.microsoft.com/office/drawing/2014/main" id="{358FE973-D61A-48E3-BBC3-A8172F1BD38F}"/>
                </a:ext>
              </a:extLst>
            </p:cNvPr>
            <p:cNvCxnSpPr>
              <a:cxnSpLocks/>
            </p:cNvCxnSpPr>
            <p:nvPr/>
          </p:nvCxnSpPr>
          <p:spPr>
            <a:xfrm>
              <a:off x="3247774" y="3451362"/>
              <a:ext cx="0" cy="1468916"/>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cxnSp>
          <p:nvCxnSpPr>
            <p:cNvPr id="57" name="直接连接符 56">
              <a:extLst>
                <a:ext uri="{FF2B5EF4-FFF2-40B4-BE49-F238E27FC236}">
                  <a16:creationId xmlns:a16="http://schemas.microsoft.com/office/drawing/2014/main" id="{5AEE2187-D7A1-413D-A636-ED9924B5EA57}"/>
                </a:ext>
              </a:extLst>
            </p:cNvPr>
            <p:cNvCxnSpPr>
              <a:cxnSpLocks/>
            </p:cNvCxnSpPr>
            <p:nvPr/>
          </p:nvCxnSpPr>
          <p:spPr>
            <a:xfrm>
              <a:off x="1225300" y="4920278"/>
              <a:ext cx="2033838" cy="0"/>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cxnSp>
          <p:nvCxnSpPr>
            <p:cNvPr id="58" name="直接连接符 57">
              <a:extLst>
                <a:ext uri="{FF2B5EF4-FFF2-40B4-BE49-F238E27FC236}">
                  <a16:creationId xmlns:a16="http://schemas.microsoft.com/office/drawing/2014/main" id="{188026DA-A3D4-4E7E-8C18-CF857634CF96}"/>
                </a:ext>
              </a:extLst>
            </p:cNvPr>
            <p:cNvCxnSpPr>
              <a:cxnSpLocks/>
            </p:cNvCxnSpPr>
            <p:nvPr/>
          </p:nvCxnSpPr>
          <p:spPr>
            <a:xfrm>
              <a:off x="1225300" y="3456261"/>
              <a:ext cx="2033838" cy="0"/>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grpSp>
      <p:sp>
        <p:nvSpPr>
          <p:cNvPr id="59" name="文本框 58">
            <a:extLst>
              <a:ext uri="{FF2B5EF4-FFF2-40B4-BE49-F238E27FC236}">
                <a16:creationId xmlns:a16="http://schemas.microsoft.com/office/drawing/2014/main" id="{98EA32FC-8765-4213-B775-F17B556B2C8A}"/>
              </a:ext>
            </a:extLst>
          </p:cNvPr>
          <p:cNvSpPr txBox="1"/>
          <p:nvPr/>
        </p:nvSpPr>
        <p:spPr>
          <a:xfrm>
            <a:off x="3278825" y="2798053"/>
            <a:ext cx="733989" cy="338554"/>
          </a:xfrm>
          <a:prstGeom prst="rect">
            <a:avLst/>
          </a:prstGeom>
          <a:noFill/>
        </p:spPr>
        <p:txBody>
          <a:bodyPr wrap="square">
            <a:spAutoFit/>
          </a:bodyPr>
          <a:lstStyle/>
          <a:p>
            <a:r>
              <a:rPr lang="en-US" altLang="zh-CN" sz="1600" dirty="0">
                <a:latin typeface="微软雅黑" panose="020B0503020204020204" pitchFamily="34" charset="-122"/>
              </a:rPr>
              <a:t>bin1</a:t>
            </a:r>
            <a:endParaRPr lang="zh-CN" altLang="en-US" sz="1600" dirty="0">
              <a:latin typeface="微软雅黑" panose="020B0503020204020204" pitchFamily="34" charset="-122"/>
            </a:endParaRPr>
          </a:p>
        </p:txBody>
      </p:sp>
      <p:sp>
        <p:nvSpPr>
          <p:cNvPr id="60" name="文本框 59">
            <a:extLst>
              <a:ext uri="{FF2B5EF4-FFF2-40B4-BE49-F238E27FC236}">
                <a16:creationId xmlns:a16="http://schemas.microsoft.com/office/drawing/2014/main" id="{BB7DC42D-475C-48D8-AA0B-0F29124DE7A5}"/>
              </a:ext>
            </a:extLst>
          </p:cNvPr>
          <p:cNvSpPr txBox="1"/>
          <p:nvPr/>
        </p:nvSpPr>
        <p:spPr>
          <a:xfrm>
            <a:off x="5324888" y="2777944"/>
            <a:ext cx="733989" cy="338554"/>
          </a:xfrm>
          <a:prstGeom prst="rect">
            <a:avLst/>
          </a:prstGeom>
          <a:noFill/>
        </p:spPr>
        <p:txBody>
          <a:bodyPr wrap="square">
            <a:spAutoFit/>
          </a:bodyPr>
          <a:lstStyle/>
          <a:p>
            <a:r>
              <a:rPr lang="en-US" altLang="zh-CN" sz="1600" dirty="0">
                <a:latin typeface="微软雅黑" panose="020B0503020204020204" pitchFamily="34" charset="-122"/>
              </a:rPr>
              <a:t>bin2</a:t>
            </a:r>
            <a:endParaRPr lang="zh-CN" altLang="en-US" sz="1600" dirty="0">
              <a:latin typeface="微软雅黑" panose="020B0503020204020204" pitchFamily="34" charset="-122"/>
            </a:endParaRPr>
          </a:p>
        </p:txBody>
      </p:sp>
      <p:sp>
        <p:nvSpPr>
          <p:cNvPr id="61" name="文本框 60">
            <a:extLst>
              <a:ext uri="{FF2B5EF4-FFF2-40B4-BE49-F238E27FC236}">
                <a16:creationId xmlns:a16="http://schemas.microsoft.com/office/drawing/2014/main" id="{7766CABA-8EAE-46D7-9CBF-2249452CA9CC}"/>
              </a:ext>
            </a:extLst>
          </p:cNvPr>
          <p:cNvSpPr txBox="1"/>
          <p:nvPr/>
        </p:nvSpPr>
        <p:spPr>
          <a:xfrm>
            <a:off x="7020571" y="2769716"/>
            <a:ext cx="733989" cy="338554"/>
          </a:xfrm>
          <a:prstGeom prst="rect">
            <a:avLst/>
          </a:prstGeom>
          <a:noFill/>
        </p:spPr>
        <p:txBody>
          <a:bodyPr wrap="square">
            <a:spAutoFit/>
          </a:bodyPr>
          <a:lstStyle/>
          <a:p>
            <a:r>
              <a:rPr lang="en-US" altLang="zh-CN" sz="1600" dirty="0">
                <a:latin typeface="微软雅黑" panose="020B0503020204020204" pitchFamily="34" charset="-122"/>
              </a:rPr>
              <a:t>bin3</a:t>
            </a:r>
            <a:endParaRPr lang="zh-CN" altLang="en-US" sz="1600" dirty="0">
              <a:latin typeface="微软雅黑" panose="020B0503020204020204" pitchFamily="34" charset="-122"/>
            </a:endParaRPr>
          </a:p>
        </p:txBody>
      </p:sp>
      <p:sp>
        <p:nvSpPr>
          <p:cNvPr id="62" name="文本框 61">
            <a:extLst>
              <a:ext uri="{FF2B5EF4-FFF2-40B4-BE49-F238E27FC236}">
                <a16:creationId xmlns:a16="http://schemas.microsoft.com/office/drawing/2014/main" id="{3DA2DE30-E4ED-4844-AEE5-F9E85CC5F161}"/>
              </a:ext>
            </a:extLst>
          </p:cNvPr>
          <p:cNvSpPr txBox="1"/>
          <p:nvPr/>
        </p:nvSpPr>
        <p:spPr>
          <a:xfrm>
            <a:off x="3032144" y="5160792"/>
            <a:ext cx="897190" cy="276999"/>
          </a:xfrm>
          <a:prstGeom prst="rect">
            <a:avLst/>
          </a:prstGeom>
          <a:noFill/>
        </p:spPr>
        <p:txBody>
          <a:bodyPr wrap="square">
            <a:spAutoFit/>
          </a:bodyPr>
          <a:lstStyle/>
          <a:p>
            <a:r>
              <a:rPr lang="en-US" altLang="zh-CN" sz="1200" dirty="0"/>
              <a:t>bin</a:t>
            </a:r>
            <a:r>
              <a:rPr lang="zh-CN" altLang="en-US" sz="1200" dirty="0"/>
              <a:t>序号</a:t>
            </a:r>
          </a:p>
        </p:txBody>
      </p:sp>
      <p:sp>
        <p:nvSpPr>
          <p:cNvPr id="63" name="文本框 62">
            <a:extLst>
              <a:ext uri="{FF2B5EF4-FFF2-40B4-BE49-F238E27FC236}">
                <a16:creationId xmlns:a16="http://schemas.microsoft.com/office/drawing/2014/main" id="{5900B22D-71FD-4BAE-8BEF-18D0DCA9DFC0}"/>
              </a:ext>
            </a:extLst>
          </p:cNvPr>
          <p:cNvSpPr txBox="1"/>
          <p:nvPr/>
        </p:nvSpPr>
        <p:spPr>
          <a:xfrm>
            <a:off x="2554488" y="5539006"/>
            <a:ext cx="2425302" cy="276999"/>
          </a:xfrm>
          <a:prstGeom prst="rect">
            <a:avLst/>
          </a:prstGeom>
          <a:noFill/>
        </p:spPr>
        <p:txBody>
          <a:bodyPr wrap="square">
            <a:spAutoFit/>
          </a:bodyPr>
          <a:lstStyle/>
          <a:p>
            <a:r>
              <a:rPr lang="en-US" altLang="zh-CN" sz="1200" dirty="0"/>
              <a:t>bin</a:t>
            </a:r>
            <a:r>
              <a:rPr lang="zh-CN" altLang="en-US" sz="1200" dirty="0"/>
              <a:t>样本的之和</a:t>
            </a:r>
          </a:p>
        </p:txBody>
      </p:sp>
      <p:sp>
        <p:nvSpPr>
          <p:cNvPr id="64" name="文本框 63">
            <a:extLst>
              <a:ext uri="{FF2B5EF4-FFF2-40B4-BE49-F238E27FC236}">
                <a16:creationId xmlns:a16="http://schemas.microsoft.com/office/drawing/2014/main" id="{39A0CEED-CDA8-4051-9722-A46560B66E5B}"/>
              </a:ext>
            </a:extLst>
          </p:cNvPr>
          <p:cNvSpPr txBox="1"/>
          <p:nvPr/>
        </p:nvSpPr>
        <p:spPr>
          <a:xfrm>
            <a:off x="1670719" y="5900250"/>
            <a:ext cx="2258615" cy="276999"/>
          </a:xfrm>
          <a:prstGeom prst="rect">
            <a:avLst/>
          </a:prstGeom>
          <a:noFill/>
        </p:spPr>
        <p:txBody>
          <a:bodyPr wrap="square">
            <a:spAutoFit/>
          </a:bodyPr>
          <a:lstStyle/>
          <a:p>
            <a:r>
              <a:rPr lang="en-US" altLang="zh-CN" sz="1200" dirty="0"/>
              <a:t>bin</a:t>
            </a:r>
            <a:r>
              <a:rPr lang="zh-CN" altLang="en-US" sz="1200" dirty="0"/>
              <a:t>内所有样本的一阶导之和</a:t>
            </a:r>
          </a:p>
        </p:txBody>
      </p:sp>
      <p:sp>
        <p:nvSpPr>
          <p:cNvPr id="66" name="文本框 65">
            <a:extLst>
              <a:ext uri="{FF2B5EF4-FFF2-40B4-BE49-F238E27FC236}">
                <a16:creationId xmlns:a16="http://schemas.microsoft.com/office/drawing/2014/main" id="{41DF4354-FCA9-4929-A69B-292193EE285F}"/>
              </a:ext>
            </a:extLst>
          </p:cNvPr>
          <p:cNvSpPr txBox="1"/>
          <p:nvPr/>
        </p:nvSpPr>
        <p:spPr>
          <a:xfrm>
            <a:off x="1670719" y="6278464"/>
            <a:ext cx="2258615" cy="276999"/>
          </a:xfrm>
          <a:prstGeom prst="rect">
            <a:avLst/>
          </a:prstGeom>
          <a:noFill/>
        </p:spPr>
        <p:txBody>
          <a:bodyPr wrap="square">
            <a:spAutoFit/>
          </a:bodyPr>
          <a:lstStyle/>
          <a:p>
            <a:r>
              <a:rPr lang="en-US" altLang="zh-CN" sz="1200" dirty="0"/>
              <a:t>bin</a:t>
            </a:r>
            <a:r>
              <a:rPr lang="zh-CN" altLang="en-US" sz="1200" dirty="0"/>
              <a:t>内所有样本的二阶导之和</a:t>
            </a:r>
          </a:p>
        </p:txBody>
      </p:sp>
      <p:sp>
        <p:nvSpPr>
          <p:cNvPr id="68" name="文本框 67">
            <a:extLst>
              <a:ext uri="{FF2B5EF4-FFF2-40B4-BE49-F238E27FC236}">
                <a16:creationId xmlns:a16="http://schemas.microsoft.com/office/drawing/2014/main" id="{89099CEF-FCE9-4568-8350-001CB14D5008}"/>
              </a:ext>
            </a:extLst>
          </p:cNvPr>
          <p:cNvSpPr txBox="1"/>
          <p:nvPr/>
        </p:nvSpPr>
        <p:spPr>
          <a:xfrm>
            <a:off x="6612263" y="6258601"/>
            <a:ext cx="3864227" cy="307777"/>
          </a:xfrm>
          <a:prstGeom prst="rect">
            <a:avLst/>
          </a:prstGeom>
          <a:noFill/>
        </p:spPr>
        <p:txBody>
          <a:bodyPr wrap="square">
            <a:spAutoFit/>
          </a:bodyPr>
          <a:lstStyle/>
          <a:p>
            <a:r>
              <a:rPr lang="zh-CN" altLang="en-US" sz="1400" dirty="0"/>
              <a:t>可能的候选点分裂点个数等于bins个数减一</a:t>
            </a:r>
          </a:p>
        </p:txBody>
      </p:sp>
      <p:sp>
        <p:nvSpPr>
          <p:cNvPr id="69" name="文本框 68">
            <a:extLst>
              <a:ext uri="{FF2B5EF4-FFF2-40B4-BE49-F238E27FC236}">
                <a16:creationId xmlns:a16="http://schemas.microsoft.com/office/drawing/2014/main" id="{D11DE173-067A-4BC8-8C20-801EFBB9CDFF}"/>
              </a:ext>
            </a:extLst>
          </p:cNvPr>
          <p:cNvSpPr txBox="1"/>
          <p:nvPr/>
        </p:nvSpPr>
        <p:spPr>
          <a:xfrm>
            <a:off x="8250494" y="2274833"/>
            <a:ext cx="2179766" cy="523220"/>
          </a:xfrm>
          <a:prstGeom prst="rect">
            <a:avLst/>
          </a:prstGeom>
          <a:noFill/>
        </p:spPr>
        <p:txBody>
          <a:bodyPr wrap="square">
            <a:spAutoFit/>
          </a:bodyPr>
          <a:lstStyle/>
          <a:p>
            <a:r>
              <a:rPr lang="zh-CN" altLang="en-US" sz="1400" dirty="0"/>
              <a:t>可能的候选点分裂点个数等于样本取值个数减一</a:t>
            </a:r>
          </a:p>
        </p:txBody>
      </p:sp>
      <p:grpSp>
        <p:nvGrpSpPr>
          <p:cNvPr id="70" name="组合 69">
            <a:extLst>
              <a:ext uri="{FF2B5EF4-FFF2-40B4-BE49-F238E27FC236}">
                <a16:creationId xmlns:a16="http://schemas.microsoft.com/office/drawing/2014/main" id="{B60EB5CF-004C-4B8F-80A0-B93812E6D640}"/>
              </a:ext>
            </a:extLst>
          </p:cNvPr>
          <p:cNvGrpSpPr/>
          <p:nvPr/>
        </p:nvGrpSpPr>
        <p:grpSpPr>
          <a:xfrm>
            <a:off x="4386263" y="5097460"/>
            <a:ext cx="647700" cy="1458003"/>
            <a:chOff x="1225300" y="3451362"/>
            <a:chExt cx="2033838" cy="1468916"/>
          </a:xfrm>
        </p:grpSpPr>
        <p:cxnSp>
          <p:nvCxnSpPr>
            <p:cNvPr id="71" name="直接连接符 70">
              <a:extLst>
                <a:ext uri="{FF2B5EF4-FFF2-40B4-BE49-F238E27FC236}">
                  <a16:creationId xmlns:a16="http://schemas.microsoft.com/office/drawing/2014/main" id="{F18BD48B-F777-49FA-B054-B7D645E92848}"/>
                </a:ext>
              </a:extLst>
            </p:cNvPr>
            <p:cNvCxnSpPr>
              <a:cxnSpLocks/>
            </p:cNvCxnSpPr>
            <p:nvPr/>
          </p:nvCxnSpPr>
          <p:spPr>
            <a:xfrm>
              <a:off x="1238000" y="3451362"/>
              <a:ext cx="0" cy="1468916"/>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cxnSp>
          <p:nvCxnSpPr>
            <p:cNvPr id="72" name="直接连接符 71">
              <a:extLst>
                <a:ext uri="{FF2B5EF4-FFF2-40B4-BE49-F238E27FC236}">
                  <a16:creationId xmlns:a16="http://schemas.microsoft.com/office/drawing/2014/main" id="{371A5CE9-0A95-4B22-9850-DB2CF88B2E4B}"/>
                </a:ext>
              </a:extLst>
            </p:cNvPr>
            <p:cNvCxnSpPr>
              <a:cxnSpLocks/>
            </p:cNvCxnSpPr>
            <p:nvPr/>
          </p:nvCxnSpPr>
          <p:spPr>
            <a:xfrm>
              <a:off x="3247774" y="3451362"/>
              <a:ext cx="0" cy="1468916"/>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cxnSp>
          <p:nvCxnSpPr>
            <p:cNvPr id="73" name="直接连接符 72">
              <a:extLst>
                <a:ext uri="{FF2B5EF4-FFF2-40B4-BE49-F238E27FC236}">
                  <a16:creationId xmlns:a16="http://schemas.microsoft.com/office/drawing/2014/main" id="{DB1730B4-5FBD-4510-BE0B-F0A9D68AF6C2}"/>
                </a:ext>
              </a:extLst>
            </p:cNvPr>
            <p:cNvCxnSpPr>
              <a:cxnSpLocks/>
            </p:cNvCxnSpPr>
            <p:nvPr/>
          </p:nvCxnSpPr>
          <p:spPr>
            <a:xfrm>
              <a:off x="1225300" y="4920278"/>
              <a:ext cx="2033838" cy="0"/>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cxnSp>
          <p:nvCxnSpPr>
            <p:cNvPr id="74" name="直接连接符 73">
              <a:extLst>
                <a:ext uri="{FF2B5EF4-FFF2-40B4-BE49-F238E27FC236}">
                  <a16:creationId xmlns:a16="http://schemas.microsoft.com/office/drawing/2014/main" id="{9F7DC8CD-2321-442A-B844-2784D0D09BBA}"/>
                </a:ext>
              </a:extLst>
            </p:cNvPr>
            <p:cNvCxnSpPr>
              <a:cxnSpLocks/>
            </p:cNvCxnSpPr>
            <p:nvPr/>
          </p:nvCxnSpPr>
          <p:spPr>
            <a:xfrm>
              <a:off x="1225300" y="3456261"/>
              <a:ext cx="2033838" cy="0"/>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grpSp>
      <p:grpSp>
        <p:nvGrpSpPr>
          <p:cNvPr id="75" name="组合 74">
            <a:extLst>
              <a:ext uri="{FF2B5EF4-FFF2-40B4-BE49-F238E27FC236}">
                <a16:creationId xmlns:a16="http://schemas.microsoft.com/office/drawing/2014/main" id="{24DBB6A9-C30F-4AC7-8825-F90A9DAB0DD7}"/>
              </a:ext>
            </a:extLst>
          </p:cNvPr>
          <p:cNvGrpSpPr/>
          <p:nvPr/>
        </p:nvGrpSpPr>
        <p:grpSpPr>
          <a:xfrm>
            <a:off x="5048663" y="5097462"/>
            <a:ext cx="647697" cy="1468915"/>
            <a:chOff x="1225300" y="3451362"/>
            <a:chExt cx="2033838" cy="1468916"/>
          </a:xfrm>
        </p:grpSpPr>
        <p:cxnSp>
          <p:nvCxnSpPr>
            <p:cNvPr id="76" name="直接连接符 75">
              <a:extLst>
                <a:ext uri="{FF2B5EF4-FFF2-40B4-BE49-F238E27FC236}">
                  <a16:creationId xmlns:a16="http://schemas.microsoft.com/office/drawing/2014/main" id="{AD9CA065-7453-42EF-B3D7-9044595EE454}"/>
                </a:ext>
              </a:extLst>
            </p:cNvPr>
            <p:cNvCxnSpPr>
              <a:cxnSpLocks/>
            </p:cNvCxnSpPr>
            <p:nvPr/>
          </p:nvCxnSpPr>
          <p:spPr>
            <a:xfrm>
              <a:off x="1238000" y="3451362"/>
              <a:ext cx="0" cy="1468916"/>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77" name="直接连接符 76">
              <a:extLst>
                <a:ext uri="{FF2B5EF4-FFF2-40B4-BE49-F238E27FC236}">
                  <a16:creationId xmlns:a16="http://schemas.microsoft.com/office/drawing/2014/main" id="{5E210163-B7D0-45AB-9534-C0A592E760E5}"/>
                </a:ext>
              </a:extLst>
            </p:cNvPr>
            <p:cNvCxnSpPr>
              <a:cxnSpLocks/>
            </p:cNvCxnSpPr>
            <p:nvPr/>
          </p:nvCxnSpPr>
          <p:spPr>
            <a:xfrm>
              <a:off x="3247774" y="3451362"/>
              <a:ext cx="0" cy="1468916"/>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78" name="直接连接符 77">
              <a:extLst>
                <a:ext uri="{FF2B5EF4-FFF2-40B4-BE49-F238E27FC236}">
                  <a16:creationId xmlns:a16="http://schemas.microsoft.com/office/drawing/2014/main" id="{787065C6-50A8-4021-AF48-70171E2AEFAA}"/>
                </a:ext>
              </a:extLst>
            </p:cNvPr>
            <p:cNvCxnSpPr>
              <a:cxnSpLocks/>
            </p:cNvCxnSpPr>
            <p:nvPr/>
          </p:nvCxnSpPr>
          <p:spPr>
            <a:xfrm>
              <a:off x="1225300" y="4920278"/>
              <a:ext cx="2033838"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79" name="直接连接符 78">
              <a:extLst>
                <a:ext uri="{FF2B5EF4-FFF2-40B4-BE49-F238E27FC236}">
                  <a16:creationId xmlns:a16="http://schemas.microsoft.com/office/drawing/2014/main" id="{120729A8-5334-496B-A76F-C99E8A963577}"/>
                </a:ext>
              </a:extLst>
            </p:cNvPr>
            <p:cNvCxnSpPr>
              <a:cxnSpLocks/>
            </p:cNvCxnSpPr>
            <p:nvPr/>
          </p:nvCxnSpPr>
          <p:spPr>
            <a:xfrm>
              <a:off x="1225300" y="3456261"/>
              <a:ext cx="2033838"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grpSp>
      <p:grpSp>
        <p:nvGrpSpPr>
          <p:cNvPr id="80" name="组合 79">
            <a:extLst>
              <a:ext uri="{FF2B5EF4-FFF2-40B4-BE49-F238E27FC236}">
                <a16:creationId xmlns:a16="http://schemas.microsoft.com/office/drawing/2014/main" id="{004BD541-50F7-4850-82EB-2D710B361F8B}"/>
              </a:ext>
            </a:extLst>
          </p:cNvPr>
          <p:cNvGrpSpPr/>
          <p:nvPr/>
        </p:nvGrpSpPr>
        <p:grpSpPr>
          <a:xfrm>
            <a:off x="5718722" y="5097460"/>
            <a:ext cx="696974" cy="1468913"/>
            <a:chOff x="1225300" y="3451362"/>
            <a:chExt cx="2033838" cy="1468916"/>
          </a:xfrm>
        </p:grpSpPr>
        <p:cxnSp>
          <p:nvCxnSpPr>
            <p:cNvPr id="81" name="直接连接符 80">
              <a:extLst>
                <a:ext uri="{FF2B5EF4-FFF2-40B4-BE49-F238E27FC236}">
                  <a16:creationId xmlns:a16="http://schemas.microsoft.com/office/drawing/2014/main" id="{D5F712C4-D168-4056-91BC-1160ACF9ACC1}"/>
                </a:ext>
              </a:extLst>
            </p:cNvPr>
            <p:cNvCxnSpPr>
              <a:cxnSpLocks/>
            </p:cNvCxnSpPr>
            <p:nvPr/>
          </p:nvCxnSpPr>
          <p:spPr>
            <a:xfrm>
              <a:off x="1238000"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82" name="直接连接符 81">
              <a:extLst>
                <a:ext uri="{FF2B5EF4-FFF2-40B4-BE49-F238E27FC236}">
                  <a16:creationId xmlns:a16="http://schemas.microsoft.com/office/drawing/2014/main" id="{6344502F-C4E8-4170-BE5D-BD5F88822F3D}"/>
                </a:ext>
              </a:extLst>
            </p:cNvPr>
            <p:cNvCxnSpPr>
              <a:cxnSpLocks/>
            </p:cNvCxnSpPr>
            <p:nvPr/>
          </p:nvCxnSpPr>
          <p:spPr>
            <a:xfrm>
              <a:off x="3247774"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83" name="直接连接符 82">
              <a:extLst>
                <a:ext uri="{FF2B5EF4-FFF2-40B4-BE49-F238E27FC236}">
                  <a16:creationId xmlns:a16="http://schemas.microsoft.com/office/drawing/2014/main" id="{9D5B06E9-AAD0-4BA7-AEEC-930F8FA5C589}"/>
                </a:ext>
              </a:extLst>
            </p:cNvPr>
            <p:cNvCxnSpPr>
              <a:cxnSpLocks/>
            </p:cNvCxnSpPr>
            <p:nvPr/>
          </p:nvCxnSpPr>
          <p:spPr>
            <a:xfrm>
              <a:off x="1225300" y="4920278"/>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84" name="直接连接符 83">
              <a:extLst>
                <a:ext uri="{FF2B5EF4-FFF2-40B4-BE49-F238E27FC236}">
                  <a16:creationId xmlns:a16="http://schemas.microsoft.com/office/drawing/2014/main" id="{8E97985B-D579-4BC8-91AA-63DAABF02303}"/>
                </a:ext>
              </a:extLst>
            </p:cNvPr>
            <p:cNvCxnSpPr>
              <a:cxnSpLocks/>
            </p:cNvCxnSpPr>
            <p:nvPr/>
          </p:nvCxnSpPr>
          <p:spPr>
            <a:xfrm>
              <a:off x="1225300" y="3456261"/>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grpSp>
    </p:spTree>
    <p:extLst>
      <p:ext uri="{BB962C8B-B14F-4D97-AF65-F5344CB8AC3E}">
        <p14:creationId xmlns:p14="http://schemas.microsoft.com/office/powerpoint/2010/main" val="1775384649"/>
      </p:ext>
    </p:extLst>
  </p:cSld>
  <p:clrMapOvr>
    <a:masterClrMapping/>
  </p:clrMapOvr>
  <p:transition advTm="8005"/>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4.LightGBM</a:t>
            </a:r>
            <a:endParaRPr lang="zh-CN" altLang="en-US" dirty="0">
              <a:solidFill>
                <a:schemeClr val="tx1"/>
              </a:solidFill>
            </a:endParaRPr>
          </a:p>
        </p:txBody>
      </p:sp>
      <p:pic>
        <p:nvPicPr>
          <p:cNvPr id="62" name="Picture">
            <a:extLst>
              <a:ext uri="{FF2B5EF4-FFF2-40B4-BE49-F238E27FC236}">
                <a16:creationId xmlns:a16="http://schemas.microsoft.com/office/drawing/2014/main" id="{B22EDF85-5F64-4A56-AE60-230AF37BE811}"/>
              </a:ext>
            </a:extLst>
          </p:cNvPr>
          <p:cNvPicPr/>
          <p:nvPr/>
        </p:nvPicPr>
        <p:blipFill>
          <a:blip r:embed="rId3"/>
          <a:stretch>
            <a:fillRect/>
          </a:stretch>
        </p:blipFill>
        <p:spPr bwMode="auto">
          <a:xfrm>
            <a:off x="1210994" y="5271109"/>
            <a:ext cx="5334000" cy="1033145"/>
          </a:xfrm>
          <a:prstGeom prst="rect">
            <a:avLst/>
          </a:prstGeom>
          <a:noFill/>
          <a:ln w="9525">
            <a:noFill/>
            <a:headEnd/>
            <a:tailEnd/>
          </a:ln>
        </p:spPr>
      </p:pic>
      <p:sp>
        <p:nvSpPr>
          <p:cNvPr id="65" name="文本框 64">
            <a:extLst>
              <a:ext uri="{FF2B5EF4-FFF2-40B4-BE49-F238E27FC236}">
                <a16:creationId xmlns:a16="http://schemas.microsoft.com/office/drawing/2014/main" id="{58808C9F-11A8-46C9-B52E-A56C27115BFF}"/>
              </a:ext>
            </a:extLst>
          </p:cNvPr>
          <p:cNvSpPr txBox="1"/>
          <p:nvPr/>
        </p:nvSpPr>
        <p:spPr>
          <a:xfrm>
            <a:off x="708073" y="1470864"/>
            <a:ext cx="10002129" cy="3166380"/>
          </a:xfrm>
          <a:prstGeom prst="rect">
            <a:avLst/>
          </a:prstGeom>
          <a:noFill/>
        </p:spPr>
        <p:txBody>
          <a:bodyPr wrap="square">
            <a:spAutoFit/>
          </a:bodyPr>
          <a:lstStyle/>
          <a:p>
            <a:r>
              <a:rPr lang="zh-CN" altLang="zh-CN" b="1" dirty="0">
                <a:effectLst/>
                <a:latin typeface="微软雅黑" panose="020B0503020204020204" pitchFamily="34" charset="-122"/>
                <a:cs typeface="Euclid" panose="02020503060505020303" pitchFamily="18" charset="0"/>
              </a:rPr>
              <a:t>直方图加速</a:t>
            </a:r>
            <a:endParaRPr lang="zh-CN" altLang="zh-CN" dirty="0">
              <a:effectLst/>
              <a:latin typeface="微软雅黑" panose="020B0503020204020204" pitchFamily="34" charset="-122"/>
              <a:cs typeface="Euclid" panose="02020503060505020303" pitchFamily="18" charset="0"/>
            </a:endParaRPr>
          </a:p>
          <a:p>
            <a:pPr algn="just">
              <a:lnSpc>
                <a:spcPct val="150000"/>
              </a:lnSpc>
            </a:pPr>
            <a:r>
              <a:rPr lang="zh-CN" altLang="zh-CN" sz="2400" kern="100" dirty="0">
                <a:effectLst/>
                <a:latin typeface="微软雅黑" panose="020B0503020204020204" pitchFamily="34" charset="-122"/>
              </a:rPr>
              <a:t>在构建叶节点的直方图时，我们还可以通过父节点的直方图与相邻叶节点的直方图相减的方式构建，从而减少了一半的计算量。</a:t>
            </a:r>
            <a:r>
              <a:rPr lang="zh-CN" altLang="en-US" sz="2400" kern="100" dirty="0">
                <a:effectLst/>
                <a:latin typeface="微软雅黑" panose="020B0503020204020204" pitchFamily="34" charset="-122"/>
              </a:rPr>
              <a:t>即：</a:t>
            </a:r>
            <a:r>
              <a:rPr lang="zh-CN" altLang="en-US" b="1" i="0" dirty="0">
                <a:effectLst/>
                <a:latin typeface="微软雅黑" panose="020B0503020204020204" pitchFamily="34" charset="-122"/>
              </a:rPr>
              <a:t>一个叶子节点的直方图可以由它的父亲节点的直方图与其兄弟的直方图做差得到</a:t>
            </a:r>
            <a:r>
              <a:rPr lang="zh-CN" altLang="en-US" b="0" i="0" dirty="0">
                <a:effectLst/>
                <a:latin typeface="微软雅黑" panose="020B0503020204020204" pitchFamily="34" charset="-122"/>
              </a:rPr>
              <a:t>。</a:t>
            </a:r>
            <a:r>
              <a:rPr lang="zh-CN" altLang="zh-CN" sz="2400" kern="100" dirty="0">
                <a:effectLst/>
                <a:latin typeface="微软雅黑" panose="020B0503020204020204" pitchFamily="34" charset="-122"/>
              </a:rPr>
              <a:t>如节点分裂成两个时，右边叶子节点的直方图等于其父节点的直方图减去左边叶子节点的直方图。从而大大减少构建直方图的计算量。</a:t>
            </a:r>
          </a:p>
        </p:txBody>
      </p:sp>
    </p:spTree>
    <p:extLst>
      <p:ext uri="{BB962C8B-B14F-4D97-AF65-F5344CB8AC3E}">
        <p14:creationId xmlns:p14="http://schemas.microsoft.com/office/powerpoint/2010/main" val="1213004378"/>
      </p:ext>
    </p:extLst>
  </p:cSld>
  <p:clrMapOvr>
    <a:masterClrMapping/>
  </p:clrMapOvr>
  <p:transition advTm="8005"/>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4.LightGBM</a:t>
            </a:r>
            <a:endParaRPr lang="zh-CN" altLang="en-US" dirty="0">
              <a:solidFill>
                <a:schemeClr val="tx1"/>
              </a:solidFill>
            </a:endParaRPr>
          </a:p>
        </p:txBody>
      </p:sp>
      <p:sp>
        <p:nvSpPr>
          <p:cNvPr id="8" name="文本框 7">
            <a:extLst>
              <a:ext uri="{FF2B5EF4-FFF2-40B4-BE49-F238E27FC236}">
                <a16:creationId xmlns:a16="http://schemas.microsoft.com/office/drawing/2014/main" id="{A32F78D6-68AF-4A75-8399-473DB41D5BDB}"/>
              </a:ext>
            </a:extLst>
          </p:cNvPr>
          <p:cNvSpPr txBox="1"/>
          <p:nvPr/>
        </p:nvSpPr>
        <p:spPr>
          <a:xfrm>
            <a:off x="622048" y="1355957"/>
            <a:ext cx="7853614" cy="461665"/>
          </a:xfrm>
          <a:prstGeom prst="rect">
            <a:avLst/>
          </a:prstGeom>
          <a:noFill/>
        </p:spPr>
        <p:txBody>
          <a:bodyPr wrap="square">
            <a:spAutoFit/>
          </a:bodyPr>
          <a:lstStyle/>
          <a:p>
            <a:pPr algn="l"/>
            <a:r>
              <a:rPr lang="zh-CN" altLang="en-US" b="1" i="0" dirty="0">
                <a:solidFill>
                  <a:srgbClr val="121212"/>
                </a:solidFill>
                <a:effectLst/>
                <a:latin typeface="-apple-system"/>
              </a:rPr>
              <a:t>直方图算法</a:t>
            </a:r>
            <a:endParaRPr lang="zh-CN" altLang="en-US" dirty="0"/>
          </a:p>
        </p:txBody>
      </p:sp>
      <p:sp>
        <p:nvSpPr>
          <p:cNvPr id="7" name="文本框 6">
            <a:extLst>
              <a:ext uri="{FF2B5EF4-FFF2-40B4-BE49-F238E27FC236}">
                <a16:creationId xmlns:a16="http://schemas.microsoft.com/office/drawing/2014/main" id="{5F31E035-EBE0-451C-ACDC-6DC0A5BE7B2D}"/>
              </a:ext>
            </a:extLst>
          </p:cNvPr>
          <p:cNvSpPr txBox="1"/>
          <p:nvPr/>
        </p:nvSpPr>
        <p:spPr>
          <a:xfrm>
            <a:off x="4731434" y="1275043"/>
            <a:ext cx="7071360" cy="499111"/>
          </a:xfrm>
          <a:prstGeom prst="rect">
            <a:avLst/>
          </a:prstGeom>
          <a:noFill/>
        </p:spPr>
        <p:txBody>
          <a:bodyPr wrap="square">
            <a:spAutoFit/>
          </a:bodyPr>
          <a:lstStyle/>
          <a:p>
            <a:pPr>
              <a:lnSpc>
                <a:spcPct val="150000"/>
              </a:lnSpc>
            </a:pPr>
            <a:r>
              <a:rPr lang="zh-CN" altLang="en-US" sz="2000" dirty="0"/>
              <a:t>父节点10个样本，2个特征。</a:t>
            </a:r>
          </a:p>
        </p:txBody>
      </p:sp>
      <p:grpSp>
        <p:nvGrpSpPr>
          <p:cNvPr id="4097" name="组合 4096">
            <a:extLst>
              <a:ext uri="{FF2B5EF4-FFF2-40B4-BE49-F238E27FC236}">
                <a16:creationId xmlns:a16="http://schemas.microsoft.com/office/drawing/2014/main" id="{F436FA5D-4AE3-424B-81A8-56B19EB6F1FB}"/>
              </a:ext>
            </a:extLst>
          </p:cNvPr>
          <p:cNvGrpSpPr/>
          <p:nvPr/>
        </p:nvGrpSpPr>
        <p:grpSpPr>
          <a:xfrm>
            <a:off x="4913435" y="1918361"/>
            <a:ext cx="6414069" cy="4450275"/>
            <a:chOff x="3222664" y="1691924"/>
            <a:chExt cx="6927843" cy="5019027"/>
          </a:xfrm>
        </p:grpSpPr>
        <p:cxnSp>
          <p:nvCxnSpPr>
            <p:cNvPr id="9" name="Google Shape;517;p30">
              <a:extLst>
                <a:ext uri="{FF2B5EF4-FFF2-40B4-BE49-F238E27FC236}">
                  <a16:creationId xmlns:a16="http://schemas.microsoft.com/office/drawing/2014/main" id="{F87ECA1F-F478-44C5-8C3B-F2FD52BAEF11}"/>
                </a:ext>
              </a:extLst>
            </p:cNvPr>
            <p:cNvCxnSpPr>
              <a:cxnSpLocks/>
            </p:cNvCxnSpPr>
            <p:nvPr/>
          </p:nvCxnSpPr>
          <p:spPr>
            <a:xfrm flipV="1">
              <a:off x="5980284" y="1741119"/>
              <a:ext cx="0" cy="1320731"/>
            </a:xfrm>
            <a:prstGeom prst="straightConnector1">
              <a:avLst/>
            </a:prstGeom>
            <a:noFill/>
            <a:ln w="19050" cap="flat" cmpd="sng">
              <a:solidFill>
                <a:srgbClr val="000000"/>
              </a:solidFill>
              <a:prstDash val="solid"/>
              <a:round/>
              <a:headEnd type="none" w="med" len="med"/>
              <a:tailEnd type="triangle" w="med" len="med"/>
            </a:ln>
          </p:spPr>
        </p:cxnSp>
        <p:cxnSp>
          <p:nvCxnSpPr>
            <p:cNvPr id="10" name="Google Shape;517;p30">
              <a:extLst>
                <a:ext uri="{FF2B5EF4-FFF2-40B4-BE49-F238E27FC236}">
                  <a16:creationId xmlns:a16="http://schemas.microsoft.com/office/drawing/2014/main" id="{E78C0EB2-0AE9-4EF5-A330-A9E0690860DF}"/>
                </a:ext>
              </a:extLst>
            </p:cNvPr>
            <p:cNvCxnSpPr>
              <a:cxnSpLocks/>
            </p:cNvCxnSpPr>
            <p:nvPr/>
          </p:nvCxnSpPr>
          <p:spPr>
            <a:xfrm flipV="1">
              <a:off x="5832573" y="2886004"/>
              <a:ext cx="1605059" cy="1"/>
            </a:xfrm>
            <a:prstGeom prst="straightConnector1">
              <a:avLst/>
            </a:prstGeom>
            <a:noFill/>
            <a:ln w="19050" cap="flat" cmpd="sng">
              <a:solidFill>
                <a:srgbClr val="000000"/>
              </a:solidFill>
              <a:prstDash val="solid"/>
              <a:round/>
              <a:headEnd type="none" w="med" len="med"/>
              <a:tailEnd type="triangle" w="med" len="med"/>
            </a:ln>
          </p:spPr>
        </p:cxnSp>
        <p:sp>
          <p:nvSpPr>
            <p:cNvPr id="11" name="矩形 10">
              <a:extLst>
                <a:ext uri="{FF2B5EF4-FFF2-40B4-BE49-F238E27FC236}">
                  <a16:creationId xmlns:a16="http://schemas.microsoft.com/office/drawing/2014/main" id="{C34D1033-FC90-443D-8192-186D0BA08374}"/>
                </a:ext>
              </a:extLst>
            </p:cNvPr>
            <p:cNvSpPr/>
            <p:nvPr/>
          </p:nvSpPr>
          <p:spPr>
            <a:xfrm>
              <a:off x="6227809" y="2359536"/>
              <a:ext cx="117167" cy="526467"/>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E71C3697-3B74-4DA6-8EBD-B4B9B245937A}"/>
                </a:ext>
              </a:extLst>
            </p:cNvPr>
            <p:cNvSpPr/>
            <p:nvPr/>
          </p:nvSpPr>
          <p:spPr>
            <a:xfrm>
              <a:off x="6532610" y="1755733"/>
              <a:ext cx="122100" cy="1130271"/>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14" name="Google Shape;517;p30">
              <a:extLst>
                <a:ext uri="{FF2B5EF4-FFF2-40B4-BE49-F238E27FC236}">
                  <a16:creationId xmlns:a16="http://schemas.microsoft.com/office/drawing/2014/main" id="{EC78A581-5CF4-4751-A344-467B0DA4E035}"/>
                </a:ext>
              </a:extLst>
            </p:cNvPr>
            <p:cNvCxnSpPr>
              <a:cxnSpLocks/>
            </p:cNvCxnSpPr>
            <p:nvPr/>
          </p:nvCxnSpPr>
          <p:spPr>
            <a:xfrm flipV="1">
              <a:off x="5976947" y="3444539"/>
              <a:ext cx="0" cy="1320731"/>
            </a:xfrm>
            <a:prstGeom prst="straightConnector1">
              <a:avLst/>
            </a:prstGeom>
            <a:noFill/>
            <a:ln w="19050" cap="flat" cmpd="sng">
              <a:solidFill>
                <a:srgbClr val="000000"/>
              </a:solidFill>
              <a:prstDash val="solid"/>
              <a:round/>
              <a:headEnd type="none" w="med" len="med"/>
              <a:tailEnd type="triangle" w="med" len="med"/>
            </a:ln>
          </p:spPr>
        </p:cxnSp>
        <p:cxnSp>
          <p:nvCxnSpPr>
            <p:cNvPr id="15" name="Google Shape;517;p30">
              <a:extLst>
                <a:ext uri="{FF2B5EF4-FFF2-40B4-BE49-F238E27FC236}">
                  <a16:creationId xmlns:a16="http://schemas.microsoft.com/office/drawing/2014/main" id="{35794ADB-6D43-42A3-8BBC-ACF4060EE026}"/>
                </a:ext>
              </a:extLst>
            </p:cNvPr>
            <p:cNvCxnSpPr>
              <a:cxnSpLocks/>
            </p:cNvCxnSpPr>
            <p:nvPr/>
          </p:nvCxnSpPr>
          <p:spPr>
            <a:xfrm flipV="1">
              <a:off x="5829236" y="4589424"/>
              <a:ext cx="1605059" cy="1"/>
            </a:xfrm>
            <a:prstGeom prst="straightConnector1">
              <a:avLst/>
            </a:prstGeom>
            <a:noFill/>
            <a:ln w="19050" cap="flat" cmpd="sng">
              <a:solidFill>
                <a:srgbClr val="000000"/>
              </a:solidFill>
              <a:prstDash val="solid"/>
              <a:round/>
              <a:headEnd type="none" w="med" len="med"/>
              <a:tailEnd type="triangle" w="med" len="med"/>
            </a:ln>
          </p:spPr>
        </p:cxnSp>
        <p:sp>
          <p:nvSpPr>
            <p:cNvPr id="16" name="矩形 15">
              <a:extLst>
                <a:ext uri="{FF2B5EF4-FFF2-40B4-BE49-F238E27FC236}">
                  <a16:creationId xmlns:a16="http://schemas.microsoft.com/office/drawing/2014/main" id="{C1AD0DFE-E81C-48A8-AE84-80BBDC106E58}"/>
                </a:ext>
              </a:extLst>
            </p:cNvPr>
            <p:cNvSpPr/>
            <p:nvPr/>
          </p:nvSpPr>
          <p:spPr>
            <a:xfrm>
              <a:off x="6239335" y="4028320"/>
              <a:ext cx="130729" cy="564754"/>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18" name="Google Shape;517;p30">
              <a:extLst>
                <a:ext uri="{FF2B5EF4-FFF2-40B4-BE49-F238E27FC236}">
                  <a16:creationId xmlns:a16="http://schemas.microsoft.com/office/drawing/2014/main" id="{CB5D69D5-2D61-465C-873B-31C1D1426086}"/>
                </a:ext>
              </a:extLst>
            </p:cNvPr>
            <p:cNvCxnSpPr>
              <a:cxnSpLocks/>
            </p:cNvCxnSpPr>
            <p:nvPr/>
          </p:nvCxnSpPr>
          <p:spPr>
            <a:xfrm flipV="1">
              <a:off x="5984811" y="5244859"/>
              <a:ext cx="0" cy="1320731"/>
            </a:xfrm>
            <a:prstGeom prst="straightConnector1">
              <a:avLst/>
            </a:prstGeom>
            <a:noFill/>
            <a:ln w="19050" cap="flat" cmpd="sng">
              <a:solidFill>
                <a:srgbClr val="000000"/>
              </a:solidFill>
              <a:prstDash val="solid"/>
              <a:round/>
              <a:headEnd type="none" w="med" len="med"/>
              <a:tailEnd type="triangle" w="med" len="med"/>
            </a:ln>
          </p:spPr>
        </p:cxnSp>
        <p:cxnSp>
          <p:nvCxnSpPr>
            <p:cNvPr id="19" name="Google Shape;517;p30">
              <a:extLst>
                <a:ext uri="{FF2B5EF4-FFF2-40B4-BE49-F238E27FC236}">
                  <a16:creationId xmlns:a16="http://schemas.microsoft.com/office/drawing/2014/main" id="{ED290493-915E-4C6C-A68E-3366C9C18CE1}"/>
                </a:ext>
              </a:extLst>
            </p:cNvPr>
            <p:cNvCxnSpPr>
              <a:cxnSpLocks/>
            </p:cNvCxnSpPr>
            <p:nvPr/>
          </p:nvCxnSpPr>
          <p:spPr>
            <a:xfrm flipV="1">
              <a:off x="5837100" y="6389744"/>
              <a:ext cx="1605059" cy="1"/>
            </a:xfrm>
            <a:prstGeom prst="straightConnector1">
              <a:avLst/>
            </a:prstGeom>
            <a:noFill/>
            <a:ln w="19050" cap="flat" cmpd="sng">
              <a:solidFill>
                <a:srgbClr val="000000"/>
              </a:solidFill>
              <a:prstDash val="solid"/>
              <a:round/>
              <a:headEnd type="none" w="med" len="med"/>
              <a:tailEnd type="triangle" w="med" len="med"/>
            </a:ln>
          </p:spPr>
        </p:cxnSp>
        <p:sp>
          <p:nvSpPr>
            <p:cNvPr id="21" name="矩形 20">
              <a:extLst>
                <a:ext uri="{FF2B5EF4-FFF2-40B4-BE49-F238E27FC236}">
                  <a16:creationId xmlns:a16="http://schemas.microsoft.com/office/drawing/2014/main" id="{11CD8702-2F1F-4389-B0E3-B6D04CD2DDEA}"/>
                </a:ext>
              </a:extLst>
            </p:cNvPr>
            <p:cNvSpPr/>
            <p:nvPr/>
          </p:nvSpPr>
          <p:spPr>
            <a:xfrm>
              <a:off x="6537136" y="5284766"/>
              <a:ext cx="149423" cy="1104978"/>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22" name="Google Shape;517;p30">
              <a:extLst>
                <a:ext uri="{FF2B5EF4-FFF2-40B4-BE49-F238E27FC236}">
                  <a16:creationId xmlns:a16="http://schemas.microsoft.com/office/drawing/2014/main" id="{24ACC3E8-6816-469A-AEE4-7DC19E08987F}"/>
                </a:ext>
              </a:extLst>
            </p:cNvPr>
            <p:cNvCxnSpPr>
              <a:cxnSpLocks/>
            </p:cNvCxnSpPr>
            <p:nvPr/>
          </p:nvCxnSpPr>
          <p:spPr>
            <a:xfrm flipV="1">
              <a:off x="8170453" y="1743474"/>
              <a:ext cx="0" cy="1320731"/>
            </a:xfrm>
            <a:prstGeom prst="straightConnector1">
              <a:avLst/>
            </a:prstGeom>
            <a:noFill/>
            <a:ln w="19050" cap="flat" cmpd="sng">
              <a:solidFill>
                <a:srgbClr val="000000"/>
              </a:solidFill>
              <a:prstDash val="solid"/>
              <a:round/>
              <a:headEnd type="none" w="med" len="med"/>
              <a:tailEnd type="triangle" w="med" len="med"/>
            </a:ln>
          </p:spPr>
        </p:cxnSp>
        <p:cxnSp>
          <p:nvCxnSpPr>
            <p:cNvPr id="23" name="Google Shape;517;p30">
              <a:extLst>
                <a:ext uri="{FF2B5EF4-FFF2-40B4-BE49-F238E27FC236}">
                  <a16:creationId xmlns:a16="http://schemas.microsoft.com/office/drawing/2014/main" id="{1967F611-C62A-43D6-B1CC-80CE28C101A5}"/>
                </a:ext>
              </a:extLst>
            </p:cNvPr>
            <p:cNvCxnSpPr>
              <a:cxnSpLocks/>
            </p:cNvCxnSpPr>
            <p:nvPr/>
          </p:nvCxnSpPr>
          <p:spPr>
            <a:xfrm flipV="1">
              <a:off x="8022742" y="2888359"/>
              <a:ext cx="1605059" cy="1"/>
            </a:xfrm>
            <a:prstGeom prst="straightConnector1">
              <a:avLst/>
            </a:prstGeom>
            <a:noFill/>
            <a:ln w="19050" cap="flat" cmpd="sng">
              <a:solidFill>
                <a:srgbClr val="000000"/>
              </a:solidFill>
              <a:prstDash val="solid"/>
              <a:round/>
              <a:headEnd type="none" w="med" len="med"/>
              <a:tailEnd type="triangle" w="med" len="med"/>
            </a:ln>
          </p:spPr>
        </p:cxnSp>
        <p:sp>
          <p:nvSpPr>
            <p:cNvPr id="24" name="矩形 23">
              <a:extLst>
                <a:ext uri="{FF2B5EF4-FFF2-40B4-BE49-F238E27FC236}">
                  <a16:creationId xmlns:a16="http://schemas.microsoft.com/office/drawing/2014/main" id="{E8F872EF-BF65-482D-9120-B45409F0978A}"/>
                </a:ext>
              </a:extLst>
            </p:cNvPr>
            <p:cNvSpPr/>
            <p:nvPr/>
          </p:nvSpPr>
          <p:spPr>
            <a:xfrm>
              <a:off x="8417979" y="2575763"/>
              <a:ext cx="131298" cy="312595"/>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C2AA805A-4912-4E1E-8983-2F9593768600}"/>
                </a:ext>
              </a:extLst>
            </p:cNvPr>
            <p:cNvSpPr/>
            <p:nvPr/>
          </p:nvSpPr>
          <p:spPr>
            <a:xfrm>
              <a:off x="9057359" y="2361892"/>
              <a:ext cx="123792" cy="526465"/>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1ABFAFC2-0650-4712-A051-7D251D122DE1}"/>
                </a:ext>
              </a:extLst>
            </p:cNvPr>
            <p:cNvSpPr/>
            <p:nvPr/>
          </p:nvSpPr>
          <p:spPr>
            <a:xfrm>
              <a:off x="8730817" y="2056241"/>
              <a:ext cx="131298" cy="832116"/>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28" name="Google Shape;517;p30">
              <a:extLst>
                <a:ext uri="{FF2B5EF4-FFF2-40B4-BE49-F238E27FC236}">
                  <a16:creationId xmlns:a16="http://schemas.microsoft.com/office/drawing/2014/main" id="{97954D8A-C181-4CF5-84B2-FFC352FE3F1A}"/>
                </a:ext>
              </a:extLst>
            </p:cNvPr>
            <p:cNvCxnSpPr>
              <a:cxnSpLocks/>
            </p:cNvCxnSpPr>
            <p:nvPr/>
          </p:nvCxnSpPr>
          <p:spPr>
            <a:xfrm flipV="1">
              <a:off x="8198098" y="3446893"/>
              <a:ext cx="0" cy="1320731"/>
            </a:xfrm>
            <a:prstGeom prst="straightConnector1">
              <a:avLst/>
            </a:prstGeom>
            <a:noFill/>
            <a:ln w="19050" cap="flat" cmpd="sng">
              <a:solidFill>
                <a:srgbClr val="000000"/>
              </a:solidFill>
              <a:prstDash val="solid"/>
              <a:round/>
              <a:headEnd type="none" w="med" len="med"/>
              <a:tailEnd type="triangle" w="med" len="med"/>
            </a:ln>
          </p:spPr>
        </p:cxnSp>
        <p:cxnSp>
          <p:nvCxnSpPr>
            <p:cNvPr id="29" name="Google Shape;517;p30">
              <a:extLst>
                <a:ext uri="{FF2B5EF4-FFF2-40B4-BE49-F238E27FC236}">
                  <a16:creationId xmlns:a16="http://schemas.microsoft.com/office/drawing/2014/main" id="{415DC6BA-2160-438F-90B9-8520E270FB15}"/>
                </a:ext>
              </a:extLst>
            </p:cNvPr>
            <p:cNvCxnSpPr>
              <a:cxnSpLocks/>
            </p:cNvCxnSpPr>
            <p:nvPr/>
          </p:nvCxnSpPr>
          <p:spPr>
            <a:xfrm flipV="1">
              <a:off x="8050387" y="4591778"/>
              <a:ext cx="1605059" cy="1"/>
            </a:xfrm>
            <a:prstGeom prst="straightConnector1">
              <a:avLst/>
            </a:prstGeom>
            <a:noFill/>
            <a:ln w="19050" cap="flat" cmpd="sng">
              <a:solidFill>
                <a:srgbClr val="000000"/>
              </a:solidFill>
              <a:prstDash val="solid"/>
              <a:round/>
              <a:headEnd type="none" w="med" len="med"/>
              <a:tailEnd type="triangle" w="med" len="med"/>
            </a:ln>
          </p:spPr>
        </p:cxnSp>
        <p:sp>
          <p:nvSpPr>
            <p:cNvPr id="31" name="矩形 30">
              <a:extLst>
                <a:ext uri="{FF2B5EF4-FFF2-40B4-BE49-F238E27FC236}">
                  <a16:creationId xmlns:a16="http://schemas.microsoft.com/office/drawing/2014/main" id="{ED80A562-2A68-4027-AA1B-CE50F004CEB0}"/>
                </a:ext>
              </a:extLst>
            </p:cNvPr>
            <p:cNvSpPr/>
            <p:nvPr/>
          </p:nvSpPr>
          <p:spPr>
            <a:xfrm>
              <a:off x="9068787" y="4415930"/>
              <a:ext cx="140009" cy="175846"/>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869E9404-3EBD-4542-A7F7-FC2AA3E3C44D}"/>
                </a:ext>
              </a:extLst>
            </p:cNvPr>
            <p:cNvSpPr/>
            <p:nvPr/>
          </p:nvSpPr>
          <p:spPr>
            <a:xfrm>
              <a:off x="8755949" y="4279180"/>
              <a:ext cx="133811" cy="312595"/>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33" name="Google Shape;517;p30">
              <a:extLst>
                <a:ext uri="{FF2B5EF4-FFF2-40B4-BE49-F238E27FC236}">
                  <a16:creationId xmlns:a16="http://schemas.microsoft.com/office/drawing/2014/main" id="{42D81E51-4CB4-4D5E-8050-2D1A19178467}"/>
                </a:ext>
              </a:extLst>
            </p:cNvPr>
            <p:cNvCxnSpPr>
              <a:cxnSpLocks/>
            </p:cNvCxnSpPr>
            <p:nvPr/>
          </p:nvCxnSpPr>
          <p:spPr>
            <a:xfrm flipV="1">
              <a:off x="8209310" y="5248056"/>
              <a:ext cx="0" cy="1320731"/>
            </a:xfrm>
            <a:prstGeom prst="straightConnector1">
              <a:avLst/>
            </a:prstGeom>
            <a:noFill/>
            <a:ln w="19050" cap="flat" cmpd="sng">
              <a:solidFill>
                <a:srgbClr val="000000"/>
              </a:solidFill>
              <a:prstDash val="solid"/>
              <a:round/>
              <a:headEnd type="none" w="med" len="med"/>
              <a:tailEnd type="triangle" w="med" len="med"/>
            </a:ln>
          </p:spPr>
        </p:cxnSp>
        <p:cxnSp>
          <p:nvCxnSpPr>
            <p:cNvPr id="34" name="Google Shape;517;p30">
              <a:extLst>
                <a:ext uri="{FF2B5EF4-FFF2-40B4-BE49-F238E27FC236}">
                  <a16:creationId xmlns:a16="http://schemas.microsoft.com/office/drawing/2014/main" id="{A84C5416-552F-45FB-A7B9-C15E247DA82E}"/>
                </a:ext>
              </a:extLst>
            </p:cNvPr>
            <p:cNvCxnSpPr>
              <a:cxnSpLocks/>
            </p:cNvCxnSpPr>
            <p:nvPr/>
          </p:nvCxnSpPr>
          <p:spPr>
            <a:xfrm flipV="1">
              <a:off x="8061599" y="6392941"/>
              <a:ext cx="1605059" cy="1"/>
            </a:xfrm>
            <a:prstGeom prst="straightConnector1">
              <a:avLst/>
            </a:prstGeom>
            <a:noFill/>
            <a:ln w="19050" cap="flat" cmpd="sng">
              <a:solidFill>
                <a:srgbClr val="000000"/>
              </a:solidFill>
              <a:prstDash val="solid"/>
              <a:round/>
              <a:headEnd type="none" w="med" len="med"/>
              <a:tailEnd type="triangle" w="med" len="med"/>
            </a:ln>
          </p:spPr>
        </p:cxnSp>
        <p:sp>
          <p:nvSpPr>
            <p:cNvPr id="35" name="矩形 34">
              <a:extLst>
                <a:ext uri="{FF2B5EF4-FFF2-40B4-BE49-F238E27FC236}">
                  <a16:creationId xmlns:a16="http://schemas.microsoft.com/office/drawing/2014/main" id="{2A53DBCC-D485-4795-B7CD-5154B14D83B9}"/>
                </a:ext>
              </a:extLst>
            </p:cNvPr>
            <p:cNvSpPr/>
            <p:nvPr/>
          </p:nvSpPr>
          <p:spPr>
            <a:xfrm>
              <a:off x="8450638" y="6257714"/>
              <a:ext cx="137496" cy="135226"/>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B206DA42-1058-4526-BDB8-5EA1240E7345}"/>
                </a:ext>
              </a:extLst>
            </p:cNvPr>
            <p:cNvSpPr/>
            <p:nvPr/>
          </p:nvSpPr>
          <p:spPr>
            <a:xfrm>
              <a:off x="9076302" y="6023607"/>
              <a:ext cx="143706" cy="369332"/>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1DD9CE62-BFB7-448E-ADDD-D7D66513D341}"/>
                </a:ext>
              </a:extLst>
            </p:cNvPr>
            <p:cNvSpPr/>
            <p:nvPr/>
          </p:nvSpPr>
          <p:spPr>
            <a:xfrm>
              <a:off x="8763470" y="5903433"/>
              <a:ext cx="137496" cy="489506"/>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A8E139CD-3D7D-4DF1-A845-08AA0364E0A0}"/>
                </a:ext>
              </a:extLst>
            </p:cNvPr>
            <p:cNvSpPr/>
            <p:nvPr/>
          </p:nvSpPr>
          <p:spPr>
            <a:xfrm>
              <a:off x="8438755" y="4415930"/>
              <a:ext cx="140009" cy="175846"/>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39" name="直接连接符 38">
              <a:extLst>
                <a:ext uri="{FF2B5EF4-FFF2-40B4-BE49-F238E27FC236}">
                  <a16:creationId xmlns:a16="http://schemas.microsoft.com/office/drawing/2014/main" id="{45207A4D-535D-4869-AB4B-8BE0CD21A2B3}"/>
                </a:ext>
              </a:extLst>
            </p:cNvPr>
            <p:cNvCxnSpPr/>
            <p:nvPr/>
          </p:nvCxnSpPr>
          <p:spPr>
            <a:xfrm>
              <a:off x="6509254" y="4569913"/>
              <a:ext cx="168812"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42" name="直接连接符 41">
              <a:extLst>
                <a:ext uri="{FF2B5EF4-FFF2-40B4-BE49-F238E27FC236}">
                  <a16:creationId xmlns:a16="http://schemas.microsoft.com/office/drawing/2014/main" id="{93991AFA-55D6-42CD-B972-3CCA9D35DF49}"/>
                </a:ext>
              </a:extLst>
            </p:cNvPr>
            <p:cNvCxnSpPr/>
            <p:nvPr/>
          </p:nvCxnSpPr>
          <p:spPr>
            <a:xfrm>
              <a:off x="6194823" y="6367519"/>
              <a:ext cx="168812" cy="0"/>
            </a:xfrm>
            <a:prstGeom prst="line">
              <a:avLst/>
            </a:prstGeom>
          </p:spPr>
          <p:style>
            <a:lnRef idx="3">
              <a:schemeClr val="accent4"/>
            </a:lnRef>
            <a:fillRef idx="0">
              <a:schemeClr val="accent4"/>
            </a:fillRef>
            <a:effectRef idx="2">
              <a:schemeClr val="accent4"/>
            </a:effectRef>
            <a:fontRef idx="minor">
              <a:schemeClr val="tx1"/>
            </a:fontRef>
          </p:style>
        </p:cxnSp>
        <p:sp>
          <p:nvSpPr>
            <p:cNvPr id="44" name="文本框 43">
              <a:extLst>
                <a:ext uri="{FF2B5EF4-FFF2-40B4-BE49-F238E27FC236}">
                  <a16:creationId xmlns:a16="http://schemas.microsoft.com/office/drawing/2014/main" id="{2317A271-88DB-4E3C-8FC1-CFAF76B7423D}"/>
                </a:ext>
              </a:extLst>
            </p:cNvPr>
            <p:cNvSpPr txBox="1"/>
            <p:nvPr/>
          </p:nvSpPr>
          <p:spPr>
            <a:xfrm>
              <a:off x="3238129" y="2689597"/>
              <a:ext cx="2963594" cy="338554"/>
            </a:xfrm>
            <a:prstGeom prst="rect">
              <a:avLst/>
            </a:prstGeom>
            <a:noFill/>
          </p:spPr>
          <p:txBody>
            <a:bodyPr wrap="square">
              <a:spAutoFit/>
            </a:bodyPr>
            <a:lstStyle/>
            <a:p>
              <a:pPr marL="0" marR="0"/>
              <a:r>
                <a:rPr lang="zh-CN" altLang="en-US" sz="1600" dirty="0">
                  <a:effectLst/>
                </a:rPr>
                <a:t>①父节点特征的直方图</a:t>
              </a:r>
            </a:p>
          </p:txBody>
        </p:sp>
        <p:sp>
          <p:nvSpPr>
            <p:cNvPr id="45" name="文本框 44">
              <a:extLst>
                <a:ext uri="{FF2B5EF4-FFF2-40B4-BE49-F238E27FC236}">
                  <a16:creationId xmlns:a16="http://schemas.microsoft.com/office/drawing/2014/main" id="{4A3ADE20-F28A-4FE6-A768-711AC1EE443A}"/>
                </a:ext>
              </a:extLst>
            </p:cNvPr>
            <p:cNvSpPr txBox="1"/>
            <p:nvPr/>
          </p:nvSpPr>
          <p:spPr>
            <a:xfrm>
              <a:off x="3222664" y="4395203"/>
              <a:ext cx="2963594" cy="338554"/>
            </a:xfrm>
            <a:prstGeom prst="rect">
              <a:avLst/>
            </a:prstGeom>
            <a:noFill/>
          </p:spPr>
          <p:txBody>
            <a:bodyPr wrap="square">
              <a:spAutoFit/>
            </a:bodyPr>
            <a:lstStyle/>
            <a:p>
              <a:pPr marL="0" marR="0"/>
              <a:r>
                <a:rPr lang="zh-CN" altLang="en-US" sz="1600" dirty="0">
                  <a:effectLst/>
                </a:rPr>
                <a:t>②左子节点特征的直方图</a:t>
              </a:r>
            </a:p>
          </p:txBody>
        </p:sp>
        <p:sp>
          <p:nvSpPr>
            <p:cNvPr id="46" name="文本框 45">
              <a:extLst>
                <a:ext uri="{FF2B5EF4-FFF2-40B4-BE49-F238E27FC236}">
                  <a16:creationId xmlns:a16="http://schemas.microsoft.com/office/drawing/2014/main" id="{4FB2BC2F-EA43-4D3B-90F7-963F9CEADBEB}"/>
                </a:ext>
              </a:extLst>
            </p:cNvPr>
            <p:cNvSpPr txBox="1"/>
            <p:nvPr/>
          </p:nvSpPr>
          <p:spPr>
            <a:xfrm>
              <a:off x="3266195" y="6180760"/>
              <a:ext cx="2963594" cy="338554"/>
            </a:xfrm>
            <a:prstGeom prst="rect">
              <a:avLst/>
            </a:prstGeom>
            <a:noFill/>
          </p:spPr>
          <p:txBody>
            <a:bodyPr wrap="square">
              <a:spAutoFit/>
            </a:bodyPr>
            <a:lstStyle/>
            <a:p>
              <a:pPr marL="0" marR="0"/>
              <a:r>
                <a:rPr lang="zh-CN" altLang="en-US" sz="1600" dirty="0">
                  <a:effectLst/>
                </a:rPr>
                <a:t>③右子节点特征的直方图</a:t>
              </a:r>
            </a:p>
          </p:txBody>
        </p:sp>
        <p:sp>
          <p:nvSpPr>
            <p:cNvPr id="43" name="文本框 42">
              <a:extLst>
                <a:ext uri="{FF2B5EF4-FFF2-40B4-BE49-F238E27FC236}">
                  <a16:creationId xmlns:a16="http://schemas.microsoft.com/office/drawing/2014/main" id="{36063B3C-FBB7-472E-8EFB-EA73F70D00BA}"/>
                </a:ext>
              </a:extLst>
            </p:cNvPr>
            <p:cNvSpPr txBox="1"/>
            <p:nvPr/>
          </p:nvSpPr>
          <p:spPr>
            <a:xfrm>
              <a:off x="6140832" y="2024590"/>
              <a:ext cx="179964" cy="276999"/>
            </a:xfrm>
            <a:prstGeom prst="rect">
              <a:avLst/>
            </a:prstGeom>
            <a:noFill/>
          </p:spPr>
          <p:txBody>
            <a:bodyPr wrap="square" rtlCol="0">
              <a:spAutoFit/>
            </a:bodyPr>
            <a:lstStyle/>
            <a:p>
              <a:r>
                <a:rPr lang="en-US" altLang="zh-CN" sz="1200" dirty="0">
                  <a:latin typeface="微软雅黑" panose="020B0503020204020204" pitchFamily="34" charset="-122"/>
                </a:rPr>
                <a:t>3</a:t>
              </a:r>
              <a:endParaRPr lang="zh-CN" altLang="en-US" sz="1200" dirty="0">
                <a:latin typeface="微软雅黑" panose="020B0503020204020204" pitchFamily="34" charset="-122"/>
              </a:endParaRPr>
            </a:p>
          </p:txBody>
        </p:sp>
        <p:sp>
          <p:nvSpPr>
            <p:cNvPr id="48" name="文本框 47">
              <a:extLst>
                <a:ext uri="{FF2B5EF4-FFF2-40B4-BE49-F238E27FC236}">
                  <a16:creationId xmlns:a16="http://schemas.microsoft.com/office/drawing/2014/main" id="{E59FEB9C-22D8-41AB-962E-96B0F779BD8B}"/>
                </a:ext>
              </a:extLst>
            </p:cNvPr>
            <p:cNvSpPr txBox="1"/>
            <p:nvPr/>
          </p:nvSpPr>
          <p:spPr>
            <a:xfrm>
              <a:off x="6423565" y="4168414"/>
              <a:ext cx="1065643" cy="276999"/>
            </a:xfrm>
            <a:prstGeom prst="rect">
              <a:avLst/>
            </a:prstGeom>
            <a:noFill/>
          </p:spPr>
          <p:txBody>
            <a:bodyPr wrap="square" rtlCol="0">
              <a:spAutoFit/>
            </a:bodyPr>
            <a:lstStyle/>
            <a:p>
              <a:r>
                <a:rPr lang="en-US" altLang="zh-CN" sz="1200" dirty="0">
                  <a:latin typeface="微软雅黑" panose="020B0503020204020204" pitchFamily="34" charset="-122"/>
                </a:rPr>
                <a:t>0</a:t>
              </a:r>
              <a:endParaRPr lang="zh-CN" altLang="en-US" sz="1200" dirty="0">
                <a:latin typeface="微软雅黑" panose="020B0503020204020204" pitchFamily="34" charset="-122"/>
              </a:endParaRPr>
            </a:p>
          </p:txBody>
        </p:sp>
        <p:sp>
          <p:nvSpPr>
            <p:cNvPr id="49" name="文本框 48">
              <a:extLst>
                <a:ext uri="{FF2B5EF4-FFF2-40B4-BE49-F238E27FC236}">
                  <a16:creationId xmlns:a16="http://schemas.microsoft.com/office/drawing/2014/main" id="{B3651C36-E853-406B-B97F-D863C3A9C8D7}"/>
                </a:ext>
              </a:extLst>
            </p:cNvPr>
            <p:cNvSpPr txBox="1"/>
            <p:nvPr/>
          </p:nvSpPr>
          <p:spPr>
            <a:xfrm>
              <a:off x="6165891" y="3719011"/>
              <a:ext cx="179964" cy="276999"/>
            </a:xfrm>
            <a:prstGeom prst="rect">
              <a:avLst/>
            </a:prstGeom>
            <a:noFill/>
          </p:spPr>
          <p:txBody>
            <a:bodyPr wrap="square" rtlCol="0">
              <a:spAutoFit/>
            </a:bodyPr>
            <a:lstStyle/>
            <a:p>
              <a:r>
                <a:rPr lang="en-US" altLang="zh-CN" sz="1200" dirty="0">
                  <a:latin typeface="微软雅黑" panose="020B0503020204020204" pitchFamily="34" charset="-122"/>
                </a:rPr>
                <a:t>3</a:t>
              </a:r>
              <a:endParaRPr lang="zh-CN" altLang="en-US" sz="1200" dirty="0">
                <a:latin typeface="微软雅黑" panose="020B0503020204020204" pitchFamily="34" charset="-122"/>
              </a:endParaRPr>
            </a:p>
          </p:txBody>
        </p:sp>
        <p:sp>
          <p:nvSpPr>
            <p:cNvPr id="50" name="文本框 49">
              <a:extLst>
                <a:ext uri="{FF2B5EF4-FFF2-40B4-BE49-F238E27FC236}">
                  <a16:creationId xmlns:a16="http://schemas.microsoft.com/office/drawing/2014/main" id="{57C4B952-C8A5-4979-8723-AF4BD6FD0200}"/>
                </a:ext>
              </a:extLst>
            </p:cNvPr>
            <p:cNvSpPr txBox="1"/>
            <p:nvPr/>
          </p:nvSpPr>
          <p:spPr>
            <a:xfrm>
              <a:off x="6670767" y="1691924"/>
              <a:ext cx="179964" cy="276999"/>
            </a:xfrm>
            <a:prstGeom prst="rect">
              <a:avLst/>
            </a:prstGeom>
            <a:noFill/>
          </p:spPr>
          <p:txBody>
            <a:bodyPr wrap="square" rtlCol="0">
              <a:spAutoFit/>
            </a:bodyPr>
            <a:lstStyle/>
            <a:p>
              <a:r>
                <a:rPr lang="en-US" altLang="zh-CN" sz="1200" dirty="0">
                  <a:latin typeface="微软雅黑" panose="020B0503020204020204" pitchFamily="34" charset="-122"/>
                </a:rPr>
                <a:t>7</a:t>
              </a:r>
              <a:endParaRPr lang="zh-CN" altLang="en-US" sz="1200" dirty="0">
                <a:latin typeface="微软雅黑" panose="020B0503020204020204" pitchFamily="34" charset="-122"/>
              </a:endParaRPr>
            </a:p>
          </p:txBody>
        </p:sp>
        <p:sp>
          <p:nvSpPr>
            <p:cNvPr id="51" name="文本框 50">
              <a:extLst>
                <a:ext uri="{FF2B5EF4-FFF2-40B4-BE49-F238E27FC236}">
                  <a16:creationId xmlns:a16="http://schemas.microsoft.com/office/drawing/2014/main" id="{DCEB3E36-666C-47D9-9840-8E24D4E86FE3}"/>
                </a:ext>
              </a:extLst>
            </p:cNvPr>
            <p:cNvSpPr txBox="1"/>
            <p:nvPr/>
          </p:nvSpPr>
          <p:spPr>
            <a:xfrm>
              <a:off x="8991985" y="2024090"/>
              <a:ext cx="179964" cy="276999"/>
            </a:xfrm>
            <a:prstGeom prst="rect">
              <a:avLst/>
            </a:prstGeom>
            <a:noFill/>
          </p:spPr>
          <p:txBody>
            <a:bodyPr wrap="square" rtlCol="0">
              <a:spAutoFit/>
            </a:bodyPr>
            <a:lstStyle/>
            <a:p>
              <a:r>
                <a:rPr lang="en-US" altLang="zh-CN" sz="1200" dirty="0">
                  <a:latin typeface="微软雅黑" panose="020B0503020204020204" pitchFamily="34" charset="-122"/>
                </a:rPr>
                <a:t>3</a:t>
              </a:r>
              <a:endParaRPr lang="zh-CN" altLang="en-US" sz="1200" dirty="0">
                <a:latin typeface="微软雅黑" panose="020B0503020204020204" pitchFamily="34" charset="-122"/>
              </a:endParaRPr>
            </a:p>
          </p:txBody>
        </p:sp>
        <p:sp>
          <p:nvSpPr>
            <p:cNvPr id="52" name="文本框 51">
              <a:extLst>
                <a:ext uri="{FF2B5EF4-FFF2-40B4-BE49-F238E27FC236}">
                  <a16:creationId xmlns:a16="http://schemas.microsoft.com/office/drawing/2014/main" id="{31294F82-1483-439C-BB5E-8B7B8436ADCD}"/>
                </a:ext>
              </a:extLst>
            </p:cNvPr>
            <p:cNvSpPr txBox="1"/>
            <p:nvPr/>
          </p:nvSpPr>
          <p:spPr>
            <a:xfrm>
              <a:off x="8658893" y="1781446"/>
              <a:ext cx="179964" cy="276999"/>
            </a:xfrm>
            <a:prstGeom prst="rect">
              <a:avLst/>
            </a:prstGeom>
            <a:noFill/>
          </p:spPr>
          <p:txBody>
            <a:bodyPr wrap="square" rtlCol="0">
              <a:spAutoFit/>
            </a:bodyPr>
            <a:lstStyle/>
            <a:p>
              <a:r>
                <a:rPr lang="en-US" altLang="zh-CN" sz="1200" dirty="0">
                  <a:latin typeface="微软雅黑" panose="020B0503020204020204" pitchFamily="34" charset="-122"/>
                </a:rPr>
                <a:t>5</a:t>
              </a:r>
              <a:endParaRPr lang="zh-CN" altLang="en-US" sz="1200" dirty="0">
                <a:latin typeface="微软雅黑" panose="020B0503020204020204" pitchFamily="34" charset="-122"/>
              </a:endParaRPr>
            </a:p>
          </p:txBody>
        </p:sp>
        <p:sp>
          <p:nvSpPr>
            <p:cNvPr id="53" name="文本框 52">
              <a:extLst>
                <a:ext uri="{FF2B5EF4-FFF2-40B4-BE49-F238E27FC236}">
                  <a16:creationId xmlns:a16="http://schemas.microsoft.com/office/drawing/2014/main" id="{389D7CF4-AD6F-41FB-8083-D4A5F89E94E4}"/>
                </a:ext>
              </a:extLst>
            </p:cNvPr>
            <p:cNvSpPr txBox="1"/>
            <p:nvPr/>
          </p:nvSpPr>
          <p:spPr>
            <a:xfrm>
              <a:off x="5909397" y="5951600"/>
              <a:ext cx="1404899" cy="276999"/>
            </a:xfrm>
            <a:prstGeom prst="rect">
              <a:avLst/>
            </a:prstGeom>
            <a:noFill/>
          </p:spPr>
          <p:txBody>
            <a:bodyPr wrap="square" rtlCol="0">
              <a:spAutoFit/>
            </a:bodyPr>
            <a:lstStyle/>
            <a:p>
              <a:r>
                <a:rPr lang="en-US" altLang="zh-CN" sz="1200" dirty="0">
                  <a:latin typeface="微软雅黑" panose="020B0503020204020204" pitchFamily="34" charset="-122"/>
                </a:rPr>
                <a:t>3-3=0</a:t>
              </a:r>
              <a:endParaRPr lang="zh-CN" altLang="en-US" sz="1200" dirty="0">
                <a:latin typeface="微软雅黑" panose="020B0503020204020204" pitchFamily="34" charset="-122"/>
              </a:endParaRPr>
            </a:p>
          </p:txBody>
        </p:sp>
        <p:sp>
          <p:nvSpPr>
            <p:cNvPr id="54" name="文本框 53">
              <a:extLst>
                <a:ext uri="{FF2B5EF4-FFF2-40B4-BE49-F238E27FC236}">
                  <a16:creationId xmlns:a16="http://schemas.microsoft.com/office/drawing/2014/main" id="{EBD739E0-A56C-415D-B64F-F38362024B8A}"/>
                </a:ext>
              </a:extLst>
            </p:cNvPr>
            <p:cNvSpPr txBox="1"/>
            <p:nvPr/>
          </p:nvSpPr>
          <p:spPr>
            <a:xfrm>
              <a:off x="8382328" y="4105588"/>
              <a:ext cx="179964" cy="276999"/>
            </a:xfrm>
            <a:prstGeom prst="rect">
              <a:avLst/>
            </a:prstGeom>
            <a:noFill/>
          </p:spPr>
          <p:txBody>
            <a:bodyPr wrap="square" rtlCol="0">
              <a:spAutoFit/>
            </a:bodyPr>
            <a:lstStyle/>
            <a:p>
              <a:r>
                <a:rPr lang="en-US" altLang="zh-CN" sz="1200" dirty="0">
                  <a:latin typeface="微软雅黑" panose="020B0503020204020204" pitchFamily="34" charset="-122"/>
                </a:rPr>
                <a:t>1</a:t>
              </a:r>
              <a:endParaRPr lang="zh-CN" altLang="en-US" sz="1200" dirty="0">
                <a:latin typeface="微软雅黑" panose="020B0503020204020204" pitchFamily="34" charset="-122"/>
              </a:endParaRPr>
            </a:p>
          </p:txBody>
        </p:sp>
        <p:sp>
          <p:nvSpPr>
            <p:cNvPr id="55" name="文本框 54">
              <a:extLst>
                <a:ext uri="{FF2B5EF4-FFF2-40B4-BE49-F238E27FC236}">
                  <a16:creationId xmlns:a16="http://schemas.microsoft.com/office/drawing/2014/main" id="{2D639992-51AE-4412-8901-399FDA4B6ED3}"/>
                </a:ext>
              </a:extLst>
            </p:cNvPr>
            <p:cNvSpPr txBox="1"/>
            <p:nvPr/>
          </p:nvSpPr>
          <p:spPr>
            <a:xfrm>
              <a:off x="8672952" y="3946242"/>
              <a:ext cx="179964" cy="276999"/>
            </a:xfrm>
            <a:prstGeom prst="rect">
              <a:avLst/>
            </a:prstGeom>
            <a:noFill/>
          </p:spPr>
          <p:txBody>
            <a:bodyPr wrap="square" rtlCol="0">
              <a:spAutoFit/>
            </a:bodyPr>
            <a:lstStyle/>
            <a:p>
              <a:r>
                <a:rPr lang="en-US" altLang="zh-CN" sz="1200" dirty="0">
                  <a:latin typeface="微软雅黑" panose="020B0503020204020204" pitchFamily="34" charset="-122"/>
                </a:rPr>
                <a:t>2</a:t>
              </a:r>
              <a:endParaRPr lang="zh-CN" altLang="en-US" sz="1200" dirty="0">
                <a:latin typeface="微软雅黑" panose="020B0503020204020204" pitchFamily="34" charset="-122"/>
              </a:endParaRPr>
            </a:p>
          </p:txBody>
        </p:sp>
        <p:sp>
          <p:nvSpPr>
            <p:cNvPr id="56" name="文本框 55">
              <a:extLst>
                <a:ext uri="{FF2B5EF4-FFF2-40B4-BE49-F238E27FC236}">
                  <a16:creationId xmlns:a16="http://schemas.microsoft.com/office/drawing/2014/main" id="{60D43F8F-6096-40DB-A5D5-339CB925B766}"/>
                </a:ext>
              </a:extLst>
            </p:cNvPr>
            <p:cNvSpPr txBox="1"/>
            <p:nvPr/>
          </p:nvSpPr>
          <p:spPr>
            <a:xfrm>
              <a:off x="9008909" y="4081038"/>
              <a:ext cx="179964" cy="276999"/>
            </a:xfrm>
            <a:prstGeom prst="rect">
              <a:avLst/>
            </a:prstGeom>
            <a:noFill/>
          </p:spPr>
          <p:txBody>
            <a:bodyPr wrap="square" rtlCol="0">
              <a:spAutoFit/>
            </a:bodyPr>
            <a:lstStyle/>
            <a:p>
              <a:r>
                <a:rPr lang="en-US" altLang="zh-CN" sz="1200" dirty="0">
                  <a:latin typeface="微软雅黑" panose="020B0503020204020204" pitchFamily="34" charset="-122"/>
                </a:rPr>
                <a:t>1</a:t>
              </a:r>
              <a:endParaRPr lang="zh-CN" altLang="en-US" sz="1200" dirty="0">
                <a:latin typeface="微软雅黑" panose="020B0503020204020204" pitchFamily="34" charset="-122"/>
              </a:endParaRPr>
            </a:p>
          </p:txBody>
        </p:sp>
        <p:sp>
          <p:nvSpPr>
            <p:cNvPr id="57" name="文本框 56">
              <a:extLst>
                <a:ext uri="{FF2B5EF4-FFF2-40B4-BE49-F238E27FC236}">
                  <a16:creationId xmlns:a16="http://schemas.microsoft.com/office/drawing/2014/main" id="{BCF13E7B-19B5-476B-9B1A-B7D98DDDC71D}"/>
                </a:ext>
              </a:extLst>
            </p:cNvPr>
            <p:cNvSpPr txBox="1"/>
            <p:nvPr/>
          </p:nvSpPr>
          <p:spPr>
            <a:xfrm>
              <a:off x="6696094" y="5429385"/>
              <a:ext cx="959056" cy="312400"/>
            </a:xfrm>
            <a:prstGeom prst="rect">
              <a:avLst/>
            </a:prstGeom>
            <a:noFill/>
          </p:spPr>
          <p:txBody>
            <a:bodyPr wrap="square" rtlCol="0">
              <a:spAutoFit/>
            </a:bodyPr>
            <a:lstStyle/>
            <a:p>
              <a:r>
                <a:rPr lang="en-US" altLang="zh-CN" sz="1200" dirty="0">
                  <a:latin typeface="微软雅黑" panose="020B0503020204020204" pitchFamily="34" charset="-122"/>
                </a:rPr>
                <a:t>7-0=7</a:t>
              </a:r>
              <a:endParaRPr lang="zh-CN" altLang="en-US" sz="1200" dirty="0">
                <a:latin typeface="微软雅黑" panose="020B0503020204020204" pitchFamily="34" charset="-122"/>
              </a:endParaRPr>
            </a:p>
          </p:txBody>
        </p:sp>
        <p:sp>
          <p:nvSpPr>
            <p:cNvPr id="58" name="文本框 57">
              <a:extLst>
                <a:ext uri="{FF2B5EF4-FFF2-40B4-BE49-F238E27FC236}">
                  <a16:creationId xmlns:a16="http://schemas.microsoft.com/office/drawing/2014/main" id="{B6AB5BAA-0F31-4FFD-9CE2-9317A36845D8}"/>
                </a:ext>
              </a:extLst>
            </p:cNvPr>
            <p:cNvSpPr txBox="1"/>
            <p:nvPr/>
          </p:nvSpPr>
          <p:spPr>
            <a:xfrm>
              <a:off x="8336261" y="2279284"/>
              <a:ext cx="179964" cy="276999"/>
            </a:xfrm>
            <a:prstGeom prst="rect">
              <a:avLst/>
            </a:prstGeom>
            <a:noFill/>
          </p:spPr>
          <p:txBody>
            <a:bodyPr wrap="square" rtlCol="0">
              <a:spAutoFit/>
            </a:bodyPr>
            <a:lstStyle/>
            <a:p>
              <a:r>
                <a:rPr lang="en-US" altLang="zh-CN" sz="1200" dirty="0">
                  <a:latin typeface="微软雅黑" panose="020B0503020204020204" pitchFamily="34" charset="-122"/>
                </a:rPr>
                <a:t>2</a:t>
              </a:r>
              <a:endParaRPr lang="zh-CN" altLang="en-US" sz="1200" dirty="0">
                <a:latin typeface="微软雅黑" panose="020B0503020204020204" pitchFamily="34" charset="-122"/>
              </a:endParaRPr>
            </a:p>
          </p:txBody>
        </p:sp>
        <p:sp>
          <p:nvSpPr>
            <p:cNvPr id="59" name="文本框 58">
              <a:extLst>
                <a:ext uri="{FF2B5EF4-FFF2-40B4-BE49-F238E27FC236}">
                  <a16:creationId xmlns:a16="http://schemas.microsoft.com/office/drawing/2014/main" id="{AA5EC796-7240-4550-9D3F-8D3E1E3305E0}"/>
                </a:ext>
              </a:extLst>
            </p:cNvPr>
            <p:cNvSpPr txBox="1"/>
            <p:nvPr/>
          </p:nvSpPr>
          <p:spPr>
            <a:xfrm>
              <a:off x="9138791" y="5794693"/>
              <a:ext cx="1011716" cy="276999"/>
            </a:xfrm>
            <a:prstGeom prst="rect">
              <a:avLst/>
            </a:prstGeom>
            <a:noFill/>
          </p:spPr>
          <p:txBody>
            <a:bodyPr wrap="square" rtlCol="0">
              <a:spAutoFit/>
            </a:bodyPr>
            <a:lstStyle/>
            <a:p>
              <a:r>
                <a:rPr lang="en-US" altLang="zh-CN" sz="1200" dirty="0">
                  <a:latin typeface="微软雅黑" panose="020B0503020204020204" pitchFamily="34" charset="-122"/>
                </a:rPr>
                <a:t>3-1=2</a:t>
              </a:r>
              <a:endParaRPr lang="zh-CN" altLang="en-US" sz="1200" dirty="0">
                <a:latin typeface="微软雅黑" panose="020B0503020204020204" pitchFamily="34" charset="-122"/>
              </a:endParaRPr>
            </a:p>
          </p:txBody>
        </p:sp>
        <p:sp>
          <p:nvSpPr>
            <p:cNvPr id="60" name="文本框 59">
              <a:extLst>
                <a:ext uri="{FF2B5EF4-FFF2-40B4-BE49-F238E27FC236}">
                  <a16:creationId xmlns:a16="http://schemas.microsoft.com/office/drawing/2014/main" id="{BDB6602F-F253-4FD3-93BD-6C746D8BE311}"/>
                </a:ext>
              </a:extLst>
            </p:cNvPr>
            <p:cNvSpPr txBox="1"/>
            <p:nvPr/>
          </p:nvSpPr>
          <p:spPr>
            <a:xfrm>
              <a:off x="8549277" y="5562612"/>
              <a:ext cx="788099" cy="276999"/>
            </a:xfrm>
            <a:prstGeom prst="rect">
              <a:avLst/>
            </a:prstGeom>
            <a:noFill/>
          </p:spPr>
          <p:txBody>
            <a:bodyPr wrap="square" rtlCol="0">
              <a:spAutoFit/>
            </a:bodyPr>
            <a:lstStyle/>
            <a:p>
              <a:r>
                <a:rPr lang="en-US" altLang="zh-CN" sz="1200" dirty="0">
                  <a:latin typeface="微软雅黑" panose="020B0503020204020204" pitchFamily="34" charset="-122"/>
                </a:rPr>
                <a:t>5-2=3</a:t>
              </a:r>
              <a:endParaRPr lang="zh-CN" altLang="en-US" sz="1200" dirty="0">
                <a:latin typeface="微软雅黑" panose="020B0503020204020204" pitchFamily="34" charset="-122"/>
              </a:endParaRPr>
            </a:p>
          </p:txBody>
        </p:sp>
        <p:sp>
          <p:nvSpPr>
            <p:cNvPr id="61" name="文本框 60">
              <a:extLst>
                <a:ext uri="{FF2B5EF4-FFF2-40B4-BE49-F238E27FC236}">
                  <a16:creationId xmlns:a16="http://schemas.microsoft.com/office/drawing/2014/main" id="{97837EA7-0C3F-4C09-933B-204C9566A29F}"/>
                </a:ext>
              </a:extLst>
            </p:cNvPr>
            <p:cNvSpPr txBox="1"/>
            <p:nvPr/>
          </p:nvSpPr>
          <p:spPr>
            <a:xfrm>
              <a:off x="8126140" y="5958225"/>
              <a:ext cx="1209353" cy="276999"/>
            </a:xfrm>
            <a:prstGeom prst="rect">
              <a:avLst/>
            </a:prstGeom>
            <a:noFill/>
          </p:spPr>
          <p:txBody>
            <a:bodyPr wrap="square" rtlCol="0">
              <a:spAutoFit/>
            </a:bodyPr>
            <a:lstStyle/>
            <a:p>
              <a:r>
                <a:rPr lang="en-US" altLang="zh-CN" sz="1200" dirty="0">
                  <a:latin typeface="微软雅黑" panose="020B0503020204020204" pitchFamily="34" charset="-122"/>
                </a:rPr>
                <a:t>2-1=1</a:t>
              </a:r>
              <a:endParaRPr lang="zh-CN" altLang="en-US" sz="1200" dirty="0">
                <a:latin typeface="微软雅黑" panose="020B0503020204020204" pitchFamily="34" charset="-122"/>
              </a:endParaRPr>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0A2E66B0-82C0-4C3E-90B2-E3F0B963F36A}"/>
                    </a:ext>
                  </a:extLst>
                </p:cNvPr>
                <p:cNvSpPr txBox="1"/>
                <p:nvPr/>
              </p:nvSpPr>
              <p:spPr>
                <a:xfrm>
                  <a:off x="7029777" y="2890543"/>
                  <a:ext cx="779204" cy="3124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𝑓</m:t>
                            </m:r>
                            <m:r>
                              <m:rPr>
                                <m:sty m:val="p"/>
                              </m:rPr>
                              <a:rPr lang="en-US" altLang="zh-CN" sz="1200" i="1">
                                <a:latin typeface="Cambria Math" panose="02040503050406030204" pitchFamily="18" charset="0"/>
                              </a:rPr>
                              <m:t>eature</m:t>
                            </m:r>
                          </m:e>
                          <m:sub>
                            <m:r>
                              <a:rPr lang="zh-CN" altLang="en-US" sz="1200" i="0">
                                <a:latin typeface="Cambria Math" panose="02040503050406030204" pitchFamily="18" charset="0"/>
                              </a:rPr>
                              <m:t>1</m:t>
                            </m:r>
                          </m:sub>
                        </m:sSub>
                      </m:oMath>
                    </m:oMathPara>
                  </a14:m>
                  <a:endParaRPr lang="zh-CN" altLang="en-US" sz="1200" dirty="0"/>
                </a:p>
              </p:txBody>
            </p:sp>
          </mc:Choice>
          <mc:Fallback xmlns="">
            <p:sp>
              <p:nvSpPr>
                <p:cNvPr id="63" name="文本框 62">
                  <a:extLst>
                    <a:ext uri="{FF2B5EF4-FFF2-40B4-BE49-F238E27FC236}">
                      <a16:creationId xmlns:a16="http://schemas.microsoft.com/office/drawing/2014/main" id="{0A2E66B0-82C0-4C3E-90B2-E3F0B963F36A}"/>
                    </a:ext>
                  </a:extLst>
                </p:cNvPr>
                <p:cNvSpPr txBox="1">
                  <a:spLocks noRot="1" noChangeAspect="1" noMove="1" noResize="1" noEditPoints="1" noAdjustHandles="1" noChangeArrowheads="1" noChangeShapeType="1" noTextEdit="1"/>
                </p:cNvSpPr>
                <p:nvPr/>
              </p:nvSpPr>
              <p:spPr>
                <a:xfrm>
                  <a:off x="7029777" y="2890543"/>
                  <a:ext cx="779204" cy="312400"/>
                </a:xfrm>
                <a:prstGeom prst="rect">
                  <a:avLst/>
                </a:prstGeom>
                <a:blipFill>
                  <a:blip r:embed="rId3"/>
                  <a:stretch>
                    <a:fillRect b="-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A8752DF6-EED3-4459-B24C-4FDBED36F93B}"/>
                    </a:ext>
                  </a:extLst>
                </p:cNvPr>
                <p:cNvSpPr txBox="1"/>
                <p:nvPr/>
              </p:nvSpPr>
              <p:spPr>
                <a:xfrm>
                  <a:off x="8212988" y="2862400"/>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m:t>
                            </m:r>
                            <m:r>
                              <a:rPr lang="zh-CN" altLang="en-US" sz="1600" i="0">
                                <a:latin typeface="Cambria Math" panose="02040503050406030204" pitchFamily="18" charset="0"/>
                              </a:rPr>
                              <m:t>1</m:t>
                            </m:r>
                          </m:sub>
                        </m:sSub>
                      </m:oMath>
                    </m:oMathPara>
                  </a14:m>
                  <a:endParaRPr lang="zh-CN" altLang="en-US" sz="1600" dirty="0"/>
                </a:p>
              </p:txBody>
            </p:sp>
          </mc:Choice>
          <mc:Fallback xmlns="">
            <p:sp>
              <p:nvSpPr>
                <p:cNvPr id="71" name="文本框 70">
                  <a:extLst>
                    <a:ext uri="{FF2B5EF4-FFF2-40B4-BE49-F238E27FC236}">
                      <a16:creationId xmlns:a16="http://schemas.microsoft.com/office/drawing/2014/main" id="{A8752DF6-EED3-4459-B24C-4FDBED36F93B}"/>
                    </a:ext>
                  </a:extLst>
                </p:cNvPr>
                <p:cNvSpPr txBox="1">
                  <a:spLocks noRot="1" noChangeAspect="1" noMove="1" noResize="1" noEditPoints="1" noAdjustHandles="1" noChangeArrowheads="1" noChangeShapeType="1" noTextEdit="1"/>
                </p:cNvSpPr>
                <p:nvPr/>
              </p:nvSpPr>
              <p:spPr>
                <a:xfrm>
                  <a:off x="8212988" y="2862400"/>
                  <a:ext cx="609600" cy="338554"/>
                </a:xfrm>
                <a:prstGeom prst="rect">
                  <a:avLst/>
                </a:prstGeom>
                <a:blipFill>
                  <a:blip r:embed="rId4"/>
                  <a:stretch>
                    <a:fillRect b="-102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5DD17039-05F1-49D0-BE97-7205F62350BE}"/>
                    </a:ext>
                  </a:extLst>
                </p:cNvPr>
                <p:cNvSpPr txBox="1"/>
                <p:nvPr/>
              </p:nvSpPr>
              <p:spPr>
                <a:xfrm>
                  <a:off x="8555858" y="2868910"/>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m:t>
                            </m:r>
                            <m:r>
                              <a:rPr lang="en-US" altLang="zh-CN" sz="1600" b="0" i="1" smtClean="0">
                                <a:latin typeface="Cambria Math" panose="02040503050406030204" pitchFamily="18" charset="0"/>
                              </a:rPr>
                              <m:t>2</m:t>
                            </m:r>
                          </m:sub>
                        </m:sSub>
                      </m:oMath>
                    </m:oMathPara>
                  </a14:m>
                  <a:endParaRPr lang="zh-CN" altLang="en-US" sz="1600" dirty="0"/>
                </a:p>
              </p:txBody>
            </p:sp>
          </mc:Choice>
          <mc:Fallback xmlns="">
            <p:sp>
              <p:nvSpPr>
                <p:cNvPr id="72" name="文本框 71">
                  <a:extLst>
                    <a:ext uri="{FF2B5EF4-FFF2-40B4-BE49-F238E27FC236}">
                      <a16:creationId xmlns:a16="http://schemas.microsoft.com/office/drawing/2014/main" id="{5DD17039-05F1-49D0-BE97-7205F62350BE}"/>
                    </a:ext>
                  </a:extLst>
                </p:cNvPr>
                <p:cNvSpPr txBox="1">
                  <a:spLocks noRot="1" noChangeAspect="1" noMove="1" noResize="1" noEditPoints="1" noAdjustHandles="1" noChangeArrowheads="1" noChangeShapeType="1" noTextEdit="1"/>
                </p:cNvSpPr>
                <p:nvPr/>
              </p:nvSpPr>
              <p:spPr>
                <a:xfrm>
                  <a:off x="8555858" y="2868910"/>
                  <a:ext cx="609600" cy="338554"/>
                </a:xfrm>
                <a:prstGeom prst="rect">
                  <a:avLst/>
                </a:prstGeom>
                <a:blipFill>
                  <a:blip r:embed="rId5"/>
                  <a:stretch>
                    <a:fillRect b="-102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F38D2B04-652C-4D8F-8990-426AC413172F}"/>
                    </a:ext>
                  </a:extLst>
                </p:cNvPr>
                <p:cNvSpPr txBox="1"/>
                <p:nvPr/>
              </p:nvSpPr>
              <p:spPr>
                <a:xfrm>
                  <a:off x="8863204" y="2864863"/>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23</m:t>
                            </m:r>
                          </m:sub>
                        </m:sSub>
                      </m:oMath>
                    </m:oMathPara>
                  </a14:m>
                  <a:endParaRPr lang="zh-CN" altLang="en-US" sz="1600" dirty="0"/>
                </a:p>
              </p:txBody>
            </p:sp>
          </mc:Choice>
          <mc:Fallback xmlns="">
            <p:sp>
              <p:nvSpPr>
                <p:cNvPr id="73" name="文本框 72">
                  <a:extLst>
                    <a:ext uri="{FF2B5EF4-FFF2-40B4-BE49-F238E27FC236}">
                      <a16:creationId xmlns:a16="http://schemas.microsoft.com/office/drawing/2014/main" id="{F38D2B04-652C-4D8F-8990-426AC413172F}"/>
                    </a:ext>
                  </a:extLst>
                </p:cNvPr>
                <p:cNvSpPr txBox="1">
                  <a:spLocks noRot="1" noChangeAspect="1" noMove="1" noResize="1" noEditPoints="1" noAdjustHandles="1" noChangeArrowheads="1" noChangeShapeType="1" noTextEdit="1"/>
                </p:cNvSpPr>
                <p:nvPr/>
              </p:nvSpPr>
              <p:spPr>
                <a:xfrm>
                  <a:off x="8863204" y="2864863"/>
                  <a:ext cx="609600" cy="338554"/>
                </a:xfrm>
                <a:prstGeom prst="rect">
                  <a:avLst/>
                </a:prstGeom>
                <a:blipFill>
                  <a:blip r:embed="rId6"/>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54EA36F7-4FDA-4AA1-9F17-5072BA525AAF}"/>
                    </a:ext>
                  </a:extLst>
                </p:cNvPr>
                <p:cNvSpPr txBox="1"/>
                <p:nvPr/>
              </p:nvSpPr>
              <p:spPr>
                <a:xfrm>
                  <a:off x="6042725" y="2875887"/>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1</m:t>
                            </m:r>
                            <m:r>
                              <a:rPr lang="zh-CN" altLang="en-US" sz="1600" i="0">
                                <a:latin typeface="Cambria Math" panose="02040503050406030204" pitchFamily="18" charset="0"/>
                              </a:rPr>
                              <m:t>1</m:t>
                            </m:r>
                          </m:sub>
                        </m:sSub>
                      </m:oMath>
                    </m:oMathPara>
                  </a14:m>
                  <a:endParaRPr lang="zh-CN" altLang="en-US" sz="1600" dirty="0"/>
                </a:p>
              </p:txBody>
            </p:sp>
          </mc:Choice>
          <mc:Fallback xmlns="">
            <p:sp>
              <p:nvSpPr>
                <p:cNvPr id="74" name="文本框 73">
                  <a:extLst>
                    <a:ext uri="{FF2B5EF4-FFF2-40B4-BE49-F238E27FC236}">
                      <a16:creationId xmlns:a16="http://schemas.microsoft.com/office/drawing/2014/main" id="{54EA36F7-4FDA-4AA1-9F17-5072BA525AAF}"/>
                    </a:ext>
                  </a:extLst>
                </p:cNvPr>
                <p:cNvSpPr txBox="1">
                  <a:spLocks noRot="1" noChangeAspect="1" noMove="1" noResize="1" noEditPoints="1" noAdjustHandles="1" noChangeArrowheads="1" noChangeShapeType="1" noTextEdit="1"/>
                </p:cNvSpPr>
                <p:nvPr/>
              </p:nvSpPr>
              <p:spPr>
                <a:xfrm>
                  <a:off x="6042725" y="2875887"/>
                  <a:ext cx="609600" cy="338554"/>
                </a:xfrm>
                <a:prstGeom prst="rect">
                  <a:avLst/>
                </a:prstGeom>
                <a:blipFill>
                  <a:blip r:embed="rId7"/>
                  <a:stretch>
                    <a:fillRect b="-102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D095F26F-FE10-4AAC-99C4-FF297DCE9294}"/>
                    </a:ext>
                  </a:extLst>
                </p:cNvPr>
                <p:cNvSpPr txBox="1"/>
                <p:nvPr/>
              </p:nvSpPr>
              <p:spPr>
                <a:xfrm>
                  <a:off x="6385595" y="2882397"/>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1</m:t>
                            </m:r>
                            <m:r>
                              <a:rPr lang="en-US" altLang="zh-CN" sz="1600" b="0" i="1" smtClean="0">
                                <a:latin typeface="Cambria Math" panose="02040503050406030204" pitchFamily="18" charset="0"/>
                              </a:rPr>
                              <m:t>2</m:t>
                            </m:r>
                          </m:sub>
                        </m:sSub>
                      </m:oMath>
                    </m:oMathPara>
                  </a14:m>
                  <a:endParaRPr lang="zh-CN" altLang="en-US" sz="1600" dirty="0"/>
                </a:p>
              </p:txBody>
            </p:sp>
          </mc:Choice>
          <mc:Fallback xmlns="">
            <p:sp>
              <p:nvSpPr>
                <p:cNvPr id="75" name="文本框 74">
                  <a:extLst>
                    <a:ext uri="{FF2B5EF4-FFF2-40B4-BE49-F238E27FC236}">
                      <a16:creationId xmlns:a16="http://schemas.microsoft.com/office/drawing/2014/main" id="{D095F26F-FE10-4AAC-99C4-FF297DCE9294}"/>
                    </a:ext>
                  </a:extLst>
                </p:cNvPr>
                <p:cNvSpPr txBox="1">
                  <a:spLocks noRot="1" noChangeAspect="1" noMove="1" noResize="1" noEditPoints="1" noAdjustHandles="1" noChangeArrowheads="1" noChangeShapeType="1" noTextEdit="1"/>
                </p:cNvSpPr>
                <p:nvPr/>
              </p:nvSpPr>
              <p:spPr>
                <a:xfrm>
                  <a:off x="6385595" y="2882397"/>
                  <a:ext cx="609600" cy="338554"/>
                </a:xfrm>
                <a:prstGeom prst="rect">
                  <a:avLst/>
                </a:prstGeom>
                <a:blipFill>
                  <a:blip r:embed="rId8"/>
                  <a:stretch>
                    <a:fillRect b="-102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D457A55E-4CA3-401E-81CB-1BCB1369BA7C}"/>
                    </a:ext>
                  </a:extLst>
                </p:cNvPr>
                <p:cNvSpPr txBox="1"/>
                <p:nvPr/>
              </p:nvSpPr>
              <p:spPr>
                <a:xfrm>
                  <a:off x="6020765" y="6364684"/>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1</m:t>
                            </m:r>
                            <m:r>
                              <a:rPr lang="zh-CN" altLang="en-US" sz="1600" i="0">
                                <a:latin typeface="Cambria Math" panose="02040503050406030204" pitchFamily="18" charset="0"/>
                              </a:rPr>
                              <m:t>1</m:t>
                            </m:r>
                          </m:sub>
                        </m:sSub>
                      </m:oMath>
                    </m:oMathPara>
                  </a14:m>
                  <a:endParaRPr lang="zh-CN" altLang="en-US" sz="1600" dirty="0"/>
                </a:p>
              </p:txBody>
            </p:sp>
          </mc:Choice>
          <mc:Fallback xmlns="">
            <p:sp>
              <p:nvSpPr>
                <p:cNvPr id="76" name="文本框 75">
                  <a:extLst>
                    <a:ext uri="{FF2B5EF4-FFF2-40B4-BE49-F238E27FC236}">
                      <a16:creationId xmlns:a16="http://schemas.microsoft.com/office/drawing/2014/main" id="{D457A55E-4CA3-401E-81CB-1BCB1369BA7C}"/>
                    </a:ext>
                  </a:extLst>
                </p:cNvPr>
                <p:cNvSpPr txBox="1">
                  <a:spLocks noRot="1" noChangeAspect="1" noMove="1" noResize="1" noEditPoints="1" noAdjustHandles="1" noChangeArrowheads="1" noChangeShapeType="1" noTextEdit="1"/>
                </p:cNvSpPr>
                <p:nvPr/>
              </p:nvSpPr>
              <p:spPr>
                <a:xfrm>
                  <a:off x="6020765" y="6364684"/>
                  <a:ext cx="609600" cy="338554"/>
                </a:xfrm>
                <a:prstGeom prst="rect">
                  <a:avLst/>
                </a:prstGeom>
                <a:blipFill>
                  <a:blip r:embed="rId9"/>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B7907885-D262-4AD4-B4B4-4E0CBCF74942}"/>
                    </a:ext>
                  </a:extLst>
                </p:cNvPr>
                <p:cNvSpPr txBox="1"/>
                <p:nvPr/>
              </p:nvSpPr>
              <p:spPr>
                <a:xfrm>
                  <a:off x="6363635" y="6371194"/>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1</m:t>
                            </m:r>
                            <m:r>
                              <a:rPr lang="en-US" altLang="zh-CN" sz="1600" b="0" i="1" smtClean="0">
                                <a:latin typeface="Cambria Math" panose="02040503050406030204" pitchFamily="18" charset="0"/>
                              </a:rPr>
                              <m:t>2</m:t>
                            </m:r>
                          </m:sub>
                        </m:sSub>
                      </m:oMath>
                    </m:oMathPara>
                  </a14:m>
                  <a:endParaRPr lang="zh-CN" altLang="en-US" sz="1600" dirty="0"/>
                </a:p>
              </p:txBody>
            </p:sp>
          </mc:Choice>
          <mc:Fallback xmlns="">
            <p:sp>
              <p:nvSpPr>
                <p:cNvPr id="77" name="文本框 76">
                  <a:extLst>
                    <a:ext uri="{FF2B5EF4-FFF2-40B4-BE49-F238E27FC236}">
                      <a16:creationId xmlns:a16="http://schemas.microsoft.com/office/drawing/2014/main" id="{B7907885-D262-4AD4-B4B4-4E0CBCF74942}"/>
                    </a:ext>
                  </a:extLst>
                </p:cNvPr>
                <p:cNvSpPr txBox="1">
                  <a:spLocks noRot="1" noChangeAspect="1" noMove="1" noResize="1" noEditPoints="1" noAdjustHandles="1" noChangeArrowheads="1" noChangeShapeType="1" noTextEdit="1"/>
                </p:cNvSpPr>
                <p:nvPr/>
              </p:nvSpPr>
              <p:spPr>
                <a:xfrm>
                  <a:off x="6363635" y="6371194"/>
                  <a:ext cx="609600" cy="338554"/>
                </a:xfrm>
                <a:prstGeom prst="rect">
                  <a:avLst/>
                </a:prstGeom>
                <a:blipFill>
                  <a:blip r:embed="rId10"/>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6095D77A-E983-455E-84ED-8834B297A664}"/>
                    </a:ext>
                  </a:extLst>
                </p:cNvPr>
                <p:cNvSpPr txBox="1"/>
                <p:nvPr/>
              </p:nvSpPr>
              <p:spPr>
                <a:xfrm>
                  <a:off x="6005389" y="4606439"/>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1</m:t>
                            </m:r>
                            <m:r>
                              <a:rPr lang="zh-CN" altLang="en-US" sz="1600" i="0">
                                <a:latin typeface="Cambria Math" panose="02040503050406030204" pitchFamily="18" charset="0"/>
                              </a:rPr>
                              <m:t>1</m:t>
                            </m:r>
                          </m:sub>
                        </m:sSub>
                      </m:oMath>
                    </m:oMathPara>
                  </a14:m>
                  <a:endParaRPr lang="zh-CN" altLang="en-US" sz="1600" dirty="0"/>
                </a:p>
              </p:txBody>
            </p:sp>
          </mc:Choice>
          <mc:Fallback xmlns="">
            <p:sp>
              <p:nvSpPr>
                <p:cNvPr id="78" name="文本框 77">
                  <a:extLst>
                    <a:ext uri="{FF2B5EF4-FFF2-40B4-BE49-F238E27FC236}">
                      <a16:creationId xmlns:a16="http://schemas.microsoft.com/office/drawing/2014/main" id="{6095D77A-E983-455E-84ED-8834B297A664}"/>
                    </a:ext>
                  </a:extLst>
                </p:cNvPr>
                <p:cNvSpPr txBox="1">
                  <a:spLocks noRot="1" noChangeAspect="1" noMove="1" noResize="1" noEditPoints="1" noAdjustHandles="1" noChangeArrowheads="1" noChangeShapeType="1" noTextEdit="1"/>
                </p:cNvSpPr>
                <p:nvPr/>
              </p:nvSpPr>
              <p:spPr>
                <a:xfrm>
                  <a:off x="6005389" y="4606439"/>
                  <a:ext cx="609600" cy="338554"/>
                </a:xfrm>
                <a:prstGeom prst="rect">
                  <a:avLst/>
                </a:prstGeom>
                <a:blipFill>
                  <a:blip r:embed="rId11"/>
                  <a:stretch>
                    <a:fillRect b="-102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C9E85D69-F4E5-423D-8AC8-A0D4C2A50035}"/>
                    </a:ext>
                  </a:extLst>
                </p:cNvPr>
                <p:cNvSpPr txBox="1"/>
                <p:nvPr/>
              </p:nvSpPr>
              <p:spPr>
                <a:xfrm>
                  <a:off x="6348259" y="4612949"/>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1</m:t>
                            </m:r>
                            <m:r>
                              <a:rPr lang="en-US" altLang="zh-CN" sz="1600" b="0" i="1" smtClean="0">
                                <a:latin typeface="Cambria Math" panose="02040503050406030204" pitchFamily="18" charset="0"/>
                              </a:rPr>
                              <m:t>2</m:t>
                            </m:r>
                          </m:sub>
                        </m:sSub>
                      </m:oMath>
                    </m:oMathPara>
                  </a14:m>
                  <a:endParaRPr lang="zh-CN" altLang="en-US" sz="1600" dirty="0"/>
                </a:p>
              </p:txBody>
            </p:sp>
          </mc:Choice>
          <mc:Fallback xmlns="">
            <p:sp>
              <p:nvSpPr>
                <p:cNvPr id="79" name="文本框 78">
                  <a:extLst>
                    <a:ext uri="{FF2B5EF4-FFF2-40B4-BE49-F238E27FC236}">
                      <a16:creationId xmlns:a16="http://schemas.microsoft.com/office/drawing/2014/main" id="{C9E85D69-F4E5-423D-8AC8-A0D4C2A50035}"/>
                    </a:ext>
                  </a:extLst>
                </p:cNvPr>
                <p:cNvSpPr txBox="1">
                  <a:spLocks noRot="1" noChangeAspect="1" noMove="1" noResize="1" noEditPoints="1" noAdjustHandles="1" noChangeArrowheads="1" noChangeShapeType="1" noTextEdit="1"/>
                </p:cNvSpPr>
                <p:nvPr/>
              </p:nvSpPr>
              <p:spPr>
                <a:xfrm>
                  <a:off x="6348259" y="4612949"/>
                  <a:ext cx="609600" cy="338554"/>
                </a:xfrm>
                <a:prstGeom prst="rect">
                  <a:avLst/>
                </a:prstGeom>
                <a:blipFill>
                  <a:blip r:embed="rId12"/>
                  <a:stretch>
                    <a:fillRect b="-102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5B11D35B-231B-4C2A-9962-E7F71A2A59FF}"/>
                    </a:ext>
                  </a:extLst>
                </p:cNvPr>
                <p:cNvSpPr txBox="1"/>
                <p:nvPr/>
              </p:nvSpPr>
              <p:spPr>
                <a:xfrm>
                  <a:off x="8213912" y="4607678"/>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m:t>
                            </m:r>
                            <m:r>
                              <a:rPr lang="zh-CN" altLang="en-US" sz="1600" i="0">
                                <a:latin typeface="Cambria Math" panose="02040503050406030204" pitchFamily="18" charset="0"/>
                              </a:rPr>
                              <m:t>1</m:t>
                            </m:r>
                          </m:sub>
                        </m:sSub>
                      </m:oMath>
                    </m:oMathPara>
                  </a14:m>
                  <a:endParaRPr lang="zh-CN" altLang="en-US" sz="1600" dirty="0"/>
                </a:p>
              </p:txBody>
            </p:sp>
          </mc:Choice>
          <mc:Fallback xmlns="">
            <p:sp>
              <p:nvSpPr>
                <p:cNvPr id="80" name="文本框 79">
                  <a:extLst>
                    <a:ext uri="{FF2B5EF4-FFF2-40B4-BE49-F238E27FC236}">
                      <a16:creationId xmlns:a16="http://schemas.microsoft.com/office/drawing/2014/main" id="{5B11D35B-231B-4C2A-9962-E7F71A2A59FF}"/>
                    </a:ext>
                  </a:extLst>
                </p:cNvPr>
                <p:cNvSpPr txBox="1">
                  <a:spLocks noRot="1" noChangeAspect="1" noMove="1" noResize="1" noEditPoints="1" noAdjustHandles="1" noChangeArrowheads="1" noChangeShapeType="1" noTextEdit="1"/>
                </p:cNvSpPr>
                <p:nvPr/>
              </p:nvSpPr>
              <p:spPr>
                <a:xfrm>
                  <a:off x="8213912" y="4607678"/>
                  <a:ext cx="609600" cy="338554"/>
                </a:xfrm>
                <a:prstGeom prst="rect">
                  <a:avLst/>
                </a:prstGeom>
                <a:blipFill>
                  <a:blip r:embed="rId13"/>
                  <a:stretch>
                    <a:fillRect b="-102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B590BF42-F2B1-4EA0-BBD2-F87B1760BF04}"/>
                    </a:ext>
                  </a:extLst>
                </p:cNvPr>
                <p:cNvSpPr txBox="1"/>
                <p:nvPr/>
              </p:nvSpPr>
              <p:spPr>
                <a:xfrm>
                  <a:off x="8556782" y="4614188"/>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m:t>
                            </m:r>
                            <m:r>
                              <a:rPr lang="en-US" altLang="zh-CN" sz="1600" b="0" i="1" smtClean="0">
                                <a:latin typeface="Cambria Math" panose="02040503050406030204" pitchFamily="18" charset="0"/>
                              </a:rPr>
                              <m:t>2</m:t>
                            </m:r>
                          </m:sub>
                        </m:sSub>
                      </m:oMath>
                    </m:oMathPara>
                  </a14:m>
                  <a:endParaRPr lang="zh-CN" altLang="en-US" sz="1600" dirty="0"/>
                </a:p>
              </p:txBody>
            </p:sp>
          </mc:Choice>
          <mc:Fallback xmlns="">
            <p:sp>
              <p:nvSpPr>
                <p:cNvPr id="81" name="文本框 80">
                  <a:extLst>
                    <a:ext uri="{FF2B5EF4-FFF2-40B4-BE49-F238E27FC236}">
                      <a16:creationId xmlns:a16="http://schemas.microsoft.com/office/drawing/2014/main" id="{B590BF42-F2B1-4EA0-BBD2-F87B1760BF04}"/>
                    </a:ext>
                  </a:extLst>
                </p:cNvPr>
                <p:cNvSpPr txBox="1">
                  <a:spLocks noRot="1" noChangeAspect="1" noMove="1" noResize="1" noEditPoints="1" noAdjustHandles="1" noChangeArrowheads="1" noChangeShapeType="1" noTextEdit="1"/>
                </p:cNvSpPr>
                <p:nvPr/>
              </p:nvSpPr>
              <p:spPr>
                <a:xfrm>
                  <a:off x="8556782" y="4614188"/>
                  <a:ext cx="609600" cy="338554"/>
                </a:xfrm>
                <a:prstGeom prst="rect">
                  <a:avLst/>
                </a:prstGeom>
                <a:blipFill>
                  <a:blip r:embed="rId14"/>
                  <a:stretch>
                    <a:fillRect b="-102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D13A5BA2-ECA8-4F26-843A-6CEC26FF6155}"/>
                    </a:ext>
                  </a:extLst>
                </p:cNvPr>
                <p:cNvSpPr txBox="1"/>
                <p:nvPr/>
              </p:nvSpPr>
              <p:spPr>
                <a:xfrm>
                  <a:off x="8864128" y="4610141"/>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23</m:t>
                            </m:r>
                          </m:sub>
                        </m:sSub>
                      </m:oMath>
                    </m:oMathPara>
                  </a14:m>
                  <a:endParaRPr lang="zh-CN" altLang="en-US" sz="1600" dirty="0"/>
                </a:p>
              </p:txBody>
            </p:sp>
          </mc:Choice>
          <mc:Fallback xmlns="">
            <p:sp>
              <p:nvSpPr>
                <p:cNvPr id="82" name="文本框 81">
                  <a:extLst>
                    <a:ext uri="{FF2B5EF4-FFF2-40B4-BE49-F238E27FC236}">
                      <a16:creationId xmlns:a16="http://schemas.microsoft.com/office/drawing/2014/main" id="{D13A5BA2-ECA8-4F26-843A-6CEC26FF6155}"/>
                    </a:ext>
                  </a:extLst>
                </p:cNvPr>
                <p:cNvSpPr txBox="1">
                  <a:spLocks noRot="1" noChangeAspect="1" noMove="1" noResize="1" noEditPoints="1" noAdjustHandles="1" noChangeArrowheads="1" noChangeShapeType="1" noTextEdit="1"/>
                </p:cNvSpPr>
                <p:nvPr/>
              </p:nvSpPr>
              <p:spPr>
                <a:xfrm>
                  <a:off x="8864128" y="4610141"/>
                  <a:ext cx="609600" cy="338554"/>
                </a:xfrm>
                <a:prstGeom prst="rect">
                  <a:avLst/>
                </a:prstGeom>
                <a:blipFill>
                  <a:blip r:embed="rId15"/>
                  <a:stretch>
                    <a:fillRect b="-122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7D585C3A-FF0E-4D87-BCD9-535852D613DB}"/>
                    </a:ext>
                  </a:extLst>
                </p:cNvPr>
                <p:cNvSpPr txBox="1"/>
                <p:nvPr/>
              </p:nvSpPr>
              <p:spPr>
                <a:xfrm>
                  <a:off x="8290082" y="6365887"/>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m:t>
                            </m:r>
                            <m:r>
                              <a:rPr lang="zh-CN" altLang="en-US" sz="1600" i="0">
                                <a:latin typeface="Cambria Math" panose="02040503050406030204" pitchFamily="18" charset="0"/>
                              </a:rPr>
                              <m:t>1</m:t>
                            </m:r>
                          </m:sub>
                        </m:sSub>
                      </m:oMath>
                    </m:oMathPara>
                  </a14:m>
                  <a:endParaRPr lang="zh-CN" altLang="en-US" sz="1600" dirty="0"/>
                </a:p>
              </p:txBody>
            </p:sp>
          </mc:Choice>
          <mc:Fallback xmlns="">
            <p:sp>
              <p:nvSpPr>
                <p:cNvPr id="83" name="文本框 82">
                  <a:extLst>
                    <a:ext uri="{FF2B5EF4-FFF2-40B4-BE49-F238E27FC236}">
                      <a16:creationId xmlns:a16="http://schemas.microsoft.com/office/drawing/2014/main" id="{7D585C3A-FF0E-4D87-BCD9-535852D613DB}"/>
                    </a:ext>
                  </a:extLst>
                </p:cNvPr>
                <p:cNvSpPr txBox="1">
                  <a:spLocks noRot="1" noChangeAspect="1" noMove="1" noResize="1" noEditPoints="1" noAdjustHandles="1" noChangeArrowheads="1" noChangeShapeType="1" noTextEdit="1"/>
                </p:cNvSpPr>
                <p:nvPr/>
              </p:nvSpPr>
              <p:spPr>
                <a:xfrm>
                  <a:off x="8290082" y="6365887"/>
                  <a:ext cx="609600" cy="338554"/>
                </a:xfrm>
                <a:prstGeom prst="rect">
                  <a:avLst/>
                </a:prstGeom>
                <a:blipFill>
                  <a:blip r:embed="rId16"/>
                  <a:stretch>
                    <a:fillRect b="-102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F6764E29-3BB7-48BB-88A9-D230E860075A}"/>
                    </a:ext>
                  </a:extLst>
                </p:cNvPr>
                <p:cNvSpPr txBox="1"/>
                <p:nvPr/>
              </p:nvSpPr>
              <p:spPr>
                <a:xfrm>
                  <a:off x="8632952" y="6372397"/>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m:t>
                            </m:r>
                            <m:r>
                              <a:rPr lang="en-US" altLang="zh-CN" sz="1600" b="0" i="1" smtClean="0">
                                <a:latin typeface="Cambria Math" panose="02040503050406030204" pitchFamily="18" charset="0"/>
                              </a:rPr>
                              <m:t>2</m:t>
                            </m:r>
                          </m:sub>
                        </m:sSub>
                      </m:oMath>
                    </m:oMathPara>
                  </a14:m>
                  <a:endParaRPr lang="zh-CN" altLang="en-US" sz="1600" dirty="0"/>
                </a:p>
              </p:txBody>
            </p:sp>
          </mc:Choice>
          <mc:Fallback xmlns="">
            <p:sp>
              <p:nvSpPr>
                <p:cNvPr id="84" name="文本框 83">
                  <a:extLst>
                    <a:ext uri="{FF2B5EF4-FFF2-40B4-BE49-F238E27FC236}">
                      <a16:creationId xmlns:a16="http://schemas.microsoft.com/office/drawing/2014/main" id="{F6764E29-3BB7-48BB-88A9-D230E860075A}"/>
                    </a:ext>
                  </a:extLst>
                </p:cNvPr>
                <p:cNvSpPr txBox="1">
                  <a:spLocks noRot="1" noChangeAspect="1" noMove="1" noResize="1" noEditPoints="1" noAdjustHandles="1" noChangeArrowheads="1" noChangeShapeType="1" noTextEdit="1"/>
                </p:cNvSpPr>
                <p:nvPr/>
              </p:nvSpPr>
              <p:spPr>
                <a:xfrm>
                  <a:off x="8632952" y="6372397"/>
                  <a:ext cx="609600" cy="338554"/>
                </a:xfrm>
                <a:prstGeom prst="rect">
                  <a:avLst/>
                </a:prstGeom>
                <a:blipFill>
                  <a:blip r:embed="rId17"/>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CB1CC84C-B521-4B0A-A3C6-CC5C7E081A0C}"/>
                    </a:ext>
                  </a:extLst>
                </p:cNvPr>
                <p:cNvSpPr txBox="1"/>
                <p:nvPr/>
              </p:nvSpPr>
              <p:spPr>
                <a:xfrm>
                  <a:off x="8940298" y="6368350"/>
                  <a:ext cx="6096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23</m:t>
                            </m:r>
                          </m:sub>
                        </m:sSub>
                      </m:oMath>
                    </m:oMathPara>
                  </a14:m>
                  <a:endParaRPr lang="zh-CN" altLang="en-US" sz="1600" dirty="0"/>
                </a:p>
              </p:txBody>
            </p:sp>
          </mc:Choice>
          <mc:Fallback xmlns="">
            <p:sp>
              <p:nvSpPr>
                <p:cNvPr id="85" name="文本框 84">
                  <a:extLst>
                    <a:ext uri="{FF2B5EF4-FFF2-40B4-BE49-F238E27FC236}">
                      <a16:creationId xmlns:a16="http://schemas.microsoft.com/office/drawing/2014/main" id="{CB1CC84C-B521-4B0A-A3C6-CC5C7E081A0C}"/>
                    </a:ext>
                  </a:extLst>
                </p:cNvPr>
                <p:cNvSpPr txBox="1">
                  <a:spLocks noRot="1" noChangeAspect="1" noMove="1" noResize="1" noEditPoints="1" noAdjustHandles="1" noChangeArrowheads="1" noChangeShapeType="1" noTextEdit="1"/>
                </p:cNvSpPr>
                <p:nvPr/>
              </p:nvSpPr>
              <p:spPr>
                <a:xfrm>
                  <a:off x="8940298" y="6368350"/>
                  <a:ext cx="609600" cy="338554"/>
                </a:xfrm>
                <a:prstGeom prst="rect">
                  <a:avLst/>
                </a:prstGeom>
                <a:blipFill>
                  <a:blip r:embed="rId18"/>
                  <a:stretch>
                    <a:fillRect b="-10204"/>
                  </a:stretch>
                </a:blipFill>
              </p:spPr>
              <p:txBody>
                <a:bodyPr/>
                <a:lstStyle/>
                <a:p>
                  <a:r>
                    <a:rPr lang="zh-CN" altLang="en-US">
                      <a:noFill/>
                    </a:rPr>
                    <a:t> </a:t>
                  </a:r>
                </a:p>
              </p:txBody>
            </p:sp>
          </mc:Fallback>
        </mc:AlternateContent>
      </p:grpSp>
      <p:sp>
        <p:nvSpPr>
          <p:cNvPr id="89" name="文本框 88">
            <a:extLst>
              <a:ext uri="{FF2B5EF4-FFF2-40B4-BE49-F238E27FC236}">
                <a16:creationId xmlns:a16="http://schemas.microsoft.com/office/drawing/2014/main" id="{3E1B0798-F73D-4D7D-9B7F-F4C4370A0C04}"/>
              </a:ext>
            </a:extLst>
          </p:cNvPr>
          <p:cNvSpPr txBox="1"/>
          <p:nvPr/>
        </p:nvSpPr>
        <p:spPr>
          <a:xfrm>
            <a:off x="570112" y="2326952"/>
            <a:ext cx="3838835" cy="1938992"/>
          </a:xfrm>
          <a:prstGeom prst="rect">
            <a:avLst/>
          </a:prstGeom>
          <a:noFill/>
        </p:spPr>
        <p:txBody>
          <a:bodyPr wrap="square">
            <a:spAutoFit/>
          </a:bodyPr>
          <a:lstStyle/>
          <a:p>
            <a:r>
              <a:rPr lang="zh-CN" altLang="en-US" i="0" dirty="0">
                <a:effectLst/>
                <a:latin typeface="Lato"/>
              </a:rPr>
              <a:t>直方图算法还可以进一步加速：一个叶子节点的直方图可以由它的父亲节点的直方图与其兄弟的直方图做差得到。</a:t>
            </a:r>
            <a:endParaRPr lang="zh-CN" altLang="en-US" dirty="0"/>
          </a:p>
        </p:txBody>
      </p:sp>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C5240AF2-2D3C-49DE-882E-3092C18C1086}"/>
                  </a:ext>
                </a:extLst>
              </p:cNvPr>
              <p:cNvSpPr txBox="1"/>
              <p:nvPr/>
            </p:nvSpPr>
            <p:spPr>
              <a:xfrm>
                <a:off x="8431248" y="4493623"/>
                <a:ext cx="72141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𝑓</m:t>
                          </m:r>
                          <m:r>
                            <m:rPr>
                              <m:sty m:val="p"/>
                            </m:rPr>
                            <a:rPr lang="en-US" altLang="zh-CN" sz="1200" i="1">
                              <a:latin typeface="Cambria Math" panose="02040503050406030204" pitchFamily="18" charset="0"/>
                            </a:rPr>
                            <m:t>eature</m:t>
                          </m:r>
                        </m:e>
                        <m:sub>
                          <m:r>
                            <a:rPr lang="zh-CN" altLang="en-US" sz="1200" i="0">
                              <a:latin typeface="Cambria Math" panose="02040503050406030204" pitchFamily="18" charset="0"/>
                            </a:rPr>
                            <m:t>1</m:t>
                          </m:r>
                        </m:sub>
                      </m:sSub>
                    </m:oMath>
                  </m:oMathPara>
                </a14:m>
                <a:endParaRPr lang="zh-CN" altLang="en-US" sz="1200" dirty="0"/>
              </a:p>
            </p:txBody>
          </p:sp>
        </mc:Choice>
        <mc:Fallback xmlns="">
          <p:sp>
            <p:nvSpPr>
              <p:cNvPr id="90" name="文本框 89">
                <a:extLst>
                  <a:ext uri="{FF2B5EF4-FFF2-40B4-BE49-F238E27FC236}">
                    <a16:creationId xmlns:a16="http://schemas.microsoft.com/office/drawing/2014/main" id="{C5240AF2-2D3C-49DE-882E-3092C18C1086}"/>
                  </a:ext>
                </a:extLst>
              </p:cNvPr>
              <p:cNvSpPr txBox="1">
                <a:spLocks noRot="1" noChangeAspect="1" noMove="1" noResize="1" noEditPoints="1" noAdjustHandles="1" noChangeArrowheads="1" noChangeShapeType="1" noTextEdit="1"/>
              </p:cNvSpPr>
              <p:nvPr/>
            </p:nvSpPr>
            <p:spPr>
              <a:xfrm>
                <a:off x="8431248" y="4493623"/>
                <a:ext cx="721418" cy="276999"/>
              </a:xfrm>
              <a:prstGeom prst="rect">
                <a:avLst/>
              </a:prstGeom>
              <a:blipFill>
                <a:blip r:embed="rId19"/>
                <a:stretch>
                  <a:fillRect b="-65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4F0A997C-35F5-4D43-B43E-47D477D28E32}"/>
                  </a:ext>
                </a:extLst>
              </p:cNvPr>
              <p:cNvSpPr txBox="1"/>
              <p:nvPr/>
            </p:nvSpPr>
            <p:spPr>
              <a:xfrm>
                <a:off x="8452020" y="6100277"/>
                <a:ext cx="72141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𝑓</m:t>
                          </m:r>
                          <m:r>
                            <m:rPr>
                              <m:sty m:val="p"/>
                            </m:rPr>
                            <a:rPr lang="en-US" altLang="zh-CN" sz="1200" i="1">
                              <a:latin typeface="Cambria Math" panose="02040503050406030204" pitchFamily="18" charset="0"/>
                            </a:rPr>
                            <m:t>eature</m:t>
                          </m:r>
                        </m:e>
                        <m:sub>
                          <m:r>
                            <a:rPr lang="zh-CN" altLang="en-US" sz="1200" i="0">
                              <a:latin typeface="Cambria Math" panose="02040503050406030204" pitchFamily="18" charset="0"/>
                            </a:rPr>
                            <m:t>1</m:t>
                          </m:r>
                        </m:sub>
                      </m:sSub>
                    </m:oMath>
                  </m:oMathPara>
                </a14:m>
                <a:endParaRPr lang="zh-CN" altLang="en-US" sz="1200" dirty="0"/>
              </a:p>
            </p:txBody>
          </p:sp>
        </mc:Choice>
        <mc:Fallback xmlns="">
          <p:sp>
            <p:nvSpPr>
              <p:cNvPr id="91" name="文本框 90">
                <a:extLst>
                  <a:ext uri="{FF2B5EF4-FFF2-40B4-BE49-F238E27FC236}">
                    <a16:creationId xmlns:a16="http://schemas.microsoft.com/office/drawing/2014/main" id="{4F0A997C-35F5-4D43-B43E-47D477D28E32}"/>
                  </a:ext>
                </a:extLst>
              </p:cNvPr>
              <p:cNvSpPr txBox="1">
                <a:spLocks noRot="1" noChangeAspect="1" noMove="1" noResize="1" noEditPoints="1" noAdjustHandles="1" noChangeArrowheads="1" noChangeShapeType="1" noTextEdit="1"/>
              </p:cNvSpPr>
              <p:nvPr/>
            </p:nvSpPr>
            <p:spPr>
              <a:xfrm>
                <a:off x="8452020" y="6100277"/>
                <a:ext cx="721418" cy="276999"/>
              </a:xfrm>
              <a:prstGeom prst="rect">
                <a:avLst/>
              </a:prstGeom>
              <a:blipFill>
                <a:blip r:embed="rId20"/>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8357C6CF-8203-47A5-83AC-AF7E982DBE8B}"/>
                  </a:ext>
                </a:extLst>
              </p:cNvPr>
              <p:cNvSpPr txBox="1"/>
              <p:nvPr/>
            </p:nvSpPr>
            <p:spPr>
              <a:xfrm>
                <a:off x="10606086" y="2984032"/>
                <a:ext cx="72141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𝑓</m:t>
                          </m:r>
                          <m:r>
                            <m:rPr>
                              <m:sty m:val="p"/>
                            </m:rPr>
                            <a:rPr lang="en-US" altLang="zh-CN" sz="1200" i="1">
                              <a:latin typeface="Cambria Math" panose="02040503050406030204" pitchFamily="18" charset="0"/>
                            </a:rPr>
                            <m:t>eature</m:t>
                          </m:r>
                        </m:e>
                        <m:sub>
                          <m:r>
                            <a:rPr lang="en-US" altLang="zh-CN" sz="1200" b="0" i="0" smtClean="0">
                              <a:latin typeface="Cambria Math" panose="02040503050406030204" pitchFamily="18" charset="0"/>
                            </a:rPr>
                            <m:t>2</m:t>
                          </m:r>
                        </m:sub>
                      </m:sSub>
                    </m:oMath>
                  </m:oMathPara>
                </a14:m>
                <a:endParaRPr lang="zh-CN" altLang="en-US" sz="1200" dirty="0"/>
              </a:p>
            </p:txBody>
          </p:sp>
        </mc:Choice>
        <mc:Fallback xmlns="">
          <p:sp>
            <p:nvSpPr>
              <p:cNvPr id="92" name="文本框 91">
                <a:extLst>
                  <a:ext uri="{FF2B5EF4-FFF2-40B4-BE49-F238E27FC236}">
                    <a16:creationId xmlns:a16="http://schemas.microsoft.com/office/drawing/2014/main" id="{8357C6CF-8203-47A5-83AC-AF7E982DBE8B}"/>
                  </a:ext>
                </a:extLst>
              </p:cNvPr>
              <p:cNvSpPr txBox="1">
                <a:spLocks noRot="1" noChangeAspect="1" noMove="1" noResize="1" noEditPoints="1" noAdjustHandles="1" noChangeArrowheads="1" noChangeShapeType="1" noTextEdit="1"/>
              </p:cNvSpPr>
              <p:nvPr/>
            </p:nvSpPr>
            <p:spPr>
              <a:xfrm>
                <a:off x="10606086" y="2984032"/>
                <a:ext cx="721418" cy="276999"/>
              </a:xfrm>
              <a:prstGeom prst="rect">
                <a:avLst/>
              </a:prstGeom>
              <a:blipFill>
                <a:blip r:embed="rId21"/>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BDCDAB65-02DC-4E9C-B4EE-09CAB68FFFED}"/>
                  </a:ext>
                </a:extLst>
              </p:cNvPr>
              <p:cNvSpPr txBox="1"/>
              <p:nvPr/>
            </p:nvSpPr>
            <p:spPr>
              <a:xfrm>
                <a:off x="10649552" y="6112583"/>
                <a:ext cx="72141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𝑓</m:t>
                          </m:r>
                          <m:r>
                            <m:rPr>
                              <m:sty m:val="p"/>
                            </m:rPr>
                            <a:rPr lang="en-US" altLang="zh-CN" sz="1200" i="1">
                              <a:latin typeface="Cambria Math" panose="02040503050406030204" pitchFamily="18" charset="0"/>
                            </a:rPr>
                            <m:t>eature</m:t>
                          </m:r>
                        </m:e>
                        <m:sub>
                          <m:r>
                            <a:rPr lang="en-US" altLang="zh-CN" sz="1200" b="0" i="0" smtClean="0">
                              <a:latin typeface="Cambria Math" panose="02040503050406030204" pitchFamily="18" charset="0"/>
                            </a:rPr>
                            <m:t>2</m:t>
                          </m:r>
                        </m:sub>
                      </m:sSub>
                    </m:oMath>
                  </m:oMathPara>
                </a14:m>
                <a:endParaRPr lang="zh-CN" altLang="en-US" sz="1200" dirty="0"/>
              </a:p>
            </p:txBody>
          </p:sp>
        </mc:Choice>
        <mc:Fallback xmlns="">
          <p:sp>
            <p:nvSpPr>
              <p:cNvPr id="93" name="文本框 92">
                <a:extLst>
                  <a:ext uri="{FF2B5EF4-FFF2-40B4-BE49-F238E27FC236}">
                    <a16:creationId xmlns:a16="http://schemas.microsoft.com/office/drawing/2014/main" id="{BDCDAB65-02DC-4E9C-B4EE-09CAB68FFFED}"/>
                  </a:ext>
                </a:extLst>
              </p:cNvPr>
              <p:cNvSpPr txBox="1">
                <a:spLocks noRot="1" noChangeAspect="1" noMove="1" noResize="1" noEditPoints="1" noAdjustHandles="1" noChangeArrowheads="1" noChangeShapeType="1" noTextEdit="1"/>
              </p:cNvSpPr>
              <p:nvPr/>
            </p:nvSpPr>
            <p:spPr>
              <a:xfrm>
                <a:off x="10649552" y="6112583"/>
                <a:ext cx="721418" cy="276999"/>
              </a:xfrm>
              <a:prstGeom prst="rect">
                <a:avLst/>
              </a:prstGeom>
              <a:blipFill>
                <a:blip r:embed="rId21"/>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ED38DE88-2D52-4758-982E-8969538D77E1}"/>
                  </a:ext>
                </a:extLst>
              </p:cNvPr>
              <p:cNvSpPr txBox="1"/>
              <p:nvPr/>
            </p:nvSpPr>
            <p:spPr>
              <a:xfrm>
                <a:off x="10633011" y="4497535"/>
                <a:ext cx="72141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𝑓</m:t>
                          </m:r>
                          <m:r>
                            <m:rPr>
                              <m:sty m:val="p"/>
                            </m:rPr>
                            <a:rPr lang="en-US" altLang="zh-CN" sz="1200" i="1">
                              <a:latin typeface="Cambria Math" panose="02040503050406030204" pitchFamily="18" charset="0"/>
                            </a:rPr>
                            <m:t>eature</m:t>
                          </m:r>
                        </m:e>
                        <m:sub>
                          <m:r>
                            <a:rPr lang="en-US" altLang="zh-CN" sz="1200" b="0" i="0" smtClean="0">
                              <a:latin typeface="Cambria Math" panose="02040503050406030204" pitchFamily="18" charset="0"/>
                            </a:rPr>
                            <m:t>2</m:t>
                          </m:r>
                        </m:sub>
                      </m:sSub>
                    </m:oMath>
                  </m:oMathPara>
                </a14:m>
                <a:endParaRPr lang="zh-CN" altLang="en-US" sz="1200" dirty="0"/>
              </a:p>
            </p:txBody>
          </p:sp>
        </mc:Choice>
        <mc:Fallback xmlns="">
          <p:sp>
            <p:nvSpPr>
              <p:cNvPr id="94" name="文本框 93">
                <a:extLst>
                  <a:ext uri="{FF2B5EF4-FFF2-40B4-BE49-F238E27FC236}">
                    <a16:creationId xmlns:a16="http://schemas.microsoft.com/office/drawing/2014/main" id="{ED38DE88-2D52-4758-982E-8969538D77E1}"/>
                  </a:ext>
                </a:extLst>
              </p:cNvPr>
              <p:cNvSpPr txBox="1">
                <a:spLocks noRot="1" noChangeAspect="1" noMove="1" noResize="1" noEditPoints="1" noAdjustHandles="1" noChangeArrowheads="1" noChangeShapeType="1" noTextEdit="1"/>
              </p:cNvSpPr>
              <p:nvPr/>
            </p:nvSpPr>
            <p:spPr>
              <a:xfrm>
                <a:off x="10633011" y="4497535"/>
                <a:ext cx="721418" cy="276999"/>
              </a:xfrm>
              <a:prstGeom prst="rect">
                <a:avLst/>
              </a:prstGeom>
              <a:blipFill>
                <a:blip r:embed="rId22"/>
                <a:stretch>
                  <a:fillRect b="-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14110505"/>
      </p:ext>
    </p:extLst>
  </p:cSld>
  <p:clrMapOvr>
    <a:masterClrMapping/>
  </p:clrMapOvr>
  <mc:AlternateContent xmlns:mc="http://schemas.openxmlformats.org/markup-compatibility/2006" xmlns:p14="http://schemas.microsoft.com/office/powerpoint/2010/main">
    <mc:Choice Requires="p14">
      <p:transition spd="slow" p14:dur="999" advTm="8005"/>
    </mc:Choice>
    <mc:Fallback xmlns="">
      <p:transition spd="slow" advTm="8005"/>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4.LightGBM</a:t>
            </a:r>
            <a:endParaRPr lang="zh-CN" altLang="en-US" dirty="0">
              <a:solidFill>
                <a:schemeClr val="tx1"/>
              </a:solidFill>
            </a:endParaRPr>
          </a:p>
        </p:txBody>
      </p:sp>
      <p:sp>
        <p:nvSpPr>
          <p:cNvPr id="8" name="文本框 7">
            <a:extLst>
              <a:ext uri="{FF2B5EF4-FFF2-40B4-BE49-F238E27FC236}">
                <a16:creationId xmlns:a16="http://schemas.microsoft.com/office/drawing/2014/main" id="{A32F78D6-68AF-4A75-8399-473DB41D5BDB}"/>
              </a:ext>
            </a:extLst>
          </p:cNvPr>
          <p:cNvSpPr txBox="1"/>
          <p:nvPr/>
        </p:nvSpPr>
        <p:spPr>
          <a:xfrm>
            <a:off x="981135" y="6373190"/>
            <a:ext cx="5391530" cy="400110"/>
          </a:xfrm>
          <a:prstGeom prst="rect">
            <a:avLst/>
          </a:prstGeom>
          <a:noFill/>
        </p:spPr>
        <p:txBody>
          <a:bodyPr wrap="square">
            <a:spAutoFit/>
          </a:bodyPr>
          <a:lstStyle/>
          <a:p>
            <a:pPr algn="l"/>
            <a:r>
              <a:rPr lang="zh-CN" altLang="en-US" sz="2000" b="1" i="0" dirty="0">
                <a:solidFill>
                  <a:srgbClr val="121212"/>
                </a:solidFill>
                <a:effectLst/>
                <a:latin typeface="-apple-system"/>
              </a:rPr>
              <a:t>建树过程的两种方法：</a:t>
            </a:r>
            <a:r>
              <a:rPr lang="en-US" altLang="zh-CN" sz="2000" b="1" i="0" dirty="0">
                <a:solidFill>
                  <a:srgbClr val="121212"/>
                </a:solidFill>
                <a:effectLst/>
                <a:latin typeface="-apple-system"/>
              </a:rPr>
              <a:t>Level-wise</a:t>
            </a:r>
            <a:r>
              <a:rPr lang="zh-CN" altLang="en-US" sz="2000" b="1" i="0" dirty="0">
                <a:solidFill>
                  <a:srgbClr val="121212"/>
                </a:solidFill>
                <a:effectLst/>
                <a:latin typeface="-apple-system"/>
              </a:rPr>
              <a:t>和</a:t>
            </a:r>
            <a:r>
              <a:rPr lang="en-US" altLang="zh-CN" sz="2000" b="1" i="0" dirty="0">
                <a:solidFill>
                  <a:srgbClr val="121212"/>
                </a:solidFill>
                <a:effectLst/>
                <a:latin typeface="-apple-system"/>
              </a:rPr>
              <a:t>Leaf-wise</a:t>
            </a:r>
            <a:endParaRPr lang="zh-CN" altLang="en-US" sz="2000" dirty="0"/>
          </a:p>
        </p:txBody>
      </p:sp>
      <p:sp>
        <p:nvSpPr>
          <p:cNvPr id="10" name="文本框 9">
            <a:extLst>
              <a:ext uri="{FF2B5EF4-FFF2-40B4-BE49-F238E27FC236}">
                <a16:creationId xmlns:a16="http://schemas.microsoft.com/office/drawing/2014/main" id="{64EDD3A5-A703-46B1-B7CB-0F0DADA624A8}"/>
              </a:ext>
            </a:extLst>
          </p:cNvPr>
          <p:cNvSpPr txBox="1"/>
          <p:nvPr/>
        </p:nvSpPr>
        <p:spPr>
          <a:xfrm>
            <a:off x="7824539" y="1899827"/>
            <a:ext cx="3920839" cy="1569660"/>
          </a:xfrm>
          <a:prstGeom prst="rect">
            <a:avLst/>
          </a:prstGeom>
          <a:noFill/>
        </p:spPr>
        <p:txBody>
          <a:bodyPr wrap="square">
            <a:spAutoFit/>
          </a:bodyPr>
          <a:lstStyle/>
          <a:p>
            <a:r>
              <a:rPr lang="zh-CN" altLang="en-US" b="1" dirty="0"/>
              <a:t>XGBoost</a:t>
            </a:r>
            <a:r>
              <a:rPr lang="zh-CN" altLang="en-US" dirty="0"/>
              <a:t>通过</a:t>
            </a:r>
            <a:r>
              <a:rPr lang="en-US" altLang="zh-CN" dirty="0"/>
              <a:t>Level-wise tree growth</a:t>
            </a:r>
            <a:r>
              <a:rPr lang="zh-CN" altLang="en-US" dirty="0"/>
              <a:t>策略来生长树。</a:t>
            </a:r>
            <a:endParaRPr lang="en-US" altLang="zh-CN" dirty="0"/>
          </a:p>
          <a:p>
            <a:r>
              <a:rPr lang="zh-CN" altLang="en-US" dirty="0"/>
              <a:t>同一层所有节点都做分裂，最后剪枝</a:t>
            </a:r>
          </a:p>
        </p:txBody>
      </p:sp>
      <p:sp>
        <p:nvSpPr>
          <p:cNvPr id="12" name="文本框 11">
            <a:extLst>
              <a:ext uri="{FF2B5EF4-FFF2-40B4-BE49-F238E27FC236}">
                <a16:creationId xmlns:a16="http://schemas.microsoft.com/office/drawing/2014/main" id="{4D01DDF9-F68D-4CF9-8769-C8E4FAB29541}"/>
              </a:ext>
            </a:extLst>
          </p:cNvPr>
          <p:cNvSpPr txBox="1"/>
          <p:nvPr/>
        </p:nvSpPr>
        <p:spPr>
          <a:xfrm>
            <a:off x="7794911" y="4245364"/>
            <a:ext cx="3820827" cy="1569660"/>
          </a:xfrm>
          <a:prstGeom prst="rect">
            <a:avLst/>
          </a:prstGeom>
          <a:noFill/>
        </p:spPr>
        <p:txBody>
          <a:bodyPr wrap="square">
            <a:spAutoFit/>
          </a:bodyPr>
          <a:lstStyle/>
          <a:p>
            <a:r>
              <a:rPr lang="zh-CN" altLang="en-US" b="1" dirty="0"/>
              <a:t>LightGBM</a:t>
            </a:r>
            <a:r>
              <a:rPr lang="en-US" altLang="zh-CN" b="0" i="0" dirty="0">
                <a:effectLst/>
                <a:latin typeface="Source Sans Pro" panose="020B0604020202020204" pitchFamily="34" charset="0"/>
              </a:rPr>
              <a:t> </a:t>
            </a:r>
            <a:r>
              <a:rPr lang="zh-CN" altLang="en-US" b="0" i="0" dirty="0">
                <a:effectLst/>
                <a:latin typeface="Source Sans Pro" panose="020B0604020202020204" pitchFamily="34" charset="0"/>
              </a:rPr>
              <a:t>通过 </a:t>
            </a:r>
            <a:r>
              <a:rPr lang="en-US" altLang="zh-CN" b="0" i="0" dirty="0">
                <a:effectLst/>
                <a:latin typeface="Source Sans Pro" panose="020B0604020202020204" pitchFamily="34" charset="0"/>
              </a:rPr>
              <a:t>leaf-wise (best-first)</a:t>
            </a:r>
            <a:r>
              <a:rPr lang="zh-CN" altLang="en-US" b="0" i="0" dirty="0">
                <a:effectLst/>
                <a:latin typeface="Source Sans Pro" panose="020B0604020202020204" pitchFamily="34" charset="0"/>
              </a:rPr>
              <a:t>策略来生长树。它将选取具有最大 </a:t>
            </a:r>
            <a:r>
              <a:rPr lang="en-US" altLang="zh-CN" b="0" i="0" dirty="0">
                <a:effectLst/>
                <a:latin typeface="Source Sans Pro" panose="020B0604020202020204" pitchFamily="34" charset="0"/>
              </a:rPr>
              <a:t>delta loss </a:t>
            </a:r>
            <a:r>
              <a:rPr lang="zh-CN" altLang="en-US" b="0" i="0" dirty="0">
                <a:effectLst/>
                <a:latin typeface="Source Sans Pro" panose="020B0604020202020204" pitchFamily="34" charset="0"/>
              </a:rPr>
              <a:t>的叶节点来生长。 </a:t>
            </a:r>
            <a:endParaRPr lang="zh-CN" altLang="en-US" dirty="0"/>
          </a:p>
        </p:txBody>
      </p:sp>
      <p:sp>
        <p:nvSpPr>
          <p:cNvPr id="9" name="Google Shape;3401;p56">
            <a:extLst>
              <a:ext uri="{FF2B5EF4-FFF2-40B4-BE49-F238E27FC236}">
                <a16:creationId xmlns:a16="http://schemas.microsoft.com/office/drawing/2014/main" id="{98968EEE-9DFA-4C9D-A851-D1096773BC5C}"/>
              </a:ext>
            </a:extLst>
          </p:cNvPr>
          <p:cNvSpPr/>
          <p:nvPr/>
        </p:nvSpPr>
        <p:spPr>
          <a:xfrm>
            <a:off x="1170570" y="2242565"/>
            <a:ext cx="262209" cy="270552"/>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3403;p56">
            <a:extLst>
              <a:ext uri="{FF2B5EF4-FFF2-40B4-BE49-F238E27FC236}">
                <a16:creationId xmlns:a16="http://schemas.microsoft.com/office/drawing/2014/main" id="{69B48F13-EA39-4EFA-9E06-E56CAAA9A4EE}"/>
              </a:ext>
            </a:extLst>
          </p:cNvPr>
          <p:cNvSpPr/>
          <p:nvPr/>
        </p:nvSpPr>
        <p:spPr>
          <a:xfrm>
            <a:off x="760997" y="2750839"/>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403;p56">
            <a:extLst>
              <a:ext uri="{FF2B5EF4-FFF2-40B4-BE49-F238E27FC236}">
                <a16:creationId xmlns:a16="http://schemas.microsoft.com/office/drawing/2014/main" id="{808A786D-68B7-4160-9654-1B664D4AD7F9}"/>
              </a:ext>
            </a:extLst>
          </p:cNvPr>
          <p:cNvSpPr/>
          <p:nvPr/>
        </p:nvSpPr>
        <p:spPr>
          <a:xfrm>
            <a:off x="1602353" y="2750839"/>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401;p56">
            <a:extLst>
              <a:ext uri="{FF2B5EF4-FFF2-40B4-BE49-F238E27FC236}">
                <a16:creationId xmlns:a16="http://schemas.microsoft.com/office/drawing/2014/main" id="{006A9FFA-42BA-4C62-B277-FA034A76450E}"/>
              </a:ext>
            </a:extLst>
          </p:cNvPr>
          <p:cNvSpPr/>
          <p:nvPr/>
        </p:nvSpPr>
        <p:spPr>
          <a:xfrm>
            <a:off x="3254637" y="2233635"/>
            <a:ext cx="262209" cy="270552"/>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3403;p56">
            <a:extLst>
              <a:ext uri="{FF2B5EF4-FFF2-40B4-BE49-F238E27FC236}">
                <a16:creationId xmlns:a16="http://schemas.microsoft.com/office/drawing/2014/main" id="{57D61C86-22F6-43AB-8C66-D259410FB0C1}"/>
              </a:ext>
            </a:extLst>
          </p:cNvPr>
          <p:cNvSpPr/>
          <p:nvPr/>
        </p:nvSpPr>
        <p:spPr>
          <a:xfrm>
            <a:off x="2861324" y="2701090"/>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403;p56">
            <a:extLst>
              <a:ext uri="{FF2B5EF4-FFF2-40B4-BE49-F238E27FC236}">
                <a16:creationId xmlns:a16="http://schemas.microsoft.com/office/drawing/2014/main" id="{6C1996E1-B3A2-4C3A-8C81-8DE0A6325DA4}"/>
              </a:ext>
            </a:extLst>
          </p:cNvPr>
          <p:cNvSpPr/>
          <p:nvPr/>
        </p:nvSpPr>
        <p:spPr>
          <a:xfrm>
            <a:off x="3699478" y="2701090"/>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403;p56">
            <a:extLst>
              <a:ext uri="{FF2B5EF4-FFF2-40B4-BE49-F238E27FC236}">
                <a16:creationId xmlns:a16="http://schemas.microsoft.com/office/drawing/2014/main" id="{B1416E6C-4707-4FAD-80DB-07A3237CB4A8}"/>
              </a:ext>
            </a:extLst>
          </p:cNvPr>
          <p:cNvSpPr/>
          <p:nvPr/>
        </p:nvSpPr>
        <p:spPr>
          <a:xfrm>
            <a:off x="2523358" y="3165871"/>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403;p56">
            <a:extLst>
              <a:ext uri="{FF2B5EF4-FFF2-40B4-BE49-F238E27FC236}">
                <a16:creationId xmlns:a16="http://schemas.microsoft.com/office/drawing/2014/main" id="{759E1F1B-38FC-4E17-B574-7A0FD6E8CDD4}"/>
              </a:ext>
            </a:extLst>
          </p:cNvPr>
          <p:cNvSpPr/>
          <p:nvPr/>
        </p:nvSpPr>
        <p:spPr>
          <a:xfrm>
            <a:off x="3123533" y="3165871"/>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403;p56">
            <a:extLst>
              <a:ext uri="{FF2B5EF4-FFF2-40B4-BE49-F238E27FC236}">
                <a16:creationId xmlns:a16="http://schemas.microsoft.com/office/drawing/2014/main" id="{9D0000D1-0F7B-48D7-AA28-090DB6095B8E}"/>
              </a:ext>
            </a:extLst>
          </p:cNvPr>
          <p:cNvSpPr/>
          <p:nvPr/>
        </p:nvSpPr>
        <p:spPr>
          <a:xfrm>
            <a:off x="3437269" y="3165871"/>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403;p56">
            <a:extLst>
              <a:ext uri="{FF2B5EF4-FFF2-40B4-BE49-F238E27FC236}">
                <a16:creationId xmlns:a16="http://schemas.microsoft.com/office/drawing/2014/main" id="{E3CB8681-516A-4202-9A87-6ECB614CFDAD}"/>
              </a:ext>
            </a:extLst>
          </p:cNvPr>
          <p:cNvSpPr/>
          <p:nvPr/>
        </p:nvSpPr>
        <p:spPr>
          <a:xfrm>
            <a:off x="4037444" y="3165871"/>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401;p56">
            <a:extLst>
              <a:ext uri="{FF2B5EF4-FFF2-40B4-BE49-F238E27FC236}">
                <a16:creationId xmlns:a16="http://schemas.microsoft.com/office/drawing/2014/main" id="{EA22D629-6E66-45F1-8986-01BA44641B0F}"/>
              </a:ext>
            </a:extLst>
          </p:cNvPr>
          <p:cNvSpPr/>
          <p:nvPr/>
        </p:nvSpPr>
        <p:spPr>
          <a:xfrm>
            <a:off x="3357777" y="4269839"/>
            <a:ext cx="262209" cy="270552"/>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3403;p56">
            <a:extLst>
              <a:ext uri="{FF2B5EF4-FFF2-40B4-BE49-F238E27FC236}">
                <a16:creationId xmlns:a16="http://schemas.microsoft.com/office/drawing/2014/main" id="{7D5B1DDF-7318-45EC-B5A8-5E1B4300B876}"/>
              </a:ext>
            </a:extLst>
          </p:cNvPr>
          <p:cNvSpPr/>
          <p:nvPr/>
        </p:nvSpPr>
        <p:spPr>
          <a:xfrm>
            <a:off x="2964464" y="4737294"/>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403;p56">
            <a:extLst>
              <a:ext uri="{FF2B5EF4-FFF2-40B4-BE49-F238E27FC236}">
                <a16:creationId xmlns:a16="http://schemas.microsoft.com/office/drawing/2014/main" id="{3B8565B1-DE3B-4D82-8EB6-DE372E032397}"/>
              </a:ext>
            </a:extLst>
          </p:cNvPr>
          <p:cNvSpPr/>
          <p:nvPr/>
        </p:nvSpPr>
        <p:spPr>
          <a:xfrm>
            <a:off x="3802618" y="4737294"/>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403;p56">
            <a:extLst>
              <a:ext uri="{FF2B5EF4-FFF2-40B4-BE49-F238E27FC236}">
                <a16:creationId xmlns:a16="http://schemas.microsoft.com/office/drawing/2014/main" id="{C24D9A97-26A9-40D9-9147-31AB08D8B485}"/>
              </a:ext>
            </a:extLst>
          </p:cNvPr>
          <p:cNvSpPr/>
          <p:nvPr/>
        </p:nvSpPr>
        <p:spPr>
          <a:xfrm>
            <a:off x="2626498" y="5202075"/>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403;p56">
            <a:extLst>
              <a:ext uri="{FF2B5EF4-FFF2-40B4-BE49-F238E27FC236}">
                <a16:creationId xmlns:a16="http://schemas.microsoft.com/office/drawing/2014/main" id="{191C8214-3F37-43B2-B9BF-BE9F11A46047}"/>
              </a:ext>
            </a:extLst>
          </p:cNvPr>
          <p:cNvSpPr/>
          <p:nvPr/>
        </p:nvSpPr>
        <p:spPr>
          <a:xfrm>
            <a:off x="3226673" y="5202075"/>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401;p56">
            <a:extLst>
              <a:ext uri="{FF2B5EF4-FFF2-40B4-BE49-F238E27FC236}">
                <a16:creationId xmlns:a16="http://schemas.microsoft.com/office/drawing/2014/main" id="{3A6819D7-6F8D-4F37-863B-52277B21FD5E}"/>
              </a:ext>
            </a:extLst>
          </p:cNvPr>
          <p:cNvSpPr/>
          <p:nvPr/>
        </p:nvSpPr>
        <p:spPr>
          <a:xfrm>
            <a:off x="5377012" y="4265863"/>
            <a:ext cx="262209" cy="270552"/>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3403;p56">
            <a:extLst>
              <a:ext uri="{FF2B5EF4-FFF2-40B4-BE49-F238E27FC236}">
                <a16:creationId xmlns:a16="http://schemas.microsoft.com/office/drawing/2014/main" id="{2959E0B7-42F8-4FFA-9C14-3D3469FDC72A}"/>
              </a:ext>
            </a:extLst>
          </p:cNvPr>
          <p:cNvSpPr/>
          <p:nvPr/>
        </p:nvSpPr>
        <p:spPr>
          <a:xfrm>
            <a:off x="4983699" y="4733318"/>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403;p56">
            <a:extLst>
              <a:ext uri="{FF2B5EF4-FFF2-40B4-BE49-F238E27FC236}">
                <a16:creationId xmlns:a16="http://schemas.microsoft.com/office/drawing/2014/main" id="{9201936B-D068-4606-A147-3BE1F9F19D9B}"/>
              </a:ext>
            </a:extLst>
          </p:cNvPr>
          <p:cNvSpPr/>
          <p:nvPr/>
        </p:nvSpPr>
        <p:spPr>
          <a:xfrm>
            <a:off x="4645733" y="5198099"/>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403;p56">
            <a:extLst>
              <a:ext uri="{FF2B5EF4-FFF2-40B4-BE49-F238E27FC236}">
                <a16:creationId xmlns:a16="http://schemas.microsoft.com/office/drawing/2014/main" id="{44AB6A64-CFD9-4731-B950-AD30A031CB62}"/>
              </a:ext>
            </a:extLst>
          </p:cNvPr>
          <p:cNvSpPr/>
          <p:nvPr/>
        </p:nvSpPr>
        <p:spPr>
          <a:xfrm>
            <a:off x="5245908" y="5198099"/>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403;p56">
            <a:extLst>
              <a:ext uri="{FF2B5EF4-FFF2-40B4-BE49-F238E27FC236}">
                <a16:creationId xmlns:a16="http://schemas.microsoft.com/office/drawing/2014/main" id="{26436911-1394-43BD-AB78-EB16578BC035}"/>
              </a:ext>
            </a:extLst>
          </p:cNvPr>
          <p:cNvSpPr/>
          <p:nvPr/>
        </p:nvSpPr>
        <p:spPr>
          <a:xfrm>
            <a:off x="5789978" y="4737084"/>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403;p56">
            <a:extLst>
              <a:ext uri="{FF2B5EF4-FFF2-40B4-BE49-F238E27FC236}">
                <a16:creationId xmlns:a16="http://schemas.microsoft.com/office/drawing/2014/main" id="{BC5A6759-6D85-4CE5-8054-71D68E26F3EE}"/>
              </a:ext>
            </a:extLst>
          </p:cNvPr>
          <p:cNvSpPr/>
          <p:nvPr/>
        </p:nvSpPr>
        <p:spPr>
          <a:xfrm>
            <a:off x="5508116" y="5650380"/>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403;p56">
            <a:extLst>
              <a:ext uri="{FF2B5EF4-FFF2-40B4-BE49-F238E27FC236}">
                <a16:creationId xmlns:a16="http://schemas.microsoft.com/office/drawing/2014/main" id="{63A90946-DCEF-45BA-83BD-2AEB9FED86E4}"/>
              </a:ext>
            </a:extLst>
          </p:cNvPr>
          <p:cNvSpPr/>
          <p:nvPr/>
        </p:nvSpPr>
        <p:spPr>
          <a:xfrm>
            <a:off x="5013657" y="5662880"/>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96" name="直接连接符 4095">
            <a:extLst>
              <a:ext uri="{FF2B5EF4-FFF2-40B4-BE49-F238E27FC236}">
                <a16:creationId xmlns:a16="http://schemas.microsoft.com/office/drawing/2014/main" id="{47A225AE-7F97-4565-86E0-2CFF656D60E5}"/>
              </a:ext>
            </a:extLst>
          </p:cNvPr>
          <p:cNvCxnSpPr>
            <a:stCxn id="9" idx="5"/>
            <a:endCxn id="17" idx="1"/>
          </p:cNvCxnSpPr>
          <p:nvPr/>
        </p:nvCxnSpPr>
        <p:spPr>
          <a:xfrm>
            <a:off x="1394379" y="2473496"/>
            <a:ext cx="246374" cy="316965"/>
          </a:xfrm>
          <a:prstGeom prst="line">
            <a:avLst/>
          </a:prstGeom>
        </p:spPr>
        <p:style>
          <a:lnRef idx="2">
            <a:schemeClr val="accent4"/>
          </a:lnRef>
          <a:fillRef idx="0">
            <a:schemeClr val="accent4"/>
          </a:fillRef>
          <a:effectRef idx="1">
            <a:schemeClr val="accent4"/>
          </a:effectRef>
          <a:fontRef idx="minor">
            <a:schemeClr val="tx1"/>
          </a:fontRef>
        </p:style>
      </p:cxnSp>
      <p:cxnSp>
        <p:nvCxnSpPr>
          <p:cNvPr id="4099" name="直接连接符 4098">
            <a:extLst>
              <a:ext uri="{FF2B5EF4-FFF2-40B4-BE49-F238E27FC236}">
                <a16:creationId xmlns:a16="http://schemas.microsoft.com/office/drawing/2014/main" id="{98BCD0EB-52BA-480B-AD33-A211679E38F1}"/>
              </a:ext>
            </a:extLst>
          </p:cNvPr>
          <p:cNvCxnSpPr>
            <a:stCxn id="9" idx="3"/>
            <a:endCxn id="11" idx="7"/>
          </p:cNvCxnSpPr>
          <p:nvPr/>
        </p:nvCxnSpPr>
        <p:spPr>
          <a:xfrm flipH="1">
            <a:off x="984806" y="2473496"/>
            <a:ext cx="224164" cy="316965"/>
          </a:xfrm>
          <a:prstGeom prst="line">
            <a:avLst/>
          </a:prstGeom>
        </p:spPr>
        <p:style>
          <a:lnRef idx="2">
            <a:schemeClr val="accent4"/>
          </a:lnRef>
          <a:fillRef idx="0">
            <a:schemeClr val="accent4"/>
          </a:fillRef>
          <a:effectRef idx="1">
            <a:schemeClr val="accent4"/>
          </a:effectRef>
          <a:fontRef idx="minor">
            <a:schemeClr val="tx1"/>
          </a:fontRef>
        </p:style>
      </p:cxnSp>
      <p:sp>
        <p:nvSpPr>
          <p:cNvPr id="72" name="Google Shape;3401;p56">
            <a:extLst>
              <a:ext uri="{FF2B5EF4-FFF2-40B4-BE49-F238E27FC236}">
                <a16:creationId xmlns:a16="http://schemas.microsoft.com/office/drawing/2014/main" id="{F102B92D-E95E-4E91-889E-B743C7D5C64E}"/>
              </a:ext>
            </a:extLst>
          </p:cNvPr>
          <p:cNvSpPr/>
          <p:nvPr/>
        </p:nvSpPr>
        <p:spPr>
          <a:xfrm>
            <a:off x="1205015" y="4239271"/>
            <a:ext cx="262209" cy="270552"/>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3403;p56">
            <a:extLst>
              <a:ext uri="{FF2B5EF4-FFF2-40B4-BE49-F238E27FC236}">
                <a16:creationId xmlns:a16="http://schemas.microsoft.com/office/drawing/2014/main" id="{C7E6945A-E82A-43E9-B235-E6FCE95CE461}"/>
              </a:ext>
            </a:extLst>
          </p:cNvPr>
          <p:cNvSpPr/>
          <p:nvPr/>
        </p:nvSpPr>
        <p:spPr>
          <a:xfrm>
            <a:off x="795442" y="4747545"/>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3403;p56">
            <a:extLst>
              <a:ext uri="{FF2B5EF4-FFF2-40B4-BE49-F238E27FC236}">
                <a16:creationId xmlns:a16="http://schemas.microsoft.com/office/drawing/2014/main" id="{9ADE7D3C-AD06-4971-ABBD-8AB54B32BF5C}"/>
              </a:ext>
            </a:extLst>
          </p:cNvPr>
          <p:cNvSpPr/>
          <p:nvPr/>
        </p:nvSpPr>
        <p:spPr>
          <a:xfrm>
            <a:off x="1636798" y="4747545"/>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5" name="直接连接符 74">
            <a:extLst>
              <a:ext uri="{FF2B5EF4-FFF2-40B4-BE49-F238E27FC236}">
                <a16:creationId xmlns:a16="http://schemas.microsoft.com/office/drawing/2014/main" id="{AAF99189-37FA-4F15-BD2E-9AADBC2AC56F}"/>
              </a:ext>
            </a:extLst>
          </p:cNvPr>
          <p:cNvCxnSpPr>
            <a:stCxn id="72" idx="5"/>
            <a:endCxn id="74" idx="1"/>
          </p:cNvCxnSpPr>
          <p:nvPr/>
        </p:nvCxnSpPr>
        <p:spPr>
          <a:xfrm>
            <a:off x="1428824" y="4470202"/>
            <a:ext cx="246374" cy="316965"/>
          </a:xfrm>
          <a:prstGeom prst="line">
            <a:avLst/>
          </a:prstGeom>
        </p:spPr>
        <p:style>
          <a:lnRef idx="2">
            <a:schemeClr val="accent4"/>
          </a:lnRef>
          <a:fillRef idx="0">
            <a:schemeClr val="accent4"/>
          </a:fillRef>
          <a:effectRef idx="1">
            <a:schemeClr val="accent4"/>
          </a:effectRef>
          <a:fontRef idx="minor">
            <a:schemeClr val="tx1"/>
          </a:fontRef>
        </p:style>
      </p:cxnSp>
      <p:cxnSp>
        <p:nvCxnSpPr>
          <p:cNvPr id="76" name="直接连接符 75">
            <a:extLst>
              <a:ext uri="{FF2B5EF4-FFF2-40B4-BE49-F238E27FC236}">
                <a16:creationId xmlns:a16="http://schemas.microsoft.com/office/drawing/2014/main" id="{151A1498-3C67-4534-A89E-2FA908BF719C}"/>
              </a:ext>
            </a:extLst>
          </p:cNvPr>
          <p:cNvCxnSpPr>
            <a:stCxn id="72" idx="3"/>
            <a:endCxn id="73" idx="7"/>
          </p:cNvCxnSpPr>
          <p:nvPr/>
        </p:nvCxnSpPr>
        <p:spPr>
          <a:xfrm flipH="1">
            <a:off x="1019251" y="4470202"/>
            <a:ext cx="224164" cy="316965"/>
          </a:xfrm>
          <a:prstGeom prst="line">
            <a:avLst/>
          </a:prstGeom>
        </p:spPr>
        <p:style>
          <a:lnRef idx="2">
            <a:schemeClr val="accent4"/>
          </a:lnRef>
          <a:fillRef idx="0">
            <a:schemeClr val="accent4"/>
          </a:fillRef>
          <a:effectRef idx="1">
            <a:schemeClr val="accent4"/>
          </a:effectRef>
          <a:fontRef idx="minor">
            <a:schemeClr val="tx1"/>
          </a:fontRef>
        </p:style>
      </p:cxnSp>
      <p:cxnSp>
        <p:nvCxnSpPr>
          <p:cNvPr id="78" name="直接连接符 77">
            <a:extLst>
              <a:ext uri="{FF2B5EF4-FFF2-40B4-BE49-F238E27FC236}">
                <a16:creationId xmlns:a16="http://schemas.microsoft.com/office/drawing/2014/main" id="{6F635BB9-8670-4ACF-A2DD-032B056E28F8}"/>
              </a:ext>
            </a:extLst>
          </p:cNvPr>
          <p:cNvCxnSpPr>
            <a:cxnSpLocks/>
            <a:stCxn id="39" idx="5"/>
            <a:endCxn id="41" idx="1"/>
          </p:cNvCxnSpPr>
          <p:nvPr/>
        </p:nvCxnSpPr>
        <p:spPr>
          <a:xfrm>
            <a:off x="3581586" y="4500770"/>
            <a:ext cx="259432" cy="276146"/>
          </a:xfrm>
          <a:prstGeom prst="line">
            <a:avLst/>
          </a:prstGeom>
        </p:spPr>
        <p:style>
          <a:lnRef idx="2">
            <a:schemeClr val="accent4"/>
          </a:lnRef>
          <a:fillRef idx="0">
            <a:schemeClr val="accent4"/>
          </a:fillRef>
          <a:effectRef idx="1">
            <a:schemeClr val="accent4"/>
          </a:effectRef>
          <a:fontRef idx="minor">
            <a:schemeClr val="tx1"/>
          </a:fontRef>
        </p:style>
      </p:cxnSp>
      <p:cxnSp>
        <p:nvCxnSpPr>
          <p:cNvPr id="81" name="直接连接符 80">
            <a:extLst>
              <a:ext uri="{FF2B5EF4-FFF2-40B4-BE49-F238E27FC236}">
                <a16:creationId xmlns:a16="http://schemas.microsoft.com/office/drawing/2014/main" id="{81BF43DD-B075-4120-9EC4-C73FA5ED4D14}"/>
              </a:ext>
            </a:extLst>
          </p:cNvPr>
          <p:cNvCxnSpPr>
            <a:cxnSpLocks/>
            <a:endCxn id="20" idx="1"/>
          </p:cNvCxnSpPr>
          <p:nvPr/>
        </p:nvCxnSpPr>
        <p:spPr>
          <a:xfrm>
            <a:off x="3488882" y="2446486"/>
            <a:ext cx="248996" cy="294226"/>
          </a:xfrm>
          <a:prstGeom prst="line">
            <a:avLst/>
          </a:prstGeom>
        </p:spPr>
        <p:style>
          <a:lnRef idx="2">
            <a:schemeClr val="accent4"/>
          </a:lnRef>
          <a:fillRef idx="0">
            <a:schemeClr val="accent4"/>
          </a:fillRef>
          <a:effectRef idx="1">
            <a:schemeClr val="accent4"/>
          </a:effectRef>
          <a:fontRef idx="minor">
            <a:schemeClr val="tx1"/>
          </a:fontRef>
        </p:style>
      </p:cxnSp>
      <p:cxnSp>
        <p:nvCxnSpPr>
          <p:cNvPr id="83" name="直接连接符 82">
            <a:extLst>
              <a:ext uri="{FF2B5EF4-FFF2-40B4-BE49-F238E27FC236}">
                <a16:creationId xmlns:a16="http://schemas.microsoft.com/office/drawing/2014/main" id="{18D70301-E3C4-4386-867C-2422470E1D8D}"/>
              </a:ext>
            </a:extLst>
          </p:cNvPr>
          <p:cNvCxnSpPr>
            <a:cxnSpLocks/>
            <a:stCxn id="19" idx="5"/>
            <a:endCxn id="22" idx="0"/>
          </p:cNvCxnSpPr>
          <p:nvPr/>
        </p:nvCxnSpPr>
        <p:spPr>
          <a:xfrm>
            <a:off x="3085133" y="2932021"/>
            <a:ext cx="169505" cy="233850"/>
          </a:xfrm>
          <a:prstGeom prst="line">
            <a:avLst/>
          </a:prstGeom>
        </p:spPr>
        <p:style>
          <a:lnRef idx="2">
            <a:schemeClr val="accent4"/>
          </a:lnRef>
          <a:fillRef idx="0">
            <a:schemeClr val="accent4"/>
          </a:fillRef>
          <a:effectRef idx="1">
            <a:schemeClr val="accent4"/>
          </a:effectRef>
          <a:fontRef idx="minor">
            <a:schemeClr val="tx1"/>
          </a:fontRef>
        </p:style>
      </p:cxnSp>
      <p:cxnSp>
        <p:nvCxnSpPr>
          <p:cNvPr id="85" name="直接连接符 84">
            <a:extLst>
              <a:ext uri="{FF2B5EF4-FFF2-40B4-BE49-F238E27FC236}">
                <a16:creationId xmlns:a16="http://schemas.microsoft.com/office/drawing/2014/main" id="{7B66910C-4010-4AB1-B46E-7CD952D6C3F5}"/>
              </a:ext>
            </a:extLst>
          </p:cNvPr>
          <p:cNvCxnSpPr>
            <a:cxnSpLocks/>
            <a:stCxn id="20" idx="5"/>
            <a:endCxn id="24" idx="1"/>
          </p:cNvCxnSpPr>
          <p:nvPr/>
        </p:nvCxnSpPr>
        <p:spPr>
          <a:xfrm>
            <a:off x="3923287" y="2932021"/>
            <a:ext cx="152557" cy="273472"/>
          </a:xfrm>
          <a:prstGeom prst="line">
            <a:avLst/>
          </a:prstGeom>
        </p:spPr>
        <p:style>
          <a:lnRef idx="2">
            <a:schemeClr val="accent4"/>
          </a:lnRef>
          <a:fillRef idx="0">
            <a:schemeClr val="accent4"/>
          </a:fillRef>
          <a:effectRef idx="1">
            <a:schemeClr val="accent4"/>
          </a:effectRef>
          <a:fontRef idx="minor">
            <a:schemeClr val="tx1"/>
          </a:fontRef>
        </p:style>
      </p:cxnSp>
      <p:cxnSp>
        <p:nvCxnSpPr>
          <p:cNvPr id="86" name="直接连接符 85">
            <a:extLst>
              <a:ext uri="{FF2B5EF4-FFF2-40B4-BE49-F238E27FC236}">
                <a16:creationId xmlns:a16="http://schemas.microsoft.com/office/drawing/2014/main" id="{C18DD178-ECCA-44F5-BCB3-7149B70C3936}"/>
              </a:ext>
            </a:extLst>
          </p:cNvPr>
          <p:cNvCxnSpPr>
            <a:cxnSpLocks/>
          </p:cNvCxnSpPr>
          <p:nvPr/>
        </p:nvCxnSpPr>
        <p:spPr>
          <a:xfrm>
            <a:off x="5592933" y="4474573"/>
            <a:ext cx="248996" cy="294226"/>
          </a:xfrm>
          <a:prstGeom prst="line">
            <a:avLst/>
          </a:prstGeom>
        </p:spPr>
        <p:style>
          <a:lnRef idx="2">
            <a:schemeClr val="accent4"/>
          </a:lnRef>
          <a:fillRef idx="0">
            <a:schemeClr val="accent4"/>
          </a:fillRef>
          <a:effectRef idx="1">
            <a:schemeClr val="accent4"/>
          </a:effectRef>
          <a:fontRef idx="minor">
            <a:schemeClr val="tx1"/>
          </a:fontRef>
        </p:style>
      </p:cxnSp>
      <p:cxnSp>
        <p:nvCxnSpPr>
          <p:cNvPr id="94" name="直接连接符 93">
            <a:extLst>
              <a:ext uri="{FF2B5EF4-FFF2-40B4-BE49-F238E27FC236}">
                <a16:creationId xmlns:a16="http://schemas.microsoft.com/office/drawing/2014/main" id="{76C31196-6660-4864-940E-2B1688541FD4}"/>
              </a:ext>
            </a:extLst>
          </p:cNvPr>
          <p:cNvCxnSpPr>
            <a:cxnSpLocks/>
            <a:stCxn id="54" idx="5"/>
            <a:endCxn id="57" idx="0"/>
          </p:cNvCxnSpPr>
          <p:nvPr/>
        </p:nvCxnSpPr>
        <p:spPr>
          <a:xfrm>
            <a:off x="5207508" y="4964249"/>
            <a:ext cx="169505" cy="233850"/>
          </a:xfrm>
          <a:prstGeom prst="line">
            <a:avLst/>
          </a:prstGeom>
        </p:spPr>
        <p:style>
          <a:lnRef idx="2">
            <a:schemeClr val="accent4"/>
          </a:lnRef>
          <a:fillRef idx="0">
            <a:schemeClr val="accent4"/>
          </a:fillRef>
          <a:effectRef idx="1">
            <a:schemeClr val="accent4"/>
          </a:effectRef>
          <a:fontRef idx="minor">
            <a:schemeClr val="tx1"/>
          </a:fontRef>
        </p:style>
      </p:cxnSp>
      <p:cxnSp>
        <p:nvCxnSpPr>
          <p:cNvPr id="95" name="直接连接符 94">
            <a:extLst>
              <a:ext uri="{FF2B5EF4-FFF2-40B4-BE49-F238E27FC236}">
                <a16:creationId xmlns:a16="http://schemas.microsoft.com/office/drawing/2014/main" id="{1A719B58-8373-4BEA-9641-6B72B41B85F9}"/>
              </a:ext>
            </a:extLst>
          </p:cNvPr>
          <p:cNvCxnSpPr>
            <a:cxnSpLocks/>
            <a:stCxn id="57" idx="5"/>
            <a:endCxn id="60" idx="0"/>
          </p:cNvCxnSpPr>
          <p:nvPr/>
        </p:nvCxnSpPr>
        <p:spPr>
          <a:xfrm>
            <a:off x="5469717" y="5429030"/>
            <a:ext cx="169504" cy="221350"/>
          </a:xfrm>
          <a:prstGeom prst="line">
            <a:avLst/>
          </a:prstGeom>
        </p:spPr>
        <p:style>
          <a:lnRef idx="2">
            <a:schemeClr val="accent4"/>
          </a:lnRef>
          <a:fillRef idx="0">
            <a:schemeClr val="accent4"/>
          </a:fillRef>
          <a:effectRef idx="1">
            <a:schemeClr val="accent4"/>
          </a:effectRef>
          <a:fontRef idx="minor">
            <a:schemeClr val="tx1"/>
          </a:fontRef>
        </p:style>
      </p:cxnSp>
      <p:cxnSp>
        <p:nvCxnSpPr>
          <p:cNvPr id="96" name="直接连接符 95">
            <a:extLst>
              <a:ext uri="{FF2B5EF4-FFF2-40B4-BE49-F238E27FC236}">
                <a16:creationId xmlns:a16="http://schemas.microsoft.com/office/drawing/2014/main" id="{D4AB78C3-B300-474A-865E-7D264795EC95}"/>
              </a:ext>
            </a:extLst>
          </p:cNvPr>
          <p:cNvCxnSpPr>
            <a:cxnSpLocks/>
            <a:stCxn id="40" idx="5"/>
            <a:endCxn id="43" idx="0"/>
          </p:cNvCxnSpPr>
          <p:nvPr/>
        </p:nvCxnSpPr>
        <p:spPr>
          <a:xfrm>
            <a:off x="3188273" y="4968225"/>
            <a:ext cx="169505" cy="233850"/>
          </a:xfrm>
          <a:prstGeom prst="line">
            <a:avLst/>
          </a:prstGeom>
        </p:spPr>
        <p:style>
          <a:lnRef idx="2">
            <a:schemeClr val="accent4"/>
          </a:lnRef>
          <a:fillRef idx="0">
            <a:schemeClr val="accent4"/>
          </a:fillRef>
          <a:effectRef idx="1">
            <a:schemeClr val="accent4"/>
          </a:effectRef>
          <a:fontRef idx="minor">
            <a:schemeClr val="tx1"/>
          </a:fontRef>
        </p:style>
      </p:cxnSp>
      <p:cxnSp>
        <p:nvCxnSpPr>
          <p:cNvPr id="97" name="直接连接符 96">
            <a:extLst>
              <a:ext uri="{FF2B5EF4-FFF2-40B4-BE49-F238E27FC236}">
                <a16:creationId xmlns:a16="http://schemas.microsoft.com/office/drawing/2014/main" id="{A3145009-04A6-4744-B912-B901EECB681B}"/>
              </a:ext>
            </a:extLst>
          </p:cNvPr>
          <p:cNvCxnSpPr>
            <a:cxnSpLocks/>
            <a:endCxn id="54" idx="7"/>
          </p:cNvCxnSpPr>
          <p:nvPr/>
        </p:nvCxnSpPr>
        <p:spPr>
          <a:xfrm flipH="1">
            <a:off x="5207508" y="4477052"/>
            <a:ext cx="211812" cy="295888"/>
          </a:xfrm>
          <a:prstGeom prst="line">
            <a:avLst/>
          </a:prstGeom>
        </p:spPr>
        <p:style>
          <a:lnRef idx="2">
            <a:schemeClr val="accent4"/>
          </a:lnRef>
          <a:fillRef idx="0">
            <a:schemeClr val="accent4"/>
          </a:fillRef>
          <a:effectRef idx="1">
            <a:schemeClr val="accent4"/>
          </a:effectRef>
          <a:fontRef idx="minor">
            <a:schemeClr val="tx1"/>
          </a:fontRef>
        </p:style>
      </p:cxnSp>
      <p:cxnSp>
        <p:nvCxnSpPr>
          <p:cNvPr id="99" name="直接连接符 98">
            <a:extLst>
              <a:ext uri="{FF2B5EF4-FFF2-40B4-BE49-F238E27FC236}">
                <a16:creationId xmlns:a16="http://schemas.microsoft.com/office/drawing/2014/main" id="{3D099497-B7B5-43DA-A0DB-ECACE2C240E0}"/>
              </a:ext>
            </a:extLst>
          </p:cNvPr>
          <p:cNvCxnSpPr>
            <a:cxnSpLocks/>
            <a:stCxn id="54" idx="3"/>
            <a:endCxn id="56" idx="7"/>
          </p:cNvCxnSpPr>
          <p:nvPr/>
        </p:nvCxnSpPr>
        <p:spPr>
          <a:xfrm flipH="1">
            <a:off x="4869542" y="4964249"/>
            <a:ext cx="152557" cy="273472"/>
          </a:xfrm>
          <a:prstGeom prst="line">
            <a:avLst/>
          </a:prstGeom>
        </p:spPr>
        <p:style>
          <a:lnRef idx="2">
            <a:schemeClr val="accent4"/>
          </a:lnRef>
          <a:fillRef idx="0">
            <a:schemeClr val="accent4"/>
          </a:fillRef>
          <a:effectRef idx="1">
            <a:schemeClr val="accent4"/>
          </a:effectRef>
          <a:fontRef idx="minor">
            <a:schemeClr val="tx1"/>
          </a:fontRef>
        </p:style>
      </p:cxnSp>
      <p:cxnSp>
        <p:nvCxnSpPr>
          <p:cNvPr id="100" name="直接连接符 99">
            <a:extLst>
              <a:ext uri="{FF2B5EF4-FFF2-40B4-BE49-F238E27FC236}">
                <a16:creationId xmlns:a16="http://schemas.microsoft.com/office/drawing/2014/main" id="{CA9B077E-0C75-447B-945B-929DFE7473F6}"/>
              </a:ext>
            </a:extLst>
          </p:cNvPr>
          <p:cNvCxnSpPr>
            <a:cxnSpLocks/>
            <a:stCxn id="57" idx="3"/>
            <a:endCxn id="61" idx="0"/>
          </p:cNvCxnSpPr>
          <p:nvPr/>
        </p:nvCxnSpPr>
        <p:spPr>
          <a:xfrm flipH="1">
            <a:off x="5144762" y="5429030"/>
            <a:ext cx="139546" cy="233850"/>
          </a:xfrm>
          <a:prstGeom prst="line">
            <a:avLst/>
          </a:prstGeom>
        </p:spPr>
        <p:style>
          <a:lnRef idx="2">
            <a:schemeClr val="accent4"/>
          </a:lnRef>
          <a:fillRef idx="0">
            <a:schemeClr val="accent4"/>
          </a:fillRef>
          <a:effectRef idx="1">
            <a:schemeClr val="accent4"/>
          </a:effectRef>
          <a:fontRef idx="minor">
            <a:schemeClr val="tx1"/>
          </a:fontRef>
        </p:style>
      </p:cxnSp>
      <p:cxnSp>
        <p:nvCxnSpPr>
          <p:cNvPr id="101" name="直接连接符 100">
            <a:extLst>
              <a:ext uri="{FF2B5EF4-FFF2-40B4-BE49-F238E27FC236}">
                <a16:creationId xmlns:a16="http://schemas.microsoft.com/office/drawing/2014/main" id="{F03A9639-6A1C-473D-8289-4377BD55F7AD}"/>
              </a:ext>
            </a:extLst>
          </p:cNvPr>
          <p:cNvCxnSpPr>
            <a:cxnSpLocks/>
            <a:stCxn id="20" idx="3"/>
            <a:endCxn id="23" idx="0"/>
          </p:cNvCxnSpPr>
          <p:nvPr/>
        </p:nvCxnSpPr>
        <p:spPr>
          <a:xfrm flipH="1">
            <a:off x="3568374" y="2932021"/>
            <a:ext cx="169504" cy="233850"/>
          </a:xfrm>
          <a:prstGeom prst="line">
            <a:avLst/>
          </a:prstGeom>
        </p:spPr>
        <p:style>
          <a:lnRef idx="2">
            <a:schemeClr val="accent4"/>
          </a:lnRef>
          <a:fillRef idx="0">
            <a:schemeClr val="accent4"/>
          </a:fillRef>
          <a:effectRef idx="1">
            <a:schemeClr val="accent4"/>
          </a:effectRef>
          <a:fontRef idx="minor">
            <a:schemeClr val="tx1"/>
          </a:fontRef>
        </p:style>
      </p:cxnSp>
      <p:cxnSp>
        <p:nvCxnSpPr>
          <p:cNvPr id="102" name="直接连接符 101">
            <a:extLst>
              <a:ext uri="{FF2B5EF4-FFF2-40B4-BE49-F238E27FC236}">
                <a16:creationId xmlns:a16="http://schemas.microsoft.com/office/drawing/2014/main" id="{C34C2FC2-19F3-4EF0-91FE-6D3794AC2350}"/>
              </a:ext>
            </a:extLst>
          </p:cNvPr>
          <p:cNvCxnSpPr>
            <a:cxnSpLocks/>
            <a:stCxn id="39" idx="3"/>
          </p:cNvCxnSpPr>
          <p:nvPr/>
        </p:nvCxnSpPr>
        <p:spPr>
          <a:xfrm flipH="1">
            <a:off x="3190883" y="4500770"/>
            <a:ext cx="205294" cy="283848"/>
          </a:xfrm>
          <a:prstGeom prst="line">
            <a:avLst/>
          </a:prstGeom>
        </p:spPr>
        <p:style>
          <a:lnRef idx="2">
            <a:schemeClr val="accent4"/>
          </a:lnRef>
          <a:fillRef idx="0">
            <a:schemeClr val="accent4"/>
          </a:fillRef>
          <a:effectRef idx="1">
            <a:schemeClr val="accent4"/>
          </a:effectRef>
          <a:fontRef idx="minor">
            <a:schemeClr val="tx1"/>
          </a:fontRef>
        </p:style>
      </p:cxnSp>
      <p:cxnSp>
        <p:nvCxnSpPr>
          <p:cNvPr id="103" name="直接连接符 102">
            <a:extLst>
              <a:ext uri="{FF2B5EF4-FFF2-40B4-BE49-F238E27FC236}">
                <a16:creationId xmlns:a16="http://schemas.microsoft.com/office/drawing/2014/main" id="{8EF39D11-165E-4A6B-BD67-0349897AE0C4}"/>
              </a:ext>
            </a:extLst>
          </p:cNvPr>
          <p:cNvCxnSpPr>
            <a:cxnSpLocks/>
            <a:stCxn id="40" idx="3"/>
            <a:endCxn id="42" idx="7"/>
          </p:cNvCxnSpPr>
          <p:nvPr/>
        </p:nvCxnSpPr>
        <p:spPr>
          <a:xfrm flipH="1">
            <a:off x="2850307" y="4968225"/>
            <a:ext cx="152557" cy="273472"/>
          </a:xfrm>
          <a:prstGeom prst="line">
            <a:avLst/>
          </a:prstGeom>
        </p:spPr>
        <p:style>
          <a:lnRef idx="2">
            <a:schemeClr val="accent4"/>
          </a:lnRef>
          <a:fillRef idx="0">
            <a:schemeClr val="accent4"/>
          </a:fillRef>
          <a:effectRef idx="1">
            <a:schemeClr val="accent4"/>
          </a:effectRef>
          <a:fontRef idx="minor">
            <a:schemeClr val="tx1"/>
          </a:fontRef>
        </p:style>
      </p:cxnSp>
      <p:cxnSp>
        <p:nvCxnSpPr>
          <p:cNvPr id="106" name="直接连接符 105">
            <a:extLst>
              <a:ext uri="{FF2B5EF4-FFF2-40B4-BE49-F238E27FC236}">
                <a16:creationId xmlns:a16="http://schemas.microsoft.com/office/drawing/2014/main" id="{5DCC8610-817D-49E5-A21D-658B40970FD2}"/>
              </a:ext>
            </a:extLst>
          </p:cNvPr>
          <p:cNvCxnSpPr>
            <a:cxnSpLocks/>
            <a:stCxn id="18" idx="3"/>
          </p:cNvCxnSpPr>
          <p:nvPr/>
        </p:nvCxnSpPr>
        <p:spPr>
          <a:xfrm flipH="1">
            <a:off x="3085133" y="2464566"/>
            <a:ext cx="207904" cy="297894"/>
          </a:xfrm>
          <a:prstGeom prst="line">
            <a:avLst/>
          </a:prstGeom>
        </p:spPr>
        <p:style>
          <a:lnRef idx="2">
            <a:schemeClr val="accent4"/>
          </a:lnRef>
          <a:fillRef idx="0">
            <a:schemeClr val="accent4"/>
          </a:fillRef>
          <a:effectRef idx="1">
            <a:schemeClr val="accent4"/>
          </a:effectRef>
          <a:fontRef idx="minor">
            <a:schemeClr val="tx1"/>
          </a:fontRef>
        </p:style>
      </p:cxnSp>
      <p:cxnSp>
        <p:nvCxnSpPr>
          <p:cNvPr id="107" name="直接连接符 106">
            <a:extLst>
              <a:ext uri="{FF2B5EF4-FFF2-40B4-BE49-F238E27FC236}">
                <a16:creationId xmlns:a16="http://schemas.microsoft.com/office/drawing/2014/main" id="{52B95829-8697-43C0-8F88-1EF3DB8750D1}"/>
              </a:ext>
            </a:extLst>
          </p:cNvPr>
          <p:cNvCxnSpPr>
            <a:cxnSpLocks/>
            <a:stCxn id="19" idx="3"/>
          </p:cNvCxnSpPr>
          <p:nvPr/>
        </p:nvCxnSpPr>
        <p:spPr>
          <a:xfrm flipH="1">
            <a:off x="2726878" y="2932021"/>
            <a:ext cx="172846" cy="270553"/>
          </a:xfrm>
          <a:prstGeom prst="line">
            <a:avLst/>
          </a:prstGeom>
        </p:spPr>
        <p:style>
          <a:lnRef idx="2">
            <a:schemeClr val="accent4"/>
          </a:lnRef>
          <a:fillRef idx="0">
            <a:schemeClr val="accent4"/>
          </a:fillRef>
          <a:effectRef idx="1">
            <a:schemeClr val="accent4"/>
          </a:effectRef>
          <a:fontRef idx="minor">
            <a:schemeClr val="tx1"/>
          </a:fontRef>
        </p:style>
      </p:cxnSp>
      <p:sp>
        <p:nvSpPr>
          <p:cNvPr id="4130" name="箭头: 右 4129">
            <a:extLst>
              <a:ext uri="{FF2B5EF4-FFF2-40B4-BE49-F238E27FC236}">
                <a16:creationId xmlns:a16="http://schemas.microsoft.com/office/drawing/2014/main" id="{55DC7426-5075-406B-B40C-61E92C2E6964}"/>
              </a:ext>
            </a:extLst>
          </p:cNvPr>
          <p:cNvSpPr/>
          <p:nvPr/>
        </p:nvSpPr>
        <p:spPr>
          <a:xfrm>
            <a:off x="1955405" y="2796449"/>
            <a:ext cx="576440" cy="339570"/>
          </a:xfrm>
          <a:prstGeom prst="rightArrow">
            <a:avLst/>
          </a:prstGeom>
          <a:solidFill>
            <a:srgbClr val="0066CC"/>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126" name="箭头: 右 125">
            <a:extLst>
              <a:ext uri="{FF2B5EF4-FFF2-40B4-BE49-F238E27FC236}">
                <a16:creationId xmlns:a16="http://schemas.microsoft.com/office/drawing/2014/main" id="{D1FB5EFA-73EF-478E-9BB8-9527C5F01F4E}"/>
              </a:ext>
            </a:extLst>
          </p:cNvPr>
          <p:cNvSpPr/>
          <p:nvPr/>
        </p:nvSpPr>
        <p:spPr>
          <a:xfrm>
            <a:off x="6160272" y="4714037"/>
            <a:ext cx="576440" cy="339570"/>
          </a:xfrm>
          <a:prstGeom prst="rightArrow">
            <a:avLst/>
          </a:prstGeom>
          <a:solidFill>
            <a:srgbClr val="0066CC"/>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127" name="箭头: 右 126">
            <a:extLst>
              <a:ext uri="{FF2B5EF4-FFF2-40B4-BE49-F238E27FC236}">
                <a16:creationId xmlns:a16="http://schemas.microsoft.com/office/drawing/2014/main" id="{C5B19694-D84C-40DE-958C-3896628556A5}"/>
              </a:ext>
            </a:extLst>
          </p:cNvPr>
          <p:cNvSpPr/>
          <p:nvPr/>
        </p:nvSpPr>
        <p:spPr>
          <a:xfrm>
            <a:off x="4159675" y="4714037"/>
            <a:ext cx="576440" cy="339570"/>
          </a:xfrm>
          <a:prstGeom prst="rightArrow">
            <a:avLst/>
          </a:prstGeom>
          <a:solidFill>
            <a:srgbClr val="0066CC"/>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128" name="箭头: 右 127">
            <a:extLst>
              <a:ext uri="{FF2B5EF4-FFF2-40B4-BE49-F238E27FC236}">
                <a16:creationId xmlns:a16="http://schemas.microsoft.com/office/drawing/2014/main" id="{09453BE3-B79D-4A97-87D0-80036A849F85}"/>
              </a:ext>
            </a:extLst>
          </p:cNvPr>
          <p:cNvSpPr/>
          <p:nvPr/>
        </p:nvSpPr>
        <p:spPr>
          <a:xfrm>
            <a:off x="4167623" y="2728922"/>
            <a:ext cx="576440" cy="339570"/>
          </a:xfrm>
          <a:prstGeom prst="rightArrow">
            <a:avLst/>
          </a:prstGeom>
          <a:solidFill>
            <a:srgbClr val="0066CC"/>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129" name="箭头: 右 128">
            <a:extLst>
              <a:ext uri="{FF2B5EF4-FFF2-40B4-BE49-F238E27FC236}">
                <a16:creationId xmlns:a16="http://schemas.microsoft.com/office/drawing/2014/main" id="{FC0A83A6-4AFA-4E7D-9923-8848CFDD95EF}"/>
              </a:ext>
            </a:extLst>
          </p:cNvPr>
          <p:cNvSpPr/>
          <p:nvPr/>
        </p:nvSpPr>
        <p:spPr>
          <a:xfrm>
            <a:off x="2043563" y="4730056"/>
            <a:ext cx="576440" cy="339570"/>
          </a:xfrm>
          <a:prstGeom prst="rightArrow">
            <a:avLst/>
          </a:prstGeom>
          <a:solidFill>
            <a:srgbClr val="0066CC"/>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131" name="文本框 130">
            <a:extLst>
              <a:ext uri="{FF2B5EF4-FFF2-40B4-BE49-F238E27FC236}">
                <a16:creationId xmlns:a16="http://schemas.microsoft.com/office/drawing/2014/main" id="{C9DBBFB1-38CF-42E7-BC46-25B8741B3652}"/>
              </a:ext>
            </a:extLst>
          </p:cNvPr>
          <p:cNvSpPr txBox="1"/>
          <p:nvPr/>
        </p:nvSpPr>
        <p:spPr>
          <a:xfrm>
            <a:off x="1960367" y="3543938"/>
            <a:ext cx="2407096" cy="338554"/>
          </a:xfrm>
          <a:prstGeom prst="rect">
            <a:avLst/>
          </a:prstGeom>
          <a:noFill/>
        </p:spPr>
        <p:txBody>
          <a:bodyPr wrap="square">
            <a:spAutoFit/>
          </a:bodyPr>
          <a:lstStyle/>
          <a:p>
            <a:r>
              <a:rPr lang="zh-CN" altLang="en-US" sz="1600" dirty="0"/>
              <a:t>Level-wise tree growth</a:t>
            </a:r>
          </a:p>
        </p:txBody>
      </p:sp>
      <p:sp>
        <p:nvSpPr>
          <p:cNvPr id="132" name="文本框 131">
            <a:extLst>
              <a:ext uri="{FF2B5EF4-FFF2-40B4-BE49-F238E27FC236}">
                <a16:creationId xmlns:a16="http://schemas.microsoft.com/office/drawing/2014/main" id="{A97B04B1-4496-4CC0-85D1-118AB8ED7FB6}"/>
              </a:ext>
            </a:extLst>
          </p:cNvPr>
          <p:cNvSpPr txBox="1"/>
          <p:nvPr/>
        </p:nvSpPr>
        <p:spPr>
          <a:xfrm>
            <a:off x="2060559" y="6051863"/>
            <a:ext cx="2407096" cy="338554"/>
          </a:xfrm>
          <a:prstGeom prst="rect">
            <a:avLst/>
          </a:prstGeom>
          <a:noFill/>
        </p:spPr>
        <p:txBody>
          <a:bodyPr wrap="square">
            <a:spAutoFit/>
          </a:bodyPr>
          <a:lstStyle/>
          <a:p>
            <a:r>
              <a:rPr lang="zh-CN" altLang="en-US" sz="1600" dirty="0"/>
              <a:t>Le</a:t>
            </a:r>
            <a:r>
              <a:rPr lang="en-US" altLang="zh-CN" sz="1600" dirty="0" err="1"/>
              <a:t>af</a:t>
            </a:r>
            <a:r>
              <a:rPr lang="zh-CN" altLang="en-US" sz="1600" dirty="0"/>
              <a:t>-wise tree growth</a:t>
            </a:r>
          </a:p>
        </p:txBody>
      </p:sp>
      <p:sp>
        <p:nvSpPr>
          <p:cNvPr id="4132" name="文本框 4131">
            <a:extLst>
              <a:ext uri="{FF2B5EF4-FFF2-40B4-BE49-F238E27FC236}">
                <a16:creationId xmlns:a16="http://schemas.microsoft.com/office/drawing/2014/main" id="{2537FA2E-EB38-4E37-8267-99EF60723C36}"/>
              </a:ext>
            </a:extLst>
          </p:cNvPr>
          <p:cNvSpPr txBox="1"/>
          <p:nvPr/>
        </p:nvSpPr>
        <p:spPr>
          <a:xfrm>
            <a:off x="4775887" y="2587281"/>
            <a:ext cx="1199593" cy="461665"/>
          </a:xfrm>
          <a:prstGeom prst="rect">
            <a:avLst/>
          </a:prstGeom>
          <a:noFill/>
        </p:spPr>
        <p:txBody>
          <a:bodyPr wrap="square" rtlCol="0">
            <a:spAutoFit/>
          </a:bodyPr>
          <a:lstStyle/>
          <a:p>
            <a:r>
              <a:rPr lang="en-US" altLang="zh-CN" dirty="0"/>
              <a:t>……</a:t>
            </a:r>
            <a:endParaRPr lang="zh-CN" altLang="en-US" dirty="0"/>
          </a:p>
        </p:txBody>
      </p:sp>
      <p:sp>
        <p:nvSpPr>
          <p:cNvPr id="134" name="文本框 133">
            <a:extLst>
              <a:ext uri="{FF2B5EF4-FFF2-40B4-BE49-F238E27FC236}">
                <a16:creationId xmlns:a16="http://schemas.microsoft.com/office/drawing/2014/main" id="{39EDA541-1753-4BC1-A4C8-59DFA9390020}"/>
              </a:ext>
            </a:extLst>
          </p:cNvPr>
          <p:cNvSpPr txBox="1"/>
          <p:nvPr/>
        </p:nvSpPr>
        <p:spPr>
          <a:xfrm>
            <a:off x="6789528" y="4559309"/>
            <a:ext cx="1199593" cy="461665"/>
          </a:xfrm>
          <a:prstGeom prst="rect">
            <a:avLst/>
          </a:prstGeom>
          <a:noFill/>
        </p:spPr>
        <p:txBody>
          <a:bodyPr wrap="square" rtlCol="0">
            <a:spAutoFit/>
          </a:bodyPr>
          <a:lstStyle/>
          <a:p>
            <a:r>
              <a:rPr lang="en-US" altLang="zh-CN" dirty="0"/>
              <a:t>……</a:t>
            </a:r>
            <a:endParaRPr lang="zh-CN" altLang="en-US" dirty="0"/>
          </a:p>
        </p:txBody>
      </p:sp>
      <p:sp>
        <p:nvSpPr>
          <p:cNvPr id="141" name="文本框 140">
            <a:extLst>
              <a:ext uri="{FF2B5EF4-FFF2-40B4-BE49-F238E27FC236}">
                <a16:creationId xmlns:a16="http://schemas.microsoft.com/office/drawing/2014/main" id="{CCFDC3FE-BA14-44F4-B5C6-92236783B6ED}"/>
              </a:ext>
            </a:extLst>
          </p:cNvPr>
          <p:cNvSpPr txBox="1"/>
          <p:nvPr/>
        </p:nvSpPr>
        <p:spPr>
          <a:xfrm>
            <a:off x="676397" y="1344569"/>
            <a:ext cx="6096000" cy="461665"/>
          </a:xfrm>
          <a:prstGeom prst="rect">
            <a:avLst/>
          </a:prstGeom>
          <a:noFill/>
        </p:spPr>
        <p:txBody>
          <a:bodyPr wrap="square">
            <a:spAutoFit/>
          </a:bodyPr>
          <a:lstStyle/>
          <a:p>
            <a:r>
              <a:rPr lang="zh-CN" altLang="zh-CN" b="1" kern="100" dirty="0">
                <a:effectLst/>
                <a:latin typeface="微软雅黑" panose="020B0503020204020204" pitchFamily="34" charset="-122"/>
                <a:cs typeface="Times New Roman" panose="02020603050405020304" pitchFamily="18" charset="0"/>
              </a:rPr>
              <a:t>基于最大深度的</a:t>
            </a:r>
            <a:r>
              <a:rPr lang="en-US" altLang="zh-CN" b="1" kern="100" dirty="0">
                <a:effectLst/>
                <a:latin typeface="微软雅黑" panose="020B0503020204020204" pitchFamily="34" charset="-122"/>
                <a:cs typeface="Times New Roman" panose="02020603050405020304" pitchFamily="18" charset="0"/>
              </a:rPr>
              <a:t> Leaf-wise </a:t>
            </a:r>
            <a:r>
              <a:rPr lang="zh-CN" altLang="zh-CN" b="1" kern="100" dirty="0">
                <a:effectLst/>
                <a:latin typeface="微软雅黑" panose="020B0503020204020204" pitchFamily="34" charset="-122"/>
                <a:cs typeface="Times New Roman" panose="02020603050405020304" pitchFamily="18" charset="0"/>
              </a:rPr>
              <a:t>的垂直生长算法</a:t>
            </a:r>
            <a:endParaRPr lang="zh-CN" altLang="en-US" b="1" dirty="0">
              <a:latin typeface="微软雅黑" panose="020B0503020204020204" pitchFamily="34" charset="-122"/>
            </a:endParaRPr>
          </a:p>
        </p:txBody>
      </p:sp>
    </p:spTree>
    <p:extLst>
      <p:ext uri="{BB962C8B-B14F-4D97-AF65-F5344CB8AC3E}">
        <p14:creationId xmlns:p14="http://schemas.microsoft.com/office/powerpoint/2010/main" val="345289382"/>
      </p:ext>
    </p:extLst>
  </p:cSld>
  <p:clrMapOvr>
    <a:masterClrMapping/>
  </p:clrMapOvr>
  <p:transition advTm="8005"/>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2">
            <a:extLst>
              <a:ext uri="{FF2B5EF4-FFF2-40B4-BE49-F238E27FC236}">
                <a16:creationId xmlns:a16="http://schemas.microsoft.com/office/drawing/2014/main" id="{4CDD033A-9BDC-462A-93B9-D2A3289CB391}"/>
              </a:ext>
            </a:extLst>
          </p:cNvPr>
          <p:cNvSpPr txBox="1">
            <a:spLocks noChangeArrowheads="1"/>
          </p:cNvSpPr>
          <p:nvPr/>
        </p:nvSpPr>
        <p:spPr bwMode="auto">
          <a:xfrm>
            <a:off x="634328" y="26654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参考文献</a:t>
            </a:r>
            <a:br>
              <a:rPr lang="zh-CN" altLang="en-US" dirty="0"/>
            </a:br>
            <a:endParaRPr lang="zh-CN" altLang="en-US" dirty="0"/>
          </a:p>
        </p:txBody>
      </p:sp>
      <p:sp>
        <p:nvSpPr>
          <p:cNvPr id="6" name="矩形 5"/>
          <p:cNvSpPr/>
          <p:nvPr/>
        </p:nvSpPr>
        <p:spPr>
          <a:xfrm>
            <a:off x="597498" y="1270278"/>
            <a:ext cx="10654193" cy="4042966"/>
          </a:xfrm>
          <a:prstGeom prst="rect">
            <a:avLst/>
          </a:prstGeom>
        </p:spPr>
        <p:txBody>
          <a:bodyPr wrap="square">
            <a:spAutoFit/>
          </a:bodyPr>
          <a:lstStyle/>
          <a:p>
            <a:pPr>
              <a:lnSpc>
                <a:spcPct val="130000"/>
              </a:lnSpc>
              <a:spcBef>
                <a:spcPts val="300"/>
              </a:spcBef>
              <a:spcAft>
                <a:spcPts val="300"/>
              </a:spcAft>
            </a:pPr>
            <a:r>
              <a:rPr lang="en-US" altLang="zh-CN" sz="1800" kern="100" dirty="0">
                <a:effectLst/>
                <a:latin typeface="+mj-ea"/>
                <a:ea typeface="+mj-ea"/>
              </a:rPr>
              <a:t>[1] </a:t>
            </a:r>
            <a:r>
              <a:rPr lang="zh-CN" altLang="en-US" sz="1800" kern="100" dirty="0">
                <a:effectLst/>
                <a:latin typeface="+mj-ea"/>
                <a:ea typeface="+mj-ea"/>
              </a:rPr>
              <a:t>李航</a:t>
            </a:r>
            <a:r>
              <a:rPr lang="en-US" altLang="zh-CN" sz="1800" kern="100" dirty="0">
                <a:effectLst/>
                <a:latin typeface="+mj-ea"/>
                <a:ea typeface="+mj-ea"/>
              </a:rPr>
              <a:t>. </a:t>
            </a:r>
            <a:r>
              <a:rPr lang="zh-CN" altLang="en-US" sz="1800" kern="100" dirty="0">
                <a:effectLst/>
                <a:latin typeface="+mj-ea"/>
                <a:ea typeface="+mj-ea"/>
              </a:rPr>
              <a:t>统计学习方法</a:t>
            </a:r>
            <a:r>
              <a:rPr lang="en-US" altLang="zh-CN" sz="1800" kern="100" dirty="0">
                <a:effectLst/>
                <a:latin typeface="+mj-ea"/>
                <a:ea typeface="+mj-ea"/>
              </a:rPr>
              <a:t>[M]. </a:t>
            </a:r>
            <a:r>
              <a:rPr lang="zh-CN" altLang="en-US" sz="1800" kern="100" dirty="0">
                <a:effectLst/>
                <a:latin typeface="+mj-ea"/>
                <a:ea typeface="+mj-ea"/>
              </a:rPr>
              <a:t>北京</a:t>
            </a:r>
            <a:r>
              <a:rPr lang="en-US" altLang="zh-CN" sz="1800" kern="100" dirty="0">
                <a:effectLst/>
                <a:latin typeface="+mj-ea"/>
                <a:ea typeface="+mj-ea"/>
              </a:rPr>
              <a:t>: </a:t>
            </a:r>
            <a:r>
              <a:rPr lang="zh-CN" altLang="en-US" sz="1800" kern="100" dirty="0">
                <a:effectLst/>
                <a:latin typeface="+mj-ea"/>
                <a:ea typeface="+mj-ea"/>
              </a:rPr>
              <a:t>清华大学出版社</a:t>
            </a:r>
            <a:r>
              <a:rPr lang="en-US" altLang="zh-CN" sz="1800" kern="100" dirty="0">
                <a:effectLst/>
                <a:latin typeface="+mj-ea"/>
                <a:ea typeface="+mj-ea"/>
              </a:rPr>
              <a:t>,2019.</a:t>
            </a:r>
          </a:p>
          <a:p>
            <a:pPr>
              <a:lnSpc>
                <a:spcPct val="130000"/>
              </a:lnSpc>
              <a:spcBef>
                <a:spcPts val="300"/>
              </a:spcBef>
              <a:spcAft>
                <a:spcPts val="300"/>
              </a:spcAft>
            </a:pPr>
            <a:r>
              <a:rPr lang="en-US" altLang="zh-CN" sz="1800" kern="100" dirty="0">
                <a:effectLst/>
                <a:latin typeface="+mj-ea"/>
                <a:ea typeface="+mj-ea"/>
              </a:rPr>
              <a:t>[2] </a:t>
            </a:r>
            <a:r>
              <a:rPr lang="zh-CN" altLang="en-US" sz="1800" kern="100" dirty="0">
                <a:effectLst/>
                <a:latin typeface="+mj-ea"/>
                <a:ea typeface="+mj-ea"/>
              </a:rPr>
              <a:t>周志华</a:t>
            </a:r>
            <a:r>
              <a:rPr lang="en-US" altLang="zh-CN" sz="1800" kern="100" dirty="0">
                <a:effectLst/>
                <a:latin typeface="+mj-ea"/>
                <a:ea typeface="+mj-ea"/>
              </a:rPr>
              <a:t>. </a:t>
            </a:r>
            <a:r>
              <a:rPr lang="zh-CN" altLang="en-US" sz="1800" kern="100" dirty="0">
                <a:effectLst/>
                <a:latin typeface="+mj-ea"/>
                <a:ea typeface="+mj-ea"/>
              </a:rPr>
              <a:t>机器学习</a:t>
            </a:r>
            <a:r>
              <a:rPr lang="en-US" altLang="zh-CN" sz="1800" kern="100" dirty="0">
                <a:effectLst/>
                <a:latin typeface="+mj-ea"/>
                <a:ea typeface="+mj-ea"/>
              </a:rPr>
              <a:t>[M]. </a:t>
            </a:r>
            <a:r>
              <a:rPr lang="zh-CN" altLang="en-US" sz="1800" kern="100" dirty="0">
                <a:effectLst/>
                <a:latin typeface="+mj-ea"/>
                <a:ea typeface="+mj-ea"/>
              </a:rPr>
              <a:t>北京</a:t>
            </a:r>
            <a:r>
              <a:rPr lang="en-US" altLang="zh-CN" sz="1800" kern="100" dirty="0">
                <a:effectLst/>
                <a:latin typeface="+mj-ea"/>
                <a:ea typeface="+mj-ea"/>
              </a:rPr>
              <a:t>: </a:t>
            </a:r>
            <a:r>
              <a:rPr lang="zh-CN" altLang="en-US" sz="1800" kern="100" dirty="0">
                <a:effectLst/>
                <a:latin typeface="+mj-ea"/>
                <a:ea typeface="+mj-ea"/>
              </a:rPr>
              <a:t>清华大学出版社</a:t>
            </a:r>
            <a:r>
              <a:rPr lang="en-US" altLang="zh-CN" sz="1800" kern="100" dirty="0">
                <a:effectLst/>
                <a:latin typeface="+mj-ea"/>
                <a:ea typeface="+mj-ea"/>
              </a:rPr>
              <a:t>,2016.</a:t>
            </a:r>
          </a:p>
          <a:p>
            <a:pPr>
              <a:lnSpc>
                <a:spcPct val="130000"/>
              </a:lnSpc>
              <a:spcBef>
                <a:spcPts val="300"/>
              </a:spcBef>
              <a:spcAft>
                <a:spcPts val="300"/>
              </a:spcAft>
            </a:pPr>
            <a:r>
              <a:rPr lang="en-US" altLang="zh-CN" sz="1800" kern="100" dirty="0">
                <a:effectLst/>
                <a:latin typeface="+mj-ea"/>
                <a:ea typeface="+mj-ea"/>
              </a:rPr>
              <a:t>[3] Quinlan J R . Bagging, Boosting, and C4.5[C]// Proceedings of the Thirteenth National Conference on Artificial Intelligence and Eighth Innovative Applications of Artificial Intelligence Conference, AAAI 96, IAAI 96, Portland, Oregon, August 4-8, 1996, Volume 1. 1996.</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[4] BREIMAN L. Random forests[J]. Machine learning, 2001, 45(1): 5–32.</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[5] Ridgeway G . Special Invited Paper. Additive Logistic Regression: A Statistical View of Boosting: Discussion[J]. Annals of Statistics, 2000, 28(2):393-400.</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[6] FRIEDMAN J H . Stochastic gradient boosting[J]. Computational Statistics &amp; Data Analysis, 2002, 38.</a:t>
            </a:r>
            <a:endParaRPr lang="zh-CN" altLang="zh-CN" sz="1800" kern="100" dirty="0">
              <a:effectLst/>
              <a:latin typeface="+mj-ea"/>
              <a:ea typeface="+mj-ea"/>
            </a:endParaRPr>
          </a:p>
        </p:txBody>
      </p:sp>
    </p:spTree>
    <p:extLst>
      <p:ext uri="{BB962C8B-B14F-4D97-AF65-F5344CB8AC3E}">
        <p14:creationId xmlns:p14="http://schemas.microsoft.com/office/powerpoint/2010/main" val="2075022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2">
            <a:extLst>
              <a:ext uri="{FF2B5EF4-FFF2-40B4-BE49-F238E27FC236}">
                <a16:creationId xmlns:a16="http://schemas.microsoft.com/office/drawing/2014/main" id="{4CDD033A-9BDC-462A-93B9-D2A3289CB391}"/>
              </a:ext>
            </a:extLst>
          </p:cNvPr>
          <p:cNvSpPr txBox="1">
            <a:spLocks noChangeArrowheads="1"/>
          </p:cNvSpPr>
          <p:nvPr/>
        </p:nvSpPr>
        <p:spPr bwMode="auto">
          <a:xfrm>
            <a:off x="634328" y="26654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参考文献</a:t>
            </a:r>
            <a:br>
              <a:rPr lang="zh-CN" altLang="en-US" dirty="0"/>
            </a:br>
            <a:endParaRPr lang="zh-CN" altLang="en-US" dirty="0"/>
          </a:p>
        </p:txBody>
      </p:sp>
      <p:sp>
        <p:nvSpPr>
          <p:cNvPr id="6" name="矩形 5"/>
          <p:cNvSpPr/>
          <p:nvPr/>
        </p:nvSpPr>
        <p:spPr>
          <a:xfrm>
            <a:off x="597498" y="1270278"/>
            <a:ext cx="10919369" cy="5123262"/>
          </a:xfrm>
          <a:prstGeom prst="rect">
            <a:avLst/>
          </a:prstGeom>
        </p:spPr>
        <p:txBody>
          <a:bodyPr wrap="square">
            <a:spAutoFit/>
          </a:bodyPr>
          <a:lstStyle/>
          <a:p>
            <a:pPr>
              <a:lnSpc>
                <a:spcPct val="130000"/>
              </a:lnSpc>
              <a:spcBef>
                <a:spcPts val="300"/>
              </a:spcBef>
              <a:spcAft>
                <a:spcPts val="300"/>
              </a:spcAft>
            </a:pPr>
            <a:r>
              <a:rPr lang="en-US" altLang="zh-CN" sz="1800" kern="100" dirty="0">
                <a:effectLst/>
                <a:latin typeface="+mj-ea"/>
                <a:ea typeface="+mj-ea"/>
              </a:rPr>
              <a:t>[7] FRIEDMAN J H. Greedy function approximation: A gradient boosting machine[J]. Annals of statistics, 2001: 1189–1232.</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[8] MACQUEEN J, OTHERS. Some methods for classification and analysis of multivariate observations[C]//Proceedings of the fifth Berkeley symposium on mathematical statistics and probability. Oakland, CA, USA, 1(14): 281–297.</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[9] CHEN T, GUESTRIN C. </a:t>
            </a:r>
            <a:r>
              <a:rPr lang="en-US" altLang="zh-CN" sz="1800" kern="100" dirty="0" err="1">
                <a:effectLst/>
                <a:latin typeface="+mj-ea"/>
                <a:ea typeface="+mj-ea"/>
              </a:rPr>
              <a:t>XGBoost:A</a:t>
            </a:r>
            <a:r>
              <a:rPr lang="en-US" altLang="zh-CN" sz="1800" kern="100" dirty="0">
                <a:effectLst/>
                <a:latin typeface="+mj-ea"/>
                <a:ea typeface="+mj-ea"/>
              </a:rPr>
              <a:t> Scalable Tree Boosting System[C]//Proceedings of the 22Nd ACM SIGKDD International Conference on Knowledge Discovery and Data Mining. ACM: 785–794.</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[10] NIELSEN </a:t>
            </a:r>
            <a:r>
              <a:rPr lang="en-US" altLang="zh-CN" sz="1800" kern="100" dirty="0" err="1">
                <a:effectLst/>
                <a:latin typeface="+mj-ea"/>
                <a:ea typeface="+mj-ea"/>
              </a:rPr>
              <a:t>Didrik</a:t>
            </a:r>
            <a:r>
              <a:rPr lang="en-US" altLang="zh-CN" sz="1800" kern="100" dirty="0">
                <a:effectLst/>
                <a:latin typeface="+mj-ea"/>
                <a:ea typeface="+mj-ea"/>
              </a:rPr>
              <a:t>. Tree Boosting With </a:t>
            </a:r>
            <a:r>
              <a:rPr lang="en-US" altLang="zh-CN" sz="1800" kern="100" dirty="0" err="1">
                <a:effectLst/>
                <a:latin typeface="+mj-ea"/>
                <a:ea typeface="+mj-ea"/>
              </a:rPr>
              <a:t>XGBoost</a:t>
            </a:r>
            <a:r>
              <a:rPr lang="en-US" altLang="zh-CN" sz="1800" kern="100" dirty="0">
                <a:effectLst/>
                <a:latin typeface="+mj-ea"/>
                <a:ea typeface="+mj-ea"/>
              </a:rPr>
              <a:t> - Why Does </a:t>
            </a:r>
            <a:r>
              <a:rPr lang="en-US" altLang="zh-CN" sz="1800" kern="100" dirty="0" err="1">
                <a:effectLst/>
                <a:latin typeface="+mj-ea"/>
                <a:ea typeface="+mj-ea"/>
              </a:rPr>
              <a:t>XGBoost</a:t>
            </a:r>
            <a:r>
              <a:rPr lang="en-US" altLang="zh-CN" sz="1800" kern="100" dirty="0">
                <a:effectLst/>
                <a:latin typeface="+mj-ea"/>
                <a:ea typeface="+mj-ea"/>
              </a:rPr>
              <a:t> Win “Every” Machine Learning Competition?[J], 2016.</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[11] </a:t>
            </a:r>
            <a:r>
              <a:rPr lang="en-US" altLang="zh-CN" sz="1800" kern="100" dirty="0" err="1">
                <a:effectLst/>
                <a:latin typeface="+mj-ea"/>
                <a:ea typeface="+mj-ea"/>
              </a:rPr>
              <a:t>Polyak</a:t>
            </a:r>
            <a:r>
              <a:rPr lang="en-US" altLang="zh-CN" sz="1800" kern="100" dirty="0">
                <a:effectLst/>
                <a:latin typeface="+mj-ea"/>
                <a:ea typeface="+mj-ea"/>
              </a:rPr>
              <a:t> B T . Newton's method and its use in optimization[J]. European Journal of Operational Research, 2007, 181(3):1086-1096. </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[12] KE G, MENG Q, FINLEY T, et al. </a:t>
            </a:r>
            <a:r>
              <a:rPr lang="en-US" altLang="zh-CN" sz="1800" kern="100" dirty="0" err="1">
                <a:effectLst/>
                <a:latin typeface="+mj-ea"/>
                <a:ea typeface="+mj-ea"/>
              </a:rPr>
              <a:t>LightGBM</a:t>
            </a:r>
            <a:r>
              <a:rPr lang="en-US" altLang="zh-CN" sz="1800" kern="100" dirty="0">
                <a:effectLst/>
                <a:latin typeface="+mj-ea"/>
                <a:ea typeface="+mj-ea"/>
              </a:rPr>
              <a:t>: A Highly Efficient Gradient Boosting Decision Tree[J]. 2017: 9.</a:t>
            </a:r>
            <a:endParaRPr lang="zh-CN" altLang="zh-CN" sz="1800" kern="100" dirty="0">
              <a:effectLst/>
              <a:latin typeface="+mj-ea"/>
              <a:ea typeface="+mj-ea"/>
            </a:endParaRPr>
          </a:p>
        </p:txBody>
      </p:sp>
    </p:spTree>
    <p:extLst>
      <p:ext uri="{BB962C8B-B14F-4D97-AF65-F5344CB8AC3E}">
        <p14:creationId xmlns:p14="http://schemas.microsoft.com/office/powerpoint/2010/main" val="34752177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635"/>
          </a:xfrm>
          <a:prstGeom prst="rect">
            <a:avLst/>
          </a:prstGeom>
        </p:spPr>
      </p:pic>
      <p:sp>
        <p:nvSpPr>
          <p:cNvPr id="8" name="矩形 7"/>
          <p:cNvSpPr/>
          <p:nvPr/>
        </p:nvSpPr>
        <p:spPr>
          <a:xfrm>
            <a:off x="0" y="0"/>
            <a:ext cx="12192000" cy="7379970"/>
          </a:xfrm>
          <a:prstGeom prst="rect">
            <a:avLst/>
          </a:prstGeom>
          <a:gradFill>
            <a:gsLst>
              <a:gs pos="11000">
                <a:schemeClr val="bg1"/>
              </a:gs>
              <a:gs pos="77000">
                <a:schemeClr val="bg1">
                  <a:alpha val="54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sp>
        <p:nvSpPr>
          <p:cNvPr id="5" name="文本框 62">
            <a:extLst>
              <a:ext uri="{FF2B5EF4-FFF2-40B4-BE49-F238E27FC236}">
                <a16:creationId xmlns:a16="http://schemas.microsoft.com/office/drawing/2014/main" id="{05B38BAA-90AB-43CE-9EE2-AB2A32E8577C}"/>
              </a:ext>
            </a:extLst>
          </p:cNvPr>
          <p:cNvSpPr txBox="1">
            <a:spLocks noChangeArrowheads="1"/>
          </p:cNvSpPr>
          <p:nvPr/>
        </p:nvSpPr>
        <p:spPr bwMode="auto">
          <a:xfrm>
            <a:off x="4593216" y="2800765"/>
            <a:ext cx="319510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6600" b="1" dirty="0">
                <a:solidFill>
                  <a:srgbClr val="4B649F"/>
                </a:solidFill>
              </a:rPr>
              <a:t>谢  谢！</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17838</TotalTime>
  <Words>3995</Words>
  <Application>Microsoft Office PowerPoint</Application>
  <PresentationFormat>宽屏</PresentationFormat>
  <Paragraphs>747</Paragraphs>
  <Slides>50</Slides>
  <Notes>37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50</vt:i4>
      </vt:variant>
    </vt:vector>
  </HeadingPairs>
  <TitlesOfParts>
    <vt:vector size="61" baseType="lpstr">
      <vt:lpstr>-apple-system</vt:lpstr>
      <vt:lpstr>等线</vt:lpstr>
      <vt:lpstr>Microsoft YaHei</vt:lpstr>
      <vt:lpstr>Microsoft YaHei</vt:lpstr>
      <vt:lpstr>Arial</vt:lpstr>
      <vt:lpstr>Cambria Math</vt:lpstr>
      <vt:lpstr>Impact</vt:lpstr>
      <vt:lpstr>Lato</vt:lpstr>
      <vt:lpstr>Source Sans Pro</vt:lpstr>
      <vt:lpstr>Times New Roman</vt:lpstr>
      <vt:lpstr>默认设计模板</vt:lpstr>
      <vt:lpstr>机器学习-集成学习  黄海广 副教授</vt:lpstr>
      <vt:lpstr>本章目录</vt:lpstr>
      <vt:lpstr>1.集成学习方法概述</vt:lpstr>
      <vt:lpstr>PowerPoint 演示文稿</vt:lpstr>
      <vt:lpstr>PowerPoint 演示文稿</vt:lpstr>
      <vt:lpstr>PowerPoint 演示文稿</vt:lpstr>
      <vt:lpstr>PowerPoint 演示文稿</vt:lpstr>
      <vt:lpstr>PowerPoint 演示文稿</vt:lpstr>
      <vt:lpstr>PowerPoint 演示文稿</vt:lpstr>
      <vt:lpstr>2.AdaBoost和GBDT算法</vt:lpstr>
      <vt:lpstr>AdaBoost算法</vt:lpstr>
      <vt:lpstr>Adaboost算法</vt:lpstr>
      <vt:lpstr>AdaBoost算法</vt:lpstr>
      <vt:lpstr>Adaboost算法</vt:lpstr>
      <vt:lpstr>GBDT算法</vt:lpstr>
      <vt:lpstr>GBDT算法</vt:lpstr>
      <vt:lpstr>GBDT算法</vt:lpstr>
      <vt:lpstr>GBDT算法</vt:lpstr>
      <vt:lpstr>GBDT算法</vt:lpstr>
      <vt:lpstr>GBDT算法</vt:lpstr>
      <vt:lpstr>GBDT算法</vt:lpstr>
      <vt:lpstr>GBDT算法</vt:lpstr>
      <vt:lpstr>GBDT算法</vt:lpstr>
      <vt:lpstr>GBDT算法</vt:lpstr>
      <vt:lpstr>GBDT算法</vt:lpstr>
      <vt:lpstr>3.XGBoost</vt:lpstr>
      <vt:lpstr>3.XGBoost</vt:lpstr>
      <vt:lpstr>3.XGBoost</vt:lpstr>
      <vt:lpstr>3.XGBoost</vt:lpstr>
      <vt:lpstr>3.XGBoost</vt:lpstr>
      <vt:lpstr>3.XGBoost</vt:lpstr>
      <vt:lpstr>3.XGBoost</vt:lpstr>
      <vt:lpstr>3.XGBoost</vt:lpstr>
      <vt:lpstr>3.XGBoost</vt:lpstr>
      <vt:lpstr>4.LightGBM</vt:lpstr>
      <vt:lpstr>4.LightGBM</vt:lpstr>
      <vt:lpstr>4.LightGBM</vt:lpstr>
      <vt:lpstr>4.LightGBM</vt:lpstr>
      <vt:lpstr>4.LightGBM</vt:lpstr>
      <vt:lpstr>4.LightGBM</vt:lpstr>
      <vt:lpstr>4.LightGBM</vt:lpstr>
      <vt:lpstr>4.LightGBM</vt:lpstr>
      <vt:lpstr>4.LightGBM</vt:lpstr>
      <vt:lpstr>4.直方图算法</vt:lpstr>
      <vt:lpstr>4.LightGBM</vt:lpstr>
      <vt:lpstr>4.LightGBM</vt:lpstr>
      <vt:lpstr>4.LightGBM</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dc:title>
  <dc:creator>黄海广</dc:creator>
  <cp:lastModifiedBy>黄 海广</cp:lastModifiedBy>
  <cp:revision>3379</cp:revision>
  <cp:lastPrinted>2018-06-09T17:02:00Z</cp:lastPrinted>
  <dcterms:created xsi:type="dcterms:W3CDTF">2016-05-18T20:32:00Z</dcterms:created>
  <dcterms:modified xsi:type="dcterms:W3CDTF">2022-12-03T14:30:56Z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