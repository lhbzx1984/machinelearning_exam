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heme/theme2.xml" ContentType="application/vnd.openxmlformats-officedocument.them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notesSlides/notesSlide1.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7" r:id="rId2"/>
    <p:sldId id="259" r:id="rId3"/>
    <p:sldId id="263" r:id="rId4"/>
    <p:sldId id="261" r:id="rId5"/>
    <p:sldId id="262" r:id="rId6"/>
    <p:sldId id="264" r:id="rId7"/>
    <p:sldId id="265" r:id="rId8"/>
    <p:sldId id="266" r:id="rId9"/>
    <p:sldId id="268" r:id="rId10"/>
    <p:sldId id="267" r:id="rId11"/>
    <p:sldId id="269" r:id="rId12"/>
    <p:sldId id="270" r:id="rId13"/>
    <p:sldId id="271" r:id="rId14"/>
    <p:sldId id="272" r:id="rId15"/>
    <p:sldId id="273" r:id="rId16"/>
    <p:sldId id="274" r:id="rId17"/>
    <p:sldId id="289"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60"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9" d="100"/>
          <a:sy n="79" d="100"/>
        </p:scale>
        <p:origin x="86"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2021/4/5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10" Type="http://schemas.openxmlformats.org/officeDocument/2006/relationships/slideMaster" Target="../slideMasters/slideMaster1.xml"/><Relationship Id="rId4" Type="http://schemas.openxmlformats.org/officeDocument/2006/relationships/tags" Target="../tags/tag49.xml"/><Relationship Id="rId9" Type="http://schemas.openxmlformats.org/officeDocument/2006/relationships/tags" Target="../tags/tag5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Master" Target="../slideMasters/slideMaster1.xml"/><Relationship Id="rId5" Type="http://schemas.openxmlformats.org/officeDocument/2006/relationships/tags" Target="../tags/tag68.xml"/><Relationship Id="rId4" Type="http://schemas.openxmlformats.org/officeDocument/2006/relationships/tags" Target="../tags/tag6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slideMaster" Target="../slideMasters/slideMaster1.xml"/><Relationship Id="rId4" Type="http://schemas.openxmlformats.org/officeDocument/2006/relationships/tags" Target="../tags/tag72.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tags" Target="../tags/tag90.xml"/><Relationship Id="rId3" Type="http://schemas.openxmlformats.org/officeDocument/2006/relationships/tags" Target="../tags/tag75.xml"/><Relationship Id="rId21" Type="http://schemas.openxmlformats.org/officeDocument/2006/relationships/tags" Target="../tags/tag93.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tags" Target="../tags/tag89.xml"/><Relationship Id="rId25" Type="http://schemas.openxmlformats.org/officeDocument/2006/relationships/slideMaster" Target="../slideMasters/slideMaster1.xml"/><Relationship Id="rId2" Type="http://schemas.openxmlformats.org/officeDocument/2006/relationships/tags" Target="../tags/tag74.xml"/><Relationship Id="rId16" Type="http://schemas.openxmlformats.org/officeDocument/2006/relationships/tags" Target="../tags/tag88.xml"/><Relationship Id="rId20" Type="http://schemas.openxmlformats.org/officeDocument/2006/relationships/tags" Target="../tags/tag92.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24" Type="http://schemas.openxmlformats.org/officeDocument/2006/relationships/tags" Target="../tags/tag96.xml"/><Relationship Id="rId5" Type="http://schemas.openxmlformats.org/officeDocument/2006/relationships/tags" Target="../tags/tag77.xml"/><Relationship Id="rId15" Type="http://schemas.openxmlformats.org/officeDocument/2006/relationships/tags" Target="../tags/tag87.xml"/><Relationship Id="rId23" Type="http://schemas.openxmlformats.org/officeDocument/2006/relationships/tags" Target="../tags/tag95.xml"/><Relationship Id="rId10" Type="http://schemas.openxmlformats.org/officeDocument/2006/relationships/tags" Target="../tags/tag82.xml"/><Relationship Id="rId19" Type="http://schemas.openxmlformats.org/officeDocument/2006/relationships/tags" Target="../tags/tag91.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 Id="rId22" Type="http://schemas.openxmlformats.org/officeDocument/2006/relationships/tags" Target="../tags/tag94.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slideMaster" Target="../slideMasters/slideMaster1.xml"/><Relationship Id="rId5" Type="http://schemas.openxmlformats.org/officeDocument/2006/relationships/tags" Target="../tags/tag108.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21.xml"/><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slideMaster" Target="../slideMasters/slideMaster1.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tags" Target="../tags/tag124.xml"/><Relationship Id="rId5" Type="http://schemas.openxmlformats.org/officeDocument/2006/relationships/tags" Target="../tags/tag118.xml"/><Relationship Id="rId10" Type="http://schemas.openxmlformats.org/officeDocument/2006/relationships/tags" Target="../tags/tag123.xml"/><Relationship Id="rId4" Type="http://schemas.openxmlformats.org/officeDocument/2006/relationships/tags" Target="../tags/tag117.xml"/><Relationship Id="rId9" Type="http://schemas.openxmlformats.org/officeDocument/2006/relationships/tags" Target="../tags/tag12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32.xml"/><Relationship Id="rId3" Type="http://schemas.openxmlformats.org/officeDocument/2006/relationships/tags" Target="../tags/tag127.xml"/><Relationship Id="rId7" Type="http://schemas.openxmlformats.org/officeDocument/2006/relationships/tags" Target="../tags/tag131.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11" Type="http://schemas.openxmlformats.org/officeDocument/2006/relationships/slideMaster" Target="../slideMasters/slideMaster1.xml"/><Relationship Id="rId5" Type="http://schemas.openxmlformats.org/officeDocument/2006/relationships/tags" Target="../tags/tag129.xml"/><Relationship Id="rId10" Type="http://schemas.openxmlformats.org/officeDocument/2006/relationships/tags" Target="../tags/tag134.xml"/><Relationship Id="rId4" Type="http://schemas.openxmlformats.org/officeDocument/2006/relationships/tags" Target="../tags/tag128.xml"/><Relationship Id="rId9" Type="http://schemas.openxmlformats.org/officeDocument/2006/relationships/tags" Target="../tags/tag133.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42.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slideMaster" Target="../slideMasters/slideMaster1.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0" Type="http://schemas.openxmlformats.org/officeDocument/2006/relationships/tags" Target="../tags/tag144.xml"/><Relationship Id="rId4" Type="http://schemas.openxmlformats.org/officeDocument/2006/relationships/tags" Target="../tags/tag138.xml"/><Relationship Id="rId9" Type="http://schemas.openxmlformats.org/officeDocument/2006/relationships/tags" Target="../tags/tag143.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slideMaster" Target="../slideMasters/slideMaster1.xml"/><Relationship Id="rId3" Type="http://schemas.openxmlformats.org/officeDocument/2006/relationships/tags" Target="../tags/tag148.xml"/><Relationship Id="rId7" Type="http://schemas.openxmlformats.org/officeDocument/2006/relationships/tags" Target="../tags/tag152.xml"/><Relationship Id="rId12" Type="http://schemas.openxmlformats.org/officeDocument/2006/relationships/tags" Target="../tags/tag157.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tags" Target="../tags/tag156.xml"/><Relationship Id="rId5" Type="http://schemas.openxmlformats.org/officeDocument/2006/relationships/tags" Target="../tags/tag150.xml"/><Relationship Id="rId10" Type="http://schemas.openxmlformats.org/officeDocument/2006/relationships/tags" Target="../tags/tag155.xml"/><Relationship Id="rId4" Type="http://schemas.openxmlformats.org/officeDocument/2006/relationships/tags" Target="../tags/tag149.xml"/><Relationship Id="rId9" Type="http://schemas.openxmlformats.org/officeDocument/2006/relationships/tags" Target="../tags/tag154.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slideMaster" Target="../slideMasters/slideMaster1.xm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tags" Target="../tags/tag169.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0" Type="http://schemas.openxmlformats.org/officeDocument/2006/relationships/tags" Target="../tags/tag167.xml"/><Relationship Id="rId4" Type="http://schemas.openxmlformats.org/officeDocument/2006/relationships/tags" Target="../tags/tag161.xml"/><Relationship Id="rId9" Type="http://schemas.openxmlformats.org/officeDocument/2006/relationships/tags" Target="../tags/tag16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13" name="任意多边形: 形状 12"/>
          <p:cNvSpPr/>
          <p:nvPr>
            <p:custDataLst>
              <p:tags r:id="rId1"/>
            </p:custDataLst>
          </p:nvPr>
        </p:nvSpPr>
        <p:spPr>
          <a:xfrm>
            <a:off x="9070340" y="0"/>
            <a:ext cx="3121660" cy="2059940"/>
          </a:xfrm>
          <a:custGeom>
            <a:avLst/>
            <a:gdLst>
              <a:gd name="connsiteX0" fmla="*/ 3121594 w 3121594"/>
              <a:gd name="connsiteY0" fmla="*/ 2059935 h 2059935"/>
              <a:gd name="connsiteX1" fmla="*/ 3121594 w 3121594"/>
              <a:gd name="connsiteY1" fmla="*/ 0 h 2059935"/>
              <a:gd name="connsiteX2" fmla="*/ 0 w 3121594"/>
              <a:gd name="connsiteY2" fmla="*/ 0 h 2059935"/>
            </a:gdLst>
            <a:ahLst/>
            <a:cxnLst>
              <a:cxn ang="0">
                <a:pos x="connsiteX0" y="connsiteY0"/>
              </a:cxn>
              <a:cxn ang="0">
                <a:pos x="connsiteX1" y="connsiteY1"/>
              </a:cxn>
              <a:cxn ang="0">
                <a:pos x="connsiteX2" y="connsiteY2"/>
              </a:cxn>
            </a:cxnLst>
            <a:rect l="l" t="t" r="r" b="b"/>
            <a:pathLst>
              <a:path w="3121594" h="2059935">
                <a:moveTo>
                  <a:pt x="3121594" y="2059935"/>
                </a:moveTo>
                <a:lnTo>
                  <a:pt x="3121594" y="0"/>
                </a:lnTo>
                <a:lnTo>
                  <a:pt x="0" y="0"/>
                </a:lnTo>
                <a:close/>
              </a:path>
            </a:pathLst>
          </a:custGeom>
          <a:solidFill>
            <a:schemeClr val="accent6"/>
          </a:solidFill>
          <a:ln w="6335" cap="flat">
            <a:noFill/>
            <a:prstDash val="solid"/>
            <a:miter/>
          </a:ln>
        </p:spPr>
        <p:txBody>
          <a:bodyPr rtlCol="0" anchor="ctr"/>
          <a:lstStyle/>
          <a:p>
            <a:endParaRPr lang="zh-CN" altLang="en-US"/>
          </a:p>
        </p:txBody>
      </p:sp>
      <p:grpSp>
        <p:nvGrpSpPr>
          <p:cNvPr id="14" name="组合 13"/>
          <p:cNvGrpSpPr/>
          <p:nvPr>
            <p:custDataLst>
              <p:tags r:id="rId2"/>
            </p:custDataLst>
          </p:nvPr>
        </p:nvGrpSpPr>
        <p:grpSpPr>
          <a:xfrm>
            <a:off x="0" y="4744778"/>
            <a:ext cx="5066665" cy="2120842"/>
            <a:chOff x="0" y="5477"/>
            <a:chExt cx="12744" cy="5335"/>
          </a:xfrm>
        </p:grpSpPr>
        <p:sp>
          <p:nvSpPr>
            <p:cNvPr id="23" name="任意多边形: 形状 22"/>
            <p:cNvSpPr/>
            <p:nvPr>
              <p:custDataLst>
                <p:tags r:id="rId12"/>
              </p:custDataLst>
            </p:nvPr>
          </p:nvSpPr>
          <p:spPr>
            <a:xfrm>
              <a:off x="2" y="5477"/>
              <a:ext cx="12742" cy="5335"/>
            </a:xfrm>
            <a:custGeom>
              <a:avLst/>
              <a:gdLst>
                <a:gd name="connsiteX0" fmla="*/ 0 w 7228154"/>
                <a:gd name="connsiteY0" fmla="*/ 0 h 4082474"/>
                <a:gd name="connsiteX1" fmla="*/ 0 w 7228154"/>
                <a:gd name="connsiteY1" fmla="*/ 4082475 h 4082474"/>
                <a:gd name="connsiteX2" fmla="*/ 7228154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4" y="4082475"/>
                  </a:lnTo>
                  <a:close/>
                </a:path>
              </a:pathLst>
            </a:custGeom>
            <a:solidFill>
              <a:schemeClr val="accent4"/>
            </a:solidFill>
            <a:ln w="6335" cap="flat">
              <a:noFill/>
              <a:prstDash val="solid"/>
              <a:miter/>
            </a:ln>
          </p:spPr>
          <p:txBody>
            <a:bodyPr rtlCol="0" anchor="ctr"/>
            <a:lstStyle/>
            <a:p>
              <a:endParaRPr lang="zh-CN" altLang="en-US" dirty="0"/>
            </a:p>
          </p:txBody>
        </p:sp>
        <p:sp>
          <p:nvSpPr>
            <p:cNvPr id="24" name="任意多边形: 形状 23"/>
            <p:cNvSpPr/>
            <p:nvPr>
              <p:custDataLst>
                <p:tags r:id="rId13"/>
              </p:custDataLst>
            </p:nvPr>
          </p:nvSpPr>
          <p:spPr>
            <a:xfrm>
              <a:off x="0" y="6151"/>
              <a:ext cx="11383" cy="4661"/>
            </a:xfrm>
            <a:custGeom>
              <a:avLst/>
              <a:gdLst>
                <a:gd name="connsiteX0" fmla="*/ 0 w 7228154"/>
                <a:gd name="connsiteY0" fmla="*/ 0 h 4082474"/>
                <a:gd name="connsiteX1" fmla="*/ 0 w 7228154"/>
                <a:gd name="connsiteY1" fmla="*/ 4082475 h 4082474"/>
                <a:gd name="connsiteX2" fmla="*/ 7228155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5" y="4082475"/>
                  </a:lnTo>
                  <a:close/>
                </a:path>
              </a:pathLst>
            </a:custGeom>
            <a:solidFill>
              <a:schemeClr val="accent6"/>
            </a:solidFill>
            <a:ln w="6335" cap="flat">
              <a:noFill/>
              <a:prstDash val="solid"/>
              <a:miter/>
            </a:ln>
          </p:spPr>
          <p:txBody>
            <a:bodyPr rtlCol="0" anchor="ctr"/>
            <a:lstStyle/>
            <a:p>
              <a:endParaRPr lang="zh-CN" altLang="en-US" dirty="0"/>
            </a:p>
          </p:txBody>
        </p:sp>
      </p:grpSp>
      <p:sp>
        <p:nvSpPr>
          <p:cNvPr id="25" name="任意多边形: 形状 24"/>
          <p:cNvSpPr/>
          <p:nvPr>
            <p:custDataLst>
              <p:tags r:id="rId3"/>
            </p:custDataLst>
          </p:nvPr>
        </p:nvSpPr>
        <p:spPr>
          <a:xfrm>
            <a:off x="0" y="0"/>
            <a:ext cx="2552700" cy="4409440"/>
          </a:xfrm>
          <a:custGeom>
            <a:avLst/>
            <a:gdLst>
              <a:gd name="connsiteX0" fmla="*/ 0 w 7837895"/>
              <a:gd name="connsiteY0" fmla="*/ 4409530 h 4409529"/>
              <a:gd name="connsiteX1" fmla="*/ 0 w 7837895"/>
              <a:gd name="connsiteY1" fmla="*/ 0 h 4409529"/>
              <a:gd name="connsiteX2" fmla="*/ 7837896 w 7837895"/>
              <a:gd name="connsiteY2" fmla="*/ 0 h 4409529"/>
            </a:gdLst>
            <a:ahLst/>
            <a:cxnLst>
              <a:cxn ang="0">
                <a:pos x="connsiteX0" y="connsiteY0"/>
              </a:cxn>
              <a:cxn ang="0">
                <a:pos x="connsiteX1" y="connsiteY1"/>
              </a:cxn>
              <a:cxn ang="0">
                <a:pos x="connsiteX2" y="connsiteY2"/>
              </a:cxn>
            </a:cxnLst>
            <a:rect l="l" t="t" r="r" b="b"/>
            <a:pathLst>
              <a:path w="7837895" h="4409529">
                <a:moveTo>
                  <a:pt x="0" y="4409530"/>
                </a:moveTo>
                <a:lnTo>
                  <a:pt x="0" y="0"/>
                </a:lnTo>
                <a:lnTo>
                  <a:pt x="7837896" y="0"/>
                </a:lnTo>
                <a:close/>
              </a:path>
            </a:pathLst>
          </a:custGeom>
          <a:solidFill>
            <a:schemeClr val="accent1"/>
          </a:solidFill>
          <a:ln w="6335" cap="flat">
            <a:noFill/>
            <a:prstDash val="solid"/>
            <a:miter/>
          </a:ln>
        </p:spPr>
        <p:txBody>
          <a:bodyPr rtlCol="0" anchor="ctr"/>
          <a:lstStyle/>
          <a:p>
            <a:endParaRPr lang="zh-CN" altLang="en-US" dirty="0"/>
          </a:p>
        </p:txBody>
      </p:sp>
      <p:cxnSp>
        <p:nvCxnSpPr>
          <p:cNvPr id="26" name="直接连接符 25"/>
          <p:cNvCxnSpPr/>
          <p:nvPr>
            <p:custDataLst>
              <p:tags r:id="rId4"/>
            </p:custDataLst>
          </p:nvPr>
        </p:nvCxnSpPr>
        <p:spPr>
          <a:xfrm>
            <a:off x="2800732" y="3622040"/>
            <a:ext cx="659053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5"/>
            </p:custDataLst>
          </p:nvPr>
        </p:nvSpPr>
        <p:spPr>
          <a:xfrm>
            <a:off x="1755527" y="1331623"/>
            <a:ext cx="8680946" cy="2121978"/>
          </a:xfrm>
        </p:spPr>
        <p:txBody>
          <a:bodyPr lIns="90000" tIns="46800" rIns="90000" bIns="0" anchor="b" anchorCtr="0">
            <a:normAutofit/>
          </a:bodyPr>
          <a:lstStyle>
            <a:lvl1pPr algn="ctr">
              <a:defRPr sz="5400" spc="600" baseline="0">
                <a:solidFill>
                  <a:schemeClr val="tx1">
                    <a:lumMod val="75000"/>
                    <a:lumOff val="25000"/>
                  </a:schemeClr>
                </a:solidFill>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3" name="副标题 2"/>
          <p:cNvSpPr>
            <a:spLocks noGrp="1"/>
          </p:cNvSpPr>
          <p:nvPr>
            <p:ph type="subTitle" idx="1" hasCustomPrompt="1"/>
            <p:custDataLst>
              <p:tags r:id="rId6"/>
            </p:custDataLst>
          </p:nvPr>
        </p:nvSpPr>
        <p:spPr>
          <a:xfrm>
            <a:off x="2192655" y="3713619"/>
            <a:ext cx="7896859" cy="511698"/>
          </a:xfrm>
        </p:spPr>
        <p:txBody>
          <a:bodyPr lIns="90170" tIns="46990" rIns="90170" bIns="46990" anchor="ctr" anchorCtr="0">
            <a:normAutofit/>
          </a:bodyPr>
          <a:lstStyle>
            <a:lvl1pPr marL="0" indent="0" algn="ctr" eaLnBrk="1" fontAlgn="auto" latinLnBrk="0" hangingPunct="1">
              <a:lnSpc>
                <a:spcPct val="100000"/>
              </a:lnSpc>
              <a:buNone/>
              <a:defRPr sz="2400" u="none" strike="noStrike" kern="1200" cap="none" spc="200" normalizeH="0" baseline="0">
                <a:solidFill>
                  <a:schemeClr val="tx1">
                    <a:lumMod val="75000"/>
                    <a:lumOff val="2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t>2021/4/5</a:t>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dirty="0"/>
          </a:p>
        </p:txBody>
      </p:sp>
      <p:sp>
        <p:nvSpPr>
          <p:cNvPr id="5" name="文本占位符 4"/>
          <p:cNvSpPr>
            <a:spLocks noGrp="1"/>
          </p:cNvSpPr>
          <p:nvPr>
            <p:ph type="body" sz="quarter" idx="13" hasCustomPrompt="1"/>
            <p:custDataLst>
              <p:tags r:id="rId10"/>
            </p:custDataLst>
          </p:nvPr>
        </p:nvSpPr>
        <p:spPr>
          <a:xfrm>
            <a:off x="2552700" y="4299889"/>
            <a:ext cx="7107238" cy="511698"/>
          </a:xfrm>
        </p:spPr>
        <p:txBody>
          <a:bodyPr lIns="90000" tIns="46800" rIns="90000" bIns="46800">
            <a:normAutofit/>
          </a:bodyPr>
          <a:lstStyle>
            <a:lvl1pPr marL="0" indent="0" algn="ctr">
              <a:buNone/>
              <a:defRPr sz="1800">
                <a:solidFill>
                  <a:schemeClr val="tx1">
                    <a:lumMod val="75000"/>
                    <a:lumOff val="25000"/>
                  </a:schemeClr>
                </a:solidFill>
              </a:defRPr>
            </a:lvl1pPr>
          </a:lstStyle>
          <a:p>
            <a:pPr lvl="0"/>
            <a:r>
              <a:rPr lang="zh-CN" altLang="en-US" dirty="0"/>
              <a:t>单击此处编辑文本</a:t>
            </a:r>
          </a:p>
        </p:txBody>
      </p:sp>
      <p:sp>
        <p:nvSpPr>
          <p:cNvPr id="7" name="文本占位符 6"/>
          <p:cNvSpPr>
            <a:spLocks noGrp="1"/>
          </p:cNvSpPr>
          <p:nvPr>
            <p:ph type="body" sz="quarter" idx="14" hasCustomPrompt="1"/>
            <p:custDataLst>
              <p:tags r:id="rId11"/>
            </p:custDataLst>
          </p:nvPr>
        </p:nvSpPr>
        <p:spPr>
          <a:xfrm>
            <a:off x="2552700" y="4790718"/>
            <a:ext cx="7107238" cy="511698"/>
          </a:xfrm>
        </p:spPr>
        <p:txBody>
          <a:bodyPr lIns="90000" tIns="46800" rIns="90000" bIns="46800">
            <a:normAutofit/>
          </a:bodyPr>
          <a:lstStyle>
            <a:lvl1pPr marL="0" indent="0" algn="ctr">
              <a:buNone/>
              <a:defRPr sz="1800">
                <a:solidFill>
                  <a:schemeClr val="tx1">
                    <a:lumMod val="75000"/>
                    <a:lumOff val="25000"/>
                  </a:schemeClr>
                </a:solidFill>
              </a:defRPr>
            </a:lvl1pPr>
          </a:lstStyle>
          <a:p>
            <a:pPr lvl="0"/>
            <a:r>
              <a:rPr lang="zh-CN" altLang="en-US" dirty="0"/>
              <a:t>单击此处编辑文本</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2021/4/5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1" y="0"/>
            <a:ext cx="4429387" cy="6858000"/>
          </a:xfrm>
          <a:prstGeom prst="rect">
            <a:avLst/>
          </a:prstGeom>
          <a:solidFill>
            <a:schemeClr val="accent1"/>
          </a:solidFill>
          <a:ln>
            <a:noFill/>
          </a:ln>
        </p:spPr>
        <p:style>
          <a:lnRef idx="2">
            <a:srgbClr val="282928">
              <a:shade val="50000"/>
            </a:srgbClr>
          </a:lnRef>
          <a:fillRef idx="1">
            <a:srgbClr val="282928"/>
          </a:fillRef>
          <a:effectRef idx="0">
            <a:srgbClr val="282928"/>
          </a:effectRef>
          <a:fontRef idx="minor">
            <a:sysClr val="window" lastClr="FFFFFF"/>
          </a:fontRef>
        </p:style>
        <p:txBody>
          <a:bodyPr rtlCol="0" anchor="ctr"/>
          <a:lstStyle/>
          <a:p>
            <a:pPr algn="ctr"/>
            <a:endParaRPr lang="zh-CN" altLang="en-US"/>
          </a:p>
        </p:txBody>
      </p:sp>
      <p:sp>
        <p:nvSpPr>
          <p:cNvPr id="54" name="矩形 53"/>
          <p:cNvSpPr/>
          <p:nvPr>
            <p:custDataLst>
              <p:tags r:id="rId2"/>
            </p:custDataLst>
          </p:nvPr>
        </p:nvSpPr>
        <p:spPr>
          <a:xfrm rot="18900000">
            <a:off x="3955998" y="2955611"/>
            <a:ext cx="946777" cy="946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custDataLst>
              <p:tags r:id="rId3"/>
            </p:custDataLst>
          </p:nvPr>
        </p:nvSpPr>
        <p:spPr>
          <a:xfrm rot="18900000">
            <a:off x="4227003" y="3226617"/>
            <a:ext cx="404767" cy="404767"/>
          </a:xfrm>
          <a:prstGeom prst="rect">
            <a:avLst/>
          </a:prstGeom>
          <a:solidFill>
            <a:schemeClr val="accent4"/>
          </a:solidFill>
          <a:ln>
            <a:noFill/>
          </a:ln>
        </p:spPr>
        <p:style>
          <a:lnRef idx="2">
            <a:srgbClr val="282928">
              <a:shade val="50000"/>
            </a:srgbClr>
          </a:lnRef>
          <a:fillRef idx="1">
            <a:srgbClr val="282928"/>
          </a:fillRef>
          <a:effectRef idx="0">
            <a:srgbClr val="282928"/>
          </a:effectRef>
          <a:fontRef idx="minor">
            <a:sysClr val="window" lastClr="FFFFFF"/>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5310135" y="2170322"/>
            <a:ext cx="6015208" cy="2357611"/>
          </a:xfrm>
        </p:spPr>
        <p:txBody>
          <a:bodyPr lIns="90000" tIns="46800" rIns="90000" bIns="46800" anchor="ctr" anchorCtr="0">
            <a:normAutofit/>
          </a:bodyPr>
          <a:lstStyle>
            <a:lvl1pPr>
              <a:defRPr sz="7200" u="none" strike="noStrike" kern="1200" cap="none" spc="300" normalizeH="0" baseline="0">
                <a:solidFill>
                  <a:schemeClr val="tx1">
                    <a:lumMod val="75000"/>
                    <a:lumOff val="2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t>2021/4/5</a:t>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a:no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2021/4/5</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2021/4/5</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6" name="图形 34"/>
          <p:cNvGrpSpPr/>
          <p:nvPr>
            <p:custDataLst>
              <p:tags r:id="rId1"/>
            </p:custDataLst>
          </p:nvPr>
        </p:nvGrpSpPr>
        <p:grpSpPr>
          <a:xfrm>
            <a:off x="9783683" y="0"/>
            <a:ext cx="2416749" cy="6869016"/>
            <a:chOff x="9761381" y="0"/>
            <a:chExt cx="2416749" cy="6869016"/>
          </a:xfrm>
          <a:solidFill>
            <a:srgbClr val="0894A5"/>
          </a:solidFill>
        </p:grpSpPr>
        <p:sp>
          <p:nvSpPr>
            <p:cNvPr id="7" name="任意多边形: 形状 3"/>
            <p:cNvSpPr/>
            <p:nvPr>
              <p:custDataLst>
                <p:tags r:id="rId7"/>
              </p:custDataLst>
            </p:nvPr>
          </p:nvSpPr>
          <p:spPr>
            <a:xfrm>
              <a:off x="9761381" y="0"/>
              <a:ext cx="2158624" cy="4069248"/>
            </a:xfrm>
            <a:custGeom>
              <a:avLst/>
              <a:gdLst>
                <a:gd name="connsiteX0" fmla="*/ 2158625 w 2158624"/>
                <a:gd name="connsiteY0" fmla="*/ 4069249 h 4069248"/>
                <a:gd name="connsiteX1" fmla="*/ 2158625 w 2158624"/>
                <a:gd name="connsiteY1" fmla="*/ 0 h 4069248"/>
                <a:gd name="connsiteX2" fmla="*/ 0 w 2158624"/>
                <a:gd name="connsiteY2" fmla="*/ 0 h 4069248"/>
              </a:gdLst>
              <a:ahLst/>
              <a:cxnLst>
                <a:cxn ang="0">
                  <a:pos x="connsiteX0" y="connsiteY0"/>
                </a:cxn>
                <a:cxn ang="0">
                  <a:pos x="connsiteX1" y="connsiteY1"/>
                </a:cxn>
                <a:cxn ang="0">
                  <a:pos x="connsiteX2" y="connsiteY2"/>
                </a:cxn>
              </a:cxnLst>
              <a:rect l="l" t="t" r="r" b="b"/>
              <a:pathLst>
                <a:path w="2158624" h="4069248">
                  <a:moveTo>
                    <a:pt x="2158625" y="4069249"/>
                  </a:moveTo>
                  <a:lnTo>
                    <a:pt x="2158625" y="0"/>
                  </a:lnTo>
                  <a:lnTo>
                    <a:pt x="0" y="0"/>
                  </a:lnTo>
                  <a:close/>
                </a:path>
              </a:pathLst>
            </a:custGeom>
            <a:solidFill>
              <a:schemeClr val="accent4"/>
            </a:solidFill>
            <a:ln w="6325" cap="flat">
              <a:noFill/>
              <a:prstDash val="solid"/>
              <a:miter/>
            </a:ln>
          </p:spPr>
          <p:txBody>
            <a:bodyPr rtlCol="0" anchor="ctr"/>
            <a:lstStyle/>
            <a:p>
              <a:endParaRPr lang="zh-CN" altLang="en-US"/>
            </a:p>
          </p:txBody>
        </p:sp>
        <p:sp>
          <p:nvSpPr>
            <p:cNvPr id="8" name="任意多边形: 形状 4"/>
            <p:cNvSpPr/>
            <p:nvPr>
              <p:custDataLst>
                <p:tags r:id="rId8"/>
              </p:custDataLst>
            </p:nvPr>
          </p:nvSpPr>
          <p:spPr>
            <a:xfrm>
              <a:off x="10019506" y="0"/>
              <a:ext cx="2158624" cy="4069248"/>
            </a:xfrm>
            <a:custGeom>
              <a:avLst/>
              <a:gdLst>
                <a:gd name="connsiteX0" fmla="*/ 2158625 w 2158624"/>
                <a:gd name="connsiteY0" fmla="*/ 4069249 h 4069248"/>
                <a:gd name="connsiteX1" fmla="*/ 2158625 w 2158624"/>
                <a:gd name="connsiteY1" fmla="*/ 0 h 4069248"/>
                <a:gd name="connsiteX2" fmla="*/ 0 w 2158624"/>
                <a:gd name="connsiteY2" fmla="*/ 0 h 4069248"/>
              </a:gdLst>
              <a:ahLst/>
              <a:cxnLst>
                <a:cxn ang="0">
                  <a:pos x="connsiteX0" y="connsiteY0"/>
                </a:cxn>
                <a:cxn ang="0">
                  <a:pos x="connsiteX1" y="connsiteY1"/>
                </a:cxn>
                <a:cxn ang="0">
                  <a:pos x="connsiteX2" y="connsiteY2"/>
                </a:cxn>
              </a:cxnLst>
              <a:rect l="l" t="t" r="r" b="b"/>
              <a:pathLst>
                <a:path w="2158624" h="4069248">
                  <a:moveTo>
                    <a:pt x="2158625" y="4069249"/>
                  </a:moveTo>
                  <a:lnTo>
                    <a:pt x="2158625" y="0"/>
                  </a:lnTo>
                  <a:lnTo>
                    <a:pt x="0" y="0"/>
                  </a:lnTo>
                  <a:close/>
                </a:path>
              </a:pathLst>
            </a:custGeom>
            <a:solidFill>
              <a:schemeClr val="accent6"/>
            </a:solidFill>
            <a:ln w="6325" cap="flat">
              <a:noFill/>
              <a:prstDash val="solid"/>
              <a:miter/>
            </a:ln>
          </p:spPr>
          <p:txBody>
            <a:bodyPr rtlCol="0" anchor="ctr"/>
            <a:lstStyle/>
            <a:p>
              <a:endParaRPr lang="zh-CN" altLang="en-US" dirty="0"/>
            </a:p>
          </p:txBody>
        </p:sp>
        <p:sp>
          <p:nvSpPr>
            <p:cNvPr id="9" name="任意多边形: 形状 5"/>
            <p:cNvSpPr/>
            <p:nvPr>
              <p:custDataLst>
                <p:tags r:id="rId9"/>
              </p:custDataLst>
            </p:nvPr>
          </p:nvSpPr>
          <p:spPr>
            <a:xfrm>
              <a:off x="9837300" y="2473317"/>
              <a:ext cx="2340830" cy="4395699"/>
            </a:xfrm>
            <a:custGeom>
              <a:avLst/>
              <a:gdLst>
                <a:gd name="connsiteX0" fmla="*/ 2340830 w 2340830"/>
                <a:gd name="connsiteY0" fmla="*/ 0 h 4395699"/>
                <a:gd name="connsiteX1" fmla="*/ 2340830 w 2340830"/>
                <a:gd name="connsiteY1" fmla="*/ 4395700 h 4395699"/>
                <a:gd name="connsiteX2" fmla="*/ 0 w 2340830"/>
                <a:gd name="connsiteY2" fmla="*/ 4395700 h 4395699"/>
              </a:gdLst>
              <a:ahLst/>
              <a:cxnLst>
                <a:cxn ang="0">
                  <a:pos x="connsiteX0" y="connsiteY0"/>
                </a:cxn>
                <a:cxn ang="0">
                  <a:pos x="connsiteX1" y="connsiteY1"/>
                </a:cxn>
                <a:cxn ang="0">
                  <a:pos x="connsiteX2" y="connsiteY2"/>
                </a:cxn>
              </a:cxnLst>
              <a:rect l="l" t="t" r="r" b="b"/>
              <a:pathLst>
                <a:path w="2340830" h="4395699">
                  <a:moveTo>
                    <a:pt x="2340830" y="0"/>
                  </a:moveTo>
                  <a:lnTo>
                    <a:pt x="2340830" y="4395700"/>
                  </a:lnTo>
                  <a:lnTo>
                    <a:pt x="0" y="4395700"/>
                  </a:lnTo>
                  <a:close/>
                </a:path>
              </a:pathLst>
            </a:custGeom>
            <a:solidFill>
              <a:schemeClr val="accent1"/>
            </a:solidFill>
            <a:ln w="6325" cap="flat">
              <a:noFill/>
              <a:prstDash val="solid"/>
              <a:miter/>
            </a:ln>
          </p:spPr>
          <p:txBody>
            <a:bodyPr rtlCol="0" anchor="ctr"/>
            <a:lstStyle/>
            <a:p>
              <a:endParaRPr lang="zh-CN" altLang="en-US"/>
            </a:p>
          </p:txBody>
        </p:sp>
      </p:grpSp>
      <p:sp>
        <p:nvSpPr>
          <p:cNvPr id="10" name="任意多边形: 形状 6"/>
          <p:cNvSpPr/>
          <p:nvPr>
            <p:custDataLst>
              <p:tags r:id="rId2"/>
            </p:custDataLst>
          </p:nvPr>
        </p:nvSpPr>
        <p:spPr>
          <a:xfrm>
            <a:off x="0" y="5755540"/>
            <a:ext cx="965434" cy="1113476"/>
          </a:xfrm>
          <a:custGeom>
            <a:avLst/>
            <a:gdLst>
              <a:gd name="connsiteX0" fmla="*/ 0 w 965434"/>
              <a:gd name="connsiteY0" fmla="*/ 0 h 1113476"/>
              <a:gd name="connsiteX1" fmla="*/ 0 w 965434"/>
              <a:gd name="connsiteY1" fmla="*/ 1113476 h 1113476"/>
              <a:gd name="connsiteX2" fmla="*/ 965434 w 965434"/>
              <a:gd name="connsiteY2" fmla="*/ 1113476 h 1113476"/>
            </a:gdLst>
            <a:ahLst/>
            <a:cxnLst>
              <a:cxn ang="0">
                <a:pos x="connsiteX0" y="connsiteY0"/>
              </a:cxn>
              <a:cxn ang="0">
                <a:pos x="connsiteX1" y="connsiteY1"/>
              </a:cxn>
              <a:cxn ang="0">
                <a:pos x="connsiteX2" y="connsiteY2"/>
              </a:cxn>
            </a:cxnLst>
            <a:rect l="l" t="t" r="r" b="b"/>
            <a:pathLst>
              <a:path w="965434" h="1113476">
                <a:moveTo>
                  <a:pt x="0" y="0"/>
                </a:moveTo>
                <a:lnTo>
                  <a:pt x="0" y="1113476"/>
                </a:lnTo>
                <a:lnTo>
                  <a:pt x="965434" y="1113476"/>
                </a:lnTo>
                <a:close/>
              </a:path>
            </a:pathLst>
          </a:custGeom>
          <a:solidFill>
            <a:schemeClr val="accent1">
              <a:lumMod val="50000"/>
            </a:schemeClr>
          </a:solidFill>
          <a:ln w="6325" cap="flat">
            <a:noFill/>
            <a:prstDash val="solid"/>
            <a:miter/>
          </a:ln>
        </p:spPr>
        <p:txBody>
          <a:bodyPr rtlCol="0" anchor="ctr"/>
          <a:lstStyle/>
          <a:p>
            <a:endParaRPr lang="zh-CN" altLang="en-US"/>
          </a:p>
        </p:txBody>
      </p:sp>
      <p:sp>
        <p:nvSpPr>
          <p:cNvPr id="2" name="标题 1"/>
          <p:cNvSpPr>
            <a:spLocks noGrp="1"/>
          </p:cNvSpPr>
          <p:nvPr>
            <p:ph type="title"/>
            <p:custDataLst>
              <p:tags r:id="rId3"/>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2021/4/5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2021/4/5</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2021/4/5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73660" y="4859655"/>
            <a:ext cx="5760085" cy="1998345"/>
            <a:chOff x="4151937" y="5109029"/>
            <a:chExt cx="2721846" cy="944356"/>
          </a:xfrm>
        </p:grpSpPr>
        <p:sp>
          <p:nvSpPr>
            <p:cNvPr id="13" name="等腰三角形 12"/>
            <p:cNvSpPr/>
            <p:nvPr>
              <p:custDataLst>
                <p:tags r:id="rId16"/>
              </p:custDataLst>
            </p:nvPr>
          </p:nvSpPr>
          <p:spPr>
            <a:xfrm>
              <a:off x="4565168" y="5109029"/>
              <a:ext cx="1912727" cy="944356"/>
            </a:xfrm>
            <a:prstGeom prst="triangle">
              <a:avLst/>
            </a:prstGeom>
            <a:solidFill>
              <a:schemeClr val="accent6"/>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14" name="等腰三角形 13"/>
            <p:cNvSpPr/>
            <p:nvPr>
              <p:custDataLst>
                <p:tags r:id="rId17"/>
              </p:custDataLst>
            </p:nvPr>
          </p:nvSpPr>
          <p:spPr>
            <a:xfrm>
              <a:off x="5562405" y="5405929"/>
              <a:ext cx="1311378" cy="647456"/>
            </a:xfrm>
            <a:prstGeom prst="triangle">
              <a:avLst/>
            </a:prstGeom>
            <a:solidFill>
              <a:schemeClr val="accent1">
                <a:alpha val="92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0" name="等腰三角形 19"/>
            <p:cNvSpPr/>
            <p:nvPr>
              <p:custDataLst>
                <p:tags r:id="rId18"/>
              </p:custDataLst>
            </p:nvPr>
          </p:nvSpPr>
          <p:spPr>
            <a:xfrm>
              <a:off x="4786508" y="5720585"/>
              <a:ext cx="674063" cy="33280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2" name="等腰三角形 21"/>
            <p:cNvSpPr/>
            <p:nvPr>
              <p:custDataLst>
                <p:tags r:id="rId19"/>
              </p:custDataLst>
            </p:nvPr>
          </p:nvSpPr>
          <p:spPr>
            <a:xfrm>
              <a:off x="4151937" y="5645342"/>
              <a:ext cx="826463" cy="408043"/>
            </a:xfrm>
            <a:prstGeom prst="triangle">
              <a:avLst/>
            </a:prstGeom>
            <a:solidFill>
              <a:schemeClr val="accent4">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dirty="0"/>
            </a:p>
          </p:txBody>
        </p:sp>
        <p:sp>
          <p:nvSpPr>
            <p:cNvPr id="23" name="等腰三角形 22"/>
            <p:cNvSpPr/>
            <p:nvPr>
              <p:custDataLst>
                <p:tags r:id="rId20"/>
              </p:custDataLst>
            </p:nvPr>
          </p:nvSpPr>
          <p:spPr>
            <a:xfrm>
              <a:off x="6313124" y="5516676"/>
              <a:ext cx="266605" cy="131629"/>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4" name="等腰三角形 23"/>
            <p:cNvSpPr/>
            <p:nvPr>
              <p:custDataLst>
                <p:tags r:id="rId21"/>
              </p:custDataLst>
            </p:nvPr>
          </p:nvSpPr>
          <p:spPr>
            <a:xfrm>
              <a:off x="5572277" y="5720585"/>
              <a:ext cx="431377" cy="212981"/>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5" name="等腰三角形 24"/>
            <p:cNvSpPr/>
            <p:nvPr>
              <p:custDataLst>
                <p:tags r:id="rId22"/>
              </p:custDataLst>
            </p:nvPr>
          </p:nvSpPr>
          <p:spPr>
            <a:xfrm>
              <a:off x="5618478" y="5234511"/>
              <a:ext cx="169487" cy="8368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6" name="等腰三角形 25"/>
            <p:cNvSpPr/>
            <p:nvPr>
              <p:custDataLst>
                <p:tags r:id="rId23"/>
              </p:custDataLst>
            </p:nvPr>
          </p:nvSpPr>
          <p:spPr>
            <a:xfrm>
              <a:off x="4565168" y="5348993"/>
              <a:ext cx="266605" cy="131629"/>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7" name="等腰三角形 26"/>
            <p:cNvSpPr/>
            <p:nvPr>
              <p:custDataLst>
                <p:tags r:id="rId24"/>
              </p:custDataLst>
            </p:nvPr>
          </p:nvSpPr>
          <p:spPr>
            <a:xfrm>
              <a:off x="4202503" y="5803305"/>
              <a:ext cx="169487" cy="83680"/>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grpSp>
      <p:grpSp>
        <p:nvGrpSpPr>
          <p:cNvPr id="28" name="组合 27"/>
          <p:cNvGrpSpPr/>
          <p:nvPr>
            <p:custDataLst>
              <p:tags r:id="rId2"/>
            </p:custDataLst>
          </p:nvPr>
        </p:nvGrpSpPr>
        <p:grpSpPr>
          <a:xfrm rot="10800000">
            <a:off x="6449060" y="0"/>
            <a:ext cx="5737860" cy="1990725"/>
            <a:chOff x="4151937" y="5109029"/>
            <a:chExt cx="2721846" cy="944356"/>
          </a:xfrm>
        </p:grpSpPr>
        <p:sp>
          <p:nvSpPr>
            <p:cNvPr id="29" name="等腰三角形 28"/>
            <p:cNvSpPr/>
            <p:nvPr>
              <p:custDataLst>
                <p:tags r:id="rId7"/>
              </p:custDataLst>
            </p:nvPr>
          </p:nvSpPr>
          <p:spPr>
            <a:xfrm>
              <a:off x="4565168" y="5109029"/>
              <a:ext cx="1912727" cy="944356"/>
            </a:xfrm>
            <a:prstGeom prst="triangle">
              <a:avLst/>
            </a:prstGeom>
            <a:solidFill>
              <a:schemeClr val="accent6"/>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dirty="0"/>
            </a:p>
          </p:txBody>
        </p:sp>
        <p:sp>
          <p:nvSpPr>
            <p:cNvPr id="30" name="等腰三角形 29"/>
            <p:cNvSpPr/>
            <p:nvPr>
              <p:custDataLst>
                <p:tags r:id="rId8"/>
              </p:custDataLst>
            </p:nvPr>
          </p:nvSpPr>
          <p:spPr>
            <a:xfrm>
              <a:off x="5562405" y="5405929"/>
              <a:ext cx="1311378" cy="647456"/>
            </a:xfrm>
            <a:prstGeom prst="triangle">
              <a:avLst/>
            </a:prstGeom>
            <a:solidFill>
              <a:schemeClr val="accent1">
                <a:alpha val="92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1" name="等腰三角形 30"/>
            <p:cNvSpPr/>
            <p:nvPr>
              <p:custDataLst>
                <p:tags r:id="rId9"/>
              </p:custDataLst>
            </p:nvPr>
          </p:nvSpPr>
          <p:spPr>
            <a:xfrm>
              <a:off x="4786508" y="5720585"/>
              <a:ext cx="674063" cy="33280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2" name="等腰三角形 31"/>
            <p:cNvSpPr/>
            <p:nvPr>
              <p:custDataLst>
                <p:tags r:id="rId10"/>
              </p:custDataLst>
            </p:nvPr>
          </p:nvSpPr>
          <p:spPr>
            <a:xfrm>
              <a:off x="4151937" y="5645342"/>
              <a:ext cx="826463" cy="408043"/>
            </a:xfrm>
            <a:prstGeom prst="triangle">
              <a:avLst/>
            </a:prstGeom>
            <a:solidFill>
              <a:schemeClr val="accent4">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3" name="等腰三角形 32"/>
            <p:cNvSpPr/>
            <p:nvPr>
              <p:custDataLst>
                <p:tags r:id="rId11"/>
              </p:custDataLst>
            </p:nvPr>
          </p:nvSpPr>
          <p:spPr>
            <a:xfrm>
              <a:off x="6313124" y="5516676"/>
              <a:ext cx="266605" cy="131629"/>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4" name="等腰三角形 33"/>
            <p:cNvSpPr/>
            <p:nvPr>
              <p:custDataLst>
                <p:tags r:id="rId12"/>
              </p:custDataLst>
            </p:nvPr>
          </p:nvSpPr>
          <p:spPr>
            <a:xfrm>
              <a:off x="5572277" y="5720585"/>
              <a:ext cx="431377" cy="212981"/>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5" name="等腰三角形 34"/>
            <p:cNvSpPr/>
            <p:nvPr>
              <p:custDataLst>
                <p:tags r:id="rId13"/>
              </p:custDataLst>
            </p:nvPr>
          </p:nvSpPr>
          <p:spPr>
            <a:xfrm>
              <a:off x="5618478" y="5234511"/>
              <a:ext cx="169487" cy="8368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6" name="等腰三角形 35"/>
            <p:cNvSpPr/>
            <p:nvPr>
              <p:custDataLst>
                <p:tags r:id="rId14"/>
              </p:custDataLst>
            </p:nvPr>
          </p:nvSpPr>
          <p:spPr>
            <a:xfrm>
              <a:off x="4565168" y="5348993"/>
              <a:ext cx="266605" cy="131629"/>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7" name="等腰三角形 36"/>
            <p:cNvSpPr/>
            <p:nvPr>
              <p:custDataLst>
                <p:tags r:id="rId15"/>
              </p:custDataLst>
            </p:nvPr>
          </p:nvSpPr>
          <p:spPr>
            <a:xfrm>
              <a:off x="4202503" y="5803305"/>
              <a:ext cx="169487" cy="83680"/>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grpSp>
      <p:sp>
        <p:nvSpPr>
          <p:cNvPr id="2" name="标题 1"/>
          <p:cNvSpPr>
            <a:spLocks noGrp="1"/>
          </p:cNvSpPr>
          <p:nvPr>
            <p:ph type="title" hasCustomPrompt="1"/>
            <p:custDataLst>
              <p:tags r:id="rId3"/>
            </p:custDataLst>
          </p:nvPr>
        </p:nvSpPr>
        <p:spPr>
          <a:xfrm>
            <a:off x="2793365" y="2295525"/>
            <a:ext cx="6605270" cy="1950085"/>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9600" b="1" i="0" u="none" strike="noStrike" kern="1200" cap="none" spc="600" normalizeH="0" baseline="0" noProof="1" dirty="0">
                <a:solidFill>
                  <a:schemeClr val="tx1">
                    <a:lumMod val="75000"/>
                    <a:lumOff val="2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9" name="任意多边形: 形状 3"/>
          <p:cNvSpPr/>
          <p:nvPr>
            <p:custDataLst>
              <p:tags r:id="rId1"/>
            </p:custDataLst>
          </p:nvPr>
        </p:nvSpPr>
        <p:spPr>
          <a:xfrm>
            <a:off x="4930775" y="6114415"/>
            <a:ext cx="7261225" cy="66421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0" name="任意多边形: 形状 4"/>
          <p:cNvSpPr/>
          <p:nvPr>
            <p:custDataLst>
              <p:tags r:id="rId2"/>
            </p:custDataLst>
          </p:nvPr>
        </p:nvSpPr>
        <p:spPr>
          <a:xfrm>
            <a:off x="4930775" y="6193790"/>
            <a:ext cx="7261225" cy="66421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1" name="任意多边形: 形状 7"/>
          <p:cNvSpPr/>
          <p:nvPr>
            <p:custDataLst>
              <p:tags r:id="rId3"/>
            </p:custDataLst>
          </p:nvPr>
        </p:nvSpPr>
        <p:spPr>
          <a:xfrm>
            <a:off x="0" y="6148705"/>
            <a:ext cx="7843520" cy="72009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sp>
        <p:nvSpPr>
          <p:cNvPr id="2" name="标题 1"/>
          <p:cNvSpPr>
            <a:spLocks noGrp="1"/>
          </p:cNvSpPr>
          <p:nvPr>
            <p:ph type="title"/>
            <p:custDataLst>
              <p:tags r:id="rId4"/>
            </p:custDataLst>
          </p:nvPr>
        </p:nvSpPr>
        <p:spPr/>
        <p:txBody>
          <a:bodyPr/>
          <a:lstStyle>
            <a:lvl1pPr>
              <a:defRPr baseline="0">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15"/>
          <p:cNvSpPr/>
          <p:nvPr>
            <p:custDataLst>
              <p:tags r:id="rId2"/>
            </p:custDataLst>
          </p:nvPr>
        </p:nvSpPr>
        <p:spPr>
          <a:xfrm rot="8220000">
            <a:off x="-495300" y="549275"/>
            <a:ext cx="1016635" cy="1052195"/>
          </a:xfrm>
          <a:custGeom>
            <a:avLst/>
            <a:gdLst/>
            <a:ahLst/>
            <a:cxnLst>
              <a:cxn ang="3">
                <a:pos x="hc" y="t"/>
              </a:cxn>
              <a:cxn ang="cd2">
                <a:pos x="l" y="vc"/>
              </a:cxn>
              <a:cxn ang="cd4">
                <a:pos x="hc" y="b"/>
              </a:cxn>
              <a:cxn ang="0">
                <a:pos x="r" y="vc"/>
              </a:cxn>
            </a:cxnLst>
            <a:rect l="l" t="t" r="r" b="b"/>
            <a:pathLst>
              <a:path w="1090" h="1128">
                <a:moveTo>
                  <a:pt x="0" y="0"/>
                </a:moveTo>
                <a:lnTo>
                  <a:pt x="1090" y="0"/>
                </a:lnTo>
                <a:lnTo>
                  <a:pt x="38" y="1128"/>
                </a:lnTo>
                <a:lnTo>
                  <a:pt x="0" y="1128"/>
                </a:lnTo>
                <a:lnTo>
                  <a:pt x="0" y="0"/>
                </a:lnTo>
                <a:close/>
              </a:path>
            </a:pathLst>
          </a:custGeom>
          <a:solidFill>
            <a:schemeClr val="accent1"/>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grpSp>
        <p:nvGrpSpPr>
          <p:cNvPr id="11" name="组合 10"/>
          <p:cNvGrpSpPr/>
          <p:nvPr>
            <p:custDataLst>
              <p:tags r:id="rId3"/>
            </p:custDataLst>
          </p:nvPr>
        </p:nvGrpSpPr>
        <p:grpSpPr>
          <a:xfrm>
            <a:off x="11292205" y="4382135"/>
            <a:ext cx="899160" cy="2477770"/>
            <a:chOff x="17783" y="6171"/>
            <a:chExt cx="1416" cy="4632"/>
          </a:xfrm>
        </p:grpSpPr>
        <p:sp>
          <p:nvSpPr>
            <p:cNvPr id="12" name="任意多边形 11"/>
            <p:cNvSpPr/>
            <p:nvPr>
              <p:custDataLst>
                <p:tags r:id="rId9"/>
              </p:custDataLst>
            </p:nvPr>
          </p:nvSpPr>
          <p:spPr>
            <a:xfrm>
              <a:off x="17783" y="6641"/>
              <a:ext cx="1417" cy="4162"/>
            </a:xfrm>
            <a:custGeom>
              <a:avLst/>
              <a:gdLst>
                <a:gd name="ir" fmla="*/ w 3 4"/>
                <a:gd name="ib" fmla="*/ h 3 4"/>
              </a:gdLst>
              <a:ahLst/>
              <a:cxnLst>
                <a:cxn ang="3">
                  <a:pos x="hc" y="t"/>
                </a:cxn>
                <a:cxn ang="cd2">
                  <a:pos x="l" y="vc"/>
                </a:cxn>
                <a:cxn ang="cd4">
                  <a:pos x="hc" y="b"/>
                </a:cxn>
                <a:cxn ang="0">
                  <a:pos x="r" y="vc"/>
                </a:cxn>
              </a:cxnLst>
              <a:rect l="l" t="t" r="r" b="b"/>
              <a:pathLst>
                <a:path w="3741" h="7481">
                  <a:moveTo>
                    <a:pt x="3741" y="0"/>
                  </a:moveTo>
                  <a:lnTo>
                    <a:pt x="3741" y="1"/>
                  </a:lnTo>
                  <a:lnTo>
                    <a:pt x="3741" y="7481"/>
                  </a:lnTo>
                  <a:lnTo>
                    <a:pt x="3741" y="7481"/>
                  </a:lnTo>
                  <a:lnTo>
                    <a:pt x="0" y="3741"/>
                  </a:lnTo>
                  <a:lnTo>
                    <a:pt x="3741" y="0"/>
                  </a:lnTo>
                  <a:close/>
                </a:path>
              </a:pathLst>
            </a:custGeom>
            <a:solidFill>
              <a:schemeClr val="accent6"/>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sp>
          <p:nvSpPr>
            <p:cNvPr id="13" name="任意多边形 11"/>
            <p:cNvSpPr/>
            <p:nvPr>
              <p:custDataLst>
                <p:tags r:id="rId10"/>
              </p:custDataLst>
            </p:nvPr>
          </p:nvSpPr>
          <p:spPr>
            <a:xfrm>
              <a:off x="17783" y="6171"/>
              <a:ext cx="1417" cy="4162"/>
            </a:xfrm>
            <a:custGeom>
              <a:avLst/>
              <a:gdLst>
                <a:gd name="ir" fmla="*/ w 3 4"/>
                <a:gd name="ib" fmla="*/ h 3 4"/>
              </a:gdLst>
              <a:ahLst/>
              <a:cxnLst>
                <a:cxn ang="3">
                  <a:pos x="hc" y="t"/>
                </a:cxn>
                <a:cxn ang="cd2">
                  <a:pos x="l" y="vc"/>
                </a:cxn>
                <a:cxn ang="cd4">
                  <a:pos x="hc" y="b"/>
                </a:cxn>
                <a:cxn ang="0">
                  <a:pos x="r" y="vc"/>
                </a:cxn>
              </a:cxnLst>
              <a:rect l="l" t="t" r="r" b="b"/>
              <a:pathLst>
                <a:path w="3741" h="7481">
                  <a:moveTo>
                    <a:pt x="3741" y="0"/>
                  </a:moveTo>
                  <a:lnTo>
                    <a:pt x="3741" y="1"/>
                  </a:lnTo>
                  <a:lnTo>
                    <a:pt x="3741" y="7481"/>
                  </a:lnTo>
                  <a:lnTo>
                    <a:pt x="3741" y="7481"/>
                  </a:lnTo>
                  <a:lnTo>
                    <a:pt x="0" y="3741"/>
                  </a:lnTo>
                  <a:lnTo>
                    <a:pt x="3741" y="0"/>
                  </a:lnTo>
                  <a:close/>
                </a:path>
              </a:pathLst>
            </a:custGeom>
            <a:solidFill>
              <a:schemeClr val="accent1"/>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gr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grpSp>
        <p:nvGrpSpPr>
          <p:cNvPr id="11" name="组合 10"/>
          <p:cNvGrpSpPr/>
          <p:nvPr>
            <p:custDataLst>
              <p:tags r:id="rId1"/>
            </p:custDataLst>
          </p:nvPr>
        </p:nvGrpSpPr>
        <p:grpSpPr>
          <a:xfrm>
            <a:off x="7926070" y="6221730"/>
            <a:ext cx="4265930" cy="640080"/>
            <a:chOff x="6681" y="8932"/>
            <a:chExt cx="12521" cy="1880"/>
          </a:xfrm>
        </p:grpSpPr>
        <p:sp>
          <p:nvSpPr>
            <p:cNvPr id="12" name="任意多边形: 形状 3"/>
            <p:cNvSpPr/>
            <p:nvPr>
              <p:custDataLst>
                <p:tags r:id="rId10"/>
              </p:custDataLst>
            </p:nvPr>
          </p:nvSpPr>
          <p:spPr>
            <a:xfrm>
              <a:off x="6681" y="8932"/>
              <a:ext cx="12521" cy="188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3" name="任意多边形: 形状 4"/>
            <p:cNvSpPr/>
            <p:nvPr>
              <p:custDataLst>
                <p:tags r:id="rId11"/>
              </p:custDataLst>
            </p:nvPr>
          </p:nvSpPr>
          <p:spPr>
            <a:xfrm>
              <a:off x="7765" y="9076"/>
              <a:ext cx="11435" cy="1724"/>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grpSp>
      <p:sp>
        <p:nvSpPr>
          <p:cNvPr id="14" name="任意多边形: 形状 9"/>
          <p:cNvSpPr/>
          <p:nvPr>
            <p:custDataLst>
              <p:tags r:id="rId2"/>
            </p:custDataLst>
          </p:nvPr>
        </p:nvSpPr>
        <p:spPr>
          <a:xfrm>
            <a:off x="11525250" y="0"/>
            <a:ext cx="666750" cy="769620"/>
          </a:xfrm>
          <a:custGeom>
            <a:avLst/>
            <a:gdLst>
              <a:gd name="connsiteX0" fmla="*/ 969010 w 969009"/>
              <a:gd name="connsiteY0" fmla="*/ 1117600 h 1117600"/>
              <a:gd name="connsiteX1" fmla="*/ 969010 w 969009"/>
              <a:gd name="connsiteY1" fmla="*/ 0 h 1117600"/>
              <a:gd name="connsiteX2" fmla="*/ 0 w 969009"/>
              <a:gd name="connsiteY2" fmla="*/ 0 h 1117600"/>
            </a:gdLst>
            <a:ahLst/>
            <a:cxnLst>
              <a:cxn ang="0">
                <a:pos x="connsiteX0" y="connsiteY0"/>
              </a:cxn>
              <a:cxn ang="0">
                <a:pos x="connsiteX1" y="connsiteY1"/>
              </a:cxn>
              <a:cxn ang="0">
                <a:pos x="connsiteX2" y="connsiteY2"/>
              </a:cxn>
            </a:cxnLst>
            <a:rect l="l" t="t" r="r" b="b"/>
            <a:pathLst>
              <a:path w="969009" h="1117600">
                <a:moveTo>
                  <a:pt x="969010" y="1117600"/>
                </a:moveTo>
                <a:lnTo>
                  <a:pt x="969010" y="0"/>
                </a:lnTo>
                <a:lnTo>
                  <a:pt x="0" y="0"/>
                </a:lnTo>
                <a:close/>
              </a:path>
            </a:pathLst>
          </a:custGeom>
          <a:solidFill>
            <a:schemeClr val="accent1">
              <a:lumMod val="50000"/>
            </a:schemeClr>
          </a:solidFill>
          <a:ln w="6350" cap="flat">
            <a:noFill/>
            <a:prstDash val="solid"/>
            <a:miter/>
          </a:ln>
        </p:spPr>
        <p:txBody>
          <a:bodyPr rtlCol="0" anchor="ctr"/>
          <a:lstStyle/>
          <a:p>
            <a:endParaRPr lang="zh-CN" altLang="en-US"/>
          </a:p>
        </p:txBody>
      </p:sp>
      <p:sp>
        <p:nvSpPr>
          <p:cNvPr id="8" name="矩形 7"/>
          <p:cNvSpPr/>
          <p:nvPr>
            <p:custDataLst>
              <p:tags r:id="rId3"/>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bg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bg1"/>
                </a:solidFill>
                <a:latin typeface="Arial" panose="020B0604020202020204" pitchFamily="34" charset="0"/>
                <a:ea typeface="微软雅黑" panose="020B0503020204020204" charset="-122"/>
              </a:defRPr>
            </a:lvl1pPr>
            <a:lvl2pPr>
              <a:defRPr baseline="0">
                <a:solidFill>
                  <a:schemeClr val="bg1"/>
                </a:solidFill>
                <a:latin typeface="Arial" panose="020B0604020202020204" pitchFamily="34" charset="0"/>
                <a:ea typeface="微软雅黑" panose="020B0503020204020204" charset="-122"/>
              </a:defRPr>
            </a:lvl2pPr>
            <a:lvl3pPr>
              <a:defRPr baseline="0">
                <a:solidFill>
                  <a:schemeClr val="bg1"/>
                </a:solidFill>
                <a:latin typeface="Arial" panose="020B0604020202020204" pitchFamily="34" charset="0"/>
                <a:ea typeface="微软雅黑" panose="020B0503020204020204" charset="-122"/>
              </a:defRPr>
            </a:lvl3pPr>
            <a:lvl4pPr>
              <a:defRPr baseline="0">
                <a:solidFill>
                  <a:schemeClr val="bg1"/>
                </a:solidFill>
                <a:latin typeface="Arial" panose="020B0604020202020204" pitchFamily="34" charset="0"/>
                <a:ea typeface="微软雅黑" panose="020B0503020204020204" charset="-122"/>
              </a:defRPr>
            </a:lvl4pPr>
            <a:lvl5pPr>
              <a:defRPr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3" name="任意多边形: 形状 3"/>
          <p:cNvSpPr/>
          <p:nvPr>
            <p:custDataLst>
              <p:tags r:id="rId1"/>
            </p:custDataLst>
          </p:nvPr>
        </p:nvSpPr>
        <p:spPr>
          <a:xfrm>
            <a:off x="4930775" y="6388735"/>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4" name="任意多边形: 形状 4"/>
          <p:cNvSpPr/>
          <p:nvPr>
            <p:custDataLst>
              <p:tags r:id="rId2"/>
            </p:custDataLst>
          </p:nvPr>
        </p:nvSpPr>
        <p:spPr>
          <a:xfrm>
            <a:off x="4930775" y="6438900"/>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5" name="任意多边形: 形状 7"/>
          <p:cNvSpPr/>
          <p:nvPr>
            <p:custDataLst>
              <p:tags r:id="rId3"/>
            </p:custDataLst>
          </p:nvPr>
        </p:nvSpPr>
        <p:spPr>
          <a:xfrm>
            <a:off x="0" y="6414135"/>
            <a:ext cx="784352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sp>
        <p:nvSpPr>
          <p:cNvPr id="10" name="矩形 9"/>
          <p:cNvSpPr/>
          <p:nvPr>
            <p:custDataLst>
              <p:tags r:id="rId4"/>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bg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2" name="任意多边形: 形状 7"/>
          <p:cNvSpPr/>
          <p:nvPr>
            <p:custDataLst>
              <p:tags r:id="rId1"/>
            </p:custDataLst>
          </p:nvPr>
        </p:nvSpPr>
        <p:spPr>
          <a:xfrm rot="10800000">
            <a:off x="568960" y="0"/>
            <a:ext cx="1162304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grpSp>
        <p:nvGrpSpPr>
          <p:cNvPr id="13" name="组合 12"/>
          <p:cNvGrpSpPr/>
          <p:nvPr>
            <p:custDataLst>
              <p:tags r:id="rId2"/>
            </p:custDataLst>
          </p:nvPr>
        </p:nvGrpSpPr>
        <p:grpSpPr>
          <a:xfrm rot="10800000">
            <a:off x="-635" y="0"/>
            <a:ext cx="4265930" cy="640080"/>
            <a:chOff x="6681" y="8932"/>
            <a:chExt cx="12521" cy="1880"/>
          </a:xfrm>
        </p:grpSpPr>
        <p:sp>
          <p:nvSpPr>
            <p:cNvPr id="14" name="任意多边形: 形状 3"/>
            <p:cNvSpPr/>
            <p:nvPr>
              <p:custDataLst>
                <p:tags r:id="rId10"/>
              </p:custDataLst>
            </p:nvPr>
          </p:nvSpPr>
          <p:spPr>
            <a:xfrm>
              <a:off x="6681" y="8932"/>
              <a:ext cx="12521" cy="188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5" name="任意多边形: 形状 4"/>
            <p:cNvSpPr/>
            <p:nvPr>
              <p:custDataLst>
                <p:tags r:id="rId11"/>
              </p:custDataLst>
            </p:nvPr>
          </p:nvSpPr>
          <p:spPr>
            <a:xfrm>
              <a:off x="7765" y="9076"/>
              <a:ext cx="11435" cy="1724"/>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grpSp>
      <p:sp>
        <p:nvSpPr>
          <p:cNvPr id="8" name="矩形 7"/>
          <p:cNvSpPr/>
          <p:nvPr>
            <p:custDataLst>
              <p:tags r:id="rId3"/>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5" name="任意多边形: 形状 3"/>
          <p:cNvSpPr/>
          <p:nvPr>
            <p:custDataLst>
              <p:tags r:id="rId1"/>
            </p:custDataLst>
          </p:nvPr>
        </p:nvSpPr>
        <p:spPr>
          <a:xfrm>
            <a:off x="4930775" y="6388735"/>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6" name="任意多边形: 形状 4"/>
          <p:cNvSpPr/>
          <p:nvPr>
            <p:custDataLst>
              <p:tags r:id="rId2"/>
            </p:custDataLst>
          </p:nvPr>
        </p:nvSpPr>
        <p:spPr>
          <a:xfrm>
            <a:off x="4930775" y="6438900"/>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7" name="任意多边形: 形状 7"/>
          <p:cNvSpPr/>
          <p:nvPr>
            <p:custDataLst>
              <p:tags r:id="rId3"/>
            </p:custDataLst>
          </p:nvPr>
        </p:nvSpPr>
        <p:spPr>
          <a:xfrm>
            <a:off x="0" y="6414135"/>
            <a:ext cx="784352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dirty="0"/>
          </a:p>
        </p:txBody>
      </p:sp>
      <p:sp>
        <p:nvSpPr>
          <p:cNvPr id="10" name="矩形 9"/>
          <p:cNvSpPr/>
          <p:nvPr>
            <p:custDataLst>
              <p:tags r:id="rId4"/>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5"/>
            </p:custDataLst>
          </p:nvPr>
        </p:nvSpPr>
        <p:spPr>
          <a:xfrm>
            <a:off x="579600" y="237600"/>
            <a:ext cx="11037600" cy="441964"/>
          </a:xfrm>
        </p:spPr>
        <p:txBody>
          <a:bodyPr>
            <a:normAutofit/>
          </a:bodyPr>
          <a:lstStyle>
            <a:lvl1pPr>
              <a:defRPr sz="2800" baseline="0">
                <a:solidFill>
                  <a:schemeClr val="bg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9"/>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10"/>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1"/>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2"/>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12" name="组合 11"/>
          <p:cNvGrpSpPr/>
          <p:nvPr>
            <p:custDataLst>
              <p:tags r:id="rId2"/>
            </p:custDataLst>
          </p:nvPr>
        </p:nvGrpSpPr>
        <p:grpSpPr>
          <a:xfrm rot="10800000">
            <a:off x="10848975" y="3707765"/>
            <a:ext cx="1343025" cy="3265170"/>
            <a:chOff x="0" y="606"/>
            <a:chExt cx="1437" cy="8628"/>
          </a:xfrm>
        </p:grpSpPr>
        <p:sp>
          <p:nvSpPr>
            <p:cNvPr id="14" name="等腰三角形 13"/>
            <p:cNvSpPr/>
            <p:nvPr>
              <p:custDataLst>
                <p:tags r:id="rId11"/>
              </p:custDataLst>
            </p:nvPr>
          </p:nvSpPr>
          <p:spPr>
            <a:xfrm rot="5400000">
              <a:off x="-3067" y="3673"/>
              <a:ext cx="7571" cy="1437"/>
            </a:xfrm>
            <a:prstGeom prst="triangle">
              <a:avLst/>
            </a:prstGeom>
            <a:solidFill>
              <a:schemeClr val="accent6"/>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sp>
          <p:nvSpPr>
            <p:cNvPr id="15" name="等腰三角形 14"/>
            <p:cNvSpPr/>
            <p:nvPr>
              <p:custDataLst>
                <p:tags r:id="rId12"/>
              </p:custDataLst>
            </p:nvPr>
          </p:nvSpPr>
          <p:spPr>
            <a:xfrm rot="5400000">
              <a:off x="-3067" y="4730"/>
              <a:ext cx="7571" cy="1437"/>
            </a:xfrm>
            <a:prstGeom prst="triangle">
              <a:avLst/>
            </a:prstGeom>
            <a:solidFill>
              <a:schemeClr val="accent1"/>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grpSp>
      <p:grpSp>
        <p:nvGrpSpPr>
          <p:cNvPr id="16" name="组合 15"/>
          <p:cNvGrpSpPr/>
          <p:nvPr>
            <p:custDataLst>
              <p:tags r:id="rId3"/>
            </p:custDataLst>
          </p:nvPr>
        </p:nvGrpSpPr>
        <p:grpSpPr>
          <a:xfrm>
            <a:off x="0" y="113665"/>
            <a:ext cx="1343025" cy="3265170"/>
            <a:chOff x="0" y="606"/>
            <a:chExt cx="1437" cy="8628"/>
          </a:xfrm>
        </p:grpSpPr>
        <p:sp>
          <p:nvSpPr>
            <p:cNvPr id="17" name="等腰三角形 16"/>
            <p:cNvSpPr/>
            <p:nvPr>
              <p:custDataLst>
                <p:tags r:id="rId9"/>
              </p:custDataLst>
            </p:nvPr>
          </p:nvSpPr>
          <p:spPr>
            <a:xfrm rot="5400000">
              <a:off x="-3067" y="3673"/>
              <a:ext cx="7571" cy="1437"/>
            </a:xfrm>
            <a:prstGeom prst="triangle">
              <a:avLst/>
            </a:prstGeom>
            <a:solidFill>
              <a:schemeClr val="accent6"/>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sp>
          <p:nvSpPr>
            <p:cNvPr id="18" name="等腰三角形 17"/>
            <p:cNvSpPr/>
            <p:nvPr>
              <p:custDataLst>
                <p:tags r:id="rId10"/>
              </p:custDataLst>
            </p:nvPr>
          </p:nvSpPr>
          <p:spPr>
            <a:xfrm rot="5400000">
              <a:off x="-3067" y="4730"/>
              <a:ext cx="7571" cy="1437"/>
            </a:xfrm>
            <a:prstGeom prst="triangle">
              <a:avLst/>
            </a:prstGeom>
            <a:solidFill>
              <a:schemeClr val="accent1"/>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grpSp>
      <p:sp>
        <p:nvSpPr>
          <p:cNvPr id="2" name="标题 1"/>
          <p:cNvSpPr>
            <a:spLocks noGrp="1"/>
          </p:cNvSpPr>
          <p:nvPr>
            <p:ph type="title" hasCustomPrompt="1"/>
            <p:custDataLst>
              <p:tags r:id="rId4"/>
            </p:custDataLst>
          </p:nvPr>
        </p:nvSpPr>
        <p:spPr>
          <a:xfrm>
            <a:off x="1522800" y="1339200"/>
            <a:ext cx="9144000" cy="2386800"/>
          </a:xfrm>
        </p:spPr>
        <p:txBody>
          <a:bodyPr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2021/4/5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6.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2021/4/5</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lumMod val="85000"/>
              <a:lumOff val="15000"/>
            </a:schemeClr>
          </a:solidFill>
          <a:uFillTx/>
          <a:latin typeface="微软雅黑" panose="020B0503020204020204" charset="-122"/>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80.xml"/><Relationship Id="rId3" Type="http://schemas.openxmlformats.org/officeDocument/2006/relationships/tags" Target="../tags/tag175.xml"/><Relationship Id="rId7" Type="http://schemas.openxmlformats.org/officeDocument/2006/relationships/tags" Target="../tags/tag179.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slideLayout" Target="../slideLayouts/slideLayout6.xml"/><Relationship Id="rId5" Type="http://schemas.openxmlformats.org/officeDocument/2006/relationships/tags" Target="../tags/tag177.xml"/><Relationship Id="rId10" Type="http://schemas.openxmlformats.org/officeDocument/2006/relationships/tags" Target="../tags/tag182.xml"/><Relationship Id="rId4" Type="http://schemas.openxmlformats.org/officeDocument/2006/relationships/tags" Target="../tags/tag176.xml"/><Relationship Id="rId9" Type="http://schemas.openxmlformats.org/officeDocument/2006/relationships/tags" Target="../tags/tag18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84.xml"/><Relationship Id="rId1" Type="http://schemas.openxmlformats.org/officeDocument/2006/relationships/tags" Target="../tags/tag1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p:txBody>
          <a:bodyPr/>
          <a:lstStyle/>
          <a:p>
            <a:r>
              <a:rPr lang="en-US" altLang="zh-CN" dirty="0"/>
              <a:t>K-</a:t>
            </a:r>
            <a:r>
              <a:rPr lang="zh-CN" altLang="en-US" dirty="0"/>
              <a:t>近邻域算法</a:t>
            </a:r>
          </a:p>
        </p:txBody>
      </p:sp>
      <p:sp>
        <p:nvSpPr>
          <p:cNvPr id="5" name="文本占位符 4"/>
          <p:cNvSpPr>
            <a:spLocks noGrp="1"/>
          </p:cNvSpPr>
          <p:nvPr>
            <p:ph type="body" sz="quarter" idx="13"/>
            <p:custDataLst>
              <p:tags r:id="rId3"/>
            </p:custDataLst>
          </p:nvPr>
        </p:nvSpPr>
        <p:spPr>
          <a:xfrm>
            <a:off x="-473034" y="0"/>
            <a:ext cx="7107238" cy="511698"/>
          </a:xfrm>
        </p:spPr>
        <p:txBody>
          <a:bodyPr/>
          <a:lstStyle/>
          <a:p>
            <a:r>
              <a:rPr lang="zh-CN" altLang="en-US" dirty="0"/>
              <a:t>监督学习</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矩形 86"/>
          <p:cNvSpPr/>
          <p:nvPr>
            <p:custDataLst>
              <p:tags r:id="rId2"/>
            </p:custDataLst>
          </p:nvPr>
        </p:nvSpPr>
        <p:spPr>
          <a:xfrm>
            <a:off x="1605879" y="2674460"/>
            <a:ext cx="1116963" cy="829945"/>
          </a:xfrm>
          <a:prstGeom prst="rect">
            <a:avLst/>
          </a:prstGeom>
          <a:noFill/>
        </p:spPr>
        <p:txBody>
          <a:bodyPr wrap="square">
            <a:normAutofit/>
          </a:bodyPr>
          <a:lstStyle/>
          <a:p>
            <a:r>
              <a:rPr lang="en-US" altLang="zh-CN" sz="4800" b="1" spc="-200" dirty="0">
                <a:solidFill>
                  <a:schemeClr val="accent1"/>
                </a:solidFill>
                <a:uFillTx/>
                <a:latin typeface="Arial" panose="020B0604020202020204" pitchFamily="34" charset="0"/>
                <a:ea typeface="微软雅黑" panose="020B0503020204020204" charset="-122"/>
                <a:cs typeface="+mn-ea"/>
                <a:sym typeface="+mn-lt"/>
              </a:rPr>
              <a:t>01.</a:t>
            </a:r>
          </a:p>
        </p:txBody>
      </p:sp>
      <p:sp>
        <p:nvSpPr>
          <p:cNvPr id="88" name="矩形 87"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3"/>
            </p:custDataLst>
          </p:nvPr>
        </p:nvSpPr>
        <p:spPr>
          <a:xfrm>
            <a:off x="2713990" y="2613025"/>
            <a:ext cx="2863850" cy="690245"/>
          </a:xfrm>
          <a:prstGeom prst="rect">
            <a:avLst/>
          </a:prstGeom>
          <a:ln>
            <a:noFill/>
          </a:ln>
        </p:spPr>
        <p:txBody>
          <a:bodyPr wrap="square" lIns="90000" tIns="46800" rIns="90000" bIns="0" anchor="b" anchorCtr="0">
            <a:normAutofit/>
          </a:bodyPr>
          <a:lstStyle/>
          <a:p>
            <a:pPr>
              <a:lnSpc>
                <a:spcPct val="100000"/>
              </a:lnSpc>
            </a:pPr>
            <a:r>
              <a:rPr lang="zh-CN" altLang="en-US" sz="2400" b="1" spc="100" dirty="0">
                <a:solidFill>
                  <a:schemeClr val="accent1"/>
                </a:solidFill>
                <a:uFillTx/>
                <a:latin typeface="Arial" panose="020B0604020202020204" pitchFamily="34" charset="0"/>
                <a:ea typeface="微软雅黑" panose="020B0503020204020204" charset="-122"/>
                <a:cs typeface="+mn-ea"/>
                <a:sym typeface="+mn-lt"/>
              </a:rPr>
              <a:t>理解</a:t>
            </a:r>
            <a:r>
              <a:rPr lang="en-US" altLang="zh-CN" sz="2400" b="1" spc="100" dirty="0">
                <a:solidFill>
                  <a:schemeClr val="accent1"/>
                </a:solidFill>
                <a:uFillTx/>
                <a:latin typeface="Arial" panose="020B0604020202020204" pitchFamily="34" charset="0"/>
                <a:ea typeface="微软雅黑" panose="020B0503020204020204" charset="-122"/>
                <a:cs typeface="+mn-ea"/>
                <a:sym typeface="+mn-lt"/>
              </a:rPr>
              <a:t>KNN</a:t>
            </a:r>
            <a:r>
              <a:rPr lang="zh-CN" altLang="en-US" sz="2400" b="1" spc="100" dirty="0">
                <a:solidFill>
                  <a:schemeClr val="accent1"/>
                </a:solidFill>
                <a:uFillTx/>
                <a:latin typeface="Arial" panose="020B0604020202020204" pitchFamily="34" charset="0"/>
                <a:ea typeface="微软雅黑" panose="020B0503020204020204" charset="-122"/>
                <a:cs typeface="+mn-ea"/>
                <a:sym typeface="+mn-lt"/>
              </a:rPr>
              <a:t>算法原理</a:t>
            </a:r>
          </a:p>
        </p:txBody>
      </p:sp>
      <p:sp>
        <p:nvSpPr>
          <p:cNvPr id="90" name="矩形 89"/>
          <p:cNvSpPr/>
          <p:nvPr>
            <p:custDataLst>
              <p:tags r:id="rId4"/>
            </p:custDataLst>
          </p:nvPr>
        </p:nvSpPr>
        <p:spPr>
          <a:xfrm>
            <a:off x="1605879" y="4520286"/>
            <a:ext cx="1116963" cy="829945"/>
          </a:xfrm>
          <a:prstGeom prst="rect">
            <a:avLst/>
          </a:prstGeom>
          <a:noFill/>
        </p:spPr>
        <p:txBody>
          <a:bodyPr wrap="square">
            <a:normAutofit/>
          </a:bodyPr>
          <a:lstStyle/>
          <a:p>
            <a:r>
              <a:rPr lang="en-US" altLang="zh-CN" sz="4800" b="1" spc="-200" dirty="0">
                <a:solidFill>
                  <a:schemeClr val="accent3"/>
                </a:solidFill>
                <a:uFillTx/>
                <a:latin typeface="Arial" panose="020B0604020202020204" pitchFamily="34" charset="0"/>
                <a:ea typeface="微软雅黑" panose="020B0503020204020204" charset="-122"/>
                <a:cs typeface="+mn-ea"/>
                <a:sym typeface="+mn-lt"/>
              </a:rPr>
              <a:t>03.</a:t>
            </a:r>
          </a:p>
        </p:txBody>
      </p:sp>
      <p:sp>
        <p:nvSpPr>
          <p:cNvPr id="91" name="矩形 90"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5"/>
            </p:custDataLst>
          </p:nvPr>
        </p:nvSpPr>
        <p:spPr>
          <a:xfrm>
            <a:off x="2713990" y="4458970"/>
            <a:ext cx="2863850" cy="591185"/>
          </a:xfrm>
          <a:prstGeom prst="rect">
            <a:avLst/>
          </a:prstGeom>
          <a:ln>
            <a:noFill/>
          </a:ln>
        </p:spPr>
        <p:txBody>
          <a:bodyPr wrap="square" lIns="90000" tIns="46800" rIns="90000" bIns="0" anchor="b" anchorCtr="0">
            <a:normAutofit fontScale="92500" lnSpcReduction="20000"/>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了解</a:t>
            </a:r>
            <a:r>
              <a:rPr lang="en-US" altLang="zh-CN" sz="2400" b="1" spc="100" dirty="0">
                <a:solidFill>
                  <a:schemeClr val="accent2"/>
                </a:solidFill>
                <a:uFillTx/>
                <a:latin typeface="Arial" panose="020B0604020202020204" pitchFamily="34" charset="0"/>
                <a:ea typeface="微软雅黑" panose="020B0503020204020204" charset="-122"/>
                <a:cs typeface="+mn-ea"/>
                <a:sym typeface="+mn-lt"/>
              </a:rPr>
              <a:t>KNN</a:t>
            </a: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分类与回归算法步骤</a:t>
            </a:r>
            <a:endParaRPr lang="zh-CN" altLang="en-US" sz="2400" b="1" spc="100" dirty="0">
              <a:solidFill>
                <a:schemeClr val="accent3"/>
              </a:solidFill>
              <a:uFillTx/>
              <a:latin typeface="Arial" panose="020B0604020202020204" pitchFamily="34" charset="0"/>
              <a:ea typeface="微软雅黑" panose="020B0503020204020204" charset="-122"/>
              <a:cs typeface="+mn-ea"/>
              <a:sym typeface="+mn-lt"/>
            </a:endParaRPr>
          </a:p>
        </p:txBody>
      </p:sp>
      <p:sp>
        <p:nvSpPr>
          <p:cNvPr id="93" name="矩形 92"/>
          <p:cNvSpPr/>
          <p:nvPr>
            <p:custDataLst>
              <p:tags r:id="rId6"/>
            </p:custDataLst>
          </p:nvPr>
        </p:nvSpPr>
        <p:spPr>
          <a:xfrm>
            <a:off x="5777194" y="2674460"/>
            <a:ext cx="1116963" cy="829945"/>
          </a:xfrm>
          <a:prstGeom prst="rect">
            <a:avLst/>
          </a:prstGeom>
          <a:noFill/>
        </p:spPr>
        <p:txBody>
          <a:bodyPr wrap="square">
            <a:normAutofit/>
          </a:bodyPr>
          <a:lstStyle/>
          <a:p>
            <a:r>
              <a:rPr lang="en-US" altLang="zh-CN" sz="4800" b="1" spc="-200" dirty="0">
                <a:solidFill>
                  <a:schemeClr val="accent2"/>
                </a:solidFill>
                <a:uFillTx/>
                <a:latin typeface="Arial" panose="020B0604020202020204" pitchFamily="34" charset="0"/>
                <a:ea typeface="微软雅黑" panose="020B0503020204020204" charset="-122"/>
                <a:cs typeface="+mn-ea"/>
                <a:sym typeface="+mn-lt"/>
              </a:rPr>
              <a:t>02.</a:t>
            </a:r>
          </a:p>
        </p:txBody>
      </p:sp>
      <p:sp>
        <p:nvSpPr>
          <p:cNvPr id="94" name="矩形 93"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7"/>
            </p:custDataLst>
          </p:nvPr>
        </p:nvSpPr>
        <p:spPr>
          <a:xfrm>
            <a:off x="6885305" y="2613025"/>
            <a:ext cx="3202278" cy="601345"/>
          </a:xfrm>
          <a:prstGeom prst="rect">
            <a:avLst/>
          </a:prstGeom>
          <a:ln>
            <a:noFill/>
          </a:ln>
        </p:spPr>
        <p:txBody>
          <a:bodyPr wrap="square" lIns="90000" tIns="46800" rIns="90000" bIns="0" anchor="b" anchorCtr="0">
            <a:normAutofit/>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掌握</a:t>
            </a:r>
            <a:r>
              <a:rPr lang="en-US" altLang="zh-CN" sz="2400" b="1" spc="100" dirty="0">
                <a:solidFill>
                  <a:schemeClr val="accent2"/>
                </a:solidFill>
                <a:latin typeface="Arial" panose="020B0604020202020204" pitchFamily="34" charset="0"/>
                <a:ea typeface="微软雅黑" panose="020B0503020204020204" charset="-122"/>
                <a:cs typeface="+mn-ea"/>
                <a:sym typeface="+mn-lt"/>
              </a:rPr>
              <a:t>KNN</a:t>
            </a:r>
            <a:r>
              <a:rPr lang="zh-CN" altLang="en-US" sz="2400" b="1" spc="100" dirty="0">
                <a:solidFill>
                  <a:schemeClr val="accent2"/>
                </a:solidFill>
                <a:latin typeface="Arial" panose="020B0604020202020204" pitchFamily="34" charset="0"/>
                <a:ea typeface="微软雅黑" panose="020B0503020204020204" charset="-122"/>
                <a:cs typeface="+mn-ea"/>
                <a:sym typeface="+mn-lt"/>
              </a:rPr>
              <a:t>算法三要素</a:t>
            </a:r>
            <a:endParaRPr lang="zh-CN" altLang="en-US" sz="2400" b="1" spc="100" dirty="0">
              <a:solidFill>
                <a:schemeClr val="accent2"/>
              </a:solidFill>
              <a:uFillTx/>
              <a:latin typeface="Arial" panose="020B0604020202020204" pitchFamily="34" charset="0"/>
              <a:ea typeface="微软雅黑" panose="020B0503020204020204" charset="-122"/>
              <a:cs typeface="+mn-ea"/>
              <a:sym typeface="+mn-lt"/>
            </a:endParaRPr>
          </a:p>
        </p:txBody>
      </p:sp>
      <p:sp>
        <p:nvSpPr>
          <p:cNvPr id="97" name="矩形 96"/>
          <p:cNvSpPr/>
          <p:nvPr>
            <p:custDataLst>
              <p:tags r:id="rId8"/>
            </p:custDataLst>
          </p:nvPr>
        </p:nvSpPr>
        <p:spPr>
          <a:xfrm>
            <a:off x="5777194" y="4520286"/>
            <a:ext cx="1116963" cy="829945"/>
          </a:xfrm>
          <a:prstGeom prst="rect">
            <a:avLst/>
          </a:prstGeom>
          <a:noFill/>
        </p:spPr>
        <p:txBody>
          <a:bodyPr wrap="square">
            <a:normAutofit/>
          </a:bodyPr>
          <a:lstStyle/>
          <a:p>
            <a:r>
              <a:rPr lang="en-US" altLang="zh-CN" sz="4800" b="1" spc="-200" dirty="0">
                <a:solidFill>
                  <a:schemeClr val="accent4"/>
                </a:solidFill>
                <a:uFillTx/>
                <a:latin typeface="Arial" panose="020B0604020202020204" pitchFamily="34" charset="0"/>
                <a:ea typeface="微软雅黑" panose="020B0503020204020204" charset="-122"/>
                <a:cs typeface="+mn-ea"/>
                <a:sym typeface="+mn-lt"/>
              </a:rPr>
              <a:t>04.</a:t>
            </a:r>
          </a:p>
        </p:txBody>
      </p:sp>
      <p:sp>
        <p:nvSpPr>
          <p:cNvPr id="98" name="矩形 97"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9"/>
            </p:custDataLst>
          </p:nvPr>
        </p:nvSpPr>
        <p:spPr>
          <a:xfrm>
            <a:off x="6897370" y="4458970"/>
            <a:ext cx="2863850" cy="591185"/>
          </a:xfrm>
          <a:prstGeom prst="rect">
            <a:avLst/>
          </a:prstGeom>
          <a:ln>
            <a:noFill/>
          </a:ln>
        </p:spPr>
        <p:txBody>
          <a:bodyPr wrap="square" lIns="90000" tIns="46800" rIns="90000" bIns="0" anchor="b" anchorCtr="0">
            <a:normAutofit/>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实验分析</a:t>
            </a:r>
            <a:endParaRPr lang="zh-CN" altLang="en-US" sz="2400" b="1" spc="100" dirty="0">
              <a:solidFill>
                <a:schemeClr val="accent4"/>
              </a:solidFill>
              <a:uFillTx/>
              <a:latin typeface="Arial" panose="020B0604020202020204" pitchFamily="34" charset="0"/>
              <a:ea typeface="微软雅黑" panose="020B0503020204020204" charset="-122"/>
              <a:cs typeface="+mn-ea"/>
              <a:sym typeface="+mn-lt"/>
            </a:endParaRPr>
          </a:p>
        </p:txBody>
      </p:sp>
      <p:sp>
        <p:nvSpPr>
          <p:cNvPr id="101" name="文本框 100"/>
          <p:cNvSpPr txBox="1"/>
          <p:nvPr>
            <p:custDataLst>
              <p:tags r:id="rId10"/>
            </p:custDataLst>
          </p:nvPr>
        </p:nvSpPr>
        <p:spPr>
          <a:xfrm>
            <a:off x="715645" y="817880"/>
            <a:ext cx="4610100" cy="1213485"/>
          </a:xfrm>
          <a:prstGeom prst="rect">
            <a:avLst/>
          </a:prstGeom>
          <a:noFill/>
        </p:spPr>
        <p:txBody>
          <a:bodyPr wrap="square" rtlCol="0" anchor="ctr" anchorCtr="0">
            <a:normAutofit/>
          </a:bodyPr>
          <a:lstStyle/>
          <a:p>
            <a:pPr algn="l">
              <a:lnSpc>
                <a:spcPct val="100000"/>
              </a:lnSpc>
            </a:pPr>
            <a:r>
              <a:rPr lang="en-US" altLang="zh-CN" sz="5400" b="1" spc="100" dirty="0">
                <a:solidFill>
                  <a:schemeClr val="tx1">
                    <a:lumMod val="85000"/>
                    <a:lumOff val="15000"/>
                  </a:schemeClr>
                </a:solidFill>
                <a:uFillTx/>
                <a:latin typeface="Arial" panose="020B0604020202020204" pitchFamily="34" charset="0"/>
                <a:ea typeface="汉仪旗黑-85S" panose="00020600040101010101" pitchFamily="18" charset="-122"/>
                <a:cs typeface="+mn-ea"/>
                <a:sym typeface="+mn-lt"/>
              </a:rPr>
              <a:t>学习目标</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04132E-71BD-46B8-BC3A-F8F202A1D5E4}"/>
              </a:ext>
            </a:extLst>
          </p:cNvPr>
          <p:cNvSpPr>
            <a:spLocks noGrp="1"/>
          </p:cNvSpPr>
          <p:nvPr>
            <p:ph type="title"/>
          </p:nvPr>
        </p:nvSpPr>
        <p:spPr>
          <a:xfrm>
            <a:off x="101711" y="416597"/>
            <a:ext cx="10852237" cy="441964"/>
          </a:xfrm>
        </p:spPr>
        <p:txBody>
          <a:bodyPr>
            <a:normAutofit fontScale="90000"/>
          </a:bodyPr>
          <a:lstStyle/>
          <a:p>
            <a:r>
              <a:rPr lang="zh-CN" altLang="en-US" dirty="0"/>
              <a:t> 近邻法（k-Nearest Neighbor:kNN）</a:t>
            </a:r>
          </a:p>
        </p:txBody>
      </p:sp>
      <p:sp>
        <p:nvSpPr>
          <p:cNvPr id="5" name="文本框 4">
            <a:extLst>
              <a:ext uri="{FF2B5EF4-FFF2-40B4-BE49-F238E27FC236}">
                <a16:creationId xmlns:a16="http://schemas.microsoft.com/office/drawing/2014/main" id="{992E0BD5-1418-4D03-A38E-C283BA07EDD9}"/>
              </a:ext>
            </a:extLst>
          </p:cNvPr>
          <p:cNvSpPr txBox="1"/>
          <p:nvPr/>
        </p:nvSpPr>
        <p:spPr>
          <a:xfrm>
            <a:off x="0" y="958644"/>
            <a:ext cx="11017188" cy="5078313"/>
          </a:xfrm>
          <a:prstGeom prst="rect">
            <a:avLst/>
          </a:prstGeom>
          <a:noFill/>
        </p:spPr>
        <p:txBody>
          <a:bodyPr wrap="square">
            <a:spAutoFit/>
          </a:bodyPr>
          <a:lstStyle/>
          <a:p>
            <a:r>
              <a:rPr lang="zh-CN" altLang="en-US" dirty="0"/>
              <a:t>         近邻法（k-Nearest Neighbor:kNN）是一种基本的分类与回归方法。</a:t>
            </a:r>
            <a:endParaRPr lang="en-US" altLang="zh-CN" dirty="0"/>
          </a:p>
          <a:p>
            <a:endParaRPr lang="en-US" altLang="zh-CN" dirty="0"/>
          </a:p>
          <a:p>
            <a:r>
              <a:rPr lang="en-US" altLang="zh-CN" b="0" i="0" dirty="0">
                <a:solidFill>
                  <a:srgbClr val="333333"/>
                </a:solidFill>
                <a:effectLst/>
                <a:latin typeface="arial" panose="020B0604020202020204" pitchFamily="34" charset="0"/>
              </a:rPr>
              <a:t>        KNN</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K- Nearest Neighbor</a:t>
            </a:r>
            <a:r>
              <a:rPr lang="zh-CN" altLang="en-US" b="0" i="0" dirty="0">
                <a:solidFill>
                  <a:srgbClr val="333333"/>
                </a:solidFill>
                <a:effectLst/>
                <a:latin typeface="arial" panose="020B0604020202020204" pitchFamily="34" charset="0"/>
              </a:rPr>
              <a:t>）法即</a:t>
            </a:r>
            <a:r>
              <a:rPr lang="en-US" altLang="zh-CN" b="0" i="0" dirty="0">
                <a:solidFill>
                  <a:srgbClr val="333333"/>
                </a:solidFill>
                <a:effectLst/>
                <a:latin typeface="arial" panose="020B0604020202020204" pitchFamily="34" charset="0"/>
              </a:rPr>
              <a:t>K</a:t>
            </a:r>
            <a:r>
              <a:rPr lang="zh-CN" altLang="en-US" b="0" i="0" dirty="0">
                <a:solidFill>
                  <a:srgbClr val="333333"/>
                </a:solidFill>
                <a:effectLst/>
                <a:latin typeface="arial" panose="020B0604020202020204" pitchFamily="34" charset="0"/>
              </a:rPr>
              <a:t>最邻近法，最初由 </a:t>
            </a:r>
            <a:r>
              <a:rPr lang="en-US" altLang="zh-CN" b="0" i="0" dirty="0">
                <a:solidFill>
                  <a:srgbClr val="333333"/>
                </a:solidFill>
                <a:effectLst/>
                <a:latin typeface="arial" panose="020B0604020202020204" pitchFamily="34" charset="0"/>
              </a:rPr>
              <a:t>Cover</a:t>
            </a:r>
            <a:r>
              <a:rPr lang="zh-CN" altLang="en-US" b="0" i="0" dirty="0">
                <a:solidFill>
                  <a:srgbClr val="333333"/>
                </a:solidFill>
                <a:effectLst/>
                <a:latin typeface="arial" panose="020B0604020202020204" pitchFamily="34" charset="0"/>
              </a:rPr>
              <a:t>和</a:t>
            </a:r>
            <a:r>
              <a:rPr lang="en-US" altLang="zh-CN" b="0" i="0" dirty="0">
                <a:solidFill>
                  <a:srgbClr val="333333"/>
                </a:solidFill>
                <a:effectLst/>
                <a:latin typeface="arial" panose="020B0604020202020204" pitchFamily="34" charset="0"/>
              </a:rPr>
              <a:t>Hart</a:t>
            </a:r>
            <a:r>
              <a:rPr lang="zh-CN" altLang="en-US" b="0" i="0" dirty="0">
                <a:solidFill>
                  <a:srgbClr val="333333"/>
                </a:solidFill>
                <a:effectLst/>
                <a:latin typeface="arial" panose="020B0604020202020204" pitchFamily="34" charset="0"/>
              </a:rPr>
              <a:t>于</a:t>
            </a:r>
            <a:r>
              <a:rPr lang="en-US" altLang="zh-CN" b="0" i="0" dirty="0">
                <a:solidFill>
                  <a:srgbClr val="333333"/>
                </a:solidFill>
                <a:effectLst/>
                <a:latin typeface="arial" panose="020B0604020202020204" pitchFamily="34" charset="0"/>
              </a:rPr>
              <a:t>1968</a:t>
            </a:r>
            <a:r>
              <a:rPr lang="zh-CN" altLang="en-US" b="0" i="0" dirty="0">
                <a:solidFill>
                  <a:srgbClr val="333333"/>
                </a:solidFill>
                <a:effectLst/>
                <a:latin typeface="arial" panose="020B0604020202020204" pitchFamily="34" charset="0"/>
              </a:rPr>
              <a:t>年提出，是一个理论上比较成熟的方法，也是最简单的</a:t>
            </a:r>
            <a:r>
              <a:rPr lang="zh-CN" altLang="en-US" b="0" i="0" u="none" strike="noStrike" dirty="0">
                <a:solidFill>
                  <a:srgbClr val="136EC2"/>
                </a:solidFill>
                <a:effectLst/>
                <a:latin typeface="arial" panose="020B0604020202020204" pitchFamily="34" charset="0"/>
              </a:rPr>
              <a:t>机器学习算法</a:t>
            </a:r>
            <a:r>
              <a:rPr lang="zh-CN" altLang="en-US" b="0" i="0" dirty="0">
                <a:solidFill>
                  <a:srgbClr val="333333"/>
                </a:solidFill>
                <a:effectLst/>
                <a:latin typeface="arial" panose="020B0604020202020204" pitchFamily="34" charset="0"/>
              </a:rPr>
              <a:t>之一。</a:t>
            </a:r>
            <a:endParaRPr lang="en-US" altLang="zh-CN" b="0" i="0" dirty="0">
              <a:solidFill>
                <a:srgbClr val="333333"/>
              </a:solidFill>
              <a:effectLst/>
              <a:latin typeface="arial" panose="020B0604020202020204" pitchFamily="34" charset="0"/>
            </a:endParaRPr>
          </a:p>
          <a:p>
            <a:r>
              <a:rPr lang="en-US" altLang="zh-CN" dirty="0">
                <a:solidFill>
                  <a:srgbClr val="333333"/>
                </a:solidFill>
                <a:latin typeface="arial" panose="020B0604020202020204" pitchFamily="34" charset="0"/>
              </a:rPr>
              <a:t>       </a:t>
            </a:r>
            <a:r>
              <a:rPr lang="zh-CN" altLang="en-US" b="0" i="0" dirty="0">
                <a:solidFill>
                  <a:srgbClr val="333333"/>
                </a:solidFill>
                <a:effectLst/>
                <a:latin typeface="arial" panose="020B0604020202020204" pitchFamily="34" charset="0"/>
              </a:rPr>
              <a:t>该方法的思路非常简单直观：如果一个样本在特征空间中的</a:t>
            </a:r>
            <a:r>
              <a:rPr lang="en-US" altLang="zh-CN" b="0" i="0" dirty="0">
                <a:solidFill>
                  <a:srgbClr val="333333"/>
                </a:solidFill>
                <a:effectLst/>
                <a:latin typeface="arial" panose="020B0604020202020204" pitchFamily="34" charset="0"/>
              </a:rPr>
              <a:t>K</a:t>
            </a:r>
            <a:r>
              <a:rPr lang="zh-CN" altLang="en-US" b="0" i="0" dirty="0">
                <a:solidFill>
                  <a:srgbClr val="333333"/>
                </a:solidFill>
                <a:effectLst/>
                <a:latin typeface="arial" panose="020B0604020202020204" pitchFamily="34" charset="0"/>
              </a:rPr>
              <a:t>个最相似（即特征空间中最邻近</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的样本中的大多数属于某一个类别，则该样本也属于这个类别。该方法在定类决策上只依据最邻近的一个或者几个样本的类别来决定待分样本所属的类别</a:t>
            </a:r>
            <a:endParaRPr lang="zh-CN" altLang="en-US" dirty="0"/>
          </a:p>
          <a:p>
            <a:endParaRPr lang="zh-CN" altLang="en-US" dirty="0"/>
          </a:p>
          <a:p>
            <a:r>
              <a:rPr lang="zh-CN" altLang="en-US" dirty="0"/>
              <a:t>        分类问题：对新的样本，根据其 </a:t>
            </a:r>
            <a:r>
              <a:rPr lang="en-US" altLang="zh-CN" dirty="0"/>
              <a:t>K</a:t>
            </a:r>
            <a:r>
              <a:rPr lang="zh-CN" altLang="en-US" dirty="0"/>
              <a:t>个最近邻的训练样本的类别，通过多数表决等方式进行预测。</a:t>
            </a:r>
          </a:p>
          <a:p>
            <a:r>
              <a:rPr lang="zh-CN" altLang="en-US" dirty="0"/>
              <a:t>        回归问题：对新的样本，根据其 </a:t>
            </a:r>
            <a:r>
              <a:rPr lang="en-US" altLang="zh-CN" dirty="0"/>
              <a:t>K</a:t>
            </a:r>
            <a:r>
              <a:rPr lang="zh-CN" altLang="en-US" dirty="0"/>
              <a:t>个最近邻的训练样本标签值的均值作为预测值。</a:t>
            </a:r>
            <a:endParaRPr lang="en-US" altLang="zh-CN" dirty="0"/>
          </a:p>
          <a:p>
            <a:endParaRPr lang="zh-CN" altLang="en-US" dirty="0"/>
          </a:p>
          <a:p>
            <a:r>
              <a:rPr lang="zh-CN" altLang="en-US" dirty="0"/>
              <a:t>        近邻法不具有显式的学习过程，它是直接预测。它是“惰性学习”(lazy learning)的著名代表。</a:t>
            </a:r>
          </a:p>
          <a:p>
            <a:endParaRPr lang="zh-CN" altLang="en-US" dirty="0"/>
          </a:p>
          <a:p>
            <a:r>
              <a:rPr lang="zh-CN" altLang="en-US" dirty="0"/>
              <a:t>        它实际上利用训练数据集对特征向量空间进行划分，并且作为其分类的"模型"。</a:t>
            </a:r>
          </a:p>
          <a:p>
            <a:endParaRPr lang="zh-CN" altLang="en-US" dirty="0"/>
          </a:p>
          <a:p>
            <a:r>
              <a:rPr lang="zh-CN" altLang="en-US" dirty="0"/>
              <a:t>        这类学习技术在训练阶段仅仅将样本保存起来，训练时间开销为零，等到收到测试样本后再进行处理。</a:t>
            </a:r>
          </a:p>
          <a:p>
            <a:endParaRPr lang="zh-CN" altLang="en-US" dirty="0"/>
          </a:p>
          <a:p>
            <a:r>
              <a:rPr lang="zh-CN" altLang="en-US" dirty="0"/>
              <a:t>        那些在训练阶段就对样本进行学习处理的方法称作“急切学习”(eager learning)。</a:t>
            </a:r>
          </a:p>
        </p:txBody>
      </p:sp>
    </p:spTree>
    <p:extLst>
      <p:ext uri="{BB962C8B-B14F-4D97-AF65-F5344CB8AC3E}">
        <p14:creationId xmlns:p14="http://schemas.microsoft.com/office/powerpoint/2010/main" val="2869233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267D9F-46C0-4E0D-8669-FEB7788C71A6}"/>
              </a:ext>
            </a:extLst>
          </p:cNvPr>
          <p:cNvSpPr>
            <a:spLocks noGrp="1"/>
          </p:cNvSpPr>
          <p:nvPr>
            <p:ph type="title"/>
          </p:nvPr>
        </p:nvSpPr>
        <p:spPr/>
        <p:txBody>
          <a:bodyPr>
            <a:normAutofit fontScale="90000"/>
          </a:bodyPr>
          <a:lstStyle/>
          <a:p>
            <a:r>
              <a:rPr lang="en-US" altLang="zh-CN" dirty="0"/>
              <a:t>KNN</a:t>
            </a:r>
            <a:r>
              <a:rPr lang="zh-CN" altLang="en-US" dirty="0"/>
              <a:t>（</a:t>
            </a:r>
            <a:r>
              <a:rPr lang="en-US" altLang="zh-CN" b="0" i="0" dirty="0">
                <a:solidFill>
                  <a:srgbClr val="555555"/>
                </a:solidFill>
                <a:effectLst/>
                <a:latin typeface="Lato"/>
              </a:rPr>
              <a:t>K-Nearest Neighbors</a:t>
            </a:r>
            <a:r>
              <a:rPr lang="zh-CN" altLang="en-US" b="0" i="0" dirty="0">
                <a:solidFill>
                  <a:srgbClr val="555555"/>
                </a:solidFill>
                <a:effectLst/>
                <a:latin typeface="Lato"/>
              </a:rPr>
              <a:t>）</a:t>
            </a:r>
            <a:r>
              <a:rPr lang="en-US" altLang="zh-CN" b="0" i="0" dirty="0">
                <a:solidFill>
                  <a:srgbClr val="555555"/>
                </a:solidFill>
                <a:effectLst/>
                <a:latin typeface="Lato"/>
              </a:rPr>
              <a:t>K-</a:t>
            </a:r>
            <a:r>
              <a:rPr lang="zh-CN" altLang="en-US" b="0" i="0" dirty="0">
                <a:solidFill>
                  <a:srgbClr val="555555"/>
                </a:solidFill>
                <a:effectLst/>
                <a:latin typeface="Lato"/>
              </a:rPr>
              <a:t>近邻算法</a:t>
            </a:r>
            <a:endParaRPr lang="zh-CN" altLang="en-US" dirty="0"/>
          </a:p>
        </p:txBody>
      </p:sp>
      <p:sp>
        <p:nvSpPr>
          <p:cNvPr id="4" name="文本框 3">
            <a:extLst>
              <a:ext uri="{FF2B5EF4-FFF2-40B4-BE49-F238E27FC236}">
                <a16:creationId xmlns:a16="http://schemas.microsoft.com/office/drawing/2014/main" id="{A5AA8249-CAD5-433E-AC58-CD5870EBD2CE}"/>
              </a:ext>
            </a:extLst>
          </p:cNvPr>
          <p:cNvSpPr txBox="1"/>
          <p:nvPr/>
        </p:nvSpPr>
        <p:spPr>
          <a:xfrm>
            <a:off x="669881" y="1665433"/>
            <a:ext cx="10160875" cy="646331"/>
          </a:xfrm>
          <a:prstGeom prst="rect">
            <a:avLst/>
          </a:prstGeom>
          <a:noFill/>
        </p:spPr>
        <p:txBody>
          <a:bodyPr wrap="square">
            <a:spAutoFit/>
          </a:bodyPr>
          <a:lstStyle/>
          <a:p>
            <a:r>
              <a:rPr lang="en-US" altLang="zh-CN" b="1" i="0" dirty="0">
                <a:solidFill>
                  <a:srgbClr val="000000"/>
                </a:solidFill>
                <a:effectLst/>
                <a:latin typeface="Helvetica Neue"/>
              </a:rPr>
              <a:t>KNN</a:t>
            </a:r>
            <a:r>
              <a:rPr lang="zh-CN" altLang="en-US" b="1" i="0" dirty="0">
                <a:solidFill>
                  <a:srgbClr val="000000"/>
                </a:solidFill>
                <a:effectLst/>
                <a:latin typeface="Helvetica Neue"/>
              </a:rPr>
              <a:t>的原理就是当预测一个新的值</a:t>
            </a:r>
            <a:r>
              <a:rPr lang="en-US" altLang="zh-CN" b="1" i="0" dirty="0">
                <a:solidFill>
                  <a:srgbClr val="000000"/>
                </a:solidFill>
                <a:effectLst/>
                <a:latin typeface="Helvetica Neue"/>
              </a:rPr>
              <a:t>x</a:t>
            </a:r>
            <a:r>
              <a:rPr lang="zh-CN" altLang="en-US" b="1" i="0" dirty="0">
                <a:solidFill>
                  <a:srgbClr val="000000"/>
                </a:solidFill>
                <a:effectLst/>
                <a:latin typeface="Helvetica Neue"/>
              </a:rPr>
              <a:t>的时候，根据它距离最近的</a:t>
            </a:r>
            <a:r>
              <a:rPr lang="en-US" altLang="zh-CN" b="1" i="0" dirty="0">
                <a:solidFill>
                  <a:srgbClr val="000000"/>
                </a:solidFill>
                <a:effectLst/>
                <a:latin typeface="Helvetica Neue"/>
              </a:rPr>
              <a:t>K</a:t>
            </a:r>
            <a:r>
              <a:rPr lang="zh-CN" altLang="en-US" b="1" i="0" dirty="0">
                <a:solidFill>
                  <a:srgbClr val="000000"/>
                </a:solidFill>
                <a:effectLst/>
                <a:latin typeface="Helvetica Neue"/>
              </a:rPr>
              <a:t>个点是什么类别来判断</a:t>
            </a:r>
            <a:r>
              <a:rPr lang="en-US" altLang="zh-CN" b="1" i="0" dirty="0">
                <a:solidFill>
                  <a:srgbClr val="000000"/>
                </a:solidFill>
                <a:effectLst/>
                <a:latin typeface="Helvetica Neue"/>
              </a:rPr>
              <a:t>x</a:t>
            </a:r>
            <a:r>
              <a:rPr lang="zh-CN" altLang="en-US" b="1" i="0" dirty="0">
                <a:solidFill>
                  <a:srgbClr val="000000"/>
                </a:solidFill>
                <a:effectLst/>
                <a:latin typeface="Helvetica Neue"/>
              </a:rPr>
              <a:t>属于哪个类别。</a:t>
            </a:r>
            <a:endParaRPr lang="zh-CN" altLang="en-US" dirty="0"/>
          </a:p>
        </p:txBody>
      </p:sp>
      <p:pic>
        <p:nvPicPr>
          <p:cNvPr id="1026" name="Picture 2" descr="KNNåç1">
            <a:extLst>
              <a:ext uri="{FF2B5EF4-FFF2-40B4-BE49-F238E27FC236}">
                <a16:creationId xmlns:a16="http://schemas.microsoft.com/office/drawing/2014/main" id="{CFDBD45E-9686-4ABF-A463-B9A0E466B5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1656" y="2772893"/>
            <a:ext cx="8039100" cy="360045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FAD9A9DD-E5AB-4CE5-B238-721C8563135F}"/>
              </a:ext>
            </a:extLst>
          </p:cNvPr>
          <p:cNvSpPr txBox="1"/>
          <p:nvPr/>
        </p:nvSpPr>
        <p:spPr>
          <a:xfrm>
            <a:off x="177553" y="3130574"/>
            <a:ext cx="2858610" cy="2862322"/>
          </a:xfrm>
          <a:prstGeom prst="rect">
            <a:avLst/>
          </a:prstGeom>
          <a:noFill/>
        </p:spPr>
        <p:txBody>
          <a:bodyPr wrap="square">
            <a:spAutoFit/>
          </a:bodyPr>
          <a:lstStyle/>
          <a:p>
            <a:r>
              <a:rPr lang="zh-CN" altLang="en-US" b="0" i="0" dirty="0">
                <a:solidFill>
                  <a:srgbClr val="000000"/>
                </a:solidFill>
                <a:effectLst/>
                <a:latin typeface="Helvetica Neue"/>
              </a:rPr>
              <a:t>       图中绿色的点就是我们要预测的那个点，假设</a:t>
            </a:r>
            <a:r>
              <a:rPr lang="en-US" altLang="zh-CN" b="0" i="0" dirty="0">
                <a:solidFill>
                  <a:srgbClr val="000000"/>
                </a:solidFill>
                <a:effectLst/>
                <a:latin typeface="Helvetica Neue"/>
              </a:rPr>
              <a:t>K=3</a:t>
            </a:r>
            <a:r>
              <a:rPr lang="zh-CN" altLang="en-US" b="0" i="0" dirty="0">
                <a:solidFill>
                  <a:srgbClr val="000000"/>
                </a:solidFill>
                <a:effectLst/>
                <a:latin typeface="Helvetica Neue"/>
              </a:rPr>
              <a:t>。那么</a:t>
            </a:r>
            <a:r>
              <a:rPr lang="en-US" altLang="zh-CN" b="0" i="0" dirty="0">
                <a:solidFill>
                  <a:srgbClr val="000000"/>
                </a:solidFill>
                <a:effectLst/>
                <a:latin typeface="Helvetica Neue"/>
              </a:rPr>
              <a:t>KNN</a:t>
            </a:r>
            <a:r>
              <a:rPr lang="zh-CN" altLang="en-US" b="0" i="0" dirty="0">
                <a:solidFill>
                  <a:srgbClr val="000000"/>
                </a:solidFill>
                <a:effectLst/>
                <a:latin typeface="Helvetica Neue"/>
              </a:rPr>
              <a:t>算法就会找到与它距离最近的三个点（这里用圆圈把它圈起来了），看看哪种类别多一些，比如这个例子中是蓝色三角形多一些，新来的绿色点就归类到蓝三角了。</a:t>
            </a:r>
            <a:endParaRPr lang="zh-CN" altLang="en-US" dirty="0"/>
          </a:p>
        </p:txBody>
      </p:sp>
    </p:spTree>
    <p:extLst>
      <p:ext uri="{BB962C8B-B14F-4D97-AF65-F5344CB8AC3E}">
        <p14:creationId xmlns:p14="http://schemas.microsoft.com/office/powerpoint/2010/main" val="2486092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7E7982-623B-4EC4-A72B-319E8675200D}"/>
              </a:ext>
            </a:extLst>
          </p:cNvPr>
          <p:cNvSpPr>
            <a:spLocks noGrp="1"/>
          </p:cNvSpPr>
          <p:nvPr>
            <p:ph type="title"/>
          </p:nvPr>
        </p:nvSpPr>
        <p:spPr/>
        <p:txBody>
          <a:bodyPr>
            <a:normAutofit fontScale="90000"/>
          </a:bodyPr>
          <a:lstStyle/>
          <a:p>
            <a:endParaRPr lang="zh-CN" altLang="en-US"/>
          </a:p>
        </p:txBody>
      </p:sp>
      <p:pic>
        <p:nvPicPr>
          <p:cNvPr id="2050" name="Picture 2" descr="KNNåç2">
            <a:extLst>
              <a:ext uri="{FF2B5EF4-FFF2-40B4-BE49-F238E27FC236}">
                <a16:creationId xmlns:a16="http://schemas.microsoft.com/office/drawing/2014/main" id="{47D57437-67C5-4D30-A0B2-B4088D3FB5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882" y="1175367"/>
            <a:ext cx="8753475" cy="36195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EA942640-37D0-42A3-8552-9ACF57E57879}"/>
              </a:ext>
            </a:extLst>
          </p:cNvPr>
          <p:cNvSpPr txBox="1"/>
          <p:nvPr/>
        </p:nvSpPr>
        <p:spPr>
          <a:xfrm>
            <a:off x="669881" y="5085040"/>
            <a:ext cx="10178631" cy="646331"/>
          </a:xfrm>
          <a:prstGeom prst="rect">
            <a:avLst/>
          </a:prstGeom>
          <a:noFill/>
        </p:spPr>
        <p:txBody>
          <a:bodyPr wrap="square">
            <a:spAutoFit/>
          </a:bodyPr>
          <a:lstStyle/>
          <a:p>
            <a:r>
              <a:rPr lang="zh-CN" altLang="en-US" b="1" i="0" dirty="0">
                <a:solidFill>
                  <a:srgbClr val="000000"/>
                </a:solidFill>
                <a:effectLst/>
                <a:latin typeface="Helvetica Neue"/>
              </a:rPr>
              <a:t>当</a:t>
            </a:r>
            <a:r>
              <a:rPr lang="en-US" altLang="zh-CN" b="1" i="0" dirty="0">
                <a:solidFill>
                  <a:srgbClr val="000000"/>
                </a:solidFill>
                <a:effectLst/>
                <a:latin typeface="Helvetica Neue"/>
              </a:rPr>
              <a:t>K=5</a:t>
            </a:r>
            <a:r>
              <a:rPr lang="zh-CN" altLang="en-US" b="1" i="0" dirty="0">
                <a:solidFill>
                  <a:srgbClr val="000000"/>
                </a:solidFill>
                <a:effectLst/>
                <a:latin typeface="Helvetica Neue"/>
              </a:rPr>
              <a:t>的时候，判定就变成不一样了</a:t>
            </a:r>
            <a:r>
              <a:rPr lang="zh-CN" altLang="en-US" b="0" i="0" dirty="0">
                <a:solidFill>
                  <a:srgbClr val="000000"/>
                </a:solidFill>
                <a:effectLst/>
                <a:latin typeface="Helvetica Neue"/>
              </a:rPr>
              <a:t>。这次变成红圆多一些，所以新来的绿点被归类成红圆。从这个例子中，我们就能看得出</a:t>
            </a:r>
            <a:r>
              <a:rPr lang="en-US" altLang="zh-CN" b="0" i="0" dirty="0">
                <a:solidFill>
                  <a:srgbClr val="000000"/>
                </a:solidFill>
                <a:effectLst/>
                <a:latin typeface="Helvetica Neue"/>
              </a:rPr>
              <a:t>K</a:t>
            </a:r>
            <a:r>
              <a:rPr lang="zh-CN" altLang="en-US" b="0" i="0" dirty="0">
                <a:solidFill>
                  <a:srgbClr val="000000"/>
                </a:solidFill>
                <a:effectLst/>
                <a:latin typeface="Helvetica Neue"/>
              </a:rPr>
              <a:t>的取值是很重要的。</a:t>
            </a:r>
            <a:endParaRPr lang="zh-CN" altLang="en-US" dirty="0"/>
          </a:p>
        </p:txBody>
      </p:sp>
    </p:spTree>
    <p:extLst>
      <p:ext uri="{BB962C8B-B14F-4D97-AF65-F5344CB8AC3E}">
        <p14:creationId xmlns:p14="http://schemas.microsoft.com/office/powerpoint/2010/main" val="1120795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2763F-8D75-441A-B12B-C709B23008A6}"/>
              </a:ext>
            </a:extLst>
          </p:cNvPr>
          <p:cNvSpPr>
            <a:spLocks noGrp="1"/>
          </p:cNvSpPr>
          <p:nvPr>
            <p:ph type="title"/>
          </p:nvPr>
        </p:nvSpPr>
        <p:spPr/>
        <p:txBody>
          <a:bodyPr>
            <a:normAutofit fontScale="90000"/>
          </a:bodyPr>
          <a:lstStyle/>
          <a:p>
            <a:endParaRPr lang="zh-CN" altLang="en-US"/>
          </a:p>
        </p:txBody>
      </p:sp>
      <p:sp>
        <p:nvSpPr>
          <p:cNvPr id="4" name="文本框 3">
            <a:extLst>
              <a:ext uri="{FF2B5EF4-FFF2-40B4-BE49-F238E27FC236}">
                <a16:creationId xmlns:a16="http://schemas.microsoft.com/office/drawing/2014/main" id="{D6B5C973-34D9-483D-AE51-B5D59697567E}"/>
              </a:ext>
            </a:extLst>
          </p:cNvPr>
          <p:cNvSpPr txBox="1"/>
          <p:nvPr/>
        </p:nvSpPr>
        <p:spPr>
          <a:xfrm>
            <a:off x="409852" y="1168127"/>
            <a:ext cx="11432960" cy="4801314"/>
          </a:xfrm>
          <a:prstGeom prst="rect">
            <a:avLst/>
          </a:prstGeom>
          <a:noFill/>
        </p:spPr>
        <p:txBody>
          <a:bodyPr wrap="square">
            <a:spAutoFit/>
          </a:bodyPr>
          <a:lstStyle/>
          <a:p>
            <a:r>
              <a:rPr lang="zh-CN" altLang="en-US" dirty="0"/>
              <a:t> </a:t>
            </a:r>
            <a:r>
              <a:rPr lang="en-US" altLang="zh-CN" dirty="0"/>
              <a:t>k</a:t>
            </a:r>
            <a:r>
              <a:rPr lang="zh-CN" altLang="en-US" dirty="0"/>
              <a:t>近邻法是个非参数学习算法，它没有任何参数（ </a:t>
            </a:r>
            <a:r>
              <a:rPr lang="en-US" altLang="zh-CN" dirty="0"/>
              <a:t>K</a:t>
            </a:r>
            <a:r>
              <a:rPr lang="zh-CN" altLang="en-US" dirty="0"/>
              <a:t>是超参数，而不是需要学习的参数）。</a:t>
            </a:r>
          </a:p>
          <a:p>
            <a:endParaRPr lang="zh-CN" altLang="en-US" dirty="0"/>
          </a:p>
          <a:p>
            <a:r>
              <a:rPr lang="zh-CN" altLang="en-US" dirty="0"/>
              <a:t> </a:t>
            </a:r>
            <a:r>
              <a:rPr lang="en-US" altLang="zh-CN" dirty="0"/>
              <a:t>k</a:t>
            </a:r>
            <a:r>
              <a:rPr lang="zh-CN" altLang="en-US" dirty="0"/>
              <a:t>近邻模型具有非常高的容量，这使得它在训练样本数量较大时能获得较高的精度。</a:t>
            </a:r>
          </a:p>
          <a:p>
            <a:endParaRPr lang="zh-CN" altLang="en-US" dirty="0"/>
          </a:p>
          <a:p>
            <a:r>
              <a:rPr lang="zh-CN" altLang="en-US" dirty="0"/>
              <a:t>它的缺点有：</a:t>
            </a:r>
          </a:p>
          <a:p>
            <a:endParaRPr lang="zh-CN" altLang="en-US" dirty="0"/>
          </a:p>
          <a:p>
            <a:r>
              <a:rPr lang="zh-CN" altLang="en-US" dirty="0"/>
              <a:t>                       </a:t>
            </a:r>
            <a:r>
              <a:rPr lang="en-US" altLang="zh-CN" dirty="0"/>
              <a:t>1.</a:t>
            </a:r>
            <a:r>
              <a:rPr lang="zh-CN" altLang="en-US" dirty="0"/>
              <a:t>计算成本很高。因为需要构建一个</a:t>
            </a:r>
            <a:r>
              <a:rPr lang="en-US" altLang="zh-CN" dirty="0" err="1"/>
              <a:t>NxN</a:t>
            </a:r>
            <a:r>
              <a:rPr lang="zh-CN" altLang="en-US" dirty="0"/>
              <a:t>的距离矩阵，其计算量为</a:t>
            </a:r>
            <a:r>
              <a:rPr lang="en-US" altLang="zh-CN" dirty="0"/>
              <a:t>O(N*N)</a:t>
            </a:r>
            <a:r>
              <a:rPr lang="zh-CN" altLang="en-US" dirty="0"/>
              <a:t>，其中</a:t>
            </a:r>
            <a:r>
              <a:rPr lang="en-US" altLang="zh-CN" dirty="0"/>
              <a:t>N</a:t>
            </a:r>
            <a:r>
              <a:rPr lang="zh-CN" altLang="en-US" dirty="0"/>
              <a:t>为训练样本的数量。当数据集是几十亿个样本时，计算量是不可接受的。</a:t>
            </a:r>
          </a:p>
          <a:p>
            <a:endParaRPr lang="zh-CN" altLang="en-US" dirty="0"/>
          </a:p>
          <a:p>
            <a:r>
              <a:rPr lang="en-US" altLang="zh-CN" dirty="0"/>
              <a:t>                       2.</a:t>
            </a:r>
            <a:r>
              <a:rPr lang="zh-CN" altLang="en-US" dirty="0"/>
              <a:t>在训练集较小时，泛化能力很差，非常容易陷入过拟合。</a:t>
            </a:r>
          </a:p>
          <a:p>
            <a:endParaRPr lang="zh-CN" altLang="en-US" dirty="0"/>
          </a:p>
          <a:p>
            <a:r>
              <a:rPr lang="en-US" altLang="zh-CN" dirty="0"/>
              <a:t>                       3.</a:t>
            </a:r>
            <a:r>
              <a:rPr lang="zh-CN" altLang="en-US" dirty="0"/>
              <a:t>无法判断特征的重要性。</a:t>
            </a:r>
          </a:p>
          <a:p>
            <a:endParaRPr lang="zh-CN" altLang="en-US" dirty="0"/>
          </a:p>
          <a:p>
            <a:r>
              <a:rPr lang="zh-CN" altLang="en-US" dirty="0"/>
              <a:t> 近邻法的三要素：</a:t>
            </a:r>
          </a:p>
          <a:p>
            <a:r>
              <a:rPr lang="zh-CN" altLang="en-US" dirty="0"/>
              <a:t> </a:t>
            </a:r>
            <a:r>
              <a:rPr lang="en-US" altLang="zh-CN" dirty="0"/>
              <a:t>1.K</a:t>
            </a:r>
            <a:r>
              <a:rPr lang="zh-CN" altLang="en-US" dirty="0"/>
              <a:t>值选择。</a:t>
            </a:r>
          </a:p>
          <a:p>
            <a:r>
              <a:rPr lang="en-US" altLang="zh-CN" dirty="0"/>
              <a:t> 2.</a:t>
            </a:r>
            <a:r>
              <a:rPr lang="zh-CN" altLang="en-US" dirty="0"/>
              <a:t>距离度量。</a:t>
            </a:r>
          </a:p>
          <a:p>
            <a:r>
              <a:rPr lang="en-US" altLang="zh-CN" dirty="0"/>
              <a:t> 3.</a:t>
            </a:r>
            <a:r>
              <a:rPr lang="zh-CN" altLang="en-US" dirty="0"/>
              <a:t>决策规则。</a:t>
            </a:r>
          </a:p>
        </p:txBody>
      </p:sp>
    </p:spTree>
    <p:extLst>
      <p:ext uri="{BB962C8B-B14F-4D97-AF65-F5344CB8AC3E}">
        <p14:creationId xmlns:p14="http://schemas.microsoft.com/office/powerpoint/2010/main" val="2100948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1A6EB4-BCF6-4EA4-BA2F-271DF011BD65}"/>
              </a:ext>
            </a:extLst>
          </p:cNvPr>
          <p:cNvSpPr>
            <a:spLocks noGrp="1"/>
          </p:cNvSpPr>
          <p:nvPr>
            <p:ph type="title"/>
          </p:nvPr>
        </p:nvSpPr>
        <p:spPr/>
        <p:txBody>
          <a:bodyPr>
            <a:normAutofit fontScale="90000"/>
          </a:bodyPr>
          <a:lstStyle/>
          <a:p>
            <a:r>
              <a:rPr lang="zh-CN" altLang="en-US" dirty="0"/>
              <a:t>k 值选择</a:t>
            </a:r>
            <a:br>
              <a:rPr lang="zh-CN" altLang="en-US" dirty="0"/>
            </a:br>
            <a:endParaRPr lang="zh-CN" altLang="en-US" dirty="0"/>
          </a:p>
        </p:txBody>
      </p:sp>
      <p:sp>
        <p:nvSpPr>
          <p:cNvPr id="4" name="文本框 3">
            <a:extLst>
              <a:ext uri="{FF2B5EF4-FFF2-40B4-BE49-F238E27FC236}">
                <a16:creationId xmlns:a16="http://schemas.microsoft.com/office/drawing/2014/main" id="{FC8BAD05-C593-4017-A1AD-4B1DE490CB8D}"/>
              </a:ext>
            </a:extLst>
          </p:cNvPr>
          <p:cNvSpPr txBox="1"/>
          <p:nvPr/>
        </p:nvSpPr>
        <p:spPr>
          <a:xfrm>
            <a:off x="669881" y="760906"/>
            <a:ext cx="12192000" cy="1200329"/>
          </a:xfrm>
          <a:prstGeom prst="rect">
            <a:avLst/>
          </a:prstGeom>
          <a:noFill/>
        </p:spPr>
        <p:txBody>
          <a:bodyPr wrap="square">
            <a:spAutoFit/>
          </a:bodyPr>
          <a:lstStyle/>
          <a:p>
            <a:r>
              <a:rPr lang="zh-CN" altLang="en-US" dirty="0"/>
              <a:t>当</a:t>
            </a:r>
            <a:r>
              <a:rPr lang="en-US" altLang="zh-CN" dirty="0"/>
              <a:t>k=1</a:t>
            </a:r>
            <a:r>
              <a:rPr lang="zh-CN" altLang="en-US" dirty="0"/>
              <a:t>时的</a:t>
            </a:r>
            <a:r>
              <a:rPr lang="en-US" altLang="zh-CN" dirty="0"/>
              <a:t>k</a:t>
            </a:r>
            <a:r>
              <a:rPr lang="zh-CN" altLang="en-US" dirty="0"/>
              <a:t>近邻算法称为最近邻算法，此时将训练集中与</a:t>
            </a:r>
            <a:r>
              <a:rPr lang="en-US" altLang="zh-CN" dirty="0"/>
              <a:t>x</a:t>
            </a:r>
            <a:r>
              <a:rPr lang="zh-CN" altLang="en-US" dirty="0"/>
              <a:t>最近的点的类别作为</a:t>
            </a:r>
            <a:r>
              <a:rPr lang="en-US" altLang="zh-CN" dirty="0"/>
              <a:t>x</a:t>
            </a:r>
            <a:r>
              <a:rPr lang="zh-CN" altLang="en-US" dirty="0"/>
              <a:t>的分类。</a:t>
            </a:r>
          </a:p>
          <a:p>
            <a:endParaRPr lang="zh-CN" altLang="en-US" dirty="0"/>
          </a:p>
          <a:p>
            <a:r>
              <a:rPr lang="en-US" altLang="zh-CN" dirty="0"/>
              <a:t>k</a:t>
            </a:r>
            <a:r>
              <a:rPr lang="zh-CN" altLang="en-US" dirty="0"/>
              <a:t>值的选择会对</a:t>
            </a:r>
            <a:r>
              <a:rPr lang="en-US" altLang="zh-CN" dirty="0"/>
              <a:t>k</a:t>
            </a:r>
            <a:r>
              <a:rPr lang="zh-CN" altLang="en-US" dirty="0"/>
              <a:t>近邻法的结果产生重大影响。</a:t>
            </a:r>
          </a:p>
          <a:p>
            <a:endParaRPr lang="zh-CN" altLang="en-US" dirty="0"/>
          </a:p>
        </p:txBody>
      </p:sp>
      <p:pic>
        <p:nvPicPr>
          <p:cNvPr id="5" name="Picture 2">
            <a:extLst>
              <a:ext uri="{FF2B5EF4-FFF2-40B4-BE49-F238E27FC236}">
                <a16:creationId xmlns:a16="http://schemas.microsoft.com/office/drawing/2014/main" id="{B3C903C4-7925-4F9B-A7BD-81BBE3E7F1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881" y="2172379"/>
            <a:ext cx="3800475" cy="349567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1A54DCF7-8378-402C-B159-03D2B3895D30}"/>
              </a:ext>
            </a:extLst>
          </p:cNvPr>
          <p:cNvSpPr txBox="1"/>
          <p:nvPr/>
        </p:nvSpPr>
        <p:spPr>
          <a:xfrm>
            <a:off x="4767308" y="2225645"/>
            <a:ext cx="5442012" cy="646331"/>
          </a:xfrm>
          <a:prstGeom prst="rect">
            <a:avLst/>
          </a:prstGeom>
          <a:noFill/>
        </p:spPr>
        <p:txBody>
          <a:bodyPr wrap="square">
            <a:spAutoFit/>
          </a:bodyPr>
          <a:lstStyle/>
          <a:p>
            <a:r>
              <a:rPr lang="zh-CN" altLang="en-US" b="0" i="0" dirty="0">
                <a:solidFill>
                  <a:srgbClr val="121212"/>
                </a:solidFill>
                <a:effectLst/>
                <a:latin typeface="-apple-system"/>
              </a:rPr>
              <a:t>那么模型就太复杂了，</a:t>
            </a:r>
            <a:r>
              <a:rPr lang="zh-CN" altLang="en-US" b="1" i="0" dirty="0">
                <a:solidFill>
                  <a:srgbClr val="121212"/>
                </a:solidFill>
                <a:effectLst/>
                <a:latin typeface="-apple-system"/>
              </a:rPr>
              <a:t>我们很容易学习到噪声</a:t>
            </a:r>
            <a:r>
              <a:rPr lang="zh-CN" altLang="en-US" b="0" i="0" dirty="0">
                <a:solidFill>
                  <a:srgbClr val="121212"/>
                </a:solidFill>
                <a:effectLst/>
                <a:latin typeface="-apple-system"/>
              </a:rPr>
              <a:t>，也就非常容易判定为噪声类别</a:t>
            </a:r>
            <a:endParaRPr lang="zh-CN" altLang="en-US" dirty="0"/>
          </a:p>
        </p:txBody>
      </p:sp>
    </p:spTree>
    <p:extLst>
      <p:ext uri="{BB962C8B-B14F-4D97-AF65-F5344CB8AC3E}">
        <p14:creationId xmlns:p14="http://schemas.microsoft.com/office/powerpoint/2010/main" val="2318664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923261-DAFB-4753-994E-8B0FB302F1D0}"/>
              </a:ext>
            </a:extLst>
          </p:cNvPr>
          <p:cNvSpPr>
            <a:spLocks noGrp="1"/>
          </p:cNvSpPr>
          <p:nvPr>
            <p:ph type="title"/>
          </p:nvPr>
        </p:nvSpPr>
        <p:spPr/>
        <p:txBody>
          <a:bodyPr>
            <a:normAutofit fontScale="90000"/>
          </a:bodyPr>
          <a:lstStyle/>
          <a:p>
            <a:endParaRPr lang="zh-CN" altLang="en-US"/>
          </a:p>
        </p:txBody>
      </p:sp>
      <p:sp>
        <p:nvSpPr>
          <p:cNvPr id="5" name="文本框 4">
            <a:extLst>
              <a:ext uri="{FF2B5EF4-FFF2-40B4-BE49-F238E27FC236}">
                <a16:creationId xmlns:a16="http://schemas.microsoft.com/office/drawing/2014/main" id="{E4868EDE-00D7-4CFB-B358-29008BFC6761}"/>
              </a:ext>
            </a:extLst>
          </p:cNvPr>
          <p:cNvSpPr txBox="1"/>
          <p:nvPr/>
        </p:nvSpPr>
        <p:spPr>
          <a:xfrm>
            <a:off x="4708507" y="2138089"/>
            <a:ext cx="6813611" cy="3484573"/>
          </a:xfrm>
          <a:prstGeom prst="rect">
            <a:avLst/>
          </a:prstGeom>
          <a:noFill/>
        </p:spPr>
        <p:txBody>
          <a:bodyPr wrap="square">
            <a:spAutoFit/>
          </a:bodyPr>
          <a:lstStyle/>
          <a:p>
            <a:r>
              <a:rPr lang="zh-CN" altLang="en-US" dirty="0"/>
              <a:t>若</a:t>
            </a:r>
            <a:r>
              <a:rPr lang="en-US" altLang="zh-CN" dirty="0"/>
              <a:t>k</a:t>
            </a:r>
            <a:r>
              <a:rPr lang="zh-CN" altLang="en-US" dirty="0"/>
              <a:t>值较小，则相当于用较小的邻域中的训练样本进行预测，"学习"的偏差减小。</a:t>
            </a:r>
          </a:p>
          <a:p>
            <a:endParaRPr lang="zh-CN" altLang="en-US" dirty="0"/>
          </a:p>
          <a:p>
            <a:r>
              <a:rPr lang="zh-CN" altLang="en-US" dirty="0"/>
              <a:t>只有与输入样本较近的训练样本才会对预测起作用，预测结果会对近邻的样本点非常敏感。</a:t>
            </a:r>
          </a:p>
          <a:p>
            <a:endParaRPr lang="zh-CN" altLang="en-US" dirty="0"/>
          </a:p>
          <a:p>
            <a:r>
              <a:rPr lang="zh-CN" altLang="en-US" dirty="0"/>
              <a:t>若近邻的训练样本点刚好是噪声，则预测会出错。即： </a:t>
            </a:r>
            <a:r>
              <a:rPr lang="en-US" altLang="zh-CN" dirty="0"/>
              <a:t>k</a:t>
            </a:r>
            <a:r>
              <a:rPr lang="zh-CN" altLang="en-US" dirty="0"/>
              <a:t>值的减小意味着模型整体变复杂，易发生过拟合。</a:t>
            </a:r>
          </a:p>
          <a:p>
            <a:endParaRPr lang="zh-CN" altLang="en-US" dirty="0"/>
          </a:p>
          <a:p>
            <a:r>
              <a:rPr lang="zh-CN" altLang="en-US" dirty="0"/>
              <a:t>优点：减少"学习"的偏差。</a:t>
            </a:r>
          </a:p>
          <a:p>
            <a:r>
              <a:rPr lang="zh-CN" altLang="en-US" dirty="0"/>
              <a:t>缺点：增大"学习"的方差（即波动较大）。</a:t>
            </a:r>
            <a:endParaRPr lang="en-US" altLang="zh-CN" dirty="0"/>
          </a:p>
          <a:p>
            <a:endParaRPr lang="zh-CN" altLang="en-US" dirty="0"/>
          </a:p>
        </p:txBody>
      </p:sp>
      <p:pic>
        <p:nvPicPr>
          <p:cNvPr id="4100" name="Picture 4">
            <a:extLst>
              <a:ext uri="{FF2B5EF4-FFF2-40B4-BE49-F238E27FC236}">
                <a16:creationId xmlns:a16="http://schemas.microsoft.com/office/drawing/2014/main" id="{0D41F878-C2CE-4358-920B-4BCC295587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882" y="1404013"/>
            <a:ext cx="3790950" cy="355282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C09E4D1D-242D-4971-869C-09D0D3B7A0D8}"/>
              </a:ext>
            </a:extLst>
          </p:cNvPr>
          <p:cNvSpPr txBox="1"/>
          <p:nvPr/>
        </p:nvSpPr>
        <p:spPr>
          <a:xfrm>
            <a:off x="496053" y="5622662"/>
            <a:ext cx="9739900" cy="923330"/>
          </a:xfrm>
          <a:prstGeom prst="rect">
            <a:avLst/>
          </a:prstGeom>
          <a:noFill/>
        </p:spPr>
        <p:txBody>
          <a:bodyPr wrap="square">
            <a:spAutoFit/>
          </a:bodyPr>
          <a:lstStyle/>
          <a:p>
            <a:r>
              <a:rPr lang="zh-CN" altLang="en-US" b="0" i="0" dirty="0">
                <a:solidFill>
                  <a:srgbClr val="121212"/>
                </a:solidFill>
                <a:effectLst/>
                <a:latin typeface="-apple-system"/>
              </a:rPr>
              <a:t>         过拟合就是在训练集上准确率非常高，而在测试集上准确率低，经过上例，我们可以得到</a:t>
            </a:r>
            <a:r>
              <a:rPr lang="en-US" altLang="zh-CN" b="0" i="0" dirty="0">
                <a:solidFill>
                  <a:srgbClr val="121212"/>
                </a:solidFill>
                <a:effectLst/>
                <a:latin typeface="-apple-system"/>
              </a:rPr>
              <a:t>k</a:t>
            </a:r>
            <a:r>
              <a:rPr lang="zh-CN" altLang="en-US" b="0" i="0" dirty="0">
                <a:solidFill>
                  <a:srgbClr val="121212"/>
                </a:solidFill>
                <a:effectLst/>
                <a:latin typeface="-apple-system"/>
              </a:rPr>
              <a:t>太小会导致</a:t>
            </a:r>
            <a:r>
              <a:rPr lang="zh-CN" altLang="en-US" b="1" i="0" dirty="0">
                <a:solidFill>
                  <a:srgbClr val="121212"/>
                </a:solidFill>
                <a:effectLst/>
                <a:latin typeface="-apple-system"/>
              </a:rPr>
              <a:t>过拟合</a:t>
            </a:r>
            <a:r>
              <a:rPr lang="zh-CN" altLang="en-US" b="0" i="0" dirty="0">
                <a:solidFill>
                  <a:srgbClr val="121212"/>
                </a:solidFill>
                <a:effectLst/>
                <a:latin typeface="-apple-system"/>
              </a:rPr>
              <a:t>，</a:t>
            </a:r>
            <a:r>
              <a:rPr lang="zh-CN" altLang="en-US" b="1" i="0" dirty="0">
                <a:solidFill>
                  <a:srgbClr val="121212"/>
                </a:solidFill>
                <a:effectLst/>
                <a:latin typeface="-apple-system"/>
              </a:rPr>
              <a:t>很容易将一些噪声（如上图离五边形很近的黑色圆点）学习到模型中，而忽略了数据真实的分布！</a:t>
            </a:r>
            <a:endParaRPr lang="zh-CN" altLang="en-US" dirty="0"/>
          </a:p>
        </p:txBody>
      </p:sp>
    </p:spTree>
    <p:extLst>
      <p:ext uri="{BB962C8B-B14F-4D97-AF65-F5344CB8AC3E}">
        <p14:creationId xmlns:p14="http://schemas.microsoft.com/office/powerpoint/2010/main" val="3280322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7B4E07-4ED9-4490-9DF3-BD211CF84839}"/>
              </a:ext>
            </a:extLst>
          </p:cNvPr>
          <p:cNvSpPr>
            <a:spLocks noGrp="1"/>
          </p:cNvSpPr>
          <p:nvPr>
            <p:ph type="title"/>
          </p:nvPr>
        </p:nvSpPr>
        <p:spPr/>
        <p:txBody>
          <a:bodyPr>
            <a:normAutofit fontScale="90000"/>
          </a:bodyPr>
          <a:lstStyle/>
          <a:p>
            <a:endParaRPr lang="zh-CN" altLang="en-US"/>
          </a:p>
        </p:txBody>
      </p:sp>
      <p:pic>
        <p:nvPicPr>
          <p:cNvPr id="6146" name="Picture 2">
            <a:extLst>
              <a:ext uri="{FF2B5EF4-FFF2-40B4-BE49-F238E27FC236}">
                <a16:creationId xmlns:a16="http://schemas.microsoft.com/office/drawing/2014/main" id="{5E4C8AB9-7F56-4D63-A57D-660F35A931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894" y="1291977"/>
            <a:ext cx="4496241" cy="3709826"/>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FFDBCF62-17AA-4C18-B526-B1A2940E9DBE}"/>
              </a:ext>
            </a:extLst>
          </p:cNvPr>
          <p:cNvSpPr txBox="1"/>
          <p:nvPr/>
        </p:nvSpPr>
        <p:spPr>
          <a:xfrm>
            <a:off x="5109100" y="1626301"/>
            <a:ext cx="6098958" cy="2585323"/>
          </a:xfrm>
          <a:prstGeom prst="rect">
            <a:avLst/>
          </a:prstGeom>
          <a:noFill/>
        </p:spPr>
        <p:txBody>
          <a:bodyPr wrap="square">
            <a:spAutoFit/>
          </a:bodyPr>
          <a:lstStyle/>
          <a:p>
            <a:r>
              <a:rPr lang="zh-CN" altLang="en-US" dirty="0"/>
              <a:t>若</a:t>
            </a:r>
            <a:r>
              <a:rPr lang="en-US" altLang="zh-CN" dirty="0"/>
              <a:t>k</a:t>
            </a:r>
            <a:r>
              <a:rPr lang="zh-CN" altLang="en-US" dirty="0"/>
              <a:t>值较大，则相当于用较大的邻域中的训练样本进行预测。</a:t>
            </a:r>
          </a:p>
          <a:p>
            <a:endParaRPr lang="zh-CN" altLang="en-US" dirty="0"/>
          </a:p>
          <a:p>
            <a:r>
              <a:rPr lang="zh-CN" altLang="en-US" dirty="0"/>
              <a:t>这时输入样本较远的训练样本也会对预测起作用，使预测偏离预期的结果。</a:t>
            </a:r>
          </a:p>
          <a:p>
            <a:endParaRPr lang="zh-CN" altLang="en-US" dirty="0"/>
          </a:p>
          <a:p>
            <a:r>
              <a:rPr lang="zh-CN" altLang="en-US" dirty="0"/>
              <a:t>即：  </a:t>
            </a:r>
            <a:r>
              <a:rPr lang="en-US" altLang="zh-CN" dirty="0"/>
              <a:t>k</a:t>
            </a:r>
            <a:r>
              <a:rPr lang="zh-CN" altLang="en-US" dirty="0"/>
              <a:t>值增大意味着模型整体变简单。</a:t>
            </a:r>
          </a:p>
          <a:p>
            <a:endParaRPr lang="zh-CN" altLang="en-US" dirty="0"/>
          </a:p>
          <a:p>
            <a:r>
              <a:rPr lang="zh-CN" altLang="en-US" dirty="0"/>
              <a:t>优点：减少"学习"的方差（即波动较小）。</a:t>
            </a:r>
          </a:p>
          <a:p>
            <a:r>
              <a:rPr lang="zh-CN" altLang="en-US" dirty="0"/>
              <a:t>缺点：增大"学习"的偏差。</a:t>
            </a:r>
          </a:p>
        </p:txBody>
      </p:sp>
      <p:sp>
        <p:nvSpPr>
          <p:cNvPr id="9" name="文本框 8">
            <a:extLst>
              <a:ext uri="{FF2B5EF4-FFF2-40B4-BE49-F238E27FC236}">
                <a16:creationId xmlns:a16="http://schemas.microsoft.com/office/drawing/2014/main" id="{DB5726CA-2822-4559-8FE0-7DB5477BB79F}"/>
              </a:ext>
            </a:extLst>
          </p:cNvPr>
          <p:cNvSpPr txBox="1"/>
          <p:nvPr/>
        </p:nvSpPr>
        <p:spPr>
          <a:xfrm>
            <a:off x="865572" y="5791981"/>
            <a:ext cx="9006396" cy="369332"/>
          </a:xfrm>
          <a:prstGeom prst="rect">
            <a:avLst/>
          </a:prstGeom>
          <a:noFill/>
        </p:spPr>
        <p:txBody>
          <a:bodyPr wrap="square">
            <a:spAutoFit/>
          </a:bodyPr>
          <a:lstStyle/>
          <a:p>
            <a:r>
              <a:rPr lang="zh-CN" altLang="en-US" b="1" i="0" dirty="0">
                <a:solidFill>
                  <a:srgbClr val="121212"/>
                </a:solidFill>
                <a:effectLst/>
                <a:latin typeface="-apple-system"/>
              </a:rPr>
              <a:t>这个时候，模型过于简单，完全忽略训练数据实例中的大量有用信息，是不可取的。</a:t>
            </a:r>
            <a:endParaRPr lang="zh-CN" altLang="en-US" dirty="0"/>
          </a:p>
        </p:txBody>
      </p:sp>
      <p:sp>
        <p:nvSpPr>
          <p:cNvPr id="11" name="文本框 10">
            <a:extLst>
              <a:ext uri="{FF2B5EF4-FFF2-40B4-BE49-F238E27FC236}">
                <a16:creationId xmlns:a16="http://schemas.microsoft.com/office/drawing/2014/main" id="{35C207E0-D864-433C-B723-EB9E5B4E7BE9}"/>
              </a:ext>
            </a:extLst>
          </p:cNvPr>
          <p:cNvSpPr txBox="1"/>
          <p:nvPr/>
        </p:nvSpPr>
        <p:spPr>
          <a:xfrm>
            <a:off x="865572" y="6227883"/>
            <a:ext cx="8722310" cy="369332"/>
          </a:xfrm>
          <a:prstGeom prst="rect">
            <a:avLst/>
          </a:prstGeom>
          <a:noFill/>
        </p:spPr>
        <p:txBody>
          <a:bodyPr wrap="square">
            <a:spAutoFit/>
          </a:bodyPr>
          <a:lstStyle/>
          <a:p>
            <a:r>
              <a:rPr lang="zh-CN" altLang="en-US" dirty="0"/>
              <a:t>应用中，  </a:t>
            </a:r>
            <a:r>
              <a:rPr lang="en-US" altLang="zh-CN" dirty="0"/>
              <a:t>k</a:t>
            </a:r>
            <a:r>
              <a:rPr lang="zh-CN" altLang="en-US" dirty="0"/>
              <a:t>值一般取一个较小的数值。通常采用交叉验证法来选取最优的</a:t>
            </a:r>
            <a:r>
              <a:rPr lang="en-US" altLang="zh-CN" dirty="0"/>
              <a:t>k</a:t>
            </a:r>
            <a:r>
              <a:rPr lang="zh-CN" altLang="en-US" dirty="0"/>
              <a:t>值。</a:t>
            </a:r>
          </a:p>
        </p:txBody>
      </p:sp>
    </p:spTree>
    <p:extLst>
      <p:ext uri="{BB962C8B-B14F-4D97-AF65-F5344CB8AC3E}">
        <p14:creationId xmlns:p14="http://schemas.microsoft.com/office/powerpoint/2010/main" val="4226155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75B8F9-0981-48DF-8284-7B6DF9638F7C}"/>
              </a:ext>
            </a:extLst>
          </p:cNvPr>
          <p:cNvSpPr>
            <a:spLocks noGrp="1"/>
          </p:cNvSpPr>
          <p:nvPr>
            <p:ph type="title"/>
          </p:nvPr>
        </p:nvSpPr>
        <p:spPr/>
        <p:txBody>
          <a:bodyPr>
            <a:normAutofit fontScale="90000"/>
          </a:bodyPr>
          <a:lstStyle/>
          <a:p>
            <a:endParaRPr lang="zh-CN" altLang="en-US"/>
          </a:p>
        </p:txBody>
      </p:sp>
      <p:sp>
        <p:nvSpPr>
          <p:cNvPr id="6" name="文本框 5">
            <a:extLst>
              <a:ext uri="{FF2B5EF4-FFF2-40B4-BE49-F238E27FC236}">
                <a16:creationId xmlns:a16="http://schemas.microsoft.com/office/drawing/2014/main" id="{8F2BE205-4001-4184-828B-5CF0A47C7DDC}"/>
              </a:ext>
            </a:extLst>
          </p:cNvPr>
          <p:cNvSpPr txBox="1"/>
          <p:nvPr/>
        </p:nvSpPr>
        <p:spPr>
          <a:xfrm>
            <a:off x="6093042" y="2539818"/>
            <a:ext cx="6098958" cy="369332"/>
          </a:xfrm>
          <a:prstGeom prst="rect">
            <a:avLst/>
          </a:prstGeom>
          <a:noFill/>
        </p:spPr>
        <p:txBody>
          <a:bodyPr wrap="square">
            <a:spAutoFit/>
          </a:bodyPr>
          <a:lstStyle/>
          <a:p>
            <a:r>
              <a:rPr lang="zh-CN" altLang="en-US" b="1" i="0" dirty="0">
                <a:solidFill>
                  <a:srgbClr val="121212"/>
                </a:solidFill>
                <a:effectLst/>
                <a:latin typeface="-apple-system"/>
              </a:rPr>
              <a:t>选取</a:t>
            </a:r>
            <a:r>
              <a:rPr lang="en-US" altLang="zh-CN" b="1" i="0" dirty="0">
                <a:solidFill>
                  <a:srgbClr val="121212"/>
                </a:solidFill>
                <a:effectLst/>
                <a:latin typeface="-apple-system"/>
              </a:rPr>
              <a:t>k</a:t>
            </a:r>
            <a:r>
              <a:rPr lang="zh-CN" altLang="en-US" b="1" i="0" dirty="0">
                <a:solidFill>
                  <a:srgbClr val="121212"/>
                </a:solidFill>
                <a:effectLst/>
                <a:latin typeface="-apple-system"/>
              </a:rPr>
              <a:t>值很重要的关键是实验调参</a:t>
            </a:r>
            <a:r>
              <a:rPr lang="en-US" altLang="zh-CN" b="1" i="0" dirty="0">
                <a:solidFill>
                  <a:srgbClr val="121212"/>
                </a:solidFill>
                <a:effectLst/>
                <a:latin typeface="-apple-system"/>
              </a:rPr>
              <a:t>!!!!!!</a:t>
            </a:r>
            <a:endParaRPr lang="zh-CN" altLang="en-US" dirty="0"/>
          </a:p>
        </p:txBody>
      </p:sp>
      <p:pic>
        <p:nvPicPr>
          <p:cNvPr id="7170" name="Picture 2">
            <a:extLst>
              <a:ext uri="{FF2B5EF4-FFF2-40B4-BE49-F238E27FC236}">
                <a16:creationId xmlns:a16="http://schemas.microsoft.com/office/drawing/2014/main" id="{C8DC7898-28A5-4915-9D03-F1F7979FE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882" y="1628950"/>
            <a:ext cx="4476750" cy="3448050"/>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E967DE2C-A83F-4CC2-8B1D-7D299793F25B}"/>
              </a:ext>
            </a:extLst>
          </p:cNvPr>
          <p:cNvSpPr txBox="1"/>
          <p:nvPr/>
        </p:nvSpPr>
        <p:spPr>
          <a:xfrm>
            <a:off x="572610" y="5258255"/>
            <a:ext cx="9947429" cy="646331"/>
          </a:xfrm>
          <a:prstGeom prst="rect">
            <a:avLst/>
          </a:prstGeom>
          <a:noFill/>
        </p:spPr>
        <p:txBody>
          <a:bodyPr wrap="square">
            <a:spAutoFit/>
          </a:bodyPr>
          <a:lstStyle/>
          <a:p>
            <a:r>
              <a:rPr lang="en-US" altLang="zh-CN" b="1" i="0" dirty="0">
                <a:solidFill>
                  <a:srgbClr val="121212"/>
                </a:solidFill>
                <a:effectLst/>
                <a:latin typeface="-apple-system"/>
              </a:rPr>
              <a:t>k</a:t>
            </a:r>
            <a:r>
              <a:rPr lang="zh-CN" altLang="en-US" b="1" i="0" dirty="0">
                <a:solidFill>
                  <a:srgbClr val="121212"/>
                </a:solidFill>
                <a:effectLst/>
                <a:latin typeface="-apple-system"/>
              </a:rPr>
              <a:t>值既不能过大，也不能过小，在我举的这个例子中，我们</a:t>
            </a:r>
            <a:r>
              <a:rPr lang="en-US" altLang="zh-CN" b="1" i="0" dirty="0">
                <a:solidFill>
                  <a:srgbClr val="121212"/>
                </a:solidFill>
                <a:effectLst/>
                <a:latin typeface="-apple-system"/>
              </a:rPr>
              <a:t>k</a:t>
            </a:r>
            <a:r>
              <a:rPr lang="zh-CN" altLang="en-US" b="1" i="0" dirty="0">
                <a:solidFill>
                  <a:srgbClr val="121212"/>
                </a:solidFill>
                <a:effectLst/>
                <a:latin typeface="-apple-system"/>
              </a:rPr>
              <a:t>值的选择，在下图红色圆边界之间这个范围是最好的</a:t>
            </a:r>
            <a:endParaRPr lang="zh-CN" altLang="en-US" dirty="0"/>
          </a:p>
        </p:txBody>
      </p:sp>
    </p:spTree>
    <p:extLst>
      <p:ext uri="{BB962C8B-B14F-4D97-AF65-F5344CB8AC3E}">
        <p14:creationId xmlns:p14="http://schemas.microsoft.com/office/powerpoint/2010/main" val="2638522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6308CE-AFC3-4812-81AC-CC7BA8A251C7}"/>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距离度量</a:t>
            </a:r>
            <a:br>
              <a:rPr lang="zh-CN" altLang="en-US" b="1" i="0" dirty="0">
                <a:solidFill>
                  <a:srgbClr val="333333"/>
                </a:solidFill>
                <a:effectLst/>
                <a:latin typeface="Open Sans" panose="020B0606030504020204" pitchFamily="34" charset="0"/>
              </a:rPr>
            </a:br>
            <a:endParaRPr lang="zh-CN" altLang="en-US" dirty="0"/>
          </a:p>
        </p:txBody>
      </p:sp>
      <p:sp>
        <p:nvSpPr>
          <p:cNvPr id="4" name="文本框 3">
            <a:extLst>
              <a:ext uri="{FF2B5EF4-FFF2-40B4-BE49-F238E27FC236}">
                <a16:creationId xmlns:a16="http://schemas.microsoft.com/office/drawing/2014/main" id="{80E88B58-3DE2-427E-8652-F6AE85E016FC}"/>
              </a:ext>
            </a:extLst>
          </p:cNvPr>
          <p:cNvSpPr txBox="1"/>
          <p:nvPr/>
        </p:nvSpPr>
        <p:spPr>
          <a:xfrm>
            <a:off x="479394" y="1292299"/>
            <a:ext cx="10164932" cy="4524315"/>
          </a:xfrm>
          <a:prstGeom prst="rect">
            <a:avLst/>
          </a:prstGeom>
          <a:noFill/>
        </p:spPr>
        <p:txBody>
          <a:bodyPr wrap="square">
            <a:spAutoFit/>
          </a:bodyPr>
          <a:lstStyle/>
          <a:p>
            <a:r>
              <a:rPr lang="zh-CN" altLang="en-US" dirty="0"/>
              <a:t>特征空间中两个样本点的距离是两个样本点的相似程度的反映。</a:t>
            </a:r>
          </a:p>
          <a:p>
            <a:endParaRPr lang="zh-CN" altLang="en-US" dirty="0"/>
          </a:p>
          <a:p>
            <a:r>
              <a:rPr lang="en-US" altLang="zh-CN" dirty="0"/>
              <a:t>k</a:t>
            </a:r>
            <a:r>
              <a:rPr lang="zh-CN" altLang="en-US" dirty="0"/>
              <a:t>近邻模型的特征空间一般是 </a:t>
            </a:r>
            <a:r>
              <a:rPr lang="en-US" altLang="zh-CN" dirty="0"/>
              <a:t>n</a:t>
            </a:r>
            <a:r>
              <a:rPr lang="zh-CN" altLang="en-US" dirty="0"/>
              <a:t>维实数向量空间</a:t>
            </a:r>
            <a:r>
              <a:rPr lang="en-US" altLang="zh-CN" dirty="0"/>
              <a:t>R</a:t>
            </a:r>
            <a:r>
              <a:rPr lang="en-US" altLang="zh-CN" baseline="30000" dirty="0"/>
              <a:t>n</a:t>
            </a:r>
            <a:r>
              <a:rPr lang="zh-CN" altLang="en-US" dirty="0"/>
              <a:t>， </a:t>
            </a:r>
            <a:r>
              <a:rPr lang="en-US" altLang="zh-CN" dirty="0"/>
              <a:t>K</a:t>
            </a:r>
            <a:r>
              <a:rPr lang="zh-CN" altLang="en-US" dirty="0"/>
              <a:t>其距离一般为欧氏距离，也可以是一般的</a:t>
            </a:r>
            <a:r>
              <a:rPr lang="en-US" altLang="zh-CN" dirty="0" err="1"/>
              <a:t>Lp</a:t>
            </a:r>
            <a:r>
              <a:rPr lang="zh-CN" altLang="en-US" dirty="0"/>
              <a:t>距离：</a:t>
            </a:r>
          </a:p>
          <a:p>
            <a:endParaRPr lang="zh-CN" altLang="en-US" dirty="0"/>
          </a:p>
          <a:p>
            <a:endParaRPr lang="en-US" altLang="zh-CN" dirty="0"/>
          </a:p>
          <a:p>
            <a:endParaRPr lang="en-US" altLang="zh-CN" dirty="0"/>
          </a:p>
          <a:p>
            <a:endParaRPr lang="en-US" altLang="zh-CN" dirty="0"/>
          </a:p>
          <a:p>
            <a:endParaRPr lang="en-US" altLang="zh-CN" dirty="0"/>
          </a:p>
          <a:p>
            <a:r>
              <a:rPr lang="zh-CN" altLang="en-US" dirty="0"/>
              <a:t>当</a:t>
            </a:r>
            <a:r>
              <a:rPr lang="en-US" altLang="zh-CN" dirty="0"/>
              <a:t>p=2 </a:t>
            </a:r>
            <a:r>
              <a:rPr lang="zh-CN" altLang="en-US" dirty="0"/>
              <a:t>时，为欧氏距离： </a:t>
            </a:r>
          </a:p>
          <a:p>
            <a:endParaRPr lang="en-US" altLang="zh-CN" dirty="0"/>
          </a:p>
          <a:p>
            <a:r>
              <a:rPr lang="zh-CN" altLang="en-US" dirty="0"/>
              <a:t>当</a:t>
            </a:r>
            <a:r>
              <a:rPr lang="en-US" altLang="zh-CN" dirty="0"/>
              <a:t>p=1</a:t>
            </a:r>
            <a:r>
              <a:rPr lang="zh-CN" altLang="en-US" dirty="0"/>
              <a:t>时，为曼哈顿距离： </a:t>
            </a:r>
          </a:p>
          <a:p>
            <a:endParaRPr lang="en-US" altLang="zh-CN" dirty="0"/>
          </a:p>
          <a:p>
            <a:r>
              <a:rPr lang="zh-CN" altLang="en-US" dirty="0"/>
              <a:t>当</a:t>
            </a:r>
            <a:r>
              <a:rPr lang="en-US" altLang="zh-CN" dirty="0"/>
              <a:t>p=</a:t>
            </a:r>
            <a:r>
              <a:rPr lang="zh-CN" altLang="en-US" dirty="0"/>
              <a:t>无穷时，为各维度距离中的最大值： </a:t>
            </a:r>
          </a:p>
          <a:p>
            <a:endParaRPr lang="en-US" altLang="zh-CN" dirty="0"/>
          </a:p>
          <a:p>
            <a:r>
              <a:rPr lang="zh-CN" altLang="en-US" dirty="0"/>
              <a:t>不同的距离度量所确定的最近邻点是不同的。</a:t>
            </a:r>
          </a:p>
        </p:txBody>
      </p:sp>
      <p:pic>
        <p:nvPicPr>
          <p:cNvPr id="6" name="图片 5">
            <a:extLst>
              <a:ext uri="{FF2B5EF4-FFF2-40B4-BE49-F238E27FC236}">
                <a16:creationId xmlns:a16="http://schemas.microsoft.com/office/drawing/2014/main" id="{3334F0F5-54E0-4D9D-A2D9-69A1447546D8}"/>
              </a:ext>
            </a:extLst>
          </p:cNvPr>
          <p:cNvPicPr>
            <a:picLocks noChangeAspect="1"/>
          </p:cNvPicPr>
          <p:nvPr/>
        </p:nvPicPr>
        <p:blipFill>
          <a:blip r:embed="rId2"/>
          <a:stretch>
            <a:fillRect/>
          </a:stretch>
        </p:blipFill>
        <p:spPr>
          <a:xfrm>
            <a:off x="3445314" y="2584960"/>
            <a:ext cx="5495925" cy="1123950"/>
          </a:xfrm>
          <a:prstGeom prst="rect">
            <a:avLst/>
          </a:prstGeom>
        </p:spPr>
      </p:pic>
      <p:pic>
        <p:nvPicPr>
          <p:cNvPr id="8" name="图片 7">
            <a:extLst>
              <a:ext uri="{FF2B5EF4-FFF2-40B4-BE49-F238E27FC236}">
                <a16:creationId xmlns:a16="http://schemas.microsoft.com/office/drawing/2014/main" id="{780272DE-B45A-4983-80CE-1FE8DB225C04}"/>
              </a:ext>
            </a:extLst>
          </p:cNvPr>
          <p:cNvPicPr>
            <a:picLocks noChangeAspect="1"/>
          </p:cNvPicPr>
          <p:nvPr/>
        </p:nvPicPr>
        <p:blipFill>
          <a:blip r:embed="rId3"/>
          <a:stretch>
            <a:fillRect/>
          </a:stretch>
        </p:blipFill>
        <p:spPr>
          <a:xfrm>
            <a:off x="3310039" y="3708910"/>
            <a:ext cx="4210050" cy="466725"/>
          </a:xfrm>
          <a:prstGeom prst="rect">
            <a:avLst/>
          </a:prstGeom>
        </p:spPr>
      </p:pic>
      <p:pic>
        <p:nvPicPr>
          <p:cNvPr id="10" name="图片 9">
            <a:extLst>
              <a:ext uri="{FF2B5EF4-FFF2-40B4-BE49-F238E27FC236}">
                <a16:creationId xmlns:a16="http://schemas.microsoft.com/office/drawing/2014/main" id="{BE743C85-ADEA-4265-8E14-B8F045D50F90}"/>
              </a:ext>
            </a:extLst>
          </p:cNvPr>
          <p:cNvPicPr>
            <a:picLocks noChangeAspect="1"/>
          </p:cNvPicPr>
          <p:nvPr/>
        </p:nvPicPr>
        <p:blipFill>
          <a:blip r:embed="rId4"/>
          <a:stretch>
            <a:fillRect/>
          </a:stretch>
        </p:blipFill>
        <p:spPr>
          <a:xfrm>
            <a:off x="3310039" y="4362077"/>
            <a:ext cx="3467100" cy="342900"/>
          </a:xfrm>
          <a:prstGeom prst="rect">
            <a:avLst/>
          </a:prstGeom>
        </p:spPr>
      </p:pic>
      <p:pic>
        <p:nvPicPr>
          <p:cNvPr id="12" name="图片 11">
            <a:extLst>
              <a:ext uri="{FF2B5EF4-FFF2-40B4-BE49-F238E27FC236}">
                <a16:creationId xmlns:a16="http://schemas.microsoft.com/office/drawing/2014/main" id="{9ABC3DB8-4296-41CF-8916-38232C84745F}"/>
              </a:ext>
            </a:extLst>
          </p:cNvPr>
          <p:cNvPicPr>
            <a:picLocks noChangeAspect="1"/>
          </p:cNvPicPr>
          <p:nvPr/>
        </p:nvPicPr>
        <p:blipFill>
          <a:blip r:embed="rId5"/>
          <a:stretch>
            <a:fillRect/>
          </a:stretch>
        </p:blipFill>
        <p:spPr>
          <a:xfrm>
            <a:off x="4222108" y="4891419"/>
            <a:ext cx="3533775" cy="352425"/>
          </a:xfrm>
          <a:prstGeom prst="rect">
            <a:avLst/>
          </a:prstGeom>
        </p:spPr>
      </p:pic>
    </p:spTree>
    <p:extLst>
      <p:ext uri="{BB962C8B-B14F-4D97-AF65-F5344CB8AC3E}">
        <p14:creationId xmlns:p14="http://schemas.microsoft.com/office/powerpoint/2010/main" val="3724779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162315-502D-4091-940B-EC3DCBFB3941}"/>
              </a:ext>
            </a:extLst>
          </p:cNvPr>
          <p:cNvSpPr>
            <a:spLocks noGrp="1"/>
          </p:cNvSpPr>
          <p:nvPr>
            <p:ph type="title"/>
          </p:nvPr>
        </p:nvSpPr>
        <p:spPr/>
        <p:txBody>
          <a:bodyPr>
            <a:normAutofit fontScale="90000"/>
          </a:bodyPr>
          <a:lstStyle/>
          <a:p>
            <a:r>
              <a:rPr lang="zh-CN" altLang="en-US" b="1" i="0" dirty="0">
                <a:solidFill>
                  <a:srgbClr val="121212"/>
                </a:solidFill>
                <a:effectLst/>
                <a:latin typeface="-apple-system"/>
              </a:rPr>
              <a:t>特征归一化的必要性</a:t>
            </a:r>
            <a:endParaRPr lang="zh-CN" altLang="en-US" dirty="0"/>
          </a:p>
        </p:txBody>
      </p:sp>
      <p:pic>
        <p:nvPicPr>
          <p:cNvPr id="8194" name="Picture 2">
            <a:extLst>
              <a:ext uri="{FF2B5EF4-FFF2-40B4-BE49-F238E27FC236}">
                <a16:creationId xmlns:a16="http://schemas.microsoft.com/office/drawing/2014/main" id="{89E5E24E-40DF-4409-B192-14AE48EB09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3280" y="4639398"/>
            <a:ext cx="3681920" cy="2081701"/>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81317350-C99A-48EE-8213-E4AF567A0433}"/>
              </a:ext>
            </a:extLst>
          </p:cNvPr>
          <p:cNvSpPr txBox="1"/>
          <p:nvPr/>
        </p:nvSpPr>
        <p:spPr>
          <a:xfrm>
            <a:off x="316149" y="1086470"/>
            <a:ext cx="11205970" cy="3693319"/>
          </a:xfrm>
          <a:prstGeom prst="rect">
            <a:avLst/>
          </a:prstGeom>
          <a:noFill/>
        </p:spPr>
        <p:txBody>
          <a:bodyPr wrap="square">
            <a:spAutoFit/>
          </a:bodyPr>
          <a:lstStyle/>
          <a:p>
            <a:pPr algn="l"/>
            <a:r>
              <a:rPr lang="zh-CN" altLang="en-US" b="0" i="0" dirty="0">
                <a:solidFill>
                  <a:srgbClr val="121212"/>
                </a:solidFill>
                <a:effectLst/>
                <a:latin typeface="-apple-system"/>
              </a:rPr>
              <a:t>我用一个人身高</a:t>
            </a:r>
            <a:r>
              <a:rPr lang="en-US" altLang="zh-CN" b="0" i="0" dirty="0">
                <a:solidFill>
                  <a:srgbClr val="121212"/>
                </a:solidFill>
                <a:effectLst/>
                <a:latin typeface="-apple-system"/>
              </a:rPr>
              <a:t>(cm)</a:t>
            </a:r>
            <a:r>
              <a:rPr lang="zh-CN" altLang="en-US" b="0" i="0" dirty="0">
                <a:solidFill>
                  <a:srgbClr val="121212"/>
                </a:solidFill>
                <a:effectLst/>
                <a:latin typeface="-apple-system"/>
              </a:rPr>
              <a:t>与脚码（尺码）大小来作为特征值，类别为男性或者女性。我们现在如果有</a:t>
            </a:r>
            <a:r>
              <a:rPr lang="en-US" altLang="zh-CN" b="0" i="0" dirty="0">
                <a:solidFill>
                  <a:srgbClr val="121212"/>
                </a:solidFill>
                <a:effectLst/>
                <a:latin typeface="-apple-system"/>
              </a:rPr>
              <a:t>5</a:t>
            </a:r>
            <a:r>
              <a:rPr lang="zh-CN" altLang="en-US" b="0" i="0" dirty="0">
                <a:solidFill>
                  <a:srgbClr val="121212"/>
                </a:solidFill>
                <a:effectLst/>
                <a:latin typeface="-apple-system"/>
              </a:rPr>
              <a:t>个训练样本，分布如下：</a:t>
            </a:r>
          </a:p>
          <a:p>
            <a:pPr algn="l"/>
            <a:r>
              <a:rPr lang="en-US" altLang="zh-CN" b="0" i="0" dirty="0">
                <a:solidFill>
                  <a:srgbClr val="121212"/>
                </a:solidFill>
                <a:effectLst/>
                <a:latin typeface="-apple-system"/>
              </a:rPr>
              <a:t>A [(179,42),</a:t>
            </a:r>
            <a:r>
              <a:rPr lang="zh-CN" altLang="en-US" b="0" i="0" dirty="0">
                <a:solidFill>
                  <a:srgbClr val="121212"/>
                </a:solidFill>
                <a:effectLst/>
                <a:latin typeface="-apple-system"/>
              </a:rPr>
              <a:t>男</a:t>
            </a:r>
            <a:r>
              <a:rPr lang="en-US" altLang="zh-CN" b="0" i="0" dirty="0">
                <a:solidFill>
                  <a:srgbClr val="121212"/>
                </a:solidFill>
                <a:effectLst/>
                <a:latin typeface="-apple-system"/>
              </a:rPr>
              <a:t>] B [(178,43),</a:t>
            </a:r>
            <a:r>
              <a:rPr lang="zh-CN" altLang="en-US" b="0" i="0" dirty="0">
                <a:solidFill>
                  <a:srgbClr val="121212"/>
                </a:solidFill>
                <a:effectLst/>
                <a:latin typeface="-apple-system"/>
              </a:rPr>
              <a:t>男</a:t>
            </a:r>
            <a:r>
              <a:rPr lang="en-US" altLang="zh-CN" b="0" i="0" dirty="0">
                <a:solidFill>
                  <a:srgbClr val="121212"/>
                </a:solidFill>
                <a:effectLst/>
                <a:latin typeface="-apple-system"/>
              </a:rPr>
              <a:t>] C [(165,36)</a:t>
            </a:r>
            <a:r>
              <a:rPr lang="zh-CN" altLang="en-US" b="0" i="0" dirty="0">
                <a:solidFill>
                  <a:srgbClr val="121212"/>
                </a:solidFill>
                <a:effectLst/>
                <a:latin typeface="-apple-system"/>
              </a:rPr>
              <a:t>女</a:t>
            </a:r>
            <a:r>
              <a:rPr lang="en-US" altLang="zh-CN" b="0" i="0" dirty="0">
                <a:solidFill>
                  <a:srgbClr val="121212"/>
                </a:solidFill>
                <a:effectLst/>
                <a:latin typeface="-apple-system"/>
              </a:rPr>
              <a:t>] D [(177,42),</a:t>
            </a:r>
            <a:r>
              <a:rPr lang="zh-CN" altLang="en-US" b="0" i="0" dirty="0">
                <a:solidFill>
                  <a:srgbClr val="121212"/>
                </a:solidFill>
                <a:effectLst/>
                <a:latin typeface="-apple-system"/>
              </a:rPr>
              <a:t>男</a:t>
            </a:r>
            <a:r>
              <a:rPr lang="en-US" altLang="zh-CN" b="0" i="0" dirty="0">
                <a:solidFill>
                  <a:srgbClr val="121212"/>
                </a:solidFill>
                <a:effectLst/>
                <a:latin typeface="-apple-system"/>
              </a:rPr>
              <a:t>] E [(160,35),</a:t>
            </a:r>
            <a:r>
              <a:rPr lang="zh-CN" altLang="en-US" b="0" i="0" dirty="0">
                <a:solidFill>
                  <a:srgbClr val="121212"/>
                </a:solidFill>
                <a:effectLst/>
                <a:latin typeface="-apple-system"/>
              </a:rPr>
              <a:t>女</a:t>
            </a:r>
            <a:r>
              <a:rPr lang="en-US" altLang="zh-CN" b="0" i="0" dirty="0">
                <a:solidFill>
                  <a:srgbClr val="121212"/>
                </a:solidFill>
                <a:effectLst/>
                <a:latin typeface="-apple-system"/>
              </a:rPr>
              <a:t>]</a:t>
            </a:r>
          </a:p>
          <a:p>
            <a:pPr algn="l"/>
            <a:endParaRPr lang="en-US" altLang="zh-CN" b="0" i="0" dirty="0">
              <a:solidFill>
                <a:srgbClr val="121212"/>
              </a:solidFill>
              <a:effectLst/>
              <a:latin typeface="-apple-system"/>
            </a:endParaRPr>
          </a:p>
          <a:p>
            <a:pPr algn="l"/>
            <a:r>
              <a:rPr lang="zh-CN" altLang="en-US" b="0" i="0" dirty="0">
                <a:solidFill>
                  <a:srgbClr val="121212"/>
                </a:solidFill>
                <a:effectLst/>
                <a:latin typeface="-apple-system"/>
              </a:rPr>
              <a:t>通过上述训练样本，我们看出问题了吗？</a:t>
            </a:r>
          </a:p>
          <a:p>
            <a:pPr algn="l"/>
            <a:endParaRPr lang="en-US" altLang="zh-CN" b="0" i="0" dirty="0">
              <a:solidFill>
                <a:srgbClr val="121212"/>
              </a:solidFill>
              <a:effectLst/>
              <a:latin typeface="-apple-system"/>
            </a:endParaRPr>
          </a:p>
          <a:p>
            <a:pPr algn="l"/>
            <a:r>
              <a:rPr lang="zh-CN" altLang="en-US" b="0" i="0" dirty="0">
                <a:solidFill>
                  <a:srgbClr val="121212"/>
                </a:solidFill>
                <a:effectLst/>
                <a:latin typeface="-apple-system"/>
              </a:rPr>
              <a:t>很容易看到第一维身高特征是第二维脚码特征的</a:t>
            </a:r>
            <a:r>
              <a:rPr lang="en-US" altLang="zh-CN" b="0" i="0" dirty="0">
                <a:solidFill>
                  <a:srgbClr val="121212"/>
                </a:solidFill>
                <a:effectLst/>
                <a:latin typeface="-apple-system"/>
              </a:rPr>
              <a:t>4</a:t>
            </a:r>
            <a:r>
              <a:rPr lang="zh-CN" altLang="en-US" b="0" i="0" dirty="0">
                <a:solidFill>
                  <a:srgbClr val="121212"/>
                </a:solidFill>
                <a:effectLst/>
                <a:latin typeface="-apple-system"/>
              </a:rPr>
              <a:t>倍左右，那么在进行距离度量的时候，</a:t>
            </a:r>
            <a:r>
              <a:rPr lang="zh-CN" altLang="en-US" b="1" i="0" dirty="0">
                <a:solidFill>
                  <a:srgbClr val="121212"/>
                </a:solidFill>
                <a:effectLst/>
                <a:latin typeface="-apple-system"/>
              </a:rPr>
              <a:t>我们就会偏向于第一维特征。</a:t>
            </a:r>
            <a:r>
              <a:rPr lang="zh-CN" altLang="en-US" b="0" i="0" dirty="0">
                <a:solidFill>
                  <a:srgbClr val="121212"/>
                </a:solidFill>
                <a:effectLst/>
                <a:latin typeface="-apple-system"/>
              </a:rPr>
              <a:t>这样造成俩个特征并不是等价重要的，最终可能会导致距离计算错误，从而导致预测错误。</a:t>
            </a:r>
            <a:endParaRPr lang="en-US" altLang="zh-CN" b="0" i="0" dirty="0">
              <a:solidFill>
                <a:srgbClr val="121212"/>
              </a:solidFill>
              <a:effectLst/>
              <a:latin typeface="-apple-system"/>
            </a:endParaRPr>
          </a:p>
          <a:p>
            <a:pPr algn="l"/>
            <a:endParaRPr lang="en-US" altLang="zh-CN" dirty="0">
              <a:solidFill>
                <a:srgbClr val="121212"/>
              </a:solidFill>
              <a:latin typeface="-apple-system"/>
            </a:endParaRPr>
          </a:p>
          <a:p>
            <a:pPr algn="l"/>
            <a:r>
              <a:rPr lang="zh-CN" altLang="en-US" b="0" i="0" dirty="0">
                <a:solidFill>
                  <a:srgbClr val="121212"/>
                </a:solidFill>
                <a:effectLst/>
                <a:latin typeface="-apple-system"/>
              </a:rPr>
              <a:t>举例如下：</a:t>
            </a:r>
          </a:p>
          <a:p>
            <a:pPr algn="l"/>
            <a:r>
              <a:rPr lang="zh-CN" altLang="en-US" b="0" i="0" dirty="0">
                <a:solidFill>
                  <a:srgbClr val="121212"/>
                </a:solidFill>
                <a:effectLst/>
                <a:latin typeface="-apple-system"/>
              </a:rPr>
              <a:t>现在我来了一个测试样本 </a:t>
            </a:r>
            <a:r>
              <a:rPr lang="en-US" altLang="zh-CN" b="0" i="0" dirty="0">
                <a:solidFill>
                  <a:srgbClr val="121212"/>
                </a:solidFill>
                <a:effectLst/>
                <a:latin typeface="-apple-system"/>
              </a:rPr>
              <a:t>F(167,43)</a:t>
            </a:r>
            <a:r>
              <a:rPr lang="zh-CN" altLang="en-US" b="0" i="0" dirty="0">
                <a:solidFill>
                  <a:srgbClr val="121212"/>
                </a:solidFill>
                <a:effectLst/>
                <a:latin typeface="-apple-system"/>
              </a:rPr>
              <a:t>，让我们来预测他是男性还是女性，我们采取</a:t>
            </a:r>
            <a:r>
              <a:rPr lang="en-US" altLang="zh-CN" b="0" i="0" dirty="0">
                <a:solidFill>
                  <a:srgbClr val="121212"/>
                </a:solidFill>
                <a:effectLst/>
                <a:latin typeface="-apple-system"/>
              </a:rPr>
              <a:t>k=3</a:t>
            </a:r>
            <a:r>
              <a:rPr lang="zh-CN" altLang="en-US" b="0" i="0" dirty="0">
                <a:solidFill>
                  <a:srgbClr val="121212"/>
                </a:solidFill>
                <a:effectLst/>
                <a:latin typeface="-apple-system"/>
              </a:rPr>
              <a:t>来预测。</a:t>
            </a:r>
          </a:p>
          <a:p>
            <a:pPr algn="l"/>
            <a:r>
              <a:rPr lang="zh-CN" altLang="en-US" b="0" i="0" dirty="0">
                <a:solidFill>
                  <a:srgbClr val="121212"/>
                </a:solidFill>
                <a:effectLst/>
                <a:latin typeface="-apple-system"/>
              </a:rPr>
              <a:t>下面我们用欧式距离分别算出</a:t>
            </a:r>
            <a:r>
              <a:rPr lang="en-US" altLang="zh-CN" b="0" i="0" dirty="0">
                <a:solidFill>
                  <a:srgbClr val="121212"/>
                </a:solidFill>
                <a:effectLst/>
                <a:latin typeface="-apple-system"/>
              </a:rPr>
              <a:t>F</a:t>
            </a:r>
            <a:r>
              <a:rPr lang="zh-CN" altLang="en-US" b="0" i="0" dirty="0">
                <a:solidFill>
                  <a:srgbClr val="121212"/>
                </a:solidFill>
                <a:effectLst/>
                <a:latin typeface="-apple-system"/>
              </a:rPr>
              <a:t>离训练样本的欧式距离，然后选取最近的</a:t>
            </a:r>
            <a:r>
              <a:rPr lang="en-US" altLang="zh-CN" b="0" i="0" dirty="0">
                <a:solidFill>
                  <a:srgbClr val="121212"/>
                </a:solidFill>
                <a:effectLst/>
                <a:latin typeface="-apple-system"/>
              </a:rPr>
              <a:t>3</a:t>
            </a:r>
            <a:r>
              <a:rPr lang="zh-CN" altLang="en-US" b="0" i="0" dirty="0">
                <a:solidFill>
                  <a:srgbClr val="121212"/>
                </a:solidFill>
                <a:effectLst/>
                <a:latin typeface="-apple-system"/>
              </a:rPr>
              <a:t>个，多数类别就是我们最终的结果，计算如下：</a:t>
            </a:r>
          </a:p>
        </p:txBody>
      </p:sp>
    </p:spTree>
    <p:extLst>
      <p:ext uri="{BB962C8B-B14F-4D97-AF65-F5344CB8AC3E}">
        <p14:creationId xmlns:p14="http://schemas.microsoft.com/office/powerpoint/2010/main" val="3929332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0B8CE0-D300-410E-BD9F-F5895E76EC76}"/>
              </a:ext>
            </a:extLst>
          </p:cNvPr>
          <p:cNvSpPr>
            <a:spLocks noGrp="1"/>
          </p:cNvSpPr>
          <p:nvPr>
            <p:ph type="title"/>
          </p:nvPr>
        </p:nvSpPr>
        <p:spPr/>
        <p:txBody>
          <a:bodyPr>
            <a:normAutofit fontScale="90000"/>
          </a:bodyPr>
          <a:lstStyle/>
          <a:p>
            <a:endParaRPr lang="zh-CN" altLang="en-US"/>
          </a:p>
        </p:txBody>
      </p:sp>
      <p:sp>
        <p:nvSpPr>
          <p:cNvPr id="4" name="文本框 3">
            <a:extLst>
              <a:ext uri="{FF2B5EF4-FFF2-40B4-BE49-F238E27FC236}">
                <a16:creationId xmlns:a16="http://schemas.microsoft.com/office/drawing/2014/main" id="{00DD7AC7-C185-41C7-9E76-493A88E99486}"/>
              </a:ext>
            </a:extLst>
          </p:cNvPr>
          <p:cNvSpPr txBox="1"/>
          <p:nvPr/>
        </p:nvSpPr>
        <p:spPr>
          <a:xfrm>
            <a:off x="554477" y="1120676"/>
            <a:ext cx="10680970" cy="2862322"/>
          </a:xfrm>
          <a:prstGeom prst="rect">
            <a:avLst/>
          </a:prstGeom>
          <a:noFill/>
        </p:spPr>
        <p:txBody>
          <a:bodyPr wrap="square">
            <a:spAutoFit/>
          </a:bodyPr>
          <a:lstStyle/>
          <a:p>
            <a:pPr algn="l"/>
            <a:r>
              <a:rPr lang="zh-CN" altLang="en-US" b="0" i="0" dirty="0">
                <a:solidFill>
                  <a:srgbClr val="121212"/>
                </a:solidFill>
                <a:effectLst/>
                <a:latin typeface="-apple-system"/>
              </a:rPr>
              <a:t>由计算可以得到，最近的前三个分别是</a:t>
            </a:r>
            <a:r>
              <a:rPr lang="en-US" altLang="zh-CN" b="0" i="0" dirty="0">
                <a:solidFill>
                  <a:srgbClr val="121212"/>
                </a:solidFill>
                <a:effectLst/>
                <a:latin typeface="-apple-system"/>
              </a:rPr>
              <a:t>C,D,E</a:t>
            </a:r>
            <a:r>
              <a:rPr lang="zh-CN" altLang="en-US" b="0" i="0" dirty="0">
                <a:solidFill>
                  <a:srgbClr val="121212"/>
                </a:solidFill>
                <a:effectLst/>
                <a:latin typeface="-apple-system"/>
              </a:rPr>
              <a:t>三个样本，那么由</a:t>
            </a:r>
            <a:r>
              <a:rPr lang="en-US" altLang="zh-CN" b="0" i="0" dirty="0">
                <a:solidFill>
                  <a:srgbClr val="121212"/>
                </a:solidFill>
                <a:effectLst/>
                <a:latin typeface="-apple-system"/>
              </a:rPr>
              <a:t>C,E</a:t>
            </a:r>
            <a:r>
              <a:rPr lang="zh-CN" altLang="en-US" b="0" i="0" dirty="0">
                <a:solidFill>
                  <a:srgbClr val="121212"/>
                </a:solidFill>
                <a:effectLst/>
                <a:latin typeface="-apple-system"/>
              </a:rPr>
              <a:t>为女性，</a:t>
            </a:r>
            <a:r>
              <a:rPr lang="en-US" altLang="zh-CN" b="0" i="0" dirty="0">
                <a:solidFill>
                  <a:srgbClr val="121212"/>
                </a:solidFill>
                <a:effectLst/>
                <a:latin typeface="-apple-system"/>
              </a:rPr>
              <a:t>D</a:t>
            </a:r>
            <a:r>
              <a:rPr lang="zh-CN" altLang="en-US" b="0" i="0" dirty="0">
                <a:solidFill>
                  <a:srgbClr val="121212"/>
                </a:solidFill>
                <a:effectLst/>
                <a:latin typeface="-apple-system"/>
              </a:rPr>
              <a:t>为男性，女性多于男性得到我们要预测的结果为</a:t>
            </a:r>
            <a:r>
              <a:rPr lang="zh-CN" altLang="en-US" b="1" i="0" dirty="0">
                <a:solidFill>
                  <a:srgbClr val="121212"/>
                </a:solidFill>
                <a:effectLst/>
                <a:latin typeface="-apple-system"/>
              </a:rPr>
              <a:t>女性</a:t>
            </a:r>
            <a:r>
              <a:rPr lang="zh-CN" altLang="en-US" b="0" i="0" dirty="0">
                <a:solidFill>
                  <a:srgbClr val="121212"/>
                </a:solidFill>
                <a:effectLst/>
                <a:latin typeface="-apple-system"/>
              </a:rPr>
              <a:t>。</a:t>
            </a:r>
            <a:endParaRPr lang="en-US" altLang="zh-CN" b="0" i="0" dirty="0">
              <a:solidFill>
                <a:srgbClr val="121212"/>
              </a:solidFill>
              <a:effectLst/>
              <a:latin typeface="-apple-system"/>
            </a:endParaRPr>
          </a:p>
          <a:p>
            <a:pPr algn="l"/>
            <a:endParaRPr lang="zh-CN" altLang="en-US" b="0" i="0" dirty="0">
              <a:solidFill>
                <a:srgbClr val="121212"/>
              </a:solidFill>
              <a:effectLst/>
              <a:latin typeface="-apple-system"/>
            </a:endParaRPr>
          </a:p>
          <a:p>
            <a:pPr algn="l"/>
            <a:r>
              <a:rPr lang="zh-CN" altLang="en-US" b="1" i="0" dirty="0">
                <a:solidFill>
                  <a:srgbClr val="121212"/>
                </a:solidFill>
                <a:effectLst/>
                <a:latin typeface="-apple-system"/>
              </a:rPr>
              <a:t>这样问题就来了，一个女性的脚</a:t>
            </a:r>
            <a:r>
              <a:rPr lang="en-US" altLang="zh-CN" b="1" i="0" dirty="0">
                <a:solidFill>
                  <a:srgbClr val="121212"/>
                </a:solidFill>
                <a:effectLst/>
                <a:latin typeface="-apple-system"/>
              </a:rPr>
              <a:t>43</a:t>
            </a:r>
            <a:r>
              <a:rPr lang="zh-CN" altLang="en-US" b="1" i="0" dirty="0">
                <a:solidFill>
                  <a:srgbClr val="121212"/>
                </a:solidFill>
                <a:effectLst/>
                <a:latin typeface="-apple-system"/>
              </a:rPr>
              <a:t>码的可能性，远远小于男性脚</a:t>
            </a:r>
            <a:r>
              <a:rPr lang="en-US" altLang="zh-CN" b="1" i="0" dirty="0">
                <a:solidFill>
                  <a:srgbClr val="121212"/>
                </a:solidFill>
                <a:effectLst/>
                <a:latin typeface="-apple-system"/>
              </a:rPr>
              <a:t>43</a:t>
            </a:r>
            <a:r>
              <a:rPr lang="zh-CN" altLang="en-US" b="1" i="0" dirty="0">
                <a:solidFill>
                  <a:srgbClr val="121212"/>
                </a:solidFill>
                <a:effectLst/>
                <a:latin typeface="-apple-system"/>
              </a:rPr>
              <a:t>码的可能性，那么为什么算法还是会预测</a:t>
            </a:r>
            <a:r>
              <a:rPr lang="en-US" altLang="zh-CN" b="1" i="0" dirty="0">
                <a:solidFill>
                  <a:srgbClr val="121212"/>
                </a:solidFill>
                <a:effectLst/>
                <a:latin typeface="-apple-system"/>
              </a:rPr>
              <a:t>F</a:t>
            </a:r>
            <a:r>
              <a:rPr lang="zh-CN" altLang="en-US" b="1" i="0" dirty="0">
                <a:solidFill>
                  <a:srgbClr val="121212"/>
                </a:solidFill>
                <a:effectLst/>
                <a:latin typeface="-apple-system"/>
              </a:rPr>
              <a:t>为女性呢？那是因为由于各个特征量纲的不同，在这里导致了身高的重要性已经远远大于脚码了，这是不客观的。</a:t>
            </a:r>
            <a:endParaRPr lang="en-US" altLang="zh-CN" b="1" i="0" dirty="0">
              <a:solidFill>
                <a:srgbClr val="121212"/>
              </a:solidFill>
              <a:effectLst/>
              <a:latin typeface="-apple-system"/>
            </a:endParaRPr>
          </a:p>
          <a:p>
            <a:pPr algn="l"/>
            <a:endParaRPr lang="en-US" altLang="zh-CN" b="1" dirty="0">
              <a:solidFill>
                <a:srgbClr val="121212"/>
              </a:solidFill>
              <a:latin typeface="-apple-system"/>
            </a:endParaRPr>
          </a:p>
          <a:p>
            <a:pPr algn="l"/>
            <a:r>
              <a:rPr lang="zh-CN" altLang="en-US" b="0" i="0" dirty="0">
                <a:solidFill>
                  <a:srgbClr val="121212"/>
                </a:solidFill>
                <a:effectLst/>
                <a:latin typeface="-apple-system"/>
              </a:rPr>
              <a:t>所以我们应该让每个特征都是同等重要的！这也是我们要归一化的原因！归一化公式如下：</a:t>
            </a:r>
          </a:p>
          <a:p>
            <a:br>
              <a:rPr lang="zh-CN" altLang="en-US" dirty="0"/>
            </a:br>
            <a:endParaRPr lang="zh-CN" altLang="en-US" dirty="0"/>
          </a:p>
        </p:txBody>
      </p:sp>
      <p:pic>
        <p:nvPicPr>
          <p:cNvPr id="9218" name="Picture 2" descr="preview">
            <a:extLst>
              <a:ext uri="{FF2B5EF4-FFF2-40B4-BE49-F238E27FC236}">
                <a16:creationId xmlns:a16="http://schemas.microsoft.com/office/drawing/2014/main" id="{748781FB-007D-4100-B485-FB2FAC899D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051" y="3429000"/>
            <a:ext cx="9472815" cy="3044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1881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BCEC3B-4729-49A7-9BB6-CCDAB5A01ECA}"/>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决策规则</a:t>
            </a:r>
            <a:br>
              <a:rPr lang="en-US" altLang="zh-CN" b="1" i="0" dirty="0">
                <a:solidFill>
                  <a:srgbClr val="333333"/>
                </a:solidFill>
                <a:effectLst/>
                <a:latin typeface="Open Sans" panose="020B0606030504020204" pitchFamily="34" charset="0"/>
              </a:rPr>
            </a:br>
            <a:br>
              <a:rPr lang="zh-CN" altLang="en-US" b="1" i="0" dirty="0">
                <a:solidFill>
                  <a:srgbClr val="333333"/>
                </a:solidFill>
                <a:effectLst/>
                <a:latin typeface="Open Sans" panose="020B0606030504020204" pitchFamily="34" charset="0"/>
              </a:rPr>
            </a:br>
            <a:endParaRPr lang="zh-CN" altLang="en-US" dirty="0"/>
          </a:p>
        </p:txBody>
      </p:sp>
      <p:sp>
        <p:nvSpPr>
          <p:cNvPr id="4" name="文本框 3">
            <a:extLst>
              <a:ext uri="{FF2B5EF4-FFF2-40B4-BE49-F238E27FC236}">
                <a16:creationId xmlns:a16="http://schemas.microsoft.com/office/drawing/2014/main" id="{82EF4AF0-72CC-424E-98A3-199021B391A6}"/>
              </a:ext>
            </a:extLst>
          </p:cNvPr>
          <p:cNvSpPr txBox="1"/>
          <p:nvPr/>
        </p:nvSpPr>
        <p:spPr>
          <a:xfrm>
            <a:off x="593386" y="1448705"/>
            <a:ext cx="10852237" cy="4524315"/>
          </a:xfrm>
          <a:prstGeom prst="rect">
            <a:avLst/>
          </a:prstGeom>
          <a:noFill/>
        </p:spPr>
        <p:txBody>
          <a:bodyPr wrap="square">
            <a:spAutoFit/>
          </a:bodyPr>
          <a:lstStyle/>
          <a:p>
            <a:r>
              <a:rPr lang="zh-CN" altLang="en-US" dirty="0"/>
              <a:t>分类决策规则</a:t>
            </a:r>
          </a:p>
          <a:p>
            <a:r>
              <a:rPr lang="zh-CN" altLang="en-US" dirty="0"/>
              <a:t>分类决策通常采用多数表决，也可以基于距离的远近进行加权投票：距离越近的样本权重越大。</a:t>
            </a:r>
          </a:p>
          <a:p>
            <a:endParaRPr lang="zh-CN" altLang="en-US" dirty="0"/>
          </a:p>
          <a:p>
            <a:r>
              <a:rPr lang="zh-CN" altLang="en-US" dirty="0"/>
              <a:t>多数表决等价于经验风险最小化。</a:t>
            </a:r>
          </a:p>
          <a:p>
            <a:endParaRPr lang="zh-CN" altLang="en-US" dirty="0"/>
          </a:p>
          <a:p>
            <a:r>
              <a:rPr lang="zh-CN" altLang="en-US" dirty="0"/>
              <a:t>设分类的损失函数为</a:t>
            </a:r>
            <a:r>
              <a:rPr lang="en-US" altLang="zh-CN" dirty="0"/>
              <a:t>0---1</a:t>
            </a:r>
            <a:r>
              <a:rPr lang="zh-CN" altLang="en-US" dirty="0"/>
              <a:t>损失函数，分类函数为 。</a:t>
            </a:r>
          </a:p>
          <a:p>
            <a:endParaRPr lang="zh-CN" altLang="en-US" dirty="0"/>
          </a:p>
          <a:p>
            <a:r>
              <a:rPr lang="zh-CN" altLang="en-US" dirty="0"/>
              <a:t>给定样本                  其最邻近的</a:t>
            </a:r>
            <a:r>
              <a:rPr lang="en-US" altLang="zh-CN" dirty="0"/>
              <a:t>k</a:t>
            </a:r>
            <a:r>
              <a:rPr lang="zh-CN" altLang="en-US" dirty="0"/>
              <a:t>个训练点构成集合 。              设涵盖              区域的类别为       （这是待求的未知量，但是它肯定是                           之一），则损失函数为：</a:t>
            </a:r>
            <a:endParaRPr lang="en-US" altLang="zh-CN" dirty="0"/>
          </a:p>
          <a:p>
            <a:endParaRPr lang="en-US" altLang="zh-CN" dirty="0"/>
          </a:p>
          <a:p>
            <a:endParaRPr lang="en-US" altLang="zh-CN" dirty="0"/>
          </a:p>
          <a:p>
            <a:endParaRPr lang="zh-CN" altLang="en-US" dirty="0"/>
          </a:p>
          <a:p>
            <a:endParaRPr lang="zh-CN" altLang="en-US" dirty="0"/>
          </a:p>
          <a:p>
            <a:r>
              <a:rPr lang="zh-CN" altLang="en-US" dirty="0"/>
              <a:t> 就是训练数据的经验风险。要使经验风险最小，则使得                                           最大。</a:t>
            </a:r>
            <a:endParaRPr lang="en-US" altLang="zh-CN" dirty="0"/>
          </a:p>
          <a:p>
            <a:endParaRPr lang="en-US" altLang="zh-CN" dirty="0"/>
          </a:p>
          <a:p>
            <a:r>
              <a:rPr lang="en-US" altLang="zh-CN" dirty="0"/>
              <a:t> </a:t>
            </a:r>
            <a:r>
              <a:rPr lang="zh-CN" altLang="en-US" dirty="0"/>
              <a:t>即多数表决： 。</a:t>
            </a:r>
          </a:p>
        </p:txBody>
      </p:sp>
      <p:pic>
        <p:nvPicPr>
          <p:cNvPr id="6" name="图片 5">
            <a:extLst>
              <a:ext uri="{FF2B5EF4-FFF2-40B4-BE49-F238E27FC236}">
                <a16:creationId xmlns:a16="http://schemas.microsoft.com/office/drawing/2014/main" id="{433FBB52-8B79-46B1-AFC6-E25FC15FE01D}"/>
              </a:ext>
            </a:extLst>
          </p:cNvPr>
          <p:cNvPicPr>
            <a:picLocks noChangeAspect="1"/>
          </p:cNvPicPr>
          <p:nvPr/>
        </p:nvPicPr>
        <p:blipFill>
          <a:blip r:embed="rId2"/>
          <a:stretch>
            <a:fillRect/>
          </a:stretch>
        </p:blipFill>
        <p:spPr>
          <a:xfrm>
            <a:off x="5567363" y="2851677"/>
            <a:ext cx="2914650" cy="333375"/>
          </a:xfrm>
          <a:prstGeom prst="rect">
            <a:avLst/>
          </a:prstGeom>
        </p:spPr>
      </p:pic>
      <p:pic>
        <p:nvPicPr>
          <p:cNvPr id="8" name="图片 7">
            <a:extLst>
              <a:ext uri="{FF2B5EF4-FFF2-40B4-BE49-F238E27FC236}">
                <a16:creationId xmlns:a16="http://schemas.microsoft.com/office/drawing/2014/main" id="{35A0DCD5-8EF2-4FA5-8537-2381EEC6C8C6}"/>
              </a:ext>
            </a:extLst>
          </p:cNvPr>
          <p:cNvPicPr>
            <a:picLocks noChangeAspect="1"/>
          </p:cNvPicPr>
          <p:nvPr/>
        </p:nvPicPr>
        <p:blipFill>
          <a:blip r:embed="rId3"/>
          <a:stretch>
            <a:fillRect/>
          </a:stretch>
        </p:blipFill>
        <p:spPr>
          <a:xfrm>
            <a:off x="1714500" y="3223681"/>
            <a:ext cx="876300" cy="410637"/>
          </a:xfrm>
          <a:prstGeom prst="rect">
            <a:avLst/>
          </a:prstGeom>
        </p:spPr>
      </p:pic>
      <p:pic>
        <p:nvPicPr>
          <p:cNvPr id="10" name="图片 9">
            <a:extLst>
              <a:ext uri="{FF2B5EF4-FFF2-40B4-BE49-F238E27FC236}">
                <a16:creationId xmlns:a16="http://schemas.microsoft.com/office/drawing/2014/main" id="{34ADB598-CB39-4658-ABA1-E373EFD8D8B8}"/>
              </a:ext>
            </a:extLst>
          </p:cNvPr>
          <p:cNvPicPr>
            <a:picLocks noChangeAspect="1"/>
          </p:cNvPicPr>
          <p:nvPr/>
        </p:nvPicPr>
        <p:blipFill>
          <a:blip r:embed="rId4"/>
          <a:stretch>
            <a:fillRect/>
          </a:stretch>
        </p:blipFill>
        <p:spPr>
          <a:xfrm>
            <a:off x="5870448" y="3357901"/>
            <a:ext cx="752475" cy="352425"/>
          </a:xfrm>
          <a:prstGeom prst="rect">
            <a:avLst/>
          </a:prstGeom>
        </p:spPr>
      </p:pic>
      <p:pic>
        <p:nvPicPr>
          <p:cNvPr id="12" name="图片 11">
            <a:extLst>
              <a:ext uri="{FF2B5EF4-FFF2-40B4-BE49-F238E27FC236}">
                <a16:creationId xmlns:a16="http://schemas.microsoft.com/office/drawing/2014/main" id="{05A3F122-2C32-4801-B8A3-B24801FA9DB6}"/>
              </a:ext>
            </a:extLst>
          </p:cNvPr>
          <p:cNvPicPr>
            <a:picLocks noChangeAspect="1"/>
          </p:cNvPicPr>
          <p:nvPr/>
        </p:nvPicPr>
        <p:blipFill>
          <a:blip r:embed="rId4"/>
          <a:stretch>
            <a:fillRect/>
          </a:stretch>
        </p:blipFill>
        <p:spPr>
          <a:xfrm>
            <a:off x="7682124" y="3357901"/>
            <a:ext cx="752475" cy="352425"/>
          </a:xfrm>
          <a:prstGeom prst="rect">
            <a:avLst/>
          </a:prstGeom>
        </p:spPr>
      </p:pic>
      <p:pic>
        <p:nvPicPr>
          <p:cNvPr id="14" name="图片 13">
            <a:extLst>
              <a:ext uri="{FF2B5EF4-FFF2-40B4-BE49-F238E27FC236}">
                <a16:creationId xmlns:a16="http://schemas.microsoft.com/office/drawing/2014/main" id="{C8D09D8C-6F0D-4897-BEC8-1766910560E0}"/>
              </a:ext>
            </a:extLst>
          </p:cNvPr>
          <p:cNvPicPr>
            <a:picLocks noChangeAspect="1"/>
          </p:cNvPicPr>
          <p:nvPr/>
        </p:nvPicPr>
        <p:blipFill>
          <a:blip r:embed="rId5"/>
          <a:stretch>
            <a:fillRect/>
          </a:stretch>
        </p:blipFill>
        <p:spPr>
          <a:xfrm>
            <a:off x="10025061" y="3428999"/>
            <a:ext cx="447675" cy="304800"/>
          </a:xfrm>
          <a:prstGeom prst="rect">
            <a:avLst/>
          </a:prstGeom>
        </p:spPr>
      </p:pic>
      <p:pic>
        <p:nvPicPr>
          <p:cNvPr id="16" name="图片 15">
            <a:extLst>
              <a:ext uri="{FF2B5EF4-FFF2-40B4-BE49-F238E27FC236}">
                <a16:creationId xmlns:a16="http://schemas.microsoft.com/office/drawing/2014/main" id="{967AE1F1-BA1C-4D9C-BC03-F5026EBE9B50}"/>
              </a:ext>
            </a:extLst>
          </p:cNvPr>
          <p:cNvPicPr>
            <a:picLocks noChangeAspect="1"/>
          </p:cNvPicPr>
          <p:nvPr/>
        </p:nvPicPr>
        <p:blipFill>
          <a:blip r:embed="rId6"/>
          <a:stretch>
            <a:fillRect/>
          </a:stretch>
        </p:blipFill>
        <p:spPr>
          <a:xfrm>
            <a:off x="3529013" y="3710326"/>
            <a:ext cx="1562100" cy="323850"/>
          </a:xfrm>
          <a:prstGeom prst="rect">
            <a:avLst/>
          </a:prstGeom>
        </p:spPr>
      </p:pic>
      <p:pic>
        <p:nvPicPr>
          <p:cNvPr id="18" name="图片 17">
            <a:extLst>
              <a:ext uri="{FF2B5EF4-FFF2-40B4-BE49-F238E27FC236}">
                <a16:creationId xmlns:a16="http://schemas.microsoft.com/office/drawing/2014/main" id="{329700D8-C807-4ABE-974A-DC54EC7DD894}"/>
              </a:ext>
            </a:extLst>
          </p:cNvPr>
          <p:cNvPicPr>
            <a:picLocks noChangeAspect="1"/>
          </p:cNvPicPr>
          <p:nvPr/>
        </p:nvPicPr>
        <p:blipFill>
          <a:blip r:embed="rId7"/>
          <a:stretch>
            <a:fillRect/>
          </a:stretch>
        </p:blipFill>
        <p:spPr>
          <a:xfrm>
            <a:off x="3233838" y="4102249"/>
            <a:ext cx="6191250" cy="971550"/>
          </a:xfrm>
          <a:prstGeom prst="rect">
            <a:avLst/>
          </a:prstGeom>
        </p:spPr>
      </p:pic>
      <p:pic>
        <p:nvPicPr>
          <p:cNvPr id="20" name="图片 19">
            <a:extLst>
              <a:ext uri="{FF2B5EF4-FFF2-40B4-BE49-F238E27FC236}">
                <a16:creationId xmlns:a16="http://schemas.microsoft.com/office/drawing/2014/main" id="{6B8FB7A7-D66E-4861-913F-7D804855E5D3}"/>
              </a:ext>
            </a:extLst>
          </p:cNvPr>
          <p:cNvPicPr>
            <a:picLocks noChangeAspect="1"/>
          </p:cNvPicPr>
          <p:nvPr/>
        </p:nvPicPr>
        <p:blipFill>
          <a:blip r:embed="rId8"/>
          <a:stretch>
            <a:fillRect/>
          </a:stretch>
        </p:blipFill>
        <p:spPr>
          <a:xfrm>
            <a:off x="6246685" y="4933248"/>
            <a:ext cx="2486025" cy="485775"/>
          </a:xfrm>
          <a:prstGeom prst="rect">
            <a:avLst/>
          </a:prstGeom>
        </p:spPr>
      </p:pic>
      <p:pic>
        <p:nvPicPr>
          <p:cNvPr id="22" name="图片 21">
            <a:extLst>
              <a:ext uri="{FF2B5EF4-FFF2-40B4-BE49-F238E27FC236}">
                <a16:creationId xmlns:a16="http://schemas.microsoft.com/office/drawing/2014/main" id="{B8D0C7BA-3CF8-497F-A4CC-AAC3660F3D1A}"/>
              </a:ext>
            </a:extLst>
          </p:cNvPr>
          <p:cNvPicPr>
            <a:picLocks noChangeAspect="1"/>
          </p:cNvPicPr>
          <p:nvPr/>
        </p:nvPicPr>
        <p:blipFill>
          <a:blip r:embed="rId9"/>
          <a:stretch>
            <a:fillRect/>
          </a:stretch>
        </p:blipFill>
        <p:spPr>
          <a:xfrm>
            <a:off x="2085975" y="5494317"/>
            <a:ext cx="4448175" cy="438150"/>
          </a:xfrm>
          <a:prstGeom prst="rect">
            <a:avLst/>
          </a:prstGeom>
        </p:spPr>
      </p:pic>
    </p:spTree>
    <p:extLst>
      <p:ext uri="{BB962C8B-B14F-4D97-AF65-F5344CB8AC3E}">
        <p14:creationId xmlns:p14="http://schemas.microsoft.com/office/powerpoint/2010/main" val="2318380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BBE207-3BDB-457E-B06F-091D83140775}"/>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回归决策规则</a:t>
            </a:r>
            <a:br>
              <a:rPr lang="zh-CN" altLang="en-US" b="1" i="0" dirty="0">
                <a:solidFill>
                  <a:srgbClr val="333333"/>
                </a:solidFill>
                <a:effectLst/>
                <a:latin typeface="Open Sans" panose="020B0606030504020204" pitchFamily="34" charset="0"/>
              </a:rPr>
            </a:br>
            <a:endParaRPr lang="zh-CN" altLang="en-US" dirty="0"/>
          </a:p>
        </p:txBody>
      </p:sp>
      <p:sp>
        <p:nvSpPr>
          <p:cNvPr id="4" name="文本框 3">
            <a:extLst>
              <a:ext uri="{FF2B5EF4-FFF2-40B4-BE49-F238E27FC236}">
                <a16:creationId xmlns:a16="http://schemas.microsoft.com/office/drawing/2014/main" id="{F462126B-44D7-4ABD-85A0-A1547AA8ACD9}"/>
              </a:ext>
            </a:extLst>
          </p:cNvPr>
          <p:cNvSpPr txBox="1"/>
          <p:nvPr/>
        </p:nvSpPr>
        <p:spPr>
          <a:xfrm>
            <a:off x="214311" y="1866484"/>
            <a:ext cx="10387013" cy="4247317"/>
          </a:xfrm>
          <a:prstGeom prst="rect">
            <a:avLst/>
          </a:prstGeom>
          <a:noFill/>
        </p:spPr>
        <p:txBody>
          <a:bodyPr wrap="square">
            <a:spAutoFit/>
          </a:bodyPr>
          <a:lstStyle/>
          <a:p>
            <a:r>
              <a:rPr lang="zh-CN" altLang="en-US" dirty="0"/>
              <a:t>回归决策通常采用均值回归，也可以基于距离的远近进行加权投票：距离越近的样本权重越大。</a:t>
            </a:r>
          </a:p>
          <a:p>
            <a:endParaRPr lang="zh-CN" altLang="en-US" dirty="0"/>
          </a:p>
          <a:p>
            <a:r>
              <a:rPr lang="zh-CN" altLang="en-US" dirty="0"/>
              <a:t>均值回归等价于经验风险最小化。</a:t>
            </a:r>
          </a:p>
          <a:p>
            <a:endParaRPr lang="zh-CN" altLang="en-US" dirty="0"/>
          </a:p>
          <a:p>
            <a:r>
              <a:rPr lang="zh-CN" altLang="en-US" dirty="0"/>
              <a:t>设回归的损失函数为均方误差。给定样本  ，       其最邻近的</a:t>
            </a:r>
            <a:r>
              <a:rPr lang="en-US" altLang="zh-CN" dirty="0"/>
              <a:t>k</a:t>
            </a:r>
            <a:r>
              <a:rPr lang="zh-CN" altLang="en-US" dirty="0"/>
              <a:t>个训练点构成集合 。设涵盖              区域的输出为  ，则损失函数为：</a:t>
            </a:r>
            <a:endParaRPr lang="en-US" altLang="zh-CN" dirty="0"/>
          </a:p>
          <a:p>
            <a:endParaRPr lang="en-US" altLang="zh-CN" dirty="0"/>
          </a:p>
          <a:p>
            <a:endParaRPr lang="en-US" altLang="zh-CN" dirty="0"/>
          </a:p>
          <a:p>
            <a:endParaRPr lang="zh-CN" altLang="en-US" dirty="0"/>
          </a:p>
          <a:p>
            <a:endParaRPr lang="zh-CN" altLang="en-US" dirty="0"/>
          </a:p>
          <a:p>
            <a:r>
              <a:rPr lang="zh-CN" altLang="en-US" dirty="0"/>
              <a:t> 就是训练数据的经验风险。要使经验风险最小，则有： </a:t>
            </a:r>
            <a:endParaRPr lang="en-US" altLang="zh-CN" dirty="0"/>
          </a:p>
          <a:p>
            <a:endParaRPr lang="en-US" altLang="zh-CN" dirty="0"/>
          </a:p>
          <a:p>
            <a:endParaRPr lang="en-US" altLang="zh-CN" dirty="0"/>
          </a:p>
          <a:p>
            <a:endParaRPr lang="en-US" altLang="zh-CN" dirty="0"/>
          </a:p>
          <a:p>
            <a:r>
              <a:rPr lang="zh-CN" altLang="en-US" dirty="0"/>
              <a:t>即：均值回归。</a:t>
            </a:r>
          </a:p>
        </p:txBody>
      </p:sp>
      <p:pic>
        <p:nvPicPr>
          <p:cNvPr id="6" name="图片 5">
            <a:extLst>
              <a:ext uri="{FF2B5EF4-FFF2-40B4-BE49-F238E27FC236}">
                <a16:creationId xmlns:a16="http://schemas.microsoft.com/office/drawing/2014/main" id="{57E6D4DA-BB75-4FCE-B7BC-136AA1E3A180}"/>
              </a:ext>
            </a:extLst>
          </p:cNvPr>
          <p:cNvPicPr>
            <a:picLocks noChangeAspect="1"/>
          </p:cNvPicPr>
          <p:nvPr/>
        </p:nvPicPr>
        <p:blipFill>
          <a:blip r:embed="rId2"/>
          <a:stretch>
            <a:fillRect/>
          </a:stretch>
        </p:blipFill>
        <p:spPr>
          <a:xfrm>
            <a:off x="4433887" y="2977782"/>
            <a:ext cx="781050" cy="333375"/>
          </a:xfrm>
          <a:prstGeom prst="rect">
            <a:avLst/>
          </a:prstGeom>
        </p:spPr>
      </p:pic>
      <p:pic>
        <p:nvPicPr>
          <p:cNvPr id="8" name="图片 7">
            <a:extLst>
              <a:ext uri="{FF2B5EF4-FFF2-40B4-BE49-F238E27FC236}">
                <a16:creationId xmlns:a16="http://schemas.microsoft.com/office/drawing/2014/main" id="{8060EDC0-D531-487D-8853-863F7162D7AD}"/>
              </a:ext>
            </a:extLst>
          </p:cNvPr>
          <p:cNvPicPr>
            <a:picLocks noChangeAspect="1"/>
          </p:cNvPicPr>
          <p:nvPr/>
        </p:nvPicPr>
        <p:blipFill>
          <a:blip r:embed="rId3"/>
          <a:stretch>
            <a:fillRect/>
          </a:stretch>
        </p:blipFill>
        <p:spPr>
          <a:xfrm>
            <a:off x="9305926" y="2930156"/>
            <a:ext cx="771525" cy="428625"/>
          </a:xfrm>
          <a:prstGeom prst="rect">
            <a:avLst/>
          </a:prstGeom>
        </p:spPr>
      </p:pic>
      <p:pic>
        <p:nvPicPr>
          <p:cNvPr id="10" name="图片 9">
            <a:extLst>
              <a:ext uri="{FF2B5EF4-FFF2-40B4-BE49-F238E27FC236}">
                <a16:creationId xmlns:a16="http://schemas.microsoft.com/office/drawing/2014/main" id="{D67CD3F6-FAC1-4139-84AC-93352B16F7C5}"/>
              </a:ext>
            </a:extLst>
          </p:cNvPr>
          <p:cNvPicPr>
            <a:picLocks noChangeAspect="1"/>
          </p:cNvPicPr>
          <p:nvPr/>
        </p:nvPicPr>
        <p:blipFill>
          <a:blip r:embed="rId4"/>
          <a:stretch>
            <a:fillRect/>
          </a:stretch>
        </p:blipFill>
        <p:spPr>
          <a:xfrm>
            <a:off x="1485901" y="3224212"/>
            <a:ext cx="209550" cy="409575"/>
          </a:xfrm>
          <a:prstGeom prst="rect">
            <a:avLst/>
          </a:prstGeom>
        </p:spPr>
      </p:pic>
      <p:pic>
        <p:nvPicPr>
          <p:cNvPr id="12" name="图片 11">
            <a:extLst>
              <a:ext uri="{FF2B5EF4-FFF2-40B4-BE49-F238E27FC236}">
                <a16:creationId xmlns:a16="http://schemas.microsoft.com/office/drawing/2014/main" id="{43FDF3BC-6017-448A-9DF6-77E72A7E9508}"/>
              </a:ext>
            </a:extLst>
          </p:cNvPr>
          <p:cNvPicPr>
            <a:picLocks noChangeAspect="1"/>
          </p:cNvPicPr>
          <p:nvPr/>
        </p:nvPicPr>
        <p:blipFill>
          <a:blip r:embed="rId5"/>
          <a:stretch>
            <a:fillRect/>
          </a:stretch>
        </p:blipFill>
        <p:spPr>
          <a:xfrm>
            <a:off x="3476625" y="3546844"/>
            <a:ext cx="2895600" cy="1047750"/>
          </a:xfrm>
          <a:prstGeom prst="rect">
            <a:avLst/>
          </a:prstGeom>
        </p:spPr>
      </p:pic>
      <p:pic>
        <p:nvPicPr>
          <p:cNvPr id="14" name="图片 13">
            <a:extLst>
              <a:ext uri="{FF2B5EF4-FFF2-40B4-BE49-F238E27FC236}">
                <a16:creationId xmlns:a16="http://schemas.microsoft.com/office/drawing/2014/main" id="{F5614906-3F90-4E4A-A6E4-939185055537}"/>
              </a:ext>
            </a:extLst>
          </p:cNvPr>
          <p:cNvPicPr>
            <a:picLocks noChangeAspect="1"/>
          </p:cNvPicPr>
          <p:nvPr/>
        </p:nvPicPr>
        <p:blipFill>
          <a:blip r:embed="rId6"/>
          <a:stretch>
            <a:fillRect/>
          </a:stretch>
        </p:blipFill>
        <p:spPr>
          <a:xfrm>
            <a:off x="3914775" y="5101785"/>
            <a:ext cx="2181225" cy="504825"/>
          </a:xfrm>
          <a:prstGeom prst="rect">
            <a:avLst/>
          </a:prstGeom>
        </p:spPr>
      </p:pic>
    </p:spTree>
    <p:extLst>
      <p:ext uri="{BB962C8B-B14F-4D97-AF65-F5344CB8AC3E}">
        <p14:creationId xmlns:p14="http://schemas.microsoft.com/office/powerpoint/2010/main" val="2913133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D8D93D-6926-454B-A25A-012B4992BDC3}"/>
              </a:ext>
            </a:extLst>
          </p:cNvPr>
          <p:cNvSpPr>
            <a:spLocks noGrp="1"/>
          </p:cNvSpPr>
          <p:nvPr>
            <p:ph type="title"/>
          </p:nvPr>
        </p:nvSpPr>
        <p:spPr/>
        <p:txBody>
          <a:bodyPr>
            <a:normAutofit fontScale="90000"/>
          </a:bodyPr>
          <a:lstStyle/>
          <a:p>
            <a:r>
              <a:rPr lang="en-US" altLang="zh-CN" dirty="0"/>
              <a:t>KNN</a:t>
            </a:r>
            <a:r>
              <a:rPr lang="zh-CN" altLang="en-US" dirty="0"/>
              <a:t>算法步骤</a:t>
            </a:r>
          </a:p>
        </p:txBody>
      </p:sp>
      <p:pic>
        <p:nvPicPr>
          <p:cNvPr id="4" name="图片 3">
            <a:extLst>
              <a:ext uri="{FF2B5EF4-FFF2-40B4-BE49-F238E27FC236}">
                <a16:creationId xmlns:a16="http://schemas.microsoft.com/office/drawing/2014/main" id="{90F4A627-C648-457A-8FAB-510FE132093C}"/>
              </a:ext>
            </a:extLst>
          </p:cNvPr>
          <p:cNvPicPr>
            <a:picLocks noChangeAspect="1"/>
          </p:cNvPicPr>
          <p:nvPr/>
        </p:nvPicPr>
        <p:blipFill>
          <a:blip r:embed="rId2"/>
          <a:stretch>
            <a:fillRect/>
          </a:stretch>
        </p:blipFill>
        <p:spPr>
          <a:xfrm>
            <a:off x="778864" y="953310"/>
            <a:ext cx="8199766" cy="5651771"/>
          </a:xfrm>
          <a:prstGeom prst="rect">
            <a:avLst/>
          </a:prstGeom>
        </p:spPr>
      </p:pic>
    </p:spTree>
    <p:extLst>
      <p:ext uri="{BB962C8B-B14F-4D97-AF65-F5344CB8AC3E}">
        <p14:creationId xmlns:p14="http://schemas.microsoft.com/office/powerpoint/2010/main" val="291470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3DD5D-CEF9-47CD-BBDC-8DF6054F6BA1}"/>
              </a:ext>
            </a:extLst>
          </p:cNvPr>
          <p:cNvSpPr>
            <a:spLocks noGrp="1"/>
          </p:cNvSpPr>
          <p:nvPr>
            <p:ph type="title"/>
          </p:nvPr>
        </p:nvSpPr>
        <p:spPr/>
        <p:txBody>
          <a:bodyPr>
            <a:normAutofit fontScale="90000"/>
          </a:bodyPr>
          <a:lstStyle/>
          <a:p>
            <a:r>
              <a:rPr lang="en-US" altLang="zh-CN" b="1" i="0" dirty="0">
                <a:solidFill>
                  <a:srgbClr val="333333"/>
                </a:solidFill>
                <a:effectLst/>
                <a:latin typeface="Helvetica Neue"/>
              </a:rPr>
              <a:t>KNN</a:t>
            </a:r>
            <a:r>
              <a:rPr lang="zh-CN" altLang="en-US" b="1" i="0" dirty="0">
                <a:solidFill>
                  <a:srgbClr val="333333"/>
                </a:solidFill>
                <a:effectLst/>
                <a:latin typeface="Helvetica Neue"/>
              </a:rPr>
              <a:t>算法优缺点</a:t>
            </a:r>
            <a:br>
              <a:rPr lang="zh-CN" altLang="en-US" b="1" i="0" dirty="0">
                <a:solidFill>
                  <a:srgbClr val="333333"/>
                </a:solidFill>
                <a:effectLst/>
                <a:latin typeface="Helvetica Neue"/>
              </a:rPr>
            </a:br>
            <a:endParaRPr lang="zh-CN" altLang="en-US" dirty="0"/>
          </a:p>
        </p:txBody>
      </p:sp>
      <p:sp>
        <p:nvSpPr>
          <p:cNvPr id="4" name="文本框 3">
            <a:extLst>
              <a:ext uri="{FF2B5EF4-FFF2-40B4-BE49-F238E27FC236}">
                <a16:creationId xmlns:a16="http://schemas.microsoft.com/office/drawing/2014/main" id="{49D4BEBE-4186-4FF7-852B-A79D4AFDA2C9}"/>
              </a:ext>
            </a:extLst>
          </p:cNvPr>
          <p:cNvSpPr txBox="1"/>
          <p:nvPr/>
        </p:nvSpPr>
        <p:spPr>
          <a:xfrm>
            <a:off x="543423" y="1115173"/>
            <a:ext cx="9699803" cy="4093428"/>
          </a:xfrm>
          <a:prstGeom prst="rect">
            <a:avLst/>
          </a:prstGeom>
          <a:noFill/>
        </p:spPr>
        <p:txBody>
          <a:bodyPr wrap="square">
            <a:spAutoFit/>
          </a:bodyPr>
          <a:lstStyle/>
          <a:p>
            <a:pPr algn="l"/>
            <a:r>
              <a:rPr lang="en-US" altLang="zh-CN" sz="2000" b="1" i="0" dirty="0">
                <a:solidFill>
                  <a:srgbClr val="333333"/>
                </a:solidFill>
                <a:effectLst/>
                <a:latin typeface="Helvetica Neue"/>
              </a:rPr>
              <a:t>KNN</a:t>
            </a:r>
            <a:r>
              <a:rPr lang="zh-CN" altLang="en-US" sz="2000" b="1" i="0" dirty="0">
                <a:solidFill>
                  <a:srgbClr val="333333"/>
                </a:solidFill>
                <a:effectLst/>
                <a:latin typeface="Helvetica Neue"/>
              </a:rPr>
              <a:t>算法优点</a:t>
            </a:r>
            <a:endParaRPr lang="en-US" altLang="zh-CN" sz="2000" b="1" i="0" dirty="0">
              <a:solidFill>
                <a:srgbClr val="333333"/>
              </a:solidFill>
              <a:effectLst/>
              <a:latin typeface="Helvetica Neue"/>
            </a:endParaRPr>
          </a:p>
          <a:p>
            <a:pPr algn="l"/>
            <a:endParaRPr lang="zh-CN" altLang="en-US" sz="2000" b="1" i="0" dirty="0">
              <a:solidFill>
                <a:srgbClr val="333333"/>
              </a:solidFill>
              <a:effectLst/>
              <a:latin typeface="Helvetica Neue"/>
            </a:endParaRPr>
          </a:p>
          <a:p>
            <a:pPr algn="l">
              <a:buFont typeface="+mj-lt"/>
              <a:buAutoNum type="arabicPeriod"/>
            </a:pPr>
            <a:r>
              <a:rPr lang="zh-CN" altLang="en-US" sz="2000" b="0" i="0" dirty="0">
                <a:solidFill>
                  <a:srgbClr val="000000"/>
                </a:solidFill>
                <a:effectLst/>
                <a:latin typeface="Helvetica Neue"/>
              </a:rPr>
              <a:t>简单易用，相比其他算法，</a:t>
            </a:r>
            <a:r>
              <a:rPr lang="en-US" altLang="zh-CN" sz="2000" b="0" i="0" dirty="0">
                <a:solidFill>
                  <a:srgbClr val="000000"/>
                </a:solidFill>
                <a:effectLst/>
                <a:latin typeface="Helvetica Neue"/>
              </a:rPr>
              <a:t>KNN</a:t>
            </a:r>
            <a:r>
              <a:rPr lang="zh-CN" altLang="en-US" sz="2000" b="0" i="0" dirty="0">
                <a:solidFill>
                  <a:srgbClr val="000000"/>
                </a:solidFill>
                <a:effectLst/>
                <a:latin typeface="Helvetica Neue"/>
              </a:rPr>
              <a:t>算是比较简洁明了的算法。即使没有很高的数学基础也能搞清楚它的原理。</a:t>
            </a:r>
          </a:p>
          <a:p>
            <a:pPr algn="l">
              <a:buFont typeface="+mj-lt"/>
              <a:buAutoNum type="arabicPeriod"/>
            </a:pPr>
            <a:r>
              <a:rPr lang="zh-CN" altLang="en-US" sz="2000" b="0" i="0" dirty="0">
                <a:solidFill>
                  <a:srgbClr val="000000"/>
                </a:solidFill>
                <a:effectLst/>
                <a:latin typeface="Helvetica Neue"/>
              </a:rPr>
              <a:t>模型训练时间快，上面说到</a:t>
            </a:r>
            <a:r>
              <a:rPr lang="en-US" altLang="zh-CN" sz="2000" b="0" i="0" dirty="0">
                <a:solidFill>
                  <a:srgbClr val="000000"/>
                </a:solidFill>
                <a:effectLst/>
                <a:latin typeface="Helvetica Neue"/>
              </a:rPr>
              <a:t>KNN</a:t>
            </a:r>
            <a:r>
              <a:rPr lang="zh-CN" altLang="en-US" sz="2000" b="0" i="0" dirty="0">
                <a:solidFill>
                  <a:srgbClr val="000000"/>
                </a:solidFill>
                <a:effectLst/>
                <a:latin typeface="Helvetica Neue"/>
              </a:rPr>
              <a:t>算法是惰性的</a:t>
            </a:r>
            <a:endParaRPr lang="en-US" altLang="zh-CN" sz="2000" dirty="0">
              <a:solidFill>
                <a:srgbClr val="000000"/>
              </a:solidFill>
              <a:latin typeface="Helvetica Neue"/>
            </a:endParaRPr>
          </a:p>
          <a:p>
            <a:pPr algn="l">
              <a:buFont typeface="+mj-lt"/>
              <a:buAutoNum type="arabicPeriod"/>
            </a:pPr>
            <a:r>
              <a:rPr lang="zh-CN" altLang="en-US" sz="2000" b="0" i="0" dirty="0">
                <a:solidFill>
                  <a:srgbClr val="000000"/>
                </a:solidFill>
                <a:effectLst/>
                <a:latin typeface="Helvetica Neue"/>
              </a:rPr>
              <a:t>预测效果好。</a:t>
            </a:r>
          </a:p>
          <a:p>
            <a:pPr algn="l">
              <a:buFont typeface="+mj-lt"/>
              <a:buAutoNum type="arabicPeriod"/>
            </a:pPr>
            <a:r>
              <a:rPr lang="zh-CN" altLang="en-US" sz="2000" b="0" i="0" dirty="0">
                <a:solidFill>
                  <a:srgbClr val="000000"/>
                </a:solidFill>
                <a:effectLst/>
                <a:latin typeface="Helvetica Neue"/>
              </a:rPr>
              <a:t>对异常值不敏感</a:t>
            </a:r>
            <a:endParaRPr lang="en-US" altLang="zh-CN" sz="2000" b="0" i="0" dirty="0">
              <a:solidFill>
                <a:srgbClr val="000000"/>
              </a:solidFill>
              <a:effectLst/>
              <a:latin typeface="Helvetica Neue"/>
            </a:endParaRPr>
          </a:p>
          <a:p>
            <a:pPr algn="l"/>
            <a:endParaRPr lang="zh-CN" altLang="en-US" sz="2000" b="0" i="0" dirty="0">
              <a:solidFill>
                <a:srgbClr val="000000"/>
              </a:solidFill>
              <a:effectLst/>
              <a:latin typeface="Helvetica Neue"/>
            </a:endParaRPr>
          </a:p>
          <a:p>
            <a:pPr algn="l"/>
            <a:r>
              <a:rPr lang="en-US" altLang="zh-CN" sz="2000" b="1" i="0" dirty="0">
                <a:solidFill>
                  <a:srgbClr val="333333"/>
                </a:solidFill>
                <a:effectLst/>
                <a:latin typeface="Helvetica Neue"/>
              </a:rPr>
              <a:t>KNN</a:t>
            </a:r>
            <a:r>
              <a:rPr lang="zh-CN" altLang="en-US" sz="2000" b="1" i="0" dirty="0">
                <a:solidFill>
                  <a:srgbClr val="333333"/>
                </a:solidFill>
                <a:effectLst/>
                <a:latin typeface="Helvetica Neue"/>
              </a:rPr>
              <a:t>算法缺点</a:t>
            </a:r>
            <a:endParaRPr lang="en-US" altLang="zh-CN" sz="2000" b="1" i="0" dirty="0">
              <a:solidFill>
                <a:srgbClr val="333333"/>
              </a:solidFill>
              <a:effectLst/>
              <a:latin typeface="Helvetica Neue"/>
            </a:endParaRPr>
          </a:p>
          <a:p>
            <a:pPr algn="l"/>
            <a:endParaRPr lang="zh-CN" altLang="en-US" sz="2000" b="1" i="0" dirty="0">
              <a:solidFill>
                <a:srgbClr val="333333"/>
              </a:solidFill>
              <a:effectLst/>
              <a:latin typeface="Helvetica Neue"/>
            </a:endParaRPr>
          </a:p>
          <a:p>
            <a:pPr algn="l">
              <a:buFont typeface="+mj-lt"/>
              <a:buAutoNum type="arabicPeriod"/>
            </a:pPr>
            <a:r>
              <a:rPr lang="zh-CN" altLang="en-US" sz="2000" b="0" i="0" dirty="0">
                <a:solidFill>
                  <a:srgbClr val="000000"/>
                </a:solidFill>
                <a:effectLst/>
                <a:latin typeface="Helvetica Neue"/>
              </a:rPr>
              <a:t>对内存要求较高，因为该算法存储了所有训练数据</a:t>
            </a:r>
          </a:p>
          <a:p>
            <a:pPr algn="l">
              <a:buFont typeface="+mj-lt"/>
              <a:buAutoNum type="arabicPeriod"/>
            </a:pPr>
            <a:r>
              <a:rPr lang="zh-CN" altLang="en-US" sz="2000" b="0" i="0" dirty="0">
                <a:solidFill>
                  <a:srgbClr val="000000"/>
                </a:solidFill>
                <a:effectLst/>
                <a:latin typeface="Helvetica Neue"/>
              </a:rPr>
              <a:t>预测阶段可能很慢</a:t>
            </a:r>
          </a:p>
          <a:p>
            <a:pPr algn="l">
              <a:buFont typeface="+mj-lt"/>
              <a:buAutoNum type="arabicPeriod"/>
            </a:pPr>
            <a:r>
              <a:rPr lang="zh-CN" altLang="en-US" sz="2000" b="0" i="0" dirty="0">
                <a:solidFill>
                  <a:srgbClr val="000000"/>
                </a:solidFill>
                <a:effectLst/>
                <a:latin typeface="Helvetica Neue"/>
              </a:rPr>
              <a:t>对不相关的功能和数据规模敏感</a:t>
            </a:r>
          </a:p>
        </p:txBody>
      </p:sp>
    </p:spTree>
    <p:extLst>
      <p:ext uri="{BB962C8B-B14F-4D97-AF65-F5344CB8AC3E}">
        <p14:creationId xmlns:p14="http://schemas.microsoft.com/office/powerpoint/2010/main" val="2144884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758D53-8D59-43DD-A556-9D05AB94CE45}"/>
              </a:ext>
            </a:extLst>
          </p:cNvPr>
          <p:cNvSpPr>
            <a:spLocks noGrp="1"/>
          </p:cNvSpPr>
          <p:nvPr>
            <p:ph type="title"/>
          </p:nvPr>
        </p:nvSpPr>
        <p:spPr/>
        <p:txBody>
          <a:bodyPr>
            <a:normAutofit fontScale="90000"/>
          </a:bodyPr>
          <a:lstStyle/>
          <a:p>
            <a:r>
              <a:rPr lang="en-US" altLang="zh-CN" b="1" i="0" dirty="0">
                <a:solidFill>
                  <a:srgbClr val="2F2F2F"/>
                </a:solidFill>
                <a:effectLst/>
                <a:latin typeface="lucida grande"/>
              </a:rPr>
              <a:t>KNN</a:t>
            </a:r>
            <a:r>
              <a:rPr lang="zh-CN" altLang="en-US" b="1" i="0" dirty="0">
                <a:solidFill>
                  <a:srgbClr val="2F2F2F"/>
                </a:solidFill>
                <a:effectLst/>
                <a:latin typeface="lucida grande"/>
              </a:rPr>
              <a:t>分类实战</a:t>
            </a:r>
            <a:br>
              <a:rPr lang="zh-CN" altLang="en-US" b="1" i="0" dirty="0">
                <a:solidFill>
                  <a:srgbClr val="2F2F2F"/>
                </a:solidFill>
                <a:effectLst/>
                <a:latin typeface="lucida grande"/>
              </a:rPr>
            </a:br>
            <a:endParaRPr lang="zh-CN" altLang="en-US" dirty="0"/>
          </a:p>
        </p:txBody>
      </p:sp>
      <p:sp>
        <p:nvSpPr>
          <p:cNvPr id="4" name="文本框 3">
            <a:extLst>
              <a:ext uri="{FF2B5EF4-FFF2-40B4-BE49-F238E27FC236}">
                <a16:creationId xmlns:a16="http://schemas.microsoft.com/office/drawing/2014/main" id="{6AE0DD1D-DD6A-4175-B76C-40429CDA7D61}"/>
              </a:ext>
            </a:extLst>
          </p:cNvPr>
          <p:cNvSpPr txBox="1"/>
          <p:nvPr/>
        </p:nvSpPr>
        <p:spPr>
          <a:xfrm>
            <a:off x="669882" y="982654"/>
            <a:ext cx="6099242" cy="369332"/>
          </a:xfrm>
          <a:prstGeom prst="rect">
            <a:avLst/>
          </a:prstGeom>
          <a:noFill/>
        </p:spPr>
        <p:txBody>
          <a:bodyPr wrap="square">
            <a:spAutoFit/>
          </a:bodyPr>
          <a:lstStyle/>
          <a:p>
            <a:pPr algn="l"/>
            <a:r>
              <a:rPr lang="en-US" altLang="zh-CN" b="1" i="0" dirty="0">
                <a:solidFill>
                  <a:srgbClr val="2F2F2F"/>
                </a:solidFill>
                <a:effectLst/>
                <a:latin typeface="lucida grande"/>
              </a:rPr>
              <a:t>1</a:t>
            </a:r>
            <a:r>
              <a:rPr lang="zh-CN" altLang="en-US" b="1" i="0" dirty="0">
                <a:solidFill>
                  <a:srgbClr val="2F2F2F"/>
                </a:solidFill>
                <a:effectLst/>
                <a:latin typeface="lucida grande"/>
              </a:rPr>
              <a:t>）导入需要用到的模块</a:t>
            </a:r>
          </a:p>
        </p:txBody>
      </p:sp>
      <p:pic>
        <p:nvPicPr>
          <p:cNvPr id="7" name="图片 6">
            <a:extLst>
              <a:ext uri="{FF2B5EF4-FFF2-40B4-BE49-F238E27FC236}">
                <a16:creationId xmlns:a16="http://schemas.microsoft.com/office/drawing/2014/main" id="{1668905A-83D2-4A63-AD54-6BABFC0D3874}"/>
              </a:ext>
            </a:extLst>
          </p:cNvPr>
          <p:cNvPicPr>
            <a:picLocks noChangeAspect="1"/>
          </p:cNvPicPr>
          <p:nvPr/>
        </p:nvPicPr>
        <p:blipFill>
          <a:blip r:embed="rId2"/>
          <a:stretch>
            <a:fillRect/>
          </a:stretch>
        </p:blipFill>
        <p:spPr>
          <a:xfrm>
            <a:off x="669882" y="1502948"/>
            <a:ext cx="7810500" cy="2590800"/>
          </a:xfrm>
          <a:prstGeom prst="rect">
            <a:avLst/>
          </a:prstGeom>
        </p:spPr>
      </p:pic>
    </p:spTree>
    <p:extLst>
      <p:ext uri="{BB962C8B-B14F-4D97-AF65-F5344CB8AC3E}">
        <p14:creationId xmlns:p14="http://schemas.microsoft.com/office/powerpoint/2010/main" val="777413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640C2-D7A9-4076-A826-1A5C325DC7F1}"/>
              </a:ext>
            </a:extLst>
          </p:cNvPr>
          <p:cNvSpPr>
            <a:spLocks noGrp="1"/>
          </p:cNvSpPr>
          <p:nvPr>
            <p:ph type="title"/>
          </p:nvPr>
        </p:nvSpPr>
        <p:spPr/>
        <p:txBody>
          <a:bodyPr>
            <a:normAutofit fontScale="90000"/>
          </a:bodyPr>
          <a:lstStyle/>
          <a:p>
            <a:r>
              <a:rPr lang="en-US" altLang="zh-CN" b="1" i="0" dirty="0">
                <a:solidFill>
                  <a:srgbClr val="2F2F2F"/>
                </a:solidFill>
                <a:effectLst/>
                <a:latin typeface="lucida grande"/>
              </a:rPr>
              <a:t>2</a:t>
            </a:r>
            <a:r>
              <a:rPr lang="zh-CN" altLang="en-US" b="1" i="0" dirty="0">
                <a:solidFill>
                  <a:srgbClr val="2F2F2F"/>
                </a:solidFill>
                <a:effectLst/>
                <a:latin typeface="lucida grande"/>
              </a:rPr>
              <a:t>）准备数据</a:t>
            </a:r>
            <a:br>
              <a:rPr lang="zh-CN" altLang="en-US" b="1" i="0" dirty="0">
                <a:solidFill>
                  <a:srgbClr val="2F2F2F"/>
                </a:solidFill>
                <a:effectLst/>
                <a:latin typeface="lucida grande"/>
              </a:rPr>
            </a:br>
            <a:endParaRPr lang="zh-CN" altLang="en-US" dirty="0"/>
          </a:p>
        </p:txBody>
      </p:sp>
      <p:sp>
        <p:nvSpPr>
          <p:cNvPr id="4" name="文本框 3">
            <a:extLst>
              <a:ext uri="{FF2B5EF4-FFF2-40B4-BE49-F238E27FC236}">
                <a16:creationId xmlns:a16="http://schemas.microsoft.com/office/drawing/2014/main" id="{9C1D3C6F-9D0A-45DD-A65F-3148341FC345}"/>
              </a:ext>
            </a:extLst>
          </p:cNvPr>
          <p:cNvSpPr txBox="1"/>
          <p:nvPr/>
        </p:nvSpPr>
        <p:spPr>
          <a:xfrm>
            <a:off x="669882" y="995173"/>
            <a:ext cx="9680348" cy="646331"/>
          </a:xfrm>
          <a:prstGeom prst="rect">
            <a:avLst/>
          </a:prstGeom>
          <a:noFill/>
        </p:spPr>
        <p:txBody>
          <a:bodyPr wrap="square">
            <a:spAutoFit/>
          </a:bodyPr>
          <a:lstStyle/>
          <a:p>
            <a:r>
              <a:rPr lang="en-US" altLang="zh-CN" b="0" i="0" dirty="0">
                <a:solidFill>
                  <a:srgbClr val="2F2F2F"/>
                </a:solidFill>
                <a:effectLst/>
                <a:latin typeface="lucida grande"/>
              </a:rPr>
              <a:t>k</a:t>
            </a:r>
            <a:r>
              <a:rPr lang="zh-CN" altLang="en-US" b="0" i="0" dirty="0">
                <a:solidFill>
                  <a:srgbClr val="2F2F2F"/>
                </a:solidFill>
                <a:effectLst/>
                <a:latin typeface="lucida grande"/>
              </a:rPr>
              <a:t>近邻的分类标签必须是数值型的，</a:t>
            </a:r>
            <a:r>
              <a:rPr lang="en-US" altLang="zh-CN" b="0" i="0" dirty="0" err="1">
                <a:solidFill>
                  <a:srgbClr val="2F2F2F"/>
                </a:solidFill>
                <a:effectLst/>
                <a:latin typeface="lucida grande"/>
              </a:rPr>
              <a:t>sklearn</a:t>
            </a:r>
            <a:r>
              <a:rPr lang="zh-CN" altLang="en-US" b="0" i="0" dirty="0">
                <a:solidFill>
                  <a:srgbClr val="2F2F2F"/>
                </a:solidFill>
                <a:effectLst/>
                <a:latin typeface="lucida grande"/>
              </a:rPr>
              <a:t>里面有</a:t>
            </a:r>
            <a:r>
              <a:rPr lang="en-US" altLang="zh-CN" b="0" i="0" dirty="0" err="1">
                <a:solidFill>
                  <a:srgbClr val="2F2F2F"/>
                </a:solidFill>
                <a:effectLst/>
                <a:latin typeface="lucida grande"/>
              </a:rPr>
              <a:t>LabelEncoder</a:t>
            </a:r>
            <a:r>
              <a:rPr lang="zh-CN" altLang="en-US" b="0" i="0" dirty="0">
                <a:solidFill>
                  <a:srgbClr val="2F2F2F"/>
                </a:solidFill>
                <a:effectLst/>
                <a:latin typeface="lucida grande"/>
              </a:rPr>
              <a:t>来自动把文本分类转化为离散数值型发分类。为了方便我们通过图表查看结果，我们选取了两个特征向量进行分类拟合。</a:t>
            </a:r>
            <a:endParaRPr lang="zh-CN" altLang="en-US" dirty="0"/>
          </a:p>
        </p:txBody>
      </p:sp>
      <p:pic>
        <p:nvPicPr>
          <p:cNvPr id="6" name="图片 5">
            <a:extLst>
              <a:ext uri="{FF2B5EF4-FFF2-40B4-BE49-F238E27FC236}">
                <a16:creationId xmlns:a16="http://schemas.microsoft.com/office/drawing/2014/main" id="{40B08C89-7D9D-438D-84A9-048C94BD0D4F}"/>
              </a:ext>
            </a:extLst>
          </p:cNvPr>
          <p:cNvPicPr>
            <a:picLocks noChangeAspect="1"/>
          </p:cNvPicPr>
          <p:nvPr/>
        </p:nvPicPr>
        <p:blipFill>
          <a:blip r:embed="rId2"/>
          <a:stretch>
            <a:fillRect/>
          </a:stretch>
        </p:blipFill>
        <p:spPr>
          <a:xfrm>
            <a:off x="893618" y="2201854"/>
            <a:ext cx="9680348" cy="2817618"/>
          </a:xfrm>
          <a:prstGeom prst="rect">
            <a:avLst/>
          </a:prstGeom>
        </p:spPr>
      </p:pic>
    </p:spTree>
    <p:extLst>
      <p:ext uri="{BB962C8B-B14F-4D97-AF65-F5344CB8AC3E}">
        <p14:creationId xmlns:p14="http://schemas.microsoft.com/office/powerpoint/2010/main" val="4116717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2A05F8-BC5A-4AB9-810B-FBBAD0352F02}"/>
              </a:ext>
            </a:extLst>
          </p:cNvPr>
          <p:cNvSpPr>
            <a:spLocks noGrp="1"/>
          </p:cNvSpPr>
          <p:nvPr>
            <p:ph type="title"/>
          </p:nvPr>
        </p:nvSpPr>
        <p:spPr/>
        <p:txBody>
          <a:bodyPr>
            <a:normAutofit fontScale="90000"/>
          </a:bodyPr>
          <a:lstStyle/>
          <a:p>
            <a:r>
              <a:rPr lang="en-US" altLang="zh-CN" b="1" i="0" dirty="0">
                <a:solidFill>
                  <a:srgbClr val="2F2F2F"/>
                </a:solidFill>
                <a:effectLst/>
                <a:latin typeface="lucida grande"/>
              </a:rPr>
              <a:t>3</a:t>
            </a:r>
            <a:r>
              <a:rPr lang="zh-CN" altLang="en-US" b="1" i="0" dirty="0">
                <a:solidFill>
                  <a:srgbClr val="2F2F2F"/>
                </a:solidFill>
                <a:effectLst/>
                <a:latin typeface="lucida grande"/>
              </a:rPr>
              <a:t>）建立模型和拟合</a:t>
            </a:r>
            <a:br>
              <a:rPr lang="zh-CN" altLang="en-US" b="1" i="0" dirty="0">
                <a:solidFill>
                  <a:srgbClr val="2F2F2F"/>
                </a:solidFill>
                <a:effectLst/>
                <a:latin typeface="lucida grande"/>
              </a:rPr>
            </a:br>
            <a:endParaRPr lang="zh-CN" altLang="en-US" dirty="0"/>
          </a:p>
        </p:txBody>
      </p:sp>
      <p:pic>
        <p:nvPicPr>
          <p:cNvPr id="4" name="图片 3">
            <a:extLst>
              <a:ext uri="{FF2B5EF4-FFF2-40B4-BE49-F238E27FC236}">
                <a16:creationId xmlns:a16="http://schemas.microsoft.com/office/drawing/2014/main" id="{0B802007-0A77-4B82-9244-38D7B65FFC62}"/>
              </a:ext>
            </a:extLst>
          </p:cNvPr>
          <p:cNvPicPr>
            <a:picLocks noChangeAspect="1"/>
          </p:cNvPicPr>
          <p:nvPr/>
        </p:nvPicPr>
        <p:blipFill>
          <a:blip r:embed="rId2"/>
          <a:stretch>
            <a:fillRect/>
          </a:stretch>
        </p:blipFill>
        <p:spPr>
          <a:xfrm>
            <a:off x="175503" y="1506571"/>
            <a:ext cx="10401300" cy="1257300"/>
          </a:xfrm>
          <a:prstGeom prst="rect">
            <a:avLst/>
          </a:prstGeom>
        </p:spPr>
      </p:pic>
      <p:sp>
        <p:nvSpPr>
          <p:cNvPr id="6" name="文本框 5">
            <a:extLst>
              <a:ext uri="{FF2B5EF4-FFF2-40B4-BE49-F238E27FC236}">
                <a16:creationId xmlns:a16="http://schemas.microsoft.com/office/drawing/2014/main" id="{C8097215-25ED-4113-BD82-2597EC7BACDE}"/>
              </a:ext>
            </a:extLst>
          </p:cNvPr>
          <p:cNvSpPr txBox="1"/>
          <p:nvPr/>
        </p:nvSpPr>
        <p:spPr>
          <a:xfrm>
            <a:off x="175503" y="3626265"/>
            <a:ext cx="6099242" cy="646331"/>
          </a:xfrm>
          <a:prstGeom prst="rect">
            <a:avLst/>
          </a:prstGeom>
          <a:noFill/>
        </p:spPr>
        <p:txBody>
          <a:bodyPr wrap="square">
            <a:spAutoFit/>
          </a:bodyPr>
          <a:lstStyle/>
          <a:p>
            <a:r>
              <a:rPr lang="zh-CN" altLang="en-US" b="0" i="0" dirty="0">
                <a:solidFill>
                  <a:srgbClr val="2F2F2F"/>
                </a:solidFill>
                <a:effectLst/>
                <a:latin typeface="lucida grande"/>
              </a:rPr>
              <a:t>结果：平均性能得分：</a:t>
            </a:r>
            <a:r>
              <a:rPr lang="en-US" altLang="zh-CN" b="0" i="0" dirty="0">
                <a:solidFill>
                  <a:srgbClr val="2F2F2F"/>
                </a:solidFill>
                <a:effectLst/>
                <a:latin typeface="lucida grande"/>
              </a:rPr>
              <a:t>0.96</a:t>
            </a:r>
            <a:br>
              <a:rPr lang="zh-CN" altLang="en-US" dirty="0"/>
            </a:br>
            <a:r>
              <a:rPr lang="zh-CN" altLang="en-US" b="0" i="0" dirty="0">
                <a:solidFill>
                  <a:srgbClr val="2F2F2F"/>
                </a:solidFill>
                <a:effectLst/>
                <a:latin typeface="lucida grande"/>
              </a:rPr>
              <a:t>就是说预测的准确率是</a:t>
            </a:r>
            <a:r>
              <a:rPr lang="en-US" altLang="zh-CN" b="0" i="0" dirty="0">
                <a:solidFill>
                  <a:srgbClr val="2F2F2F"/>
                </a:solidFill>
                <a:effectLst/>
                <a:latin typeface="lucida grande"/>
              </a:rPr>
              <a:t>96%</a:t>
            </a:r>
            <a:endParaRPr lang="zh-CN" altLang="en-US" dirty="0"/>
          </a:p>
        </p:txBody>
      </p:sp>
    </p:spTree>
    <p:extLst>
      <p:ext uri="{BB962C8B-B14F-4D97-AF65-F5344CB8AC3E}">
        <p14:creationId xmlns:p14="http://schemas.microsoft.com/office/powerpoint/2010/main" val="2781291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7892EF-128C-4318-ACF7-9EF49B86698F}"/>
              </a:ext>
            </a:extLst>
          </p:cNvPr>
          <p:cNvSpPr>
            <a:spLocks noGrp="1"/>
          </p:cNvSpPr>
          <p:nvPr>
            <p:ph type="title"/>
          </p:nvPr>
        </p:nvSpPr>
        <p:spPr/>
        <p:txBody>
          <a:bodyPr>
            <a:normAutofit fontScale="90000"/>
          </a:bodyPr>
          <a:lstStyle/>
          <a:p>
            <a:r>
              <a:rPr lang="en-US" altLang="zh-CN" b="1" i="0" dirty="0">
                <a:solidFill>
                  <a:srgbClr val="2F2F2F"/>
                </a:solidFill>
                <a:effectLst/>
                <a:latin typeface="lucida grande"/>
              </a:rPr>
              <a:t>4</a:t>
            </a:r>
            <a:r>
              <a:rPr lang="zh-CN" altLang="en-US" b="1" i="0" dirty="0">
                <a:solidFill>
                  <a:srgbClr val="2F2F2F"/>
                </a:solidFill>
                <a:effectLst/>
                <a:latin typeface="lucida grande"/>
              </a:rPr>
              <a:t>）画分类图</a:t>
            </a:r>
            <a:br>
              <a:rPr lang="zh-CN" altLang="en-US" b="1" i="0" dirty="0">
                <a:solidFill>
                  <a:srgbClr val="2F2F2F"/>
                </a:solidFill>
                <a:effectLst/>
                <a:latin typeface="lucida grande"/>
              </a:rPr>
            </a:br>
            <a:endParaRPr lang="zh-CN" altLang="en-US" dirty="0"/>
          </a:p>
        </p:txBody>
      </p:sp>
      <p:sp>
        <p:nvSpPr>
          <p:cNvPr id="4" name="文本框 3">
            <a:extLst>
              <a:ext uri="{FF2B5EF4-FFF2-40B4-BE49-F238E27FC236}">
                <a16:creationId xmlns:a16="http://schemas.microsoft.com/office/drawing/2014/main" id="{3F4C15E4-D9A5-45A2-8664-17CFD9139D14}"/>
              </a:ext>
            </a:extLst>
          </p:cNvPr>
          <p:cNvSpPr txBox="1"/>
          <p:nvPr/>
        </p:nvSpPr>
        <p:spPr>
          <a:xfrm>
            <a:off x="-1" y="1087346"/>
            <a:ext cx="10252953" cy="369332"/>
          </a:xfrm>
          <a:prstGeom prst="rect">
            <a:avLst/>
          </a:prstGeom>
          <a:noFill/>
        </p:spPr>
        <p:txBody>
          <a:bodyPr wrap="square">
            <a:spAutoFit/>
          </a:bodyPr>
          <a:lstStyle/>
          <a:p>
            <a:r>
              <a:rPr lang="zh-CN" altLang="en-US" b="0" i="0" dirty="0">
                <a:solidFill>
                  <a:srgbClr val="2F2F2F"/>
                </a:solidFill>
                <a:effectLst/>
                <a:latin typeface="lucida grande"/>
              </a:rPr>
              <a:t>预测的和原来的分类的图。我们用原来的</a:t>
            </a:r>
            <a:r>
              <a:rPr lang="en-US" altLang="zh-CN" b="0" i="0" dirty="0">
                <a:solidFill>
                  <a:srgbClr val="2F2F2F"/>
                </a:solidFill>
                <a:effectLst/>
                <a:latin typeface="lucida grande"/>
              </a:rPr>
              <a:t>X</a:t>
            </a:r>
            <a:r>
              <a:rPr lang="zh-CN" altLang="en-US" b="0" i="0" dirty="0">
                <a:solidFill>
                  <a:srgbClr val="2F2F2F"/>
                </a:solidFill>
                <a:effectLst/>
                <a:latin typeface="lucida grande"/>
              </a:rPr>
              <a:t>进行</a:t>
            </a:r>
            <a:r>
              <a:rPr lang="en-US" altLang="zh-CN" b="0" i="0" dirty="0" err="1">
                <a:solidFill>
                  <a:srgbClr val="2F2F2F"/>
                </a:solidFill>
                <a:effectLst/>
                <a:latin typeface="lucida grande"/>
              </a:rPr>
              <a:t>knn</a:t>
            </a:r>
            <a:r>
              <a:rPr lang="zh-CN" altLang="en-US" b="0" i="0" dirty="0">
                <a:solidFill>
                  <a:srgbClr val="2F2F2F"/>
                </a:solidFill>
                <a:effectLst/>
                <a:latin typeface="lucida grande"/>
              </a:rPr>
              <a:t>预测，并把原分类和预测分类通过图表显示出来。</a:t>
            </a:r>
            <a:endParaRPr lang="zh-CN" altLang="en-US" dirty="0"/>
          </a:p>
        </p:txBody>
      </p:sp>
      <p:pic>
        <p:nvPicPr>
          <p:cNvPr id="6" name="图片 5">
            <a:extLst>
              <a:ext uri="{FF2B5EF4-FFF2-40B4-BE49-F238E27FC236}">
                <a16:creationId xmlns:a16="http://schemas.microsoft.com/office/drawing/2014/main" id="{BF0D7970-013D-4571-9CE2-440D9C1DEF28}"/>
              </a:ext>
            </a:extLst>
          </p:cNvPr>
          <p:cNvPicPr>
            <a:picLocks noChangeAspect="1"/>
          </p:cNvPicPr>
          <p:nvPr/>
        </p:nvPicPr>
        <p:blipFill>
          <a:blip r:embed="rId2"/>
          <a:stretch>
            <a:fillRect/>
          </a:stretch>
        </p:blipFill>
        <p:spPr>
          <a:xfrm>
            <a:off x="80151" y="1779554"/>
            <a:ext cx="9210675" cy="3143250"/>
          </a:xfrm>
          <a:prstGeom prst="rect">
            <a:avLst/>
          </a:prstGeom>
        </p:spPr>
      </p:pic>
    </p:spTree>
    <p:extLst>
      <p:ext uri="{BB962C8B-B14F-4D97-AF65-F5344CB8AC3E}">
        <p14:creationId xmlns:p14="http://schemas.microsoft.com/office/powerpoint/2010/main" val="1585585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C82C6B-7E48-4DB8-BD63-6626737E45F1}"/>
              </a:ext>
            </a:extLst>
          </p:cNvPr>
          <p:cNvSpPr>
            <a:spLocks noGrp="1"/>
          </p:cNvSpPr>
          <p:nvPr>
            <p:ph type="title"/>
          </p:nvPr>
        </p:nvSpPr>
        <p:spPr/>
        <p:txBody>
          <a:bodyPr>
            <a:normAutofit fontScale="90000"/>
          </a:bodyPr>
          <a:lstStyle/>
          <a:p>
            <a:endParaRPr lang="zh-CN" altLang="en-US"/>
          </a:p>
        </p:txBody>
      </p:sp>
      <p:pic>
        <p:nvPicPr>
          <p:cNvPr id="5" name="图片 4">
            <a:extLst>
              <a:ext uri="{FF2B5EF4-FFF2-40B4-BE49-F238E27FC236}">
                <a16:creationId xmlns:a16="http://schemas.microsoft.com/office/drawing/2014/main" id="{74C72C25-D115-41C4-B146-7A5BA68C8CCD}"/>
              </a:ext>
            </a:extLst>
          </p:cNvPr>
          <p:cNvPicPr>
            <a:picLocks noChangeAspect="1"/>
          </p:cNvPicPr>
          <p:nvPr/>
        </p:nvPicPr>
        <p:blipFill>
          <a:blip r:embed="rId2"/>
          <a:stretch>
            <a:fillRect/>
          </a:stretch>
        </p:blipFill>
        <p:spPr>
          <a:xfrm>
            <a:off x="465002" y="1629788"/>
            <a:ext cx="9725025" cy="4610100"/>
          </a:xfrm>
          <a:prstGeom prst="rect">
            <a:avLst/>
          </a:prstGeom>
        </p:spPr>
      </p:pic>
      <p:sp>
        <p:nvSpPr>
          <p:cNvPr id="7" name="文本框 6">
            <a:extLst>
              <a:ext uri="{FF2B5EF4-FFF2-40B4-BE49-F238E27FC236}">
                <a16:creationId xmlns:a16="http://schemas.microsoft.com/office/drawing/2014/main" id="{F1881C0B-77B7-4309-960A-D2727ECDF05D}"/>
              </a:ext>
            </a:extLst>
          </p:cNvPr>
          <p:cNvSpPr txBox="1"/>
          <p:nvPr/>
        </p:nvSpPr>
        <p:spPr>
          <a:xfrm>
            <a:off x="38617" y="1072825"/>
            <a:ext cx="11483502" cy="369332"/>
          </a:xfrm>
          <a:prstGeom prst="rect">
            <a:avLst/>
          </a:prstGeom>
          <a:noFill/>
        </p:spPr>
        <p:txBody>
          <a:bodyPr wrap="square">
            <a:spAutoFit/>
          </a:bodyPr>
          <a:lstStyle/>
          <a:p>
            <a:r>
              <a:rPr lang="zh-CN" altLang="en-US" b="0" i="0" dirty="0">
                <a:solidFill>
                  <a:srgbClr val="2F2F2F"/>
                </a:solidFill>
                <a:effectLst/>
                <a:latin typeface="lucida grande"/>
              </a:rPr>
              <a:t>第一个图是原分类，第二个图是预测分类。可以看出来有四个点的预测是错误的。我们尝试对新的数据进行预测。</a:t>
            </a:r>
            <a:endParaRPr lang="zh-CN" altLang="en-US" dirty="0"/>
          </a:p>
        </p:txBody>
      </p:sp>
    </p:spTree>
    <p:extLst>
      <p:ext uri="{BB962C8B-B14F-4D97-AF65-F5344CB8AC3E}">
        <p14:creationId xmlns:p14="http://schemas.microsoft.com/office/powerpoint/2010/main" val="703460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ECC6F8-040B-468E-8F12-C7890588DD13}"/>
              </a:ext>
            </a:extLst>
          </p:cNvPr>
          <p:cNvSpPr>
            <a:spLocks noGrp="1"/>
          </p:cNvSpPr>
          <p:nvPr>
            <p:ph type="title"/>
          </p:nvPr>
        </p:nvSpPr>
        <p:spPr/>
        <p:txBody>
          <a:bodyPr>
            <a:normAutofit fontScale="90000"/>
          </a:bodyPr>
          <a:lstStyle/>
          <a:p>
            <a:r>
              <a:rPr lang="en-US" altLang="zh-CN" b="1" i="0" dirty="0">
                <a:solidFill>
                  <a:srgbClr val="2F2F2F"/>
                </a:solidFill>
                <a:effectLst/>
                <a:latin typeface="lucida grande"/>
              </a:rPr>
              <a:t>5</a:t>
            </a:r>
            <a:r>
              <a:rPr lang="zh-CN" altLang="en-US" b="1" i="0" dirty="0">
                <a:solidFill>
                  <a:srgbClr val="2F2F2F"/>
                </a:solidFill>
                <a:effectLst/>
                <a:latin typeface="lucida grande"/>
              </a:rPr>
              <a:t>）预测分类</a:t>
            </a:r>
            <a:br>
              <a:rPr lang="zh-CN" altLang="en-US" b="1" i="0" dirty="0">
                <a:solidFill>
                  <a:srgbClr val="2F2F2F"/>
                </a:solidFill>
                <a:effectLst/>
                <a:latin typeface="lucida grande"/>
              </a:rPr>
            </a:br>
            <a:endParaRPr lang="zh-CN" altLang="en-US" dirty="0"/>
          </a:p>
        </p:txBody>
      </p:sp>
      <p:sp>
        <p:nvSpPr>
          <p:cNvPr id="4" name="文本框 3">
            <a:extLst>
              <a:ext uri="{FF2B5EF4-FFF2-40B4-BE49-F238E27FC236}">
                <a16:creationId xmlns:a16="http://schemas.microsoft.com/office/drawing/2014/main" id="{27716992-453E-4600-A6B6-3209C1709939}"/>
              </a:ext>
            </a:extLst>
          </p:cNvPr>
          <p:cNvSpPr txBox="1"/>
          <p:nvPr/>
        </p:nvSpPr>
        <p:spPr>
          <a:xfrm>
            <a:off x="471791" y="1602912"/>
            <a:ext cx="10004897" cy="369332"/>
          </a:xfrm>
          <a:prstGeom prst="rect">
            <a:avLst/>
          </a:prstGeom>
          <a:noFill/>
        </p:spPr>
        <p:txBody>
          <a:bodyPr wrap="square">
            <a:spAutoFit/>
          </a:bodyPr>
          <a:lstStyle/>
          <a:p>
            <a:r>
              <a:rPr lang="en-US" altLang="zh-CN" b="0" i="0" dirty="0" err="1">
                <a:solidFill>
                  <a:srgbClr val="2F2F2F"/>
                </a:solidFill>
                <a:effectLst/>
                <a:latin typeface="lucida grande"/>
              </a:rPr>
              <a:t>knn.predict</a:t>
            </a:r>
            <a:r>
              <a:rPr lang="en-US" altLang="zh-CN" b="0" i="0" dirty="0">
                <a:solidFill>
                  <a:srgbClr val="2F2F2F"/>
                </a:solidFill>
                <a:effectLst/>
                <a:latin typeface="lucida grande"/>
              </a:rPr>
              <a:t>([[3,1.4]]) #</a:t>
            </a:r>
            <a:r>
              <a:rPr lang="zh-CN" altLang="en-US" b="0" i="0" dirty="0">
                <a:solidFill>
                  <a:srgbClr val="2F2F2F"/>
                </a:solidFill>
                <a:effectLst/>
                <a:latin typeface="lucida grande"/>
              </a:rPr>
              <a:t>新数据预测</a:t>
            </a:r>
            <a:r>
              <a:rPr lang="en-US" altLang="zh-CN" b="0" i="0" dirty="0" err="1">
                <a:solidFill>
                  <a:srgbClr val="2F2F2F"/>
                </a:solidFill>
                <a:effectLst/>
                <a:latin typeface="lucida grande"/>
              </a:rPr>
              <a:t>SepalWidthCm</a:t>
            </a:r>
            <a:r>
              <a:rPr lang="en-US" altLang="zh-CN" b="0" i="0" dirty="0">
                <a:solidFill>
                  <a:srgbClr val="2F2F2F"/>
                </a:solidFill>
                <a:effectLst/>
                <a:latin typeface="lucida grande"/>
              </a:rPr>
              <a:t>=3,PetalWidthCm=1.4</a:t>
            </a:r>
            <a:r>
              <a:rPr lang="zh-CN" altLang="en-US" b="0" i="0" dirty="0">
                <a:solidFill>
                  <a:srgbClr val="2F2F2F"/>
                </a:solidFill>
                <a:effectLst/>
                <a:latin typeface="lucida grande"/>
              </a:rPr>
              <a:t>进行预测</a:t>
            </a:r>
            <a:endParaRPr lang="zh-CN" altLang="en-US" dirty="0"/>
          </a:p>
        </p:txBody>
      </p:sp>
      <p:sp>
        <p:nvSpPr>
          <p:cNvPr id="6" name="文本框 5">
            <a:extLst>
              <a:ext uri="{FF2B5EF4-FFF2-40B4-BE49-F238E27FC236}">
                <a16:creationId xmlns:a16="http://schemas.microsoft.com/office/drawing/2014/main" id="{3E960E5E-1F34-4E57-91E0-F09F8F1D7EBD}"/>
              </a:ext>
            </a:extLst>
          </p:cNvPr>
          <p:cNvSpPr txBox="1"/>
          <p:nvPr/>
        </p:nvSpPr>
        <p:spPr>
          <a:xfrm>
            <a:off x="471791" y="2320630"/>
            <a:ext cx="6099242" cy="369332"/>
          </a:xfrm>
          <a:prstGeom prst="rect">
            <a:avLst/>
          </a:prstGeom>
          <a:noFill/>
        </p:spPr>
        <p:txBody>
          <a:bodyPr wrap="square">
            <a:spAutoFit/>
          </a:bodyPr>
          <a:lstStyle/>
          <a:p>
            <a:r>
              <a:rPr lang="zh-CN" altLang="en-US" b="0" i="0" dirty="0">
                <a:solidFill>
                  <a:srgbClr val="2F2F2F"/>
                </a:solidFill>
                <a:effectLst/>
                <a:latin typeface="lucida grande"/>
              </a:rPr>
              <a:t>结果：</a:t>
            </a:r>
            <a:r>
              <a:rPr lang="en-US" altLang="zh-CN" b="0" i="0" dirty="0">
                <a:solidFill>
                  <a:srgbClr val="2F2F2F"/>
                </a:solidFill>
                <a:effectLst/>
                <a:latin typeface="lucida grande"/>
              </a:rPr>
              <a:t>Out[78]: array([1], </a:t>
            </a:r>
            <a:r>
              <a:rPr lang="en-US" altLang="zh-CN" b="0" i="0" dirty="0" err="1">
                <a:solidFill>
                  <a:srgbClr val="2F2F2F"/>
                </a:solidFill>
                <a:effectLst/>
                <a:latin typeface="lucida grande"/>
              </a:rPr>
              <a:t>dtype</a:t>
            </a:r>
            <a:r>
              <a:rPr lang="en-US" altLang="zh-CN" b="0" i="0" dirty="0">
                <a:solidFill>
                  <a:srgbClr val="2F2F2F"/>
                </a:solidFill>
                <a:effectLst/>
                <a:latin typeface="lucida grande"/>
              </a:rPr>
              <a:t>=int64)</a:t>
            </a:r>
            <a:r>
              <a:rPr lang="zh-CN" altLang="en-US" b="0" i="0" dirty="0">
                <a:solidFill>
                  <a:srgbClr val="2F2F2F"/>
                </a:solidFill>
                <a:effectLst/>
                <a:latin typeface="lucida grande"/>
              </a:rPr>
              <a:t>，即预测为</a:t>
            </a:r>
            <a:r>
              <a:rPr lang="en-US" altLang="zh-CN" b="0" i="0" dirty="0">
                <a:solidFill>
                  <a:srgbClr val="2F2F2F"/>
                </a:solidFill>
                <a:effectLst/>
                <a:latin typeface="lucida grande"/>
              </a:rPr>
              <a:t>1</a:t>
            </a:r>
            <a:r>
              <a:rPr lang="zh-CN" altLang="en-US" b="0" i="0" dirty="0">
                <a:solidFill>
                  <a:srgbClr val="2F2F2F"/>
                </a:solidFill>
                <a:effectLst/>
                <a:latin typeface="lucida grande"/>
              </a:rPr>
              <a:t>的分类。</a:t>
            </a:r>
            <a:endParaRPr lang="zh-CN" altLang="en-US" dirty="0"/>
          </a:p>
        </p:txBody>
      </p:sp>
    </p:spTree>
    <p:extLst>
      <p:ext uri="{BB962C8B-B14F-4D97-AF65-F5344CB8AC3E}">
        <p14:creationId xmlns:p14="http://schemas.microsoft.com/office/powerpoint/2010/main" val="2205378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5FE51-E490-4BB1-AC9C-03ED1387B9B5}"/>
              </a:ext>
            </a:extLst>
          </p:cNvPr>
          <p:cNvSpPr>
            <a:spLocks noGrp="1"/>
          </p:cNvSpPr>
          <p:nvPr>
            <p:ph type="title"/>
          </p:nvPr>
        </p:nvSpPr>
        <p:spPr/>
        <p:txBody>
          <a:bodyPr>
            <a:normAutofit fontScale="90000"/>
          </a:bodyPr>
          <a:lstStyle/>
          <a:p>
            <a:r>
              <a:rPr lang="zh-CN" altLang="en-US" b="1" i="0" dirty="0">
                <a:solidFill>
                  <a:schemeClr val="tx1"/>
                </a:solidFill>
                <a:effectLst/>
                <a:latin typeface="lucida grande"/>
              </a:rPr>
              <a:t>二、回归</a:t>
            </a:r>
            <a:endParaRPr lang="zh-CN" altLang="en-US" dirty="0">
              <a:solidFill>
                <a:schemeClr val="tx1"/>
              </a:solidFill>
            </a:endParaRPr>
          </a:p>
        </p:txBody>
      </p:sp>
      <p:sp>
        <p:nvSpPr>
          <p:cNvPr id="4" name="文本框 3">
            <a:extLst>
              <a:ext uri="{FF2B5EF4-FFF2-40B4-BE49-F238E27FC236}">
                <a16:creationId xmlns:a16="http://schemas.microsoft.com/office/drawing/2014/main" id="{C9B27717-16D5-4967-B277-4FFF91C633AC}"/>
              </a:ext>
            </a:extLst>
          </p:cNvPr>
          <p:cNvSpPr txBox="1"/>
          <p:nvPr/>
        </p:nvSpPr>
        <p:spPr>
          <a:xfrm>
            <a:off x="218871" y="1384279"/>
            <a:ext cx="10559375" cy="646331"/>
          </a:xfrm>
          <a:prstGeom prst="rect">
            <a:avLst/>
          </a:prstGeom>
          <a:noFill/>
        </p:spPr>
        <p:txBody>
          <a:bodyPr wrap="square">
            <a:spAutoFit/>
          </a:bodyPr>
          <a:lstStyle/>
          <a:p>
            <a:r>
              <a:rPr lang="zh-CN" altLang="en-US" b="0" i="0" dirty="0">
                <a:solidFill>
                  <a:srgbClr val="2F2F2F"/>
                </a:solidFill>
                <a:effectLst/>
                <a:latin typeface="lucida grande"/>
              </a:rPr>
              <a:t>有一系列样本坐标（</a:t>
            </a:r>
            <a:r>
              <a:rPr lang="en-US" altLang="zh-CN" b="0" i="0" dirty="0" err="1">
                <a:solidFill>
                  <a:srgbClr val="2F2F2F"/>
                </a:solidFill>
                <a:effectLst/>
                <a:latin typeface="lucida grande"/>
              </a:rPr>
              <a:t>x,y</a:t>
            </a:r>
            <a:r>
              <a:rPr lang="zh-CN" altLang="en-US" b="0" i="0" dirty="0">
                <a:solidFill>
                  <a:srgbClr val="2F2F2F"/>
                </a:solidFill>
                <a:effectLst/>
                <a:latin typeface="lucida grande"/>
              </a:rPr>
              <a:t>），然后给定一个测试点坐标 </a:t>
            </a:r>
            <a:r>
              <a:rPr lang="en-US" altLang="zh-CN" b="0" i="0" dirty="0">
                <a:solidFill>
                  <a:srgbClr val="2F2F2F"/>
                </a:solidFill>
                <a:effectLst/>
                <a:latin typeface="lucida grande"/>
              </a:rPr>
              <a:t>x1</a:t>
            </a:r>
            <a:r>
              <a:rPr lang="zh-CN" altLang="en-US" b="0" i="0" dirty="0">
                <a:solidFill>
                  <a:srgbClr val="2F2F2F"/>
                </a:solidFill>
                <a:effectLst/>
                <a:latin typeface="lucida grande"/>
              </a:rPr>
              <a:t>，求回归曲线上对应的 </a:t>
            </a:r>
            <a:r>
              <a:rPr lang="en-US" altLang="zh-CN" b="0" i="0" dirty="0">
                <a:solidFill>
                  <a:srgbClr val="2F2F2F"/>
                </a:solidFill>
                <a:effectLst/>
                <a:latin typeface="lucida grande"/>
              </a:rPr>
              <a:t>y1 </a:t>
            </a:r>
            <a:r>
              <a:rPr lang="zh-CN" altLang="en-US" b="0" i="0" dirty="0">
                <a:solidFill>
                  <a:srgbClr val="2F2F2F"/>
                </a:solidFill>
                <a:effectLst/>
                <a:latin typeface="lucida grande"/>
              </a:rPr>
              <a:t>值。用</a:t>
            </a:r>
            <a:r>
              <a:rPr lang="en-US" altLang="zh-CN" b="0" i="0" dirty="0" err="1">
                <a:solidFill>
                  <a:srgbClr val="2F2F2F"/>
                </a:solidFill>
                <a:effectLst/>
                <a:latin typeface="lucida grande"/>
              </a:rPr>
              <a:t>knn</a:t>
            </a:r>
            <a:r>
              <a:rPr lang="zh-CN" altLang="en-US" b="0" i="0" dirty="0">
                <a:solidFill>
                  <a:srgbClr val="2F2F2F"/>
                </a:solidFill>
                <a:effectLst/>
                <a:latin typeface="lucida grande"/>
              </a:rPr>
              <a:t>的话，最简单的做法就是取 </a:t>
            </a:r>
            <a:r>
              <a:rPr lang="en-US" altLang="zh-CN" b="0" i="0" dirty="0">
                <a:solidFill>
                  <a:srgbClr val="2F2F2F"/>
                </a:solidFill>
                <a:effectLst/>
                <a:latin typeface="lucida grande"/>
              </a:rPr>
              <a:t>k </a:t>
            </a:r>
            <a:r>
              <a:rPr lang="zh-CN" altLang="en-US" b="0" i="0" dirty="0">
                <a:solidFill>
                  <a:srgbClr val="2F2F2F"/>
                </a:solidFill>
                <a:effectLst/>
                <a:latin typeface="lucida grande"/>
              </a:rPr>
              <a:t>个离 </a:t>
            </a:r>
            <a:r>
              <a:rPr lang="en-US" altLang="zh-CN" b="0" i="0" dirty="0">
                <a:solidFill>
                  <a:srgbClr val="2F2F2F"/>
                </a:solidFill>
                <a:effectLst/>
                <a:latin typeface="lucida grande"/>
              </a:rPr>
              <a:t>x1 </a:t>
            </a:r>
            <a:r>
              <a:rPr lang="zh-CN" altLang="en-US" b="0" i="0" dirty="0">
                <a:solidFill>
                  <a:srgbClr val="2F2F2F"/>
                </a:solidFill>
                <a:effectLst/>
                <a:latin typeface="lucida grande"/>
              </a:rPr>
              <a:t>最近的样本坐标，然后对他们的 </a:t>
            </a:r>
            <a:r>
              <a:rPr lang="en-US" altLang="zh-CN" b="0" i="0" dirty="0">
                <a:solidFill>
                  <a:srgbClr val="2F2F2F"/>
                </a:solidFill>
                <a:effectLst/>
                <a:latin typeface="lucida grande"/>
              </a:rPr>
              <a:t>y1 </a:t>
            </a:r>
            <a:r>
              <a:rPr lang="zh-CN" altLang="en-US" b="0" i="0" dirty="0">
                <a:solidFill>
                  <a:srgbClr val="2F2F2F"/>
                </a:solidFill>
                <a:effectLst/>
                <a:latin typeface="lucida grande"/>
              </a:rPr>
              <a:t>值求平均。</a:t>
            </a:r>
            <a:endParaRPr lang="zh-CN" altLang="en-US" dirty="0"/>
          </a:p>
        </p:txBody>
      </p:sp>
      <p:pic>
        <p:nvPicPr>
          <p:cNvPr id="11266" name="Picture 2">
            <a:extLst>
              <a:ext uri="{FF2B5EF4-FFF2-40B4-BE49-F238E27FC236}">
                <a16:creationId xmlns:a16="http://schemas.microsoft.com/office/drawing/2014/main" id="{26EC5AD1-AB93-4AAB-A61F-F41A3F8061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71" y="2137614"/>
            <a:ext cx="7362825" cy="288607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060271E0-5107-4EAA-BC77-45A08679285D}"/>
              </a:ext>
            </a:extLst>
          </p:cNvPr>
          <p:cNvSpPr txBox="1"/>
          <p:nvPr/>
        </p:nvSpPr>
        <p:spPr>
          <a:xfrm>
            <a:off x="549611" y="5258199"/>
            <a:ext cx="9654703" cy="646331"/>
          </a:xfrm>
          <a:prstGeom prst="rect">
            <a:avLst/>
          </a:prstGeom>
          <a:noFill/>
        </p:spPr>
        <p:txBody>
          <a:bodyPr wrap="square">
            <a:spAutoFit/>
          </a:bodyPr>
          <a:lstStyle/>
          <a:p>
            <a:r>
              <a:rPr lang="zh-CN" altLang="en-US" b="0" i="0" dirty="0">
                <a:solidFill>
                  <a:srgbClr val="2F2F2F"/>
                </a:solidFill>
                <a:effectLst/>
                <a:latin typeface="lucida grande"/>
              </a:rPr>
              <a:t>如上图一个新的</a:t>
            </a:r>
            <a:r>
              <a:rPr lang="en-US" altLang="zh-CN" b="0" i="0" dirty="0">
                <a:solidFill>
                  <a:srgbClr val="2F2F2F"/>
                </a:solidFill>
                <a:effectLst/>
                <a:latin typeface="lucida grande"/>
              </a:rPr>
              <a:t>x</a:t>
            </a:r>
            <a:r>
              <a:rPr lang="zh-CN" altLang="en-US" b="0" i="0" dirty="0">
                <a:solidFill>
                  <a:srgbClr val="2F2F2F"/>
                </a:solidFill>
                <a:effectLst/>
                <a:latin typeface="lucida grande"/>
              </a:rPr>
              <a:t>值（上图红点），</a:t>
            </a:r>
            <a:r>
              <a:rPr lang="en-US" altLang="zh-CN" b="0" i="0" dirty="0">
                <a:solidFill>
                  <a:srgbClr val="2F2F2F"/>
                </a:solidFill>
                <a:effectLst/>
                <a:latin typeface="lucida grande"/>
              </a:rPr>
              <a:t>k=5</a:t>
            </a:r>
            <a:r>
              <a:rPr lang="zh-CN" altLang="en-US" b="0" i="0" dirty="0">
                <a:solidFill>
                  <a:srgbClr val="2F2F2F"/>
                </a:solidFill>
                <a:effectLst/>
                <a:latin typeface="lucida grande"/>
              </a:rPr>
              <a:t>表示与</a:t>
            </a:r>
            <a:r>
              <a:rPr lang="en-US" altLang="zh-CN" b="0" i="0" dirty="0">
                <a:solidFill>
                  <a:srgbClr val="2F2F2F"/>
                </a:solidFill>
                <a:effectLst/>
                <a:latin typeface="lucida grande"/>
              </a:rPr>
              <a:t>x</a:t>
            </a:r>
            <a:r>
              <a:rPr lang="zh-CN" altLang="en-US" b="0" i="0" dirty="0">
                <a:solidFill>
                  <a:srgbClr val="2F2F2F"/>
                </a:solidFill>
                <a:effectLst/>
                <a:latin typeface="lucida grande"/>
              </a:rPr>
              <a:t>距离最近的五个点（红线链接），这五个点的平均值，就作为</a:t>
            </a:r>
            <a:r>
              <a:rPr lang="en-US" altLang="zh-CN" b="0" i="0" dirty="0">
                <a:solidFill>
                  <a:srgbClr val="2F2F2F"/>
                </a:solidFill>
                <a:effectLst/>
                <a:latin typeface="lucida grande"/>
              </a:rPr>
              <a:t>y</a:t>
            </a:r>
            <a:r>
              <a:rPr lang="zh-CN" altLang="en-US" b="0" i="0" dirty="0">
                <a:solidFill>
                  <a:srgbClr val="2F2F2F"/>
                </a:solidFill>
                <a:effectLst/>
                <a:latin typeface="lucida grande"/>
              </a:rPr>
              <a:t>的预测值。</a:t>
            </a:r>
            <a:endParaRPr lang="zh-CN" altLang="en-US" dirty="0"/>
          </a:p>
        </p:txBody>
      </p:sp>
    </p:spTree>
    <p:extLst>
      <p:ext uri="{BB962C8B-B14F-4D97-AF65-F5344CB8AC3E}">
        <p14:creationId xmlns:p14="http://schemas.microsoft.com/office/powerpoint/2010/main" val="3597211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791637-FAB2-499E-837A-CF60DAC35E21}"/>
              </a:ext>
            </a:extLst>
          </p:cNvPr>
          <p:cNvSpPr>
            <a:spLocks noGrp="1"/>
          </p:cNvSpPr>
          <p:nvPr>
            <p:ph type="title"/>
          </p:nvPr>
        </p:nvSpPr>
        <p:spPr/>
        <p:txBody>
          <a:bodyPr>
            <a:normAutofit fontScale="90000"/>
          </a:bodyPr>
          <a:lstStyle/>
          <a:p>
            <a:r>
              <a:rPr lang="zh-CN" altLang="en-US" b="1" i="0" dirty="0">
                <a:solidFill>
                  <a:srgbClr val="2F2F2F"/>
                </a:solidFill>
                <a:effectLst/>
                <a:latin typeface="lucida grande"/>
              </a:rPr>
              <a:t>回归实战</a:t>
            </a:r>
            <a:br>
              <a:rPr lang="zh-CN" altLang="en-US" b="1" i="0" dirty="0">
                <a:solidFill>
                  <a:srgbClr val="2F2F2F"/>
                </a:solidFill>
                <a:effectLst/>
                <a:latin typeface="lucida grande"/>
              </a:rPr>
            </a:br>
            <a:endParaRPr lang="zh-CN" altLang="en-US" dirty="0"/>
          </a:p>
        </p:txBody>
      </p:sp>
      <p:sp>
        <p:nvSpPr>
          <p:cNvPr id="4" name="文本框 3">
            <a:extLst>
              <a:ext uri="{FF2B5EF4-FFF2-40B4-BE49-F238E27FC236}">
                <a16:creationId xmlns:a16="http://schemas.microsoft.com/office/drawing/2014/main" id="{CFEFEAC5-EAF9-4269-AA5A-0782E4EA5942}"/>
              </a:ext>
            </a:extLst>
          </p:cNvPr>
          <p:cNvSpPr txBox="1"/>
          <p:nvPr/>
        </p:nvSpPr>
        <p:spPr>
          <a:xfrm>
            <a:off x="588523" y="1206390"/>
            <a:ext cx="6099242" cy="369332"/>
          </a:xfrm>
          <a:prstGeom prst="rect">
            <a:avLst/>
          </a:prstGeom>
          <a:noFill/>
        </p:spPr>
        <p:txBody>
          <a:bodyPr wrap="square">
            <a:spAutoFit/>
          </a:bodyPr>
          <a:lstStyle/>
          <a:p>
            <a:pPr algn="l"/>
            <a:r>
              <a:rPr lang="en-US" altLang="zh-CN" b="1" i="0" dirty="0">
                <a:solidFill>
                  <a:srgbClr val="2F2F2F"/>
                </a:solidFill>
                <a:effectLst/>
                <a:latin typeface="lucida grande"/>
              </a:rPr>
              <a:t>1</a:t>
            </a:r>
            <a:r>
              <a:rPr lang="zh-CN" altLang="en-US" b="1" i="0" dirty="0">
                <a:solidFill>
                  <a:srgbClr val="2F2F2F"/>
                </a:solidFill>
                <a:effectLst/>
                <a:latin typeface="lucida grande"/>
              </a:rPr>
              <a:t>）准备数据</a:t>
            </a:r>
          </a:p>
        </p:txBody>
      </p:sp>
      <p:sp>
        <p:nvSpPr>
          <p:cNvPr id="6" name="文本框 5">
            <a:extLst>
              <a:ext uri="{FF2B5EF4-FFF2-40B4-BE49-F238E27FC236}">
                <a16:creationId xmlns:a16="http://schemas.microsoft.com/office/drawing/2014/main" id="{02AF594B-E617-445F-AB20-DB864EAEDF75}"/>
              </a:ext>
            </a:extLst>
          </p:cNvPr>
          <p:cNvSpPr txBox="1"/>
          <p:nvPr/>
        </p:nvSpPr>
        <p:spPr>
          <a:xfrm>
            <a:off x="588522" y="1826648"/>
            <a:ext cx="9518515" cy="369332"/>
          </a:xfrm>
          <a:prstGeom prst="rect">
            <a:avLst/>
          </a:prstGeom>
          <a:noFill/>
        </p:spPr>
        <p:txBody>
          <a:bodyPr wrap="square">
            <a:spAutoFit/>
          </a:bodyPr>
          <a:lstStyle/>
          <a:p>
            <a:r>
              <a:rPr lang="zh-CN" altLang="en-US" b="0" i="0" dirty="0">
                <a:solidFill>
                  <a:srgbClr val="2F2F2F"/>
                </a:solidFill>
                <a:effectLst/>
                <a:latin typeface="lucida grande"/>
              </a:rPr>
              <a:t>因为我们需要用图形来表现，所以我们用一元线性回归进行演示。</a:t>
            </a:r>
            <a:endParaRPr lang="zh-CN" altLang="en-US" dirty="0"/>
          </a:p>
        </p:txBody>
      </p:sp>
      <p:sp>
        <p:nvSpPr>
          <p:cNvPr id="7" name="Rectangle 1">
            <a:extLst>
              <a:ext uri="{FF2B5EF4-FFF2-40B4-BE49-F238E27FC236}">
                <a16:creationId xmlns:a16="http://schemas.microsoft.com/office/drawing/2014/main" id="{110BA5DC-0657-41E2-81F8-AEF5F43D6FF0}"/>
              </a:ext>
            </a:extLst>
          </p:cNvPr>
          <p:cNvSpPr>
            <a:spLocks noChangeArrowheads="1"/>
          </p:cNvSpPr>
          <p:nvPr/>
        </p:nvSpPr>
        <p:spPr bwMode="auto">
          <a:xfrm>
            <a:off x="669882" y="2761221"/>
            <a:ext cx="983466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Arial Unicode MS"/>
              </a:rPr>
              <a:t>X1 = numpy.arange(1,71) </a:t>
            </a:r>
            <a:endParaRPr kumimoji="0" lang="en-US" altLang="zh-CN" sz="1600" b="0" i="0" u="none" strike="noStrike" cap="none" normalizeH="0" baseline="0" dirty="0">
              <a:ln>
                <a:noFill/>
              </a:ln>
              <a:solidFill>
                <a:srgbClr val="000000"/>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Arial Unicode MS"/>
              </a:rPr>
              <a:t>Y1= [11.31,10.94,11.37,11.49,12.03,12.73,13.07,13.29,13.56,18.73,22.24,24.76,24.45,25.52,25.08,25.87,26.56,26.96,26.57,27.39,31.54,35.60,38.41,38.44,39.08,39.26,39.52,40.31,39.87,40.32,40.65,41.16,41.49,45.02,46.98,47.92,47.53,48.41,48.94,48.89,49.22,49.41,49.53,50.24,50.72,50.71,50.83,51.25,52.30,51.84,49.92,48.31,48.15,48.25,48.99,49.08,49.08,49.45,50.34,48.15,42.39,41.38,41.17,42.06,42.30,42.26,42.51,42.93,43.09,41.76] </a:t>
            </a:r>
            <a:endParaRPr kumimoji="0" lang="en-US" altLang="zh-CN" sz="1600" b="0" i="0" u="none" strike="noStrike" cap="none" normalizeH="0" baseline="0" dirty="0">
              <a:ln>
                <a:noFill/>
              </a:ln>
              <a:solidFill>
                <a:srgbClr val="000000"/>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Arial Unicode MS"/>
              </a:rPr>
              <a:t>X1 = pd.DataFrame(X1)</a:t>
            </a:r>
            <a:endParaRPr kumimoji="0" lang="en-US" altLang="zh-CN" sz="1600" b="0" i="0" u="none" strike="noStrike" cap="none" normalizeH="0" baseline="0" dirty="0">
              <a:ln>
                <a:noFill/>
              </a:ln>
              <a:solidFill>
                <a:srgbClr val="000000"/>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Arial Unicode MS"/>
              </a:rPr>
              <a:t>Y1 = pd.DataFrame(Y1)</a:t>
            </a:r>
            <a:r>
              <a:rPr kumimoji="0" lang="zh-CN" altLang="zh-CN" sz="1600" b="0" i="0" u="none" strike="noStrike" cap="none" normalizeH="0" baseline="0" dirty="0">
                <a:ln>
                  <a:noFill/>
                </a:ln>
                <a:solidFill>
                  <a:schemeClr val="tx1"/>
                </a:solidFill>
                <a:effectLst/>
              </a:rPr>
              <a:t> </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19327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58547A-E020-43BD-984E-D745E9D1E625}"/>
              </a:ext>
            </a:extLst>
          </p:cNvPr>
          <p:cNvSpPr>
            <a:spLocks noGrp="1"/>
          </p:cNvSpPr>
          <p:nvPr>
            <p:ph type="title"/>
          </p:nvPr>
        </p:nvSpPr>
        <p:spPr/>
        <p:txBody>
          <a:bodyPr>
            <a:normAutofit fontScale="90000"/>
          </a:bodyPr>
          <a:lstStyle/>
          <a:p>
            <a:r>
              <a:rPr lang="en-US" altLang="zh-CN" b="1" dirty="0">
                <a:effectLst/>
                <a:latin typeface="inherit"/>
              </a:rPr>
              <a:t>2</a:t>
            </a:r>
            <a:r>
              <a:rPr lang="zh-CN" altLang="en-US" b="1" dirty="0">
                <a:effectLst/>
                <a:latin typeface="inherit"/>
              </a:rPr>
              <a:t>）建立模型和拟合</a:t>
            </a:r>
            <a:br>
              <a:rPr lang="zh-CN" altLang="en-US" b="1" dirty="0">
                <a:effectLst/>
                <a:latin typeface="inherit"/>
              </a:rPr>
            </a:br>
            <a:br>
              <a:rPr lang="zh-CN" altLang="en-US" b="0" i="0" dirty="0">
                <a:solidFill>
                  <a:srgbClr val="AAAAAA"/>
                </a:solidFill>
                <a:effectLst/>
                <a:latin typeface="Source Code Pro"/>
              </a:rPr>
            </a:br>
            <a:endParaRPr lang="zh-CN" altLang="en-US" dirty="0"/>
          </a:p>
        </p:txBody>
      </p:sp>
      <p:sp>
        <p:nvSpPr>
          <p:cNvPr id="3" name="Rectangle 1">
            <a:extLst>
              <a:ext uri="{FF2B5EF4-FFF2-40B4-BE49-F238E27FC236}">
                <a16:creationId xmlns:a16="http://schemas.microsoft.com/office/drawing/2014/main" id="{3EB8DAB0-DA1C-4C9D-853C-FF9AAF490842}"/>
              </a:ext>
            </a:extLst>
          </p:cNvPr>
          <p:cNvSpPr>
            <a:spLocks noChangeArrowheads="1"/>
          </p:cNvSpPr>
          <p:nvPr/>
        </p:nvSpPr>
        <p:spPr bwMode="auto">
          <a:xfrm>
            <a:off x="466929" y="1525647"/>
            <a:ext cx="1216930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Arial Unicode MS"/>
              </a:rPr>
              <a:t>knn = neighbors.KNeighborsRegressor(5,weights = 'uniform’) </a:t>
            </a:r>
            <a:endParaRPr kumimoji="0" lang="en-US" altLang="zh-CN" sz="2000" b="0" i="0" u="none" strike="noStrike" cap="none" normalizeH="0" baseline="0" dirty="0">
              <a:ln>
                <a:noFill/>
              </a:ln>
              <a:solidFill>
                <a:srgbClr val="000000"/>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Arial Unicode MS"/>
              </a:rPr>
              <a:t>model = knn.fit(X1,Y1)</a:t>
            </a:r>
            <a:endParaRPr kumimoji="0" lang="en-US" altLang="zh-CN" sz="2000" b="0" i="0" u="none" strike="noStrike" cap="none" normalizeH="0" baseline="0" dirty="0">
              <a:ln>
                <a:noFill/>
              </a:ln>
              <a:solidFill>
                <a:srgbClr val="000000"/>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Arial Unicode MS"/>
              </a:rPr>
              <a:t>FsctY = knn.predict(X1) </a:t>
            </a:r>
            <a:endParaRPr kumimoji="0" lang="en-US" altLang="zh-CN" sz="2000" b="0" i="0" u="none" strike="noStrike" cap="none" normalizeH="0" baseline="0" dirty="0">
              <a:ln>
                <a:noFill/>
              </a:ln>
              <a:solidFill>
                <a:srgbClr val="000000"/>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Arial Unicode MS"/>
              </a:rPr>
              <a:t>FsctY = pd.DataFrame(FsctY)</a:t>
            </a:r>
            <a:endParaRPr lang="en-US" altLang="zh-CN" sz="2000" dirty="0">
              <a:solidFill>
                <a:srgbClr val="000000"/>
              </a:solidFill>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Arial Unicode MS"/>
              </a:rPr>
              <a:t>score=numpy.mean(cross_val_score(knn,X1,Y1,cv=5,scoring='neg_mean_squared_error’)) </a:t>
            </a:r>
            <a:endParaRPr kumimoji="0" lang="en-US" altLang="zh-CN" sz="2000" b="0" i="0" u="none" strike="noStrike" cap="none" normalizeH="0" baseline="0" dirty="0">
              <a:ln>
                <a:noFill/>
              </a:ln>
              <a:solidFill>
                <a:srgbClr val="000000"/>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Arial Unicode MS"/>
              </a:rPr>
              <a:t>print('平均性能得分：'+str(score))</a:t>
            </a:r>
            <a:r>
              <a:rPr kumimoji="0" lang="zh-CN" altLang="zh-CN" sz="2000" b="0" i="0" u="none" strike="noStrike" cap="none" normalizeH="0" baseline="0" dirty="0">
                <a:ln>
                  <a:noFill/>
                </a:ln>
                <a:solidFill>
                  <a:schemeClr val="tx1"/>
                </a:solidFill>
                <a:effectLst/>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A3ECBBE4-2547-4C38-9DD3-09E66E6B706B}"/>
              </a:ext>
            </a:extLst>
          </p:cNvPr>
          <p:cNvSpPr txBox="1"/>
          <p:nvPr/>
        </p:nvSpPr>
        <p:spPr>
          <a:xfrm>
            <a:off x="2808862" y="4484611"/>
            <a:ext cx="6318114" cy="369332"/>
          </a:xfrm>
          <a:prstGeom prst="rect">
            <a:avLst/>
          </a:prstGeom>
          <a:noFill/>
        </p:spPr>
        <p:txBody>
          <a:bodyPr wrap="square">
            <a:spAutoFit/>
          </a:bodyPr>
          <a:lstStyle/>
          <a:p>
            <a:r>
              <a:rPr lang="zh-CN" altLang="en-US" b="0" i="0" dirty="0">
                <a:solidFill>
                  <a:srgbClr val="2F2F2F"/>
                </a:solidFill>
                <a:effectLst/>
                <a:latin typeface="lucida grande"/>
              </a:rPr>
              <a:t>平均性能得分：</a:t>
            </a:r>
            <a:r>
              <a:rPr lang="en-US" altLang="zh-CN" b="0" i="0" dirty="0">
                <a:solidFill>
                  <a:srgbClr val="2F2F2F"/>
                </a:solidFill>
                <a:effectLst/>
                <a:latin typeface="lucida grande"/>
              </a:rPr>
              <a:t>34.4531503429</a:t>
            </a:r>
            <a:endParaRPr lang="zh-CN" altLang="en-US" dirty="0"/>
          </a:p>
        </p:txBody>
      </p:sp>
    </p:spTree>
    <p:extLst>
      <p:ext uri="{BB962C8B-B14F-4D97-AF65-F5344CB8AC3E}">
        <p14:creationId xmlns:p14="http://schemas.microsoft.com/office/powerpoint/2010/main" val="25282625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77992B-C965-422F-B2F0-372BAD58B661}"/>
              </a:ext>
            </a:extLst>
          </p:cNvPr>
          <p:cNvSpPr>
            <a:spLocks noGrp="1"/>
          </p:cNvSpPr>
          <p:nvPr>
            <p:ph type="title"/>
          </p:nvPr>
        </p:nvSpPr>
        <p:spPr/>
        <p:txBody>
          <a:bodyPr>
            <a:normAutofit fontScale="90000"/>
          </a:bodyPr>
          <a:lstStyle/>
          <a:p>
            <a:r>
              <a:rPr lang="en-US" altLang="zh-CN" b="1" i="0" dirty="0">
                <a:solidFill>
                  <a:srgbClr val="2F2F2F"/>
                </a:solidFill>
                <a:effectLst/>
                <a:latin typeface="lucida grande"/>
              </a:rPr>
              <a:t>3</a:t>
            </a:r>
            <a:r>
              <a:rPr lang="zh-CN" altLang="en-US" b="1" i="0" dirty="0">
                <a:solidFill>
                  <a:srgbClr val="2F2F2F"/>
                </a:solidFill>
                <a:effectLst/>
                <a:latin typeface="lucida grande"/>
              </a:rPr>
              <a:t>）画拟合图</a:t>
            </a:r>
            <a:br>
              <a:rPr lang="zh-CN" altLang="en-US" b="1" i="0" dirty="0">
                <a:solidFill>
                  <a:srgbClr val="2F2F2F"/>
                </a:solidFill>
                <a:effectLst/>
                <a:latin typeface="lucida grande"/>
              </a:rPr>
            </a:br>
            <a:endParaRPr lang="zh-CN" altLang="en-US" dirty="0"/>
          </a:p>
        </p:txBody>
      </p:sp>
      <p:sp>
        <p:nvSpPr>
          <p:cNvPr id="4" name="文本框 3">
            <a:extLst>
              <a:ext uri="{FF2B5EF4-FFF2-40B4-BE49-F238E27FC236}">
                <a16:creationId xmlns:a16="http://schemas.microsoft.com/office/drawing/2014/main" id="{705CC125-E56B-4143-A51E-953F3BB25E69}"/>
              </a:ext>
            </a:extLst>
          </p:cNvPr>
          <p:cNvSpPr txBox="1"/>
          <p:nvPr/>
        </p:nvSpPr>
        <p:spPr>
          <a:xfrm>
            <a:off x="669882" y="1332849"/>
            <a:ext cx="6099242" cy="369332"/>
          </a:xfrm>
          <a:prstGeom prst="rect">
            <a:avLst/>
          </a:prstGeom>
          <a:noFill/>
        </p:spPr>
        <p:txBody>
          <a:bodyPr wrap="square">
            <a:spAutoFit/>
          </a:bodyPr>
          <a:lstStyle/>
          <a:p>
            <a:r>
              <a:rPr lang="zh-CN" altLang="en-US" b="0" i="0" dirty="0">
                <a:solidFill>
                  <a:srgbClr val="2F2F2F"/>
                </a:solidFill>
                <a:effectLst/>
                <a:latin typeface="lucida grande"/>
              </a:rPr>
              <a:t>在图表上显示原数据和预测数据。</a:t>
            </a:r>
            <a:endParaRPr lang="zh-CN" altLang="en-US" dirty="0"/>
          </a:p>
        </p:txBody>
      </p:sp>
      <p:pic>
        <p:nvPicPr>
          <p:cNvPr id="6" name="图片 5">
            <a:extLst>
              <a:ext uri="{FF2B5EF4-FFF2-40B4-BE49-F238E27FC236}">
                <a16:creationId xmlns:a16="http://schemas.microsoft.com/office/drawing/2014/main" id="{3BA5A541-CB7E-4978-B812-645260B7D0BC}"/>
              </a:ext>
            </a:extLst>
          </p:cNvPr>
          <p:cNvPicPr>
            <a:picLocks noChangeAspect="1"/>
          </p:cNvPicPr>
          <p:nvPr/>
        </p:nvPicPr>
        <p:blipFill>
          <a:blip r:embed="rId2"/>
          <a:stretch>
            <a:fillRect/>
          </a:stretch>
        </p:blipFill>
        <p:spPr>
          <a:xfrm>
            <a:off x="669882" y="2012511"/>
            <a:ext cx="6886575" cy="1724025"/>
          </a:xfrm>
          <a:prstGeom prst="rect">
            <a:avLst/>
          </a:prstGeom>
        </p:spPr>
      </p:pic>
      <p:pic>
        <p:nvPicPr>
          <p:cNvPr id="8" name="图片 7">
            <a:extLst>
              <a:ext uri="{FF2B5EF4-FFF2-40B4-BE49-F238E27FC236}">
                <a16:creationId xmlns:a16="http://schemas.microsoft.com/office/drawing/2014/main" id="{00B77D55-7BA5-4584-AAB5-5649C07DE95E}"/>
              </a:ext>
            </a:extLst>
          </p:cNvPr>
          <p:cNvPicPr>
            <a:picLocks noChangeAspect="1"/>
          </p:cNvPicPr>
          <p:nvPr/>
        </p:nvPicPr>
        <p:blipFill>
          <a:blip r:embed="rId3"/>
          <a:stretch>
            <a:fillRect/>
          </a:stretch>
        </p:blipFill>
        <p:spPr>
          <a:xfrm>
            <a:off x="1286584" y="3736536"/>
            <a:ext cx="8217339" cy="2877998"/>
          </a:xfrm>
          <a:prstGeom prst="rect">
            <a:avLst/>
          </a:prstGeom>
        </p:spPr>
      </p:pic>
    </p:spTree>
    <p:extLst>
      <p:ext uri="{BB962C8B-B14F-4D97-AF65-F5344CB8AC3E}">
        <p14:creationId xmlns:p14="http://schemas.microsoft.com/office/powerpoint/2010/main" val="42711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B9EF8D-29B8-48E0-9095-BB9F7A596FE5}"/>
              </a:ext>
            </a:extLst>
          </p:cNvPr>
          <p:cNvSpPr>
            <a:spLocks noGrp="1"/>
          </p:cNvSpPr>
          <p:nvPr>
            <p:ph type="title"/>
          </p:nvPr>
        </p:nvSpPr>
        <p:spPr/>
        <p:txBody>
          <a:bodyPr>
            <a:normAutofit fontScale="90000"/>
          </a:bodyPr>
          <a:lstStyle/>
          <a:p>
            <a:r>
              <a:rPr lang="en-US" altLang="zh-CN" b="1" i="0" dirty="0">
                <a:solidFill>
                  <a:srgbClr val="2F2F2F"/>
                </a:solidFill>
                <a:effectLst/>
                <a:latin typeface="lucida grande"/>
              </a:rPr>
              <a:t>4</a:t>
            </a:r>
            <a:r>
              <a:rPr lang="zh-CN" altLang="en-US" b="1" i="0" dirty="0">
                <a:solidFill>
                  <a:srgbClr val="2F2F2F"/>
                </a:solidFill>
                <a:effectLst/>
                <a:latin typeface="lucida grande"/>
              </a:rPr>
              <a:t>）与线性回归对比</a:t>
            </a:r>
            <a:br>
              <a:rPr lang="zh-CN" altLang="en-US" b="1" i="0" dirty="0">
                <a:solidFill>
                  <a:srgbClr val="2F2F2F"/>
                </a:solidFill>
                <a:effectLst/>
                <a:latin typeface="lucida grande"/>
              </a:rPr>
            </a:br>
            <a:endParaRPr lang="zh-CN" altLang="en-US" dirty="0"/>
          </a:p>
        </p:txBody>
      </p:sp>
      <p:pic>
        <p:nvPicPr>
          <p:cNvPr id="4" name="图片 3">
            <a:extLst>
              <a:ext uri="{FF2B5EF4-FFF2-40B4-BE49-F238E27FC236}">
                <a16:creationId xmlns:a16="http://schemas.microsoft.com/office/drawing/2014/main" id="{411C50E5-7A78-4D40-AA1A-E77AEAFABEF1}"/>
              </a:ext>
            </a:extLst>
          </p:cNvPr>
          <p:cNvPicPr>
            <a:picLocks noChangeAspect="1"/>
          </p:cNvPicPr>
          <p:nvPr/>
        </p:nvPicPr>
        <p:blipFill>
          <a:blip r:embed="rId2"/>
          <a:stretch>
            <a:fillRect/>
          </a:stretch>
        </p:blipFill>
        <p:spPr>
          <a:xfrm>
            <a:off x="870423" y="1195184"/>
            <a:ext cx="8058150" cy="790575"/>
          </a:xfrm>
          <a:prstGeom prst="rect">
            <a:avLst/>
          </a:prstGeom>
        </p:spPr>
      </p:pic>
      <p:sp>
        <p:nvSpPr>
          <p:cNvPr id="6" name="文本框 5">
            <a:extLst>
              <a:ext uri="{FF2B5EF4-FFF2-40B4-BE49-F238E27FC236}">
                <a16:creationId xmlns:a16="http://schemas.microsoft.com/office/drawing/2014/main" id="{2E0A9F60-19CA-4221-9FA3-9800A19EFB00}"/>
              </a:ext>
            </a:extLst>
          </p:cNvPr>
          <p:cNvSpPr txBox="1"/>
          <p:nvPr/>
        </p:nvSpPr>
        <p:spPr>
          <a:xfrm>
            <a:off x="3049621" y="3249198"/>
            <a:ext cx="6099242" cy="369332"/>
          </a:xfrm>
          <a:prstGeom prst="rect">
            <a:avLst/>
          </a:prstGeom>
          <a:noFill/>
        </p:spPr>
        <p:txBody>
          <a:bodyPr wrap="square">
            <a:spAutoFit/>
          </a:bodyPr>
          <a:lstStyle/>
          <a:p>
            <a:r>
              <a:rPr lang="zh-CN" altLang="en-US" b="0" i="0" dirty="0">
                <a:solidFill>
                  <a:srgbClr val="2F2F2F"/>
                </a:solidFill>
                <a:effectLst/>
                <a:latin typeface="lucida grande"/>
              </a:rPr>
              <a:t>平均性能得分：</a:t>
            </a:r>
            <a:r>
              <a:rPr lang="en-US" altLang="zh-CN" b="0" i="0" dirty="0">
                <a:solidFill>
                  <a:srgbClr val="2F2F2F"/>
                </a:solidFill>
                <a:effectLst/>
                <a:latin typeface="lucida grande"/>
              </a:rPr>
              <a:t>190.350116387</a:t>
            </a:r>
            <a:endParaRPr lang="zh-CN" altLang="en-US" dirty="0"/>
          </a:p>
        </p:txBody>
      </p:sp>
    </p:spTree>
    <p:extLst>
      <p:ext uri="{BB962C8B-B14F-4D97-AF65-F5344CB8AC3E}">
        <p14:creationId xmlns:p14="http://schemas.microsoft.com/office/powerpoint/2010/main" val="3514555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17337A-E739-4867-9726-6047B67F760C}"/>
              </a:ext>
            </a:extLst>
          </p:cNvPr>
          <p:cNvSpPr>
            <a:spLocks noGrp="1"/>
          </p:cNvSpPr>
          <p:nvPr>
            <p:ph type="title"/>
          </p:nvPr>
        </p:nvSpPr>
        <p:spPr/>
        <p:txBody>
          <a:bodyPr>
            <a:normAutofit fontScale="90000"/>
          </a:bodyPr>
          <a:lstStyle/>
          <a:p>
            <a:r>
              <a:rPr lang="en-US" altLang="zh-CN" b="1" i="0" dirty="0">
                <a:solidFill>
                  <a:srgbClr val="2F2F2F"/>
                </a:solidFill>
                <a:effectLst/>
                <a:latin typeface="lucida grande"/>
              </a:rPr>
              <a:t>5</a:t>
            </a:r>
            <a:r>
              <a:rPr lang="zh-CN" altLang="en-US" b="1" i="0" dirty="0">
                <a:solidFill>
                  <a:srgbClr val="2F2F2F"/>
                </a:solidFill>
                <a:effectLst/>
                <a:latin typeface="lucida grande"/>
              </a:rPr>
              <a:t>）调参</a:t>
            </a:r>
            <a:br>
              <a:rPr lang="zh-CN" altLang="en-US" b="1" i="0" dirty="0">
                <a:solidFill>
                  <a:srgbClr val="2F2F2F"/>
                </a:solidFill>
                <a:effectLst/>
                <a:latin typeface="lucida grande"/>
              </a:rPr>
            </a:br>
            <a:endParaRPr lang="zh-CN" altLang="en-US" dirty="0"/>
          </a:p>
        </p:txBody>
      </p:sp>
      <p:sp>
        <p:nvSpPr>
          <p:cNvPr id="4" name="文本框 3">
            <a:extLst>
              <a:ext uri="{FF2B5EF4-FFF2-40B4-BE49-F238E27FC236}">
                <a16:creationId xmlns:a16="http://schemas.microsoft.com/office/drawing/2014/main" id="{A74D5D0F-B749-4669-982A-BC991893E20B}"/>
              </a:ext>
            </a:extLst>
          </p:cNvPr>
          <p:cNvSpPr txBox="1"/>
          <p:nvPr/>
        </p:nvSpPr>
        <p:spPr>
          <a:xfrm>
            <a:off x="669882" y="1157751"/>
            <a:ext cx="6099242" cy="369332"/>
          </a:xfrm>
          <a:prstGeom prst="rect">
            <a:avLst/>
          </a:prstGeom>
          <a:noFill/>
        </p:spPr>
        <p:txBody>
          <a:bodyPr wrap="square">
            <a:spAutoFit/>
          </a:bodyPr>
          <a:lstStyle/>
          <a:p>
            <a:r>
              <a:rPr lang="zh-CN" altLang="en-US" b="0" i="0" dirty="0">
                <a:solidFill>
                  <a:srgbClr val="2F2F2F"/>
                </a:solidFill>
                <a:effectLst/>
                <a:latin typeface="lucida grande"/>
              </a:rPr>
              <a:t>希望寻找一个最优的</a:t>
            </a:r>
            <a:r>
              <a:rPr lang="en-US" altLang="zh-CN" b="0" i="0" dirty="0">
                <a:solidFill>
                  <a:srgbClr val="2F2F2F"/>
                </a:solidFill>
                <a:effectLst/>
                <a:latin typeface="lucida grande"/>
              </a:rPr>
              <a:t>k</a:t>
            </a:r>
            <a:r>
              <a:rPr lang="zh-CN" altLang="en-US" b="0" i="0" dirty="0">
                <a:solidFill>
                  <a:srgbClr val="2F2F2F"/>
                </a:solidFill>
                <a:effectLst/>
                <a:latin typeface="lucida grande"/>
              </a:rPr>
              <a:t>，我们可以通过遍历</a:t>
            </a:r>
            <a:r>
              <a:rPr lang="en-US" altLang="zh-CN" b="0" i="0" dirty="0">
                <a:solidFill>
                  <a:srgbClr val="2F2F2F"/>
                </a:solidFill>
                <a:effectLst/>
                <a:latin typeface="lucida grande"/>
              </a:rPr>
              <a:t>k</a:t>
            </a:r>
            <a:r>
              <a:rPr lang="zh-CN" altLang="en-US" b="0" i="0" dirty="0">
                <a:solidFill>
                  <a:srgbClr val="2F2F2F"/>
                </a:solidFill>
                <a:effectLst/>
                <a:latin typeface="lucida grande"/>
              </a:rPr>
              <a:t>进行迭代</a:t>
            </a:r>
            <a:endParaRPr lang="zh-CN" altLang="en-US" dirty="0"/>
          </a:p>
        </p:txBody>
      </p:sp>
      <p:pic>
        <p:nvPicPr>
          <p:cNvPr id="6" name="图片 5">
            <a:extLst>
              <a:ext uri="{FF2B5EF4-FFF2-40B4-BE49-F238E27FC236}">
                <a16:creationId xmlns:a16="http://schemas.microsoft.com/office/drawing/2014/main" id="{8C732DA7-A562-4C96-A909-0DE131EFD7CD}"/>
              </a:ext>
            </a:extLst>
          </p:cNvPr>
          <p:cNvPicPr>
            <a:picLocks noChangeAspect="1"/>
          </p:cNvPicPr>
          <p:nvPr/>
        </p:nvPicPr>
        <p:blipFill>
          <a:blip r:embed="rId2"/>
          <a:stretch>
            <a:fillRect/>
          </a:stretch>
        </p:blipFill>
        <p:spPr>
          <a:xfrm>
            <a:off x="669882" y="1721896"/>
            <a:ext cx="6543675" cy="1838325"/>
          </a:xfrm>
          <a:prstGeom prst="rect">
            <a:avLst/>
          </a:prstGeom>
        </p:spPr>
      </p:pic>
      <p:pic>
        <p:nvPicPr>
          <p:cNvPr id="8" name="图片 7">
            <a:extLst>
              <a:ext uri="{FF2B5EF4-FFF2-40B4-BE49-F238E27FC236}">
                <a16:creationId xmlns:a16="http://schemas.microsoft.com/office/drawing/2014/main" id="{E354B0D5-19C5-40BC-B31F-A52B584C5C0B}"/>
              </a:ext>
            </a:extLst>
          </p:cNvPr>
          <p:cNvPicPr>
            <a:picLocks noChangeAspect="1"/>
          </p:cNvPicPr>
          <p:nvPr/>
        </p:nvPicPr>
        <p:blipFill>
          <a:blip r:embed="rId3"/>
          <a:stretch>
            <a:fillRect/>
          </a:stretch>
        </p:blipFill>
        <p:spPr>
          <a:xfrm>
            <a:off x="1780870" y="3616327"/>
            <a:ext cx="6760015" cy="3320709"/>
          </a:xfrm>
          <a:prstGeom prst="rect">
            <a:avLst/>
          </a:prstGeom>
        </p:spPr>
      </p:pic>
      <p:sp>
        <p:nvSpPr>
          <p:cNvPr id="10" name="文本框 9">
            <a:extLst>
              <a:ext uri="{FF2B5EF4-FFF2-40B4-BE49-F238E27FC236}">
                <a16:creationId xmlns:a16="http://schemas.microsoft.com/office/drawing/2014/main" id="{7BCE9C29-0663-4B10-B5DE-08C226340F15}"/>
              </a:ext>
            </a:extLst>
          </p:cNvPr>
          <p:cNvSpPr txBox="1"/>
          <p:nvPr/>
        </p:nvSpPr>
        <p:spPr>
          <a:xfrm>
            <a:off x="3941719" y="2595342"/>
            <a:ext cx="6099242" cy="646331"/>
          </a:xfrm>
          <a:prstGeom prst="rect">
            <a:avLst/>
          </a:prstGeom>
          <a:noFill/>
        </p:spPr>
        <p:txBody>
          <a:bodyPr wrap="square">
            <a:spAutoFit/>
          </a:bodyPr>
          <a:lstStyle/>
          <a:p>
            <a:pPr algn="l"/>
            <a:r>
              <a:rPr lang="zh-CN" altLang="en-US" b="0" i="0" dirty="0">
                <a:solidFill>
                  <a:srgbClr val="2F2F2F"/>
                </a:solidFill>
                <a:effectLst/>
                <a:latin typeface="lucida grande"/>
              </a:rPr>
              <a:t>可以看出来，</a:t>
            </a:r>
            <a:r>
              <a:rPr lang="en-US" altLang="zh-CN" b="0" i="0" dirty="0">
                <a:solidFill>
                  <a:srgbClr val="2F2F2F"/>
                </a:solidFill>
                <a:effectLst/>
                <a:latin typeface="lucida grande"/>
              </a:rPr>
              <a:t>k</a:t>
            </a:r>
            <a:r>
              <a:rPr lang="zh-CN" altLang="en-US" b="0" i="0" dirty="0">
                <a:solidFill>
                  <a:srgbClr val="2F2F2F"/>
                </a:solidFill>
                <a:effectLst/>
                <a:latin typeface="lucida grande"/>
              </a:rPr>
              <a:t>从</a:t>
            </a:r>
            <a:r>
              <a:rPr lang="en-US" altLang="zh-CN" b="0" i="0" dirty="0">
                <a:solidFill>
                  <a:srgbClr val="2F2F2F"/>
                </a:solidFill>
                <a:effectLst/>
                <a:latin typeface="lucida grande"/>
              </a:rPr>
              <a:t>3</a:t>
            </a:r>
            <a:r>
              <a:rPr lang="zh-CN" altLang="en-US" b="0" i="0" dirty="0">
                <a:solidFill>
                  <a:srgbClr val="2F2F2F"/>
                </a:solidFill>
                <a:effectLst/>
                <a:latin typeface="lucida grande"/>
              </a:rPr>
              <a:t>开始到</a:t>
            </a:r>
            <a:r>
              <a:rPr lang="en-US" altLang="zh-CN" b="0" i="0" dirty="0">
                <a:solidFill>
                  <a:srgbClr val="2F2F2F"/>
                </a:solidFill>
                <a:effectLst/>
                <a:latin typeface="lucida grande"/>
              </a:rPr>
              <a:t>60</a:t>
            </a:r>
            <a:r>
              <a:rPr lang="zh-CN" altLang="en-US" b="0" i="0" dirty="0">
                <a:solidFill>
                  <a:srgbClr val="2F2F2F"/>
                </a:solidFill>
                <a:effectLst/>
                <a:latin typeface="lucida grande"/>
              </a:rPr>
              <a:t>，基本上比较稳定，再大的</a:t>
            </a:r>
            <a:r>
              <a:rPr lang="en-US" altLang="zh-CN" b="0" i="0" dirty="0">
                <a:solidFill>
                  <a:srgbClr val="2F2F2F"/>
                </a:solidFill>
                <a:effectLst/>
                <a:latin typeface="lucida grande"/>
              </a:rPr>
              <a:t>k</a:t>
            </a:r>
            <a:r>
              <a:rPr lang="zh-CN" altLang="en-US" b="0" i="0" dirty="0">
                <a:solidFill>
                  <a:srgbClr val="2F2F2F"/>
                </a:solidFill>
                <a:effectLst/>
                <a:latin typeface="lucida grande"/>
              </a:rPr>
              <a:t>值，准确率迅速下降。</a:t>
            </a:r>
          </a:p>
        </p:txBody>
      </p:sp>
    </p:spTree>
    <p:extLst>
      <p:ext uri="{BB962C8B-B14F-4D97-AF65-F5344CB8AC3E}">
        <p14:creationId xmlns:p14="http://schemas.microsoft.com/office/powerpoint/2010/main" val="1877650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591B90-2200-49D2-8F0E-FB143090A5C1}"/>
              </a:ext>
            </a:extLst>
          </p:cNvPr>
          <p:cNvSpPr>
            <a:spLocks noGrp="1"/>
          </p:cNvSpPr>
          <p:nvPr>
            <p:ph type="title"/>
          </p:nvPr>
        </p:nvSpPr>
        <p:spPr/>
        <p:txBody>
          <a:bodyPr>
            <a:normAutofit fontScale="90000"/>
          </a:bodyPr>
          <a:lstStyle/>
          <a:p>
            <a:endParaRPr lang="zh-CN" altLang="en-US"/>
          </a:p>
        </p:txBody>
      </p:sp>
      <p:sp>
        <p:nvSpPr>
          <p:cNvPr id="4" name="文本框 3">
            <a:extLst>
              <a:ext uri="{FF2B5EF4-FFF2-40B4-BE49-F238E27FC236}">
                <a16:creationId xmlns:a16="http://schemas.microsoft.com/office/drawing/2014/main" id="{50386126-EFD8-4E23-B131-F37C019ED667}"/>
              </a:ext>
            </a:extLst>
          </p:cNvPr>
          <p:cNvSpPr txBox="1"/>
          <p:nvPr/>
        </p:nvSpPr>
        <p:spPr>
          <a:xfrm>
            <a:off x="539885" y="1238364"/>
            <a:ext cx="9888166" cy="646331"/>
          </a:xfrm>
          <a:prstGeom prst="rect">
            <a:avLst/>
          </a:prstGeom>
          <a:noFill/>
        </p:spPr>
        <p:txBody>
          <a:bodyPr wrap="square">
            <a:spAutoFit/>
          </a:bodyPr>
          <a:lstStyle/>
          <a:p>
            <a:pPr algn="l"/>
            <a:r>
              <a:rPr lang="zh-CN" altLang="en-US" b="0" i="0" dirty="0">
                <a:solidFill>
                  <a:srgbClr val="2F2F2F"/>
                </a:solidFill>
                <a:effectLst/>
                <a:latin typeface="lucida grande"/>
              </a:rPr>
              <a:t>用下面的代码，通过</a:t>
            </a:r>
            <a:r>
              <a:rPr lang="en-US" altLang="zh-CN" b="0" i="0" dirty="0" err="1">
                <a:solidFill>
                  <a:srgbClr val="2F2F2F"/>
                </a:solidFill>
                <a:effectLst/>
                <a:latin typeface="lucida grande"/>
              </a:rPr>
              <a:t>GridSearchCV</a:t>
            </a:r>
            <a:r>
              <a:rPr lang="zh-CN" altLang="en-US" b="0" i="0" dirty="0">
                <a:solidFill>
                  <a:srgbClr val="2F2F2F"/>
                </a:solidFill>
                <a:effectLst/>
                <a:latin typeface="lucida grande"/>
              </a:rPr>
              <a:t>进行网格搜索（参数遍历），同样可以得到上图，并能自动判定最好的参数。</a:t>
            </a:r>
          </a:p>
        </p:txBody>
      </p:sp>
      <p:pic>
        <p:nvPicPr>
          <p:cNvPr id="7" name="图片 6">
            <a:extLst>
              <a:ext uri="{FF2B5EF4-FFF2-40B4-BE49-F238E27FC236}">
                <a16:creationId xmlns:a16="http://schemas.microsoft.com/office/drawing/2014/main" id="{D2BE7077-BD31-4869-A2DD-6C00F4966C8D}"/>
              </a:ext>
            </a:extLst>
          </p:cNvPr>
          <p:cNvPicPr>
            <a:picLocks noChangeAspect="1"/>
          </p:cNvPicPr>
          <p:nvPr/>
        </p:nvPicPr>
        <p:blipFill>
          <a:blip r:embed="rId2"/>
          <a:stretch>
            <a:fillRect/>
          </a:stretch>
        </p:blipFill>
        <p:spPr>
          <a:xfrm>
            <a:off x="539885" y="1957387"/>
            <a:ext cx="8201025" cy="2943225"/>
          </a:xfrm>
          <a:prstGeom prst="rect">
            <a:avLst/>
          </a:prstGeom>
        </p:spPr>
      </p:pic>
      <p:sp>
        <p:nvSpPr>
          <p:cNvPr id="9" name="文本框 8">
            <a:extLst>
              <a:ext uri="{FF2B5EF4-FFF2-40B4-BE49-F238E27FC236}">
                <a16:creationId xmlns:a16="http://schemas.microsoft.com/office/drawing/2014/main" id="{695195C6-AAF4-4C3D-8DA3-5ACF58A1EF85}"/>
              </a:ext>
            </a:extLst>
          </p:cNvPr>
          <p:cNvSpPr txBox="1"/>
          <p:nvPr/>
        </p:nvSpPr>
        <p:spPr>
          <a:xfrm>
            <a:off x="669882" y="5434970"/>
            <a:ext cx="6099242" cy="369332"/>
          </a:xfrm>
          <a:prstGeom prst="rect">
            <a:avLst/>
          </a:prstGeom>
          <a:noFill/>
        </p:spPr>
        <p:txBody>
          <a:bodyPr wrap="square">
            <a:spAutoFit/>
          </a:bodyPr>
          <a:lstStyle/>
          <a:p>
            <a:r>
              <a:rPr lang="zh-CN" altLang="en-US" b="0" i="0" dirty="0">
                <a:solidFill>
                  <a:srgbClr val="2F2F2F"/>
                </a:solidFill>
                <a:effectLst/>
                <a:latin typeface="lucida grande"/>
              </a:rPr>
              <a:t>最好的</a:t>
            </a:r>
            <a:r>
              <a:rPr lang="en-US" altLang="zh-CN" b="0" i="0" dirty="0">
                <a:solidFill>
                  <a:srgbClr val="2F2F2F"/>
                </a:solidFill>
                <a:effectLst/>
                <a:latin typeface="lucida grande"/>
              </a:rPr>
              <a:t>k</a:t>
            </a:r>
            <a:r>
              <a:rPr lang="zh-CN" altLang="en-US" b="0" i="0" dirty="0">
                <a:solidFill>
                  <a:srgbClr val="2F2F2F"/>
                </a:solidFill>
                <a:effectLst/>
                <a:latin typeface="lucida grande"/>
              </a:rPr>
              <a:t>为</a:t>
            </a:r>
            <a:r>
              <a:rPr lang="en-US" altLang="zh-CN" b="0" i="0" dirty="0">
                <a:solidFill>
                  <a:srgbClr val="2F2F2F"/>
                </a:solidFill>
                <a:effectLst/>
                <a:latin typeface="lucida grande"/>
              </a:rPr>
              <a:t>12</a:t>
            </a:r>
            <a:r>
              <a:rPr lang="zh-CN" altLang="en-US" b="0" i="0" dirty="0">
                <a:solidFill>
                  <a:srgbClr val="2F2F2F"/>
                </a:solidFill>
                <a:effectLst/>
                <a:latin typeface="lucida grande"/>
              </a:rPr>
              <a:t>，准确率为</a:t>
            </a:r>
            <a:r>
              <a:rPr lang="en-US" altLang="zh-CN" b="0" i="0" dirty="0">
                <a:solidFill>
                  <a:srgbClr val="2F2F2F"/>
                </a:solidFill>
                <a:effectLst/>
                <a:latin typeface="lucida grande"/>
              </a:rPr>
              <a:t>96.6667%</a:t>
            </a:r>
            <a:endParaRPr lang="zh-CN" altLang="en-US" dirty="0"/>
          </a:p>
        </p:txBody>
      </p:sp>
      <p:pic>
        <p:nvPicPr>
          <p:cNvPr id="11" name="图片 10">
            <a:extLst>
              <a:ext uri="{FF2B5EF4-FFF2-40B4-BE49-F238E27FC236}">
                <a16:creationId xmlns:a16="http://schemas.microsoft.com/office/drawing/2014/main" id="{483A306A-874B-4C58-9AA8-E3A379F31A91}"/>
              </a:ext>
            </a:extLst>
          </p:cNvPr>
          <p:cNvPicPr>
            <a:picLocks noChangeAspect="1"/>
          </p:cNvPicPr>
          <p:nvPr/>
        </p:nvPicPr>
        <p:blipFill>
          <a:blip r:embed="rId3"/>
          <a:stretch>
            <a:fillRect/>
          </a:stretch>
        </p:blipFill>
        <p:spPr>
          <a:xfrm>
            <a:off x="4957864" y="3551309"/>
            <a:ext cx="4622156" cy="3219141"/>
          </a:xfrm>
          <a:prstGeom prst="rect">
            <a:avLst/>
          </a:prstGeom>
        </p:spPr>
      </p:pic>
    </p:spTree>
    <p:extLst>
      <p:ext uri="{BB962C8B-B14F-4D97-AF65-F5344CB8AC3E}">
        <p14:creationId xmlns:p14="http://schemas.microsoft.com/office/powerpoint/2010/main" val="2687782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C53677-120D-4270-A076-52F7E477AD30}"/>
              </a:ext>
            </a:extLst>
          </p:cNvPr>
          <p:cNvSpPr>
            <a:spLocks noGrp="1"/>
          </p:cNvSpPr>
          <p:nvPr>
            <p:ph type="title"/>
          </p:nvPr>
        </p:nvSpPr>
        <p:spPr/>
        <p:txBody>
          <a:bodyPr>
            <a:normAutofit fontScale="90000"/>
          </a:bodyPr>
          <a:lstStyle/>
          <a:p>
            <a:r>
              <a:rPr lang="zh-CN" altLang="en-US" b="1" i="0" dirty="0">
                <a:solidFill>
                  <a:schemeClr val="tx1"/>
                </a:solidFill>
                <a:effectLst/>
                <a:latin typeface="lucida grande"/>
              </a:rPr>
              <a:t>总结</a:t>
            </a:r>
            <a:endParaRPr lang="zh-CN" altLang="en-US" dirty="0">
              <a:solidFill>
                <a:schemeClr val="tx1"/>
              </a:solidFill>
            </a:endParaRPr>
          </a:p>
        </p:txBody>
      </p:sp>
      <p:sp>
        <p:nvSpPr>
          <p:cNvPr id="4" name="文本框 3">
            <a:extLst>
              <a:ext uri="{FF2B5EF4-FFF2-40B4-BE49-F238E27FC236}">
                <a16:creationId xmlns:a16="http://schemas.microsoft.com/office/drawing/2014/main" id="{B2D84EE3-743B-40E3-AE19-9F69EEC2D8B5}"/>
              </a:ext>
            </a:extLst>
          </p:cNvPr>
          <p:cNvSpPr txBox="1"/>
          <p:nvPr/>
        </p:nvSpPr>
        <p:spPr>
          <a:xfrm>
            <a:off x="296694" y="968780"/>
            <a:ext cx="9761706" cy="923330"/>
          </a:xfrm>
          <a:prstGeom prst="rect">
            <a:avLst/>
          </a:prstGeom>
          <a:noFill/>
        </p:spPr>
        <p:txBody>
          <a:bodyPr wrap="square">
            <a:spAutoFit/>
          </a:bodyPr>
          <a:lstStyle/>
          <a:p>
            <a:r>
              <a:rPr lang="zh-CN" altLang="en-US" b="0" i="0" dirty="0">
                <a:effectLst/>
                <a:latin typeface="lucida grande"/>
              </a:rPr>
              <a:t>如果数据之间线性关系比较明显的话，线性回归会优于</a:t>
            </a:r>
            <a:r>
              <a:rPr lang="en-US" altLang="zh-CN" b="0" i="0" dirty="0">
                <a:effectLst/>
                <a:latin typeface="lucida grande"/>
              </a:rPr>
              <a:t>KNN</a:t>
            </a:r>
            <a:r>
              <a:rPr lang="zh-CN" altLang="en-US" b="0" i="0" dirty="0">
                <a:effectLst/>
                <a:latin typeface="lucida grande"/>
              </a:rPr>
              <a:t>，如果数据之间线性关系不明显的话，</a:t>
            </a:r>
            <a:r>
              <a:rPr lang="en-US" altLang="zh-CN" b="0" i="0" dirty="0">
                <a:effectLst/>
                <a:latin typeface="lucida grande"/>
              </a:rPr>
              <a:t>KNN</a:t>
            </a:r>
            <a:r>
              <a:rPr lang="zh-CN" altLang="en-US" b="0" i="0" dirty="0">
                <a:effectLst/>
                <a:latin typeface="lucida grande"/>
              </a:rPr>
              <a:t>会比较好一些。但总得来说，这两个都是机器学习中最简单，最基础的模型。随着维度的上升，这两个模型，尤其是</a:t>
            </a:r>
            <a:r>
              <a:rPr lang="en-US" altLang="zh-CN" b="0" i="0" dirty="0">
                <a:effectLst/>
                <a:latin typeface="lucida grande"/>
              </a:rPr>
              <a:t>KNN</a:t>
            </a:r>
            <a:r>
              <a:rPr lang="zh-CN" altLang="en-US" b="0" i="0" dirty="0">
                <a:effectLst/>
                <a:latin typeface="lucida grande"/>
              </a:rPr>
              <a:t>会面临失效的问题，这就是所谓的维度灾难。</a:t>
            </a:r>
            <a:endParaRPr lang="zh-CN" altLang="en-US" dirty="0"/>
          </a:p>
        </p:txBody>
      </p:sp>
      <p:sp>
        <p:nvSpPr>
          <p:cNvPr id="6" name="文本框 5">
            <a:extLst>
              <a:ext uri="{FF2B5EF4-FFF2-40B4-BE49-F238E27FC236}">
                <a16:creationId xmlns:a16="http://schemas.microsoft.com/office/drawing/2014/main" id="{B0D5445F-8CF7-4FAC-8F63-8D14F8A07C9B}"/>
              </a:ext>
            </a:extLst>
          </p:cNvPr>
          <p:cNvSpPr txBox="1"/>
          <p:nvPr/>
        </p:nvSpPr>
        <p:spPr>
          <a:xfrm>
            <a:off x="296693" y="2518269"/>
            <a:ext cx="9917349" cy="2585323"/>
          </a:xfrm>
          <a:prstGeom prst="rect">
            <a:avLst/>
          </a:prstGeom>
          <a:noFill/>
        </p:spPr>
        <p:txBody>
          <a:bodyPr wrap="square">
            <a:spAutoFit/>
          </a:bodyPr>
          <a:lstStyle/>
          <a:p>
            <a:pPr algn="l">
              <a:buFont typeface="Arial" panose="020B0604020202020204" pitchFamily="34" charset="0"/>
              <a:buChar char="•"/>
            </a:pPr>
            <a:r>
              <a:rPr lang="zh-CN" altLang="en-US" b="0" i="0" dirty="0">
                <a:solidFill>
                  <a:srgbClr val="2F2F2F"/>
                </a:solidFill>
                <a:effectLst/>
                <a:latin typeface="lucida grande"/>
              </a:rPr>
              <a:t>当自变量维度在</a:t>
            </a:r>
            <a:r>
              <a:rPr lang="en-US" altLang="zh-CN" b="0" i="0" dirty="0">
                <a:solidFill>
                  <a:srgbClr val="2F2F2F"/>
                </a:solidFill>
                <a:effectLst/>
                <a:latin typeface="lucida grande"/>
              </a:rPr>
              <a:t>1-3</a:t>
            </a:r>
            <a:r>
              <a:rPr lang="zh-CN" altLang="en-US" b="0" i="0" dirty="0">
                <a:solidFill>
                  <a:srgbClr val="2F2F2F"/>
                </a:solidFill>
                <a:effectLst/>
                <a:latin typeface="lucida grande"/>
              </a:rPr>
              <a:t>时，选择</a:t>
            </a:r>
            <a:r>
              <a:rPr lang="en-US" altLang="zh-CN" b="0" i="0" dirty="0">
                <a:solidFill>
                  <a:srgbClr val="2F2F2F"/>
                </a:solidFill>
                <a:effectLst/>
                <a:latin typeface="lucida grande"/>
              </a:rPr>
              <a:t>KNN</a:t>
            </a:r>
            <a:r>
              <a:rPr lang="zh-CN" altLang="en-US" b="0" i="0" dirty="0">
                <a:solidFill>
                  <a:srgbClr val="2F2F2F"/>
                </a:solidFill>
                <a:effectLst/>
                <a:latin typeface="lucida grande"/>
              </a:rPr>
              <a:t>方法能够显著减少误差，当维度为</a:t>
            </a:r>
            <a:r>
              <a:rPr lang="en-US" altLang="zh-CN" b="0" i="0" dirty="0">
                <a:solidFill>
                  <a:srgbClr val="2F2F2F"/>
                </a:solidFill>
                <a:effectLst/>
                <a:latin typeface="lucida grande"/>
              </a:rPr>
              <a:t>1</a:t>
            </a:r>
            <a:r>
              <a:rPr lang="zh-CN" altLang="en-US" b="0" i="0" dirty="0">
                <a:solidFill>
                  <a:srgbClr val="2F2F2F"/>
                </a:solidFill>
                <a:effectLst/>
                <a:latin typeface="lucida grande"/>
              </a:rPr>
              <a:t>时，</a:t>
            </a:r>
            <a:r>
              <a:rPr lang="en-US" altLang="zh-CN" b="0" i="0" dirty="0">
                <a:solidFill>
                  <a:srgbClr val="2F2F2F"/>
                </a:solidFill>
                <a:effectLst/>
                <a:latin typeface="lucida grande"/>
              </a:rPr>
              <a:t>KNN</a:t>
            </a:r>
            <a:r>
              <a:rPr lang="zh-CN" altLang="en-US" b="0" i="0" dirty="0">
                <a:solidFill>
                  <a:srgbClr val="2F2F2F"/>
                </a:solidFill>
                <a:effectLst/>
                <a:latin typeface="lucida grande"/>
              </a:rPr>
              <a:t>方法能够提供比线性回归更多的信息来进行回归，但随着变量逐渐增多，</a:t>
            </a:r>
            <a:r>
              <a:rPr lang="en-US" altLang="zh-CN" b="0" i="0" dirty="0">
                <a:solidFill>
                  <a:srgbClr val="2F2F2F"/>
                </a:solidFill>
                <a:effectLst/>
                <a:latin typeface="lucida grande"/>
              </a:rPr>
              <a:t>K</a:t>
            </a:r>
            <a:r>
              <a:rPr lang="zh-CN" altLang="en-US" b="0" i="0" dirty="0">
                <a:solidFill>
                  <a:srgbClr val="2F2F2F"/>
                </a:solidFill>
                <a:effectLst/>
                <a:latin typeface="lucida grande"/>
              </a:rPr>
              <a:t>个最近的观测值对应的因变量的均值可能会成倍的距离偏离实际的因变量的值，因此当变量多的时候，</a:t>
            </a:r>
            <a:r>
              <a:rPr lang="en-US" altLang="zh-CN" b="0" i="0" dirty="0">
                <a:solidFill>
                  <a:srgbClr val="2F2F2F"/>
                </a:solidFill>
                <a:effectLst/>
                <a:latin typeface="lucida grande"/>
              </a:rPr>
              <a:t>KNN</a:t>
            </a:r>
            <a:r>
              <a:rPr lang="zh-CN" altLang="en-US" b="0" i="0" dirty="0">
                <a:solidFill>
                  <a:srgbClr val="2F2F2F"/>
                </a:solidFill>
                <a:effectLst/>
                <a:latin typeface="lucida grande"/>
              </a:rPr>
              <a:t>效果就会逐渐降低。</a:t>
            </a:r>
            <a:endParaRPr lang="en-US" altLang="zh-CN" b="0" i="0" dirty="0">
              <a:solidFill>
                <a:srgbClr val="2F2F2F"/>
              </a:solidFill>
              <a:effectLst/>
              <a:latin typeface="lucida grande"/>
            </a:endParaRPr>
          </a:p>
          <a:p>
            <a:pPr algn="l">
              <a:buFont typeface="Arial" panose="020B0604020202020204" pitchFamily="34" charset="0"/>
              <a:buChar char="•"/>
            </a:pPr>
            <a:endParaRPr lang="zh-CN" altLang="en-US" b="0" i="0" dirty="0">
              <a:solidFill>
                <a:srgbClr val="2F2F2F"/>
              </a:solidFill>
              <a:effectLst/>
              <a:latin typeface="lucida grande"/>
            </a:endParaRPr>
          </a:p>
          <a:p>
            <a:pPr algn="l">
              <a:buFont typeface="Arial" panose="020B0604020202020204" pitchFamily="34" charset="0"/>
              <a:buChar char="•"/>
            </a:pPr>
            <a:r>
              <a:rPr lang="zh-CN" altLang="en-US" b="0" i="0" dirty="0">
                <a:solidFill>
                  <a:srgbClr val="2F2F2F"/>
                </a:solidFill>
                <a:effectLst/>
                <a:latin typeface="lucida grande"/>
              </a:rPr>
              <a:t>使用线性回归时，一般不受到变量个数的影响，因此变量多少，对残差的影响并不是很大。当预测变量或是自变量多于</a:t>
            </a:r>
            <a:r>
              <a:rPr lang="en-US" altLang="zh-CN" b="0" i="0" dirty="0">
                <a:solidFill>
                  <a:srgbClr val="2F2F2F"/>
                </a:solidFill>
                <a:effectLst/>
                <a:latin typeface="lucida grande"/>
              </a:rPr>
              <a:t>3</a:t>
            </a:r>
            <a:r>
              <a:rPr lang="zh-CN" altLang="en-US" b="0" i="0" dirty="0">
                <a:solidFill>
                  <a:srgbClr val="2F2F2F"/>
                </a:solidFill>
                <a:effectLst/>
                <a:latin typeface="lucida grande"/>
              </a:rPr>
              <a:t>或</a:t>
            </a:r>
            <a:r>
              <a:rPr lang="en-US" altLang="zh-CN" b="0" i="0" dirty="0">
                <a:solidFill>
                  <a:srgbClr val="2F2F2F"/>
                </a:solidFill>
                <a:effectLst/>
                <a:latin typeface="lucida grande"/>
              </a:rPr>
              <a:t>4</a:t>
            </a:r>
            <a:r>
              <a:rPr lang="zh-CN" altLang="en-US" b="0" i="0" dirty="0">
                <a:solidFill>
                  <a:srgbClr val="2F2F2F"/>
                </a:solidFill>
                <a:effectLst/>
                <a:latin typeface="lucida grande"/>
              </a:rPr>
              <a:t>时，尽量选择线性回归作为回归效果可能会更好些。线性回归不能拟合非线性数据。</a:t>
            </a:r>
            <a:endParaRPr lang="en-US" altLang="zh-CN" b="0" i="0" dirty="0">
              <a:solidFill>
                <a:srgbClr val="2F2F2F"/>
              </a:solidFill>
              <a:effectLst/>
              <a:latin typeface="lucida grande"/>
            </a:endParaRPr>
          </a:p>
          <a:p>
            <a:pPr algn="l">
              <a:buFont typeface="Arial" panose="020B0604020202020204" pitchFamily="34" charset="0"/>
              <a:buChar char="•"/>
            </a:pPr>
            <a:endParaRPr lang="zh-CN" altLang="en-US" b="0" i="0" dirty="0">
              <a:solidFill>
                <a:srgbClr val="2F2F2F"/>
              </a:solidFill>
              <a:effectLst/>
              <a:latin typeface="lucida grande"/>
            </a:endParaRPr>
          </a:p>
          <a:p>
            <a:pPr algn="l">
              <a:buFont typeface="Arial" panose="020B0604020202020204" pitchFamily="34" charset="0"/>
              <a:buChar char="•"/>
            </a:pPr>
            <a:r>
              <a:rPr lang="en-US" altLang="zh-CN" b="0" i="0" dirty="0">
                <a:solidFill>
                  <a:srgbClr val="2F2F2F"/>
                </a:solidFill>
                <a:effectLst/>
                <a:latin typeface="lucida grande"/>
              </a:rPr>
              <a:t>KNN</a:t>
            </a:r>
            <a:r>
              <a:rPr lang="zh-CN" altLang="en-US" b="0" i="0" dirty="0">
                <a:solidFill>
                  <a:srgbClr val="2F2F2F"/>
                </a:solidFill>
                <a:effectLst/>
                <a:latin typeface="lucida grande"/>
              </a:rPr>
              <a:t>计算量大，大量的数据分析对设备性能要求高。</a:t>
            </a:r>
          </a:p>
        </p:txBody>
      </p:sp>
    </p:spTree>
    <p:extLst>
      <p:ext uri="{BB962C8B-B14F-4D97-AF65-F5344CB8AC3E}">
        <p14:creationId xmlns:p14="http://schemas.microsoft.com/office/powerpoint/2010/main" val="3853973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2"/>
            </p:custDataLst>
          </p:nvPr>
        </p:nvSpPr>
        <p:spPr/>
        <p:txBody>
          <a:bodyPr/>
          <a:lstStyle/>
          <a:p>
            <a:r>
              <a:rPr lang="en-US" altLang="zh-CN" dirty="0"/>
              <a:t>THANKS</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884"/>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88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3884"/>
  <p:tag name="KSO_WM_TEMPLATE_MASTER_THUMB_INDEX" val="12"/>
  <p:tag name="KSO_WM_TEMPLATE_THUMBS_INDEX" val="1、4、7、8、11、14、15、16、17、18、19、20、21、22、23、24、25、26"/>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_1*y*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4"/>
  <p:tag name="KSO_WM_UNIT_ID" val="_1*y*4"/>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2"/>
  <p:tag name="KSO_WM_UNIT_ID" val="_1*y*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3"/>
  <p:tag name="KSO_WM_UNIT_ID" val="_1*y*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TYPE" val="i"/>
  <p:tag name="KSO_WM_UNIT_INDEX"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5"/>
  <p:tag name="KSO_WM_UNIT_LAYERLEVEL" val="1"/>
  <p:tag name="KSO_WM_TAG_VERSION" val="1.0"/>
  <p:tag name="KSO_WM_BEAUTIFY_FLAG" val="#wm#"/>
  <p:tag name="KSO_WM_UNIT_TYPE" val="i"/>
  <p:tag name="KSO_WM_UNIT_INDEX" val="5"/>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2"/>
  <p:tag name="KSO_WM_UNIT_LAYERLEVEL" val="1"/>
  <p:tag name="KSO_WM_TAG_VERSION" val="1.0"/>
  <p:tag name="KSO_WM_BEAUTIFY_FLAG" val="#wm#"/>
  <p:tag name="KSO_WM_UNIT_TYPE" val="i"/>
  <p:tag name="KSO_WM_UNIT_INDEX" val="2"/>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3"/>
  <p:tag name="KSO_WM_UNIT_LAYERLEVEL" val="1"/>
  <p:tag name="KSO_WM_TAG_VERSION" val="1.0"/>
  <p:tag name="KSO_WM_BEAUTIFY_FLAG" val="#wm#"/>
  <p:tag name="KSO_WM_UNIT_TYPE" val="i"/>
  <p:tag name="KSO_WM_UNIT_INDEX" val="3"/>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4"/>
  <p:tag name="KSO_WM_UNIT_LAYERLEVEL" val="1"/>
  <p:tag name="KSO_WM_TAG_VERSION" val="1.0"/>
  <p:tag name="KSO_WM_BEAUTIFY_FLAG" val="#wm#"/>
  <p:tag name="KSO_WM_UNIT_TYPE" val="i"/>
  <p:tag name="KSO_WM_UNIT_INDEX" val="4"/>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2*i*3"/>
  <p:tag name="KSO_WM_UNIT_LAYERLEVEL" val="1"/>
  <p:tag name="KSO_WM_TAG_VERSION" val="1.0"/>
  <p:tag name="KSO_WM_BEAUTIFY_FLAG" val="#wm#"/>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2*i*4"/>
  <p:tag name="KSO_WM_UNIT_LAYERLEVEL" val="1"/>
  <p:tag name="KSO_WM_TAG_VERSION" val="1.0"/>
  <p:tag name="KSO_WM_BEAUTIFY_FLAG" val="#wm#"/>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3*i*2"/>
  <p:tag name="KSO_WM_UNIT_LAYERLEVEL" val="1"/>
  <p:tag name="KSO_WM_TAG_VERSION" val="1.0"/>
  <p:tag name="KSO_WM_BEAUTIFY_FLAG" val="#wm#"/>
  <p:tag name="KSO_WM_SLIDE_BACKGROUND_TYPE" val="frame"/>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3*i*4"/>
  <p:tag name="KSO_WM_UNIT_LAYERLEVEL" val="1"/>
  <p:tag name="KSO_WM_TAG_VERSION" val="1.0"/>
  <p:tag name="KSO_WM_BEAUTIFY_FLAG" val="#wm#"/>
  <p:tag name="KSO_WM_SLIDE_BACKGROUND_TYPE" val="frame"/>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3*i*4"/>
  <p:tag name="KSO_WM_UNIT_LAYERLEVEL" val="1"/>
  <p:tag name="KSO_WM_TAG_VERSION" val="1.0"/>
  <p:tag name="KSO_WM_BEAUTIFY_FLAG" val="#wm#"/>
  <p:tag name="KSO_WM_SLIDE_BACKGROUND_TYPE" val="frame"/>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4*i*5"/>
  <p:tag name="KSO_WM_UNIT_LAYERLEVEL" val="1"/>
  <p:tag name="KSO_WM_TAG_VERSION" val="1.0"/>
  <p:tag name="KSO_WM_BEAUTIFY_FLAG" val="#wm#"/>
  <p:tag name="KSO_WM_SLIDE_BACKGROUND_TYPE" val="leftRight"/>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UNIT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4*i*2"/>
  <p:tag name="KSO_WM_UNIT_LAYERLEVEL" val="1"/>
  <p:tag name="KSO_WM_TAG_VERSION" val="1.0"/>
  <p:tag name="KSO_WM_BEAUTIFY_FLAG" val="#wm#"/>
  <p:tag name="KSO_WM_SLIDE_BACKGROUND_TYPE" val="leftRight"/>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4*i*3"/>
  <p:tag name="KSO_WM_UNIT_LAYERLEVEL" val="1"/>
  <p:tag name="KSO_WM_TAG_VERSION" val="1.0"/>
  <p:tag name="KSO_WM_BEAUTIFY_FLAG" val="#wm#"/>
  <p:tag name="KSO_WM_SLIDE_BACKGROUND_TYPE" val="leftRight"/>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5*i*2"/>
  <p:tag name="KSO_WM_UNIT_LAYERLEVEL" val="1"/>
  <p:tag name="KSO_WM_TAG_VERSION" val="1.0"/>
  <p:tag name="KSO_WM_BEAUTIFY_FLAG" val="#wm#"/>
  <p:tag name="KSO_WM_SLIDE_BACKGROUND_TYPE" val="topBotto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5*i*3"/>
  <p:tag name="KSO_WM_UNIT_LAYERLEVEL" val="1"/>
  <p:tag name="KSO_WM_TAG_VERSION" val="1.0"/>
  <p:tag name="KSO_WM_BEAUTIFY_FLAG" val="#wm#"/>
  <p:tag name="KSO_WM_SLIDE_BACKGROUND_TYPE" val="topBotto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5*i*4"/>
  <p:tag name="KSO_WM_UNIT_LAYERLEVEL" val="1"/>
  <p:tag name="KSO_WM_TAG_VERSION" val="1.0"/>
  <p:tag name="KSO_WM_BEAUTIFY_FLAG" val="#wm#"/>
  <p:tag name="KSO_WM_SLIDE_BACKGROUND_TYPE" val="topBotto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UNIT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6*i*4"/>
  <p:tag name="KSO_WM_UNIT_LAYERLEVEL" val="1"/>
  <p:tag name="KSO_WM_TAG_VERSION" val="1.0"/>
  <p:tag name="KSO_WM_BEAUTIFY_FLAG" val="#wm#"/>
  <p:tag name="KSO_WM_SLIDE_BACKGROUND_TYPE" val="bottomTop"/>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UNIT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 name="KSO_WM_SLIDE_BACKGROUND_TYPE" val="bottomTop"/>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 name="KSO_WM_SLIDE_BACKGROUND_TYPE" val="bottomTop"/>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 name="KSO_WM_SLIDE_BACKGROUND_TYPE" val="navigation"/>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 name="KSO_WM_SLIDE_BACKGROUND_TYPE" val="navigation"/>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7*i*4"/>
  <p:tag name="KSO_WM_UNIT_LAYERLEVEL" val="1"/>
  <p:tag name="KSO_WM_TAG_VERSION" val="1.0"/>
  <p:tag name="KSO_WM_BEAUTIFY_FLAG" val="#wm#"/>
  <p:tag name="KSO_WM_SLIDE_BACKGROUND_TYPE" val="navigation"/>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UNIT_BK_DARK_LIGHT" val="2"/>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59.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60.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8*i*1"/>
  <p:tag name="KSO_WM_UNIT_LAYERLEVEL" val="1"/>
  <p:tag name="KSO_WM_TAG_VERSION" val="1.0"/>
  <p:tag name="KSO_WM_BEAUTIFY_FLAG" val="#wm#"/>
  <p:tag name="KSO_WM_SLIDE_BACKGROUND_TYPE" val="belt"/>
  <p:tag name="KSO_WM_SLIDE_BK_DARK_LIGHT" val="2"/>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8*i*2"/>
  <p:tag name="KSO_WM_UNIT_LAYERLEVEL" val="1"/>
  <p:tag name="KSO_WM_TAG_VERSION" val="1.0"/>
  <p:tag name="KSO_WM_BEAUTIFY_FLAG" val="#wm#"/>
  <p:tag name="KSO_WM_SLIDE_BACKGROUND_TYPE" val="belt"/>
  <p:tag name="KSO_WM_SLIDE_BK_DARK_LIGHT" val="2"/>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8*i*1"/>
  <p:tag name="KSO_WM_UNIT_LAYERLEVEL" val="1"/>
  <p:tag name="KSO_WM_TAG_VERSION" val="1.0"/>
  <p:tag name="KSO_WM_BEAUTIFY_FLAG" val="#wm#"/>
  <p:tag name="KSO_WM_SLIDE_BACKGROUND_TYPE" val="belt"/>
  <p:tag name="KSO_WM_SLIDE_BK_DARK_LIGHT" val="2"/>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8*i*2"/>
  <p:tag name="KSO_WM_UNIT_LAYERLEVEL" val="1"/>
  <p:tag name="KSO_WM_TAG_VERSION" val="1.0"/>
  <p:tag name="KSO_WM_BEAUTIFY_FLAG" val="#wm#"/>
  <p:tag name="KSO_WM_SLIDE_BACKGROUND_TYPE" val="belt"/>
  <p:tag name="KSO_WM_SLIDE_BK_DARK_LIGHT" val="2"/>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03884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3884"/>
  <p:tag name="KSO_WM_SLIDE_LAYOUT" val="a_b"/>
  <p:tag name="KSO_WM_SLIDE_LAYOUT_CNT" val="1_3"/>
  <p:tag name="KSO_WM_TEMPLATE_THUMBS_INDEX" val="1、4、7、8、11、14、15、16、17、18、19、20、21、22、23、24、25、26"/>
  <p:tag name="KSO_WM_TEMPLATE_MASTER_THUMB_INDEX" val="12"/>
  <p:tag name="KSO_WM_SLIDE_MODEL_TYPE" val="cover"/>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3884_1*a*1"/>
  <p:tag name="KSO_WM_TEMPLATE_CATEGORY" val="custom"/>
  <p:tag name="KSO_WM_TEMPLATE_INDEX" val="20203884"/>
  <p:tag name="KSO_WM_UNIT_LAYERLEVEL" val="1"/>
  <p:tag name="KSO_WM_TAG_VERSION" val="1.0"/>
  <p:tag name="KSO_WM_BEAUTIFY_FLAG" val="#wm#"/>
  <p:tag name="KSO_WM_UNIT_PRESET_TEXT" val="简约工作汇报模板"/>
  <p:tag name="KSO_WM_UNIT_ISNUMDGMTITLE" val="0"/>
</p:tagLst>
</file>

<file path=ppt/tags/tag1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汇报人姓名"/>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2"/>
  <p:tag name="KSO_WM_UNIT_ID" val="custom20203884_1*b*2"/>
  <p:tag name="KSO_WM_TEMPLATE_CATEGORY" val="custom"/>
  <p:tag name="KSO_WM_TEMPLATE_INDEX" val="20203884"/>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03884_4"/>
  <p:tag name="KSO_WM_TEMPLATE_SUBCATEGORY" val="0"/>
  <p:tag name="KSO_WM_TEMPLATE_MASTER_TYPE" val="1"/>
  <p:tag name="KSO_WM_TEMPLATE_COLOR_TYPE" val="1"/>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3884"/>
  <p:tag name="KSO_WM_SLIDE_LAYOUT" val="a_l"/>
  <p:tag name="KSO_WM_SLIDE_LAYOUT_CNT" val="1_1"/>
  <p:tag name="KSO_WM_SLIDE_TYPE" val="contents"/>
  <p:tag name="KSO_WM_SLIDE_SUBTYPE" val="diag"/>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1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1_1"/>
  <p:tag name="KSO_WM_UNIT_TEXT_FILL_FORE_SCHEMECOLOR_INDEX" val="5"/>
  <p:tag name="KSO_WM_UNIT_TEXT_FILL_TYPE" val="1"/>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1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1_1"/>
  <p:tag name="KSO_WM_UNIT_PRESET_TEXT" val="单击此处添加标题"/>
  <p:tag name="KSO_WM_UNIT_TEXT_FILL_FORE_SCHEMECOLOR_INDEX" val="13"/>
  <p:tag name="KSO_WM_UNIT_TEXT_FILL_TYPE" val="1"/>
  <p:tag name="KSO_WM_UNIT_USESOURCEFORMAT_APPLY" val="1"/>
  <p:tag name="KSO_WM_UNIT_ISNUMDGMTITLE" val="0"/>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3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3_1"/>
  <p:tag name="KSO_WM_UNIT_TEXT_FILL_FORE_SCHEMECOLOR_INDEX" val="5"/>
  <p:tag name="KSO_WM_UNIT_TEXT_FILL_TYPE" val="1"/>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3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3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2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2_1"/>
  <p:tag name="KSO_WM_UNIT_TEXT_FILL_FORE_SCHEMECOLOR_INDEX" val="5"/>
  <p:tag name="KSO_WM_UNIT_TEXT_FILL_TYPE" val="1"/>
  <p:tag name="KSO_WM_UNIT_USESOURCEFORMAT_APPLY" val="1"/>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2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2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4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4_1"/>
  <p:tag name="KSO_WM_UNIT_TEXT_FILL_FORE_SCHEMECOLOR_INDEX" val="5"/>
  <p:tag name="KSO_WM_UNIT_TEXT_FILL_TYPE" val="1"/>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4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4_1"/>
  <p:tag name="KSO_WM_UNIT_PRESET_TEXT" val="单击此处添加标题"/>
  <p:tag name="KSO_WM_UNIT_TEXT_FILL_FORE_SCHEMECOLOR_INDEX" val="13"/>
  <p:tag name="KSO_WM_UNIT_TEXT_FILL_TYPE" val="1"/>
  <p:tag name="KSO_WM_UNIT_USESOURCEFORMAT_APPLY" val="1"/>
  <p:tag name="KSO_WM_UNIT_ISNUMDGMTITLE" val="0"/>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a*1"/>
  <p:tag name="KSO_WM_TEMPLATE_CATEGORY" val="custom"/>
  <p:tag name="KSO_WM_TEMPLATE_INDEX" val="20203884"/>
  <p:tag name="KSO_WM_UNIT_LAYERLEVEL" val="1"/>
  <p:tag name="KSO_WM_TAG_VERSION" val="1.0"/>
  <p:tag name="KSO_WM_BEAUTIFY_FLAG" val="#wm#"/>
  <p:tag name="KSO_WM_UNIT_ISCONTENTSTITLE" val="1"/>
  <p:tag name="KSO_WM_UNIT_PRESET_TEXT" val="CONTENTS"/>
  <p:tag name="KSO_WM_UNIT_NOCLEAR" val="0"/>
  <p:tag name="KSO_WM_UNIT_VALUE" val="7"/>
  <p:tag name="KSO_WM_DIAGRAM_GROUP_CODE" val="l1-1"/>
  <p:tag name="KSO_WM_UNIT_TYPE" val="a"/>
  <p:tag name="KSO_WM_UNIT_INDEX" val="1"/>
  <p:tag name="KSO_WM_UNIT_TEXT_FILL_FORE_SCHEMECOLOR_INDEX" val="13"/>
  <p:tag name="KSO_WM_UNIT_TEXT_FILL_TYPE" val="1"/>
  <p:tag name="KSO_WM_UNIT_USESOURCEFORMAT_APPLY" val="1"/>
  <p:tag name="KSO_WM_UNIT_ISNUMDGMTITLE" val="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03884_26"/>
  <p:tag name="KSO_WM_TEMPLATE_SUBCATEGORY" val="0"/>
  <p:tag name="KSO_WM_TEMPLATE_MASTER_TYPE" val="1"/>
  <p:tag name="KSO_WM_TEMPLATE_COLOR_TYPE" val="1"/>
  <p:tag name="KSO_WM_SLIDE_ITEM_CNT" val="0"/>
  <p:tag name="KSO_WM_SLIDE_INDEX" val="26"/>
  <p:tag name="KSO_WM_TAG_VERSION" val="1.0"/>
  <p:tag name="KSO_WM_BEAUTIFY_FLAG" val="#wm#"/>
  <p:tag name="KSO_WM_TEMPLATE_CATEGORY" val="custom"/>
  <p:tag name="KSO_WM_TEMPLATE_INDEX" val="20203884"/>
  <p:tag name="KSO_WM_SLIDE_TYPE" val="endPage"/>
  <p:tag name="KSO_WM_SLIDE_SUBTYPE" val="pureTxt"/>
  <p:tag name="KSO_WM_SLIDE_LAYOUT" val="a"/>
  <p:tag name="KSO_WM_SLIDE_LAYOUT_CNT" val="1"/>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26*a*1"/>
  <p:tag name="KSO_WM_TEMPLATE_CATEGORY" val="custom"/>
  <p:tag name="KSO_WM_TEMPLATE_INDEX" val="20203884"/>
  <p:tag name="KSO_WM_UNIT_LAYERLEVEL" val="1"/>
  <p:tag name="KSO_WM_TAG_VERSION" val="1.0"/>
  <p:tag name="KSO_WM_BEAUTIFY_FLAG" val="#wm#"/>
  <p:tag name="KSO_WM_UNIT_ISCONTENTSTITLE" val="0"/>
  <p:tag name="KSO_WM_UNIT_NOCLEAR" val="1"/>
  <p:tag name="KSO_WM_UNIT_VALUE" val="5"/>
  <p:tag name="KSO_WM_UNIT_TYPE" val="a"/>
  <p:tag name="KSO_WM_UNIT_INDEX" val="1"/>
  <p:tag name="KSO_WM_UNIT_PRESET_TEXT" val="THANKS"/>
  <p:tag name="KSO_WM_UNIT_ISNUMDGMTITLE" val="0"/>
</p:tagLst>
</file>

<file path=ppt/theme/theme1.xml><?xml version="1.0" encoding="utf-8"?>
<a:theme xmlns:a="http://schemas.openxmlformats.org/drawingml/2006/main" name="Office 主题​​">
  <a:themeElements>
    <a:clrScheme name="自定义 5">
      <a:dk1>
        <a:sysClr val="windowText" lastClr="000000"/>
      </a:dk1>
      <a:lt1>
        <a:sysClr val="window" lastClr="FFFFFF"/>
      </a:lt1>
      <a:dk2>
        <a:srgbClr val="002842"/>
      </a:dk2>
      <a:lt2>
        <a:srgbClr val="FFFFFF"/>
      </a:lt2>
      <a:accent1>
        <a:srgbClr val="5195A5"/>
      </a:accent1>
      <a:accent2>
        <a:srgbClr val="8CA26C"/>
      </a:accent2>
      <a:accent3>
        <a:srgbClr val="C5B331"/>
      </a:accent3>
      <a:accent4>
        <a:srgbClr val="E1A215"/>
      </a:accent4>
      <a:accent5>
        <a:srgbClr val="E87A20"/>
      </a:accent5>
      <a:accent6>
        <a:srgbClr val="DD431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2869</Words>
  <Application>Microsoft Office PowerPoint</Application>
  <PresentationFormat>宽屏</PresentationFormat>
  <Paragraphs>198</Paragraphs>
  <Slides>32</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32</vt:i4>
      </vt:variant>
    </vt:vector>
  </HeadingPairs>
  <TitlesOfParts>
    <vt:vector size="45" baseType="lpstr">
      <vt:lpstr>-apple-system</vt:lpstr>
      <vt:lpstr>Arial Unicode MS</vt:lpstr>
      <vt:lpstr>Helvetica Neue</vt:lpstr>
      <vt:lpstr>inherit</vt:lpstr>
      <vt:lpstr>Lato</vt:lpstr>
      <vt:lpstr>lucida grande</vt:lpstr>
      <vt:lpstr>Source Code Pro</vt:lpstr>
      <vt:lpstr>微软雅黑</vt:lpstr>
      <vt:lpstr>Arial</vt:lpstr>
      <vt:lpstr>Arial</vt:lpstr>
      <vt:lpstr>Calibri</vt:lpstr>
      <vt:lpstr>Open Sans</vt:lpstr>
      <vt:lpstr>Office 主题​​</vt:lpstr>
      <vt:lpstr>K-近邻域算法</vt:lpstr>
      <vt:lpstr>PowerPoint 演示文稿</vt:lpstr>
      <vt:lpstr> 近邻法（k-Nearest Neighbor:kNN）</vt:lpstr>
      <vt:lpstr>KNN（K-Nearest Neighbors）K-近邻算法</vt:lpstr>
      <vt:lpstr>PowerPoint 演示文稿</vt:lpstr>
      <vt:lpstr>PowerPoint 演示文稿</vt:lpstr>
      <vt:lpstr>k 值选择 </vt:lpstr>
      <vt:lpstr>PowerPoint 演示文稿</vt:lpstr>
      <vt:lpstr>PowerPoint 演示文稿</vt:lpstr>
      <vt:lpstr>PowerPoint 演示文稿</vt:lpstr>
      <vt:lpstr>距离度量 </vt:lpstr>
      <vt:lpstr>特征归一化的必要性</vt:lpstr>
      <vt:lpstr>PowerPoint 演示文稿</vt:lpstr>
      <vt:lpstr>决策规则  </vt:lpstr>
      <vt:lpstr>回归决策规则 </vt:lpstr>
      <vt:lpstr>KNN算法步骤</vt:lpstr>
      <vt:lpstr>KNN算法优缺点 </vt:lpstr>
      <vt:lpstr>KNN分类实战 </vt:lpstr>
      <vt:lpstr>2）准备数据 </vt:lpstr>
      <vt:lpstr>3）建立模型和拟合 </vt:lpstr>
      <vt:lpstr>4）画分类图 </vt:lpstr>
      <vt:lpstr>PowerPoint 演示文稿</vt:lpstr>
      <vt:lpstr>5）预测分类 </vt:lpstr>
      <vt:lpstr>二、回归</vt:lpstr>
      <vt:lpstr>回归实战 </vt:lpstr>
      <vt:lpstr>2）建立模型和拟合  </vt:lpstr>
      <vt:lpstr>3）画拟合图 </vt:lpstr>
      <vt:lpstr>4）与线性回归对比 </vt:lpstr>
      <vt:lpstr>5）调参 </vt:lpstr>
      <vt:lpstr>PowerPoint 演示文稿</vt:lpstr>
      <vt:lpstr>总结</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课程介绍</dc:title>
  <dc:creator>邵欣怡</dc:creator>
  <cp:lastModifiedBy>LIU HAIBIN</cp:lastModifiedBy>
  <cp:revision>16</cp:revision>
  <dcterms:created xsi:type="dcterms:W3CDTF">2021-03-01T12:12:00Z</dcterms:created>
  <dcterms:modified xsi:type="dcterms:W3CDTF">2021-04-05T08:59:27Z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2052-11.1.0.9192</vt:lpwstr>
  </property>
</Properties>
</file>