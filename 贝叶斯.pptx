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heme/theme2.xml" ContentType="application/vnd.openxmlformats-officedocument.theme+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notesSlides/notesSlide1.xml" ContentType="application/vnd.openxmlformats-officedocument.presentationml.notesSlide+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7" r:id="rId2"/>
    <p:sldId id="259" r:id="rId3"/>
    <p:sldId id="263" r:id="rId4"/>
    <p:sldId id="308" r:id="rId5"/>
    <p:sldId id="293" r:id="rId6"/>
    <p:sldId id="315" r:id="rId7"/>
    <p:sldId id="316" r:id="rId8"/>
    <p:sldId id="317" r:id="rId9"/>
    <p:sldId id="318" r:id="rId10"/>
    <p:sldId id="319" r:id="rId11"/>
    <p:sldId id="320" r:id="rId12"/>
    <p:sldId id="321" r:id="rId13"/>
    <p:sldId id="323" r:id="rId14"/>
    <p:sldId id="322" r:id="rId15"/>
    <p:sldId id="324" r:id="rId16"/>
    <p:sldId id="325" r:id="rId17"/>
    <p:sldId id="326" r:id="rId18"/>
    <p:sldId id="327" r:id="rId19"/>
    <p:sldId id="328" r:id="rId20"/>
    <p:sldId id="329" r:id="rId21"/>
    <p:sldId id="330" r:id="rId22"/>
    <p:sldId id="331" r:id="rId23"/>
    <p:sldId id="332" r:id="rId24"/>
    <p:sldId id="333" r:id="rId25"/>
    <p:sldId id="334" r:id="rId26"/>
    <p:sldId id="335" r:id="rId27"/>
    <p:sldId id="336" r:id="rId28"/>
    <p:sldId id="337" r:id="rId29"/>
    <p:sldId id="338" r:id="rId30"/>
    <p:sldId id="260"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6" d="100"/>
          <a:sy n="86" d="100"/>
        </p:scale>
        <p:origin x="36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2021/5/26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tags" Target="../tags/tag19.xml"/><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tags" Target="../tags/tag18.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5" Type="http://schemas.openxmlformats.org/officeDocument/2006/relationships/tags" Target="../tags/tag11.xml"/><Relationship Id="rId10" Type="http://schemas.openxmlformats.org/officeDocument/2006/relationships/tags" Target="../tags/tag16.xml"/><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slideMaster" Target="../slideMasters/slideMaster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3.xml"/><Relationship Id="rId3" Type="http://schemas.openxmlformats.org/officeDocument/2006/relationships/tags" Target="../tags/tag48.xml"/><Relationship Id="rId7" Type="http://schemas.openxmlformats.org/officeDocument/2006/relationships/tags" Target="../tags/tag5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10" Type="http://schemas.openxmlformats.org/officeDocument/2006/relationships/slideMaster" Target="../slideMasters/slideMaster1.xml"/><Relationship Id="rId4" Type="http://schemas.openxmlformats.org/officeDocument/2006/relationships/tags" Target="../tags/tag49.xml"/><Relationship Id="rId9" Type="http://schemas.openxmlformats.org/officeDocument/2006/relationships/tags" Target="../tags/tag54.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slideMaster" Target="../slideMasters/slideMaster1.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slideMaster" Target="../slideMasters/slideMaster1.xml"/><Relationship Id="rId5" Type="http://schemas.openxmlformats.org/officeDocument/2006/relationships/tags" Target="../tags/tag68.xml"/><Relationship Id="rId4" Type="http://schemas.openxmlformats.org/officeDocument/2006/relationships/tags" Target="../tags/tag6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slideMaster" Target="../slideMasters/slideMaster1.xml"/><Relationship Id="rId4" Type="http://schemas.openxmlformats.org/officeDocument/2006/relationships/tags" Target="../tags/tag72.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tags" Target="../tags/tag85.xml"/><Relationship Id="rId18" Type="http://schemas.openxmlformats.org/officeDocument/2006/relationships/tags" Target="../tags/tag90.xml"/><Relationship Id="rId3" Type="http://schemas.openxmlformats.org/officeDocument/2006/relationships/tags" Target="../tags/tag75.xml"/><Relationship Id="rId21" Type="http://schemas.openxmlformats.org/officeDocument/2006/relationships/tags" Target="../tags/tag93.xml"/><Relationship Id="rId7" Type="http://schemas.openxmlformats.org/officeDocument/2006/relationships/tags" Target="../tags/tag79.xml"/><Relationship Id="rId12" Type="http://schemas.openxmlformats.org/officeDocument/2006/relationships/tags" Target="../tags/tag84.xml"/><Relationship Id="rId17" Type="http://schemas.openxmlformats.org/officeDocument/2006/relationships/tags" Target="../tags/tag89.xml"/><Relationship Id="rId25" Type="http://schemas.openxmlformats.org/officeDocument/2006/relationships/slideMaster" Target="../slideMasters/slideMaster1.xml"/><Relationship Id="rId2" Type="http://schemas.openxmlformats.org/officeDocument/2006/relationships/tags" Target="../tags/tag74.xml"/><Relationship Id="rId16" Type="http://schemas.openxmlformats.org/officeDocument/2006/relationships/tags" Target="../tags/tag88.xml"/><Relationship Id="rId20" Type="http://schemas.openxmlformats.org/officeDocument/2006/relationships/tags" Target="../tags/tag92.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24" Type="http://schemas.openxmlformats.org/officeDocument/2006/relationships/tags" Target="../tags/tag96.xml"/><Relationship Id="rId5" Type="http://schemas.openxmlformats.org/officeDocument/2006/relationships/tags" Target="../tags/tag77.xml"/><Relationship Id="rId15" Type="http://schemas.openxmlformats.org/officeDocument/2006/relationships/tags" Target="../tags/tag87.xml"/><Relationship Id="rId23" Type="http://schemas.openxmlformats.org/officeDocument/2006/relationships/tags" Target="../tags/tag95.xml"/><Relationship Id="rId10" Type="http://schemas.openxmlformats.org/officeDocument/2006/relationships/tags" Target="../tags/tag82.xml"/><Relationship Id="rId19" Type="http://schemas.openxmlformats.org/officeDocument/2006/relationships/tags" Target="../tags/tag91.xml"/><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tags" Target="../tags/tag86.xml"/><Relationship Id="rId22" Type="http://schemas.openxmlformats.org/officeDocument/2006/relationships/tags" Target="../tags/tag94.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slideMaster" Target="../slideMasters/slideMaster1.xml"/><Relationship Id="rId5" Type="http://schemas.openxmlformats.org/officeDocument/2006/relationships/tags" Target="../tags/tag108.xml"/><Relationship Id="rId10" Type="http://schemas.openxmlformats.org/officeDocument/2006/relationships/tags" Target="../tags/tag113.xml"/><Relationship Id="rId4" Type="http://schemas.openxmlformats.org/officeDocument/2006/relationships/tags" Target="../tags/tag107.xml"/><Relationship Id="rId9" Type="http://schemas.openxmlformats.org/officeDocument/2006/relationships/tags" Target="../tags/tag11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21.xml"/><Relationship Id="rId3" Type="http://schemas.openxmlformats.org/officeDocument/2006/relationships/tags" Target="../tags/tag116.xml"/><Relationship Id="rId7" Type="http://schemas.openxmlformats.org/officeDocument/2006/relationships/tags" Target="../tags/tag120.xml"/><Relationship Id="rId12" Type="http://schemas.openxmlformats.org/officeDocument/2006/relationships/slideMaster" Target="../slideMasters/slideMaster1.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tags" Target="../tags/tag124.xml"/><Relationship Id="rId5" Type="http://schemas.openxmlformats.org/officeDocument/2006/relationships/tags" Target="../tags/tag118.xml"/><Relationship Id="rId10" Type="http://schemas.openxmlformats.org/officeDocument/2006/relationships/tags" Target="../tags/tag123.xml"/><Relationship Id="rId4" Type="http://schemas.openxmlformats.org/officeDocument/2006/relationships/tags" Target="../tags/tag117.xml"/><Relationship Id="rId9" Type="http://schemas.openxmlformats.org/officeDocument/2006/relationships/tags" Target="../tags/tag122.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32.xml"/><Relationship Id="rId3" Type="http://schemas.openxmlformats.org/officeDocument/2006/relationships/tags" Target="../tags/tag127.xml"/><Relationship Id="rId7" Type="http://schemas.openxmlformats.org/officeDocument/2006/relationships/tags" Target="../tags/tag131.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tags" Target="../tags/tag130.xml"/><Relationship Id="rId11" Type="http://schemas.openxmlformats.org/officeDocument/2006/relationships/slideMaster" Target="../slideMasters/slideMaster1.xml"/><Relationship Id="rId5" Type="http://schemas.openxmlformats.org/officeDocument/2006/relationships/tags" Target="../tags/tag129.xml"/><Relationship Id="rId10" Type="http://schemas.openxmlformats.org/officeDocument/2006/relationships/tags" Target="../tags/tag134.xml"/><Relationship Id="rId4" Type="http://schemas.openxmlformats.org/officeDocument/2006/relationships/tags" Target="../tags/tag128.xml"/><Relationship Id="rId9" Type="http://schemas.openxmlformats.org/officeDocument/2006/relationships/tags" Target="../tags/tag133.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42.xml"/><Relationship Id="rId3" Type="http://schemas.openxmlformats.org/officeDocument/2006/relationships/tags" Target="../tags/tag137.xml"/><Relationship Id="rId7" Type="http://schemas.openxmlformats.org/officeDocument/2006/relationships/tags" Target="../tags/tag141.xml"/><Relationship Id="rId12" Type="http://schemas.openxmlformats.org/officeDocument/2006/relationships/slideMaster" Target="../slideMasters/slideMaster1.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tags" Target="../tags/tag145.xml"/><Relationship Id="rId5" Type="http://schemas.openxmlformats.org/officeDocument/2006/relationships/tags" Target="../tags/tag139.xml"/><Relationship Id="rId10" Type="http://schemas.openxmlformats.org/officeDocument/2006/relationships/tags" Target="../tags/tag144.xml"/><Relationship Id="rId4" Type="http://schemas.openxmlformats.org/officeDocument/2006/relationships/tags" Target="../tags/tag138.xml"/><Relationship Id="rId9" Type="http://schemas.openxmlformats.org/officeDocument/2006/relationships/tags" Target="../tags/tag143.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53.xml"/><Relationship Id="rId13" Type="http://schemas.openxmlformats.org/officeDocument/2006/relationships/slideMaster" Target="../slideMasters/slideMaster1.xml"/><Relationship Id="rId3" Type="http://schemas.openxmlformats.org/officeDocument/2006/relationships/tags" Target="../tags/tag148.xml"/><Relationship Id="rId7" Type="http://schemas.openxmlformats.org/officeDocument/2006/relationships/tags" Target="../tags/tag152.xml"/><Relationship Id="rId12" Type="http://schemas.openxmlformats.org/officeDocument/2006/relationships/tags" Target="../tags/tag157.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11" Type="http://schemas.openxmlformats.org/officeDocument/2006/relationships/tags" Target="../tags/tag156.xml"/><Relationship Id="rId5" Type="http://schemas.openxmlformats.org/officeDocument/2006/relationships/tags" Target="../tags/tag150.xml"/><Relationship Id="rId10" Type="http://schemas.openxmlformats.org/officeDocument/2006/relationships/tags" Target="../tags/tag155.xml"/><Relationship Id="rId4" Type="http://schemas.openxmlformats.org/officeDocument/2006/relationships/tags" Target="../tags/tag149.xml"/><Relationship Id="rId9" Type="http://schemas.openxmlformats.org/officeDocument/2006/relationships/tags" Target="../tags/tag154.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65.xml"/><Relationship Id="rId13" Type="http://schemas.openxmlformats.org/officeDocument/2006/relationships/slideMaster" Target="../slideMasters/slideMaster1.xml"/><Relationship Id="rId3" Type="http://schemas.openxmlformats.org/officeDocument/2006/relationships/tags" Target="../tags/tag160.xml"/><Relationship Id="rId7" Type="http://schemas.openxmlformats.org/officeDocument/2006/relationships/tags" Target="../tags/tag164.xml"/><Relationship Id="rId12" Type="http://schemas.openxmlformats.org/officeDocument/2006/relationships/tags" Target="../tags/tag169.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tags" Target="../tags/tag168.xml"/><Relationship Id="rId5" Type="http://schemas.openxmlformats.org/officeDocument/2006/relationships/tags" Target="../tags/tag162.xml"/><Relationship Id="rId10" Type="http://schemas.openxmlformats.org/officeDocument/2006/relationships/tags" Target="../tags/tag167.xml"/><Relationship Id="rId4" Type="http://schemas.openxmlformats.org/officeDocument/2006/relationships/tags" Target="../tags/tag161.xml"/><Relationship Id="rId9" Type="http://schemas.openxmlformats.org/officeDocument/2006/relationships/tags" Target="../tags/tag16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13" name="任意多边形: 形状 12"/>
          <p:cNvSpPr/>
          <p:nvPr>
            <p:custDataLst>
              <p:tags r:id="rId1"/>
            </p:custDataLst>
          </p:nvPr>
        </p:nvSpPr>
        <p:spPr>
          <a:xfrm>
            <a:off x="9070340" y="0"/>
            <a:ext cx="3121660" cy="2059940"/>
          </a:xfrm>
          <a:custGeom>
            <a:avLst/>
            <a:gdLst>
              <a:gd name="connsiteX0" fmla="*/ 3121594 w 3121594"/>
              <a:gd name="connsiteY0" fmla="*/ 2059935 h 2059935"/>
              <a:gd name="connsiteX1" fmla="*/ 3121594 w 3121594"/>
              <a:gd name="connsiteY1" fmla="*/ 0 h 2059935"/>
              <a:gd name="connsiteX2" fmla="*/ 0 w 3121594"/>
              <a:gd name="connsiteY2" fmla="*/ 0 h 2059935"/>
            </a:gdLst>
            <a:ahLst/>
            <a:cxnLst>
              <a:cxn ang="0">
                <a:pos x="connsiteX0" y="connsiteY0"/>
              </a:cxn>
              <a:cxn ang="0">
                <a:pos x="connsiteX1" y="connsiteY1"/>
              </a:cxn>
              <a:cxn ang="0">
                <a:pos x="connsiteX2" y="connsiteY2"/>
              </a:cxn>
            </a:cxnLst>
            <a:rect l="l" t="t" r="r" b="b"/>
            <a:pathLst>
              <a:path w="3121594" h="2059935">
                <a:moveTo>
                  <a:pt x="3121594" y="2059935"/>
                </a:moveTo>
                <a:lnTo>
                  <a:pt x="3121594" y="0"/>
                </a:lnTo>
                <a:lnTo>
                  <a:pt x="0" y="0"/>
                </a:lnTo>
                <a:close/>
              </a:path>
            </a:pathLst>
          </a:custGeom>
          <a:solidFill>
            <a:schemeClr val="accent6"/>
          </a:solidFill>
          <a:ln w="6335" cap="flat">
            <a:noFill/>
            <a:prstDash val="solid"/>
            <a:miter/>
          </a:ln>
        </p:spPr>
        <p:txBody>
          <a:bodyPr rtlCol="0" anchor="ctr"/>
          <a:lstStyle/>
          <a:p>
            <a:endParaRPr lang="zh-CN" altLang="en-US"/>
          </a:p>
        </p:txBody>
      </p:sp>
      <p:grpSp>
        <p:nvGrpSpPr>
          <p:cNvPr id="14" name="组合 13"/>
          <p:cNvGrpSpPr/>
          <p:nvPr>
            <p:custDataLst>
              <p:tags r:id="rId2"/>
            </p:custDataLst>
          </p:nvPr>
        </p:nvGrpSpPr>
        <p:grpSpPr>
          <a:xfrm>
            <a:off x="0" y="4744778"/>
            <a:ext cx="5066665" cy="2120842"/>
            <a:chOff x="0" y="5477"/>
            <a:chExt cx="12744" cy="5335"/>
          </a:xfrm>
        </p:grpSpPr>
        <p:sp>
          <p:nvSpPr>
            <p:cNvPr id="23" name="任意多边形: 形状 22"/>
            <p:cNvSpPr/>
            <p:nvPr>
              <p:custDataLst>
                <p:tags r:id="rId12"/>
              </p:custDataLst>
            </p:nvPr>
          </p:nvSpPr>
          <p:spPr>
            <a:xfrm>
              <a:off x="2" y="5477"/>
              <a:ext cx="12742" cy="5335"/>
            </a:xfrm>
            <a:custGeom>
              <a:avLst/>
              <a:gdLst>
                <a:gd name="connsiteX0" fmla="*/ 0 w 7228154"/>
                <a:gd name="connsiteY0" fmla="*/ 0 h 4082474"/>
                <a:gd name="connsiteX1" fmla="*/ 0 w 7228154"/>
                <a:gd name="connsiteY1" fmla="*/ 4082475 h 4082474"/>
                <a:gd name="connsiteX2" fmla="*/ 7228154 w 7228154"/>
                <a:gd name="connsiteY2" fmla="*/ 4082475 h 4082474"/>
              </a:gdLst>
              <a:ahLst/>
              <a:cxnLst>
                <a:cxn ang="0">
                  <a:pos x="connsiteX0" y="connsiteY0"/>
                </a:cxn>
                <a:cxn ang="0">
                  <a:pos x="connsiteX1" y="connsiteY1"/>
                </a:cxn>
                <a:cxn ang="0">
                  <a:pos x="connsiteX2" y="connsiteY2"/>
                </a:cxn>
              </a:cxnLst>
              <a:rect l="l" t="t" r="r" b="b"/>
              <a:pathLst>
                <a:path w="7228154" h="4082474">
                  <a:moveTo>
                    <a:pt x="0" y="0"/>
                  </a:moveTo>
                  <a:lnTo>
                    <a:pt x="0" y="4082475"/>
                  </a:lnTo>
                  <a:lnTo>
                    <a:pt x="7228154" y="4082475"/>
                  </a:lnTo>
                  <a:close/>
                </a:path>
              </a:pathLst>
            </a:custGeom>
            <a:solidFill>
              <a:schemeClr val="accent4"/>
            </a:solidFill>
            <a:ln w="6335" cap="flat">
              <a:noFill/>
              <a:prstDash val="solid"/>
              <a:miter/>
            </a:ln>
          </p:spPr>
          <p:txBody>
            <a:bodyPr rtlCol="0" anchor="ctr"/>
            <a:lstStyle/>
            <a:p>
              <a:endParaRPr lang="zh-CN" altLang="en-US" dirty="0"/>
            </a:p>
          </p:txBody>
        </p:sp>
        <p:sp>
          <p:nvSpPr>
            <p:cNvPr id="24" name="任意多边形: 形状 23"/>
            <p:cNvSpPr/>
            <p:nvPr>
              <p:custDataLst>
                <p:tags r:id="rId13"/>
              </p:custDataLst>
            </p:nvPr>
          </p:nvSpPr>
          <p:spPr>
            <a:xfrm>
              <a:off x="0" y="6151"/>
              <a:ext cx="11383" cy="4661"/>
            </a:xfrm>
            <a:custGeom>
              <a:avLst/>
              <a:gdLst>
                <a:gd name="connsiteX0" fmla="*/ 0 w 7228154"/>
                <a:gd name="connsiteY0" fmla="*/ 0 h 4082474"/>
                <a:gd name="connsiteX1" fmla="*/ 0 w 7228154"/>
                <a:gd name="connsiteY1" fmla="*/ 4082475 h 4082474"/>
                <a:gd name="connsiteX2" fmla="*/ 7228155 w 7228154"/>
                <a:gd name="connsiteY2" fmla="*/ 4082475 h 4082474"/>
              </a:gdLst>
              <a:ahLst/>
              <a:cxnLst>
                <a:cxn ang="0">
                  <a:pos x="connsiteX0" y="connsiteY0"/>
                </a:cxn>
                <a:cxn ang="0">
                  <a:pos x="connsiteX1" y="connsiteY1"/>
                </a:cxn>
                <a:cxn ang="0">
                  <a:pos x="connsiteX2" y="connsiteY2"/>
                </a:cxn>
              </a:cxnLst>
              <a:rect l="l" t="t" r="r" b="b"/>
              <a:pathLst>
                <a:path w="7228154" h="4082474">
                  <a:moveTo>
                    <a:pt x="0" y="0"/>
                  </a:moveTo>
                  <a:lnTo>
                    <a:pt x="0" y="4082475"/>
                  </a:lnTo>
                  <a:lnTo>
                    <a:pt x="7228155" y="4082475"/>
                  </a:lnTo>
                  <a:close/>
                </a:path>
              </a:pathLst>
            </a:custGeom>
            <a:solidFill>
              <a:schemeClr val="accent6"/>
            </a:solidFill>
            <a:ln w="6335" cap="flat">
              <a:noFill/>
              <a:prstDash val="solid"/>
              <a:miter/>
            </a:ln>
          </p:spPr>
          <p:txBody>
            <a:bodyPr rtlCol="0" anchor="ctr"/>
            <a:lstStyle/>
            <a:p>
              <a:endParaRPr lang="zh-CN" altLang="en-US" dirty="0"/>
            </a:p>
          </p:txBody>
        </p:sp>
      </p:grpSp>
      <p:sp>
        <p:nvSpPr>
          <p:cNvPr id="25" name="任意多边形: 形状 24"/>
          <p:cNvSpPr/>
          <p:nvPr>
            <p:custDataLst>
              <p:tags r:id="rId3"/>
            </p:custDataLst>
          </p:nvPr>
        </p:nvSpPr>
        <p:spPr>
          <a:xfrm>
            <a:off x="0" y="0"/>
            <a:ext cx="2552700" cy="4409440"/>
          </a:xfrm>
          <a:custGeom>
            <a:avLst/>
            <a:gdLst>
              <a:gd name="connsiteX0" fmla="*/ 0 w 7837895"/>
              <a:gd name="connsiteY0" fmla="*/ 4409530 h 4409529"/>
              <a:gd name="connsiteX1" fmla="*/ 0 w 7837895"/>
              <a:gd name="connsiteY1" fmla="*/ 0 h 4409529"/>
              <a:gd name="connsiteX2" fmla="*/ 7837896 w 7837895"/>
              <a:gd name="connsiteY2" fmla="*/ 0 h 4409529"/>
            </a:gdLst>
            <a:ahLst/>
            <a:cxnLst>
              <a:cxn ang="0">
                <a:pos x="connsiteX0" y="connsiteY0"/>
              </a:cxn>
              <a:cxn ang="0">
                <a:pos x="connsiteX1" y="connsiteY1"/>
              </a:cxn>
              <a:cxn ang="0">
                <a:pos x="connsiteX2" y="connsiteY2"/>
              </a:cxn>
            </a:cxnLst>
            <a:rect l="l" t="t" r="r" b="b"/>
            <a:pathLst>
              <a:path w="7837895" h="4409529">
                <a:moveTo>
                  <a:pt x="0" y="4409530"/>
                </a:moveTo>
                <a:lnTo>
                  <a:pt x="0" y="0"/>
                </a:lnTo>
                <a:lnTo>
                  <a:pt x="7837896" y="0"/>
                </a:lnTo>
                <a:close/>
              </a:path>
            </a:pathLst>
          </a:custGeom>
          <a:solidFill>
            <a:schemeClr val="accent1"/>
          </a:solidFill>
          <a:ln w="6335" cap="flat">
            <a:noFill/>
            <a:prstDash val="solid"/>
            <a:miter/>
          </a:ln>
        </p:spPr>
        <p:txBody>
          <a:bodyPr rtlCol="0" anchor="ctr"/>
          <a:lstStyle/>
          <a:p>
            <a:endParaRPr lang="zh-CN" altLang="en-US" dirty="0"/>
          </a:p>
        </p:txBody>
      </p:sp>
      <p:cxnSp>
        <p:nvCxnSpPr>
          <p:cNvPr id="26" name="直接连接符 25"/>
          <p:cNvCxnSpPr/>
          <p:nvPr>
            <p:custDataLst>
              <p:tags r:id="rId4"/>
            </p:custDataLst>
          </p:nvPr>
        </p:nvCxnSpPr>
        <p:spPr>
          <a:xfrm>
            <a:off x="2800732" y="3622040"/>
            <a:ext cx="659053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5"/>
            </p:custDataLst>
          </p:nvPr>
        </p:nvSpPr>
        <p:spPr>
          <a:xfrm>
            <a:off x="1755527" y="1331623"/>
            <a:ext cx="8680946" cy="2121978"/>
          </a:xfrm>
        </p:spPr>
        <p:txBody>
          <a:bodyPr lIns="90000" tIns="46800" rIns="90000" bIns="0" anchor="b" anchorCtr="0">
            <a:normAutofit/>
          </a:bodyPr>
          <a:lstStyle>
            <a:lvl1pPr algn="ctr">
              <a:defRPr sz="5400" spc="600" baseline="0">
                <a:solidFill>
                  <a:schemeClr val="tx1">
                    <a:lumMod val="75000"/>
                    <a:lumOff val="25000"/>
                  </a:schemeClr>
                </a:solidFill>
                <a:latin typeface="Arial" panose="020B0604020202020204" pitchFamily="34" charset="0"/>
                <a:ea typeface="汉仪旗黑-85S" panose="00020600040101010101" pitchFamily="18" charset="-122"/>
              </a:defRPr>
            </a:lvl1pPr>
          </a:lstStyle>
          <a:p>
            <a:r>
              <a:rPr lang="zh-CN" altLang="en-US" dirty="0"/>
              <a:t>单击此处编辑标题</a:t>
            </a:r>
          </a:p>
        </p:txBody>
      </p:sp>
      <p:sp>
        <p:nvSpPr>
          <p:cNvPr id="3" name="副标题 2"/>
          <p:cNvSpPr>
            <a:spLocks noGrp="1"/>
          </p:cNvSpPr>
          <p:nvPr>
            <p:ph type="subTitle" idx="1" hasCustomPrompt="1"/>
            <p:custDataLst>
              <p:tags r:id="rId6"/>
            </p:custDataLst>
          </p:nvPr>
        </p:nvSpPr>
        <p:spPr>
          <a:xfrm>
            <a:off x="2192655" y="3713619"/>
            <a:ext cx="7896859" cy="511698"/>
          </a:xfrm>
        </p:spPr>
        <p:txBody>
          <a:bodyPr lIns="90170" tIns="46990" rIns="90170" bIns="46990" anchor="ctr" anchorCtr="0">
            <a:normAutofit/>
          </a:bodyPr>
          <a:lstStyle>
            <a:lvl1pPr marL="0" indent="0" algn="ctr" eaLnBrk="1" fontAlgn="auto" latinLnBrk="0" hangingPunct="1">
              <a:lnSpc>
                <a:spcPct val="100000"/>
              </a:lnSpc>
              <a:buNone/>
              <a:defRPr sz="2400" u="none" strike="noStrike" kern="1200" cap="none" spc="200" normalizeH="0" baseline="0">
                <a:solidFill>
                  <a:schemeClr val="tx1">
                    <a:lumMod val="75000"/>
                    <a:lumOff val="2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7"/>
            </p:custDataLst>
          </p:nvPr>
        </p:nvSpPr>
        <p:spPr/>
        <p:txBody>
          <a:bodyPr/>
          <a:lstStyle/>
          <a:p>
            <a:fld id="{760FBDFE-C587-4B4C-A407-44438C67B59E}" type="datetimeFigureOut">
              <a:rPr lang="zh-CN" altLang="en-US" smtClean="0"/>
              <a:t>2021/5/26</a:t>
            </a:fld>
            <a:endParaRPr lang="zh-CN" altLang="en-US"/>
          </a:p>
        </p:txBody>
      </p:sp>
      <p:sp>
        <p:nvSpPr>
          <p:cNvPr id="17" name="页脚占位符 16"/>
          <p:cNvSpPr>
            <a:spLocks noGrp="1"/>
          </p:cNvSpPr>
          <p:nvPr>
            <p:ph type="ftr" sz="quarter" idx="11"/>
            <p:custDataLst>
              <p:tags r:id="rId8"/>
            </p:custDataLst>
          </p:nvPr>
        </p:nvSpPr>
        <p:spPr/>
        <p:txBody>
          <a:bodyPr/>
          <a:lstStyle/>
          <a:p>
            <a:endParaRPr lang="zh-CN" altLang="en-US" dirty="0"/>
          </a:p>
        </p:txBody>
      </p:sp>
      <p:sp>
        <p:nvSpPr>
          <p:cNvPr id="18" name="灯片编号占位符 17"/>
          <p:cNvSpPr>
            <a:spLocks noGrp="1"/>
          </p:cNvSpPr>
          <p:nvPr>
            <p:ph type="sldNum" sz="quarter" idx="12"/>
            <p:custDataLst>
              <p:tags r:id="rId9"/>
            </p:custDataLst>
          </p:nvPr>
        </p:nvSpPr>
        <p:spPr/>
        <p:txBody>
          <a:bodyPr/>
          <a:lstStyle/>
          <a:p>
            <a:fld id="{49AE70B2-8BF9-45C0-BB95-33D1B9D3A854}" type="slidenum">
              <a:rPr lang="zh-CN" altLang="en-US" smtClean="0"/>
              <a:t>‹#›</a:t>
            </a:fld>
            <a:endParaRPr lang="zh-CN" altLang="en-US" dirty="0"/>
          </a:p>
        </p:txBody>
      </p:sp>
      <p:sp>
        <p:nvSpPr>
          <p:cNvPr id="5" name="文本占位符 4"/>
          <p:cNvSpPr>
            <a:spLocks noGrp="1"/>
          </p:cNvSpPr>
          <p:nvPr>
            <p:ph type="body" sz="quarter" idx="13" hasCustomPrompt="1"/>
            <p:custDataLst>
              <p:tags r:id="rId10"/>
            </p:custDataLst>
          </p:nvPr>
        </p:nvSpPr>
        <p:spPr>
          <a:xfrm>
            <a:off x="2552700" y="4299889"/>
            <a:ext cx="7107238" cy="511698"/>
          </a:xfrm>
        </p:spPr>
        <p:txBody>
          <a:bodyPr lIns="90000" tIns="46800" rIns="90000" bIns="46800">
            <a:normAutofit/>
          </a:bodyPr>
          <a:lstStyle>
            <a:lvl1pPr marL="0" indent="0" algn="ctr">
              <a:buNone/>
              <a:defRPr sz="1800">
                <a:solidFill>
                  <a:schemeClr val="tx1">
                    <a:lumMod val="75000"/>
                    <a:lumOff val="25000"/>
                  </a:schemeClr>
                </a:solidFill>
              </a:defRPr>
            </a:lvl1pPr>
          </a:lstStyle>
          <a:p>
            <a:pPr lvl="0"/>
            <a:r>
              <a:rPr lang="zh-CN" altLang="en-US" dirty="0"/>
              <a:t>单击此处编辑文本</a:t>
            </a:r>
          </a:p>
        </p:txBody>
      </p:sp>
      <p:sp>
        <p:nvSpPr>
          <p:cNvPr id="7" name="文本占位符 6"/>
          <p:cNvSpPr>
            <a:spLocks noGrp="1"/>
          </p:cNvSpPr>
          <p:nvPr>
            <p:ph type="body" sz="quarter" idx="14" hasCustomPrompt="1"/>
            <p:custDataLst>
              <p:tags r:id="rId11"/>
            </p:custDataLst>
          </p:nvPr>
        </p:nvSpPr>
        <p:spPr>
          <a:xfrm>
            <a:off x="2552700" y="4790718"/>
            <a:ext cx="7107238" cy="511698"/>
          </a:xfrm>
        </p:spPr>
        <p:txBody>
          <a:bodyPr lIns="90000" tIns="46800" rIns="90000" bIns="46800">
            <a:normAutofit/>
          </a:bodyPr>
          <a:lstStyle>
            <a:lvl1pPr marL="0" indent="0" algn="ctr">
              <a:buNone/>
              <a:defRPr sz="1800">
                <a:solidFill>
                  <a:schemeClr val="tx1">
                    <a:lumMod val="75000"/>
                    <a:lumOff val="25000"/>
                  </a:schemeClr>
                </a:solidFill>
              </a:defRPr>
            </a:lvl1pPr>
          </a:lstStyle>
          <a:p>
            <a:pPr lvl="0"/>
            <a:r>
              <a:rPr lang="zh-CN" altLang="en-US" dirty="0"/>
              <a:t>单击此处编辑文本</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2021/5/26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1" y="0"/>
            <a:ext cx="4429387" cy="6858000"/>
          </a:xfrm>
          <a:prstGeom prst="rect">
            <a:avLst/>
          </a:prstGeom>
          <a:solidFill>
            <a:schemeClr val="accent1"/>
          </a:solidFill>
          <a:ln>
            <a:noFill/>
          </a:ln>
        </p:spPr>
        <p:style>
          <a:lnRef idx="2">
            <a:srgbClr val="282928">
              <a:shade val="50000"/>
            </a:srgbClr>
          </a:lnRef>
          <a:fillRef idx="1">
            <a:srgbClr val="282928"/>
          </a:fillRef>
          <a:effectRef idx="0">
            <a:srgbClr val="282928"/>
          </a:effectRef>
          <a:fontRef idx="minor">
            <a:sysClr val="window" lastClr="FFFFFF"/>
          </a:fontRef>
        </p:style>
        <p:txBody>
          <a:bodyPr rtlCol="0" anchor="ctr"/>
          <a:lstStyle/>
          <a:p>
            <a:pPr algn="ctr"/>
            <a:endParaRPr lang="zh-CN" altLang="en-US"/>
          </a:p>
        </p:txBody>
      </p:sp>
      <p:sp>
        <p:nvSpPr>
          <p:cNvPr id="54" name="矩形 53"/>
          <p:cNvSpPr/>
          <p:nvPr>
            <p:custDataLst>
              <p:tags r:id="rId2"/>
            </p:custDataLst>
          </p:nvPr>
        </p:nvSpPr>
        <p:spPr>
          <a:xfrm rot="18900000">
            <a:off x="3955998" y="2955611"/>
            <a:ext cx="946777" cy="946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custDataLst>
              <p:tags r:id="rId3"/>
            </p:custDataLst>
          </p:nvPr>
        </p:nvSpPr>
        <p:spPr>
          <a:xfrm rot="18900000">
            <a:off x="4227003" y="3226617"/>
            <a:ext cx="404767" cy="404767"/>
          </a:xfrm>
          <a:prstGeom prst="rect">
            <a:avLst/>
          </a:prstGeom>
          <a:solidFill>
            <a:schemeClr val="accent4"/>
          </a:solidFill>
          <a:ln>
            <a:noFill/>
          </a:ln>
        </p:spPr>
        <p:style>
          <a:lnRef idx="2">
            <a:srgbClr val="282928">
              <a:shade val="50000"/>
            </a:srgbClr>
          </a:lnRef>
          <a:fillRef idx="1">
            <a:srgbClr val="282928"/>
          </a:fillRef>
          <a:effectRef idx="0">
            <a:srgbClr val="282928"/>
          </a:effectRef>
          <a:fontRef idx="minor">
            <a:sysClr val="window" lastClr="FFFFFF"/>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5310135" y="2170322"/>
            <a:ext cx="6015208" cy="2357611"/>
          </a:xfrm>
        </p:spPr>
        <p:txBody>
          <a:bodyPr lIns="90000" tIns="46800" rIns="90000" bIns="46800" anchor="ctr" anchorCtr="0">
            <a:normAutofit/>
          </a:bodyPr>
          <a:lstStyle>
            <a:lvl1pPr>
              <a:defRPr sz="7200" u="none" strike="noStrike" kern="1200" cap="none" spc="300" normalizeH="0" baseline="0">
                <a:solidFill>
                  <a:schemeClr val="tx1">
                    <a:lumMod val="75000"/>
                    <a:lumOff val="25000"/>
                  </a:schemeClr>
                </a:solidFill>
                <a:uFillTx/>
                <a:latin typeface="Arial" panose="020B0604020202020204" pitchFamily="34" charset="0"/>
                <a:ea typeface="汉仪旗黑-85S" panose="00020600040101010101" pitchFamily="18" charset="-122"/>
              </a:defRPr>
            </a:lvl1pPr>
          </a:lstStyle>
          <a:p>
            <a:r>
              <a:rPr lang="zh-CN" altLang="en-US" dirty="0"/>
              <a:t>单击此处编辑标题</a:t>
            </a: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t>2021/5/26</a:t>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238877" y="952508"/>
            <a:ext cx="5283242" cy="5388907"/>
          </a:xfrm>
        </p:spPr>
        <p:txBody>
          <a:bodyPr>
            <a:no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2021/5/26</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2021/5/26</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6" name="图形 34"/>
          <p:cNvGrpSpPr/>
          <p:nvPr>
            <p:custDataLst>
              <p:tags r:id="rId1"/>
            </p:custDataLst>
          </p:nvPr>
        </p:nvGrpSpPr>
        <p:grpSpPr>
          <a:xfrm>
            <a:off x="9783683" y="0"/>
            <a:ext cx="2416749" cy="6869016"/>
            <a:chOff x="9761381" y="0"/>
            <a:chExt cx="2416749" cy="6869016"/>
          </a:xfrm>
          <a:solidFill>
            <a:srgbClr val="0894A5"/>
          </a:solidFill>
        </p:grpSpPr>
        <p:sp>
          <p:nvSpPr>
            <p:cNvPr id="7" name="任意多边形: 形状 3"/>
            <p:cNvSpPr/>
            <p:nvPr>
              <p:custDataLst>
                <p:tags r:id="rId7"/>
              </p:custDataLst>
            </p:nvPr>
          </p:nvSpPr>
          <p:spPr>
            <a:xfrm>
              <a:off x="9761381" y="0"/>
              <a:ext cx="2158624" cy="4069248"/>
            </a:xfrm>
            <a:custGeom>
              <a:avLst/>
              <a:gdLst>
                <a:gd name="connsiteX0" fmla="*/ 2158625 w 2158624"/>
                <a:gd name="connsiteY0" fmla="*/ 4069249 h 4069248"/>
                <a:gd name="connsiteX1" fmla="*/ 2158625 w 2158624"/>
                <a:gd name="connsiteY1" fmla="*/ 0 h 4069248"/>
                <a:gd name="connsiteX2" fmla="*/ 0 w 2158624"/>
                <a:gd name="connsiteY2" fmla="*/ 0 h 4069248"/>
              </a:gdLst>
              <a:ahLst/>
              <a:cxnLst>
                <a:cxn ang="0">
                  <a:pos x="connsiteX0" y="connsiteY0"/>
                </a:cxn>
                <a:cxn ang="0">
                  <a:pos x="connsiteX1" y="connsiteY1"/>
                </a:cxn>
                <a:cxn ang="0">
                  <a:pos x="connsiteX2" y="connsiteY2"/>
                </a:cxn>
              </a:cxnLst>
              <a:rect l="l" t="t" r="r" b="b"/>
              <a:pathLst>
                <a:path w="2158624" h="4069248">
                  <a:moveTo>
                    <a:pt x="2158625" y="4069249"/>
                  </a:moveTo>
                  <a:lnTo>
                    <a:pt x="2158625" y="0"/>
                  </a:lnTo>
                  <a:lnTo>
                    <a:pt x="0" y="0"/>
                  </a:lnTo>
                  <a:close/>
                </a:path>
              </a:pathLst>
            </a:custGeom>
            <a:solidFill>
              <a:schemeClr val="accent4"/>
            </a:solidFill>
            <a:ln w="6325" cap="flat">
              <a:noFill/>
              <a:prstDash val="solid"/>
              <a:miter/>
            </a:ln>
          </p:spPr>
          <p:txBody>
            <a:bodyPr rtlCol="0" anchor="ctr"/>
            <a:lstStyle/>
            <a:p>
              <a:endParaRPr lang="zh-CN" altLang="en-US"/>
            </a:p>
          </p:txBody>
        </p:sp>
        <p:sp>
          <p:nvSpPr>
            <p:cNvPr id="8" name="任意多边形: 形状 4"/>
            <p:cNvSpPr/>
            <p:nvPr>
              <p:custDataLst>
                <p:tags r:id="rId8"/>
              </p:custDataLst>
            </p:nvPr>
          </p:nvSpPr>
          <p:spPr>
            <a:xfrm>
              <a:off x="10019506" y="0"/>
              <a:ext cx="2158624" cy="4069248"/>
            </a:xfrm>
            <a:custGeom>
              <a:avLst/>
              <a:gdLst>
                <a:gd name="connsiteX0" fmla="*/ 2158625 w 2158624"/>
                <a:gd name="connsiteY0" fmla="*/ 4069249 h 4069248"/>
                <a:gd name="connsiteX1" fmla="*/ 2158625 w 2158624"/>
                <a:gd name="connsiteY1" fmla="*/ 0 h 4069248"/>
                <a:gd name="connsiteX2" fmla="*/ 0 w 2158624"/>
                <a:gd name="connsiteY2" fmla="*/ 0 h 4069248"/>
              </a:gdLst>
              <a:ahLst/>
              <a:cxnLst>
                <a:cxn ang="0">
                  <a:pos x="connsiteX0" y="connsiteY0"/>
                </a:cxn>
                <a:cxn ang="0">
                  <a:pos x="connsiteX1" y="connsiteY1"/>
                </a:cxn>
                <a:cxn ang="0">
                  <a:pos x="connsiteX2" y="connsiteY2"/>
                </a:cxn>
              </a:cxnLst>
              <a:rect l="l" t="t" r="r" b="b"/>
              <a:pathLst>
                <a:path w="2158624" h="4069248">
                  <a:moveTo>
                    <a:pt x="2158625" y="4069249"/>
                  </a:moveTo>
                  <a:lnTo>
                    <a:pt x="2158625" y="0"/>
                  </a:lnTo>
                  <a:lnTo>
                    <a:pt x="0" y="0"/>
                  </a:lnTo>
                  <a:close/>
                </a:path>
              </a:pathLst>
            </a:custGeom>
            <a:solidFill>
              <a:schemeClr val="accent6"/>
            </a:solidFill>
            <a:ln w="6325" cap="flat">
              <a:noFill/>
              <a:prstDash val="solid"/>
              <a:miter/>
            </a:ln>
          </p:spPr>
          <p:txBody>
            <a:bodyPr rtlCol="0" anchor="ctr"/>
            <a:lstStyle/>
            <a:p>
              <a:endParaRPr lang="zh-CN" altLang="en-US" dirty="0"/>
            </a:p>
          </p:txBody>
        </p:sp>
        <p:sp>
          <p:nvSpPr>
            <p:cNvPr id="9" name="任意多边形: 形状 5"/>
            <p:cNvSpPr/>
            <p:nvPr>
              <p:custDataLst>
                <p:tags r:id="rId9"/>
              </p:custDataLst>
            </p:nvPr>
          </p:nvSpPr>
          <p:spPr>
            <a:xfrm>
              <a:off x="9837300" y="2473317"/>
              <a:ext cx="2340830" cy="4395699"/>
            </a:xfrm>
            <a:custGeom>
              <a:avLst/>
              <a:gdLst>
                <a:gd name="connsiteX0" fmla="*/ 2340830 w 2340830"/>
                <a:gd name="connsiteY0" fmla="*/ 0 h 4395699"/>
                <a:gd name="connsiteX1" fmla="*/ 2340830 w 2340830"/>
                <a:gd name="connsiteY1" fmla="*/ 4395700 h 4395699"/>
                <a:gd name="connsiteX2" fmla="*/ 0 w 2340830"/>
                <a:gd name="connsiteY2" fmla="*/ 4395700 h 4395699"/>
              </a:gdLst>
              <a:ahLst/>
              <a:cxnLst>
                <a:cxn ang="0">
                  <a:pos x="connsiteX0" y="connsiteY0"/>
                </a:cxn>
                <a:cxn ang="0">
                  <a:pos x="connsiteX1" y="connsiteY1"/>
                </a:cxn>
                <a:cxn ang="0">
                  <a:pos x="connsiteX2" y="connsiteY2"/>
                </a:cxn>
              </a:cxnLst>
              <a:rect l="l" t="t" r="r" b="b"/>
              <a:pathLst>
                <a:path w="2340830" h="4395699">
                  <a:moveTo>
                    <a:pt x="2340830" y="0"/>
                  </a:moveTo>
                  <a:lnTo>
                    <a:pt x="2340830" y="4395700"/>
                  </a:lnTo>
                  <a:lnTo>
                    <a:pt x="0" y="4395700"/>
                  </a:lnTo>
                  <a:close/>
                </a:path>
              </a:pathLst>
            </a:custGeom>
            <a:solidFill>
              <a:schemeClr val="accent1"/>
            </a:solidFill>
            <a:ln w="6325" cap="flat">
              <a:noFill/>
              <a:prstDash val="solid"/>
              <a:miter/>
            </a:ln>
          </p:spPr>
          <p:txBody>
            <a:bodyPr rtlCol="0" anchor="ctr"/>
            <a:lstStyle/>
            <a:p>
              <a:endParaRPr lang="zh-CN" altLang="en-US"/>
            </a:p>
          </p:txBody>
        </p:sp>
      </p:grpSp>
      <p:sp>
        <p:nvSpPr>
          <p:cNvPr id="10" name="任意多边形: 形状 6"/>
          <p:cNvSpPr/>
          <p:nvPr>
            <p:custDataLst>
              <p:tags r:id="rId2"/>
            </p:custDataLst>
          </p:nvPr>
        </p:nvSpPr>
        <p:spPr>
          <a:xfrm>
            <a:off x="0" y="5755540"/>
            <a:ext cx="965434" cy="1113476"/>
          </a:xfrm>
          <a:custGeom>
            <a:avLst/>
            <a:gdLst>
              <a:gd name="connsiteX0" fmla="*/ 0 w 965434"/>
              <a:gd name="connsiteY0" fmla="*/ 0 h 1113476"/>
              <a:gd name="connsiteX1" fmla="*/ 0 w 965434"/>
              <a:gd name="connsiteY1" fmla="*/ 1113476 h 1113476"/>
              <a:gd name="connsiteX2" fmla="*/ 965434 w 965434"/>
              <a:gd name="connsiteY2" fmla="*/ 1113476 h 1113476"/>
            </a:gdLst>
            <a:ahLst/>
            <a:cxnLst>
              <a:cxn ang="0">
                <a:pos x="connsiteX0" y="connsiteY0"/>
              </a:cxn>
              <a:cxn ang="0">
                <a:pos x="connsiteX1" y="connsiteY1"/>
              </a:cxn>
              <a:cxn ang="0">
                <a:pos x="connsiteX2" y="connsiteY2"/>
              </a:cxn>
            </a:cxnLst>
            <a:rect l="l" t="t" r="r" b="b"/>
            <a:pathLst>
              <a:path w="965434" h="1113476">
                <a:moveTo>
                  <a:pt x="0" y="0"/>
                </a:moveTo>
                <a:lnTo>
                  <a:pt x="0" y="1113476"/>
                </a:lnTo>
                <a:lnTo>
                  <a:pt x="965434" y="1113476"/>
                </a:lnTo>
                <a:close/>
              </a:path>
            </a:pathLst>
          </a:custGeom>
          <a:solidFill>
            <a:schemeClr val="accent1">
              <a:lumMod val="50000"/>
            </a:schemeClr>
          </a:solidFill>
          <a:ln w="6325" cap="flat">
            <a:noFill/>
            <a:prstDash val="solid"/>
            <a:miter/>
          </a:ln>
        </p:spPr>
        <p:txBody>
          <a:bodyPr rtlCol="0" anchor="ctr"/>
          <a:lstStyle/>
          <a:p>
            <a:endParaRPr lang="zh-CN" altLang="en-US"/>
          </a:p>
        </p:txBody>
      </p:sp>
      <p:sp>
        <p:nvSpPr>
          <p:cNvPr id="2" name="标题 1"/>
          <p:cNvSpPr>
            <a:spLocks noGrp="1"/>
          </p:cNvSpPr>
          <p:nvPr>
            <p:ph type="title"/>
            <p:custDataLst>
              <p:tags r:id="rId3"/>
            </p:custDataLst>
          </p:nvPr>
        </p:nvSpPr>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2021/5/26</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2021/5/26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2021/5/26</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2021/5/26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2021/5/26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73660" y="4859655"/>
            <a:ext cx="5760085" cy="1998345"/>
            <a:chOff x="4151937" y="5109029"/>
            <a:chExt cx="2721846" cy="944356"/>
          </a:xfrm>
        </p:grpSpPr>
        <p:sp>
          <p:nvSpPr>
            <p:cNvPr id="13" name="等腰三角形 12"/>
            <p:cNvSpPr/>
            <p:nvPr>
              <p:custDataLst>
                <p:tags r:id="rId16"/>
              </p:custDataLst>
            </p:nvPr>
          </p:nvSpPr>
          <p:spPr>
            <a:xfrm>
              <a:off x="4565168" y="5109029"/>
              <a:ext cx="1912727" cy="944356"/>
            </a:xfrm>
            <a:prstGeom prst="triangle">
              <a:avLst/>
            </a:prstGeom>
            <a:solidFill>
              <a:schemeClr val="accent6"/>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14" name="等腰三角形 13"/>
            <p:cNvSpPr/>
            <p:nvPr>
              <p:custDataLst>
                <p:tags r:id="rId17"/>
              </p:custDataLst>
            </p:nvPr>
          </p:nvSpPr>
          <p:spPr>
            <a:xfrm>
              <a:off x="5562405" y="5405929"/>
              <a:ext cx="1311378" cy="647456"/>
            </a:xfrm>
            <a:prstGeom prst="triangle">
              <a:avLst/>
            </a:prstGeom>
            <a:solidFill>
              <a:schemeClr val="accent1">
                <a:alpha val="92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0" name="等腰三角形 19"/>
            <p:cNvSpPr/>
            <p:nvPr>
              <p:custDataLst>
                <p:tags r:id="rId18"/>
              </p:custDataLst>
            </p:nvPr>
          </p:nvSpPr>
          <p:spPr>
            <a:xfrm>
              <a:off x="4786508" y="5720585"/>
              <a:ext cx="674063" cy="33280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2" name="等腰三角形 21"/>
            <p:cNvSpPr/>
            <p:nvPr>
              <p:custDataLst>
                <p:tags r:id="rId19"/>
              </p:custDataLst>
            </p:nvPr>
          </p:nvSpPr>
          <p:spPr>
            <a:xfrm>
              <a:off x="4151937" y="5645342"/>
              <a:ext cx="826463" cy="408043"/>
            </a:xfrm>
            <a:prstGeom prst="triangle">
              <a:avLst/>
            </a:prstGeom>
            <a:solidFill>
              <a:schemeClr val="accent4">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dirty="0"/>
            </a:p>
          </p:txBody>
        </p:sp>
        <p:sp>
          <p:nvSpPr>
            <p:cNvPr id="23" name="等腰三角形 22"/>
            <p:cNvSpPr/>
            <p:nvPr>
              <p:custDataLst>
                <p:tags r:id="rId20"/>
              </p:custDataLst>
            </p:nvPr>
          </p:nvSpPr>
          <p:spPr>
            <a:xfrm>
              <a:off x="6313124" y="5516676"/>
              <a:ext cx="266605" cy="131629"/>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4" name="等腰三角形 23"/>
            <p:cNvSpPr/>
            <p:nvPr>
              <p:custDataLst>
                <p:tags r:id="rId21"/>
              </p:custDataLst>
            </p:nvPr>
          </p:nvSpPr>
          <p:spPr>
            <a:xfrm>
              <a:off x="5572277" y="5720585"/>
              <a:ext cx="431377" cy="212981"/>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5" name="等腰三角形 24"/>
            <p:cNvSpPr/>
            <p:nvPr>
              <p:custDataLst>
                <p:tags r:id="rId22"/>
              </p:custDataLst>
            </p:nvPr>
          </p:nvSpPr>
          <p:spPr>
            <a:xfrm>
              <a:off x="5618478" y="5234511"/>
              <a:ext cx="169487" cy="8368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6" name="等腰三角形 25"/>
            <p:cNvSpPr/>
            <p:nvPr>
              <p:custDataLst>
                <p:tags r:id="rId23"/>
              </p:custDataLst>
            </p:nvPr>
          </p:nvSpPr>
          <p:spPr>
            <a:xfrm>
              <a:off x="4565168" y="5348993"/>
              <a:ext cx="266605" cy="131629"/>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7" name="等腰三角形 26"/>
            <p:cNvSpPr/>
            <p:nvPr>
              <p:custDataLst>
                <p:tags r:id="rId24"/>
              </p:custDataLst>
            </p:nvPr>
          </p:nvSpPr>
          <p:spPr>
            <a:xfrm>
              <a:off x="4202503" y="5803305"/>
              <a:ext cx="169487" cy="83680"/>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grpSp>
      <p:grpSp>
        <p:nvGrpSpPr>
          <p:cNvPr id="28" name="组合 27"/>
          <p:cNvGrpSpPr/>
          <p:nvPr>
            <p:custDataLst>
              <p:tags r:id="rId2"/>
            </p:custDataLst>
          </p:nvPr>
        </p:nvGrpSpPr>
        <p:grpSpPr>
          <a:xfrm rot="10800000">
            <a:off x="6449060" y="0"/>
            <a:ext cx="5737860" cy="1990725"/>
            <a:chOff x="4151937" y="5109029"/>
            <a:chExt cx="2721846" cy="944356"/>
          </a:xfrm>
        </p:grpSpPr>
        <p:sp>
          <p:nvSpPr>
            <p:cNvPr id="29" name="等腰三角形 28"/>
            <p:cNvSpPr/>
            <p:nvPr>
              <p:custDataLst>
                <p:tags r:id="rId7"/>
              </p:custDataLst>
            </p:nvPr>
          </p:nvSpPr>
          <p:spPr>
            <a:xfrm>
              <a:off x="4565168" y="5109029"/>
              <a:ext cx="1912727" cy="944356"/>
            </a:xfrm>
            <a:prstGeom prst="triangle">
              <a:avLst/>
            </a:prstGeom>
            <a:solidFill>
              <a:schemeClr val="accent6"/>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dirty="0"/>
            </a:p>
          </p:txBody>
        </p:sp>
        <p:sp>
          <p:nvSpPr>
            <p:cNvPr id="30" name="等腰三角形 29"/>
            <p:cNvSpPr/>
            <p:nvPr>
              <p:custDataLst>
                <p:tags r:id="rId8"/>
              </p:custDataLst>
            </p:nvPr>
          </p:nvSpPr>
          <p:spPr>
            <a:xfrm>
              <a:off x="5562405" y="5405929"/>
              <a:ext cx="1311378" cy="647456"/>
            </a:xfrm>
            <a:prstGeom prst="triangle">
              <a:avLst/>
            </a:prstGeom>
            <a:solidFill>
              <a:schemeClr val="accent1">
                <a:alpha val="92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1" name="等腰三角形 30"/>
            <p:cNvSpPr/>
            <p:nvPr>
              <p:custDataLst>
                <p:tags r:id="rId9"/>
              </p:custDataLst>
            </p:nvPr>
          </p:nvSpPr>
          <p:spPr>
            <a:xfrm>
              <a:off x="4786508" y="5720585"/>
              <a:ext cx="674063" cy="33280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2" name="等腰三角形 31"/>
            <p:cNvSpPr/>
            <p:nvPr>
              <p:custDataLst>
                <p:tags r:id="rId10"/>
              </p:custDataLst>
            </p:nvPr>
          </p:nvSpPr>
          <p:spPr>
            <a:xfrm>
              <a:off x="4151937" y="5645342"/>
              <a:ext cx="826463" cy="408043"/>
            </a:xfrm>
            <a:prstGeom prst="triangle">
              <a:avLst/>
            </a:prstGeom>
            <a:solidFill>
              <a:schemeClr val="accent4">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3" name="等腰三角形 32"/>
            <p:cNvSpPr/>
            <p:nvPr>
              <p:custDataLst>
                <p:tags r:id="rId11"/>
              </p:custDataLst>
            </p:nvPr>
          </p:nvSpPr>
          <p:spPr>
            <a:xfrm>
              <a:off x="6313124" y="5516676"/>
              <a:ext cx="266605" cy="131629"/>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4" name="等腰三角形 33"/>
            <p:cNvSpPr/>
            <p:nvPr>
              <p:custDataLst>
                <p:tags r:id="rId12"/>
              </p:custDataLst>
            </p:nvPr>
          </p:nvSpPr>
          <p:spPr>
            <a:xfrm>
              <a:off x="5572277" y="5720585"/>
              <a:ext cx="431377" cy="212981"/>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5" name="等腰三角形 34"/>
            <p:cNvSpPr/>
            <p:nvPr>
              <p:custDataLst>
                <p:tags r:id="rId13"/>
              </p:custDataLst>
            </p:nvPr>
          </p:nvSpPr>
          <p:spPr>
            <a:xfrm>
              <a:off x="5618478" y="5234511"/>
              <a:ext cx="169487" cy="8368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6" name="等腰三角形 35"/>
            <p:cNvSpPr/>
            <p:nvPr>
              <p:custDataLst>
                <p:tags r:id="rId14"/>
              </p:custDataLst>
            </p:nvPr>
          </p:nvSpPr>
          <p:spPr>
            <a:xfrm>
              <a:off x="4565168" y="5348993"/>
              <a:ext cx="266605" cy="131629"/>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7" name="等腰三角形 36"/>
            <p:cNvSpPr/>
            <p:nvPr>
              <p:custDataLst>
                <p:tags r:id="rId15"/>
              </p:custDataLst>
            </p:nvPr>
          </p:nvSpPr>
          <p:spPr>
            <a:xfrm>
              <a:off x="4202503" y="5803305"/>
              <a:ext cx="169487" cy="83680"/>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grpSp>
      <p:sp>
        <p:nvSpPr>
          <p:cNvPr id="2" name="标题 1"/>
          <p:cNvSpPr>
            <a:spLocks noGrp="1"/>
          </p:cNvSpPr>
          <p:nvPr>
            <p:ph type="title" hasCustomPrompt="1"/>
            <p:custDataLst>
              <p:tags r:id="rId3"/>
            </p:custDataLst>
          </p:nvPr>
        </p:nvSpPr>
        <p:spPr>
          <a:xfrm>
            <a:off x="2793365" y="2295525"/>
            <a:ext cx="6605270" cy="1950085"/>
          </a:xfrm>
        </p:spPr>
        <p:txBody>
          <a:bodyPr vert="horz" lIns="90170" tIns="46990" rIns="90170" bIns="46990" rtlCol="0" anchor="ctr" anchorCtr="0">
            <a:normAutofit/>
          </a:bodyPr>
          <a:lstStyle>
            <a:lvl1pPr marL="0" marR="0" algn="ctr" defTabSz="914400" rtl="0" eaLnBrk="1" fontAlgn="auto" latinLnBrk="0" hangingPunct="1">
              <a:lnSpc>
                <a:spcPct val="100000"/>
              </a:lnSpc>
              <a:buNone/>
              <a:defRPr kumimoji="0" lang="zh-CN" altLang="en-US" sz="9600" b="1" i="0" u="none" strike="noStrike" kern="1200" cap="none" spc="600" normalizeH="0" baseline="0" noProof="1" dirty="0">
                <a:solidFill>
                  <a:schemeClr val="tx1">
                    <a:lumMod val="75000"/>
                    <a:lumOff val="25000"/>
                  </a:schemeClr>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2021/5/26</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9" name="任意多边形: 形状 3"/>
          <p:cNvSpPr/>
          <p:nvPr>
            <p:custDataLst>
              <p:tags r:id="rId1"/>
            </p:custDataLst>
          </p:nvPr>
        </p:nvSpPr>
        <p:spPr>
          <a:xfrm>
            <a:off x="4930775" y="6114415"/>
            <a:ext cx="7261225" cy="66421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0" name="任意多边形: 形状 4"/>
          <p:cNvSpPr/>
          <p:nvPr>
            <p:custDataLst>
              <p:tags r:id="rId2"/>
            </p:custDataLst>
          </p:nvPr>
        </p:nvSpPr>
        <p:spPr>
          <a:xfrm>
            <a:off x="4930775" y="6193790"/>
            <a:ext cx="7261225" cy="66421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sp>
        <p:nvSpPr>
          <p:cNvPr id="11" name="任意多边形: 形状 7"/>
          <p:cNvSpPr/>
          <p:nvPr>
            <p:custDataLst>
              <p:tags r:id="rId3"/>
            </p:custDataLst>
          </p:nvPr>
        </p:nvSpPr>
        <p:spPr>
          <a:xfrm>
            <a:off x="0" y="6148705"/>
            <a:ext cx="7843520" cy="72009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a:p>
        </p:txBody>
      </p:sp>
      <p:sp>
        <p:nvSpPr>
          <p:cNvPr id="2" name="标题 1"/>
          <p:cNvSpPr>
            <a:spLocks noGrp="1"/>
          </p:cNvSpPr>
          <p:nvPr>
            <p:ph type="title"/>
            <p:custDataLst>
              <p:tags r:id="rId4"/>
            </p:custDataLst>
          </p:nvPr>
        </p:nvSpPr>
        <p:spPr/>
        <p:txBody>
          <a:bodyPr/>
          <a:lstStyle>
            <a:lvl1pPr>
              <a:defRPr baseline="0">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2021/5/26</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p:custDataLst>
              <p:tags r:id="rId1"/>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15"/>
          <p:cNvSpPr/>
          <p:nvPr>
            <p:custDataLst>
              <p:tags r:id="rId2"/>
            </p:custDataLst>
          </p:nvPr>
        </p:nvSpPr>
        <p:spPr>
          <a:xfrm rot="8220000">
            <a:off x="-495300" y="549275"/>
            <a:ext cx="1016635" cy="1052195"/>
          </a:xfrm>
          <a:custGeom>
            <a:avLst/>
            <a:gdLst/>
            <a:ahLst/>
            <a:cxnLst>
              <a:cxn ang="3">
                <a:pos x="hc" y="t"/>
              </a:cxn>
              <a:cxn ang="cd2">
                <a:pos x="l" y="vc"/>
              </a:cxn>
              <a:cxn ang="cd4">
                <a:pos x="hc" y="b"/>
              </a:cxn>
              <a:cxn ang="0">
                <a:pos x="r" y="vc"/>
              </a:cxn>
            </a:cxnLst>
            <a:rect l="l" t="t" r="r" b="b"/>
            <a:pathLst>
              <a:path w="1090" h="1128">
                <a:moveTo>
                  <a:pt x="0" y="0"/>
                </a:moveTo>
                <a:lnTo>
                  <a:pt x="1090" y="0"/>
                </a:lnTo>
                <a:lnTo>
                  <a:pt x="38" y="1128"/>
                </a:lnTo>
                <a:lnTo>
                  <a:pt x="0" y="1128"/>
                </a:lnTo>
                <a:lnTo>
                  <a:pt x="0" y="0"/>
                </a:lnTo>
                <a:close/>
              </a:path>
            </a:pathLst>
          </a:custGeom>
          <a:solidFill>
            <a:schemeClr val="accent1"/>
          </a:solidFill>
          <a:ln>
            <a:noFill/>
          </a:ln>
        </p:spPr>
        <p:style>
          <a:lnRef idx="2">
            <a:srgbClr val="0894A5">
              <a:shade val="50000"/>
            </a:srgbClr>
          </a:lnRef>
          <a:fillRef idx="1">
            <a:srgbClr val="0894A5"/>
          </a:fillRef>
          <a:effectRef idx="0">
            <a:srgbClr val="0894A5"/>
          </a:effectRef>
          <a:fontRef idx="minor">
            <a:sysClr val="window" lastClr="FFFFFF"/>
          </a:fontRef>
        </p:style>
        <p:txBody>
          <a:bodyPr wrap="square" rtlCol="0" anchor="ctr">
            <a:noAutofit/>
          </a:bodyPr>
          <a:lstStyle/>
          <a:p>
            <a:pPr algn="ctr"/>
            <a:endParaRPr lang="zh-CN" altLang="en-US"/>
          </a:p>
        </p:txBody>
      </p:sp>
      <p:grpSp>
        <p:nvGrpSpPr>
          <p:cNvPr id="11" name="组合 10"/>
          <p:cNvGrpSpPr/>
          <p:nvPr>
            <p:custDataLst>
              <p:tags r:id="rId3"/>
            </p:custDataLst>
          </p:nvPr>
        </p:nvGrpSpPr>
        <p:grpSpPr>
          <a:xfrm>
            <a:off x="11292205" y="4382135"/>
            <a:ext cx="899160" cy="2477770"/>
            <a:chOff x="17783" y="6171"/>
            <a:chExt cx="1416" cy="4632"/>
          </a:xfrm>
        </p:grpSpPr>
        <p:sp>
          <p:nvSpPr>
            <p:cNvPr id="12" name="任意多边形 11"/>
            <p:cNvSpPr/>
            <p:nvPr>
              <p:custDataLst>
                <p:tags r:id="rId9"/>
              </p:custDataLst>
            </p:nvPr>
          </p:nvSpPr>
          <p:spPr>
            <a:xfrm>
              <a:off x="17783" y="6641"/>
              <a:ext cx="1417" cy="4162"/>
            </a:xfrm>
            <a:custGeom>
              <a:avLst/>
              <a:gdLst>
                <a:gd name="ir" fmla="*/ w 3 4"/>
                <a:gd name="ib" fmla="*/ h 3 4"/>
              </a:gdLst>
              <a:ahLst/>
              <a:cxnLst>
                <a:cxn ang="3">
                  <a:pos x="hc" y="t"/>
                </a:cxn>
                <a:cxn ang="cd2">
                  <a:pos x="l" y="vc"/>
                </a:cxn>
                <a:cxn ang="cd4">
                  <a:pos x="hc" y="b"/>
                </a:cxn>
                <a:cxn ang="0">
                  <a:pos x="r" y="vc"/>
                </a:cxn>
              </a:cxnLst>
              <a:rect l="l" t="t" r="r" b="b"/>
              <a:pathLst>
                <a:path w="3741" h="7481">
                  <a:moveTo>
                    <a:pt x="3741" y="0"/>
                  </a:moveTo>
                  <a:lnTo>
                    <a:pt x="3741" y="1"/>
                  </a:lnTo>
                  <a:lnTo>
                    <a:pt x="3741" y="7481"/>
                  </a:lnTo>
                  <a:lnTo>
                    <a:pt x="3741" y="7481"/>
                  </a:lnTo>
                  <a:lnTo>
                    <a:pt x="0" y="3741"/>
                  </a:lnTo>
                  <a:lnTo>
                    <a:pt x="3741" y="0"/>
                  </a:lnTo>
                  <a:close/>
                </a:path>
              </a:pathLst>
            </a:custGeom>
            <a:solidFill>
              <a:schemeClr val="accent6"/>
            </a:solidFill>
            <a:ln>
              <a:noFill/>
            </a:ln>
          </p:spPr>
          <p:style>
            <a:lnRef idx="2">
              <a:srgbClr val="0894A5">
                <a:shade val="50000"/>
              </a:srgbClr>
            </a:lnRef>
            <a:fillRef idx="1">
              <a:srgbClr val="0894A5"/>
            </a:fillRef>
            <a:effectRef idx="0">
              <a:srgbClr val="0894A5"/>
            </a:effectRef>
            <a:fontRef idx="minor">
              <a:sysClr val="window" lastClr="FFFFFF"/>
            </a:fontRef>
          </p:style>
          <p:txBody>
            <a:bodyPr wrap="square" rtlCol="0" anchor="ctr">
              <a:noAutofit/>
            </a:bodyPr>
            <a:lstStyle/>
            <a:p>
              <a:pPr algn="ctr"/>
              <a:endParaRPr lang="zh-CN" altLang="en-US"/>
            </a:p>
          </p:txBody>
        </p:sp>
        <p:sp>
          <p:nvSpPr>
            <p:cNvPr id="13" name="任意多边形 11"/>
            <p:cNvSpPr/>
            <p:nvPr>
              <p:custDataLst>
                <p:tags r:id="rId10"/>
              </p:custDataLst>
            </p:nvPr>
          </p:nvSpPr>
          <p:spPr>
            <a:xfrm>
              <a:off x="17783" y="6171"/>
              <a:ext cx="1417" cy="4162"/>
            </a:xfrm>
            <a:custGeom>
              <a:avLst/>
              <a:gdLst>
                <a:gd name="ir" fmla="*/ w 3 4"/>
                <a:gd name="ib" fmla="*/ h 3 4"/>
              </a:gdLst>
              <a:ahLst/>
              <a:cxnLst>
                <a:cxn ang="3">
                  <a:pos x="hc" y="t"/>
                </a:cxn>
                <a:cxn ang="cd2">
                  <a:pos x="l" y="vc"/>
                </a:cxn>
                <a:cxn ang="cd4">
                  <a:pos x="hc" y="b"/>
                </a:cxn>
                <a:cxn ang="0">
                  <a:pos x="r" y="vc"/>
                </a:cxn>
              </a:cxnLst>
              <a:rect l="l" t="t" r="r" b="b"/>
              <a:pathLst>
                <a:path w="3741" h="7481">
                  <a:moveTo>
                    <a:pt x="3741" y="0"/>
                  </a:moveTo>
                  <a:lnTo>
                    <a:pt x="3741" y="1"/>
                  </a:lnTo>
                  <a:lnTo>
                    <a:pt x="3741" y="7481"/>
                  </a:lnTo>
                  <a:lnTo>
                    <a:pt x="3741" y="7481"/>
                  </a:lnTo>
                  <a:lnTo>
                    <a:pt x="0" y="3741"/>
                  </a:lnTo>
                  <a:lnTo>
                    <a:pt x="3741" y="0"/>
                  </a:lnTo>
                  <a:close/>
                </a:path>
              </a:pathLst>
            </a:custGeom>
            <a:solidFill>
              <a:schemeClr val="accent1"/>
            </a:solidFill>
            <a:ln>
              <a:noFill/>
            </a:ln>
          </p:spPr>
          <p:style>
            <a:lnRef idx="2">
              <a:srgbClr val="0894A5">
                <a:shade val="50000"/>
              </a:srgbClr>
            </a:lnRef>
            <a:fillRef idx="1">
              <a:srgbClr val="0894A5"/>
            </a:fillRef>
            <a:effectRef idx="0">
              <a:srgbClr val="0894A5"/>
            </a:effectRef>
            <a:fontRef idx="minor">
              <a:sysClr val="window" lastClr="FFFFFF"/>
            </a:fontRef>
          </p:style>
          <p:txBody>
            <a:bodyPr wrap="square" rtlCol="0" anchor="ctr">
              <a:noAutofit/>
            </a:bodyPr>
            <a:lstStyle/>
            <a:p>
              <a:pPr algn="ctr"/>
              <a:endParaRPr lang="zh-CN" altLang="en-US"/>
            </a:p>
          </p:txBody>
        </p:sp>
      </p:gr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2021/5/26</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grpSp>
        <p:nvGrpSpPr>
          <p:cNvPr id="11" name="组合 10"/>
          <p:cNvGrpSpPr/>
          <p:nvPr>
            <p:custDataLst>
              <p:tags r:id="rId1"/>
            </p:custDataLst>
          </p:nvPr>
        </p:nvGrpSpPr>
        <p:grpSpPr>
          <a:xfrm>
            <a:off x="7926070" y="6221730"/>
            <a:ext cx="4265930" cy="640080"/>
            <a:chOff x="6681" y="8932"/>
            <a:chExt cx="12521" cy="1880"/>
          </a:xfrm>
        </p:grpSpPr>
        <p:sp>
          <p:nvSpPr>
            <p:cNvPr id="12" name="任意多边形: 形状 3"/>
            <p:cNvSpPr/>
            <p:nvPr>
              <p:custDataLst>
                <p:tags r:id="rId10"/>
              </p:custDataLst>
            </p:nvPr>
          </p:nvSpPr>
          <p:spPr>
            <a:xfrm>
              <a:off x="6681" y="8932"/>
              <a:ext cx="12521" cy="188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3" name="任意多边形: 形状 4"/>
            <p:cNvSpPr/>
            <p:nvPr>
              <p:custDataLst>
                <p:tags r:id="rId11"/>
              </p:custDataLst>
            </p:nvPr>
          </p:nvSpPr>
          <p:spPr>
            <a:xfrm>
              <a:off x="7765" y="9076"/>
              <a:ext cx="11435" cy="1724"/>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grpSp>
      <p:sp>
        <p:nvSpPr>
          <p:cNvPr id="14" name="任意多边形: 形状 9"/>
          <p:cNvSpPr/>
          <p:nvPr>
            <p:custDataLst>
              <p:tags r:id="rId2"/>
            </p:custDataLst>
          </p:nvPr>
        </p:nvSpPr>
        <p:spPr>
          <a:xfrm>
            <a:off x="11525250" y="0"/>
            <a:ext cx="666750" cy="769620"/>
          </a:xfrm>
          <a:custGeom>
            <a:avLst/>
            <a:gdLst>
              <a:gd name="connsiteX0" fmla="*/ 969010 w 969009"/>
              <a:gd name="connsiteY0" fmla="*/ 1117600 h 1117600"/>
              <a:gd name="connsiteX1" fmla="*/ 969010 w 969009"/>
              <a:gd name="connsiteY1" fmla="*/ 0 h 1117600"/>
              <a:gd name="connsiteX2" fmla="*/ 0 w 969009"/>
              <a:gd name="connsiteY2" fmla="*/ 0 h 1117600"/>
            </a:gdLst>
            <a:ahLst/>
            <a:cxnLst>
              <a:cxn ang="0">
                <a:pos x="connsiteX0" y="connsiteY0"/>
              </a:cxn>
              <a:cxn ang="0">
                <a:pos x="connsiteX1" y="connsiteY1"/>
              </a:cxn>
              <a:cxn ang="0">
                <a:pos x="connsiteX2" y="connsiteY2"/>
              </a:cxn>
            </a:cxnLst>
            <a:rect l="l" t="t" r="r" b="b"/>
            <a:pathLst>
              <a:path w="969009" h="1117600">
                <a:moveTo>
                  <a:pt x="969010" y="1117600"/>
                </a:moveTo>
                <a:lnTo>
                  <a:pt x="969010" y="0"/>
                </a:lnTo>
                <a:lnTo>
                  <a:pt x="0" y="0"/>
                </a:lnTo>
                <a:close/>
              </a:path>
            </a:pathLst>
          </a:custGeom>
          <a:solidFill>
            <a:schemeClr val="accent1">
              <a:lumMod val="50000"/>
            </a:schemeClr>
          </a:solidFill>
          <a:ln w="6350" cap="flat">
            <a:noFill/>
            <a:prstDash val="solid"/>
            <a:miter/>
          </a:ln>
        </p:spPr>
        <p:txBody>
          <a:bodyPr rtlCol="0" anchor="ctr"/>
          <a:lstStyle/>
          <a:p>
            <a:endParaRPr lang="zh-CN" altLang="en-US"/>
          </a:p>
        </p:txBody>
      </p:sp>
      <p:sp>
        <p:nvSpPr>
          <p:cNvPr id="8" name="矩形 7"/>
          <p:cNvSpPr/>
          <p:nvPr>
            <p:custDataLst>
              <p:tags r:id="rId3"/>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bg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2021/5/26</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bg1"/>
                </a:solidFill>
                <a:latin typeface="Arial" panose="020B0604020202020204" pitchFamily="34" charset="0"/>
                <a:ea typeface="微软雅黑" panose="020B0503020204020204" charset="-122"/>
              </a:defRPr>
            </a:lvl1pPr>
            <a:lvl2pPr>
              <a:defRPr baseline="0">
                <a:solidFill>
                  <a:schemeClr val="bg1"/>
                </a:solidFill>
                <a:latin typeface="Arial" panose="020B0604020202020204" pitchFamily="34" charset="0"/>
                <a:ea typeface="微软雅黑" panose="020B0503020204020204" charset="-122"/>
              </a:defRPr>
            </a:lvl2pPr>
            <a:lvl3pPr>
              <a:defRPr baseline="0">
                <a:solidFill>
                  <a:schemeClr val="bg1"/>
                </a:solidFill>
                <a:latin typeface="Arial" panose="020B0604020202020204" pitchFamily="34" charset="0"/>
                <a:ea typeface="微软雅黑" panose="020B0503020204020204" charset="-122"/>
              </a:defRPr>
            </a:lvl3pPr>
            <a:lvl4pPr>
              <a:defRPr baseline="0">
                <a:solidFill>
                  <a:schemeClr val="bg1"/>
                </a:solidFill>
                <a:latin typeface="Arial" panose="020B0604020202020204" pitchFamily="34" charset="0"/>
                <a:ea typeface="微软雅黑" panose="020B0503020204020204" charset="-122"/>
              </a:defRPr>
            </a:lvl4pPr>
            <a:lvl5pPr>
              <a:defRPr baseline="0">
                <a:solidFill>
                  <a:schemeClr val="bg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3" name="任意多边形: 形状 3"/>
          <p:cNvSpPr/>
          <p:nvPr>
            <p:custDataLst>
              <p:tags r:id="rId1"/>
            </p:custDataLst>
          </p:nvPr>
        </p:nvSpPr>
        <p:spPr>
          <a:xfrm>
            <a:off x="4930775" y="6388735"/>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4" name="任意多边形: 形状 4"/>
          <p:cNvSpPr/>
          <p:nvPr>
            <p:custDataLst>
              <p:tags r:id="rId2"/>
            </p:custDataLst>
          </p:nvPr>
        </p:nvSpPr>
        <p:spPr>
          <a:xfrm>
            <a:off x="4930775" y="6438900"/>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sp>
        <p:nvSpPr>
          <p:cNvPr id="15" name="任意多边形: 形状 7"/>
          <p:cNvSpPr/>
          <p:nvPr>
            <p:custDataLst>
              <p:tags r:id="rId3"/>
            </p:custDataLst>
          </p:nvPr>
        </p:nvSpPr>
        <p:spPr>
          <a:xfrm>
            <a:off x="0" y="6414135"/>
            <a:ext cx="7843520" cy="45466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a:p>
        </p:txBody>
      </p:sp>
      <p:sp>
        <p:nvSpPr>
          <p:cNvPr id="10" name="矩形 9"/>
          <p:cNvSpPr/>
          <p:nvPr>
            <p:custDataLst>
              <p:tags r:id="rId4"/>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bg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2021/5/26</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2" name="任意多边形: 形状 7"/>
          <p:cNvSpPr/>
          <p:nvPr>
            <p:custDataLst>
              <p:tags r:id="rId1"/>
            </p:custDataLst>
          </p:nvPr>
        </p:nvSpPr>
        <p:spPr>
          <a:xfrm rot="10800000">
            <a:off x="568960" y="0"/>
            <a:ext cx="11623040" cy="45466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a:p>
        </p:txBody>
      </p:sp>
      <p:grpSp>
        <p:nvGrpSpPr>
          <p:cNvPr id="13" name="组合 12"/>
          <p:cNvGrpSpPr/>
          <p:nvPr>
            <p:custDataLst>
              <p:tags r:id="rId2"/>
            </p:custDataLst>
          </p:nvPr>
        </p:nvGrpSpPr>
        <p:grpSpPr>
          <a:xfrm rot="10800000">
            <a:off x="-635" y="0"/>
            <a:ext cx="4265930" cy="640080"/>
            <a:chOff x="6681" y="8932"/>
            <a:chExt cx="12521" cy="1880"/>
          </a:xfrm>
        </p:grpSpPr>
        <p:sp>
          <p:nvSpPr>
            <p:cNvPr id="14" name="任意多边形: 形状 3"/>
            <p:cNvSpPr/>
            <p:nvPr>
              <p:custDataLst>
                <p:tags r:id="rId10"/>
              </p:custDataLst>
            </p:nvPr>
          </p:nvSpPr>
          <p:spPr>
            <a:xfrm>
              <a:off x="6681" y="8932"/>
              <a:ext cx="12521" cy="188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5" name="任意多边形: 形状 4"/>
            <p:cNvSpPr/>
            <p:nvPr>
              <p:custDataLst>
                <p:tags r:id="rId11"/>
              </p:custDataLst>
            </p:nvPr>
          </p:nvSpPr>
          <p:spPr>
            <a:xfrm>
              <a:off x="7765" y="9076"/>
              <a:ext cx="11435" cy="1724"/>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grpSp>
      <p:sp>
        <p:nvSpPr>
          <p:cNvPr id="8" name="矩形 7"/>
          <p:cNvSpPr/>
          <p:nvPr>
            <p:custDataLst>
              <p:tags r:id="rId3"/>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2021/5/26</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5" name="任意多边形: 形状 3"/>
          <p:cNvSpPr/>
          <p:nvPr>
            <p:custDataLst>
              <p:tags r:id="rId1"/>
            </p:custDataLst>
          </p:nvPr>
        </p:nvSpPr>
        <p:spPr>
          <a:xfrm>
            <a:off x="4930775" y="6388735"/>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6" name="任意多边形: 形状 4"/>
          <p:cNvSpPr/>
          <p:nvPr>
            <p:custDataLst>
              <p:tags r:id="rId2"/>
            </p:custDataLst>
          </p:nvPr>
        </p:nvSpPr>
        <p:spPr>
          <a:xfrm>
            <a:off x="4930775" y="6438900"/>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sp>
        <p:nvSpPr>
          <p:cNvPr id="17" name="任意多边形: 形状 7"/>
          <p:cNvSpPr/>
          <p:nvPr>
            <p:custDataLst>
              <p:tags r:id="rId3"/>
            </p:custDataLst>
          </p:nvPr>
        </p:nvSpPr>
        <p:spPr>
          <a:xfrm>
            <a:off x="0" y="6414135"/>
            <a:ext cx="7843520" cy="45466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dirty="0"/>
          </a:p>
        </p:txBody>
      </p:sp>
      <p:sp>
        <p:nvSpPr>
          <p:cNvPr id="10" name="矩形 9"/>
          <p:cNvSpPr/>
          <p:nvPr>
            <p:custDataLst>
              <p:tags r:id="rId4"/>
            </p:custDataLst>
          </p:nvPr>
        </p:nvSpPr>
        <p:spPr>
          <a:xfrm>
            <a:off x="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5"/>
            </p:custDataLst>
          </p:nvPr>
        </p:nvSpPr>
        <p:spPr>
          <a:xfrm>
            <a:off x="579600" y="237600"/>
            <a:ext cx="11037600" cy="441964"/>
          </a:xfrm>
        </p:spPr>
        <p:txBody>
          <a:bodyPr>
            <a:normAutofit/>
          </a:bodyPr>
          <a:lstStyle>
            <a:lvl1pPr>
              <a:defRPr sz="2800" baseline="0">
                <a:solidFill>
                  <a:schemeClr val="bg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2021/5/26</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9"/>
            </p:custDataLst>
          </p:nvPr>
        </p:nvSpPr>
        <p:spPr>
          <a:xfrm>
            <a:off x="579600" y="1663200"/>
            <a:ext cx="53424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10"/>
            </p:custDataLst>
          </p:nvPr>
        </p:nvSpPr>
        <p:spPr>
          <a:xfrm>
            <a:off x="6242400" y="1663200"/>
            <a:ext cx="53676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1"/>
            </p:custDataLst>
          </p:nvPr>
        </p:nvSpPr>
        <p:spPr>
          <a:xfrm>
            <a:off x="572400" y="4816800"/>
            <a:ext cx="53424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2"/>
            </p:custDataLst>
          </p:nvPr>
        </p:nvSpPr>
        <p:spPr>
          <a:xfrm>
            <a:off x="6253200" y="4813200"/>
            <a:ext cx="53676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12" name="组合 11"/>
          <p:cNvGrpSpPr/>
          <p:nvPr>
            <p:custDataLst>
              <p:tags r:id="rId2"/>
            </p:custDataLst>
          </p:nvPr>
        </p:nvGrpSpPr>
        <p:grpSpPr>
          <a:xfrm rot="10800000">
            <a:off x="10848975" y="3707765"/>
            <a:ext cx="1343025" cy="3265170"/>
            <a:chOff x="0" y="606"/>
            <a:chExt cx="1437" cy="8628"/>
          </a:xfrm>
        </p:grpSpPr>
        <p:sp>
          <p:nvSpPr>
            <p:cNvPr id="14" name="等腰三角形 13"/>
            <p:cNvSpPr/>
            <p:nvPr>
              <p:custDataLst>
                <p:tags r:id="rId11"/>
              </p:custDataLst>
            </p:nvPr>
          </p:nvSpPr>
          <p:spPr>
            <a:xfrm rot="5400000">
              <a:off x="-3067" y="3673"/>
              <a:ext cx="7571" cy="1437"/>
            </a:xfrm>
            <a:prstGeom prst="triangle">
              <a:avLst/>
            </a:prstGeom>
            <a:solidFill>
              <a:schemeClr val="accent6"/>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sp>
          <p:nvSpPr>
            <p:cNvPr id="15" name="等腰三角形 14"/>
            <p:cNvSpPr/>
            <p:nvPr>
              <p:custDataLst>
                <p:tags r:id="rId12"/>
              </p:custDataLst>
            </p:nvPr>
          </p:nvSpPr>
          <p:spPr>
            <a:xfrm rot="5400000">
              <a:off x="-3067" y="4730"/>
              <a:ext cx="7571" cy="1437"/>
            </a:xfrm>
            <a:prstGeom prst="triangle">
              <a:avLst/>
            </a:prstGeom>
            <a:solidFill>
              <a:schemeClr val="accent1"/>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grpSp>
      <p:grpSp>
        <p:nvGrpSpPr>
          <p:cNvPr id="16" name="组合 15"/>
          <p:cNvGrpSpPr/>
          <p:nvPr>
            <p:custDataLst>
              <p:tags r:id="rId3"/>
            </p:custDataLst>
          </p:nvPr>
        </p:nvGrpSpPr>
        <p:grpSpPr>
          <a:xfrm>
            <a:off x="0" y="113665"/>
            <a:ext cx="1343025" cy="3265170"/>
            <a:chOff x="0" y="606"/>
            <a:chExt cx="1437" cy="8628"/>
          </a:xfrm>
        </p:grpSpPr>
        <p:sp>
          <p:nvSpPr>
            <p:cNvPr id="17" name="等腰三角形 16"/>
            <p:cNvSpPr/>
            <p:nvPr>
              <p:custDataLst>
                <p:tags r:id="rId9"/>
              </p:custDataLst>
            </p:nvPr>
          </p:nvSpPr>
          <p:spPr>
            <a:xfrm rot="5400000">
              <a:off x="-3067" y="3673"/>
              <a:ext cx="7571" cy="1437"/>
            </a:xfrm>
            <a:prstGeom prst="triangle">
              <a:avLst/>
            </a:prstGeom>
            <a:solidFill>
              <a:schemeClr val="accent6"/>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sp>
          <p:nvSpPr>
            <p:cNvPr id="18" name="等腰三角形 17"/>
            <p:cNvSpPr/>
            <p:nvPr>
              <p:custDataLst>
                <p:tags r:id="rId10"/>
              </p:custDataLst>
            </p:nvPr>
          </p:nvSpPr>
          <p:spPr>
            <a:xfrm rot="5400000">
              <a:off x="-3067" y="4730"/>
              <a:ext cx="7571" cy="1437"/>
            </a:xfrm>
            <a:prstGeom prst="triangle">
              <a:avLst/>
            </a:prstGeom>
            <a:solidFill>
              <a:schemeClr val="accent1"/>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grpSp>
      <p:sp>
        <p:nvSpPr>
          <p:cNvPr id="2" name="标题 1"/>
          <p:cNvSpPr>
            <a:spLocks noGrp="1"/>
          </p:cNvSpPr>
          <p:nvPr>
            <p:ph type="title" hasCustomPrompt="1"/>
            <p:custDataLst>
              <p:tags r:id="rId4"/>
            </p:custDataLst>
          </p:nvPr>
        </p:nvSpPr>
        <p:spPr>
          <a:xfrm>
            <a:off x="1522800" y="1339200"/>
            <a:ext cx="9144000" cy="2386800"/>
          </a:xfrm>
        </p:spPr>
        <p:txBody>
          <a:bodyPr anchor="b">
            <a:normAutofit/>
          </a:bodyPr>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2021/5/26</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2021/5/26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6.xml"/><Relationship Id="rId3" Type="http://schemas.openxmlformats.org/officeDocument/2006/relationships/slideLayout" Target="../slideLayouts/slideLayout3.xml"/><Relationship Id="rId21"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2021/5/26</a:t>
            </a:fld>
            <a:endParaRPr lang="zh-CN" altLang="en-US"/>
          </a:p>
        </p:txBody>
      </p:sp>
      <p:sp>
        <p:nvSpPr>
          <p:cNvPr id="5" name="页脚占位符 4"/>
          <p:cNvSpPr>
            <a:spLocks noGrp="1"/>
          </p:cNvSpPr>
          <p:nvPr>
            <p:ph type="ftr" sz="quarter" idx="3"/>
            <p:custDataLst>
              <p:tags r:id="rId24"/>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lumMod val="85000"/>
              <a:lumOff val="15000"/>
            </a:schemeClr>
          </a:solidFill>
          <a:uFillTx/>
          <a:latin typeface="微软雅黑" panose="020B0503020204020204" charset="-122"/>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180.xml"/><Relationship Id="rId3" Type="http://schemas.openxmlformats.org/officeDocument/2006/relationships/tags" Target="../tags/tag175.xml"/><Relationship Id="rId7" Type="http://schemas.openxmlformats.org/officeDocument/2006/relationships/tags" Target="../tags/tag179.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tags" Target="../tags/tag178.xml"/><Relationship Id="rId11" Type="http://schemas.openxmlformats.org/officeDocument/2006/relationships/slideLayout" Target="../slideLayouts/slideLayout6.xml"/><Relationship Id="rId5" Type="http://schemas.openxmlformats.org/officeDocument/2006/relationships/tags" Target="../tags/tag177.xml"/><Relationship Id="rId10" Type="http://schemas.openxmlformats.org/officeDocument/2006/relationships/tags" Target="../tags/tag182.xml"/><Relationship Id="rId4" Type="http://schemas.openxmlformats.org/officeDocument/2006/relationships/tags" Target="../tags/tag176.xml"/><Relationship Id="rId9" Type="http://schemas.openxmlformats.org/officeDocument/2006/relationships/tags" Target="../tags/tag18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6.xml"/><Relationship Id="rId1" Type="http://schemas.openxmlformats.org/officeDocument/2006/relationships/tags" Target="../tags/tag18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6.xml"/><Relationship Id="rId1" Type="http://schemas.openxmlformats.org/officeDocument/2006/relationships/tags" Target="../tags/tag18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86.xml"/><Relationship Id="rId1" Type="http://schemas.openxmlformats.org/officeDocument/2006/relationships/tags" Target="../tags/tag185.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tags" Target="../tags/tag18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88.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89.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6.xml"/><Relationship Id="rId1" Type="http://schemas.openxmlformats.org/officeDocument/2006/relationships/tags" Target="../tags/tag190.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92.xml"/><Relationship Id="rId1" Type="http://schemas.openxmlformats.org/officeDocument/2006/relationships/tags" Target="../tags/tag19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6.xml"/><Relationship Id="rId1" Type="http://schemas.openxmlformats.org/officeDocument/2006/relationships/tags" Target="../tags/tag193.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00.xml"/><Relationship Id="rId1" Type="http://schemas.openxmlformats.org/officeDocument/2006/relationships/tags" Target="../tags/tag199.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02.xml"/><Relationship Id="rId1" Type="http://schemas.openxmlformats.org/officeDocument/2006/relationships/tags" Target="../tags/tag201.xml"/><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26.png"/><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06.xml"/><Relationship Id="rId1" Type="http://schemas.openxmlformats.org/officeDocument/2006/relationships/tags" Target="../tags/tag205.xml"/><Relationship Id="rId5" Type="http://schemas.openxmlformats.org/officeDocument/2006/relationships/image" Target="../media/image2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14.xml"/><Relationship Id="rId1" Type="http://schemas.openxmlformats.org/officeDocument/2006/relationships/tags" Target="../tags/tag213.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16.xml"/><Relationship Id="rId1" Type="http://schemas.openxmlformats.org/officeDocument/2006/relationships/tags" Target="../tags/tag215.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18.xml"/><Relationship Id="rId1" Type="http://schemas.openxmlformats.org/officeDocument/2006/relationships/tags" Target="../tags/tag217.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20.xml"/><Relationship Id="rId1" Type="http://schemas.openxmlformats.org/officeDocument/2006/relationships/tags" Target="../tags/tag21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22.xml"/><Relationship Id="rId1" Type="http://schemas.openxmlformats.org/officeDocument/2006/relationships/tags" Target="../tags/tag2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p:txBody>
          <a:bodyPr/>
          <a:lstStyle/>
          <a:p>
            <a:r>
              <a:rPr lang="zh-CN" altLang="en-US" dirty="0"/>
              <a:t>朴素贝叶斯</a:t>
            </a:r>
          </a:p>
        </p:txBody>
      </p:sp>
      <p:sp>
        <p:nvSpPr>
          <p:cNvPr id="5" name="文本占位符 4"/>
          <p:cNvSpPr>
            <a:spLocks noGrp="1"/>
          </p:cNvSpPr>
          <p:nvPr>
            <p:ph type="body" sz="quarter" idx="13"/>
            <p:custDataLst>
              <p:tags r:id="rId3"/>
            </p:custDataLst>
          </p:nvPr>
        </p:nvSpPr>
        <p:spPr>
          <a:xfrm>
            <a:off x="-473034" y="0"/>
            <a:ext cx="7107238" cy="511698"/>
          </a:xfrm>
        </p:spPr>
        <p:txBody>
          <a:bodyPr/>
          <a:lstStyle/>
          <a:p>
            <a:r>
              <a:rPr lang="zh-CN" altLang="en-US" dirty="0"/>
              <a:t>监督学习</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矩形 86"/>
          <p:cNvSpPr/>
          <p:nvPr>
            <p:custDataLst>
              <p:tags r:id="rId2"/>
            </p:custDataLst>
          </p:nvPr>
        </p:nvSpPr>
        <p:spPr>
          <a:xfrm>
            <a:off x="1605879" y="2674460"/>
            <a:ext cx="1116963" cy="829945"/>
          </a:xfrm>
          <a:prstGeom prst="rect">
            <a:avLst/>
          </a:prstGeom>
          <a:noFill/>
        </p:spPr>
        <p:txBody>
          <a:bodyPr wrap="square">
            <a:normAutofit/>
          </a:bodyPr>
          <a:lstStyle/>
          <a:p>
            <a:r>
              <a:rPr lang="en-US" altLang="zh-CN" sz="4800" b="1" spc="-200" dirty="0">
                <a:solidFill>
                  <a:schemeClr val="accent1"/>
                </a:solidFill>
                <a:uFillTx/>
                <a:latin typeface="Arial" panose="020B0604020202020204" pitchFamily="34" charset="0"/>
                <a:ea typeface="微软雅黑" panose="020B0503020204020204" charset="-122"/>
                <a:cs typeface="+mn-ea"/>
                <a:sym typeface="+mn-lt"/>
              </a:rPr>
              <a:t>01.</a:t>
            </a:r>
          </a:p>
        </p:txBody>
      </p:sp>
      <p:sp>
        <p:nvSpPr>
          <p:cNvPr id="88" name="矩形 87"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3"/>
            </p:custDataLst>
          </p:nvPr>
        </p:nvSpPr>
        <p:spPr>
          <a:xfrm>
            <a:off x="2574916" y="2613025"/>
            <a:ext cx="3063204" cy="690245"/>
          </a:xfrm>
          <a:prstGeom prst="rect">
            <a:avLst/>
          </a:prstGeom>
          <a:ln>
            <a:noFill/>
          </a:ln>
        </p:spPr>
        <p:txBody>
          <a:bodyPr wrap="square" lIns="90000" tIns="46800" rIns="90000" bIns="0" anchor="b" anchorCtr="0">
            <a:normAutofit/>
          </a:bodyPr>
          <a:lstStyle/>
          <a:p>
            <a:pPr marR="0" algn="ctr" defTabSz="914400" fontAlgn="auto">
              <a:spcBef>
                <a:spcPts val="0"/>
              </a:spcBef>
              <a:spcAft>
                <a:spcPts val="0"/>
              </a:spcAft>
              <a:buClrTx/>
              <a:buSzTx/>
              <a:buFontTx/>
            </a:pPr>
            <a:r>
              <a:rPr lang="zh-CN" altLang="en-US" sz="2400" spc="150" dirty="0">
                <a:solidFill>
                  <a:schemeClr val="accent1"/>
                </a:solidFill>
                <a:latin typeface="Arial" panose="020B0604020202020204" pitchFamily="34" charset="0"/>
                <a:ea typeface="汉仪旗黑-85S" panose="00020600040101010101" pitchFamily="18" charset="-122"/>
                <a:cs typeface="微软雅黑" panose="020B0503020204020204" charset="-122"/>
                <a:sym typeface="+mn-lt"/>
              </a:rPr>
              <a:t>概率论复习</a:t>
            </a:r>
          </a:p>
        </p:txBody>
      </p:sp>
      <p:sp>
        <p:nvSpPr>
          <p:cNvPr id="90" name="矩形 89"/>
          <p:cNvSpPr/>
          <p:nvPr>
            <p:custDataLst>
              <p:tags r:id="rId4"/>
            </p:custDataLst>
          </p:nvPr>
        </p:nvSpPr>
        <p:spPr>
          <a:xfrm>
            <a:off x="1605879" y="4520286"/>
            <a:ext cx="1116963" cy="829945"/>
          </a:xfrm>
          <a:prstGeom prst="rect">
            <a:avLst/>
          </a:prstGeom>
          <a:noFill/>
        </p:spPr>
        <p:txBody>
          <a:bodyPr wrap="square">
            <a:normAutofit/>
          </a:bodyPr>
          <a:lstStyle/>
          <a:p>
            <a:r>
              <a:rPr lang="en-US" altLang="zh-CN" sz="4800" b="1" spc="-200" dirty="0">
                <a:solidFill>
                  <a:schemeClr val="accent3"/>
                </a:solidFill>
                <a:uFillTx/>
                <a:latin typeface="Arial" panose="020B0604020202020204" pitchFamily="34" charset="0"/>
                <a:ea typeface="微软雅黑" panose="020B0503020204020204" charset="-122"/>
                <a:cs typeface="+mn-ea"/>
                <a:sym typeface="+mn-lt"/>
              </a:rPr>
              <a:t>03.</a:t>
            </a:r>
          </a:p>
        </p:txBody>
      </p:sp>
      <p:sp>
        <p:nvSpPr>
          <p:cNvPr id="91" name="矩形 90"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5"/>
            </p:custDataLst>
          </p:nvPr>
        </p:nvSpPr>
        <p:spPr>
          <a:xfrm>
            <a:off x="2578129" y="4567054"/>
            <a:ext cx="3059991" cy="591185"/>
          </a:xfrm>
          <a:prstGeom prst="rect">
            <a:avLst/>
          </a:prstGeom>
          <a:ln>
            <a:noFill/>
          </a:ln>
        </p:spPr>
        <p:txBody>
          <a:bodyPr wrap="square" lIns="90000" tIns="46800" rIns="90000" bIns="0" anchor="b" anchorCtr="0">
            <a:normAutofit/>
          </a:bodyPr>
          <a:lstStyle/>
          <a:p>
            <a:pPr marR="0" algn="ctr" defTabSz="914400" fontAlgn="auto">
              <a:spcBef>
                <a:spcPts val="0"/>
              </a:spcBef>
              <a:spcAft>
                <a:spcPts val="0"/>
              </a:spcAft>
              <a:buClrTx/>
              <a:buSzTx/>
              <a:buFontTx/>
            </a:pPr>
            <a:r>
              <a:rPr lang="zh-CN" altLang="en-US" sz="2400" spc="150" dirty="0">
                <a:solidFill>
                  <a:schemeClr val="accent1"/>
                </a:solidFill>
                <a:latin typeface="Arial" panose="020B0604020202020204" pitchFamily="34" charset="0"/>
                <a:ea typeface="汉仪旗黑-85S" panose="00020600040101010101" pitchFamily="18" charset="-122"/>
                <a:cs typeface="微软雅黑" panose="020B0503020204020204" charset="-122"/>
                <a:sym typeface="+mn-lt"/>
              </a:rPr>
              <a:t>朴素贝叶斯</a:t>
            </a:r>
          </a:p>
        </p:txBody>
      </p:sp>
      <p:sp>
        <p:nvSpPr>
          <p:cNvPr id="93" name="矩形 92"/>
          <p:cNvSpPr/>
          <p:nvPr>
            <p:custDataLst>
              <p:tags r:id="rId6"/>
            </p:custDataLst>
          </p:nvPr>
        </p:nvSpPr>
        <p:spPr>
          <a:xfrm>
            <a:off x="5777194" y="2674460"/>
            <a:ext cx="1116963" cy="829945"/>
          </a:xfrm>
          <a:prstGeom prst="rect">
            <a:avLst/>
          </a:prstGeom>
          <a:noFill/>
        </p:spPr>
        <p:txBody>
          <a:bodyPr wrap="square">
            <a:normAutofit/>
          </a:bodyPr>
          <a:lstStyle/>
          <a:p>
            <a:r>
              <a:rPr lang="en-US" altLang="zh-CN" sz="4800" b="1" spc="-200" dirty="0">
                <a:solidFill>
                  <a:schemeClr val="accent2"/>
                </a:solidFill>
                <a:uFillTx/>
                <a:latin typeface="Arial" panose="020B0604020202020204" pitchFamily="34" charset="0"/>
                <a:ea typeface="微软雅黑" panose="020B0503020204020204" charset="-122"/>
                <a:cs typeface="+mn-ea"/>
                <a:sym typeface="+mn-lt"/>
              </a:rPr>
              <a:t>02.</a:t>
            </a:r>
          </a:p>
        </p:txBody>
      </p:sp>
      <p:sp>
        <p:nvSpPr>
          <p:cNvPr id="94" name="矩形 93"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7"/>
            </p:custDataLst>
          </p:nvPr>
        </p:nvSpPr>
        <p:spPr>
          <a:xfrm>
            <a:off x="6885305" y="2613025"/>
            <a:ext cx="3202278" cy="601345"/>
          </a:xfrm>
          <a:prstGeom prst="rect">
            <a:avLst/>
          </a:prstGeom>
          <a:ln>
            <a:noFill/>
          </a:ln>
        </p:spPr>
        <p:txBody>
          <a:bodyPr wrap="square" lIns="90000" tIns="46800" rIns="90000" bIns="0" anchor="b" anchorCtr="0">
            <a:normAutofit/>
          </a:bodyPr>
          <a:lstStyle/>
          <a:p>
            <a:pPr marR="0" algn="ctr" defTabSz="914400" fontAlgn="auto">
              <a:spcBef>
                <a:spcPts val="0"/>
              </a:spcBef>
              <a:spcAft>
                <a:spcPts val="0"/>
              </a:spcAft>
              <a:buClrTx/>
              <a:buSzTx/>
              <a:buFontTx/>
            </a:pPr>
            <a:r>
              <a:rPr lang="zh-CN" altLang="en-US" sz="2400" spc="150" dirty="0">
                <a:solidFill>
                  <a:schemeClr val="accent1"/>
                </a:solidFill>
                <a:latin typeface="Arial" panose="020B0604020202020204" pitchFamily="34" charset="0"/>
                <a:ea typeface="汉仪旗黑-85S" panose="00020600040101010101" pitchFamily="18" charset="-122"/>
                <a:cs typeface="微软雅黑" panose="020B0503020204020204" charset="-122"/>
                <a:sym typeface="+mn-lt"/>
              </a:rPr>
              <a:t>贝叶斯原理</a:t>
            </a:r>
          </a:p>
        </p:txBody>
      </p:sp>
      <p:sp>
        <p:nvSpPr>
          <p:cNvPr id="97" name="矩形 96"/>
          <p:cNvSpPr/>
          <p:nvPr>
            <p:custDataLst>
              <p:tags r:id="rId8"/>
            </p:custDataLst>
          </p:nvPr>
        </p:nvSpPr>
        <p:spPr>
          <a:xfrm>
            <a:off x="5777194" y="4520286"/>
            <a:ext cx="1116963" cy="829945"/>
          </a:xfrm>
          <a:prstGeom prst="rect">
            <a:avLst/>
          </a:prstGeom>
          <a:noFill/>
        </p:spPr>
        <p:txBody>
          <a:bodyPr wrap="square">
            <a:normAutofit/>
          </a:bodyPr>
          <a:lstStyle/>
          <a:p>
            <a:r>
              <a:rPr lang="en-US" altLang="zh-CN" sz="4800" b="1" spc="-200" dirty="0">
                <a:solidFill>
                  <a:schemeClr val="accent4"/>
                </a:solidFill>
                <a:uFillTx/>
                <a:latin typeface="Arial" panose="020B0604020202020204" pitchFamily="34" charset="0"/>
                <a:ea typeface="微软雅黑" panose="020B0503020204020204" charset="-122"/>
                <a:cs typeface="+mn-ea"/>
                <a:sym typeface="+mn-lt"/>
              </a:rPr>
              <a:t>04.</a:t>
            </a:r>
          </a:p>
        </p:txBody>
      </p:sp>
      <p:sp>
        <p:nvSpPr>
          <p:cNvPr id="98" name="矩形 97"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9"/>
            </p:custDataLst>
          </p:nvPr>
        </p:nvSpPr>
        <p:spPr>
          <a:xfrm>
            <a:off x="6897370" y="4458970"/>
            <a:ext cx="2863850" cy="591185"/>
          </a:xfrm>
          <a:prstGeom prst="rect">
            <a:avLst/>
          </a:prstGeom>
          <a:ln>
            <a:noFill/>
          </a:ln>
        </p:spPr>
        <p:txBody>
          <a:bodyPr wrap="square" lIns="90000" tIns="46800" rIns="90000" bIns="0" anchor="b" anchorCtr="0">
            <a:normAutofit/>
          </a:bodyPr>
          <a:lstStyle/>
          <a:p>
            <a:pPr lvl="0" algn="l">
              <a:buClrTx/>
              <a:buSzTx/>
              <a:buFontTx/>
            </a:pPr>
            <a:r>
              <a:rPr lang="zh-CN" altLang="en-US" sz="2400" b="1" spc="100" dirty="0">
                <a:solidFill>
                  <a:schemeClr val="accent2"/>
                </a:solidFill>
                <a:uFillTx/>
                <a:latin typeface="Arial" panose="020B0604020202020204" pitchFamily="34" charset="0"/>
                <a:ea typeface="微软雅黑" panose="020B0503020204020204" charset="-122"/>
                <a:cs typeface="+mn-ea"/>
                <a:sym typeface="+mn-lt"/>
              </a:rPr>
              <a:t>实验分析</a:t>
            </a:r>
            <a:endParaRPr lang="zh-CN" altLang="en-US" sz="2400" b="1" spc="100" dirty="0">
              <a:solidFill>
                <a:schemeClr val="accent4"/>
              </a:solidFill>
              <a:uFillTx/>
              <a:latin typeface="Arial" panose="020B0604020202020204" pitchFamily="34" charset="0"/>
              <a:ea typeface="微软雅黑" panose="020B0503020204020204" charset="-122"/>
              <a:cs typeface="+mn-ea"/>
              <a:sym typeface="+mn-lt"/>
            </a:endParaRPr>
          </a:p>
        </p:txBody>
      </p:sp>
      <p:sp>
        <p:nvSpPr>
          <p:cNvPr id="101" name="文本框 100"/>
          <p:cNvSpPr txBox="1"/>
          <p:nvPr>
            <p:custDataLst>
              <p:tags r:id="rId10"/>
            </p:custDataLst>
          </p:nvPr>
        </p:nvSpPr>
        <p:spPr>
          <a:xfrm>
            <a:off x="715645" y="817880"/>
            <a:ext cx="4610100" cy="1213485"/>
          </a:xfrm>
          <a:prstGeom prst="rect">
            <a:avLst/>
          </a:prstGeom>
          <a:noFill/>
        </p:spPr>
        <p:txBody>
          <a:bodyPr wrap="square" rtlCol="0" anchor="ctr" anchorCtr="0">
            <a:normAutofit/>
          </a:bodyPr>
          <a:lstStyle/>
          <a:p>
            <a:pPr algn="l">
              <a:lnSpc>
                <a:spcPct val="100000"/>
              </a:lnSpc>
            </a:pPr>
            <a:r>
              <a:rPr lang="en-US" altLang="zh-CN" sz="5400" b="1" spc="100" dirty="0">
                <a:solidFill>
                  <a:schemeClr val="tx1">
                    <a:lumMod val="85000"/>
                    <a:lumOff val="15000"/>
                  </a:schemeClr>
                </a:solidFill>
                <a:uFillTx/>
                <a:latin typeface="Arial" panose="020B0604020202020204" pitchFamily="34" charset="0"/>
                <a:ea typeface="汉仪旗黑-85S" panose="00020600040101010101" pitchFamily="18" charset="-122"/>
                <a:cs typeface="+mn-ea"/>
                <a:sym typeface="+mn-lt"/>
              </a:rPr>
              <a:t>学习目标</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04132E-71BD-46B8-BC3A-F8F202A1D5E4}"/>
              </a:ext>
            </a:extLst>
          </p:cNvPr>
          <p:cNvSpPr>
            <a:spLocks noGrp="1"/>
          </p:cNvSpPr>
          <p:nvPr>
            <p:ph type="title"/>
          </p:nvPr>
        </p:nvSpPr>
        <p:spPr>
          <a:xfrm>
            <a:off x="101711" y="265676"/>
            <a:ext cx="5917349" cy="441964"/>
          </a:xfrm>
        </p:spPr>
        <p:txBody>
          <a:bodyPr>
            <a:normAutofit fontScale="90000"/>
          </a:bodyPr>
          <a:lstStyle/>
          <a:p>
            <a:pPr lvl="0">
              <a:lnSpc>
                <a:spcPct val="100000"/>
              </a:lnSpc>
            </a:pPr>
            <a:r>
              <a:rPr lang="zh-CN" altLang="en-US" sz="2400" b="0" spc="100" dirty="0">
                <a:solidFill>
                  <a:schemeClr val="tx1"/>
                </a:solidFill>
                <a:latin typeface="Arial" panose="020B0604020202020204" pitchFamily="34" charset="0"/>
                <a:ea typeface="微软雅黑" panose="020B0503020204020204" charset="-122"/>
                <a:sym typeface="Arial" panose="020B0604020202020204" pitchFamily="34" charset="0"/>
              </a:rPr>
              <a:t>随机试验与随机事件</a:t>
            </a:r>
            <a:endParaRPr lang="zh-CN" altLang="en-US" sz="2400" b="0" spc="1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8" name="文本框 7">
            <a:extLst>
              <a:ext uri="{FF2B5EF4-FFF2-40B4-BE49-F238E27FC236}">
                <a16:creationId xmlns:a16="http://schemas.microsoft.com/office/drawing/2014/main" id="{F410B897-6CF7-425E-8D16-F55236256078}"/>
              </a:ext>
            </a:extLst>
          </p:cNvPr>
          <p:cNvSpPr txBox="1"/>
          <p:nvPr/>
        </p:nvSpPr>
        <p:spPr>
          <a:xfrm>
            <a:off x="101711" y="1433476"/>
            <a:ext cx="10626571" cy="4179477"/>
          </a:xfrm>
          <a:prstGeom prst="rect">
            <a:avLst/>
          </a:prstGeom>
          <a:noFill/>
        </p:spPr>
        <p:txBody>
          <a:bodyPr wrap="square">
            <a:spAutoFit/>
          </a:bodyPr>
          <a:lstStyle/>
          <a:p>
            <a:pPr lvl="0" indent="0" algn="just">
              <a:lnSpc>
                <a:spcPct val="110000"/>
              </a:lnSpc>
              <a:spcAft>
                <a:spcPts val="800"/>
              </a:spcAft>
              <a:buClr>
                <a:schemeClr val="tx1">
                  <a:lumMod val="65000"/>
                  <a:lumOff val="35000"/>
                </a:schemeClr>
              </a:buClr>
              <a:buNone/>
            </a:pPr>
            <a:r>
              <a:rPr lang="zh-CN" altLang="en-US" sz="1800"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试验</a:t>
            </a:r>
            <a:r>
              <a:rPr lang="zh-CN" altLang="en-US" sz="18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：是指为了察看某事的结果或某物的性能而从事某种活动。</a:t>
            </a:r>
          </a:p>
          <a:p>
            <a:pPr lvl="0" indent="0" algn="just">
              <a:lnSpc>
                <a:spcPct val="110000"/>
              </a:lnSpc>
              <a:spcAft>
                <a:spcPts val="800"/>
              </a:spcAft>
              <a:buClr>
                <a:schemeClr val="tx1">
                  <a:lumMod val="65000"/>
                  <a:lumOff val="35000"/>
                </a:schemeClr>
              </a:buClr>
              <a:buNone/>
            </a:pPr>
            <a:r>
              <a:rPr lang="zh-CN" altLang="en-US" sz="18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如果一个试验满足下面几个条件，就是</a:t>
            </a:r>
            <a:r>
              <a:rPr lang="zh-CN" altLang="en-US" sz="1800"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随机试验</a:t>
            </a:r>
            <a:r>
              <a:rPr lang="zh-CN" altLang="en-US" sz="18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（简称为</a:t>
            </a:r>
            <a:r>
              <a:rPr lang="zh-CN" altLang="en-US" sz="1800"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试验</a:t>
            </a:r>
            <a:r>
              <a:rPr lang="zh-CN" altLang="en-US" sz="18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p>
          <a:p>
            <a:pPr marL="342900" lvl="0" indent="-342900" algn="just">
              <a:lnSpc>
                <a:spcPct val="110000"/>
              </a:lnSpc>
              <a:spcAft>
                <a:spcPts val="800"/>
              </a:spcAft>
              <a:buClr>
                <a:schemeClr val="tx1">
                  <a:lumMod val="65000"/>
                  <a:lumOff val="35000"/>
                </a:schemeClr>
              </a:buClr>
              <a:buFont typeface="Wingdings" panose="05000000000000000000" charset="0"/>
              <a:buChar char="n"/>
            </a:pPr>
            <a:r>
              <a:rPr lang="zh-CN" altLang="en-US" sz="1800"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可重复性</a:t>
            </a:r>
            <a:r>
              <a:rPr lang="zh-CN" altLang="en-US" sz="18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：在相同条件下重复进行</a:t>
            </a:r>
          </a:p>
          <a:p>
            <a:pPr marL="342900" lvl="0" indent="-342900" algn="just">
              <a:lnSpc>
                <a:spcPct val="110000"/>
              </a:lnSpc>
              <a:spcAft>
                <a:spcPts val="800"/>
              </a:spcAft>
              <a:buClr>
                <a:schemeClr val="tx1">
                  <a:lumMod val="65000"/>
                  <a:lumOff val="35000"/>
                </a:schemeClr>
              </a:buClr>
              <a:buFont typeface="Wingdings" panose="05000000000000000000" charset="0"/>
              <a:buChar char="n"/>
            </a:pPr>
            <a:r>
              <a:rPr lang="zh-CN" altLang="en-US" sz="1800"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可观察性</a:t>
            </a:r>
            <a:r>
              <a:rPr lang="zh-CN" altLang="en-US" sz="18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：每次试验结果可能不止一个，并且事先知道所有可能的实验结果</a:t>
            </a:r>
          </a:p>
          <a:p>
            <a:pPr marL="342900" lvl="0" indent="-342900" algn="just">
              <a:lnSpc>
                <a:spcPct val="110000"/>
              </a:lnSpc>
              <a:spcAft>
                <a:spcPts val="800"/>
              </a:spcAft>
              <a:buClr>
                <a:schemeClr val="tx1">
                  <a:lumMod val="65000"/>
                  <a:lumOff val="35000"/>
                </a:schemeClr>
              </a:buClr>
              <a:buFont typeface="Wingdings" panose="05000000000000000000" charset="0"/>
              <a:buChar char="n"/>
            </a:pPr>
            <a:r>
              <a:rPr lang="zh-CN" altLang="en-US" sz="1800"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不确定性</a:t>
            </a:r>
            <a:r>
              <a:rPr lang="zh-CN" altLang="en-US" sz="18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：每次试验之前，不能准确预知哪一个结果会发生</a:t>
            </a:r>
          </a:p>
          <a:p>
            <a:pPr lvl="0" indent="0" algn="just">
              <a:lnSpc>
                <a:spcPct val="160000"/>
              </a:lnSpc>
              <a:spcAft>
                <a:spcPts val="800"/>
              </a:spcAft>
              <a:buClr>
                <a:schemeClr val="tx1">
                  <a:lumMod val="65000"/>
                  <a:lumOff val="35000"/>
                </a:schemeClr>
              </a:buClr>
              <a:buNone/>
            </a:pPr>
            <a:r>
              <a:rPr lang="zh-CN" altLang="en-US" sz="1800"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基本事件</a:t>
            </a:r>
            <a:r>
              <a:rPr lang="zh-CN" altLang="en-US" sz="18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：是指每一种可能的出现情况，也称作样本点，全部样本点的集合即为</a:t>
            </a:r>
            <a:r>
              <a:rPr lang="zh-CN" altLang="en-US" sz="1800"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样本空间。</a:t>
            </a:r>
            <a:endParaRPr lang="zh-CN" altLang="en-US" sz="18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10000"/>
              </a:lnSpc>
              <a:spcAft>
                <a:spcPts val="800"/>
              </a:spcAft>
              <a:buClr>
                <a:schemeClr val="tx1">
                  <a:lumMod val="65000"/>
                  <a:lumOff val="35000"/>
                </a:schemeClr>
              </a:buClr>
              <a:buNone/>
            </a:pPr>
            <a:r>
              <a:rPr lang="zh-CN" altLang="en-US" sz="1800"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随机事件</a:t>
            </a:r>
            <a:r>
              <a:rPr lang="zh-CN" altLang="en-US" sz="18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：是由基本事件复合而成的事件，简称为事件。</a:t>
            </a:r>
          </a:p>
          <a:p>
            <a:pPr lvl="0" indent="0" algn="just">
              <a:lnSpc>
                <a:spcPct val="110000"/>
              </a:lnSpc>
              <a:spcAft>
                <a:spcPts val="800"/>
              </a:spcAft>
              <a:buClr>
                <a:schemeClr val="tx1">
                  <a:lumMod val="65000"/>
                  <a:lumOff val="35000"/>
                </a:schemeClr>
              </a:buClr>
              <a:buNone/>
            </a:pPr>
            <a:r>
              <a:rPr lang="zh-CN" altLang="en-US" sz="1800"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必然事件</a:t>
            </a:r>
            <a:r>
              <a:rPr lang="zh-CN" altLang="en-US" sz="18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：一定会发生的事件。</a:t>
            </a:r>
          </a:p>
          <a:p>
            <a:pPr lvl="0" indent="0" algn="just">
              <a:lnSpc>
                <a:spcPct val="110000"/>
              </a:lnSpc>
              <a:spcAft>
                <a:spcPts val="800"/>
              </a:spcAft>
              <a:buClr>
                <a:schemeClr val="tx1">
                  <a:lumMod val="65000"/>
                  <a:lumOff val="35000"/>
                </a:schemeClr>
              </a:buClr>
              <a:buNone/>
            </a:pPr>
            <a:r>
              <a:rPr lang="zh-CN" altLang="en-US" sz="1800"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不可能事件</a:t>
            </a:r>
            <a:r>
              <a:rPr lang="zh-CN" altLang="en-US" sz="18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：是指不可能发生的事件。</a:t>
            </a:r>
          </a:p>
          <a:p>
            <a:pPr lvl="0" indent="0" algn="just">
              <a:lnSpc>
                <a:spcPct val="110000"/>
              </a:lnSpc>
              <a:spcAft>
                <a:spcPts val="800"/>
              </a:spcAft>
              <a:buClr>
                <a:schemeClr val="tx1">
                  <a:lumMod val="65000"/>
                  <a:lumOff val="35000"/>
                </a:schemeClr>
              </a:buClr>
              <a:buNone/>
            </a:pPr>
            <a:r>
              <a:rPr lang="zh-CN" altLang="en-US" sz="1800"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完备事件组</a:t>
            </a:r>
            <a:r>
              <a:rPr lang="zh-CN" altLang="en-US" sz="18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：一组事件，两两没有交集，所有事件并起来即为样本空间。</a:t>
            </a:r>
          </a:p>
        </p:txBody>
      </p:sp>
    </p:spTree>
    <p:extLst>
      <p:ext uri="{BB962C8B-B14F-4D97-AF65-F5344CB8AC3E}">
        <p14:creationId xmlns:p14="http://schemas.microsoft.com/office/powerpoint/2010/main" val="2869233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379B323-A498-4764-B91C-0C719B146955}"/>
              </a:ext>
            </a:extLst>
          </p:cNvPr>
          <p:cNvSpPr txBox="1"/>
          <p:nvPr/>
        </p:nvSpPr>
        <p:spPr>
          <a:xfrm>
            <a:off x="253014" y="383504"/>
            <a:ext cx="6098958" cy="369332"/>
          </a:xfrm>
          <a:prstGeom prst="rect">
            <a:avLst/>
          </a:prstGeom>
          <a:noFill/>
        </p:spPr>
        <p:txBody>
          <a:bodyPr wrap="square">
            <a:spAutoFit/>
          </a:bodyPr>
          <a:lstStyle/>
          <a:p>
            <a:pPr lvl="0">
              <a:lnSpc>
                <a:spcPct val="100000"/>
              </a:lnSpc>
            </a:pPr>
            <a:r>
              <a:rPr lang="zh-CN" altLang="en-US" sz="1800" dirty="0">
                <a:sym typeface="+mn-ea"/>
              </a:rPr>
              <a:t>事件关系与韦恩图</a:t>
            </a:r>
            <a:endParaRPr lang="zh-CN" altLang="en-US" sz="1800" b="1" spc="100" dirty="0">
              <a:ln w="3175">
                <a:noFill/>
                <a:prstDash val="dash"/>
              </a:ln>
              <a:latin typeface="Arial" panose="020B0604020202020204" pitchFamily="34" charset="0"/>
              <a:ea typeface="微软雅黑" panose="020B0503020204020204" charset="-122"/>
              <a:cs typeface="微软雅黑" panose="020B0503020204020204" charset="-122"/>
              <a:sym typeface="+mn-ea"/>
            </a:endParaRPr>
          </a:p>
        </p:txBody>
      </p:sp>
      <p:sp>
        <p:nvSpPr>
          <p:cNvPr id="6" name="文本框 5">
            <a:extLst>
              <a:ext uri="{FF2B5EF4-FFF2-40B4-BE49-F238E27FC236}">
                <a16:creationId xmlns:a16="http://schemas.microsoft.com/office/drawing/2014/main" id="{165919CD-F4DC-4F55-A913-9F4679E38172}"/>
              </a:ext>
            </a:extLst>
          </p:cNvPr>
          <p:cNvSpPr txBox="1"/>
          <p:nvPr/>
        </p:nvSpPr>
        <p:spPr>
          <a:xfrm>
            <a:off x="370187" y="1250075"/>
            <a:ext cx="10563860" cy="675640"/>
          </a:xfrm>
          <a:prstGeom prst="rect">
            <a:avLst/>
          </a:prstGeom>
          <a:noFill/>
        </p:spPr>
        <p:txBody>
          <a:bodyPr wrap="square" rtlCol="0">
            <a:spAutoFit/>
          </a:bodyPr>
          <a:lstStyle/>
          <a:p>
            <a:r>
              <a:rPr lang="zh-CN" altLang="en-US" sz="2000" b="1"/>
              <a:t>韦恩图</a:t>
            </a:r>
            <a:r>
              <a:rPr lang="zh-CN" altLang="en-US" sz="2000"/>
              <a:t>（Venn diagram）：用来表示事件关系的一种图表，比较简单、形象。</a:t>
            </a:r>
            <a:endParaRPr lang="zh-CN" altLang="en-US"/>
          </a:p>
          <a:p>
            <a:endParaRPr lang="zh-CN" altLang="en-US"/>
          </a:p>
        </p:txBody>
      </p:sp>
      <p:sp>
        <p:nvSpPr>
          <p:cNvPr id="7" name="文本框 6">
            <a:extLst>
              <a:ext uri="{FF2B5EF4-FFF2-40B4-BE49-F238E27FC236}">
                <a16:creationId xmlns:a16="http://schemas.microsoft.com/office/drawing/2014/main" id="{3A8C2D14-AB19-4547-ABB3-2E2414EBCBBD}"/>
              </a:ext>
            </a:extLst>
          </p:cNvPr>
          <p:cNvSpPr txBox="1"/>
          <p:nvPr/>
        </p:nvSpPr>
        <p:spPr>
          <a:xfrm>
            <a:off x="8832036" y="5341380"/>
            <a:ext cx="2011680" cy="922020"/>
          </a:xfrm>
          <a:prstGeom prst="rect">
            <a:avLst/>
          </a:prstGeom>
          <a:noFill/>
        </p:spPr>
        <p:txBody>
          <a:bodyPr wrap="none" rtlCol="0">
            <a:spAutoFit/>
          </a:bodyPr>
          <a:lstStyle/>
          <a:p>
            <a:pPr algn="l"/>
            <a:r>
              <a:rPr lang="zh-CN" altLang="en-US">
                <a:sym typeface="+mn-ea"/>
              </a:rPr>
              <a:t>     完备事件组：   </a:t>
            </a:r>
          </a:p>
          <a:p>
            <a:pPr algn="l"/>
            <a:r>
              <a:rPr lang="zh-CN" altLang="en-US">
                <a:sym typeface="+mn-ea"/>
              </a:rPr>
              <a:t>所有事件组成全集</a:t>
            </a:r>
            <a:endParaRPr lang="zh-CN" altLang="en-US"/>
          </a:p>
          <a:p>
            <a:pPr algn="l"/>
            <a:endParaRPr lang="zh-CN" altLang="en-US"/>
          </a:p>
        </p:txBody>
      </p:sp>
      <p:sp>
        <p:nvSpPr>
          <p:cNvPr id="8" name="椭圆 7">
            <a:extLst>
              <a:ext uri="{FF2B5EF4-FFF2-40B4-BE49-F238E27FC236}">
                <a16:creationId xmlns:a16="http://schemas.microsoft.com/office/drawing/2014/main" id="{E5537516-1B82-4749-A2C2-2C331EF00A81}"/>
              </a:ext>
            </a:extLst>
          </p:cNvPr>
          <p:cNvSpPr/>
          <p:nvPr/>
        </p:nvSpPr>
        <p:spPr>
          <a:xfrm>
            <a:off x="914221" y="2165110"/>
            <a:ext cx="1026160" cy="9607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 </a:t>
            </a:r>
          </a:p>
        </p:txBody>
      </p:sp>
      <p:sp>
        <p:nvSpPr>
          <p:cNvPr id="9" name="椭圆 8">
            <a:extLst>
              <a:ext uri="{FF2B5EF4-FFF2-40B4-BE49-F238E27FC236}">
                <a16:creationId xmlns:a16="http://schemas.microsoft.com/office/drawing/2014/main" id="{4645DE17-19E1-42AD-81D5-899EBA6626C8}"/>
              </a:ext>
            </a:extLst>
          </p:cNvPr>
          <p:cNvSpPr/>
          <p:nvPr/>
        </p:nvSpPr>
        <p:spPr>
          <a:xfrm>
            <a:off x="1227276" y="2165110"/>
            <a:ext cx="475615" cy="477520"/>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B </a:t>
            </a:r>
          </a:p>
        </p:txBody>
      </p:sp>
      <p:sp>
        <p:nvSpPr>
          <p:cNvPr id="11" name="文本框 10">
            <a:extLst>
              <a:ext uri="{FF2B5EF4-FFF2-40B4-BE49-F238E27FC236}">
                <a16:creationId xmlns:a16="http://schemas.microsoft.com/office/drawing/2014/main" id="{8486B603-B0C8-4079-AFAA-02FF7C07A5DC}"/>
              </a:ext>
            </a:extLst>
          </p:cNvPr>
          <p:cNvSpPr txBox="1"/>
          <p:nvPr/>
        </p:nvSpPr>
        <p:spPr>
          <a:xfrm>
            <a:off x="535761" y="3125865"/>
            <a:ext cx="1859280" cy="645160"/>
          </a:xfrm>
          <a:prstGeom prst="rect">
            <a:avLst/>
          </a:prstGeom>
          <a:noFill/>
        </p:spPr>
        <p:txBody>
          <a:bodyPr wrap="none" rtlCol="0">
            <a:spAutoFit/>
          </a:bodyPr>
          <a:lstStyle/>
          <a:p>
            <a:pPr algn="l"/>
            <a:r>
              <a:rPr lang="en-US" altLang="zh-CN">
                <a:sym typeface="+mn-ea"/>
              </a:rPr>
              <a:t>    </a:t>
            </a:r>
            <a:r>
              <a:rPr lang="zh-CN" altLang="en-US">
                <a:sym typeface="+mn-ea"/>
              </a:rPr>
              <a:t>包含：A⊃B   </a:t>
            </a:r>
          </a:p>
          <a:p>
            <a:pPr algn="l"/>
            <a:r>
              <a:rPr lang="zh-CN" altLang="en-US">
                <a:sym typeface="+mn-ea"/>
              </a:rPr>
              <a:t>B发生A一定发生</a:t>
            </a:r>
            <a:endParaRPr lang="zh-CN" altLang="en-US"/>
          </a:p>
        </p:txBody>
      </p:sp>
      <p:sp>
        <p:nvSpPr>
          <p:cNvPr id="12" name="椭圆 11">
            <a:extLst>
              <a:ext uri="{FF2B5EF4-FFF2-40B4-BE49-F238E27FC236}">
                <a16:creationId xmlns:a16="http://schemas.microsoft.com/office/drawing/2014/main" id="{5AE3EEBE-6687-4EE2-B17C-03E0FB427463}"/>
              </a:ext>
            </a:extLst>
          </p:cNvPr>
          <p:cNvSpPr/>
          <p:nvPr/>
        </p:nvSpPr>
        <p:spPr>
          <a:xfrm>
            <a:off x="5639891" y="2088275"/>
            <a:ext cx="1026160" cy="9607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 </a:t>
            </a:r>
          </a:p>
        </p:txBody>
      </p:sp>
      <p:sp>
        <p:nvSpPr>
          <p:cNvPr id="13" name="文本框 12">
            <a:extLst>
              <a:ext uri="{FF2B5EF4-FFF2-40B4-BE49-F238E27FC236}">
                <a16:creationId xmlns:a16="http://schemas.microsoft.com/office/drawing/2014/main" id="{0D4158E7-3243-461B-AA06-DE0164E5EB45}"/>
              </a:ext>
            </a:extLst>
          </p:cNvPr>
          <p:cNvSpPr txBox="1"/>
          <p:nvPr/>
        </p:nvSpPr>
        <p:spPr>
          <a:xfrm>
            <a:off x="2870021" y="3125865"/>
            <a:ext cx="1681480" cy="645160"/>
          </a:xfrm>
          <a:prstGeom prst="rect">
            <a:avLst/>
          </a:prstGeom>
          <a:noFill/>
        </p:spPr>
        <p:txBody>
          <a:bodyPr wrap="none" rtlCol="0">
            <a:spAutoFit/>
          </a:bodyPr>
          <a:lstStyle/>
          <a:p>
            <a:pPr algn="l"/>
            <a:r>
              <a:rPr lang="en-US" altLang="zh-CN">
                <a:sym typeface="+mn-ea"/>
              </a:rPr>
              <a:t>   </a:t>
            </a:r>
            <a:r>
              <a:rPr lang="zh-CN" altLang="en-US">
                <a:sym typeface="+mn-ea"/>
              </a:rPr>
              <a:t>相等：A=B     </a:t>
            </a:r>
          </a:p>
          <a:p>
            <a:pPr algn="l"/>
            <a:r>
              <a:rPr lang="zh-CN" altLang="en-US">
                <a:sym typeface="+mn-ea"/>
              </a:rPr>
              <a:t> A、B同时发生</a:t>
            </a:r>
            <a:endParaRPr lang="zh-CN" altLang="en-US"/>
          </a:p>
        </p:txBody>
      </p:sp>
      <p:sp>
        <p:nvSpPr>
          <p:cNvPr id="14" name="椭圆 13">
            <a:extLst>
              <a:ext uri="{FF2B5EF4-FFF2-40B4-BE49-F238E27FC236}">
                <a16:creationId xmlns:a16="http://schemas.microsoft.com/office/drawing/2014/main" id="{8F45E07B-E29D-4B79-9364-420E33A47196}"/>
              </a:ext>
            </a:extLst>
          </p:cNvPr>
          <p:cNvSpPr/>
          <p:nvPr/>
        </p:nvSpPr>
        <p:spPr>
          <a:xfrm>
            <a:off x="3329126" y="2088275"/>
            <a:ext cx="1026160" cy="9607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 </a:t>
            </a:r>
          </a:p>
        </p:txBody>
      </p:sp>
      <p:sp>
        <p:nvSpPr>
          <p:cNvPr id="15" name="椭圆 14">
            <a:extLst>
              <a:ext uri="{FF2B5EF4-FFF2-40B4-BE49-F238E27FC236}">
                <a16:creationId xmlns:a16="http://schemas.microsoft.com/office/drawing/2014/main" id="{566DC7D4-289C-4FFF-9498-D49EC93AFC51}"/>
              </a:ext>
            </a:extLst>
          </p:cNvPr>
          <p:cNvSpPr/>
          <p:nvPr/>
        </p:nvSpPr>
        <p:spPr>
          <a:xfrm>
            <a:off x="9651821" y="2165110"/>
            <a:ext cx="782320" cy="756285"/>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B </a:t>
            </a:r>
          </a:p>
        </p:txBody>
      </p:sp>
      <p:sp>
        <p:nvSpPr>
          <p:cNvPr id="16" name="文本框 15">
            <a:extLst>
              <a:ext uri="{FF2B5EF4-FFF2-40B4-BE49-F238E27FC236}">
                <a16:creationId xmlns:a16="http://schemas.microsoft.com/office/drawing/2014/main" id="{2EE7DEFD-4BB8-4B81-A584-727BAA97106D}"/>
              </a:ext>
            </a:extLst>
          </p:cNvPr>
          <p:cNvSpPr txBox="1"/>
          <p:nvPr/>
        </p:nvSpPr>
        <p:spPr>
          <a:xfrm>
            <a:off x="5162371" y="3125865"/>
            <a:ext cx="2824480" cy="645160"/>
          </a:xfrm>
          <a:prstGeom prst="rect">
            <a:avLst/>
          </a:prstGeom>
          <a:noFill/>
        </p:spPr>
        <p:txBody>
          <a:bodyPr wrap="none" rtlCol="0">
            <a:spAutoFit/>
          </a:bodyPr>
          <a:lstStyle/>
          <a:p>
            <a:pPr algn="l"/>
            <a:r>
              <a:rPr lang="en-US" altLang="zh-CN">
                <a:sym typeface="+mn-ea"/>
              </a:rPr>
              <a:t>       </a:t>
            </a:r>
            <a:r>
              <a:rPr lang="zh-CN" altLang="en-US">
                <a:sym typeface="+mn-ea"/>
              </a:rPr>
              <a:t>和（并）：AUB    </a:t>
            </a:r>
          </a:p>
          <a:p>
            <a:pPr algn="l"/>
            <a:r>
              <a:rPr lang="zh-CN" altLang="en-US">
                <a:sym typeface="+mn-ea"/>
              </a:rPr>
              <a:t> A、B中至少一个时间发生</a:t>
            </a:r>
            <a:endParaRPr lang="zh-CN" altLang="en-US"/>
          </a:p>
        </p:txBody>
      </p:sp>
      <p:sp>
        <p:nvSpPr>
          <p:cNvPr id="17" name="椭圆 16">
            <a:extLst>
              <a:ext uri="{FF2B5EF4-FFF2-40B4-BE49-F238E27FC236}">
                <a16:creationId xmlns:a16="http://schemas.microsoft.com/office/drawing/2014/main" id="{70D648DE-94BA-4715-BB3C-9FE826F0870D}"/>
              </a:ext>
            </a:extLst>
          </p:cNvPr>
          <p:cNvSpPr/>
          <p:nvPr/>
        </p:nvSpPr>
        <p:spPr>
          <a:xfrm>
            <a:off x="8908236" y="2088275"/>
            <a:ext cx="1026160" cy="960755"/>
          </a:xfrm>
          <a:prstGeom prst="ellipse">
            <a:avLst/>
          </a:prstGeom>
          <a:solidFill>
            <a:schemeClr val="accent1">
              <a:alpha val="5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 </a:t>
            </a:r>
          </a:p>
        </p:txBody>
      </p:sp>
      <p:sp>
        <p:nvSpPr>
          <p:cNvPr id="18" name="椭圆 17">
            <a:extLst>
              <a:ext uri="{FF2B5EF4-FFF2-40B4-BE49-F238E27FC236}">
                <a16:creationId xmlns:a16="http://schemas.microsoft.com/office/drawing/2014/main" id="{6623B1DD-A8B8-446E-A494-43AD2AD47940}"/>
              </a:ext>
            </a:extLst>
          </p:cNvPr>
          <p:cNvSpPr/>
          <p:nvPr/>
        </p:nvSpPr>
        <p:spPr>
          <a:xfrm>
            <a:off x="6340931" y="2190510"/>
            <a:ext cx="782320" cy="7562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B </a:t>
            </a:r>
          </a:p>
        </p:txBody>
      </p:sp>
      <p:cxnSp>
        <p:nvCxnSpPr>
          <p:cNvPr id="19" name="直接连接符 18">
            <a:extLst>
              <a:ext uri="{FF2B5EF4-FFF2-40B4-BE49-F238E27FC236}">
                <a16:creationId xmlns:a16="http://schemas.microsoft.com/office/drawing/2014/main" id="{2B80B57B-6CF0-42CF-8D42-97A1CF715013}"/>
              </a:ext>
            </a:extLst>
          </p:cNvPr>
          <p:cNvCxnSpPr/>
          <p:nvPr/>
        </p:nvCxnSpPr>
        <p:spPr>
          <a:xfrm flipH="1">
            <a:off x="9635946" y="2365770"/>
            <a:ext cx="271780" cy="16129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5A258044-EFF3-4181-84D9-0A2C3FB9AF50}"/>
              </a:ext>
            </a:extLst>
          </p:cNvPr>
          <p:cNvCxnSpPr/>
          <p:nvPr/>
        </p:nvCxnSpPr>
        <p:spPr>
          <a:xfrm flipH="1">
            <a:off x="9662616" y="2462925"/>
            <a:ext cx="271780" cy="16129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33AB8D61-CE1F-4C90-AAFC-21537D594914}"/>
              </a:ext>
            </a:extLst>
          </p:cNvPr>
          <p:cNvCxnSpPr/>
          <p:nvPr/>
        </p:nvCxnSpPr>
        <p:spPr>
          <a:xfrm flipH="1">
            <a:off x="9726751" y="2642630"/>
            <a:ext cx="207645" cy="11620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ED763438-27F9-4CB8-BB0B-3D9B3B726F23}"/>
              </a:ext>
            </a:extLst>
          </p:cNvPr>
          <p:cNvCxnSpPr/>
          <p:nvPr/>
        </p:nvCxnSpPr>
        <p:spPr>
          <a:xfrm flipH="1">
            <a:off x="9625786" y="2301635"/>
            <a:ext cx="207645" cy="1346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3103FF5A-CD77-41C0-AC0D-CBDD84AB84C7}"/>
              </a:ext>
            </a:extLst>
          </p:cNvPr>
          <p:cNvSpPr txBox="1"/>
          <p:nvPr/>
        </p:nvSpPr>
        <p:spPr>
          <a:xfrm>
            <a:off x="8832036" y="3125865"/>
            <a:ext cx="1795145" cy="645160"/>
          </a:xfrm>
          <a:prstGeom prst="rect">
            <a:avLst/>
          </a:prstGeom>
          <a:noFill/>
        </p:spPr>
        <p:txBody>
          <a:bodyPr wrap="none" rtlCol="0">
            <a:spAutoFit/>
          </a:bodyPr>
          <a:lstStyle/>
          <a:p>
            <a:pPr algn="l"/>
            <a:r>
              <a:rPr lang="zh-CN" altLang="en-US">
                <a:sym typeface="+mn-ea"/>
              </a:rPr>
              <a:t>积（交）：A∩B       </a:t>
            </a:r>
          </a:p>
          <a:p>
            <a:pPr algn="l"/>
            <a:r>
              <a:rPr lang="zh-CN" altLang="en-US">
                <a:sym typeface="+mn-ea"/>
              </a:rPr>
              <a:t>  A、B同时发生</a:t>
            </a:r>
            <a:endParaRPr lang="zh-CN" altLang="en-US"/>
          </a:p>
        </p:txBody>
      </p:sp>
      <p:sp>
        <p:nvSpPr>
          <p:cNvPr id="24" name="矩形 23">
            <a:extLst>
              <a:ext uri="{FF2B5EF4-FFF2-40B4-BE49-F238E27FC236}">
                <a16:creationId xmlns:a16="http://schemas.microsoft.com/office/drawing/2014/main" id="{4A8B0782-3812-437E-B350-230C0ED5A2FE}"/>
              </a:ext>
            </a:extLst>
          </p:cNvPr>
          <p:cNvSpPr/>
          <p:nvPr/>
        </p:nvSpPr>
        <p:spPr>
          <a:xfrm>
            <a:off x="406221" y="4258705"/>
            <a:ext cx="2005330" cy="10782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AD13EB92-DFCA-4945-9E5A-CFB728706750}"/>
              </a:ext>
            </a:extLst>
          </p:cNvPr>
          <p:cNvSpPr/>
          <p:nvPr/>
        </p:nvSpPr>
        <p:spPr>
          <a:xfrm>
            <a:off x="806271" y="4418090"/>
            <a:ext cx="782320" cy="756285"/>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B </a:t>
            </a:r>
          </a:p>
        </p:txBody>
      </p:sp>
      <p:sp>
        <p:nvSpPr>
          <p:cNvPr id="26" name="文本框 25">
            <a:extLst>
              <a:ext uri="{FF2B5EF4-FFF2-40B4-BE49-F238E27FC236}">
                <a16:creationId xmlns:a16="http://schemas.microsoft.com/office/drawing/2014/main" id="{B22ECB29-5F30-40BD-B603-E1F713022D40}"/>
              </a:ext>
            </a:extLst>
          </p:cNvPr>
          <p:cNvSpPr txBox="1"/>
          <p:nvPr/>
        </p:nvSpPr>
        <p:spPr>
          <a:xfrm>
            <a:off x="68401" y="5335030"/>
            <a:ext cx="2824480" cy="583565"/>
          </a:xfrm>
          <a:prstGeom prst="rect">
            <a:avLst/>
          </a:prstGeom>
          <a:noFill/>
        </p:spPr>
        <p:txBody>
          <a:bodyPr wrap="none" rtlCol="0">
            <a:spAutoFit/>
          </a:bodyPr>
          <a:lstStyle/>
          <a:p>
            <a:pPr algn="l"/>
            <a:r>
              <a:rPr lang="en-US" altLang="zh-CN" sz="1600">
                <a:sym typeface="+mn-ea"/>
              </a:rPr>
              <a:t>         </a:t>
            </a:r>
            <a:r>
              <a:rPr lang="zh-CN" altLang="en-US" sz="1600">
                <a:sym typeface="+mn-ea"/>
              </a:rPr>
              <a:t>对立（补）：Ā  </a:t>
            </a:r>
          </a:p>
          <a:p>
            <a:pPr algn="l"/>
            <a:r>
              <a:rPr lang="zh-CN" altLang="en-US" sz="1600">
                <a:sym typeface="+mn-ea"/>
              </a:rPr>
              <a:t>一个必然发生，但不同时发生</a:t>
            </a:r>
          </a:p>
        </p:txBody>
      </p:sp>
      <p:sp>
        <p:nvSpPr>
          <p:cNvPr id="27" name="椭圆 26">
            <a:extLst>
              <a:ext uri="{FF2B5EF4-FFF2-40B4-BE49-F238E27FC236}">
                <a16:creationId xmlns:a16="http://schemas.microsoft.com/office/drawing/2014/main" id="{C8CF33D2-7D3A-41B4-B75E-B2DB359B7C91}"/>
              </a:ext>
            </a:extLst>
          </p:cNvPr>
          <p:cNvSpPr/>
          <p:nvPr/>
        </p:nvSpPr>
        <p:spPr>
          <a:xfrm>
            <a:off x="3025596" y="4242195"/>
            <a:ext cx="1026160" cy="960755"/>
          </a:xfrm>
          <a:prstGeom prst="ellipse">
            <a:avLst/>
          </a:prstGeom>
          <a:solidFill>
            <a:schemeClr val="accent1">
              <a:alpha val="5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 </a:t>
            </a:r>
          </a:p>
        </p:txBody>
      </p:sp>
      <p:sp>
        <p:nvSpPr>
          <p:cNvPr id="28" name="椭圆 27">
            <a:extLst>
              <a:ext uri="{FF2B5EF4-FFF2-40B4-BE49-F238E27FC236}">
                <a16:creationId xmlns:a16="http://schemas.microsoft.com/office/drawing/2014/main" id="{703F3833-2B45-4B91-845D-6E449DE17F40}"/>
              </a:ext>
            </a:extLst>
          </p:cNvPr>
          <p:cNvSpPr/>
          <p:nvPr/>
        </p:nvSpPr>
        <p:spPr>
          <a:xfrm>
            <a:off x="3769181" y="4319030"/>
            <a:ext cx="782320" cy="756285"/>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B </a:t>
            </a:r>
          </a:p>
        </p:txBody>
      </p:sp>
      <p:sp>
        <p:nvSpPr>
          <p:cNvPr id="29" name="文本框 28">
            <a:extLst>
              <a:ext uri="{FF2B5EF4-FFF2-40B4-BE49-F238E27FC236}">
                <a16:creationId xmlns:a16="http://schemas.microsoft.com/office/drawing/2014/main" id="{1923771A-A404-4B6F-BB01-B53B77148C05}"/>
              </a:ext>
            </a:extLst>
          </p:cNvPr>
          <p:cNvSpPr txBox="1"/>
          <p:nvPr/>
        </p:nvSpPr>
        <p:spPr>
          <a:xfrm>
            <a:off x="3025596" y="5202950"/>
            <a:ext cx="1859280" cy="645160"/>
          </a:xfrm>
          <a:prstGeom prst="rect">
            <a:avLst/>
          </a:prstGeom>
          <a:noFill/>
        </p:spPr>
        <p:txBody>
          <a:bodyPr wrap="none" rtlCol="0">
            <a:spAutoFit/>
          </a:bodyPr>
          <a:lstStyle/>
          <a:p>
            <a:pPr algn="l"/>
            <a:r>
              <a:rPr lang="en-US" altLang="zh-CN">
                <a:sym typeface="+mn-ea"/>
              </a:rPr>
              <a:t>     </a:t>
            </a:r>
            <a:r>
              <a:rPr lang="zh-CN" altLang="en-US">
                <a:sym typeface="+mn-ea"/>
              </a:rPr>
              <a:t>差：A-B    </a:t>
            </a:r>
          </a:p>
          <a:p>
            <a:pPr algn="l"/>
            <a:r>
              <a:rPr lang="zh-CN" altLang="en-US">
                <a:sym typeface="+mn-ea"/>
              </a:rPr>
              <a:t>A发生而B不发生</a:t>
            </a:r>
            <a:endParaRPr lang="zh-CN" altLang="en-US"/>
          </a:p>
        </p:txBody>
      </p:sp>
      <p:sp>
        <p:nvSpPr>
          <p:cNvPr id="30" name="椭圆 29">
            <a:extLst>
              <a:ext uri="{FF2B5EF4-FFF2-40B4-BE49-F238E27FC236}">
                <a16:creationId xmlns:a16="http://schemas.microsoft.com/office/drawing/2014/main" id="{F4B84F97-5144-441F-BF13-5A1316CFA80C}"/>
              </a:ext>
            </a:extLst>
          </p:cNvPr>
          <p:cNvSpPr/>
          <p:nvPr/>
        </p:nvSpPr>
        <p:spPr>
          <a:xfrm>
            <a:off x="5639891" y="4527945"/>
            <a:ext cx="811530" cy="675005"/>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 </a:t>
            </a:r>
          </a:p>
        </p:txBody>
      </p:sp>
      <p:sp>
        <p:nvSpPr>
          <p:cNvPr id="31" name="椭圆 30">
            <a:extLst>
              <a:ext uri="{FF2B5EF4-FFF2-40B4-BE49-F238E27FC236}">
                <a16:creationId xmlns:a16="http://schemas.microsoft.com/office/drawing/2014/main" id="{A247AEBB-40C1-480C-A07E-D4912CEF6AEA}"/>
              </a:ext>
            </a:extLst>
          </p:cNvPr>
          <p:cNvSpPr/>
          <p:nvPr/>
        </p:nvSpPr>
        <p:spPr>
          <a:xfrm>
            <a:off x="6535876" y="4499370"/>
            <a:ext cx="811530" cy="675005"/>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B </a:t>
            </a:r>
          </a:p>
        </p:txBody>
      </p:sp>
      <p:sp>
        <p:nvSpPr>
          <p:cNvPr id="32" name="文本框 31">
            <a:extLst>
              <a:ext uri="{FF2B5EF4-FFF2-40B4-BE49-F238E27FC236}">
                <a16:creationId xmlns:a16="http://schemas.microsoft.com/office/drawing/2014/main" id="{47B52CAD-672C-4CAD-B6C4-CCF97276FE33}"/>
              </a:ext>
            </a:extLst>
          </p:cNvPr>
          <p:cNvSpPr txBox="1"/>
          <p:nvPr/>
        </p:nvSpPr>
        <p:spPr>
          <a:xfrm>
            <a:off x="5802451" y="5202950"/>
            <a:ext cx="1859280" cy="922020"/>
          </a:xfrm>
          <a:prstGeom prst="rect">
            <a:avLst/>
          </a:prstGeom>
          <a:noFill/>
        </p:spPr>
        <p:txBody>
          <a:bodyPr wrap="none" rtlCol="0">
            <a:spAutoFit/>
          </a:bodyPr>
          <a:lstStyle/>
          <a:p>
            <a:pPr algn="l"/>
            <a:r>
              <a:rPr lang="zh-CN" altLang="en-US">
                <a:sym typeface="+mn-ea"/>
              </a:rPr>
              <a:t>互斥：   </a:t>
            </a:r>
          </a:p>
          <a:p>
            <a:pPr algn="l"/>
            <a:r>
              <a:rPr lang="zh-CN" altLang="en-US">
                <a:sym typeface="+mn-ea"/>
              </a:rPr>
              <a:t>A、B不同时发生</a:t>
            </a:r>
            <a:endParaRPr lang="zh-CN" altLang="en-US"/>
          </a:p>
          <a:p>
            <a:pPr algn="l"/>
            <a:endParaRPr lang="zh-CN" altLang="en-US"/>
          </a:p>
        </p:txBody>
      </p:sp>
      <p:sp>
        <p:nvSpPr>
          <p:cNvPr id="33" name="矩形 32">
            <a:extLst>
              <a:ext uri="{FF2B5EF4-FFF2-40B4-BE49-F238E27FC236}">
                <a16:creationId xmlns:a16="http://schemas.microsoft.com/office/drawing/2014/main" id="{4D23FB4F-188B-4FF0-BD68-849A59BA7EAD}"/>
              </a:ext>
            </a:extLst>
          </p:cNvPr>
          <p:cNvSpPr/>
          <p:nvPr/>
        </p:nvSpPr>
        <p:spPr>
          <a:xfrm>
            <a:off x="8769171" y="4297440"/>
            <a:ext cx="2005330" cy="10782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4" name="任意多边形 40">
            <a:extLst>
              <a:ext uri="{FF2B5EF4-FFF2-40B4-BE49-F238E27FC236}">
                <a16:creationId xmlns:a16="http://schemas.microsoft.com/office/drawing/2014/main" id="{F370849E-FD2B-4E74-B45E-77751E5690BC}"/>
              </a:ext>
            </a:extLst>
          </p:cNvPr>
          <p:cNvSpPr/>
          <p:nvPr/>
        </p:nvSpPr>
        <p:spPr>
          <a:xfrm>
            <a:off x="8769171" y="4308870"/>
            <a:ext cx="638175" cy="864870"/>
          </a:xfrm>
          <a:custGeom>
            <a:avLst/>
            <a:gdLst>
              <a:gd name="connisteX0" fmla="*/ 211455 w 586808"/>
              <a:gd name="connsiteY0" fmla="*/ 0 h 816610"/>
              <a:gd name="connisteX1" fmla="*/ 211455 w 586808"/>
              <a:gd name="connsiteY1" fmla="*/ 70485 h 816610"/>
              <a:gd name="connisteX2" fmla="*/ 251460 w 586808"/>
              <a:gd name="connsiteY2" fmla="*/ 140970 h 816610"/>
              <a:gd name="connisteX3" fmla="*/ 311785 w 586808"/>
              <a:gd name="connsiteY3" fmla="*/ 211455 h 816610"/>
              <a:gd name="connisteX4" fmla="*/ 362585 w 586808"/>
              <a:gd name="connsiteY4" fmla="*/ 282575 h 816610"/>
              <a:gd name="connisteX5" fmla="*/ 443230 w 586808"/>
              <a:gd name="connsiteY5" fmla="*/ 312420 h 816610"/>
              <a:gd name="connisteX6" fmla="*/ 513715 w 586808"/>
              <a:gd name="connsiteY6" fmla="*/ 332740 h 816610"/>
              <a:gd name="connisteX7" fmla="*/ 584200 w 586808"/>
              <a:gd name="connsiteY7" fmla="*/ 362585 h 816610"/>
              <a:gd name="connisteX8" fmla="*/ 563880 w 586808"/>
              <a:gd name="connsiteY8" fmla="*/ 433705 h 816610"/>
              <a:gd name="connisteX9" fmla="*/ 543560 w 586808"/>
              <a:gd name="connsiteY9" fmla="*/ 504190 h 816610"/>
              <a:gd name="connisteX10" fmla="*/ 473075 w 586808"/>
              <a:gd name="connsiteY10" fmla="*/ 564515 h 816610"/>
              <a:gd name="connisteX11" fmla="*/ 392430 w 586808"/>
              <a:gd name="connsiteY11" fmla="*/ 614680 h 816610"/>
              <a:gd name="connisteX12" fmla="*/ 302260 w 586808"/>
              <a:gd name="connsiteY12" fmla="*/ 665480 h 816610"/>
              <a:gd name="connisteX13" fmla="*/ 221615 w 586808"/>
              <a:gd name="connsiteY13" fmla="*/ 715645 h 816610"/>
              <a:gd name="connisteX14" fmla="*/ 151130 w 586808"/>
              <a:gd name="connsiteY14" fmla="*/ 755650 h 816610"/>
              <a:gd name="connisteX15" fmla="*/ 70485 w 586808"/>
              <a:gd name="connsiteY15" fmla="*/ 786130 h 816610"/>
              <a:gd name="connisteX16" fmla="*/ 0 w 586808"/>
              <a:gd name="connsiteY16" fmla="*/ 816610 h 81661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Lst>
            <a:rect l="l" t="t" r="r" b="b"/>
            <a:pathLst>
              <a:path w="586809" h="816610">
                <a:moveTo>
                  <a:pt x="211455" y="0"/>
                </a:moveTo>
                <a:cubicBezTo>
                  <a:pt x="210820" y="12700"/>
                  <a:pt x="203200" y="42545"/>
                  <a:pt x="211455" y="70485"/>
                </a:cubicBezTo>
                <a:cubicBezTo>
                  <a:pt x="219710" y="98425"/>
                  <a:pt x="231140" y="113030"/>
                  <a:pt x="251460" y="140970"/>
                </a:cubicBezTo>
                <a:cubicBezTo>
                  <a:pt x="271780" y="168910"/>
                  <a:pt x="289560" y="182880"/>
                  <a:pt x="311785" y="211455"/>
                </a:cubicBezTo>
                <a:cubicBezTo>
                  <a:pt x="334010" y="240030"/>
                  <a:pt x="336550" y="262255"/>
                  <a:pt x="362585" y="282575"/>
                </a:cubicBezTo>
                <a:cubicBezTo>
                  <a:pt x="388620" y="302895"/>
                  <a:pt x="412750" y="302260"/>
                  <a:pt x="443230" y="312420"/>
                </a:cubicBezTo>
                <a:cubicBezTo>
                  <a:pt x="473710" y="322580"/>
                  <a:pt x="485775" y="322580"/>
                  <a:pt x="513715" y="332740"/>
                </a:cubicBezTo>
                <a:cubicBezTo>
                  <a:pt x="541655" y="342900"/>
                  <a:pt x="574040" y="342265"/>
                  <a:pt x="584200" y="362585"/>
                </a:cubicBezTo>
                <a:cubicBezTo>
                  <a:pt x="594360" y="382905"/>
                  <a:pt x="572135" y="405130"/>
                  <a:pt x="563880" y="433705"/>
                </a:cubicBezTo>
                <a:cubicBezTo>
                  <a:pt x="555625" y="462280"/>
                  <a:pt x="561975" y="478155"/>
                  <a:pt x="543560" y="504190"/>
                </a:cubicBezTo>
                <a:cubicBezTo>
                  <a:pt x="525145" y="530225"/>
                  <a:pt x="503555" y="542290"/>
                  <a:pt x="473075" y="564515"/>
                </a:cubicBezTo>
                <a:cubicBezTo>
                  <a:pt x="442595" y="586740"/>
                  <a:pt x="426720" y="594360"/>
                  <a:pt x="392430" y="614680"/>
                </a:cubicBezTo>
                <a:cubicBezTo>
                  <a:pt x="358140" y="635000"/>
                  <a:pt x="336550" y="645160"/>
                  <a:pt x="302260" y="665480"/>
                </a:cubicBezTo>
                <a:cubicBezTo>
                  <a:pt x="267970" y="685800"/>
                  <a:pt x="252095" y="697865"/>
                  <a:pt x="221615" y="715645"/>
                </a:cubicBezTo>
                <a:cubicBezTo>
                  <a:pt x="191135" y="733425"/>
                  <a:pt x="181610" y="741680"/>
                  <a:pt x="151130" y="755650"/>
                </a:cubicBezTo>
                <a:cubicBezTo>
                  <a:pt x="120650" y="769620"/>
                  <a:pt x="100965" y="774065"/>
                  <a:pt x="70485" y="786130"/>
                </a:cubicBezTo>
                <a:cubicBezTo>
                  <a:pt x="40005" y="798195"/>
                  <a:pt x="12700" y="810895"/>
                  <a:pt x="0" y="816610"/>
                </a:cubicBezTo>
              </a:path>
            </a:pathLst>
          </a:cu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41">
            <a:extLst>
              <a:ext uri="{FF2B5EF4-FFF2-40B4-BE49-F238E27FC236}">
                <a16:creationId xmlns:a16="http://schemas.microsoft.com/office/drawing/2014/main" id="{BD06EF30-4FA1-4543-BD3C-B1DFA84EA687}"/>
              </a:ext>
            </a:extLst>
          </p:cNvPr>
          <p:cNvSpPr/>
          <p:nvPr/>
        </p:nvSpPr>
        <p:spPr>
          <a:xfrm>
            <a:off x="9374326" y="4319030"/>
            <a:ext cx="654685" cy="534035"/>
          </a:xfrm>
          <a:custGeom>
            <a:avLst/>
            <a:gdLst>
              <a:gd name="connisteX0" fmla="*/ 0 w 544195"/>
              <a:gd name="connsiteY0" fmla="*/ 483870 h 483870"/>
              <a:gd name="connisteX1" fmla="*/ 70485 w 544195"/>
              <a:gd name="connsiteY1" fmla="*/ 473710 h 483870"/>
              <a:gd name="connisteX2" fmla="*/ 140970 w 544195"/>
              <a:gd name="connsiteY2" fmla="*/ 443865 h 483870"/>
              <a:gd name="connisteX3" fmla="*/ 211455 w 544195"/>
              <a:gd name="connsiteY3" fmla="*/ 393065 h 483870"/>
              <a:gd name="connisteX4" fmla="*/ 272415 w 544195"/>
              <a:gd name="connsiteY4" fmla="*/ 322580 h 483870"/>
              <a:gd name="connisteX5" fmla="*/ 312420 w 544195"/>
              <a:gd name="connsiteY5" fmla="*/ 252095 h 483870"/>
              <a:gd name="connisteX6" fmla="*/ 372745 w 544195"/>
              <a:gd name="connsiteY6" fmla="*/ 181610 h 483870"/>
              <a:gd name="connisteX7" fmla="*/ 443230 w 544195"/>
              <a:gd name="connsiteY7" fmla="*/ 141605 h 483870"/>
              <a:gd name="connisteX8" fmla="*/ 494030 w 544195"/>
              <a:gd name="connsiteY8" fmla="*/ 71120 h 483870"/>
              <a:gd name="connisteX9" fmla="*/ 544195 w 544195"/>
              <a:gd name="connsiteY9" fmla="*/ 0 h 48387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Lst>
            <a:rect l="l" t="t" r="r" b="b"/>
            <a:pathLst>
              <a:path w="544195" h="483870">
                <a:moveTo>
                  <a:pt x="0" y="483870"/>
                </a:moveTo>
                <a:cubicBezTo>
                  <a:pt x="12700" y="482600"/>
                  <a:pt x="42545" y="481965"/>
                  <a:pt x="70485" y="473710"/>
                </a:cubicBezTo>
                <a:cubicBezTo>
                  <a:pt x="98425" y="465455"/>
                  <a:pt x="113030" y="459740"/>
                  <a:pt x="140970" y="443865"/>
                </a:cubicBezTo>
                <a:cubicBezTo>
                  <a:pt x="168910" y="427990"/>
                  <a:pt x="185420" y="417195"/>
                  <a:pt x="211455" y="393065"/>
                </a:cubicBezTo>
                <a:cubicBezTo>
                  <a:pt x="237490" y="368935"/>
                  <a:pt x="252095" y="350520"/>
                  <a:pt x="272415" y="322580"/>
                </a:cubicBezTo>
                <a:cubicBezTo>
                  <a:pt x="292735" y="294640"/>
                  <a:pt x="292100" y="280035"/>
                  <a:pt x="312420" y="252095"/>
                </a:cubicBezTo>
                <a:cubicBezTo>
                  <a:pt x="332740" y="224155"/>
                  <a:pt x="346710" y="203835"/>
                  <a:pt x="372745" y="181610"/>
                </a:cubicBezTo>
                <a:cubicBezTo>
                  <a:pt x="398780" y="159385"/>
                  <a:pt x="419100" y="163830"/>
                  <a:pt x="443230" y="141605"/>
                </a:cubicBezTo>
                <a:cubicBezTo>
                  <a:pt x="467360" y="119380"/>
                  <a:pt x="473710" y="99695"/>
                  <a:pt x="494030" y="71120"/>
                </a:cubicBezTo>
                <a:cubicBezTo>
                  <a:pt x="514350" y="42545"/>
                  <a:pt x="535305" y="12700"/>
                  <a:pt x="544195"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42">
            <a:extLst>
              <a:ext uri="{FF2B5EF4-FFF2-40B4-BE49-F238E27FC236}">
                <a16:creationId xmlns:a16="http://schemas.microsoft.com/office/drawing/2014/main" id="{C5A3310E-E7E2-415D-A7C5-7986347486BA}"/>
              </a:ext>
            </a:extLst>
          </p:cNvPr>
          <p:cNvSpPr/>
          <p:nvPr/>
        </p:nvSpPr>
        <p:spPr>
          <a:xfrm rot="5040000">
            <a:off x="9595306" y="4773055"/>
            <a:ext cx="715010" cy="528955"/>
          </a:xfrm>
          <a:custGeom>
            <a:avLst/>
            <a:gdLst>
              <a:gd name="connisteX0" fmla="*/ 0 w 544195"/>
              <a:gd name="connsiteY0" fmla="*/ 483870 h 483870"/>
              <a:gd name="connisteX1" fmla="*/ 70485 w 544195"/>
              <a:gd name="connsiteY1" fmla="*/ 473710 h 483870"/>
              <a:gd name="connisteX2" fmla="*/ 140970 w 544195"/>
              <a:gd name="connsiteY2" fmla="*/ 443865 h 483870"/>
              <a:gd name="connisteX3" fmla="*/ 211455 w 544195"/>
              <a:gd name="connsiteY3" fmla="*/ 393065 h 483870"/>
              <a:gd name="connisteX4" fmla="*/ 272415 w 544195"/>
              <a:gd name="connsiteY4" fmla="*/ 322580 h 483870"/>
              <a:gd name="connisteX5" fmla="*/ 312420 w 544195"/>
              <a:gd name="connsiteY5" fmla="*/ 252095 h 483870"/>
              <a:gd name="connisteX6" fmla="*/ 372745 w 544195"/>
              <a:gd name="connsiteY6" fmla="*/ 181610 h 483870"/>
              <a:gd name="connisteX7" fmla="*/ 443230 w 544195"/>
              <a:gd name="connsiteY7" fmla="*/ 141605 h 483870"/>
              <a:gd name="connisteX8" fmla="*/ 494030 w 544195"/>
              <a:gd name="connsiteY8" fmla="*/ 71120 h 483870"/>
              <a:gd name="connisteX9" fmla="*/ 544195 w 544195"/>
              <a:gd name="connsiteY9" fmla="*/ 0 h 48387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Lst>
            <a:rect l="l" t="t" r="r" b="b"/>
            <a:pathLst>
              <a:path w="544195" h="483870">
                <a:moveTo>
                  <a:pt x="0" y="483870"/>
                </a:moveTo>
                <a:cubicBezTo>
                  <a:pt x="12700" y="482600"/>
                  <a:pt x="42545" y="481965"/>
                  <a:pt x="70485" y="473710"/>
                </a:cubicBezTo>
                <a:cubicBezTo>
                  <a:pt x="98425" y="465455"/>
                  <a:pt x="113030" y="459740"/>
                  <a:pt x="140970" y="443865"/>
                </a:cubicBezTo>
                <a:cubicBezTo>
                  <a:pt x="168910" y="427990"/>
                  <a:pt x="185420" y="417195"/>
                  <a:pt x="211455" y="393065"/>
                </a:cubicBezTo>
                <a:cubicBezTo>
                  <a:pt x="237490" y="368935"/>
                  <a:pt x="252095" y="350520"/>
                  <a:pt x="272415" y="322580"/>
                </a:cubicBezTo>
                <a:cubicBezTo>
                  <a:pt x="292735" y="294640"/>
                  <a:pt x="292100" y="280035"/>
                  <a:pt x="312420" y="252095"/>
                </a:cubicBezTo>
                <a:cubicBezTo>
                  <a:pt x="332740" y="224155"/>
                  <a:pt x="346710" y="203835"/>
                  <a:pt x="372745" y="181610"/>
                </a:cubicBezTo>
                <a:cubicBezTo>
                  <a:pt x="398780" y="159385"/>
                  <a:pt x="419100" y="163830"/>
                  <a:pt x="443230" y="141605"/>
                </a:cubicBezTo>
                <a:cubicBezTo>
                  <a:pt x="467360" y="119380"/>
                  <a:pt x="473710" y="99695"/>
                  <a:pt x="494030" y="71120"/>
                </a:cubicBezTo>
                <a:cubicBezTo>
                  <a:pt x="514350" y="42545"/>
                  <a:pt x="535305" y="12700"/>
                  <a:pt x="544195"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DE8FB65B-15F0-4BF1-9677-CBFC4B84BD11}"/>
              </a:ext>
            </a:extLst>
          </p:cNvPr>
          <p:cNvSpPr txBox="1"/>
          <p:nvPr/>
        </p:nvSpPr>
        <p:spPr>
          <a:xfrm>
            <a:off x="8908236" y="4404120"/>
            <a:ext cx="1470660" cy="922020"/>
          </a:xfrm>
          <a:prstGeom prst="rect">
            <a:avLst/>
          </a:prstGeom>
          <a:noFill/>
        </p:spPr>
        <p:txBody>
          <a:bodyPr wrap="square" rtlCol="0">
            <a:spAutoFit/>
          </a:bodyPr>
          <a:lstStyle/>
          <a:p>
            <a:r>
              <a:rPr lang="en-US" altLang="zh-CN">
                <a:solidFill>
                  <a:schemeClr val="bg2"/>
                </a:solidFill>
              </a:rPr>
              <a:t>       B</a:t>
            </a:r>
          </a:p>
          <a:p>
            <a:r>
              <a:rPr lang="en-US" altLang="zh-CN">
                <a:solidFill>
                  <a:schemeClr val="bg2"/>
                </a:solidFill>
              </a:rPr>
              <a:t>A               C</a:t>
            </a:r>
          </a:p>
          <a:p>
            <a:r>
              <a:rPr lang="en-US" altLang="zh-CN">
                <a:solidFill>
                  <a:schemeClr val="bg2"/>
                </a:solidFill>
              </a:rPr>
              <a:t>        D</a:t>
            </a:r>
          </a:p>
        </p:txBody>
      </p:sp>
    </p:spTree>
    <p:extLst>
      <p:ext uri="{BB962C8B-B14F-4D97-AF65-F5344CB8AC3E}">
        <p14:creationId xmlns:p14="http://schemas.microsoft.com/office/powerpoint/2010/main" val="2878175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linds(horizontal)">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linds(horizontal)">
                                      <p:cBhvr>
                                        <p:cTn id="18" dur="500"/>
                                        <p:tgtEl>
                                          <p:spTgt spid="14"/>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linds(horizontal)">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linds(horizontal)">
                                      <p:cBhvr>
                                        <p:cTn id="26" dur="500"/>
                                        <p:tgtEl>
                                          <p:spTgt spid="12"/>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blinds(horizontal)">
                                      <p:cBhvr>
                                        <p:cTn id="29" dur="500"/>
                                        <p:tgtEl>
                                          <p:spTgt spid="18"/>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blinds(horizontal)">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linds(horizontal)">
                                      <p:cBhvr>
                                        <p:cTn id="37" dur="500"/>
                                        <p:tgtEl>
                                          <p:spTgt spid="15"/>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blinds(horizontal)">
                                      <p:cBhvr>
                                        <p:cTn id="40" dur="500"/>
                                        <p:tgtEl>
                                          <p:spTgt spid="17"/>
                                        </p:tgtEl>
                                      </p:cBhvr>
                                    </p:animEffect>
                                  </p:childTnLst>
                                </p:cTn>
                              </p:par>
                              <p:par>
                                <p:cTn id="41" presetID="3" presetClass="entr" presetSubtype="1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blinds(horizontal)">
                                      <p:cBhvr>
                                        <p:cTn id="43" dur="500"/>
                                        <p:tgtEl>
                                          <p:spTgt spid="19"/>
                                        </p:tgtEl>
                                      </p:cBhvr>
                                    </p:animEffect>
                                  </p:childTnLst>
                                </p:cTn>
                              </p:par>
                              <p:par>
                                <p:cTn id="44" presetID="3" presetClass="entr" presetSubtype="1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blinds(horizontal)">
                                      <p:cBhvr>
                                        <p:cTn id="46" dur="500"/>
                                        <p:tgtEl>
                                          <p:spTgt spid="20"/>
                                        </p:tgtEl>
                                      </p:cBhvr>
                                    </p:animEffect>
                                  </p:childTnLst>
                                </p:cTn>
                              </p:par>
                              <p:par>
                                <p:cTn id="47" presetID="3" presetClass="entr" presetSubtype="10"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blinds(horizontal)">
                                      <p:cBhvr>
                                        <p:cTn id="49" dur="500"/>
                                        <p:tgtEl>
                                          <p:spTgt spid="21"/>
                                        </p:tgtEl>
                                      </p:cBhvr>
                                    </p:animEffect>
                                  </p:childTnLst>
                                </p:cTn>
                              </p:par>
                              <p:par>
                                <p:cTn id="50" presetID="3" presetClass="entr" presetSubtype="1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blinds(horizontal)">
                                      <p:cBhvr>
                                        <p:cTn id="52" dur="500"/>
                                        <p:tgtEl>
                                          <p:spTgt spid="22"/>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blinds(horizontal)">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blinds(horizontal)">
                                      <p:cBhvr>
                                        <p:cTn id="60" dur="500"/>
                                        <p:tgtEl>
                                          <p:spTgt spid="24"/>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blinds(horizontal)">
                                      <p:cBhvr>
                                        <p:cTn id="63" dur="500"/>
                                        <p:tgtEl>
                                          <p:spTgt spid="25"/>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blinds(horizontal)">
                                      <p:cBhvr>
                                        <p:cTn id="66" dur="500"/>
                                        <p:tgtEl>
                                          <p:spTgt spid="26"/>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blinds(horizontal)">
                                      <p:cBhvr>
                                        <p:cTn id="71" dur="500"/>
                                        <p:tgtEl>
                                          <p:spTgt spid="27"/>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blinds(horizontal)">
                                      <p:cBhvr>
                                        <p:cTn id="74" dur="500"/>
                                        <p:tgtEl>
                                          <p:spTgt spid="28"/>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blinds(horizontal)">
                                      <p:cBhvr>
                                        <p:cTn id="77" dur="500"/>
                                        <p:tgtEl>
                                          <p:spTgt spid="29"/>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blinds(horizontal)">
                                      <p:cBhvr>
                                        <p:cTn id="82" dur="500"/>
                                        <p:tgtEl>
                                          <p:spTgt spid="30"/>
                                        </p:tgtEl>
                                      </p:cBhvr>
                                    </p:animEffect>
                                  </p:childTnLst>
                                </p:cTn>
                              </p:par>
                              <p:par>
                                <p:cTn id="83" presetID="3" presetClass="entr" presetSubtype="10"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blinds(horizontal)">
                                      <p:cBhvr>
                                        <p:cTn id="85" dur="500"/>
                                        <p:tgtEl>
                                          <p:spTgt spid="31"/>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blinds(horizontal)">
                                      <p:cBhvr>
                                        <p:cTn id="88" dur="500"/>
                                        <p:tgtEl>
                                          <p:spTgt spid="32"/>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7"/>
                                        </p:tgtEl>
                                        <p:attrNameLst>
                                          <p:attrName>style.visibility</p:attrName>
                                        </p:attrNameLst>
                                      </p:cBhvr>
                                      <p:to>
                                        <p:strVal val="visible"/>
                                      </p:to>
                                    </p:set>
                                    <p:animEffect transition="in" filter="blinds(horizontal)">
                                      <p:cBhvr>
                                        <p:cTn id="93" dur="500"/>
                                        <p:tgtEl>
                                          <p:spTgt spid="7"/>
                                        </p:tgtEl>
                                      </p:cBhvr>
                                    </p:animEffect>
                                  </p:childTnLst>
                                </p:cTn>
                              </p:par>
                              <p:par>
                                <p:cTn id="94" presetID="3" presetClass="entr" presetSubtype="1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blinds(horizontal)">
                                      <p:cBhvr>
                                        <p:cTn id="96" dur="500"/>
                                        <p:tgtEl>
                                          <p:spTgt spid="33"/>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blinds(horizontal)">
                                      <p:cBhvr>
                                        <p:cTn id="99" dur="500"/>
                                        <p:tgtEl>
                                          <p:spTgt spid="34"/>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blinds(horizontal)">
                                      <p:cBhvr>
                                        <p:cTn id="102" dur="500"/>
                                        <p:tgtEl>
                                          <p:spTgt spid="35"/>
                                        </p:tgtEl>
                                      </p:cBhvr>
                                    </p:animEffect>
                                  </p:childTnLst>
                                </p:cTn>
                              </p:par>
                              <p:par>
                                <p:cTn id="103" presetID="3" presetClass="entr" presetSubtype="1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blinds(horizontal)">
                                      <p:cBhvr>
                                        <p:cTn id="105" dur="500"/>
                                        <p:tgtEl>
                                          <p:spTgt spid="36"/>
                                        </p:tgtEl>
                                      </p:cBhvr>
                                    </p:animEffect>
                                  </p:childTnLst>
                                </p:cTn>
                              </p:par>
                              <p:par>
                                <p:cTn id="106" presetID="3" presetClass="entr" presetSubtype="1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blinds(horizontal)">
                                      <p:cBhvr>
                                        <p:cTn id="108"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animBg="1"/>
      <p:bldP spid="8" grpId="1" animBg="1"/>
      <p:bldP spid="9" grpId="0" animBg="1"/>
      <p:bldP spid="9" grpId="1" animBg="1"/>
      <p:bldP spid="11" grpId="0"/>
      <p:bldP spid="11" grpId="1"/>
      <p:bldP spid="12" grpId="0" animBg="1"/>
      <p:bldP spid="12" grpId="1" animBg="1"/>
      <p:bldP spid="13" grpId="0"/>
      <p:bldP spid="13" grpId="1"/>
      <p:bldP spid="14" grpId="0" animBg="1"/>
      <p:bldP spid="14" grpId="1" animBg="1"/>
      <p:bldP spid="15" grpId="0" animBg="1"/>
      <p:bldP spid="15" grpId="1" animBg="1"/>
      <p:bldP spid="16" grpId="0"/>
      <p:bldP spid="16" grpId="1"/>
      <p:bldP spid="17" grpId="0" animBg="1"/>
      <p:bldP spid="17" grpId="1" animBg="1"/>
      <p:bldP spid="18" grpId="0" animBg="1"/>
      <p:bldP spid="18" grpId="1" animBg="1"/>
      <p:bldP spid="23" grpId="0"/>
      <p:bldP spid="23" grpId="1"/>
      <p:bldP spid="24" grpId="0" animBg="1"/>
      <p:bldP spid="24" grpId="1" animBg="1"/>
      <p:bldP spid="25" grpId="0" animBg="1"/>
      <p:bldP spid="25" grpId="1" animBg="1"/>
      <p:bldP spid="26" grpId="0"/>
      <p:bldP spid="26" grpId="1"/>
      <p:bldP spid="27" grpId="0" animBg="1"/>
      <p:bldP spid="27" grpId="1" animBg="1"/>
      <p:bldP spid="28" grpId="0" animBg="1"/>
      <p:bldP spid="28" grpId="1" animBg="1"/>
      <p:bldP spid="29" grpId="0"/>
      <p:bldP spid="29" grpId="1"/>
      <p:bldP spid="30" grpId="0" animBg="1"/>
      <p:bldP spid="30" grpId="1" animBg="1"/>
      <p:bldP spid="31" grpId="0" animBg="1"/>
      <p:bldP spid="31" grpId="1" animBg="1"/>
      <p:bldP spid="32" grpId="0"/>
      <p:bldP spid="32" grpId="1"/>
      <p:bldP spid="33" grpId="0" animBg="1"/>
      <p:bldP spid="33" grpId="1" animBg="1"/>
      <p:bldP spid="34" grpId="0" animBg="1"/>
      <p:bldP spid="34" grpId="1" animBg="1"/>
      <p:bldP spid="35" grpId="0" animBg="1"/>
      <p:bldP spid="35" grpId="1" animBg="1"/>
      <p:bldP spid="36" grpId="0" animBg="1"/>
      <p:bldP spid="36" grpId="1" animBg="1"/>
      <p:bldP spid="37" grpId="0"/>
      <p:bldP spid="37"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a:extLst>
              <a:ext uri="{FF2B5EF4-FFF2-40B4-BE49-F238E27FC236}">
                <a16:creationId xmlns:a16="http://schemas.microsoft.com/office/drawing/2014/main" id="{EC1978B4-DD29-48EF-8C6D-13BE818418F1}"/>
              </a:ext>
            </a:extLst>
          </p:cNvPr>
          <p:cNvSpPr txBox="1"/>
          <p:nvPr/>
        </p:nvSpPr>
        <p:spPr>
          <a:xfrm>
            <a:off x="119849" y="330239"/>
            <a:ext cx="6098958" cy="369332"/>
          </a:xfrm>
          <a:prstGeom prst="rect">
            <a:avLst/>
          </a:prstGeom>
          <a:noFill/>
        </p:spPr>
        <p:txBody>
          <a:bodyPr wrap="square">
            <a:spAutoFit/>
          </a:bodyPr>
          <a:lstStyle/>
          <a:p>
            <a:pPr lvl="0">
              <a:lnSpc>
                <a:spcPct val="100000"/>
              </a:lnSpc>
            </a:pPr>
            <a:r>
              <a:rPr lang="zh-CN" altLang="en-US" sz="1800" spc="100" dirty="0">
                <a:latin typeface="Arial" panose="020B0604020202020204" pitchFamily="34" charset="0"/>
                <a:ea typeface="微软雅黑" panose="020B0503020204020204" charset="-122"/>
                <a:sym typeface="Arial" panose="020B0604020202020204" pitchFamily="34" charset="0"/>
              </a:rPr>
              <a:t>概率及性质</a:t>
            </a:r>
            <a:endParaRPr lang="zh-CN" altLang="en-US" sz="1800" b="1" spc="100" dirty="0">
              <a:ln w="3175">
                <a:noFill/>
                <a:prstDash val="dash"/>
              </a:ln>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4" name="文本框 14">
            <a:extLst>
              <a:ext uri="{FF2B5EF4-FFF2-40B4-BE49-F238E27FC236}">
                <a16:creationId xmlns:a16="http://schemas.microsoft.com/office/drawing/2014/main" id="{075A8203-2919-45A2-90F6-A72AF8809EBB}"/>
              </a:ext>
            </a:extLst>
          </p:cNvPr>
          <p:cNvSpPr txBox="1"/>
          <p:nvPr>
            <p:custDataLst>
              <p:tags r:id="rId1"/>
            </p:custDataLst>
          </p:nvPr>
        </p:nvSpPr>
        <p:spPr>
          <a:xfrm>
            <a:off x="119849" y="1345503"/>
            <a:ext cx="10885805" cy="4712970"/>
          </a:xfrm>
          <a:prstGeom prst="rect">
            <a:avLst/>
          </a:prstGeom>
          <a:noFill/>
        </p:spPr>
        <p:txBody>
          <a:bodyPr wrap="square" rtlCol="0" anchor="ctr" anchorCtr="0">
            <a:noAutofit/>
          </a:bodyPr>
          <a:lstStyle/>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概率：用来描述随机事件发生的可能性的大小，值在0-1之间。</a:t>
            </a: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概率：在多次重复试验中，事件A发生的频率稳定在常数p附近摆动，并且随着试验次数的增加，这种摆动幅度是很微小的，则称确定常数p为事件A发生的概率，记作：P(A)=p</a:t>
            </a: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概率的一些常见性质：</a:t>
            </a:r>
          </a:p>
          <a:p>
            <a:pPr marL="342900" lvl="0" indent="-342900" algn="just">
              <a:lnSpc>
                <a:spcPct val="130000"/>
              </a:lnSpc>
              <a:spcAft>
                <a:spcPts val="800"/>
              </a:spcAft>
              <a:buClr>
                <a:schemeClr val="tx1">
                  <a:lumMod val="65000"/>
                  <a:lumOff val="35000"/>
                </a:schemeClr>
              </a:buClr>
              <a:buFont typeface="Wingdings" panose="05000000000000000000" charset="0"/>
              <a:buChar char="n"/>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非负性：0≤P(A)≤1</a:t>
            </a:r>
          </a:p>
          <a:p>
            <a:pPr marL="342900" lvl="0" indent="-342900" algn="just">
              <a:lnSpc>
                <a:spcPct val="130000"/>
              </a:lnSpc>
              <a:spcAft>
                <a:spcPts val="800"/>
              </a:spcAft>
              <a:buClr>
                <a:schemeClr val="tx1">
                  <a:lumMod val="65000"/>
                  <a:lumOff val="35000"/>
                </a:schemeClr>
              </a:buClr>
              <a:buFont typeface="Wingdings" panose="05000000000000000000" charset="0"/>
              <a:buChar char="n"/>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规范性：P(Ω)=1,P(Φ)=0</a:t>
            </a:r>
          </a:p>
          <a:p>
            <a:pPr marL="342900" lvl="0" indent="-342900" algn="just">
              <a:lnSpc>
                <a:spcPct val="130000"/>
              </a:lnSpc>
              <a:spcAft>
                <a:spcPts val="800"/>
              </a:spcAft>
              <a:buClr>
                <a:schemeClr val="tx1">
                  <a:lumMod val="65000"/>
                  <a:lumOff val="35000"/>
                </a:schemeClr>
              </a:buClr>
              <a:buFont typeface="Wingdings" panose="05000000000000000000" charset="0"/>
              <a:buChar char="n"/>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可列可加性：设A:两两互斥，有：</a:t>
            </a:r>
          </a:p>
          <a:p>
            <a:pPr marL="342900" lvl="0" indent="-342900" algn="just">
              <a:lnSpc>
                <a:spcPct val="130000"/>
              </a:lnSpc>
              <a:spcAft>
                <a:spcPts val="800"/>
              </a:spcAft>
              <a:buClr>
                <a:schemeClr val="tx1">
                  <a:lumMod val="65000"/>
                  <a:lumOff val="35000"/>
                </a:schemeClr>
              </a:buClr>
              <a:buFont typeface="Wingdings" panose="05000000000000000000" charset="0"/>
              <a:buChar char="n"/>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其他性质：</a:t>
            </a: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P(Ā)=1-P(A)       P(AUB)=P(A)+P(B)-P(AB)</a:t>
            </a:r>
          </a:p>
        </p:txBody>
      </p:sp>
      <p:pic>
        <p:nvPicPr>
          <p:cNvPr id="5" name="图片 4">
            <a:extLst>
              <a:ext uri="{FF2B5EF4-FFF2-40B4-BE49-F238E27FC236}">
                <a16:creationId xmlns:a16="http://schemas.microsoft.com/office/drawing/2014/main" id="{D76738EE-EEC6-4C41-9FC6-E6208BE6EAB4}"/>
              </a:ext>
            </a:extLst>
          </p:cNvPr>
          <p:cNvPicPr>
            <a:picLocks noChangeAspect="1"/>
          </p:cNvPicPr>
          <p:nvPr/>
        </p:nvPicPr>
        <p:blipFill>
          <a:blip r:embed="rId3"/>
          <a:stretch>
            <a:fillRect/>
          </a:stretch>
        </p:blipFill>
        <p:spPr>
          <a:xfrm>
            <a:off x="4250523" y="4244926"/>
            <a:ext cx="2624455" cy="701675"/>
          </a:xfrm>
          <a:prstGeom prst="rect">
            <a:avLst/>
          </a:prstGeom>
        </p:spPr>
      </p:pic>
    </p:spTree>
    <p:extLst>
      <p:ext uri="{BB962C8B-B14F-4D97-AF65-F5344CB8AC3E}">
        <p14:creationId xmlns:p14="http://schemas.microsoft.com/office/powerpoint/2010/main" val="1998745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27DC34-BCE7-434C-9201-3B3BAFC7BB86}"/>
              </a:ext>
            </a:extLst>
          </p:cNvPr>
          <p:cNvSpPr>
            <a:spLocks noGrp="1"/>
          </p:cNvSpPr>
          <p:nvPr>
            <p:ph type="title"/>
          </p:nvPr>
        </p:nvSpPr>
        <p:spPr/>
        <p:txBody>
          <a:bodyPr>
            <a:normAutofit fontScale="90000"/>
          </a:bodyPr>
          <a:lstStyle/>
          <a:p>
            <a:r>
              <a:rPr lang="zh-CN" altLang="en-US" sz="2400" dirty="0">
                <a:solidFill>
                  <a:schemeClr val="tx1"/>
                </a:solidFill>
                <a:sym typeface="+mn-ea"/>
              </a:rPr>
              <a:t>条件概率</a:t>
            </a:r>
            <a:br>
              <a:rPr lang="zh-CN" altLang="en-US" sz="2400" b="1" spc="100" dirty="0">
                <a:ln w="3175">
                  <a:noFill/>
                  <a:prstDash val="dash"/>
                </a:ln>
                <a:solidFill>
                  <a:schemeClr val="bg2"/>
                </a:solidFill>
                <a:latin typeface="Arial" panose="020B0604020202020204" pitchFamily="34" charset="0"/>
                <a:ea typeface="微软雅黑" panose="020B0503020204020204" charset="-122"/>
                <a:cs typeface="微软雅黑" panose="020B0503020204020204" charset="-122"/>
                <a:sym typeface="+mn-ea"/>
              </a:rPr>
            </a:br>
            <a:endParaRPr lang="zh-CN" altLang="en-US" dirty="0"/>
          </a:p>
        </p:txBody>
      </p:sp>
      <p:sp>
        <p:nvSpPr>
          <p:cNvPr id="4" name="矩形 3">
            <a:extLst>
              <a:ext uri="{FF2B5EF4-FFF2-40B4-BE49-F238E27FC236}">
                <a16:creationId xmlns:a16="http://schemas.microsoft.com/office/drawing/2014/main" id="{09514C72-D645-429F-A89C-19F14AD8D2DE}"/>
              </a:ext>
            </a:extLst>
          </p:cNvPr>
          <p:cNvSpPr/>
          <p:nvPr/>
        </p:nvSpPr>
        <p:spPr>
          <a:xfrm>
            <a:off x="601911" y="3593539"/>
            <a:ext cx="2347595" cy="157099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2"/>
                </a:solidFill>
              </a:rPr>
              <a:t>                             </a:t>
            </a:r>
          </a:p>
          <a:p>
            <a:pPr algn="ctr"/>
            <a:endParaRPr lang="en-US" altLang="zh-CN">
              <a:solidFill>
                <a:schemeClr val="tx2"/>
              </a:solidFill>
            </a:endParaRPr>
          </a:p>
          <a:p>
            <a:pPr algn="ctr"/>
            <a:endParaRPr lang="en-US" altLang="zh-CN">
              <a:solidFill>
                <a:schemeClr val="tx2"/>
              </a:solidFill>
            </a:endParaRPr>
          </a:p>
          <a:p>
            <a:pPr algn="ctr"/>
            <a:r>
              <a:rPr lang="en-US" altLang="zh-CN">
                <a:solidFill>
                  <a:schemeClr val="tx2"/>
                </a:solidFill>
              </a:rPr>
              <a:t>                            Ω</a:t>
            </a:r>
          </a:p>
        </p:txBody>
      </p:sp>
      <p:sp>
        <p:nvSpPr>
          <p:cNvPr id="5" name="椭圆 4">
            <a:extLst>
              <a:ext uri="{FF2B5EF4-FFF2-40B4-BE49-F238E27FC236}">
                <a16:creationId xmlns:a16="http://schemas.microsoft.com/office/drawing/2014/main" id="{C48A47C2-00BE-4CF4-BC36-D0FD0EA6AD00}"/>
              </a:ext>
            </a:extLst>
          </p:cNvPr>
          <p:cNvSpPr/>
          <p:nvPr/>
        </p:nvSpPr>
        <p:spPr>
          <a:xfrm>
            <a:off x="1229291" y="3674819"/>
            <a:ext cx="1348740" cy="11817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 </a:t>
            </a:r>
          </a:p>
        </p:txBody>
      </p:sp>
      <p:sp>
        <p:nvSpPr>
          <p:cNvPr id="6" name="椭圆 5">
            <a:extLst>
              <a:ext uri="{FF2B5EF4-FFF2-40B4-BE49-F238E27FC236}">
                <a16:creationId xmlns:a16="http://schemas.microsoft.com/office/drawing/2014/main" id="{EDAC70D5-12ED-44E9-835A-41E62641247D}"/>
              </a:ext>
            </a:extLst>
          </p:cNvPr>
          <p:cNvSpPr/>
          <p:nvPr/>
        </p:nvSpPr>
        <p:spPr>
          <a:xfrm>
            <a:off x="1542346" y="3674819"/>
            <a:ext cx="624840" cy="587375"/>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B </a:t>
            </a:r>
          </a:p>
        </p:txBody>
      </p:sp>
      <p:sp>
        <p:nvSpPr>
          <p:cNvPr id="7" name="文本框 6">
            <a:extLst>
              <a:ext uri="{FF2B5EF4-FFF2-40B4-BE49-F238E27FC236}">
                <a16:creationId xmlns:a16="http://schemas.microsoft.com/office/drawing/2014/main" id="{5E27316C-9157-42E6-A7A9-D51531C3BD36}"/>
              </a:ext>
            </a:extLst>
          </p:cNvPr>
          <p:cNvSpPr txBox="1"/>
          <p:nvPr/>
        </p:nvSpPr>
        <p:spPr>
          <a:xfrm>
            <a:off x="1449636" y="5365189"/>
            <a:ext cx="652145" cy="368300"/>
          </a:xfrm>
          <a:prstGeom prst="rect">
            <a:avLst/>
          </a:prstGeom>
          <a:noFill/>
        </p:spPr>
        <p:txBody>
          <a:bodyPr wrap="none" rtlCol="0" anchor="t">
            <a:spAutoFit/>
          </a:bodyPr>
          <a:lstStyle/>
          <a:p>
            <a:r>
              <a:rPr lang="zh-CN" altLang="en-US">
                <a:sym typeface="+mn-ea"/>
              </a:rPr>
              <a:t>A∩B</a:t>
            </a:r>
            <a:endParaRPr lang="zh-CN" altLang="en-US"/>
          </a:p>
        </p:txBody>
      </p:sp>
      <p:cxnSp>
        <p:nvCxnSpPr>
          <p:cNvPr id="8" name="直接箭头连接符 7">
            <a:extLst>
              <a:ext uri="{FF2B5EF4-FFF2-40B4-BE49-F238E27FC236}">
                <a16:creationId xmlns:a16="http://schemas.microsoft.com/office/drawing/2014/main" id="{3E7F1507-1CDC-4376-9F70-ECEE69F154D1}"/>
              </a:ext>
            </a:extLst>
          </p:cNvPr>
          <p:cNvCxnSpPr>
            <a:endCxn id="5" idx="4"/>
          </p:cNvCxnSpPr>
          <p:nvPr/>
        </p:nvCxnSpPr>
        <p:spPr>
          <a:xfrm flipH="1" flipV="1">
            <a:off x="1903661" y="4856554"/>
            <a:ext cx="50165" cy="517525"/>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39CD0668-02C4-49EB-BF72-91F13BCF4225}"/>
              </a:ext>
            </a:extLst>
          </p:cNvPr>
          <p:cNvSpPr txBox="1"/>
          <p:nvPr/>
        </p:nvSpPr>
        <p:spPr>
          <a:xfrm>
            <a:off x="380296" y="1487879"/>
            <a:ext cx="10327640" cy="2399665"/>
          </a:xfrm>
          <a:prstGeom prst="rect">
            <a:avLst/>
          </a:prstGeom>
          <a:noFill/>
        </p:spPr>
        <p:txBody>
          <a:bodyPr wrap="square" rtlCol="0">
            <a:spAutoFit/>
          </a:bodyPr>
          <a:lstStyle/>
          <a:p>
            <a:pPr>
              <a:lnSpc>
                <a:spcPct val="110000"/>
              </a:lnSpc>
            </a:pPr>
            <a:r>
              <a:rPr lang="zh-CN" altLang="en-US" sz="2000" b="1" dirty="0"/>
              <a:t>条件概率</a:t>
            </a:r>
            <a:r>
              <a:rPr lang="zh-CN" altLang="en-US" sz="2000" dirty="0"/>
              <a:t>：在某事件发生的前提下，另一事件发生的概率。</a:t>
            </a:r>
          </a:p>
          <a:p>
            <a:pPr>
              <a:lnSpc>
                <a:spcPct val="110000"/>
              </a:lnSpc>
            </a:pPr>
            <a:r>
              <a:rPr lang="zh-CN" altLang="en-US" sz="2000" b="1" dirty="0"/>
              <a:t>条件概率：</a:t>
            </a:r>
            <a:r>
              <a:rPr lang="zh-CN" altLang="en-US" sz="2000" dirty="0"/>
              <a:t>设A、B是两个事件，且P(A)&gt;0，称                      为在事件A发生的条件下事件B的条件概率。</a:t>
            </a:r>
          </a:p>
          <a:p>
            <a:pPr>
              <a:lnSpc>
                <a:spcPct val="160000"/>
              </a:lnSpc>
            </a:pPr>
            <a:r>
              <a:rPr lang="zh-CN" altLang="en-US" sz="2000" dirty="0"/>
              <a:t>某节能灯的使用时间得到8000小时的概率为80%，达到10000小时的概率为50%。我家的节能灯已经使用了8000小时未坏，请问它能继续使用到10000个小时的概率是多少？</a:t>
            </a:r>
          </a:p>
          <a:p>
            <a:endParaRPr lang="zh-CN" altLang="en-US" sz="2000" dirty="0"/>
          </a:p>
        </p:txBody>
      </p:sp>
      <p:sp>
        <p:nvSpPr>
          <p:cNvPr id="10" name="文本框 9">
            <a:extLst>
              <a:ext uri="{FF2B5EF4-FFF2-40B4-BE49-F238E27FC236}">
                <a16:creationId xmlns:a16="http://schemas.microsoft.com/office/drawing/2014/main" id="{A4564DF6-43F7-4476-B9B5-4335D09AF61F}"/>
              </a:ext>
            </a:extLst>
          </p:cNvPr>
          <p:cNvSpPr txBox="1"/>
          <p:nvPr/>
        </p:nvSpPr>
        <p:spPr>
          <a:xfrm>
            <a:off x="3707696" y="3674819"/>
            <a:ext cx="6782435" cy="1630045"/>
          </a:xfrm>
          <a:prstGeom prst="rect">
            <a:avLst/>
          </a:prstGeom>
          <a:noFill/>
        </p:spPr>
        <p:txBody>
          <a:bodyPr wrap="square" rtlCol="0">
            <a:spAutoFit/>
          </a:bodyPr>
          <a:lstStyle/>
          <a:p>
            <a:pPr algn="l"/>
            <a:r>
              <a:rPr lang="zh-CN" altLang="en-US" sz="2000">
                <a:sym typeface="+mn-ea"/>
              </a:rPr>
              <a:t>事件A：使用了8000小时未坏，其概率为：P(A)=0.8</a:t>
            </a:r>
            <a:endParaRPr lang="zh-CN" altLang="en-US" sz="2000"/>
          </a:p>
          <a:p>
            <a:pPr algn="l"/>
            <a:r>
              <a:rPr lang="zh-CN" altLang="en-US" sz="2000">
                <a:sym typeface="+mn-ea"/>
              </a:rPr>
              <a:t>事件B：使用了10000小时未坏，其概率为：P(B)=0.5</a:t>
            </a:r>
            <a:endParaRPr lang="zh-CN" altLang="en-US" sz="2000"/>
          </a:p>
          <a:p>
            <a:pPr algn="l"/>
            <a:r>
              <a:rPr lang="zh-CN" altLang="en-US" sz="2000">
                <a:sym typeface="+mn-ea"/>
              </a:rPr>
              <a:t>要算的概率为：已经用了8000小时未坏，能用到10000小时的概率</a:t>
            </a:r>
            <a:endParaRPr lang="zh-CN" altLang="en-US" sz="2000"/>
          </a:p>
          <a:p>
            <a:pPr algn="l"/>
            <a:r>
              <a:rPr lang="zh-CN" altLang="en-US" sz="2000">
                <a:sym typeface="+mn-ea"/>
              </a:rPr>
              <a:t>P(BIA)：A发生的情况下，B发生的概率</a:t>
            </a:r>
            <a:endParaRPr lang="zh-CN" altLang="en-US" sz="2000"/>
          </a:p>
        </p:txBody>
      </p:sp>
      <p:pic>
        <p:nvPicPr>
          <p:cNvPr id="11" name="图片 10">
            <a:extLst>
              <a:ext uri="{FF2B5EF4-FFF2-40B4-BE49-F238E27FC236}">
                <a16:creationId xmlns:a16="http://schemas.microsoft.com/office/drawing/2014/main" id="{549A7B73-0C1D-4189-BA64-E4D0674A67A3}"/>
              </a:ext>
            </a:extLst>
          </p:cNvPr>
          <p:cNvPicPr>
            <a:picLocks noChangeAspect="1"/>
          </p:cNvPicPr>
          <p:nvPr/>
        </p:nvPicPr>
        <p:blipFill>
          <a:blip r:embed="rId2"/>
          <a:stretch>
            <a:fillRect/>
          </a:stretch>
        </p:blipFill>
        <p:spPr>
          <a:xfrm>
            <a:off x="5695881" y="1859354"/>
            <a:ext cx="1508760" cy="457200"/>
          </a:xfrm>
          <a:prstGeom prst="rect">
            <a:avLst/>
          </a:prstGeom>
        </p:spPr>
      </p:pic>
      <p:pic>
        <p:nvPicPr>
          <p:cNvPr id="12" name="图片 11">
            <a:extLst>
              <a:ext uri="{FF2B5EF4-FFF2-40B4-BE49-F238E27FC236}">
                <a16:creationId xmlns:a16="http://schemas.microsoft.com/office/drawing/2014/main" id="{D2DF91BD-1F39-418D-9370-BB211B3C083F}"/>
              </a:ext>
            </a:extLst>
          </p:cNvPr>
          <p:cNvPicPr>
            <a:picLocks noChangeAspect="1"/>
          </p:cNvPicPr>
          <p:nvPr/>
        </p:nvPicPr>
        <p:blipFill>
          <a:blip r:embed="rId3"/>
          <a:stretch>
            <a:fillRect/>
          </a:stretch>
        </p:blipFill>
        <p:spPr>
          <a:xfrm>
            <a:off x="4360476" y="5259779"/>
            <a:ext cx="3040380" cy="579120"/>
          </a:xfrm>
          <a:prstGeom prst="rect">
            <a:avLst/>
          </a:prstGeom>
        </p:spPr>
      </p:pic>
    </p:spTree>
    <p:extLst>
      <p:ext uri="{BB962C8B-B14F-4D97-AF65-F5344CB8AC3E}">
        <p14:creationId xmlns:p14="http://schemas.microsoft.com/office/powerpoint/2010/main" val="12804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linds(horizont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blinds(horizontal)">
                                      <p:cBhvr>
                                        <p:cTn id="12" dur="500"/>
                                        <p:tgtEl>
                                          <p:spTgt spid="9">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linds(horizontal)">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9">
                                            <p:txEl>
                                              <p:pRg st="2" end="2"/>
                                            </p:txEl>
                                          </p:spTgt>
                                        </p:tgtEl>
                                        <p:attrNameLst>
                                          <p:attrName>style.visibility</p:attrName>
                                        </p:attrNameLst>
                                      </p:cBhvr>
                                      <p:to>
                                        <p:strVal val="visible"/>
                                      </p:to>
                                    </p:set>
                                    <p:animEffect transition="in" filter="blinds(horizontal)">
                                      <p:cBhvr>
                                        <p:cTn id="20" dur="500"/>
                                        <p:tgtEl>
                                          <p:spTgt spid="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animEffect transition="in" filter="blinds(horizontal)">
                                      <p:cBhvr>
                                        <p:cTn id="25" dur="500"/>
                                        <p:tgtEl>
                                          <p:spTgt spid="10">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0">
                                            <p:txEl>
                                              <p:pRg st="1" end="1"/>
                                            </p:txEl>
                                          </p:spTgt>
                                        </p:tgtEl>
                                        <p:attrNameLst>
                                          <p:attrName>style.visibility</p:attrName>
                                        </p:attrNameLst>
                                      </p:cBhvr>
                                      <p:to>
                                        <p:strVal val="visible"/>
                                      </p:to>
                                    </p:set>
                                    <p:animEffect transition="in" filter="blinds(horizontal)">
                                      <p:cBhvr>
                                        <p:cTn id="30" dur="500"/>
                                        <p:tgtEl>
                                          <p:spTgt spid="10">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blinds(horizontal)">
                                      <p:cBhvr>
                                        <p:cTn id="35" dur="500"/>
                                        <p:tgtEl>
                                          <p:spTgt spid="10">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0">
                                            <p:txEl>
                                              <p:pRg st="3" end="3"/>
                                            </p:txEl>
                                          </p:spTgt>
                                        </p:tgtEl>
                                        <p:attrNameLst>
                                          <p:attrName>style.visibility</p:attrName>
                                        </p:attrNameLst>
                                      </p:cBhvr>
                                      <p:to>
                                        <p:strVal val="visible"/>
                                      </p:to>
                                    </p:set>
                                    <p:animEffect transition="in" filter="blinds(horizontal)">
                                      <p:cBhvr>
                                        <p:cTn id="40" dur="500"/>
                                        <p:tgtEl>
                                          <p:spTgt spid="10">
                                            <p:txEl>
                                              <p:pRg st="3" end="3"/>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blinds(horizontal)">
                                      <p:cBhvr>
                                        <p:cTn id="4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uiExpand="1" build="p"/>
      <p:bldP spid="9" grpId="1"/>
      <p:bldP spid="10" grpId="0" build="p"/>
      <p:bldP spid="10"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123BC9-EF5E-44DA-ABC2-C4D2E6BB2C29}"/>
              </a:ext>
            </a:extLst>
          </p:cNvPr>
          <p:cNvSpPr>
            <a:spLocks noGrp="1"/>
          </p:cNvSpPr>
          <p:nvPr>
            <p:ph type="title"/>
          </p:nvPr>
        </p:nvSpPr>
        <p:spPr/>
        <p:txBody>
          <a:bodyPr>
            <a:normAutofit fontScale="90000"/>
          </a:bodyPr>
          <a:lstStyle/>
          <a:p>
            <a:r>
              <a:rPr lang="zh-CN" altLang="en-US" sz="2400" dirty="0">
                <a:solidFill>
                  <a:schemeClr val="tx1"/>
                </a:solidFill>
                <a:sym typeface="+mn-ea"/>
              </a:rPr>
              <a:t>乘法公式</a:t>
            </a:r>
            <a:br>
              <a:rPr lang="zh-CN" altLang="en-US" sz="2400" b="1" spc="1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sym typeface="+mn-ea"/>
              </a:rPr>
            </a:br>
            <a:endParaRPr lang="zh-CN" altLang="en-US" dirty="0">
              <a:solidFill>
                <a:schemeClr val="tx1"/>
              </a:solidFill>
            </a:endParaRPr>
          </a:p>
        </p:txBody>
      </p:sp>
      <p:sp>
        <p:nvSpPr>
          <p:cNvPr id="5" name="文本框 4">
            <a:extLst>
              <a:ext uri="{FF2B5EF4-FFF2-40B4-BE49-F238E27FC236}">
                <a16:creationId xmlns:a16="http://schemas.microsoft.com/office/drawing/2014/main" id="{8FAEB782-8EEE-498B-B1E0-344EF60A409F}"/>
              </a:ext>
            </a:extLst>
          </p:cNvPr>
          <p:cNvSpPr txBox="1"/>
          <p:nvPr/>
        </p:nvSpPr>
        <p:spPr>
          <a:xfrm>
            <a:off x="19616" y="1261745"/>
            <a:ext cx="10720070" cy="4076700"/>
          </a:xfrm>
          <a:prstGeom prst="rect">
            <a:avLst/>
          </a:prstGeom>
          <a:noFill/>
        </p:spPr>
        <p:txBody>
          <a:bodyPr wrap="square" rtlCol="0">
            <a:spAutoFit/>
          </a:bodyPr>
          <a:lstStyle/>
          <a:p>
            <a:pPr>
              <a:lnSpc>
                <a:spcPct val="180000"/>
              </a:lnSpc>
            </a:pPr>
            <a:r>
              <a:rPr lang="zh-CN" altLang="en-US"/>
              <a:t>条件概率公式为：                    两侧同时乘以P(A)，得到：P(AB)=P(A)P(BIA)  该式即为概率的乘法公式。</a:t>
            </a:r>
          </a:p>
          <a:p>
            <a:pPr>
              <a:lnSpc>
                <a:spcPct val="180000"/>
              </a:lnSpc>
            </a:pPr>
            <a:r>
              <a:rPr lang="zh-CN" altLang="en-US"/>
              <a:t>条件概率公式还可以写成：                               两侧同乘以P(B)，得到：P(AB)=P(B)P(BIA)</a:t>
            </a:r>
          </a:p>
          <a:p>
            <a:pPr>
              <a:lnSpc>
                <a:spcPct val="180000"/>
              </a:lnSpc>
            </a:pPr>
            <a:r>
              <a:rPr lang="zh-CN" altLang="en-US"/>
              <a:t>将乘法公式从两个事件扩展到n个事件：A</a:t>
            </a:r>
            <a:r>
              <a:rPr lang="zh-CN" altLang="en-US" baseline="-25000"/>
              <a:t>1</a:t>
            </a:r>
            <a:r>
              <a:rPr lang="zh-CN" altLang="en-US"/>
              <a:t>,A</a:t>
            </a:r>
            <a:r>
              <a:rPr lang="zh-CN" altLang="en-US" baseline="-25000"/>
              <a:t>2</a:t>
            </a:r>
            <a:r>
              <a:rPr lang="zh-CN" altLang="en-US"/>
              <a:t>,…,A</a:t>
            </a:r>
            <a:r>
              <a:rPr lang="zh-CN" altLang="en-US" baseline="-25000"/>
              <a:t>n</a:t>
            </a:r>
            <a:r>
              <a:rPr lang="zh-CN" altLang="en-US"/>
              <a:t>，n&gt;2：</a:t>
            </a:r>
          </a:p>
          <a:p>
            <a:pPr>
              <a:lnSpc>
                <a:spcPct val="180000"/>
              </a:lnSpc>
            </a:pPr>
            <a:r>
              <a:rPr lang="zh-CN" altLang="en-US"/>
              <a:t>                                       P(A</a:t>
            </a:r>
            <a:r>
              <a:rPr lang="zh-CN" altLang="en-US" baseline="-25000"/>
              <a:t>1</a:t>
            </a:r>
            <a:r>
              <a:rPr lang="zh-CN" altLang="en-US"/>
              <a:t>A</a:t>
            </a:r>
            <a:r>
              <a:rPr lang="zh-CN" altLang="en-US" baseline="-25000"/>
              <a:t>2</a:t>
            </a:r>
            <a:r>
              <a:rPr lang="zh-CN" altLang="en-US"/>
              <a:t>…A</a:t>
            </a:r>
            <a:r>
              <a:rPr lang="zh-CN" altLang="en-US" baseline="-25000"/>
              <a:t>n</a:t>
            </a:r>
            <a:r>
              <a:rPr lang="zh-CN" altLang="en-US"/>
              <a:t>)= P(A</a:t>
            </a:r>
            <a:r>
              <a:rPr lang="zh-CN" altLang="en-US" baseline="-25000"/>
              <a:t>1</a:t>
            </a:r>
            <a:r>
              <a:rPr lang="zh-CN" altLang="en-US"/>
              <a:t>)P(A</a:t>
            </a:r>
            <a:r>
              <a:rPr lang="zh-CN" altLang="en-US" baseline="-25000"/>
              <a:t>2</a:t>
            </a:r>
            <a:r>
              <a:rPr lang="zh-CN" altLang="en-US"/>
              <a:t>lA</a:t>
            </a:r>
            <a:r>
              <a:rPr lang="zh-CN" altLang="en-US" baseline="-25000"/>
              <a:t>1</a:t>
            </a:r>
            <a:r>
              <a:rPr lang="zh-CN" altLang="en-US"/>
              <a:t>)…P(A</a:t>
            </a:r>
            <a:r>
              <a:rPr lang="zh-CN" altLang="en-US" baseline="-25000"/>
              <a:t>n</a:t>
            </a:r>
            <a:r>
              <a:rPr lang="zh-CN" altLang="en-US"/>
              <a:t>lA</a:t>
            </a:r>
            <a:r>
              <a:rPr lang="zh-CN" altLang="en-US" baseline="-25000"/>
              <a:t>1</a:t>
            </a:r>
            <a:r>
              <a:rPr lang="zh-CN" altLang="en-US"/>
              <a:t>A</a:t>
            </a:r>
            <a:r>
              <a:rPr lang="zh-CN" altLang="en-US" baseline="-25000"/>
              <a:t>2</a:t>
            </a:r>
            <a:r>
              <a:rPr lang="zh-CN" altLang="en-US"/>
              <a:t>…A</a:t>
            </a:r>
            <a:r>
              <a:rPr lang="zh-CN" altLang="en-US" baseline="-25000"/>
              <a:t>n-1</a:t>
            </a:r>
            <a:r>
              <a:rPr lang="zh-CN" altLang="en-US"/>
              <a:t>)</a:t>
            </a:r>
          </a:p>
          <a:p>
            <a:pPr>
              <a:lnSpc>
                <a:spcPct val="180000"/>
              </a:lnSpc>
            </a:pPr>
            <a:r>
              <a:rPr lang="zh-CN" altLang="en-US"/>
              <a:t>以n=3为例，推导一下：</a:t>
            </a:r>
          </a:p>
          <a:p>
            <a:pPr>
              <a:lnSpc>
                <a:spcPct val="180000"/>
              </a:lnSpc>
            </a:pPr>
            <a:r>
              <a:rPr lang="zh-CN" altLang="en-US"/>
              <a:t>                   P(A</a:t>
            </a:r>
            <a:r>
              <a:rPr lang="zh-CN" altLang="en-US" baseline="-25000"/>
              <a:t>1</a:t>
            </a:r>
            <a:r>
              <a:rPr lang="zh-CN" altLang="en-US"/>
              <a:t>A</a:t>
            </a:r>
            <a:r>
              <a:rPr lang="zh-CN" altLang="en-US" baseline="-25000"/>
              <a:t>2</a:t>
            </a:r>
            <a:r>
              <a:rPr lang="zh-CN" altLang="en-US"/>
              <a:t>A</a:t>
            </a:r>
            <a:r>
              <a:rPr lang="zh-CN" altLang="en-US" baseline="-25000"/>
              <a:t>3</a:t>
            </a:r>
            <a:r>
              <a:rPr lang="zh-CN" altLang="en-US"/>
              <a:t>)=P((A</a:t>
            </a:r>
            <a:r>
              <a:rPr lang="zh-CN" altLang="en-US" baseline="-25000"/>
              <a:t>1</a:t>
            </a:r>
            <a:r>
              <a:rPr lang="zh-CN" altLang="en-US"/>
              <a:t>A</a:t>
            </a:r>
            <a:r>
              <a:rPr lang="zh-CN" altLang="en-US" baseline="-25000"/>
              <a:t>2</a:t>
            </a:r>
            <a:r>
              <a:rPr lang="zh-CN" altLang="en-US"/>
              <a:t>)A</a:t>
            </a:r>
            <a:r>
              <a:rPr lang="en-US" altLang="zh-CN" baseline="-25000"/>
              <a:t>3</a:t>
            </a:r>
            <a:r>
              <a:rPr lang="zh-CN" altLang="en-US"/>
              <a:t>)= P(A</a:t>
            </a:r>
            <a:r>
              <a:rPr lang="zh-CN" altLang="en-US" baseline="-25000"/>
              <a:t>1</a:t>
            </a:r>
            <a:r>
              <a:rPr lang="zh-CN" altLang="en-US"/>
              <a:t>A</a:t>
            </a:r>
            <a:r>
              <a:rPr lang="zh-CN" altLang="en-US" baseline="-25000"/>
              <a:t>2</a:t>
            </a:r>
            <a:r>
              <a:rPr lang="zh-CN" altLang="en-US"/>
              <a:t>)P(A</a:t>
            </a:r>
            <a:r>
              <a:rPr lang="zh-CN" altLang="en-US" baseline="-25000"/>
              <a:t>3</a:t>
            </a:r>
            <a:r>
              <a:rPr lang="zh-CN" altLang="en-US"/>
              <a:t>l(A</a:t>
            </a:r>
            <a:r>
              <a:rPr lang="zh-CN" altLang="en-US" baseline="-25000"/>
              <a:t>1</a:t>
            </a:r>
            <a:r>
              <a:rPr lang="zh-CN" altLang="en-US"/>
              <a:t>A</a:t>
            </a:r>
            <a:r>
              <a:rPr lang="en-US" altLang="zh-CN" baseline="-25000"/>
              <a:t>2</a:t>
            </a:r>
            <a:r>
              <a:rPr lang="zh-CN" altLang="en-US"/>
              <a:t>))=P(A</a:t>
            </a:r>
            <a:r>
              <a:rPr lang="zh-CN" altLang="en-US" baseline="-25000"/>
              <a:t>1</a:t>
            </a:r>
            <a:r>
              <a:rPr lang="zh-CN" altLang="en-US"/>
              <a:t>)P(A</a:t>
            </a:r>
            <a:r>
              <a:rPr lang="zh-CN" altLang="en-US" baseline="-25000"/>
              <a:t>2</a:t>
            </a:r>
            <a:r>
              <a:rPr lang="zh-CN" altLang="en-US"/>
              <a:t>lA</a:t>
            </a:r>
            <a:r>
              <a:rPr lang="zh-CN" altLang="en-US" baseline="-25000"/>
              <a:t>1</a:t>
            </a:r>
            <a:r>
              <a:rPr lang="zh-CN" altLang="en-US"/>
              <a:t>)P(A</a:t>
            </a:r>
            <a:r>
              <a:rPr lang="zh-CN" altLang="en-US" baseline="-25000"/>
              <a:t>3</a:t>
            </a:r>
            <a:r>
              <a:rPr lang="zh-CN" altLang="en-US"/>
              <a:t>l(A</a:t>
            </a:r>
            <a:r>
              <a:rPr lang="zh-CN" altLang="en-US" baseline="-25000"/>
              <a:t>1</a:t>
            </a:r>
            <a:r>
              <a:rPr lang="zh-CN" altLang="en-US"/>
              <a:t>A</a:t>
            </a:r>
            <a:r>
              <a:rPr lang="zh-CN" altLang="en-US" baseline="-25000"/>
              <a:t>2</a:t>
            </a:r>
            <a:r>
              <a:rPr lang="zh-CN" altLang="en-US"/>
              <a:t>))</a:t>
            </a:r>
          </a:p>
          <a:p>
            <a:pPr>
              <a:lnSpc>
                <a:spcPct val="180000"/>
              </a:lnSpc>
            </a:pPr>
            <a:r>
              <a:rPr lang="zh-CN" altLang="en-US"/>
              <a:t>100个小球，80黑20红，不放回的抽取两次，求第一次为红第二次为黑的概率。</a:t>
            </a:r>
          </a:p>
          <a:p>
            <a:pPr>
              <a:lnSpc>
                <a:spcPct val="180000"/>
              </a:lnSpc>
            </a:pPr>
            <a:r>
              <a:rPr lang="zh-CN" altLang="en-US"/>
              <a:t>事件A：抽中红球，事件B：抽中黑球，求P(AB)</a:t>
            </a:r>
          </a:p>
        </p:txBody>
      </p:sp>
      <p:pic>
        <p:nvPicPr>
          <p:cNvPr id="6" name="图片 5">
            <a:extLst>
              <a:ext uri="{FF2B5EF4-FFF2-40B4-BE49-F238E27FC236}">
                <a16:creationId xmlns:a16="http://schemas.microsoft.com/office/drawing/2014/main" id="{06AFC1F3-0044-4538-9862-6968C30D7EE4}"/>
              </a:ext>
            </a:extLst>
          </p:cNvPr>
          <p:cNvPicPr>
            <a:picLocks noChangeAspect="1"/>
          </p:cNvPicPr>
          <p:nvPr/>
        </p:nvPicPr>
        <p:blipFill>
          <a:blip r:embed="rId2"/>
          <a:stretch>
            <a:fillRect/>
          </a:stretch>
        </p:blipFill>
        <p:spPr>
          <a:xfrm>
            <a:off x="1828096" y="1422400"/>
            <a:ext cx="1316355" cy="484505"/>
          </a:xfrm>
          <a:prstGeom prst="rect">
            <a:avLst/>
          </a:prstGeom>
        </p:spPr>
      </p:pic>
      <p:pic>
        <p:nvPicPr>
          <p:cNvPr id="7" name="图片 6">
            <a:extLst>
              <a:ext uri="{FF2B5EF4-FFF2-40B4-BE49-F238E27FC236}">
                <a16:creationId xmlns:a16="http://schemas.microsoft.com/office/drawing/2014/main" id="{E2D3F54B-22D2-476F-BBF3-CFCEE7D5A8DD}"/>
              </a:ext>
            </a:extLst>
          </p:cNvPr>
          <p:cNvPicPr>
            <a:picLocks noChangeAspect="1"/>
          </p:cNvPicPr>
          <p:nvPr/>
        </p:nvPicPr>
        <p:blipFill>
          <a:blip r:embed="rId3"/>
          <a:stretch>
            <a:fillRect/>
          </a:stretch>
        </p:blipFill>
        <p:spPr>
          <a:xfrm>
            <a:off x="2827586" y="1906905"/>
            <a:ext cx="1813560" cy="504825"/>
          </a:xfrm>
          <a:prstGeom prst="rect">
            <a:avLst/>
          </a:prstGeom>
        </p:spPr>
      </p:pic>
      <p:pic>
        <p:nvPicPr>
          <p:cNvPr id="8" name="图片 7">
            <a:extLst>
              <a:ext uri="{FF2B5EF4-FFF2-40B4-BE49-F238E27FC236}">
                <a16:creationId xmlns:a16="http://schemas.microsoft.com/office/drawing/2014/main" id="{A0096A5B-6788-491B-BA32-305153CE16AB}"/>
              </a:ext>
            </a:extLst>
          </p:cNvPr>
          <p:cNvPicPr>
            <a:picLocks noChangeAspect="1"/>
          </p:cNvPicPr>
          <p:nvPr/>
        </p:nvPicPr>
        <p:blipFill>
          <a:blip r:embed="rId4"/>
          <a:stretch>
            <a:fillRect/>
          </a:stretch>
        </p:blipFill>
        <p:spPr>
          <a:xfrm>
            <a:off x="5252651" y="4907915"/>
            <a:ext cx="4358640" cy="655320"/>
          </a:xfrm>
          <a:prstGeom prst="rect">
            <a:avLst/>
          </a:prstGeom>
        </p:spPr>
      </p:pic>
      <p:sp>
        <p:nvSpPr>
          <p:cNvPr id="9" name="圆角矩形 15">
            <a:extLst>
              <a:ext uri="{FF2B5EF4-FFF2-40B4-BE49-F238E27FC236}">
                <a16:creationId xmlns:a16="http://schemas.microsoft.com/office/drawing/2014/main" id="{24108602-5687-45CA-959C-884987E425E1}"/>
              </a:ext>
            </a:extLst>
          </p:cNvPr>
          <p:cNvSpPr/>
          <p:nvPr/>
        </p:nvSpPr>
        <p:spPr>
          <a:xfrm>
            <a:off x="7263696" y="1852295"/>
            <a:ext cx="2146300" cy="614045"/>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16">
            <a:extLst>
              <a:ext uri="{FF2B5EF4-FFF2-40B4-BE49-F238E27FC236}">
                <a16:creationId xmlns:a16="http://schemas.microsoft.com/office/drawing/2014/main" id="{5FD04E86-DD53-4DC7-9631-E0DEC02BA169}"/>
              </a:ext>
            </a:extLst>
          </p:cNvPr>
          <p:cNvSpPr/>
          <p:nvPr/>
        </p:nvSpPr>
        <p:spPr>
          <a:xfrm>
            <a:off x="5963851" y="1292860"/>
            <a:ext cx="2146300" cy="614045"/>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7">
            <a:extLst>
              <a:ext uri="{FF2B5EF4-FFF2-40B4-BE49-F238E27FC236}">
                <a16:creationId xmlns:a16="http://schemas.microsoft.com/office/drawing/2014/main" id="{EC08CFB3-9AA5-4D9A-89DD-75EE9D4A783F}"/>
              </a:ext>
            </a:extLst>
          </p:cNvPr>
          <p:cNvSpPr/>
          <p:nvPr/>
        </p:nvSpPr>
        <p:spPr>
          <a:xfrm>
            <a:off x="3656261" y="3731260"/>
            <a:ext cx="2146300" cy="614045"/>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08762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blinds(horizontal)">
                                      <p:cBhvr>
                                        <p:cTn id="20" dur="500"/>
                                        <p:tgtEl>
                                          <p:spTgt spid="5">
                                            <p:txEl>
                                              <p:pRg st="1" end="1"/>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linds(horizontal)">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animEffect transition="in" filter="blinds(horizontal)">
                                      <p:cBhvr>
                                        <p:cTn id="33" dur="500"/>
                                        <p:tgtEl>
                                          <p:spTgt spid="5">
                                            <p:txEl>
                                              <p:pRg st="2" end="2"/>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5">
                                            <p:txEl>
                                              <p:pRg st="3" end="3"/>
                                            </p:txEl>
                                          </p:spTgt>
                                        </p:tgtEl>
                                        <p:attrNameLst>
                                          <p:attrName>style.visibility</p:attrName>
                                        </p:attrNameLst>
                                      </p:cBhvr>
                                      <p:to>
                                        <p:strVal val="visible"/>
                                      </p:to>
                                    </p:set>
                                    <p:animEffect transition="in" filter="blinds(horizontal)">
                                      <p:cBhvr>
                                        <p:cTn id="36" dur="500"/>
                                        <p:tgtEl>
                                          <p:spTgt spid="5">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5">
                                            <p:txEl>
                                              <p:pRg st="4" end="4"/>
                                            </p:txEl>
                                          </p:spTgt>
                                        </p:tgtEl>
                                        <p:attrNameLst>
                                          <p:attrName>style.visibility</p:attrName>
                                        </p:attrNameLst>
                                      </p:cBhvr>
                                      <p:to>
                                        <p:strVal val="visible"/>
                                      </p:to>
                                    </p:set>
                                    <p:animEffect transition="in" filter="blinds(horizontal)">
                                      <p:cBhvr>
                                        <p:cTn id="41" dur="500"/>
                                        <p:tgtEl>
                                          <p:spTgt spid="5">
                                            <p:txEl>
                                              <p:pRg st="4" end="4"/>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5">
                                            <p:txEl>
                                              <p:pRg st="5" end="5"/>
                                            </p:txEl>
                                          </p:spTgt>
                                        </p:tgtEl>
                                        <p:attrNameLst>
                                          <p:attrName>style.visibility</p:attrName>
                                        </p:attrNameLst>
                                      </p:cBhvr>
                                      <p:to>
                                        <p:strVal val="visible"/>
                                      </p:to>
                                    </p:set>
                                    <p:animEffect transition="in" filter="blinds(horizontal)">
                                      <p:cBhvr>
                                        <p:cTn id="44" dur="500"/>
                                        <p:tgtEl>
                                          <p:spTgt spid="5">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blinds(horizontal)">
                                      <p:cBhvr>
                                        <p:cTn id="49" dur="50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5">
                                            <p:txEl>
                                              <p:pRg st="6" end="6"/>
                                            </p:txEl>
                                          </p:spTgt>
                                        </p:tgtEl>
                                        <p:attrNameLst>
                                          <p:attrName>style.visibility</p:attrName>
                                        </p:attrNameLst>
                                      </p:cBhvr>
                                      <p:to>
                                        <p:strVal val="visible"/>
                                      </p:to>
                                    </p:set>
                                    <p:animEffect transition="in" filter="blinds(horizontal)">
                                      <p:cBhvr>
                                        <p:cTn id="54" dur="500"/>
                                        <p:tgtEl>
                                          <p:spTgt spid="5">
                                            <p:txEl>
                                              <p:pRg st="6" end="6"/>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5">
                                            <p:txEl>
                                              <p:pRg st="7" end="7"/>
                                            </p:txEl>
                                          </p:spTgt>
                                        </p:tgtEl>
                                        <p:attrNameLst>
                                          <p:attrName>style.visibility</p:attrName>
                                        </p:attrNameLst>
                                      </p:cBhvr>
                                      <p:to>
                                        <p:strVal val="visible"/>
                                      </p:to>
                                    </p:set>
                                    <p:animEffect transition="in" filter="blinds(horizontal)">
                                      <p:cBhvr>
                                        <p:cTn id="59" dur="500"/>
                                        <p:tgtEl>
                                          <p:spTgt spid="5">
                                            <p:txEl>
                                              <p:pRg st="7" end="7"/>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blinds(horizontal)">
                                      <p:cBhvr>
                                        <p:cTn id="6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p:bldP spid="9" grpId="0" animBg="1"/>
      <p:bldP spid="9" grpId="1" animBg="1"/>
      <p:bldP spid="10" grpId="0" animBg="1"/>
      <p:bldP spid="10" grpId="1" animBg="1"/>
      <p:bldP spid="11" grpId="0" animBg="1"/>
      <p:bldP spid="11"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8C890F-836C-46F9-A46B-E9629D7BFF29}"/>
              </a:ext>
            </a:extLst>
          </p:cNvPr>
          <p:cNvSpPr>
            <a:spLocks noGrp="1"/>
          </p:cNvSpPr>
          <p:nvPr>
            <p:ph type="title"/>
          </p:nvPr>
        </p:nvSpPr>
        <p:spPr/>
        <p:txBody>
          <a:bodyPr>
            <a:normAutofit fontScale="90000"/>
          </a:bodyPr>
          <a:lstStyle/>
          <a:p>
            <a:r>
              <a:rPr lang="zh-CN" altLang="en-US" sz="2400" dirty="0">
                <a:solidFill>
                  <a:schemeClr val="tx1"/>
                </a:solidFill>
                <a:sym typeface="+mn-ea"/>
              </a:rPr>
              <a:t>事件独立性</a:t>
            </a:r>
            <a:br>
              <a:rPr lang="zh-CN" altLang="en-US" sz="2400" b="1" spc="1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sym typeface="+mn-ea"/>
              </a:rPr>
            </a:br>
            <a:endParaRPr lang="zh-CN" altLang="en-US" dirty="0">
              <a:solidFill>
                <a:schemeClr val="tx1"/>
              </a:solidFill>
            </a:endParaRPr>
          </a:p>
        </p:txBody>
      </p:sp>
      <p:sp>
        <p:nvSpPr>
          <p:cNvPr id="3" name="文本框 2">
            <a:extLst>
              <a:ext uri="{FF2B5EF4-FFF2-40B4-BE49-F238E27FC236}">
                <a16:creationId xmlns:a16="http://schemas.microsoft.com/office/drawing/2014/main" id="{B5E1366D-0D00-4E5E-A540-FA560FB1D00A}"/>
              </a:ext>
            </a:extLst>
          </p:cNvPr>
          <p:cNvSpPr txBox="1"/>
          <p:nvPr/>
        </p:nvSpPr>
        <p:spPr>
          <a:xfrm>
            <a:off x="0" y="1403032"/>
            <a:ext cx="10408920" cy="4051935"/>
          </a:xfrm>
          <a:prstGeom prst="rect">
            <a:avLst/>
          </a:prstGeom>
          <a:noFill/>
        </p:spPr>
        <p:txBody>
          <a:bodyPr wrap="square" rtlCol="0">
            <a:spAutoFit/>
          </a:bodyPr>
          <a:lstStyle/>
          <a:p>
            <a:pPr>
              <a:lnSpc>
                <a:spcPct val="150000"/>
              </a:lnSpc>
            </a:pPr>
            <a:r>
              <a:rPr lang="zh-CN" altLang="en-US" dirty="0"/>
              <a:t>事件独立：如果两个事件是否发生相互没有影响，即称两个事件互相独立。</a:t>
            </a:r>
          </a:p>
          <a:p>
            <a:pPr>
              <a:lnSpc>
                <a:spcPct val="150000"/>
              </a:lnSpc>
            </a:pPr>
            <a:r>
              <a:rPr lang="zh-CN" altLang="en-US" dirty="0"/>
              <a:t>事件独立：设A、B是两个事件，B发生的可能性不受到A的影响，即P（BIA)=P(B)，称事件B对于事件A独立。显然，事件A对于事件B也独立。</a:t>
            </a:r>
          </a:p>
          <a:p>
            <a:pPr>
              <a:lnSpc>
                <a:spcPct val="150000"/>
              </a:lnSpc>
            </a:pPr>
            <a:r>
              <a:rPr lang="zh-CN" altLang="en-US" dirty="0"/>
              <a:t>其充分必要条件为：P(AB)=P(A)P(BIA)</a:t>
            </a:r>
          </a:p>
          <a:p>
            <a:pPr>
              <a:lnSpc>
                <a:spcPct val="150000"/>
              </a:lnSpc>
            </a:pPr>
            <a:r>
              <a:rPr lang="zh-CN" altLang="en-US" dirty="0"/>
              <a:t>从一副没有大小王的扑克牌中随机抽取一张，事件A为抽到K，事件B为抽到黑花色的牌，AB是否独立?</a:t>
            </a:r>
          </a:p>
          <a:p>
            <a:pPr>
              <a:lnSpc>
                <a:spcPct val="230000"/>
              </a:lnSpc>
            </a:pPr>
            <a:r>
              <a:rPr lang="en-US" altLang="zh-CN" dirty="0"/>
              <a:t>            P(A)=4/52,</a:t>
            </a:r>
            <a:r>
              <a:rPr lang="en-US" altLang="zh-CN" dirty="0">
                <a:sym typeface="+mn-ea"/>
              </a:rPr>
              <a:t> P(B)=26/52       </a:t>
            </a:r>
            <a:r>
              <a:rPr lang="en-US" altLang="zh-CN" dirty="0"/>
              <a:t>P(AB)=2/25                          </a:t>
            </a:r>
            <a:endParaRPr lang="zh-CN" altLang="en-US" dirty="0"/>
          </a:p>
          <a:p>
            <a:pPr>
              <a:lnSpc>
                <a:spcPct val="150000"/>
              </a:lnSpc>
            </a:pPr>
            <a:r>
              <a:rPr lang="zh-CN" altLang="en-US" b="1" dirty="0"/>
              <a:t>互不相容与互相独立</a:t>
            </a:r>
            <a:r>
              <a:rPr lang="zh-CN" altLang="en-US" dirty="0"/>
              <a:t>：</a:t>
            </a:r>
            <a:r>
              <a:rPr lang="zh-CN" altLang="en-US" b="1" dirty="0"/>
              <a:t>两者完全不同</a:t>
            </a:r>
          </a:p>
          <a:p>
            <a:pPr>
              <a:lnSpc>
                <a:spcPct val="150000"/>
              </a:lnSpc>
            </a:pPr>
            <a:r>
              <a:rPr lang="zh-CN" altLang="en-US" dirty="0"/>
              <a:t>互不相容是说同一次随机实验中，两个事件不可能同时发生</a:t>
            </a:r>
          </a:p>
          <a:p>
            <a:pPr>
              <a:lnSpc>
                <a:spcPct val="150000"/>
              </a:lnSpc>
            </a:pPr>
            <a:r>
              <a:rPr lang="zh-CN" altLang="en-US" dirty="0"/>
              <a:t>互相独立是说同一次随机试验中，两个事件互不影响</a:t>
            </a:r>
          </a:p>
        </p:txBody>
      </p:sp>
    </p:spTree>
    <p:extLst>
      <p:ext uri="{BB962C8B-B14F-4D97-AF65-F5344CB8AC3E}">
        <p14:creationId xmlns:p14="http://schemas.microsoft.com/office/powerpoint/2010/main" val="1425553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5C395B-81C4-4F93-AEB9-22CE0F24E024}"/>
              </a:ext>
            </a:extLst>
          </p:cNvPr>
          <p:cNvSpPr>
            <a:spLocks noGrp="1"/>
          </p:cNvSpPr>
          <p:nvPr>
            <p:ph type="title"/>
          </p:nvPr>
        </p:nvSpPr>
        <p:spPr>
          <a:xfrm>
            <a:off x="128344" y="336698"/>
            <a:ext cx="10852237" cy="441964"/>
          </a:xfrm>
        </p:spPr>
        <p:txBody>
          <a:bodyPr>
            <a:normAutofit fontScale="90000"/>
          </a:bodyPr>
          <a:lstStyle/>
          <a:p>
            <a:r>
              <a:rPr lang="zh-CN" altLang="en-US" sz="2400" spc="100" dirty="0">
                <a:solidFill>
                  <a:schemeClr val="tx1"/>
                </a:solidFill>
                <a:latin typeface="Arial" panose="020B0604020202020204" pitchFamily="34" charset="0"/>
                <a:ea typeface="微软雅黑" panose="020B0503020204020204" charset="-122"/>
                <a:sym typeface="Arial" panose="020B0604020202020204" pitchFamily="34" charset="0"/>
              </a:rPr>
              <a:t>全概率公式</a:t>
            </a:r>
            <a:br>
              <a:rPr lang="zh-CN" altLang="en-US" sz="2400" b="1" spc="100" dirty="0">
                <a:ln w="3175">
                  <a:noFill/>
                  <a:prstDash val="dash"/>
                </a:ln>
                <a:solidFill>
                  <a:schemeClr val="bg2"/>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br>
            <a:endParaRPr lang="zh-CN" altLang="en-US" dirty="0"/>
          </a:p>
        </p:txBody>
      </p:sp>
      <p:sp>
        <p:nvSpPr>
          <p:cNvPr id="3" name="文本框 14">
            <a:extLst>
              <a:ext uri="{FF2B5EF4-FFF2-40B4-BE49-F238E27FC236}">
                <a16:creationId xmlns:a16="http://schemas.microsoft.com/office/drawing/2014/main" id="{6A3AF2D0-EAA8-44D2-8793-4BF338CB0AE1}"/>
              </a:ext>
            </a:extLst>
          </p:cNvPr>
          <p:cNvSpPr txBox="1"/>
          <p:nvPr>
            <p:custDataLst>
              <p:tags r:id="rId1"/>
            </p:custDataLst>
          </p:nvPr>
        </p:nvSpPr>
        <p:spPr>
          <a:xfrm>
            <a:off x="201886" y="1303877"/>
            <a:ext cx="11126470" cy="4752975"/>
          </a:xfrm>
          <a:prstGeom prst="rect">
            <a:avLst/>
          </a:prstGeom>
          <a:noFill/>
        </p:spPr>
        <p:txBody>
          <a:bodyPr wrap="square" rtlCol="0" anchor="ctr" anchorCtr="0">
            <a:noAutofit/>
          </a:bodyPr>
          <a:lstStyle/>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全概率定理：如果事件A1,A2,…An是一个完备事件组，并且都具有正概率，则有全概率公式：</a:t>
            </a: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P(B)= P(A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)P(BIA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P(A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)P(BIA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P(A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)P(BIA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一个复杂事件的概率问题，可以转化为在不同情况或者不同原因下发生的简单</a:t>
            </a: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事件的概率求和问题。</a:t>
            </a: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某驾校有三个分校，人数占比分别为：40%、35%、25%，其学生通过率分别为：95%、92%、90%，求该驾校所有学员的通过率。</a:t>
            </a: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令事件A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3</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分别表示三个分校的学生，事件B表示通过率，则有：</a:t>
            </a: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P(A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)=0.4,P(A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)=0.35,P(A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3</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)=0.25                   P(B|A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)=0.95,P(B|A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)=0.92,P(B|A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3</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)=0.9</a:t>
            </a: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求驾校学生通过率，即求P</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B)的值，由全概率公式得到：</a:t>
            </a: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P(B)=P(A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)P(B|A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)P(B</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|A2)+P(A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3</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)P(BlA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3</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)=0.4*0.95+0.35*0.92+0.25*0.9=0.927</a:t>
            </a:r>
          </a:p>
        </p:txBody>
      </p:sp>
      <p:pic>
        <p:nvPicPr>
          <p:cNvPr id="4" name="图片 3">
            <a:extLst>
              <a:ext uri="{FF2B5EF4-FFF2-40B4-BE49-F238E27FC236}">
                <a16:creationId xmlns:a16="http://schemas.microsoft.com/office/drawing/2014/main" id="{950B65EB-B6DE-4875-B1C6-98C21C7804F2}"/>
              </a:ext>
            </a:extLst>
          </p:cNvPr>
          <p:cNvPicPr>
            <a:picLocks noChangeAspect="1"/>
          </p:cNvPicPr>
          <p:nvPr/>
        </p:nvPicPr>
        <p:blipFill>
          <a:blip r:embed="rId3"/>
          <a:stretch>
            <a:fillRect/>
          </a:stretch>
        </p:blipFill>
        <p:spPr>
          <a:xfrm>
            <a:off x="8916831" y="1927167"/>
            <a:ext cx="2063750" cy="1145540"/>
          </a:xfrm>
          <a:prstGeom prst="rect">
            <a:avLst/>
          </a:prstGeom>
        </p:spPr>
      </p:pic>
    </p:spTree>
    <p:extLst>
      <p:ext uri="{BB962C8B-B14F-4D97-AF65-F5344CB8AC3E}">
        <p14:creationId xmlns:p14="http://schemas.microsoft.com/office/powerpoint/2010/main" val="2589855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nodePh="1">
                                  <p:stCondLst>
                                    <p:cond delay="0"/>
                                  </p:stCondLst>
                                  <p:endCondLst>
                                    <p:cond evt="begin" delay="0">
                                      <p:tn val="8"/>
                                    </p:cond>
                                  </p:end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nodePh="1">
                                  <p:stCondLst>
                                    <p:cond delay="0"/>
                                  </p:stCondLst>
                                  <p:endCondLst>
                                    <p:cond evt="begin" delay="0">
                                      <p:tn val="13"/>
                                    </p:cond>
                                  </p:end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nodePh="1">
                                  <p:stCondLst>
                                    <p:cond delay="0"/>
                                  </p:stCondLst>
                                  <p:endCondLst>
                                    <p:cond evt="begin" delay="0">
                                      <p:tn val="16"/>
                                    </p:cond>
                                  </p:end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nodePh="1">
                                  <p:stCondLst>
                                    <p:cond delay="0"/>
                                  </p:stCondLst>
                                  <p:endCondLst>
                                    <p:cond evt="begin" delay="0">
                                      <p:tn val="21"/>
                                    </p:cond>
                                  </p:end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nodePh="1">
                                  <p:stCondLst>
                                    <p:cond delay="0"/>
                                  </p:stCondLst>
                                  <p:endCondLst>
                                    <p:cond evt="begin" delay="0">
                                      <p:tn val="26"/>
                                    </p:cond>
                                  </p:end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blinds(horizontal)">
                                      <p:cBhvr>
                                        <p:cTn id="28" dur="500"/>
                                        <p:tgtEl>
                                          <p:spTgt spid="3">
                                            <p:txEl>
                                              <p:pRg st="5" end="5"/>
                                            </p:txEl>
                                          </p:spTgt>
                                        </p:tgtEl>
                                      </p:cBhvr>
                                    </p:animEffect>
                                  </p:childTnLst>
                                </p:cTn>
                              </p:par>
                              <p:par>
                                <p:cTn id="29" presetID="3" presetClass="entr" presetSubtype="10" fill="hold" grpId="0" nodeType="withEffect" nodePh="1">
                                  <p:stCondLst>
                                    <p:cond delay="0"/>
                                  </p:stCondLst>
                                  <p:endCondLst>
                                    <p:cond evt="begin" delay="0">
                                      <p:tn val="29"/>
                                    </p:cond>
                                  </p:end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linds(horizontal)">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nodePh="1">
                                  <p:stCondLst>
                                    <p:cond delay="0"/>
                                  </p:stCondLst>
                                  <p:endCondLst>
                                    <p:cond evt="begin" delay="0">
                                      <p:tn val="34"/>
                                    </p:cond>
                                  </p:end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blinds(horizontal)">
                                      <p:cBhvr>
                                        <p:cTn id="36" dur="500"/>
                                        <p:tgtEl>
                                          <p:spTgt spid="3">
                                            <p:txEl>
                                              <p:pRg st="7" end="7"/>
                                            </p:txEl>
                                          </p:spTgt>
                                        </p:tgtEl>
                                      </p:cBhvr>
                                    </p:animEffect>
                                  </p:childTnLst>
                                </p:cTn>
                              </p:par>
                              <p:par>
                                <p:cTn id="37" presetID="3" presetClass="entr" presetSubtype="10" fill="hold" grpId="0" nodeType="withEffect" nodePh="1">
                                  <p:stCondLst>
                                    <p:cond delay="0"/>
                                  </p:stCondLst>
                                  <p:endCondLst>
                                    <p:cond evt="begin" delay="0">
                                      <p:tn val="37"/>
                                    </p:cond>
                                  </p:end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blinds(horizontal)">
                                      <p:cBhvr>
                                        <p:cTn id="39" dur="500"/>
                                        <p:tgtEl>
                                          <p:spTgt spid="3">
                                            <p:txEl>
                                              <p:pRg st="8" end="8"/>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blinds(horizontal)">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312219-454D-474E-9645-00827E369158}"/>
              </a:ext>
            </a:extLst>
          </p:cNvPr>
          <p:cNvSpPr>
            <a:spLocks noGrp="1"/>
          </p:cNvSpPr>
          <p:nvPr>
            <p:ph type="title"/>
          </p:nvPr>
        </p:nvSpPr>
        <p:spPr/>
        <p:txBody>
          <a:bodyPr>
            <a:normAutofit fontScale="90000"/>
          </a:bodyPr>
          <a:lstStyle/>
          <a:p>
            <a:r>
              <a:rPr lang="zh-CN" altLang="en-US" sz="2400" spc="100" dirty="0">
                <a:solidFill>
                  <a:schemeClr val="tx1"/>
                </a:solidFill>
                <a:latin typeface="Arial" panose="020B0604020202020204" pitchFamily="34" charset="0"/>
                <a:ea typeface="微软雅黑" panose="020B0503020204020204" charset="-122"/>
                <a:sym typeface="Arial" panose="020B0604020202020204" pitchFamily="34" charset="0"/>
              </a:rPr>
              <a:t>贝叶斯公式</a:t>
            </a:r>
            <a:br>
              <a:rPr lang="zh-CN" altLang="en-US" sz="2400" b="1" spc="1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br>
            <a:endParaRPr lang="zh-CN" altLang="en-US" dirty="0">
              <a:solidFill>
                <a:schemeClr val="tx1"/>
              </a:solidFill>
            </a:endParaRPr>
          </a:p>
        </p:txBody>
      </p:sp>
      <p:sp>
        <p:nvSpPr>
          <p:cNvPr id="7" name="矩形 3">
            <a:extLst>
              <a:ext uri="{FF2B5EF4-FFF2-40B4-BE49-F238E27FC236}">
                <a16:creationId xmlns:a16="http://schemas.microsoft.com/office/drawing/2014/main" id="{1219B897-51D9-4F94-840F-16487EDDC77C}"/>
              </a:ext>
            </a:extLst>
          </p:cNvPr>
          <p:cNvSpPr/>
          <p:nvPr>
            <p:custDataLst>
              <p:tags r:id="rId1"/>
            </p:custDataLst>
          </p:nvPr>
        </p:nvSpPr>
        <p:spPr>
          <a:xfrm>
            <a:off x="608330" y="1371600"/>
            <a:ext cx="10974705" cy="4743450"/>
          </a:xfrm>
          <a:prstGeom prst="rect">
            <a:avLst/>
          </a:prstGeom>
          <a:solidFill>
            <a:schemeClr val="bg2"/>
          </a:solidFill>
          <a:ln>
            <a:noFill/>
          </a:ln>
          <a:effectLst>
            <a:outerShdw blurRad="127000" dist="38100" dir="5400000" algn="t"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1" lang="zh-CN" altLang="en-US" sz="1600" b="1"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sym typeface="Arial" panose="020B0604020202020204" pitchFamily="34" charset="0"/>
            </a:endParaRPr>
          </a:p>
        </p:txBody>
      </p:sp>
      <p:pic>
        <p:nvPicPr>
          <p:cNvPr id="8" name="图片 7">
            <a:extLst>
              <a:ext uri="{FF2B5EF4-FFF2-40B4-BE49-F238E27FC236}">
                <a16:creationId xmlns:a16="http://schemas.microsoft.com/office/drawing/2014/main" id="{A13DA7FA-945C-400A-8673-967D02B4F9AE}"/>
              </a:ext>
            </a:extLst>
          </p:cNvPr>
          <p:cNvPicPr>
            <a:picLocks noChangeAspect="1"/>
          </p:cNvPicPr>
          <p:nvPr/>
        </p:nvPicPr>
        <p:blipFill>
          <a:blip r:embed="rId4"/>
          <a:stretch>
            <a:fillRect/>
          </a:stretch>
        </p:blipFill>
        <p:spPr>
          <a:xfrm>
            <a:off x="3253740" y="1829435"/>
            <a:ext cx="3810000" cy="640080"/>
          </a:xfrm>
          <a:prstGeom prst="rect">
            <a:avLst/>
          </a:prstGeom>
        </p:spPr>
      </p:pic>
      <p:pic>
        <p:nvPicPr>
          <p:cNvPr id="9" name="图片 8">
            <a:extLst>
              <a:ext uri="{FF2B5EF4-FFF2-40B4-BE49-F238E27FC236}">
                <a16:creationId xmlns:a16="http://schemas.microsoft.com/office/drawing/2014/main" id="{35C710AC-59C1-4969-97A1-AF9F150C8B3D}"/>
              </a:ext>
            </a:extLst>
          </p:cNvPr>
          <p:cNvPicPr>
            <a:picLocks noChangeAspect="1"/>
          </p:cNvPicPr>
          <p:nvPr/>
        </p:nvPicPr>
        <p:blipFill>
          <a:blip r:embed="rId5"/>
          <a:stretch>
            <a:fillRect/>
          </a:stretch>
        </p:blipFill>
        <p:spPr>
          <a:xfrm>
            <a:off x="1202055" y="5459730"/>
            <a:ext cx="9730740" cy="655320"/>
          </a:xfrm>
          <a:prstGeom prst="rect">
            <a:avLst/>
          </a:prstGeom>
        </p:spPr>
      </p:pic>
      <p:sp>
        <p:nvSpPr>
          <p:cNvPr id="10" name="文本框 14">
            <a:extLst>
              <a:ext uri="{FF2B5EF4-FFF2-40B4-BE49-F238E27FC236}">
                <a16:creationId xmlns:a16="http://schemas.microsoft.com/office/drawing/2014/main" id="{C5181C95-1C1D-4BFA-996A-EA8ECFB5550C}"/>
              </a:ext>
            </a:extLst>
          </p:cNvPr>
          <p:cNvSpPr txBox="1"/>
          <p:nvPr>
            <p:custDataLst>
              <p:tags r:id="rId2"/>
            </p:custDataLst>
          </p:nvPr>
        </p:nvSpPr>
        <p:spPr>
          <a:xfrm>
            <a:off x="632749" y="1006157"/>
            <a:ext cx="11126470" cy="4845685"/>
          </a:xfrm>
          <a:prstGeom prst="rect">
            <a:avLst/>
          </a:prstGeom>
          <a:noFill/>
        </p:spPr>
        <p:txBody>
          <a:bodyPr wrap="square" rtlCol="0" anchor="ctr" anchorCtr="0">
            <a:noAutofit/>
          </a:bodyPr>
          <a:lstStyle/>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贝叶斯公式：如果事件A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是一个完备事件组，则对任一事件B，若P(B)&gt;0，有：</a:t>
            </a:r>
          </a:p>
          <a:p>
            <a:pPr lvl="0" indent="0" algn="just">
              <a:lnSpc>
                <a:spcPct val="130000"/>
              </a:lnSpc>
              <a:spcAft>
                <a:spcPts val="800"/>
              </a:spcAft>
              <a:buClr>
                <a:schemeClr val="tx1">
                  <a:lumMod val="65000"/>
                  <a:lumOff val="35000"/>
                </a:schemeClr>
              </a:buClr>
              <a:buNone/>
            </a:pPr>
            <a:endPar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已知某事件已经发生，可以通过贝叶斯公式考察引发该事件的各种原因或情况的可能性大小。</a:t>
            </a: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市场上销售端额某种商品由甲乙丙三个厂家生产，占比不同，甲厂占45%，乙厂占35%，丙厂占20%，各厂的次品率依次为：4%、2%、5%。现从市场购买一件该商品，发现是次品，判断它是由甲厂生产的概率。</a:t>
            </a: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令事件A1,A2,A3分别表示商品由甲厂、乙厂、丙厂生产，事件B表示商品为次品，则有：</a:t>
            </a: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P(A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0.45,P(A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)=0.35,P(A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3</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)=0.2      P(B|A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)=0.04,P(B|A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)=0.02,P(B|A</a:t>
            </a:r>
            <a:r>
              <a:rPr lang="zh-CN" altLang="en-US"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3</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)=0.05</a:t>
            </a:r>
          </a:p>
          <a:p>
            <a:pPr lvl="0" indent="0" algn="just">
              <a:lnSpc>
                <a:spcPct val="130000"/>
              </a:lnSpc>
              <a:spcAft>
                <a:spcPts val="800"/>
              </a:spcAft>
              <a:buClr>
                <a:schemeClr val="tx1">
                  <a:lumMod val="65000"/>
                  <a:lumOff val="35000"/>
                </a:schemeClr>
              </a:buClr>
              <a:buNone/>
            </a:pP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求某次品是由甲厂生产的概率，即求P（AilB），由贝叶斯公式得到：</a:t>
            </a:r>
          </a:p>
        </p:txBody>
      </p:sp>
    </p:spTree>
    <p:extLst>
      <p:ext uri="{BB962C8B-B14F-4D97-AF65-F5344CB8AC3E}">
        <p14:creationId xmlns:p14="http://schemas.microsoft.com/office/powerpoint/2010/main" val="3006324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nodePh="1">
                                  <p:stCondLst>
                                    <p:cond delay="0"/>
                                  </p:stCondLst>
                                  <p:endCondLst>
                                    <p:cond evt="begin" delay="0">
                                      <p:tn val="13"/>
                                    </p:cond>
                                  </p:endCondLst>
                                  <p:childTnLst>
                                    <p:set>
                                      <p:cBhvr>
                                        <p:cTn id="14" dur="1" fill="hold">
                                          <p:stCondLst>
                                            <p:cond delay="0"/>
                                          </p:stCondLst>
                                        </p:cTn>
                                        <p:tgtEl>
                                          <p:spTgt spid="10">
                                            <p:txEl>
                                              <p:pRg st="0" end="0"/>
                                            </p:txEl>
                                          </p:spTgt>
                                        </p:tgtEl>
                                        <p:attrNameLst>
                                          <p:attrName>style.visibility</p:attrName>
                                        </p:attrNameLst>
                                      </p:cBhvr>
                                      <p:to>
                                        <p:strVal val="visible"/>
                                      </p:to>
                                    </p:set>
                                    <p:animEffect transition="in" filter="blinds(horizontal)">
                                      <p:cBhvr>
                                        <p:cTn id="15" dur="500"/>
                                        <p:tgtEl>
                                          <p:spTgt spid="10">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nodePh="1">
                                  <p:stCondLst>
                                    <p:cond delay="0"/>
                                  </p:stCondLst>
                                  <p:endCondLst>
                                    <p:cond evt="begin" delay="0">
                                      <p:tn val="18"/>
                                    </p:cond>
                                  </p:endCondLst>
                                  <p:childTnLst>
                                    <p:set>
                                      <p:cBhvr>
                                        <p:cTn id="19" dur="1" fill="hold">
                                          <p:stCondLst>
                                            <p:cond delay="0"/>
                                          </p:stCondLst>
                                        </p:cTn>
                                        <p:tgtEl>
                                          <p:spTgt spid="10">
                                            <p:txEl>
                                              <p:pRg st="2" end="2"/>
                                            </p:txEl>
                                          </p:spTgt>
                                        </p:tgtEl>
                                        <p:attrNameLst>
                                          <p:attrName>style.visibility</p:attrName>
                                        </p:attrNameLst>
                                      </p:cBhvr>
                                      <p:to>
                                        <p:strVal val="visible"/>
                                      </p:to>
                                    </p:set>
                                    <p:animEffect transition="in" filter="blinds(horizontal)">
                                      <p:cBhvr>
                                        <p:cTn id="20" dur="500"/>
                                        <p:tgtEl>
                                          <p:spTgt spid="10">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nodePh="1">
                                  <p:stCondLst>
                                    <p:cond delay="0"/>
                                  </p:stCondLst>
                                  <p:endCondLst>
                                    <p:cond evt="begin" delay="0">
                                      <p:tn val="23"/>
                                    </p:cond>
                                  </p:endCondLst>
                                  <p:childTnLst>
                                    <p:set>
                                      <p:cBhvr>
                                        <p:cTn id="24" dur="1" fill="hold">
                                          <p:stCondLst>
                                            <p:cond delay="0"/>
                                          </p:stCondLst>
                                        </p:cTn>
                                        <p:tgtEl>
                                          <p:spTgt spid="10">
                                            <p:txEl>
                                              <p:pRg st="3" end="3"/>
                                            </p:txEl>
                                          </p:spTgt>
                                        </p:tgtEl>
                                        <p:attrNameLst>
                                          <p:attrName>style.visibility</p:attrName>
                                        </p:attrNameLst>
                                      </p:cBhvr>
                                      <p:to>
                                        <p:strVal val="visible"/>
                                      </p:to>
                                    </p:set>
                                    <p:animEffect transition="in" filter="blinds(horizontal)">
                                      <p:cBhvr>
                                        <p:cTn id="25" dur="500"/>
                                        <p:tgtEl>
                                          <p:spTgt spid="10">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nodePh="1">
                                  <p:stCondLst>
                                    <p:cond delay="0"/>
                                  </p:stCondLst>
                                  <p:endCondLst>
                                    <p:cond evt="begin" delay="0">
                                      <p:tn val="28"/>
                                    </p:cond>
                                  </p:endCondLst>
                                  <p:childTnLst>
                                    <p:set>
                                      <p:cBhvr>
                                        <p:cTn id="29" dur="1" fill="hold">
                                          <p:stCondLst>
                                            <p:cond delay="0"/>
                                          </p:stCondLst>
                                        </p:cTn>
                                        <p:tgtEl>
                                          <p:spTgt spid="10">
                                            <p:txEl>
                                              <p:pRg st="4" end="4"/>
                                            </p:txEl>
                                          </p:spTgt>
                                        </p:tgtEl>
                                        <p:attrNameLst>
                                          <p:attrName>style.visibility</p:attrName>
                                        </p:attrNameLst>
                                      </p:cBhvr>
                                      <p:to>
                                        <p:strVal val="visible"/>
                                      </p:to>
                                    </p:set>
                                    <p:animEffect transition="in" filter="blinds(horizontal)">
                                      <p:cBhvr>
                                        <p:cTn id="30" dur="500"/>
                                        <p:tgtEl>
                                          <p:spTgt spid="10">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nodePh="1">
                                  <p:stCondLst>
                                    <p:cond delay="0"/>
                                  </p:stCondLst>
                                  <p:endCondLst>
                                    <p:cond evt="begin" delay="0">
                                      <p:tn val="33"/>
                                    </p:cond>
                                  </p:endCondLst>
                                  <p:childTnLst>
                                    <p:set>
                                      <p:cBhvr>
                                        <p:cTn id="34" dur="1" fill="hold">
                                          <p:stCondLst>
                                            <p:cond delay="0"/>
                                          </p:stCondLst>
                                        </p:cTn>
                                        <p:tgtEl>
                                          <p:spTgt spid="10">
                                            <p:txEl>
                                              <p:pRg st="5" end="5"/>
                                            </p:txEl>
                                          </p:spTgt>
                                        </p:tgtEl>
                                        <p:attrNameLst>
                                          <p:attrName>style.visibility</p:attrName>
                                        </p:attrNameLst>
                                      </p:cBhvr>
                                      <p:to>
                                        <p:strVal val="visible"/>
                                      </p:to>
                                    </p:set>
                                    <p:animEffect transition="in" filter="blinds(horizontal)">
                                      <p:cBhvr>
                                        <p:cTn id="35" dur="500"/>
                                        <p:tgtEl>
                                          <p:spTgt spid="10">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nodePh="1">
                                  <p:stCondLst>
                                    <p:cond delay="0"/>
                                  </p:stCondLst>
                                  <p:endCondLst>
                                    <p:cond evt="begin" delay="0">
                                      <p:tn val="38"/>
                                    </p:cond>
                                  </p:endCondLst>
                                  <p:childTnLst>
                                    <p:set>
                                      <p:cBhvr>
                                        <p:cTn id="39" dur="1" fill="hold">
                                          <p:stCondLst>
                                            <p:cond delay="0"/>
                                          </p:stCondLst>
                                        </p:cTn>
                                        <p:tgtEl>
                                          <p:spTgt spid="10">
                                            <p:txEl>
                                              <p:pRg st="6" end="6"/>
                                            </p:txEl>
                                          </p:spTgt>
                                        </p:tgtEl>
                                        <p:attrNameLst>
                                          <p:attrName>style.visibility</p:attrName>
                                        </p:attrNameLst>
                                      </p:cBhvr>
                                      <p:to>
                                        <p:strVal val="visible"/>
                                      </p:to>
                                    </p:set>
                                    <p:animEffect transition="in" filter="blinds(horizontal)">
                                      <p:cBhvr>
                                        <p:cTn id="40"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0"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DC1B05-1BA9-4A1E-8C5E-50C165DF36C8}"/>
              </a:ext>
            </a:extLst>
          </p:cNvPr>
          <p:cNvSpPr>
            <a:spLocks noGrp="1"/>
          </p:cNvSpPr>
          <p:nvPr>
            <p:ph type="title"/>
          </p:nvPr>
        </p:nvSpPr>
        <p:spPr/>
        <p:txBody>
          <a:bodyPr>
            <a:normAutofit fontScale="90000"/>
          </a:bodyPr>
          <a:lstStyle/>
          <a:p>
            <a:r>
              <a:rPr lang="zh-CN" altLang="en-US" sz="2400" spc="100" dirty="0">
                <a:solidFill>
                  <a:schemeClr val="tx1"/>
                </a:solidFill>
                <a:latin typeface="Arial" panose="020B0604020202020204" pitchFamily="34" charset="0"/>
                <a:ea typeface="微软雅黑" panose="020B0503020204020204" charset="-122"/>
                <a:sym typeface="Arial" panose="020B0604020202020204" pitchFamily="34" charset="0"/>
              </a:rPr>
              <a:t>贝叶斯公式推断</a:t>
            </a:r>
            <a:br>
              <a:rPr lang="zh-CN" altLang="en-US" sz="2400" b="1" spc="1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br>
            <a:endParaRPr lang="zh-CN" altLang="en-US" dirty="0">
              <a:solidFill>
                <a:schemeClr val="tx1"/>
              </a:solidFill>
            </a:endParaRPr>
          </a:p>
        </p:txBody>
      </p:sp>
      <p:sp>
        <p:nvSpPr>
          <p:cNvPr id="13" name="文本框 14">
            <a:extLst>
              <a:ext uri="{FF2B5EF4-FFF2-40B4-BE49-F238E27FC236}">
                <a16:creationId xmlns:a16="http://schemas.microsoft.com/office/drawing/2014/main" id="{72D573A2-B997-41D5-B01A-E82BAF0806DB}"/>
              </a:ext>
            </a:extLst>
          </p:cNvPr>
          <p:cNvSpPr txBox="1"/>
          <p:nvPr>
            <p:custDataLst>
              <p:tags r:id="rId1"/>
            </p:custDataLst>
          </p:nvPr>
        </p:nvSpPr>
        <p:spPr>
          <a:xfrm>
            <a:off x="612183" y="1604010"/>
            <a:ext cx="10846435" cy="4643755"/>
          </a:xfrm>
          <a:prstGeom prst="rect">
            <a:avLst/>
          </a:prstGeom>
          <a:noFill/>
        </p:spPr>
        <p:txBody>
          <a:bodyPr wrap="square" rtlCol="0" anchor="ctr" anchorCtr="0">
            <a:noAutofit/>
          </a:bodyPr>
          <a:lstStyle/>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在概率统计中，应用所观察到的现象对有关概率分布的主观判断（即先验概率）进行修正的方法。</a:t>
            </a:r>
          </a:p>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当不能准确知悉一个事物的本质时，可以依靠与事物特定本质相关的事件出现的多少去判断其本质属性的概率。即支持某项属性的事件发生得愈多，则该属性成立的可能性就愈大。</a:t>
            </a:r>
          </a:p>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血清蛋白检验法可以检测是否患有肝癌，由于技术原因存在误差，肝癌患者检测结果呈阳性的概率99%，没有肝癌的人检测结果呈阳性的概率为50%，据调研结果当前人类患有肝癌的概率为0.04%。某人的检测结果呈阳性，请推断他患肝癌的概率。</a:t>
            </a:r>
          </a:p>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令事件A表示患有肝癌，事件B表示检测阳性，则事件A表示未患肝癌，事件B表示检测阴性，有：</a:t>
            </a:r>
          </a:p>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P(A)=0.0004,P(Ā)=0.9996,P(B|A)=0.99,P(B｜Ā)=0.5</a:t>
            </a:r>
          </a:p>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检验结果呈阳性的人患肝癌的概率是要算：P(AIB)，根据贝叶斯公式：</a:t>
            </a:r>
          </a:p>
          <a:p>
            <a:pPr lvl="0" indent="0" algn="just">
              <a:lnSpc>
                <a:spcPct val="130000"/>
              </a:lnSpc>
              <a:spcAft>
                <a:spcPts val="800"/>
              </a:spcAft>
              <a:buClr>
                <a:schemeClr val="tx1">
                  <a:lumMod val="65000"/>
                  <a:lumOff val="35000"/>
                </a:schemeClr>
              </a:buClr>
              <a:buNone/>
            </a:pPr>
            <a:endParaRPr lang="en-US" altLang="zh-CN" sz="10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a:t>
            </a:r>
            <a:r>
              <a:rPr lang="en-US" altLang="zh-CN" sz="1900" b="1" spc="100" dirty="0">
                <a:solidFill>
                  <a:srgbClr val="FF0000"/>
                </a:solidFill>
                <a:latin typeface="Arial" panose="020B0604020202020204" pitchFamily="34" charset="0"/>
                <a:ea typeface="微软雅黑" panose="020B0503020204020204" charset="-122"/>
                <a:sym typeface="Arial" panose="020B0604020202020204" pitchFamily="34" charset="0"/>
              </a:rPr>
              <a:t>How much you can trust the evidence?</a:t>
            </a:r>
          </a:p>
        </p:txBody>
      </p:sp>
      <p:pic>
        <p:nvPicPr>
          <p:cNvPr id="14" name="图片 13">
            <a:extLst>
              <a:ext uri="{FF2B5EF4-FFF2-40B4-BE49-F238E27FC236}">
                <a16:creationId xmlns:a16="http://schemas.microsoft.com/office/drawing/2014/main" id="{A8919A45-448F-402C-82DB-EBE79379A762}"/>
              </a:ext>
            </a:extLst>
          </p:cNvPr>
          <p:cNvPicPr>
            <a:picLocks noChangeAspect="1"/>
          </p:cNvPicPr>
          <p:nvPr/>
        </p:nvPicPr>
        <p:blipFill>
          <a:blip r:embed="rId3"/>
          <a:stretch>
            <a:fillRect/>
          </a:stretch>
        </p:blipFill>
        <p:spPr>
          <a:xfrm>
            <a:off x="2178497" y="5649739"/>
            <a:ext cx="7345680" cy="533400"/>
          </a:xfrm>
          <a:prstGeom prst="rect">
            <a:avLst/>
          </a:prstGeom>
        </p:spPr>
      </p:pic>
      <p:sp>
        <p:nvSpPr>
          <p:cNvPr id="15" name="圆角矩形 3">
            <a:extLst>
              <a:ext uri="{FF2B5EF4-FFF2-40B4-BE49-F238E27FC236}">
                <a16:creationId xmlns:a16="http://schemas.microsoft.com/office/drawing/2014/main" id="{8430300F-885F-4672-9BBB-0E74BEB41326}"/>
              </a:ext>
            </a:extLst>
          </p:cNvPr>
          <p:cNvSpPr/>
          <p:nvPr/>
        </p:nvSpPr>
        <p:spPr>
          <a:xfrm>
            <a:off x="2749593" y="4718050"/>
            <a:ext cx="876300" cy="563880"/>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6">
            <a:extLst>
              <a:ext uri="{FF2B5EF4-FFF2-40B4-BE49-F238E27FC236}">
                <a16:creationId xmlns:a16="http://schemas.microsoft.com/office/drawing/2014/main" id="{A8D145AC-B1E5-4ECB-8C57-504FDE3BF67F}"/>
              </a:ext>
            </a:extLst>
          </p:cNvPr>
          <p:cNvSpPr/>
          <p:nvPr/>
        </p:nvSpPr>
        <p:spPr>
          <a:xfrm>
            <a:off x="8610008" y="5554345"/>
            <a:ext cx="1017270" cy="563880"/>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0998BDF5-BBCA-4C9F-8C3C-15856A168C86}"/>
              </a:ext>
            </a:extLst>
          </p:cNvPr>
          <p:cNvSpPr txBox="1"/>
          <p:nvPr/>
        </p:nvSpPr>
        <p:spPr>
          <a:xfrm>
            <a:off x="9184048" y="5099425"/>
            <a:ext cx="1358900" cy="470535"/>
          </a:xfrm>
          <a:prstGeom prst="rect">
            <a:avLst/>
          </a:prstGeom>
          <a:noFill/>
        </p:spPr>
        <p:txBody>
          <a:bodyPr wrap="none" rtlCol="0">
            <a:spAutoFit/>
          </a:bodyPr>
          <a:lstStyle/>
          <a:p>
            <a:pPr lvl="0" indent="0" algn="just">
              <a:lnSpc>
                <a:spcPct val="130000"/>
              </a:lnSpc>
              <a:spcAft>
                <a:spcPts val="800"/>
              </a:spcAft>
              <a:buClr>
                <a:schemeClr val="tx1">
                  <a:lumMod val="65000"/>
                  <a:lumOff val="35000"/>
                </a:schemeClr>
              </a:buClr>
              <a:buNone/>
            </a:pPr>
            <a:r>
              <a:rPr lang="en-US" altLang="zh-CN" sz="1900" spc="100" dirty="0">
                <a:solidFill>
                  <a:srgbClr val="FF0000"/>
                </a:solidFill>
                <a:latin typeface="Arial" panose="020B0604020202020204" pitchFamily="34" charset="0"/>
                <a:ea typeface="微软雅黑" panose="020B0503020204020204" charset="-122"/>
                <a:sym typeface="Arial" panose="020B0604020202020204" pitchFamily="34" charset="0"/>
              </a:rPr>
              <a:t>  后验概率</a:t>
            </a:r>
          </a:p>
        </p:txBody>
      </p:sp>
      <p:sp>
        <p:nvSpPr>
          <p:cNvPr id="18" name="文本框 17">
            <a:extLst>
              <a:ext uri="{FF2B5EF4-FFF2-40B4-BE49-F238E27FC236}">
                <a16:creationId xmlns:a16="http://schemas.microsoft.com/office/drawing/2014/main" id="{5A653F6A-344D-4CB0-B003-B9C58AAAE6AD}"/>
              </a:ext>
            </a:extLst>
          </p:cNvPr>
          <p:cNvSpPr txBox="1"/>
          <p:nvPr/>
        </p:nvSpPr>
        <p:spPr>
          <a:xfrm>
            <a:off x="775378" y="4898390"/>
            <a:ext cx="1198880" cy="383540"/>
          </a:xfrm>
          <a:prstGeom prst="rect">
            <a:avLst/>
          </a:prstGeom>
          <a:noFill/>
        </p:spPr>
        <p:txBody>
          <a:bodyPr wrap="none" rtlCol="0">
            <a:spAutoFit/>
          </a:bodyPr>
          <a:lstStyle/>
          <a:p>
            <a:pPr algn="l"/>
            <a:r>
              <a:rPr lang="en-US" altLang="zh-CN" sz="1900" spc="100" dirty="0">
                <a:solidFill>
                  <a:srgbClr val="FF0000"/>
                </a:solidFill>
                <a:latin typeface="Arial" panose="020B0604020202020204" pitchFamily="34" charset="0"/>
                <a:ea typeface="微软雅黑" panose="020B0503020204020204" charset="-122"/>
                <a:sym typeface="Arial" panose="020B0604020202020204" pitchFamily="34" charset="0"/>
              </a:rPr>
              <a:t>先验概率 </a:t>
            </a:r>
          </a:p>
        </p:txBody>
      </p:sp>
    </p:spTree>
    <p:extLst>
      <p:ext uri="{BB962C8B-B14F-4D97-AF65-F5344CB8AC3E}">
        <p14:creationId xmlns:p14="http://schemas.microsoft.com/office/powerpoint/2010/main" val="2331765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linds(horizontal)">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blinds(horizontal)">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blinds(horizontal)">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blinds(horizontal)">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blinds(horizontal)">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blinds(horizontal)">
                                      <p:cBhvr>
                                        <p:cTn id="32" dur="500"/>
                                        <p:tgtEl>
                                          <p:spTgt spid="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linds(horizontal)">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blinds(horizontal)">
                                      <p:cBhvr>
                                        <p:cTn id="42" dur="500"/>
                                        <p:tgtEl>
                                          <p:spTgt spid="15"/>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blinds(horizontal)">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3">
                                            <p:txEl>
                                              <p:pRg st="7" end="7"/>
                                            </p:txEl>
                                          </p:spTgt>
                                        </p:tgtEl>
                                        <p:attrNameLst>
                                          <p:attrName>style.visibility</p:attrName>
                                        </p:attrNameLst>
                                      </p:cBhvr>
                                      <p:to>
                                        <p:strVal val="visible"/>
                                      </p:to>
                                    </p:set>
                                    <p:animEffect transition="in" filter="blinds(horizontal)">
                                      <p:cBhvr>
                                        <p:cTn id="50" dur="500"/>
                                        <p:tgtEl>
                                          <p:spTgt spid="13">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blinds(horizontal)">
                                      <p:cBhvr>
                                        <p:cTn id="55" dur="500"/>
                                        <p:tgtEl>
                                          <p:spTgt spid="18"/>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blinds(horizontal)">
                                      <p:cBhvr>
                                        <p:cTn id="5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p:bldP spid="13" grpId="1"/>
      <p:bldP spid="15" grpId="0" bldLvl="0" animBg="1"/>
      <p:bldP spid="15" grpId="1" animBg="1"/>
      <p:bldP spid="16" grpId="0" bldLvl="0" animBg="1"/>
      <p:bldP spid="16" grpId="1" animBg="1"/>
      <p:bldP spid="17" grpId="0"/>
      <p:bldP spid="17" grpId="1"/>
      <p:bldP spid="18" grpId="0"/>
      <p:bldP spid="18"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7529A6-1350-4760-B989-1F39EE9EBFA7}"/>
              </a:ext>
            </a:extLst>
          </p:cNvPr>
          <p:cNvSpPr>
            <a:spLocks noGrp="1"/>
          </p:cNvSpPr>
          <p:nvPr>
            <p:ph type="title"/>
          </p:nvPr>
        </p:nvSpPr>
        <p:spPr/>
        <p:txBody>
          <a:bodyPr>
            <a:normAutofit fontScale="90000"/>
          </a:bodyPr>
          <a:lstStyle/>
          <a:p>
            <a:r>
              <a:rPr lang="zh-CN" altLang="en-US" sz="2400" spc="100" dirty="0">
                <a:solidFill>
                  <a:schemeClr val="tx1"/>
                </a:solidFill>
                <a:latin typeface="Arial" panose="020B0604020202020204" pitchFamily="34" charset="0"/>
                <a:ea typeface="微软雅黑" panose="020B0503020204020204" charset="-122"/>
                <a:sym typeface="Arial" panose="020B0604020202020204" pitchFamily="34" charset="0"/>
              </a:rPr>
              <a:t>先验概率与后验概率</a:t>
            </a:r>
            <a:br>
              <a:rPr lang="zh-CN" altLang="en-US" sz="2400" b="1" spc="1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br>
            <a:endParaRPr lang="zh-CN" altLang="en-US" dirty="0">
              <a:solidFill>
                <a:schemeClr val="tx1"/>
              </a:solidFill>
            </a:endParaRPr>
          </a:p>
        </p:txBody>
      </p:sp>
      <p:sp>
        <p:nvSpPr>
          <p:cNvPr id="3" name="文本框 14">
            <a:extLst>
              <a:ext uri="{FF2B5EF4-FFF2-40B4-BE49-F238E27FC236}">
                <a16:creationId xmlns:a16="http://schemas.microsoft.com/office/drawing/2014/main" id="{B8281240-572E-40C3-BCD9-88168E823DD5}"/>
              </a:ext>
            </a:extLst>
          </p:cNvPr>
          <p:cNvSpPr txBox="1"/>
          <p:nvPr>
            <p:custDataLst>
              <p:tags r:id="rId1"/>
            </p:custDataLst>
          </p:nvPr>
        </p:nvSpPr>
        <p:spPr>
          <a:xfrm>
            <a:off x="206145" y="1421188"/>
            <a:ext cx="10864215" cy="4993582"/>
          </a:xfrm>
          <a:prstGeom prst="rect">
            <a:avLst/>
          </a:prstGeom>
          <a:noFill/>
        </p:spPr>
        <p:txBody>
          <a:bodyPr wrap="square" rtlCol="0" anchor="ctr" anchorCtr="0">
            <a:noAutofit/>
          </a:bodyPr>
          <a:lstStyle/>
          <a:p>
            <a:pPr lvl="0" indent="0" algn="just">
              <a:lnSpc>
                <a:spcPct val="130000"/>
              </a:lnSpc>
              <a:spcAft>
                <a:spcPts val="800"/>
              </a:spcAft>
              <a:buClr>
                <a:schemeClr val="tx1">
                  <a:lumMod val="65000"/>
                  <a:lumOff val="35000"/>
                </a:schemeClr>
              </a:buClr>
              <a:buNone/>
            </a:pPr>
            <a:r>
              <a:rPr lang="en-US" altLang="zh-CN"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先验概率</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（Prior Probability）是指根据以往经验和分析得到的概率，它往往作为“由因求果”问题中的“因”出现的概率。</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事件发生前的预判概率，可以基于历史数据的统计，也可以是由背景常识得到，或者个人的主管观点。一般都是单独的事件概率，如P(患病），P（购买），P（下雨）.……</a:t>
            </a:r>
          </a:p>
          <a:p>
            <a:pPr lvl="0" indent="0" algn="just">
              <a:lnSpc>
                <a:spcPct val="130000"/>
              </a:lnSpc>
              <a:spcAft>
                <a:spcPts val="800"/>
              </a:spcAft>
              <a:buClr>
                <a:schemeClr val="tx1">
                  <a:lumMod val="65000"/>
                  <a:lumOff val="35000"/>
                </a:schemeClr>
              </a:buClr>
              <a:buNone/>
            </a:pPr>
            <a:r>
              <a:rPr lang="en-US" altLang="zh-CN"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后验概率</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（Posterior Probability）是指在得到“结果”的信息后重新修正的概率，是“执果寻因”问题中的“果”。先验概率与后验概率不可分割，后验概率的计算要以先验概率为基础。</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事件发生后求的反向条件概率，即去追寻什么原因造成了当前的结果。</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概率形式一般和条件概率相同，如P(患病|阳性），P(购买|中老年），P（下雨|六月）……</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当根据经验及有关材料推测出主观概率后，对其是否准确没有充分把握时，可采用概率论中的贝叶斯公式</a:t>
            </a:r>
            <a:r>
              <a:rPr lang="zh-CN" altLang="en-US"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endPar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进行修正，修正前的概率称为先验概率，修正后的概率称为后验概率，利用后验概率再进行风险分析。</a:t>
            </a:r>
          </a:p>
        </p:txBody>
      </p:sp>
    </p:spTree>
    <p:extLst>
      <p:ext uri="{BB962C8B-B14F-4D97-AF65-F5344CB8AC3E}">
        <p14:creationId xmlns:p14="http://schemas.microsoft.com/office/powerpoint/2010/main" val="62731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83FAE7-E6E2-4B31-AB48-EF7E0AF65C73}"/>
              </a:ext>
            </a:extLst>
          </p:cNvPr>
          <p:cNvSpPr>
            <a:spLocks noGrp="1"/>
          </p:cNvSpPr>
          <p:nvPr>
            <p:ph type="title"/>
          </p:nvPr>
        </p:nvSpPr>
        <p:spPr/>
        <p:txBody>
          <a:bodyPr>
            <a:normAutofit fontScale="90000"/>
          </a:bodyPr>
          <a:lstStyle/>
          <a:p>
            <a:r>
              <a:rPr lang="zh-CN" altLang="en-US" sz="2400" spc="100" dirty="0">
                <a:solidFill>
                  <a:schemeClr val="tx1"/>
                </a:solidFill>
                <a:latin typeface="Arial" panose="020B0604020202020204" pitchFamily="34" charset="0"/>
                <a:ea typeface="微软雅黑" panose="020B0503020204020204" charset="-122"/>
                <a:sym typeface="Arial" panose="020B0604020202020204" pitchFamily="34" charset="0"/>
              </a:rPr>
              <a:t>似然函数vs先验概率vs后验概率</a:t>
            </a:r>
            <a:br>
              <a:rPr lang="zh-CN" altLang="en-US" sz="2400" spc="100" dirty="0">
                <a:solidFill>
                  <a:schemeClr val="tx1"/>
                </a:solidFill>
                <a:latin typeface="Arial" panose="020B0604020202020204" pitchFamily="34" charset="0"/>
                <a:ea typeface="微软雅黑" panose="020B0503020204020204" charset="-122"/>
                <a:sym typeface="Arial" panose="020B0604020202020204" pitchFamily="34" charset="0"/>
              </a:rPr>
            </a:br>
            <a:endParaRPr lang="zh-CN" altLang="en-US" dirty="0">
              <a:solidFill>
                <a:schemeClr val="tx1"/>
              </a:solidFill>
            </a:endParaRPr>
          </a:p>
        </p:txBody>
      </p:sp>
      <p:sp>
        <p:nvSpPr>
          <p:cNvPr id="4" name="文本框 3">
            <a:extLst>
              <a:ext uri="{FF2B5EF4-FFF2-40B4-BE49-F238E27FC236}">
                <a16:creationId xmlns:a16="http://schemas.microsoft.com/office/drawing/2014/main" id="{1D2C004E-BCBC-4634-9FD1-3B7EBC3692CC}"/>
              </a:ext>
            </a:extLst>
          </p:cNvPr>
          <p:cNvSpPr txBox="1"/>
          <p:nvPr/>
        </p:nvSpPr>
        <p:spPr>
          <a:xfrm>
            <a:off x="3051464" y="3251261"/>
            <a:ext cx="6102926" cy="369332"/>
          </a:xfrm>
          <a:prstGeom prst="rect">
            <a:avLst/>
          </a:prstGeom>
          <a:noFill/>
        </p:spPr>
        <p:txBody>
          <a:bodyPr wrap="square">
            <a:spAutoFit/>
          </a:bodyPr>
          <a:lstStyle/>
          <a:p>
            <a:pPr lvl="0">
              <a:lnSpc>
                <a:spcPct val="100000"/>
              </a:lnSpc>
            </a:pPr>
            <a:r>
              <a:rPr lang="zh-CN" altLang="en-US" sz="1800" spc="100" dirty="0">
                <a:solidFill>
                  <a:schemeClr val="bg1"/>
                </a:solidFill>
                <a:latin typeface="Arial" panose="020B0604020202020204" pitchFamily="34" charset="0"/>
                <a:ea typeface="微软雅黑" panose="020B0503020204020204" charset="-122"/>
                <a:sym typeface="Arial" panose="020B0604020202020204" pitchFamily="34" charset="0"/>
              </a:rPr>
              <a:t>似然函数vs先验概率vs后验概率</a:t>
            </a:r>
          </a:p>
        </p:txBody>
      </p:sp>
      <p:grpSp>
        <p:nvGrpSpPr>
          <p:cNvPr id="5" name="组合 4">
            <a:extLst>
              <a:ext uri="{FF2B5EF4-FFF2-40B4-BE49-F238E27FC236}">
                <a16:creationId xmlns:a16="http://schemas.microsoft.com/office/drawing/2014/main" id="{EC14F5FB-8358-4FC5-BDCC-F59D9BC2AC75}"/>
              </a:ext>
            </a:extLst>
          </p:cNvPr>
          <p:cNvGrpSpPr/>
          <p:nvPr/>
        </p:nvGrpSpPr>
        <p:grpSpPr>
          <a:xfrm>
            <a:off x="1528040" y="1714616"/>
            <a:ext cx="7626350" cy="4079875"/>
            <a:chOff x="4110" y="2568"/>
            <a:chExt cx="10980" cy="5664"/>
          </a:xfrm>
        </p:grpSpPr>
        <p:pic>
          <p:nvPicPr>
            <p:cNvPr id="6" name="图片 5">
              <a:extLst>
                <a:ext uri="{FF2B5EF4-FFF2-40B4-BE49-F238E27FC236}">
                  <a16:creationId xmlns:a16="http://schemas.microsoft.com/office/drawing/2014/main" id="{A6304CDF-FD38-47AD-A567-01D2302A5AA7}"/>
                </a:ext>
              </a:extLst>
            </p:cNvPr>
            <p:cNvPicPr>
              <a:picLocks noChangeAspect="1"/>
            </p:cNvPicPr>
            <p:nvPr/>
          </p:nvPicPr>
          <p:blipFill>
            <a:blip r:embed="rId2"/>
            <a:stretch>
              <a:fillRect/>
            </a:stretch>
          </p:blipFill>
          <p:spPr>
            <a:xfrm>
              <a:off x="4110" y="2568"/>
              <a:ext cx="10980" cy="5664"/>
            </a:xfrm>
            <a:prstGeom prst="rect">
              <a:avLst/>
            </a:prstGeom>
          </p:spPr>
        </p:pic>
        <p:sp>
          <p:nvSpPr>
            <p:cNvPr id="7" name="单圆角矩形 6">
              <a:extLst>
                <a:ext uri="{FF2B5EF4-FFF2-40B4-BE49-F238E27FC236}">
                  <a16:creationId xmlns:a16="http://schemas.microsoft.com/office/drawing/2014/main" id="{A30FBCB9-1F77-4723-A0F3-22282DC3AAF1}"/>
                </a:ext>
              </a:extLst>
            </p:cNvPr>
            <p:cNvSpPr/>
            <p:nvPr/>
          </p:nvSpPr>
          <p:spPr>
            <a:xfrm>
              <a:off x="5574" y="3490"/>
              <a:ext cx="1143" cy="650"/>
            </a:xfrm>
            <a:prstGeom prst="snipRoundRect">
              <a:avLst/>
            </a:prstGeom>
            <a:solidFill>
              <a:srgbClr val="E3E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366224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D85C3E-6929-44A3-91D6-46AB4B35F165}"/>
              </a:ext>
            </a:extLst>
          </p:cNvPr>
          <p:cNvSpPr>
            <a:spLocks noGrp="1"/>
          </p:cNvSpPr>
          <p:nvPr>
            <p:ph type="title"/>
          </p:nvPr>
        </p:nvSpPr>
        <p:spPr/>
        <p:txBody>
          <a:bodyPr>
            <a:normAutofit fontScale="90000"/>
          </a:bodyPr>
          <a:lstStyle/>
          <a:p>
            <a:r>
              <a:rPr lang="zh-CN" altLang="en-US" sz="2400" spc="100" dirty="0">
                <a:solidFill>
                  <a:schemeClr val="tx1"/>
                </a:solidFill>
                <a:latin typeface="Arial" panose="020B0604020202020204" pitchFamily="34" charset="0"/>
                <a:ea typeface="微软雅黑" panose="020B0503020204020204" charset="-122"/>
                <a:sym typeface="Arial" panose="020B0604020202020204" pitchFamily="34" charset="0"/>
              </a:rPr>
              <a:t>似然函数</a:t>
            </a:r>
            <a:br>
              <a:rPr lang="zh-CN" altLang="en-US" sz="2400" b="1" spc="1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br>
            <a:endParaRPr lang="zh-CN" altLang="en-US" dirty="0">
              <a:solidFill>
                <a:schemeClr val="tx1"/>
              </a:solidFill>
            </a:endParaRPr>
          </a:p>
        </p:txBody>
      </p:sp>
      <p:sp>
        <p:nvSpPr>
          <p:cNvPr id="3" name="文本框 14">
            <a:extLst>
              <a:ext uri="{FF2B5EF4-FFF2-40B4-BE49-F238E27FC236}">
                <a16:creationId xmlns:a16="http://schemas.microsoft.com/office/drawing/2014/main" id="{1963A4A6-81D3-4839-80F9-12665030348A}"/>
              </a:ext>
            </a:extLst>
          </p:cNvPr>
          <p:cNvSpPr txBox="1"/>
          <p:nvPr>
            <p:custDataLst>
              <p:tags r:id="rId1"/>
            </p:custDataLst>
          </p:nvPr>
        </p:nvSpPr>
        <p:spPr>
          <a:xfrm>
            <a:off x="147378" y="1314450"/>
            <a:ext cx="10692130" cy="4229100"/>
          </a:xfrm>
          <a:prstGeom prst="rect">
            <a:avLst/>
          </a:prstGeom>
          <a:noFill/>
        </p:spPr>
        <p:txBody>
          <a:bodyPr wrap="square" rtlCol="0" anchor="ctr" anchorCtr="0">
            <a:noAutofit/>
          </a:bodyPr>
          <a:lstStyle/>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似然函数（Likelihood Function）是一种关于统计模型参数的函数。给定输出x时，关于参数Θ的似然函数L(Θlx)</a:t>
            </a:r>
            <a:r>
              <a:rPr lang="en-US" altLang="zh-CN" sz="1900" spc="100" dirty="0" err="1">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在数值上等于给定参数Θ后变量x的概率：L</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(Θlx)=P（X=xlΘ)。</a:t>
            </a:r>
          </a:p>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似然是对Likelihood的一种较为贴近文言文的翻译，似然用现代的中文来说即“可能性”。</a:t>
            </a:r>
          </a:p>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设总体X服从分布P(X；Θ)，Θ为待估参数，X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是来自于总体X的样本，x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为样本X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的一个观察值，则样本的联合分布L(Θ)=L(x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;0)=∏P（xi；Θ）称为</a:t>
            </a:r>
            <a:r>
              <a:rPr lang="en-US" altLang="zh-CN" sz="1900"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似然函数</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p>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最大似然估计（MLE）是似然函数最初也是最自然的应用。上文已经提到，似然函数取得最大值表示相应的参数能够使得统计模型最为合理。</a:t>
            </a:r>
          </a:p>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概率描述了已知参数时的随机变量的输出结果；似然则用来描述已知随机变量输出结果时，未知参数的可能取值。</a:t>
            </a:r>
          </a:p>
        </p:txBody>
      </p:sp>
    </p:spTree>
    <p:extLst>
      <p:ext uri="{BB962C8B-B14F-4D97-AF65-F5344CB8AC3E}">
        <p14:creationId xmlns:p14="http://schemas.microsoft.com/office/powerpoint/2010/main" val="1133073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2BB11C-477D-4F76-BBED-1827B80211FA}"/>
              </a:ext>
            </a:extLst>
          </p:cNvPr>
          <p:cNvSpPr>
            <a:spLocks noGrp="1"/>
          </p:cNvSpPr>
          <p:nvPr>
            <p:ph type="title"/>
          </p:nvPr>
        </p:nvSpPr>
        <p:spPr>
          <a:xfrm>
            <a:off x="0" y="364488"/>
            <a:ext cx="10852237" cy="441964"/>
          </a:xfrm>
        </p:spPr>
        <p:txBody>
          <a:bodyPr>
            <a:normAutofit fontScale="90000"/>
          </a:bodyPr>
          <a:lstStyle/>
          <a:p>
            <a:r>
              <a:rPr lang="zh-CN" altLang="en-US" sz="4000" spc="100" dirty="0">
                <a:solidFill>
                  <a:schemeClr val="tx1"/>
                </a:solidFill>
                <a:latin typeface="Arial" panose="020B0604020202020204" pitchFamily="34" charset="0"/>
                <a:ea typeface="微软雅黑" panose="020B0503020204020204" charset="-122"/>
                <a:sym typeface="Arial" panose="020B0604020202020204" pitchFamily="34" charset="0"/>
              </a:rPr>
              <a:t>最大后验估计</a:t>
            </a:r>
            <a:br>
              <a:rPr lang="zh-CN" altLang="en-US" sz="2400" b="1" spc="100" dirty="0">
                <a:ln w="3175">
                  <a:noFill/>
                  <a:prstDash val="dash"/>
                </a:ln>
                <a:solidFill>
                  <a:schemeClr val="bg1"/>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br>
            <a:endParaRPr lang="zh-CN" altLang="en-US" dirty="0"/>
          </a:p>
        </p:txBody>
      </p:sp>
      <p:sp>
        <p:nvSpPr>
          <p:cNvPr id="5" name="文本框 14">
            <a:extLst>
              <a:ext uri="{FF2B5EF4-FFF2-40B4-BE49-F238E27FC236}">
                <a16:creationId xmlns:a16="http://schemas.microsoft.com/office/drawing/2014/main" id="{E2FEE31D-C2C5-4DFE-8F7B-4C06482887A8}"/>
              </a:ext>
            </a:extLst>
          </p:cNvPr>
          <p:cNvSpPr txBox="1"/>
          <p:nvPr>
            <p:custDataLst>
              <p:tags r:id="rId1"/>
            </p:custDataLst>
          </p:nvPr>
        </p:nvSpPr>
        <p:spPr>
          <a:xfrm>
            <a:off x="350924" y="1271905"/>
            <a:ext cx="10814685" cy="5142865"/>
          </a:xfrm>
          <a:prstGeom prst="rect">
            <a:avLst/>
          </a:prstGeom>
          <a:noFill/>
        </p:spPr>
        <p:txBody>
          <a:bodyPr wrap="square" rtlCol="0" anchor="ctr" anchorCtr="0">
            <a:noAutofit/>
          </a:bodyPr>
          <a:lstStyle/>
          <a:p>
            <a:pPr lvl="0" indent="0" algn="just">
              <a:lnSpc>
                <a:spcPct val="130000"/>
              </a:lnSpc>
              <a:spcAft>
                <a:spcPts val="800"/>
              </a:spcAft>
              <a:buClr>
                <a:schemeClr val="tx1">
                  <a:lumMod val="65000"/>
                  <a:lumOff val="35000"/>
                </a:schemeClr>
              </a:buClr>
              <a:buNone/>
            </a:pPr>
            <a:r>
              <a:rPr lang="en-US" altLang="zh-CN"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最大后验概率估计</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（Maximum A posteriori Estimation，MAE)最大后验估计是根据经验数据获得对难以观察的量的点估计。与最大似然估计类似，但是最大的不同时，最大后验估计的融入了要估计量的先验分布在其中。故最大后验估计可以看做规则化的最大似然估计。</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想判断某硬币是否均匀，抛十次，得到的结果是：反正正正正反正正正反，请做出合理的判断。</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用</a:t>
            </a:r>
            <a:r>
              <a:rPr lang="en-US" altLang="zh-CN"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最大似然估计</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的思路来考虑该问题：</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抛硬币的结果实际上为二项分布（重复n次的伯努利分布）：假设正面出现的概率为0，若为0.5，则均匀已经发生的抛硬币事件为：x={反，正，正，正，正，反，正，正，正，反}，就出现的这个结果得到似然函数：</a:t>
            </a:r>
          </a:p>
          <a:p>
            <a:pPr lvl="0" indent="0" algn="just">
              <a:lnSpc>
                <a:spcPct val="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L(x;θ）=（1-θ）*θ*θ*θ*θ*（1-θ）*θ*θ*θ*（1-θ）=θ⁷（1-θ）³</a:t>
            </a:r>
          </a:p>
          <a:p>
            <a:pPr lvl="0" indent="0" algn="just">
              <a:lnSpc>
                <a:spcPct val="9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模型已定，参数未知。去求使得似然函数L（x；θ)最大的参数θ，就是我们希望得到的正面出现的概率：</a:t>
            </a:r>
            <a:endParaRPr lang="en-US" altLang="zh-CN" sz="10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4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InL(x;θ)=In[θ⁷(1-θ)³]=lnθ⁷+In(1-θ)³=7lnθ +3ln(1-θ)</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θ=0.7</a:t>
            </a:r>
          </a:p>
        </p:txBody>
      </p:sp>
      <p:pic>
        <p:nvPicPr>
          <p:cNvPr id="6" name="图片 5">
            <a:extLst>
              <a:ext uri="{FF2B5EF4-FFF2-40B4-BE49-F238E27FC236}">
                <a16:creationId xmlns:a16="http://schemas.microsoft.com/office/drawing/2014/main" id="{0D53D7B3-18DA-4598-A092-8117CD3DF2BA}"/>
              </a:ext>
            </a:extLst>
          </p:cNvPr>
          <p:cNvPicPr>
            <a:picLocks noChangeAspect="1"/>
          </p:cNvPicPr>
          <p:nvPr/>
        </p:nvPicPr>
        <p:blipFill>
          <a:blip r:embed="rId3"/>
          <a:stretch>
            <a:fillRect/>
          </a:stretch>
        </p:blipFill>
        <p:spPr>
          <a:xfrm>
            <a:off x="7892184" y="5354955"/>
            <a:ext cx="1455420" cy="373380"/>
          </a:xfrm>
          <a:prstGeom prst="rect">
            <a:avLst/>
          </a:prstGeom>
        </p:spPr>
      </p:pic>
      <p:pic>
        <p:nvPicPr>
          <p:cNvPr id="7" name="图片 6">
            <a:extLst>
              <a:ext uri="{FF2B5EF4-FFF2-40B4-BE49-F238E27FC236}">
                <a16:creationId xmlns:a16="http://schemas.microsoft.com/office/drawing/2014/main" id="{6FC45A3A-564E-4AC6-AC52-D6E03B4FEC5E}"/>
              </a:ext>
            </a:extLst>
          </p:cNvPr>
          <p:cNvPicPr>
            <a:picLocks noChangeAspect="1"/>
          </p:cNvPicPr>
          <p:nvPr/>
        </p:nvPicPr>
        <p:blipFill>
          <a:blip r:embed="rId4"/>
          <a:stretch>
            <a:fillRect/>
          </a:stretch>
        </p:blipFill>
        <p:spPr>
          <a:xfrm>
            <a:off x="3047134" y="5841365"/>
            <a:ext cx="2118360" cy="495300"/>
          </a:xfrm>
          <a:prstGeom prst="rect">
            <a:avLst/>
          </a:prstGeom>
        </p:spPr>
      </p:pic>
      <p:sp>
        <p:nvSpPr>
          <p:cNvPr id="8" name="右箭头 6">
            <a:extLst>
              <a:ext uri="{FF2B5EF4-FFF2-40B4-BE49-F238E27FC236}">
                <a16:creationId xmlns:a16="http://schemas.microsoft.com/office/drawing/2014/main" id="{068F6B9E-26FB-4F05-ADC8-2E51C632ABA2}"/>
              </a:ext>
            </a:extLst>
          </p:cNvPr>
          <p:cNvSpPr/>
          <p:nvPr/>
        </p:nvSpPr>
        <p:spPr>
          <a:xfrm>
            <a:off x="5660794" y="5789930"/>
            <a:ext cx="1440815" cy="574040"/>
          </a:xfrm>
          <a:prstGeom prst="rightArrow">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00305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linds(horizontal)">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blinds(horizontal)">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horizontal)">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blinds(horizontal)">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blinds(horizontal)">
                                      <p:cBhvr>
                                        <p:cTn id="52" dur="500"/>
                                        <p:tgtEl>
                                          <p:spTgt spid="8"/>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5">
                                            <p:txEl>
                                              <p:pRg st="7" end="7"/>
                                            </p:txEl>
                                          </p:spTgt>
                                        </p:tgtEl>
                                        <p:attrNameLst>
                                          <p:attrName>style.visibility</p:attrName>
                                        </p:attrNameLst>
                                      </p:cBhvr>
                                      <p:to>
                                        <p:strVal val="visible"/>
                                      </p:to>
                                    </p:set>
                                    <p:animEffect transition="in" filter="blinds(horizontal)">
                                      <p:cBhvr>
                                        <p:cTn id="55"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p:bldP spid="8" grpId="0" animBg="1"/>
      <p:bldP spid="8"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582E7A57-8CF4-42A9-BB18-6A5D9516974F}"/>
              </a:ext>
            </a:extLst>
          </p:cNvPr>
          <p:cNvSpPr txBox="1"/>
          <p:nvPr>
            <p:custDataLst>
              <p:tags r:id="rId1"/>
            </p:custDataLst>
          </p:nvPr>
        </p:nvSpPr>
        <p:spPr>
          <a:xfrm>
            <a:off x="109405" y="306000"/>
            <a:ext cx="10974649" cy="608400"/>
          </a:xfrm>
          <a:prstGeom prst="rect">
            <a:avLst/>
          </a:prstGeom>
          <a:noFill/>
          <a:ln w="3175">
            <a:noFill/>
            <a:prstDash val="dash"/>
          </a:ln>
        </p:spPr>
        <p:txBody>
          <a:bodyPr wrap="square" lIns="90170" tIns="46990" rIns="90170" bIns="4699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nSpc>
                <a:spcPct val="100000"/>
              </a:lnSpc>
            </a:pPr>
            <a:r>
              <a:rPr altLang="zh-CN" sz="3200" spc="100" dirty="0" err="1">
                <a:latin typeface="Arial" panose="020B0604020202020204" pitchFamily="34" charset="0"/>
                <a:ea typeface="微软雅黑" panose="020B0503020204020204" charset="-122"/>
                <a:sym typeface="Arial" panose="020B0604020202020204" pitchFamily="34" charset="0"/>
              </a:rPr>
              <a:t>最大后验估计</a:t>
            </a:r>
            <a:endParaRPr lang="zh-CN" altLang="zh-CN" sz="3200" b="1" spc="100" dirty="0">
              <a:ln w="3175">
                <a:noFill/>
                <a:prstDash val="dash"/>
              </a:ln>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5" name="文本框 14">
            <a:extLst>
              <a:ext uri="{FF2B5EF4-FFF2-40B4-BE49-F238E27FC236}">
                <a16:creationId xmlns:a16="http://schemas.microsoft.com/office/drawing/2014/main" id="{50119208-5336-4DFA-97C0-C8B88A2DF6E3}"/>
              </a:ext>
            </a:extLst>
          </p:cNvPr>
          <p:cNvSpPr txBox="1"/>
          <p:nvPr>
            <p:custDataLst>
              <p:tags r:id="rId2"/>
            </p:custDataLst>
          </p:nvPr>
        </p:nvSpPr>
        <p:spPr>
          <a:xfrm>
            <a:off x="109405" y="1658158"/>
            <a:ext cx="10927080" cy="4697095"/>
          </a:xfrm>
          <a:prstGeom prst="rect">
            <a:avLst/>
          </a:prstGeom>
          <a:noFill/>
        </p:spPr>
        <p:txBody>
          <a:bodyPr wrap="square" rtlCol="0" anchor="ctr" anchorCtr="0">
            <a:noAutofit/>
          </a:bodyPr>
          <a:lstStyle/>
          <a:p>
            <a:pPr lvl="0" indent="0" algn="just">
              <a:lnSpc>
                <a:spcPct val="11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(Maximum A posteriori Estimation，MAE)最大后验估计是根据经验数据获得对难以观察的量的点估计。与最大似然估计类似，但是最大的不同时，最大后验估计的融入了要估计量的先验分布在其中。故最大</a:t>
            </a:r>
            <a:r>
              <a:rPr lang="en-US" altLang="zh-CN"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最大后验概率估计</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后验估计可以看做规则化的最大似然估计。</a:t>
            </a:r>
          </a:p>
          <a:p>
            <a:pPr lvl="0" indent="0" algn="just">
              <a:lnSpc>
                <a:spcPct val="11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想判断某硬币是否均匀，抛十次，得到的结果是：反正正正正反正正正反，请做出合理的判断。</a:t>
            </a:r>
          </a:p>
          <a:p>
            <a:pPr lvl="0" indent="0" algn="just">
              <a:lnSpc>
                <a:spcPct val="11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用</a:t>
            </a:r>
            <a:r>
              <a:rPr lang="en-US" altLang="zh-CN"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最大后验估计</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的思路来考虑该问题：</a:t>
            </a:r>
          </a:p>
          <a:p>
            <a:pPr lvl="0" indent="0" algn="just">
              <a:lnSpc>
                <a:spcPct val="11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该方法的主要思路是最大化后验概率（名字也是由此而来）：</a:t>
            </a:r>
          </a:p>
          <a:p>
            <a:pPr lvl="0" indent="0" algn="just">
              <a:lnSpc>
                <a:spcPct val="11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其中x为已经发生过的事实，即抛硬币的结果，所以P（x)是一个已知的值，和你多次抛硬币的结果相关，</a:t>
            </a:r>
          </a:p>
          <a:p>
            <a:pPr lvl="0" indent="0" algn="just">
              <a:lnSpc>
                <a:spcPct val="11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如做了100次试验（每次试验都抛十次硬币），当前结果出现了20次，则概率P(x)=20%，该值可计算。</a:t>
            </a:r>
          </a:p>
          <a:p>
            <a:pPr lvl="0" indent="0" algn="just">
              <a:lnSpc>
                <a:spcPct val="11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接下来考虑先验概率P(0)，先验概率的选取，最最终结果有影响，所以要去选择合适的先验概率。</a:t>
            </a:r>
          </a:p>
          <a:p>
            <a:pPr lvl="0" indent="0" algn="just">
              <a:lnSpc>
                <a:spcPct val="11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可以根据统计信息去确定先验概率，比如之前我们做过抛硬币的实验，可以根据实际结果来确定先验概率。</a:t>
            </a:r>
          </a:p>
          <a:p>
            <a:pPr lvl="0" indent="0" algn="just">
              <a:lnSpc>
                <a:spcPct val="11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在没有统计数据的时候，我们也可以根据常识来得到一个先验概率。</a:t>
            </a:r>
          </a:p>
          <a:p>
            <a:pPr lvl="0" indent="0" algn="just">
              <a:lnSpc>
                <a:spcPct val="130000"/>
              </a:lnSpc>
              <a:spcAft>
                <a:spcPts val="800"/>
              </a:spcAft>
              <a:buClr>
                <a:schemeClr val="tx1">
                  <a:lumMod val="65000"/>
                  <a:lumOff val="35000"/>
                </a:schemeClr>
              </a:buClr>
              <a:buNone/>
            </a:pPr>
            <a:endPar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p:txBody>
      </p:sp>
      <p:sp>
        <p:nvSpPr>
          <p:cNvPr id="6" name="文本框 5">
            <a:extLst>
              <a:ext uri="{FF2B5EF4-FFF2-40B4-BE49-F238E27FC236}">
                <a16:creationId xmlns:a16="http://schemas.microsoft.com/office/drawing/2014/main" id="{CF3DBA62-A9B6-4668-80EF-168527DE8683}"/>
              </a:ext>
            </a:extLst>
          </p:cNvPr>
          <p:cNvSpPr txBox="1"/>
          <p:nvPr/>
        </p:nvSpPr>
        <p:spPr>
          <a:xfrm>
            <a:off x="8064500" y="5698490"/>
            <a:ext cx="2354580" cy="450850"/>
          </a:xfrm>
          <a:prstGeom prst="rect">
            <a:avLst/>
          </a:prstGeom>
          <a:noFill/>
        </p:spPr>
        <p:txBody>
          <a:bodyPr wrap="none" rtlCol="0">
            <a:spAutoFit/>
          </a:bodyPr>
          <a:lstStyle/>
          <a:p>
            <a:pPr lvl="0" indent="0" algn="just">
              <a:lnSpc>
                <a:spcPct val="130000"/>
              </a:lnSpc>
              <a:spcAft>
                <a:spcPts val="800"/>
              </a:spcAft>
              <a:buClr>
                <a:schemeClr val="tx1">
                  <a:lumMod val="65000"/>
                  <a:lumOff val="35000"/>
                </a:schemeClr>
              </a:buClr>
              <a:buNone/>
            </a:pPr>
            <a:r>
              <a:rPr lang="en-US" altLang="zh-CN" b="1" spc="100" dirty="0">
                <a:solidFill>
                  <a:srgbClr val="FF0000"/>
                </a:solidFill>
                <a:latin typeface="Arial" panose="020B0604020202020204" pitchFamily="34" charset="0"/>
                <a:ea typeface="微软雅黑" panose="020B0503020204020204" charset="-122"/>
                <a:sym typeface="Arial" panose="020B0604020202020204" pitchFamily="34" charset="0"/>
              </a:rPr>
              <a:t>常被诟病主观性太强</a:t>
            </a:r>
          </a:p>
        </p:txBody>
      </p:sp>
      <p:pic>
        <p:nvPicPr>
          <p:cNvPr id="7" name="图片 6">
            <a:extLst>
              <a:ext uri="{FF2B5EF4-FFF2-40B4-BE49-F238E27FC236}">
                <a16:creationId xmlns:a16="http://schemas.microsoft.com/office/drawing/2014/main" id="{560E9435-AAB6-405B-8F14-917B2351E04B}"/>
              </a:ext>
            </a:extLst>
          </p:cNvPr>
          <p:cNvPicPr>
            <a:picLocks noChangeAspect="1"/>
          </p:cNvPicPr>
          <p:nvPr/>
        </p:nvPicPr>
        <p:blipFill>
          <a:blip r:embed="rId4"/>
          <a:stretch>
            <a:fillRect/>
          </a:stretch>
        </p:blipFill>
        <p:spPr>
          <a:xfrm>
            <a:off x="7367905" y="3039745"/>
            <a:ext cx="2514600" cy="533400"/>
          </a:xfrm>
          <a:prstGeom prst="rect">
            <a:avLst/>
          </a:prstGeom>
        </p:spPr>
      </p:pic>
    </p:spTree>
    <p:extLst>
      <p:ext uri="{BB962C8B-B14F-4D97-AF65-F5344CB8AC3E}">
        <p14:creationId xmlns:p14="http://schemas.microsoft.com/office/powerpoint/2010/main" val="2604806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linds(horizontal)">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5">
                                            <p:txEl>
                                              <p:pRg st="4" end="4"/>
                                            </p:txEl>
                                          </p:spTgt>
                                        </p:tgtEl>
                                        <p:attrNameLst>
                                          <p:attrName>style.visibility</p:attrName>
                                        </p:attrNameLst>
                                      </p:cBhvr>
                                      <p:to>
                                        <p:strVal val="visible"/>
                                      </p:to>
                                    </p:set>
                                    <p:animEffect transition="in" filter="blinds(horizontal)">
                                      <p:cBhvr>
                                        <p:cTn id="30" dur="500"/>
                                        <p:tgtEl>
                                          <p:spTgt spid="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animEffect transition="in" filter="blinds(horizontal)">
                                      <p:cBhvr>
                                        <p:cTn id="35" dur="500"/>
                                        <p:tgtEl>
                                          <p:spTgt spid="5">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5">
                                            <p:txEl>
                                              <p:pRg st="6" end="6"/>
                                            </p:txEl>
                                          </p:spTgt>
                                        </p:tgtEl>
                                        <p:attrNameLst>
                                          <p:attrName>style.visibility</p:attrName>
                                        </p:attrNameLst>
                                      </p:cBhvr>
                                      <p:to>
                                        <p:strVal val="visible"/>
                                      </p:to>
                                    </p:set>
                                    <p:animEffect transition="in" filter="blinds(horizontal)">
                                      <p:cBhvr>
                                        <p:cTn id="40" dur="500"/>
                                        <p:tgtEl>
                                          <p:spTgt spid="5">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5">
                                            <p:txEl>
                                              <p:pRg st="7" end="7"/>
                                            </p:txEl>
                                          </p:spTgt>
                                        </p:tgtEl>
                                        <p:attrNameLst>
                                          <p:attrName>style.visibility</p:attrName>
                                        </p:attrNameLst>
                                      </p:cBhvr>
                                      <p:to>
                                        <p:strVal val="visible"/>
                                      </p:to>
                                    </p:set>
                                    <p:animEffect transition="in" filter="blinds(horizontal)">
                                      <p:cBhvr>
                                        <p:cTn id="45" dur="500"/>
                                        <p:tgtEl>
                                          <p:spTgt spid="5">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5">
                                            <p:txEl>
                                              <p:pRg st="8" end="8"/>
                                            </p:txEl>
                                          </p:spTgt>
                                        </p:tgtEl>
                                        <p:attrNameLst>
                                          <p:attrName>style.visibility</p:attrName>
                                        </p:attrNameLst>
                                      </p:cBhvr>
                                      <p:to>
                                        <p:strVal val="visible"/>
                                      </p:to>
                                    </p:set>
                                    <p:animEffect transition="in" filter="blinds(horizontal)">
                                      <p:cBhvr>
                                        <p:cTn id="50" dur="500"/>
                                        <p:tgtEl>
                                          <p:spTgt spid="5">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blinds(horizontal)">
                                      <p:cBhvr>
                                        <p:cTn id="5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p:bldP spid="6" grpId="0"/>
      <p:bldP spid="6"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8A2FE7-BB60-4A7B-803D-3D9454FBA383}"/>
              </a:ext>
            </a:extLst>
          </p:cNvPr>
          <p:cNvSpPr>
            <a:spLocks noGrp="1"/>
          </p:cNvSpPr>
          <p:nvPr>
            <p:ph type="title"/>
          </p:nvPr>
        </p:nvSpPr>
        <p:spPr/>
        <p:txBody>
          <a:bodyPr>
            <a:normAutofit fontScale="90000"/>
          </a:bodyPr>
          <a:lstStyle/>
          <a:p>
            <a:r>
              <a:rPr lang="zh-CN" altLang="en-US" sz="2400" spc="100" dirty="0">
                <a:latin typeface="Arial" panose="020B0604020202020204" pitchFamily="34" charset="0"/>
                <a:ea typeface="微软雅黑" panose="020B0503020204020204" charset="-122"/>
                <a:sym typeface="Arial" panose="020B0604020202020204" pitchFamily="34" charset="0"/>
              </a:rPr>
              <a:t>最大后验估计</a:t>
            </a:r>
            <a:br>
              <a:rPr lang="zh-CN" altLang="en-US" sz="2400" b="1" spc="100" dirty="0">
                <a:ln w="3175">
                  <a:noFill/>
                  <a:prstDash val="dash"/>
                </a:ln>
                <a:latin typeface="Arial" panose="020B0604020202020204" pitchFamily="34" charset="0"/>
                <a:ea typeface="微软雅黑" panose="020B0503020204020204" charset="-122"/>
                <a:cs typeface="微软雅黑" panose="020B0503020204020204" charset="-122"/>
                <a:sym typeface="Arial" panose="020B0604020202020204" pitchFamily="34" charset="0"/>
              </a:rPr>
            </a:br>
            <a:endParaRPr lang="zh-CN" altLang="en-US" dirty="0"/>
          </a:p>
        </p:txBody>
      </p:sp>
      <p:sp>
        <p:nvSpPr>
          <p:cNvPr id="4" name="文本框 14">
            <a:extLst>
              <a:ext uri="{FF2B5EF4-FFF2-40B4-BE49-F238E27FC236}">
                <a16:creationId xmlns:a16="http://schemas.microsoft.com/office/drawing/2014/main" id="{BE6EADB0-267A-4017-88B0-9023C68ED418}"/>
              </a:ext>
            </a:extLst>
          </p:cNvPr>
          <p:cNvSpPr txBox="1"/>
          <p:nvPr>
            <p:custDataLst>
              <p:tags r:id="rId1"/>
            </p:custDataLst>
          </p:nvPr>
        </p:nvSpPr>
        <p:spPr>
          <a:xfrm>
            <a:off x="256540" y="1163638"/>
            <a:ext cx="10927080" cy="4697095"/>
          </a:xfrm>
          <a:prstGeom prst="rect">
            <a:avLst/>
          </a:prstGeom>
          <a:noFill/>
        </p:spPr>
        <p:txBody>
          <a:bodyPr wrap="square" rtlCol="0" anchor="ctr" anchorCtr="0">
            <a:noAutofit/>
          </a:bodyPr>
          <a:lstStyle/>
          <a:p>
            <a:pPr lvl="0" indent="0" algn="just">
              <a:lnSpc>
                <a:spcPct val="11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(Maximum A posteriori Estimation，MAE)最大后验估计是根据经验数据获得对难以观察的量的点估计。与最大似然估计类似，但是最大的不同时，最大后验估计的融入了要估计量的先验分布在其中。故最大</a:t>
            </a:r>
            <a:r>
              <a:rPr lang="en-US" altLang="zh-CN"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最大后验概率估计</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后验估计可以看做规则化的最大似然估计。</a:t>
            </a:r>
          </a:p>
          <a:p>
            <a:pPr lvl="0" indent="0" algn="just">
              <a:lnSpc>
                <a:spcPct val="11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想判断某硬币是否均匀，抛十次，得到的结果是：反正正正正反正正正反，请做出合理的判断。</a:t>
            </a:r>
          </a:p>
          <a:p>
            <a:pPr lvl="0" indent="0" algn="just">
              <a:lnSpc>
                <a:spcPct val="11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用</a:t>
            </a:r>
            <a:r>
              <a:rPr lang="en-US" altLang="zh-CN"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最大后验估计</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的思路来考虑该问题：</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本例中先验概率并不是一个固定的概率值，而是一个概率的分布。比如硬币投掷出现正面的概率在0.5左右，具体来说满足一个（根据自己的认知拍的）均值为0.5，标差为0.1的正态分布。（</a:t>
            </a:r>
            <a:r>
              <a:rPr lang="en-US" altLang="zh-CN" b="1" spc="100" dirty="0">
                <a:solidFill>
                  <a:srgbClr val="FF0000"/>
                </a:solidFill>
                <a:latin typeface="Arial" panose="020B0604020202020204" pitchFamily="34" charset="0"/>
                <a:ea typeface="微软雅黑" panose="020B0503020204020204" charset="-122"/>
                <a:sym typeface="Arial" panose="020B0604020202020204" pitchFamily="34" charset="0"/>
              </a:rPr>
              <a:t>MLE先验发布是？</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据此先验分布，去求后验概率，即。最大化P(θlx)，即最大化P(xlθ)P(θ)。</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P(xlθ)=θ⁷ *(1-θ)³</a:t>
            </a:r>
          </a:p>
          <a:p>
            <a:pPr lvl="0" indent="0" algn="just">
              <a:lnSpc>
                <a:spcPct val="130000"/>
              </a:lnSpc>
              <a:spcAft>
                <a:spcPts val="800"/>
              </a:spcAft>
              <a:buClr>
                <a:schemeClr val="tx1">
                  <a:lumMod val="65000"/>
                  <a:lumOff val="35000"/>
                </a:schemeClr>
              </a:buClr>
              <a:buNone/>
            </a:pPr>
            <a:endPar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p:txBody>
      </p:sp>
      <p:sp>
        <p:nvSpPr>
          <p:cNvPr id="5" name="文本框 4">
            <a:extLst>
              <a:ext uri="{FF2B5EF4-FFF2-40B4-BE49-F238E27FC236}">
                <a16:creationId xmlns:a16="http://schemas.microsoft.com/office/drawing/2014/main" id="{8ABFA6D5-6E04-408D-909B-BB78BF0097D5}"/>
              </a:ext>
            </a:extLst>
          </p:cNvPr>
          <p:cNvSpPr txBox="1"/>
          <p:nvPr/>
        </p:nvSpPr>
        <p:spPr>
          <a:xfrm>
            <a:off x="5720080" y="4926447"/>
            <a:ext cx="2249805" cy="450850"/>
          </a:xfrm>
          <a:prstGeom prst="rect">
            <a:avLst/>
          </a:prstGeom>
          <a:noFill/>
        </p:spPr>
        <p:txBody>
          <a:bodyPr wrap="none" rtlCol="0">
            <a:spAutoFit/>
          </a:bodyPr>
          <a:lstStyle/>
          <a:p>
            <a:pPr lvl="0" indent="0" algn="just">
              <a:lnSpc>
                <a:spcPct val="130000"/>
              </a:lnSpc>
              <a:spcAft>
                <a:spcPts val="800"/>
              </a:spcAft>
              <a:buClr>
                <a:schemeClr val="tx1">
                  <a:lumMod val="65000"/>
                  <a:lumOff val="35000"/>
                </a:schemeClr>
              </a:buClr>
              <a:buNone/>
            </a:pPr>
            <a:r>
              <a:rPr lang="en-US" altLang="zh-CN" b="1" spc="100" dirty="0">
                <a:solidFill>
                  <a:srgbClr val="FF0000"/>
                </a:solidFill>
                <a:latin typeface="Arial" panose="020B0604020202020204" pitchFamily="34" charset="0"/>
                <a:ea typeface="微软雅黑" panose="020B0503020204020204" charset="-122"/>
                <a:sym typeface="Arial" panose="020B0604020202020204" pitchFamily="34" charset="0"/>
              </a:rPr>
              <a:t>θ要使两者的积最大</a:t>
            </a:r>
          </a:p>
        </p:txBody>
      </p:sp>
      <p:pic>
        <p:nvPicPr>
          <p:cNvPr id="6" name="图片 5">
            <a:extLst>
              <a:ext uri="{FF2B5EF4-FFF2-40B4-BE49-F238E27FC236}">
                <a16:creationId xmlns:a16="http://schemas.microsoft.com/office/drawing/2014/main" id="{638A09A8-8108-4845-B93A-165B6342CCFE}"/>
              </a:ext>
            </a:extLst>
          </p:cNvPr>
          <p:cNvPicPr>
            <a:picLocks noChangeAspect="1"/>
          </p:cNvPicPr>
          <p:nvPr/>
        </p:nvPicPr>
        <p:blipFill>
          <a:blip r:embed="rId3"/>
          <a:stretch>
            <a:fillRect/>
          </a:stretch>
        </p:blipFill>
        <p:spPr>
          <a:xfrm>
            <a:off x="7115492" y="5496217"/>
            <a:ext cx="2438400" cy="1310640"/>
          </a:xfrm>
          <a:prstGeom prst="rect">
            <a:avLst/>
          </a:prstGeom>
        </p:spPr>
      </p:pic>
      <p:pic>
        <p:nvPicPr>
          <p:cNvPr id="7" name="图片 6">
            <a:extLst>
              <a:ext uri="{FF2B5EF4-FFF2-40B4-BE49-F238E27FC236}">
                <a16:creationId xmlns:a16="http://schemas.microsoft.com/office/drawing/2014/main" id="{8027A51B-29E5-4591-94B7-D02C42DE287D}"/>
              </a:ext>
            </a:extLst>
          </p:cNvPr>
          <p:cNvPicPr>
            <a:picLocks noChangeAspect="1"/>
          </p:cNvPicPr>
          <p:nvPr/>
        </p:nvPicPr>
        <p:blipFill>
          <a:blip r:embed="rId4"/>
          <a:stretch>
            <a:fillRect/>
          </a:stretch>
        </p:blipFill>
        <p:spPr>
          <a:xfrm>
            <a:off x="1386205" y="5652770"/>
            <a:ext cx="4099560" cy="563880"/>
          </a:xfrm>
          <a:prstGeom prst="rect">
            <a:avLst/>
          </a:prstGeom>
        </p:spPr>
      </p:pic>
      <p:sp>
        <p:nvSpPr>
          <p:cNvPr id="8" name="圆角矩形 8">
            <a:extLst>
              <a:ext uri="{FF2B5EF4-FFF2-40B4-BE49-F238E27FC236}">
                <a16:creationId xmlns:a16="http://schemas.microsoft.com/office/drawing/2014/main" id="{DC92E844-7966-4BD5-97E3-EA5AFDFB1E8D}"/>
              </a:ext>
            </a:extLst>
          </p:cNvPr>
          <p:cNvSpPr/>
          <p:nvPr/>
        </p:nvSpPr>
        <p:spPr>
          <a:xfrm>
            <a:off x="6812395" y="4329982"/>
            <a:ext cx="1347932" cy="563880"/>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05506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blinds(horizontal)">
                                      <p:cBhvr>
                                        <p:cTn id="7" dur="500"/>
                                        <p:tgtEl>
                                          <p:spTgt spid="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Effect transition="in" filter="blinds(horizontal)">
                                      <p:cBhvr>
                                        <p:cTn id="15" dur="500"/>
                                        <p:tgtEl>
                                          <p:spTgt spid="4">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linds(horizontal)">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linds(horizontal)">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Effect transition="in" filter="blinds(horizontal)">
                                      <p:cBhvr>
                                        <p:cTn id="30" dur="500"/>
                                        <p:tgtEl>
                                          <p:spTgt spid="4">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blinds(horizontal)">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4" grpId="1"/>
      <p:bldP spid="5" grpId="0"/>
      <p:bldP spid="5" grpId="1"/>
      <p:bldP spid="8" grpId="0" bldLvl="0" animBg="1"/>
      <p:bldP spid="8"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C01E2394-30A3-4DAE-9FCE-A7FEA5907B15}"/>
              </a:ext>
            </a:extLst>
          </p:cNvPr>
          <p:cNvSpPr txBox="1"/>
          <p:nvPr>
            <p:custDataLst>
              <p:tags r:id="rId1"/>
            </p:custDataLst>
          </p:nvPr>
        </p:nvSpPr>
        <p:spPr>
          <a:xfrm>
            <a:off x="0" y="191539"/>
            <a:ext cx="10974649" cy="608400"/>
          </a:xfrm>
          <a:prstGeom prst="rect">
            <a:avLst/>
          </a:prstGeom>
          <a:noFill/>
          <a:ln w="3175">
            <a:noFill/>
            <a:prstDash val="dash"/>
          </a:ln>
        </p:spPr>
        <p:txBody>
          <a:bodyPr wrap="square" lIns="90170" tIns="46990" rIns="90170" bIns="4699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nSpc>
                <a:spcPct val="100000"/>
              </a:lnSpc>
            </a:pPr>
            <a:r>
              <a:rPr altLang="zh-CN" sz="3200" spc="100" dirty="0" err="1">
                <a:latin typeface="Arial" panose="020B0604020202020204" pitchFamily="34" charset="0"/>
                <a:ea typeface="微软雅黑" panose="020B0503020204020204" charset="-122"/>
                <a:sym typeface="Arial" panose="020B0604020202020204" pitchFamily="34" charset="0"/>
              </a:rPr>
              <a:t>最大后验估计</a:t>
            </a:r>
            <a:endParaRPr lang="zh-CN" altLang="zh-CN" sz="3200" b="1" spc="100" dirty="0">
              <a:ln w="3175">
                <a:noFill/>
                <a:prstDash val="dash"/>
              </a:ln>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5" name="文本框 14">
            <a:extLst>
              <a:ext uri="{FF2B5EF4-FFF2-40B4-BE49-F238E27FC236}">
                <a16:creationId xmlns:a16="http://schemas.microsoft.com/office/drawing/2014/main" id="{6F5125F9-224A-45E8-B20D-4CF507859788}"/>
              </a:ext>
            </a:extLst>
          </p:cNvPr>
          <p:cNvSpPr txBox="1"/>
          <p:nvPr>
            <p:custDataLst>
              <p:tags r:id="rId2"/>
            </p:custDataLst>
          </p:nvPr>
        </p:nvSpPr>
        <p:spPr>
          <a:xfrm>
            <a:off x="628015" y="1802766"/>
            <a:ext cx="10927080" cy="4681162"/>
          </a:xfrm>
          <a:prstGeom prst="rect">
            <a:avLst/>
          </a:prstGeom>
          <a:noFill/>
        </p:spPr>
        <p:txBody>
          <a:bodyPr wrap="square" rtlCol="0" anchor="ctr" anchorCtr="0">
            <a:noAutofit/>
          </a:bodyPr>
          <a:lstStyle/>
          <a:p>
            <a:pPr lvl="0" indent="0" algn="just">
              <a:lnSpc>
                <a:spcPct val="11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(Maximum A posteriori Estimation，MAE)最大后验估计是根据经验数据获得对难以观察的量的点估计。与最大似然估计类似，但是最大的不同时，最大后验估计的融入了要估计量的先验分布在其中。故最大</a:t>
            </a:r>
            <a:r>
              <a:rPr lang="en-US" altLang="zh-CN"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最大后验概率估计</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后验估计可以看做规则化的最大似然估计。</a:t>
            </a:r>
          </a:p>
          <a:p>
            <a:pPr lvl="0" indent="0" algn="just">
              <a:lnSpc>
                <a:spcPct val="11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想判断某硬币是否均匀，抛十次，得到的结果是：反正正正正反正正正反，请做出合理的判断。</a:t>
            </a:r>
          </a:p>
          <a:p>
            <a:pPr lvl="0" indent="0" algn="just">
              <a:lnSpc>
                <a:spcPct val="11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用</a:t>
            </a:r>
            <a:r>
              <a:rPr lang="en-US" altLang="zh-CN"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最大后验估计</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的思路来考虑该问题：</a:t>
            </a:r>
          </a:p>
          <a:p>
            <a:pPr lvl="0" indent="0" algn="just">
              <a:lnSpc>
                <a:spcPct val="140000"/>
              </a:lnSpc>
              <a:spcAft>
                <a:spcPts val="800"/>
              </a:spcAft>
              <a:buClr>
                <a:schemeClr val="tx1">
                  <a:lumMod val="65000"/>
                  <a:lumOff val="35000"/>
                </a:schemeClr>
              </a:buClr>
              <a:buNone/>
            </a:pPr>
            <a:r>
              <a:rPr lang="zh-CN" altLang="en-US"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对后验概率求对数：</a:t>
            </a:r>
          </a:p>
          <a:p>
            <a:pPr lvl="0" indent="0" algn="just">
              <a:lnSpc>
                <a:spcPct val="14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对后验概率的对数形式求最大值：</a:t>
            </a:r>
          </a:p>
          <a:p>
            <a:pPr lvl="0" indent="0" algn="just">
              <a:lnSpc>
                <a:spcPct val="14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对θ求偏导，令其等于0：</a:t>
            </a:r>
          </a:p>
          <a:p>
            <a:pPr lvl="0" indent="0" algn="just">
              <a:lnSpc>
                <a:spcPct val="14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整理并解该方程：100*θ³-150*θ²+40*θ+7=0                                 θ=0.5577</a:t>
            </a:r>
          </a:p>
          <a:p>
            <a:pPr lvl="0" indent="0" algn="just">
              <a:lnSpc>
                <a:spcPct val="14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改进：优化先验概率，比如投掷100次硬币，发现有60(80）次出现正面，以此计算后验概率为：0.63（0.76）</a:t>
            </a:r>
          </a:p>
          <a:p>
            <a:pPr lvl="0" indent="0" algn="just">
              <a:lnSpc>
                <a:spcPct val="130000"/>
              </a:lnSpc>
              <a:spcAft>
                <a:spcPts val="800"/>
              </a:spcAft>
              <a:buClr>
                <a:schemeClr val="tx1">
                  <a:lumMod val="65000"/>
                  <a:lumOff val="35000"/>
                </a:schemeClr>
              </a:buClr>
              <a:buNone/>
            </a:pPr>
            <a:endPar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p:txBody>
      </p:sp>
      <p:pic>
        <p:nvPicPr>
          <p:cNvPr id="6" name="图片 5">
            <a:extLst>
              <a:ext uri="{FF2B5EF4-FFF2-40B4-BE49-F238E27FC236}">
                <a16:creationId xmlns:a16="http://schemas.microsoft.com/office/drawing/2014/main" id="{9C5260C8-DFA3-4D2D-91B3-F0576552C034}"/>
              </a:ext>
            </a:extLst>
          </p:cNvPr>
          <p:cNvPicPr>
            <a:picLocks noChangeAspect="1"/>
          </p:cNvPicPr>
          <p:nvPr/>
        </p:nvPicPr>
        <p:blipFill>
          <a:blip r:embed="rId4"/>
          <a:stretch>
            <a:fillRect/>
          </a:stretch>
        </p:blipFill>
        <p:spPr>
          <a:xfrm>
            <a:off x="3220085" y="3472815"/>
            <a:ext cx="5951220" cy="523240"/>
          </a:xfrm>
          <a:prstGeom prst="rect">
            <a:avLst/>
          </a:prstGeom>
        </p:spPr>
      </p:pic>
      <p:pic>
        <p:nvPicPr>
          <p:cNvPr id="7" name="图片 6">
            <a:extLst>
              <a:ext uri="{FF2B5EF4-FFF2-40B4-BE49-F238E27FC236}">
                <a16:creationId xmlns:a16="http://schemas.microsoft.com/office/drawing/2014/main" id="{BF7079E5-4B6C-49E4-8BEF-074C7F906FB1}"/>
              </a:ext>
            </a:extLst>
          </p:cNvPr>
          <p:cNvPicPr>
            <a:picLocks noChangeAspect="1"/>
          </p:cNvPicPr>
          <p:nvPr/>
        </p:nvPicPr>
        <p:blipFill>
          <a:blip r:embed="rId5"/>
          <a:stretch>
            <a:fillRect/>
          </a:stretch>
        </p:blipFill>
        <p:spPr>
          <a:xfrm>
            <a:off x="4498340" y="3996055"/>
            <a:ext cx="2122805" cy="403225"/>
          </a:xfrm>
          <a:prstGeom prst="rect">
            <a:avLst/>
          </a:prstGeom>
        </p:spPr>
      </p:pic>
      <p:pic>
        <p:nvPicPr>
          <p:cNvPr id="8" name="图片 7">
            <a:extLst>
              <a:ext uri="{FF2B5EF4-FFF2-40B4-BE49-F238E27FC236}">
                <a16:creationId xmlns:a16="http://schemas.microsoft.com/office/drawing/2014/main" id="{0A4B9E75-FAB4-4EA4-A477-AB1110F4C136}"/>
              </a:ext>
            </a:extLst>
          </p:cNvPr>
          <p:cNvPicPr>
            <a:picLocks noChangeAspect="1"/>
          </p:cNvPicPr>
          <p:nvPr/>
        </p:nvPicPr>
        <p:blipFill>
          <a:blip r:embed="rId6"/>
          <a:stretch>
            <a:fillRect/>
          </a:stretch>
        </p:blipFill>
        <p:spPr>
          <a:xfrm>
            <a:off x="3469005" y="4399280"/>
            <a:ext cx="5052060" cy="556260"/>
          </a:xfrm>
          <a:prstGeom prst="rect">
            <a:avLst/>
          </a:prstGeom>
        </p:spPr>
      </p:pic>
    </p:spTree>
    <p:extLst>
      <p:ext uri="{BB962C8B-B14F-4D97-AF65-F5344CB8AC3E}">
        <p14:creationId xmlns:p14="http://schemas.microsoft.com/office/powerpoint/2010/main" val="3132401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blinds(horizontal)">
                                      <p:cBhvr>
                                        <p:cTn id="7" dur="500"/>
                                        <p:tgtEl>
                                          <p:spTgt spid="5">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Effect transition="in" filter="blinds(horizontal)">
                                      <p:cBhvr>
                                        <p:cTn id="15" dur="500"/>
                                        <p:tgtEl>
                                          <p:spTgt spid="5">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Effect transition="in" filter="blinds(horizontal)">
                                      <p:cBhvr>
                                        <p:cTn id="23" dur="500"/>
                                        <p:tgtEl>
                                          <p:spTgt spid="5">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linds(horizontal)">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blinds(horizontal)">
                                      <p:cBhvr>
                                        <p:cTn id="31" dur="500"/>
                                        <p:tgtEl>
                                          <p:spTgt spid="5">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5">
                                            <p:txEl>
                                              <p:pRg st="7" end="7"/>
                                            </p:txEl>
                                          </p:spTgt>
                                        </p:tgtEl>
                                        <p:attrNameLst>
                                          <p:attrName>style.visibility</p:attrName>
                                        </p:attrNameLst>
                                      </p:cBhvr>
                                      <p:to>
                                        <p:strVal val="visible"/>
                                      </p:to>
                                    </p:set>
                                    <p:animEffect transition="in" filter="blinds(horizontal)">
                                      <p:cBhvr>
                                        <p:cTn id="36"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
            <a:extLst>
              <a:ext uri="{FF2B5EF4-FFF2-40B4-BE49-F238E27FC236}">
                <a16:creationId xmlns:a16="http://schemas.microsoft.com/office/drawing/2014/main" id="{86C41A09-DC86-461C-8311-B42BDF7C947D}"/>
              </a:ext>
            </a:extLst>
          </p:cNvPr>
          <p:cNvSpPr/>
          <p:nvPr>
            <p:custDataLst>
              <p:tags r:id="rId1"/>
            </p:custDataLst>
          </p:nvPr>
        </p:nvSpPr>
        <p:spPr>
          <a:xfrm>
            <a:off x="608330" y="1371600"/>
            <a:ext cx="10974705" cy="4752340"/>
          </a:xfrm>
          <a:prstGeom prst="rect">
            <a:avLst/>
          </a:prstGeom>
          <a:solidFill>
            <a:schemeClr val="bg2"/>
          </a:solidFill>
          <a:ln>
            <a:noFill/>
          </a:ln>
          <a:effectLst>
            <a:outerShdw blurRad="127000" dist="38100" dir="5400000" algn="t"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1" lang="zh-CN" altLang="en-US" sz="1600" b="1"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4" name="Title 6">
            <a:extLst>
              <a:ext uri="{FF2B5EF4-FFF2-40B4-BE49-F238E27FC236}">
                <a16:creationId xmlns:a16="http://schemas.microsoft.com/office/drawing/2014/main" id="{628F598B-D22A-4728-B909-F8A5798589F6}"/>
              </a:ext>
            </a:extLst>
          </p:cNvPr>
          <p:cNvSpPr txBox="1"/>
          <p:nvPr>
            <p:custDataLst>
              <p:tags r:id="rId2"/>
            </p:custDataLst>
          </p:nvPr>
        </p:nvSpPr>
        <p:spPr>
          <a:xfrm>
            <a:off x="580459" y="306035"/>
            <a:ext cx="10974649" cy="608400"/>
          </a:xfrm>
          <a:prstGeom prst="rect">
            <a:avLst/>
          </a:prstGeom>
          <a:noFill/>
          <a:ln w="3175">
            <a:noFill/>
            <a:prstDash val="dash"/>
          </a:ln>
        </p:spPr>
        <p:txBody>
          <a:bodyPr wrap="square" lIns="90170" tIns="46990" rIns="90170" bIns="4699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nSpc>
                <a:spcPct val="100000"/>
              </a:lnSpc>
            </a:pPr>
            <a:r>
              <a:rPr altLang="zh-CN" sz="3200" spc="100" dirty="0" err="1">
                <a:latin typeface="Arial" panose="020B0604020202020204" pitchFamily="34" charset="0"/>
                <a:ea typeface="微软雅黑" panose="020B0503020204020204" charset="-122"/>
                <a:sym typeface="Arial" panose="020B0604020202020204" pitchFamily="34" charset="0"/>
              </a:rPr>
              <a:t>朴素贝叶斯</a:t>
            </a:r>
            <a:endParaRPr lang="zh-CN" altLang="zh-CN" sz="3200" b="1" spc="100" dirty="0">
              <a:ln w="3175">
                <a:noFill/>
                <a:prstDash val="dash"/>
              </a:ln>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5" name="文本框 14">
            <a:extLst>
              <a:ext uri="{FF2B5EF4-FFF2-40B4-BE49-F238E27FC236}">
                <a16:creationId xmlns:a16="http://schemas.microsoft.com/office/drawing/2014/main" id="{3748BCD3-9758-45FC-96C1-F7DC83F7BDF8}"/>
              </a:ext>
            </a:extLst>
          </p:cNvPr>
          <p:cNvSpPr txBox="1"/>
          <p:nvPr>
            <p:custDataLst>
              <p:tags r:id="rId3"/>
            </p:custDataLst>
          </p:nvPr>
        </p:nvSpPr>
        <p:spPr>
          <a:xfrm>
            <a:off x="628015" y="1481455"/>
            <a:ext cx="10927080" cy="4248150"/>
          </a:xfrm>
          <a:prstGeom prst="rect">
            <a:avLst/>
          </a:prstGeom>
          <a:noFill/>
        </p:spPr>
        <p:txBody>
          <a:bodyPr wrap="square" rtlCol="0" anchor="ctr" anchorCtr="0">
            <a:noAutofit/>
          </a:bodyPr>
          <a:lstStyle/>
          <a:p>
            <a:pPr lvl="0" indent="0" algn="just">
              <a:lnSpc>
                <a:spcPct val="130000"/>
              </a:lnSpc>
              <a:spcAft>
                <a:spcPts val="800"/>
              </a:spcAft>
              <a:buClr>
                <a:schemeClr val="tx1">
                  <a:lumMod val="65000"/>
                  <a:lumOff val="35000"/>
                </a:schemeClr>
              </a:buClr>
              <a:buNone/>
            </a:pPr>
            <a:r>
              <a:rPr lang="en-US" altLang="zh-CN"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朴素贝叶斯</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（Naive Bayes，NB)是一类基于概率理论的分类算法，以贝叶斯理论为理论基础，通过计算样本归属于不同类别的概率来进行分类，是一种经典的分类算法。</a:t>
            </a:r>
          </a:p>
          <a:p>
            <a:pPr lvl="0" indent="0" algn="just">
              <a:lnSpc>
                <a:spcPct val="130000"/>
              </a:lnSpc>
              <a:spcAft>
                <a:spcPts val="800"/>
              </a:spcAft>
              <a:buClr>
                <a:schemeClr val="tx1">
                  <a:lumMod val="65000"/>
                  <a:lumOff val="35000"/>
                </a:schemeClr>
              </a:buClr>
              <a:buNone/>
            </a:pPr>
            <a:r>
              <a:rPr lang="en-US" altLang="zh-CN"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贝叶斯理论</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：基于能获得的最好证据（观察、数据和信息等），来计算信念度（或者假说、主张、命题）的有效方法。信念度即为对事物的真实性和正确性所具有的的信心。</a:t>
            </a:r>
          </a:p>
          <a:p>
            <a:pPr lvl="0" indent="0" algn="just">
              <a:lnSpc>
                <a:spcPct val="130000"/>
              </a:lnSpc>
              <a:spcAft>
                <a:spcPts val="800"/>
              </a:spcAft>
              <a:buClr>
                <a:schemeClr val="tx1">
                  <a:lumMod val="65000"/>
                  <a:lumOff val="35000"/>
                </a:schemeClr>
              </a:buClr>
              <a:buNone/>
            </a:pPr>
            <a:r>
              <a:rPr lang="en-US" altLang="zh-CN"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朴素</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：单纯的、粗糙的，简单粗暴的假设给定目标值时属性之间相互条件独立</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已知一组事件{A</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}，通过这组事件去估计一个事件B发生的概率，即求：P(BlA</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根据贝叶斯公式有：</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P(A</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P(A</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lA</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P(A</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假设有100个事件，每个事件可能的结果有2个，则该事件组的联合分布有2</a:t>
            </a:r>
            <a:r>
              <a:rPr lang="en-US" altLang="zh-CN" sz="12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100</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种组合，无法计算一旦“朴素”，即各事件独立，马上变简单了：</a:t>
            </a:r>
          </a:p>
        </p:txBody>
      </p:sp>
      <p:pic>
        <p:nvPicPr>
          <p:cNvPr id="6" name="图片 5">
            <a:extLst>
              <a:ext uri="{FF2B5EF4-FFF2-40B4-BE49-F238E27FC236}">
                <a16:creationId xmlns:a16="http://schemas.microsoft.com/office/drawing/2014/main" id="{599BA750-46E4-4DC6-8377-6CF3A593B8FB}"/>
              </a:ext>
            </a:extLst>
          </p:cNvPr>
          <p:cNvPicPr>
            <a:picLocks noChangeAspect="1"/>
          </p:cNvPicPr>
          <p:nvPr/>
        </p:nvPicPr>
        <p:blipFill>
          <a:blip r:embed="rId5"/>
          <a:stretch>
            <a:fillRect/>
          </a:stretch>
        </p:blipFill>
        <p:spPr>
          <a:xfrm>
            <a:off x="1685290" y="4421505"/>
            <a:ext cx="4328160" cy="579755"/>
          </a:xfrm>
          <a:prstGeom prst="rect">
            <a:avLst/>
          </a:prstGeom>
        </p:spPr>
      </p:pic>
      <p:pic>
        <p:nvPicPr>
          <p:cNvPr id="7" name="图片 6">
            <a:extLst>
              <a:ext uri="{FF2B5EF4-FFF2-40B4-BE49-F238E27FC236}">
                <a16:creationId xmlns:a16="http://schemas.microsoft.com/office/drawing/2014/main" id="{AAAAE27F-0F3C-4C63-B476-1DA18D9F13EE}"/>
              </a:ext>
            </a:extLst>
          </p:cNvPr>
          <p:cNvPicPr>
            <a:picLocks noChangeAspect="1"/>
          </p:cNvPicPr>
          <p:nvPr/>
        </p:nvPicPr>
        <p:blipFill>
          <a:blip r:embed="rId6"/>
          <a:stretch>
            <a:fillRect/>
          </a:stretch>
        </p:blipFill>
        <p:spPr>
          <a:xfrm>
            <a:off x="6013450" y="5470525"/>
            <a:ext cx="3794760" cy="571500"/>
          </a:xfrm>
          <a:prstGeom prst="rect">
            <a:avLst/>
          </a:prstGeom>
        </p:spPr>
      </p:pic>
    </p:spTree>
    <p:extLst>
      <p:ext uri="{BB962C8B-B14F-4D97-AF65-F5344CB8AC3E}">
        <p14:creationId xmlns:p14="http://schemas.microsoft.com/office/powerpoint/2010/main" val="2419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nodePh="1">
                                  <p:stCondLst>
                                    <p:cond delay="0"/>
                                  </p:stCondLst>
                                  <p:endCondLst>
                                    <p:cond evt="begin" delay="0">
                                      <p:tn val="15"/>
                                    </p:cond>
                                  </p:end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nodePh="1">
                                  <p:stCondLst>
                                    <p:cond delay="0"/>
                                  </p:stCondLst>
                                  <p:endCondLst>
                                    <p:cond evt="begin" delay="0">
                                      <p:tn val="20"/>
                                    </p:cond>
                                  </p:end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nodePh="1">
                                  <p:stCondLst>
                                    <p:cond delay="0"/>
                                  </p:stCondLst>
                                  <p:endCondLst>
                                    <p:cond evt="begin" delay="0">
                                      <p:tn val="25"/>
                                    </p:cond>
                                  </p:end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par>
                                <p:cTn id="28" presetID="3" presetClass="entr" presetSubtype="10" fill="hold" grpId="0" nodeType="withEffect" nodePh="1">
                                  <p:stCondLst>
                                    <p:cond delay="0"/>
                                  </p:stCondLst>
                                  <p:endCondLst>
                                    <p:cond evt="begin" delay="0">
                                      <p:tn val="28"/>
                                    </p:cond>
                                  </p:end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blinds(horizontal)">
                                      <p:cBhvr>
                                        <p:cTn id="30" dur="500"/>
                                        <p:tgtEl>
                                          <p:spTgt spid="5">
                                            <p:txEl>
                                              <p:pRg st="5" end="5"/>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blinds(horizontal)">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nodePh="1">
                                  <p:stCondLst>
                                    <p:cond delay="0"/>
                                  </p:stCondLst>
                                  <p:endCondLst>
                                    <p:cond evt="begin" delay="0">
                                      <p:tn val="36"/>
                                    </p:cond>
                                  </p:endCondLst>
                                  <p:childTnLst>
                                    <p:set>
                                      <p:cBhvr>
                                        <p:cTn id="37" dur="1" fill="hold">
                                          <p:stCondLst>
                                            <p:cond delay="0"/>
                                          </p:stCondLst>
                                        </p:cTn>
                                        <p:tgtEl>
                                          <p:spTgt spid="5">
                                            <p:txEl>
                                              <p:pRg st="6" end="6"/>
                                            </p:txEl>
                                          </p:spTgt>
                                        </p:tgtEl>
                                        <p:attrNameLst>
                                          <p:attrName>style.visibility</p:attrName>
                                        </p:attrNameLst>
                                      </p:cBhvr>
                                      <p:to>
                                        <p:strVal val="visible"/>
                                      </p:to>
                                    </p:set>
                                    <p:animEffect transition="in" filter="blinds(horizontal)">
                                      <p:cBhvr>
                                        <p:cTn id="38" dur="500"/>
                                        <p:tgtEl>
                                          <p:spTgt spid="5">
                                            <p:txEl>
                                              <p:pRg st="6" end="6"/>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blinds(horizontal)">
                                      <p:cBhvr>
                                        <p:cTn id="4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562DF9B6-BC0B-4A7B-8B27-A968941A479F}"/>
              </a:ext>
            </a:extLst>
          </p:cNvPr>
          <p:cNvSpPr txBox="1"/>
          <p:nvPr>
            <p:custDataLst>
              <p:tags r:id="rId1"/>
            </p:custDataLst>
          </p:nvPr>
        </p:nvSpPr>
        <p:spPr>
          <a:xfrm>
            <a:off x="580459" y="306035"/>
            <a:ext cx="10974649" cy="608400"/>
          </a:xfrm>
          <a:prstGeom prst="rect">
            <a:avLst/>
          </a:prstGeom>
          <a:noFill/>
          <a:ln w="3175">
            <a:noFill/>
            <a:prstDash val="dash"/>
          </a:ln>
        </p:spPr>
        <p:txBody>
          <a:bodyPr wrap="square" lIns="90170" tIns="46990" rIns="90170" bIns="4699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nSpc>
                <a:spcPct val="100000"/>
              </a:lnSpc>
            </a:pPr>
            <a:r>
              <a:rPr altLang="zh-CN" sz="3200" spc="100" dirty="0" err="1">
                <a:latin typeface="Arial" panose="020B0604020202020204" pitchFamily="34" charset="0"/>
                <a:ea typeface="微软雅黑" panose="020B0503020204020204" charset="-122"/>
                <a:sym typeface="Arial" panose="020B0604020202020204" pitchFamily="34" charset="0"/>
              </a:rPr>
              <a:t>朴素贝叶斯的模型</a:t>
            </a:r>
            <a:endParaRPr lang="zh-CN" altLang="zh-CN" sz="3200" b="1" spc="100" dirty="0">
              <a:ln w="3175">
                <a:noFill/>
                <a:prstDash val="dash"/>
              </a:ln>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5" name="文本框 14">
            <a:extLst>
              <a:ext uri="{FF2B5EF4-FFF2-40B4-BE49-F238E27FC236}">
                <a16:creationId xmlns:a16="http://schemas.microsoft.com/office/drawing/2014/main" id="{76FDE629-D1B9-4227-9613-A5FD45F9967E}"/>
              </a:ext>
            </a:extLst>
          </p:cNvPr>
          <p:cNvSpPr txBox="1"/>
          <p:nvPr>
            <p:custDataLst>
              <p:tags r:id="rId2"/>
            </p:custDataLst>
          </p:nvPr>
        </p:nvSpPr>
        <p:spPr>
          <a:xfrm>
            <a:off x="608330" y="1629410"/>
            <a:ext cx="10927080" cy="4329430"/>
          </a:xfrm>
          <a:prstGeom prst="rect">
            <a:avLst/>
          </a:prstGeom>
          <a:noFill/>
        </p:spPr>
        <p:txBody>
          <a:bodyPr wrap="square" rtlCol="0" anchor="ctr" anchorCtr="0">
            <a:noAutofit/>
          </a:bodyPr>
          <a:lstStyle/>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有m个样本，每个样本有n个特征，输出为k个类别，表示如下：</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样本：(x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baseline="30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baseline="30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pc="100" baseline="30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baseline="30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baseline="30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pc="100" baseline="30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baseline="30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（m)</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baseline="30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（m)</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pc="100" baseline="30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（m)</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)，输出类别为：C</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k</a:t>
            </a:r>
            <a:endPar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通过样本学习得到先验概率：P(Y=C</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j</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)，j=1,2,…，k</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通过样本学习得到条件概率：P(X=x|Y=C</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j</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lY=C</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j</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通过上述学习结果，可以计算X、Y的联合概率分布：</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P(X=x,Y=C</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j</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)=P(Y =C</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j</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)P(X=x｜Y=C</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j</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)=P(Y=C</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k</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lY=C</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j</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=P(Y =C</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k</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|Y=C))P(X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|Y=C</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j</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|Y=C</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j</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p>
          <a:p>
            <a:pPr lvl="0" indent="0" algn="just">
              <a:lnSpc>
                <a:spcPct val="130000"/>
              </a:lnSpc>
              <a:spcAft>
                <a:spcPts val="800"/>
              </a:spcAft>
              <a:buClr>
                <a:schemeClr val="tx1">
                  <a:lumMod val="65000"/>
                  <a:lumOff val="35000"/>
                </a:schemeClr>
              </a:buClr>
              <a:buNone/>
            </a:pPr>
            <a:endParaRPr lang="en-US" altLang="zh-CN" sz="12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对新样本的预测：(x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pc="100" baseline="30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(new)</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pc="100" baseline="30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(new)</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a:t>
            </a:r>
            <a:r>
              <a:rPr lang="en-US" altLang="zh-CN" spc="100" baseline="30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(new)</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))计算k个分类的条件概率P(Y=C</a:t>
            </a:r>
            <a:r>
              <a:rPr lang="en-US" altLang="zh-CN"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j</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lX=X</a:t>
            </a:r>
            <a:r>
              <a:rPr lang="en-US" altLang="zh-CN" spc="100" baseline="30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(new)</a:t>
            </a:r>
            <a:r>
              <a:rPr lang="en-US" altLang="zh-CN"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)，找到最大的一类</a:t>
            </a:r>
          </a:p>
        </p:txBody>
      </p:sp>
      <p:pic>
        <p:nvPicPr>
          <p:cNvPr id="6" name="图片 5">
            <a:extLst>
              <a:ext uri="{FF2B5EF4-FFF2-40B4-BE49-F238E27FC236}">
                <a16:creationId xmlns:a16="http://schemas.microsoft.com/office/drawing/2014/main" id="{763C83CB-75D6-40D8-B8AF-B0175E24952E}"/>
              </a:ext>
            </a:extLst>
          </p:cNvPr>
          <p:cNvPicPr>
            <a:picLocks noChangeAspect="1"/>
          </p:cNvPicPr>
          <p:nvPr/>
        </p:nvPicPr>
        <p:blipFill>
          <a:blip r:embed="rId4"/>
          <a:stretch>
            <a:fillRect/>
          </a:stretch>
        </p:blipFill>
        <p:spPr>
          <a:xfrm>
            <a:off x="689610" y="4987925"/>
            <a:ext cx="3497580" cy="449580"/>
          </a:xfrm>
          <a:prstGeom prst="rect">
            <a:avLst/>
          </a:prstGeom>
        </p:spPr>
      </p:pic>
    </p:spTree>
    <p:extLst>
      <p:ext uri="{BB962C8B-B14F-4D97-AF65-F5344CB8AC3E}">
        <p14:creationId xmlns:p14="http://schemas.microsoft.com/office/powerpoint/2010/main" val="2885543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linds(horizontal)">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blinds(horizontal)">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horizontal)">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blinds(horizontal)">
                                      <p:cBhvr>
                                        <p:cTn id="4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77A96FAC-AAE0-47F3-ACA8-6793F570B6DF}"/>
              </a:ext>
            </a:extLst>
          </p:cNvPr>
          <p:cNvSpPr txBox="1"/>
          <p:nvPr>
            <p:custDataLst>
              <p:tags r:id="rId1"/>
            </p:custDataLst>
          </p:nvPr>
        </p:nvSpPr>
        <p:spPr>
          <a:xfrm>
            <a:off x="103215" y="287233"/>
            <a:ext cx="10974649" cy="608400"/>
          </a:xfrm>
          <a:prstGeom prst="rect">
            <a:avLst/>
          </a:prstGeom>
          <a:noFill/>
          <a:ln w="3175">
            <a:noFill/>
            <a:prstDash val="dash"/>
          </a:ln>
        </p:spPr>
        <p:txBody>
          <a:bodyPr wrap="square" lIns="90170" tIns="46990" rIns="90170" bIns="46990" anchor="b"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just">
              <a:lnSpc>
                <a:spcPct val="130000"/>
              </a:lnSpc>
              <a:spcAft>
                <a:spcPts val="800"/>
              </a:spcAft>
              <a:buClr>
                <a:schemeClr val="tx1">
                  <a:lumMod val="65000"/>
                  <a:lumOff val="35000"/>
                </a:schemeClr>
              </a:buClr>
              <a:buNone/>
            </a:pPr>
            <a:r>
              <a:rPr altLang="zh-CN" sz="3200" spc="100" dirty="0" err="1">
                <a:latin typeface="Arial" panose="020B0604020202020204" pitchFamily="34" charset="0"/>
                <a:ea typeface="微软雅黑" panose="020B0503020204020204" charset="-122"/>
                <a:sym typeface="Arial" panose="020B0604020202020204" pitchFamily="34" charset="0"/>
              </a:rPr>
              <a:t>朴素贝叶斯例子</a:t>
            </a:r>
            <a:endParaRPr lang="zh-CN" altLang="zh-CN" sz="3200" b="1" spc="100" dirty="0">
              <a:ln w="3175">
                <a:noFill/>
                <a:prstDash val="dash"/>
              </a:ln>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5" name="文本框 14">
            <a:extLst>
              <a:ext uri="{FF2B5EF4-FFF2-40B4-BE49-F238E27FC236}">
                <a16:creationId xmlns:a16="http://schemas.microsoft.com/office/drawing/2014/main" id="{9A1EECDF-EE3A-4B45-8734-E1229B08D6C8}"/>
              </a:ext>
            </a:extLst>
          </p:cNvPr>
          <p:cNvSpPr txBox="1"/>
          <p:nvPr>
            <p:custDataLst>
              <p:tags r:id="rId2"/>
            </p:custDataLst>
          </p:nvPr>
        </p:nvSpPr>
        <p:spPr>
          <a:xfrm>
            <a:off x="739140" y="1745615"/>
            <a:ext cx="6815455" cy="2980055"/>
          </a:xfrm>
          <a:prstGeom prst="rect">
            <a:avLst/>
          </a:prstGeom>
          <a:noFill/>
        </p:spPr>
        <p:txBody>
          <a:bodyPr wrap="square" rtlCol="0" anchor="ctr" anchorCtr="0">
            <a:noAutofit/>
          </a:bodyPr>
          <a:lstStyle/>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已知购买记录：</a:t>
            </a: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待预测记录：</a:t>
            </a:r>
          </a:p>
        </p:txBody>
      </p:sp>
      <p:pic>
        <p:nvPicPr>
          <p:cNvPr id="6" name="图片 5">
            <a:extLst>
              <a:ext uri="{FF2B5EF4-FFF2-40B4-BE49-F238E27FC236}">
                <a16:creationId xmlns:a16="http://schemas.microsoft.com/office/drawing/2014/main" id="{00DC91C7-F379-41F0-9506-C0DCF07A40C8}"/>
              </a:ext>
            </a:extLst>
          </p:cNvPr>
          <p:cNvPicPr>
            <a:picLocks noChangeAspect="1"/>
          </p:cNvPicPr>
          <p:nvPr/>
        </p:nvPicPr>
        <p:blipFill>
          <a:blip r:embed="rId4"/>
          <a:stretch>
            <a:fillRect/>
          </a:stretch>
        </p:blipFill>
        <p:spPr>
          <a:xfrm>
            <a:off x="1050290" y="1821180"/>
            <a:ext cx="4540250" cy="2828925"/>
          </a:xfrm>
          <a:prstGeom prst="rect">
            <a:avLst/>
          </a:prstGeom>
        </p:spPr>
      </p:pic>
      <p:pic>
        <p:nvPicPr>
          <p:cNvPr id="7" name="图片 6">
            <a:extLst>
              <a:ext uri="{FF2B5EF4-FFF2-40B4-BE49-F238E27FC236}">
                <a16:creationId xmlns:a16="http://schemas.microsoft.com/office/drawing/2014/main" id="{F70A66A6-5E1F-4DB6-BF28-A8A20B6322F2}"/>
              </a:ext>
            </a:extLst>
          </p:cNvPr>
          <p:cNvPicPr>
            <a:picLocks noChangeAspect="1"/>
          </p:cNvPicPr>
          <p:nvPr/>
        </p:nvPicPr>
        <p:blipFill>
          <a:blip r:embed="rId5"/>
          <a:stretch>
            <a:fillRect/>
          </a:stretch>
        </p:blipFill>
        <p:spPr>
          <a:xfrm>
            <a:off x="909320" y="5381625"/>
            <a:ext cx="3299460" cy="236220"/>
          </a:xfrm>
          <a:prstGeom prst="rect">
            <a:avLst/>
          </a:prstGeom>
        </p:spPr>
      </p:pic>
      <p:sp>
        <p:nvSpPr>
          <p:cNvPr id="8" name="文本框 7">
            <a:extLst>
              <a:ext uri="{FF2B5EF4-FFF2-40B4-BE49-F238E27FC236}">
                <a16:creationId xmlns:a16="http://schemas.microsoft.com/office/drawing/2014/main" id="{5BC4D803-6D93-472D-B0E4-A537A564A11D}"/>
              </a:ext>
            </a:extLst>
          </p:cNvPr>
          <p:cNvSpPr txBox="1"/>
          <p:nvPr/>
        </p:nvSpPr>
        <p:spPr>
          <a:xfrm>
            <a:off x="6240780" y="1863090"/>
            <a:ext cx="4645025" cy="2999740"/>
          </a:xfrm>
          <a:prstGeom prst="rect">
            <a:avLst/>
          </a:prstGeom>
          <a:noFill/>
        </p:spPr>
        <p:txBody>
          <a:bodyPr wrap="square" rtlCol="0">
            <a:spAutoFit/>
          </a:bodyPr>
          <a:lstStyle/>
          <a:p>
            <a:pPr>
              <a:lnSpc>
                <a:spcPct val="150000"/>
              </a:lnSpc>
            </a:pPr>
            <a:r>
              <a:rPr lang="zh-CN" altLang="en-US"/>
              <a:t>有14个样本，每个样本有4个特征</a:t>
            </a:r>
          </a:p>
          <a:p>
            <a:pPr>
              <a:lnSpc>
                <a:spcPct val="150000"/>
              </a:lnSpc>
            </a:pPr>
            <a:r>
              <a:rPr lang="zh-CN" altLang="en-US"/>
              <a:t>特征依次为：</a:t>
            </a:r>
          </a:p>
          <a:p>
            <a:pPr marL="285750" indent="-285750">
              <a:lnSpc>
                <a:spcPct val="150000"/>
              </a:lnSpc>
              <a:buFont typeface="Wingdings" panose="05000000000000000000" charset="0"/>
              <a:buChar char="ü"/>
            </a:pPr>
            <a:r>
              <a:rPr lang="zh-CN" altLang="en-US"/>
              <a:t>年龄：X</a:t>
            </a:r>
            <a:r>
              <a:rPr lang="zh-CN" altLang="en-US" baseline="-25000"/>
              <a:t>1</a:t>
            </a:r>
            <a:r>
              <a:rPr lang="zh-CN" altLang="en-US"/>
              <a:t>={青少年，中年，老年}</a:t>
            </a:r>
          </a:p>
          <a:p>
            <a:pPr marL="285750" indent="-285750">
              <a:lnSpc>
                <a:spcPct val="150000"/>
              </a:lnSpc>
              <a:buFont typeface="Wingdings" panose="05000000000000000000" charset="0"/>
              <a:buChar char="ü"/>
            </a:pPr>
            <a:r>
              <a:rPr lang="zh-CN" altLang="en-US"/>
              <a:t>收入层次：X</a:t>
            </a:r>
            <a:r>
              <a:rPr lang="zh-CN" altLang="en-US" baseline="-25000"/>
              <a:t>2</a:t>
            </a:r>
            <a:r>
              <a:rPr lang="zh-CN" altLang="en-US"/>
              <a:t>={高，中，低}</a:t>
            </a:r>
          </a:p>
          <a:p>
            <a:pPr marL="285750" indent="-285750">
              <a:lnSpc>
                <a:spcPct val="150000"/>
              </a:lnSpc>
              <a:buFont typeface="Wingdings" panose="05000000000000000000" charset="0"/>
              <a:buChar char="ü"/>
            </a:pPr>
            <a:r>
              <a:rPr lang="zh-CN" altLang="en-US"/>
              <a:t>是否单身：X</a:t>
            </a:r>
            <a:r>
              <a:rPr lang="zh-CN" altLang="en-US" baseline="-25000"/>
              <a:t>3</a:t>
            </a:r>
            <a:r>
              <a:rPr lang="zh-CN" altLang="en-US"/>
              <a:t>={否，是}</a:t>
            </a:r>
          </a:p>
          <a:p>
            <a:pPr marL="285750" indent="-285750">
              <a:lnSpc>
                <a:spcPct val="150000"/>
              </a:lnSpc>
              <a:buFont typeface="Wingdings" panose="05000000000000000000" charset="0"/>
              <a:buChar char="ü"/>
            </a:pPr>
            <a:r>
              <a:rPr lang="zh-CN" altLang="en-US"/>
              <a:t>信用等级：X</a:t>
            </a:r>
            <a:r>
              <a:rPr lang="zh-CN" altLang="en-US" baseline="-25000"/>
              <a:t>4</a:t>
            </a:r>
            <a:r>
              <a:rPr lang="zh-CN" altLang="en-US"/>
              <a:t>={一般，良好}</a:t>
            </a:r>
          </a:p>
          <a:p>
            <a:pPr>
              <a:lnSpc>
                <a:spcPct val="150000"/>
              </a:lnSpc>
            </a:pPr>
            <a:r>
              <a:rPr lang="zh-CN" altLang="en-US"/>
              <a:t>输出有2个分类：Y={是、否}</a:t>
            </a:r>
          </a:p>
        </p:txBody>
      </p:sp>
    </p:spTree>
    <p:extLst>
      <p:ext uri="{BB962C8B-B14F-4D97-AF65-F5344CB8AC3E}">
        <p14:creationId xmlns:p14="http://schemas.microsoft.com/office/powerpoint/2010/main" val="650054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8"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8D8831FE-6F17-4549-A439-4A901B853F7E}"/>
              </a:ext>
            </a:extLst>
          </p:cNvPr>
          <p:cNvSpPr txBox="1"/>
          <p:nvPr>
            <p:custDataLst>
              <p:tags r:id="rId1"/>
            </p:custDataLst>
          </p:nvPr>
        </p:nvSpPr>
        <p:spPr>
          <a:xfrm>
            <a:off x="0" y="312985"/>
            <a:ext cx="10974649" cy="608400"/>
          </a:xfrm>
          <a:prstGeom prst="rect">
            <a:avLst/>
          </a:prstGeom>
          <a:noFill/>
          <a:ln w="3175">
            <a:noFill/>
            <a:prstDash val="dash"/>
          </a:ln>
        </p:spPr>
        <p:txBody>
          <a:bodyPr wrap="square" lIns="90170" tIns="46990" rIns="90170" bIns="46990" anchor="b"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just">
              <a:lnSpc>
                <a:spcPct val="130000"/>
              </a:lnSpc>
              <a:spcAft>
                <a:spcPts val="800"/>
              </a:spcAft>
              <a:buClr>
                <a:schemeClr val="tx1">
                  <a:lumMod val="65000"/>
                  <a:lumOff val="35000"/>
                </a:schemeClr>
              </a:buClr>
              <a:buNone/>
            </a:pPr>
            <a:r>
              <a:rPr altLang="zh-CN" sz="3200" spc="100" dirty="0" err="1">
                <a:latin typeface="Arial" panose="020B0604020202020204" pitchFamily="34" charset="0"/>
                <a:ea typeface="微软雅黑" panose="020B0503020204020204" charset="-122"/>
                <a:sym typeface="Arial" panose="020B0604020202020204" pitchFamily="34" charset="0"/>
              </a:rPr>
              <a:t>朴素贝叶斯例子</a:t>
            </a:r>
            <a:endParaRPr lang="zh-CN" altLang="zh-CN" sz="3200" b="1" spc="100" dirty="0">
              <a:ln w="3175">
                <a:noFill/>
                <a:prstDash val="dash"/>
              </a:ln>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5" name="文本框 14">
            <a:extLst>
              <a:ext uri="{FF2B5EF4-FFF2-40B4-BE49-F238E27FC236}">
                <a16:creationId xmlns:a16="http://schemas.microsoft.com/office/drawing/2014/main" id="{9D7F25DE-1D89-452E-A5CA-7D7EAFDFF6A2}"/>
              </a:ext>
            </a:extLst>
          </p:cNvPr>
          <p:cNvSpPr txBox="1"/>
          <p:nvPr>
            <p:custDataLst>
              <p:tags r:id="rId2"/>
            </p:custDataLst>
          </p:nvPr>
        </p:nvSpPr>
        <p:spPr>
          <a:xfrm>
            <a:off x="739140" y="1745615"/>
            <a:ext cx="6815455" cy="2980055"/>
          </a:xfrm>
          <a:prstGeom prst="rect">
            <a:avLst/>
          </a:prstGeom>
          <a:noFill/>
        </p:spPr>
        <p:txBody>
          <a:bodyPr wrap="square" rtlCol="0" anchor="ctr" anchorCtr="0">
            <a:noAutofit/>
          </a:bodyPr>
          <a:lstStyle/>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已知购买记录：</a:t>
            </a: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待预测记录：</a:t>
            </a:r>
          </a:p>
        </p:txBody>
      </p:sp>
      <p:pic>
        <p:nvPicPr>
          <p:cNvPr id="6" name="图片 5">
            <a:extLst>
              <a:ext uri="{FF2B5EF4-FFF2-40B4-BE49-F238E27FC236}">
                <a16:creationId xmlns:a16="http://schemas.microsoft.com/office/drawing/2014/main" id="{A0AEF25A-3A74-4C32-8BEE-6FCE0CD287D4}"/>
              </a:ext>
            </a:extLst>
          </p:cNvPr>
          <p:cNvPicPr>
            <a:picLocks noChangeAspect="1"/>
          </p:cNvPicPr>
          <p:nvPr/>
        </p:nvPicPr>
        <p:blipFill>
          <a:blip r:embed="rId4"/>
          <a:stretch>
            <a:fillRect/>
          </a:stretch>
        </p:blipFill>
        <p:spPr>
          <a:xfrm>
            <a:off x="1050290" y="1821180"/>
            <a:ext cx="4540250" cy="2828925"/>
          </a:xfrm>
          <a:prstGeom prst="rect">
            <a:avLst/>
          </a:prstGeom>
        </p:spPr>
      </p:pic>
      <p:pic>
        <p:nvPicPr>
          <p:cNvPr id="7" name="图片 6">
            <a:extLst>
              <a:ext uri="{FF2B5EF4-FFF2-40B4-BE49-F238E27FC236}">
                <a16:creationId xmlns:a16="http://schemas.microsoft.com/office/drawing/2014/main" id="{FDF6352F-FDA6-4D76-92E2-281EDCAEE6AF}"/>
              </a:ext>
            </a:extLst>
          </p:cNvPr>
          <p:cNvPicPr>
            <a:picLocks noChangeAspect="1"/>
          </p:cNvPicPr>
          <p:nvPr/>
        </p:nvPicPr>
        <p:blipFill>
          <a:blip r:embed="rId5"/>
          <a:stretch>
            <a:fillRect/>
          </a:stretch>
        </p:blipFill>
        <p:spPr>
          <a:xfrm>
            <a:off x="909320" y="5381625"/>
            <a:ext cx="3299460" cy="236220"/>
          </a:xfrm>
          <a:prstGeom prst="rect">
            <a:avLst/>
          </a:prstGeom>
        </p:spPr>
      </p:pic>
      <p:sp>
        <p:nvSpPr>
          <p:cNvPr id="8" name="文本框 7">
            <a:extLst>
              <a:ext uri="{FF2B5EF4-FFF2-40B4-BE49-F238E27FC236}">
                <a16:creationId xmlns:a16="http://schemas.microsoft.com/office/drawing/2014/main" id="{E3C81C77-2E72-48D2-8D25-8B6B0C2A2FC1}"/>
              </a:ext>
            </a:extLst>
          </p:cNvPr>
          <p:cNvSpPr txBox="1"/>
          <p:nvPr/>
        </p:nvSpPr>
        <p:spPr>
          <a:xfrm>
            <a:off x="6240780" y="1821180"/>
            <a:ext cx="4645025" cy="2444115"/>
          </a:xfrm>
          <a:prstGeom prst="rect">
            <a:avLst/>
          </a:prstGeom>
          <a:noFill/>
        </p:spPr>
        <p:txBody>
          <a:bodyPr wrap="square" rtlCol="0">
            <a:spAutoFit/>
          </a:bodyPr>
          <a:lstStyle/>
          <a:p>
            <a:pPr>
              <a:lnSpc>
                <a:spcPct val="170000"/>
              </a:lnSpc>
            </a:pPr>
            <a:r>
              <a:rPr lang="zh-CN" altLang="en-US" dirty="0"/>
              <a:t>学习先验概率：P(Y=C</a:t>
            </a:r>
            <a:r>
              <a:rPr lang="zh-CN" altLang="en-US" baseline="-25000" dirty="0"/>
              <a:t>j</a:t>
            </a:r>
            <a:r>
              <a:rPr lang="zh-CN" altLang="en-US" dirty="0"/>
              <a:t>),j=1,2.......k</a:t>
            </a:r>
          </a:p>
          <a:p>
            <a:pPr>
              <a:lnSpc>
                <a:spcPct val="170000"/>
              </a:lnSpc>
            </a:pPr>
            <a:r>
              <a:rPr lang="zh-CN" altLang="en-US" dirty="0"/>
              <a:t>P(Y=是)=9/14           P(Y=否）=5/14</a:t>
            </a:r>
          </a:p>
          <a:p>
            <a:pPr>
              <a:lnSpc>
                <a:spcPct val="170000"/>
              </a:lnSpc>
            </a:pPr>
            <a:r>
              <a:rPr lang="zh-CN" altLang="en-US" dirty="0"/>
              <a:t>为了计算联合分布概率，需要计算以下项：</a:t>
            </a:r>
          </a:p>
          <a:p>
            <a:pPr>
              <a:lnSpc>
                <a:spcPct val="170000"/>
              </a:lnSpc>
            </a:pPr>
            <a:r>
              <a:rPr lang="zh-CN" altLang="en-US" dirty="0"/>
              <a:t>                                         P(X</a:t>
            </a:r>
            <a:r>
              <a:rPr lang="zh-CN" altLang="en-US" baseline="-25000" dirty="0"/>
              <a:t>i</a:t>
            </a:r>
            <a:r>
              <a:rPr lang="zh-CN" altLang="en-US" dirty="0"/>
              <a:t>=x</a:t>
            </a:r>
            <a:r>
              <a:rPr lang="zh-CN" altLang="en-US" baseline="-25000" dirty="0"/>
              <a:t>i</a:t>
            </a:r>
            <a:r>
              <a:rPr lang="zh-CN" altLang="en-US" dirty="0"/>
              <a:t>|Y=C</a:t>
            </a:r>
            <a:r>
              <a:rPr lang="zh-CN" altLang="en-US" baseline="-25000" dirty="0"/>
              <a:t>j</a:t>
            </a:r>
            <a:r>
              <a:rPr lang="zh-CN" altLang="en-US" dirty="0"/>
              <a:t>)</a:t>
            </a:r>
          </a:p>
          <a:p>
            <a:pPr>
              <a:lnSpc>
                <a:spcPct val="170000"/>
              </a:lnSpc>
            </a:pPr>
            <a:r>
              <a:rPr lang="zh-CN" altLang="en-US" dirty="0"/>
              <a:t>由贝叶斯公式：</a:t>
            </a:r>
          </a:p>
        </p:txBody>
      </p:sp>
      <p:pic>
        <p:nvPicPr>
          <p:cNvPr id="9" name="图片 8">
            <a:extLst>
              <a:ext uri="{FF2B5EF4-FFF2-40B4-BE49-F238E27FC236}">
                <a16:creationId xmlns:a16="http://schemas.microsoft.com/office/drawing/2014/main" id="{214330EF-EBB6-4F7D-B23E-7F20ACA64E95}"/>
              </a:ext>
            </a:extLst>
          </p:cNvPr>
          <p:cNvPicPr>
            <a:picLocks noChangeAspect="1"/>
          </p:cNvPicPr>
          <p:nvPr/>
        </p:nvPicPr>
        <p:blipFill>
          <a:blip r:embed="rId6"/>
          <a:stretch>
            <a:fillRect/>
          </a:stretch>
        </p:blipFill>
        <p:spPr>
          <a:xfrm>
            <a:off x="7246302" y="3235642"/>
            <a:ext cx="1607820" cy="525780"/>
          </a:xfrm>
          <a:prstGeom prst="rect">
            <a:avLst/>
          </a:prstGeom>
        </p:spPr>
      </p:pic>
      <p:pic>
        <p:nvPicPr>
          <p:cNvPr id="10" name="图片 9">
            <a:extLst>
              <a:ext uri="{FF2B5EF4-FFF2-40B4-BE49-F238E27FC236}">
                <a16:creationId xmlns:a16="http://schemas.microsoft.com/office/drawing/2014/main" id="{E294C4A4-3192-4299-9C9A-6AC379E40CF2}"/>
              </a:ext>
            </a:extLst>
          </p:cNvPr>
          <p:cNvPicPr>
            <a:picLocks noChangeAspect="1"/>
          </p:cNvPicPr>
          <p:nvPr/>
        </p:nvPicPr>
        <p:blipFill>
          <a:blip r:embed="rId7"/>
          <a:stretch>
            <a:fillRect/>
          </a:stretch>
        </p:blipFill>
        <p:spPr>
          <a:xfrm>
            <a:off x="6511290" y="4376420"/>
            <a:ext cx="3642360" cy="563880"/>
          </a:xfrm>
          <a:prstGeom prst="rect">
            <a:avLst/>
          </a:prstGeom>
        </p:spPr>
      </p:pic>
    </p:spTree>
    <p:extLst>
      <p:ext uri="{BB962C8B-B14F-4D97-AF65-F5344CB8AC3E}">
        <p14:creationId xmlns:p14="http://schemas.microsoft.com/office/powerpoint/2010/main" val="3416784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blinds(horizontal)">
                                      <p:cBhvr>
                                        <p:cTn id="10" dur="500"/>
                                        <p:tgtEl>
                                          <p:spTgt spid="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blinds(horizontal)">
                                      <p:cBhvr>
                                        <p:cTn id="15" dur="500"/>
                                        <p:tgtEl>
                                          <p:spTgt spid="8">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xEl>
                                              <p:pRg st="3" end="3"/>
                                            </p:txEl>
                                          </p:spTgt>
                                        </p:tgtEl>
                                        <p:attrNameLst>
                                          <p:attrName>style.visibility</p:attrName>
                                        </p:attrNameLst>
                                      </p:cBhvr>
                                      <p:to>
                                        <p:strVal val="visible"/>
                                      </p:to>
                                    </p:set>
                                    <p:animEffect transition="in" filter="blinds(horizontal)">
                                      <p:cBhvr>
                                        <p:cTn id="18" dur="500"/>
                                        <p:tgtEl>
                                          <p:spTgt spid="8">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linds(horizontal)">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blinds(horizontal)">
                                      <p:cBhvr>
                                        <p:cTn id="26" dur="500"/>
                                        <p:tgtEl>
                                          <p:spTgt spid="8">
                                            <p:txEl>
                                              <p:pRg st="4" end="4"/>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linds(horizontal)">
                                      <p:cBhvr>
                                        <p:cTn id="2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uiExpand="1" build="p"/>
      <p:bldP spid="8"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99226CEC-0856-405D-91FA-A932CC9080E3}"/>
              </a:ext>
            </a:extLst>
          </p:cNvPr>
          <p:cNvSpPr txBox="1"/>
          <p:nvPr>
            <p:custDataLst>
              <p:tags r:id="rId1"/>
            </p:custDataLst>
          </p:nvPr>
        </p:nvSpPr>
        <p:spPr>
          <a:xfrm>
            <a:off x="103215" y="452720"/>
            <a:ext cx="10974649" cy="608400"/>
          </a:xfrm>
          <a:prstGeom prst="rect">
            <a:avLst/>
          </a:prstGeom>
          <a:noFill/>
          <a:ln w="3175">
            <a:noFill/>
            <a:prstDash val="dash"/>
          </a:ln>
        </p:spPr>
        <p:txBody>
          <a:bodyPr wrap="square" lIns="90170" tIns="46990" rIns="90170" bIns="46990" anchor="b"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just">
              <a:lnSpc>
                <a:spcPct val="130000"/>
              </a:lnSpc>
              <a:spcAft>
                <a:spcPts val="800"/>
              </a:spcAft>
              <a:buClr>
                <a:schemeClr val="tx1">
                  <a:lumMod val="65000"/>
                  <a:lumOff val="35000"/>
                </a:schemeClr>
              </a:buClr>
              <a:buNone/>
            </a:pPr>
            <a:r>
              <a:rPr altLang="zh-CN" sz="3200" spc="100" dirty="0" err="1">
                <a:latin typeface="Arial" panose="020B0604020202020204" pitchFamily="34" charset="0"/>
                <a:ea typeface="微软雅黑" panose="020B0503020204020204" charset="-122"/>
                <a:sym typeface="Arial" panose="020B0604020202020204" pitchFamily="34" charset="0"/>
              </a:rPr>
              <a:t>朴素贝叶斯例子</a:t>
            </a:r>
            <a:endParaRPr lang="zh-CN" altLang="zh-CN" sz="3200" b="1" spc="100" dirty="0">
              <a:ln w="3175">
                <a:noFill/>
                <a:prstDash val="dash"/>
              </a:ln>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5" name="文本框 14">
            <a:extLst>
              <a:ext uri="{FF2B5EF4-FFF2-40B4-BE49-F238E27FC236}">
                <a16:creationId xmlns:a16="http://schemas.microsoft.com/office/drawing/2014/main" id="{2A990225-D042-4830-911C-56D82C3F6E96}"/>
              </a:ext>
            </a:extLst>
          </p:cNvPr>
          <p:cNvSpPr txBox="1"/>
          <p:nvPr>
            <p:custDataLst>
              <p:tags r:id="rId2"/>
            </p:custDataLst>
          </p:nvPr>
        </p:nvSpPr>
        <p:spPr>
          <a:xfrm>
            <a:off x="739140" y="1745615"/>
            <a:ext cx="6815455" cy="2980055"/>
          </a:xfrm>
          <a:prstGeom prst="rect">
            <a:avLst/>
          </a:prstGeom>
          <a:noFill/>
        </p:spPr>
        <p:txBody>
          <a:bodyPr wrap="square" rtlCol="0" anchor="ctr" anchorCtr="0">
            <a:noAutofit/>
          </a:bodyPr>
          <a:lstStyle/>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已知购买记录：</a:t>
            </a: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待预测记录：</a:t>
            </a:r>
          </a:p>
        </p:txBody>
      </p:sp>
      <p:pic>
        <p:nvPicPr>
          <p:cNvPr id="6" name="图片 5">
            <a:extLst>
              <a:ext uri="{FF2B5EF4-FFF2-40B4-BE49-F238E27FC236}">
                <a16:creationId xmlns:a16="http://schemas.microsoft.com/office/drawing/2014/main" id="{961B99A3-D0AB-49AE-BFB9-64C01C8BAD29}"/>
              </a:ext>
            </a:extLst>
          </p:cNvPr>
          <p:cNvPicPr>
            <a:picLocks noChangeAspect="1"/>
          </p:cNvPicPr>
          <p:nvPr/>
        </p:nvPicPr>
        <p:blipFill>
          <a:blip r:embed="rId4"/>
          <a:stretch>
            <a:fillRect/>
          </a:stretch>
        </p:blipFill>
        <p:spPr>
          <a:xfrm>
            <a:off x="1077278" y="1866801"/>
            <a:ext cx="4540250" cy="2828925"/>
          </a:xfrm>
          <a:prstGeom prst="rect">
            <a:avLst/>
          </a:prstGeom>
        </p:spPr>
      </p:pic>
      <p:pic>
        <p:nvPicPr>
          <p:cNvPr id="7" name="图片 6">
            <a:extLst>
              <a:ext uri="{FF2B5EF4-FFF2-40B4-BE49-F238E27FC236}">
                <a16:creationId xmlns:a16="http://schemas.microsoft.com/office/drawing/2014/main" id="{C71D3DA4-A5A6-43F9-9FD4-88D1F5DE97B3}"/>
              </a:ext>
            </a:extLst>
          </p:cNvPr>
          <p:cNvPicPr>
            <a:picLocks noChangeAspect="1"/>
          </p:cNvPicPr>
          <p:nvPr/>
        </p:nvPicPr>
        <p:blipFill>
          <a:blip r:embed="rId5"/>
          <a:stretch>
            <a:fillRect/>
          </a:stretch>
        </p:blipFill>
        <p:spPr>
          <a:xfrm>
            <a:off x="909320" y="5381625"/>
            <a:ext cx="3299460" cy="236220"/>
          </a:xfrm>
          <a:prstGeom prst="rect">
            <a:avLst/>
          </a:prstGeom>
        </p:spPr>
      </p:pic>
      <p:sp>
        <p:nvSpPr>
          <p:cNvPr id="8" name="文本框 7">
            <a:extLst>
              <a:ext uri="{FF2B5EF4-FFF2-40B4-BE49-F238E27FC236}">
                <a16:creationId xmlns:a16="http://schemas.microsoft.com/office/drawing/2014/main" id="{A355ADC6-8509-449C-A063-812C37F5D5AC}"/>
              </a:ext>
            </a:extLst>
          </p:cNvPr>
          <p:cNvSpPr txBox="1"/>
          <p:nvPr/>
        </p:nvSpPr>
        <p:spPr>
          <a:xfrm>
            <a:off x="5887720" y="1821180"/>
            <a:ext cx="5666740" cy="2971165"/>
          </a:xfrm>
          <a:prstGeom prst="rect">
            <a:avLst/>
          </a:prstGeom>
          <a:noFill/>
        </p:spPr>
        <p:txBody>
          <a:bodyPr wrap="square" rtlCol="0">
            <a:spAutoFit/>
          </a:bodyPr>
          <a:lstStyle/>
          <a:p>
            <a:pPr>
              <a:lnSpc>
                <a:spcPct val="130000"/>
              </a:lnSpc>
            </a:pPr>
            <a:r>
              <a:rPr lang="zh-CN" altLang="en-US" sz="1600" dirty="0"/>
              <a:t>计算年龄X</a:t>
            </a:r>
            <a:r>
              <a:rPr lang="zh-CN" altLang="en-US" sz="1600" baseline="-25000" dirty="0"/>
              <a:t>1</a:t>
            </a:r>
            <a:r>
              <a:rPr lang="zh-CN" altLang="en-US" sz="1600" dirty="0"/>
              <a:t>={青少年，中年，老年}：</a:t>
            </a:r>
          </a:p>
          <a:p>
            <a:pPr>
              <a:lnSpc>
                <a:spcPct val="130000"/>
              </a:lnSpc>
            </a:pPr>
            <a:r>
              <a:rPr lang="zh-CN" altLang="en-US" sz="1600" dirty="0"/>
              <a:t>P(X</a:t>
            </a:r>
            <a:r>
              <a:rPr lang="zh-CN" altLang="en-US" sz="1600" baseline="-25000" dirty="0"/>
              <a:t>1</a:t>
            </a:r>
            <a:r>
              <a:rPr lang="zh-CN" altLang="en-US" sz="1600" dirty="0"/>
              <a:t>=青少年</a:t>
            </a:r>
            <a:r>
              <a:rPr lang="en-US" altLang="zh-CN" sz="1600" dirty="0"/>
              <a:t>|</a:t>
            </a:r>
            <a:r>
              <a:rPr lang="zh-CN" altLang="en-US" sz="1600" dirty="0"/>
              <a:t>Y=是)=</a:t>
            </a:r>
            <a:r>
              <a:rPr lang="zh-CN" altLang="en-US" sz="1600" u="sng" dirty="0"/>
              <a:t>P(X</a:t>
            </a:r>
            <a:r>
              <a:rPr lang="zh-CN" altLang="en-US" sz="1600" u="sng" baseline="-25000" dirty="0"/>
              <a:t>i</a:t>
            </a:r>
            <a:r>
              <a:rPr lang="zh-CN" altLang="en-US" sz="1600" u="sng" dirty="0"/>
              <a:t>=青少年</a:t>
            </a:r>
            <a:r>
              <a:rPr lang="en-US" altLang="zh-CN" sz="1600" u="sng" dirty="0"/>
              <a:t>,</a:t>
            </a:r>
            <a:r>
              <a:rPr lang="zh-CN" altLang="en-US" sz="1600" u="sng" dirty="0"/>
              <a:t>Y=是)</a:t>
            </a:r>
          </a:p>
          <a:p>
            <a:pPr>
              <a:lnSpc>
                <a:spcPct val="130000"/>
              </a:lnSpc>
            </a:pPr>
            <a:r>
              <a:rPr lang="zh-CN" altLang="en-US" sz="1600" dirty="0"/>
              <a:t>                                          </a:t>
            </a:r>
            <a:r>
              <a:rPr lang="zh-CN" altLang="en-US" sz="1600" dirty="0">
                <a:sym typeface="+mn-ea"/>
              </a:rPr>
              <a:t>/P（Y=是）</a:t>
            </a:r>
            <a:r>
              <a:rPr lang="zh-CN" altLang="en-US" sz="1600" dirty="0"/>
              <a:t>        </a:t>
            </a:r>
          </a:p>
          <a:p>
            <a:pPr>
              <a:lnSpc>
                <a:spcPct val="130000"/>
              </a:lnSpc>
            </a:pPr>
            <a:r>
              <a:rPr lang="en-US" altLang="zh-CN" sz="1600" dirty="0"/>
              <a:t>                                  =</a:t>
            </a:r>
            <a:r>
              <a:rPr lang="zh-CN" altLang="en-US" sz="1600" dirty="0"/>
              <a:t>（2/14）/（9/14）=2/9</a:t>
            </a:r>
          </a:p>
          <a:p>
            <a:pPr>
              <a:lnSpc>
                <a:spcPct val="130000"/>
              </a:lnSpc>
            </a:pPr>
            <a:r>
              <a:rPr lang="zh-CN" altLang="en-US" sz="1600" dirty="0"/>
              <a:t>P（青少年｜否）=（3/14）/（5/14）=3/5</a:t>
            </a:r>
          </a:p>
          <a:p>
            <a:pPr>
              <a:lnSpc>
                <a:spcPct val="130000"/>
              </a:lnSpc>
            </a:pPr>
            <a:r>
              <a:rPr lang="zh-CN" altLang="en-US" sz="1600" dirty="0"/>
              <a:t>P（中年｜否）=（4/14）/（9/14）=4/9</a:t>
            </a:r>
          </a:p>
          <a:p>
            <a:pPr>
              <a:lnSpc>
                <a:spcPct val="130000"/>
              </a:lnSpc>
            </a:pPr>
            <a:r>
              <a:rPr lang="zh-CN" altLang="en-US" sz="1600" dirty="0"/>
              <a:t>P(中年｜是）=（0/14）/（5/14）=0</a:t>
            </a:r>
          </a:p>
          <a:p>
            <a:pPr>
              <a:lnSpc>
                <a:spcPct val="130000"/>
              </a:lnSpc>
            </a:pPr>
            <a:r>
              <a:rPr lang="zh-CN" altLang="en-US" sz="1600" dirty="0"/>
              <a:t>P（老年｜否）=（3/14）/（9/14）=3/9</a:t>
            </a:r>
          </a:p>
          <a:p>
            <a:pPr>
              <a:lnSpc>
                <a:spcPct val="130000"/>
              </a:lnSpc>
            </a:pPr>
            <a:r>
              <a:rPr lang="zh-CN" altLang="en-US" sz="1600" dirty="0"/>
              <a:t>P(老年｜是）=（2/14）/（5/14）=2/5</a:t>
            </a:r>
          </a:p>
        </p:txBody>
      </p:sp>
      <p:sp>
        <p:nvSpPr>
          <p:cNvPr id="9" name="圆角矩形 16">
            <a:extLst>
              <a:ext uri="{FF2B5EF4-FFF2-40B4-BE49-F238E27FC236}">
                <a16:creationId xmlns:a16="http://schemas.microsoft.com/office/drawing/2014/main" id="{46A9849F-9934-4652-99E7-F4D9ABA007BC}"/>
              </a:ext>
            </a:extLst>
          </p:cNvPr>
          <p:cNvSpPr/>
          <p:nvPr/>
        </p:nvSpPr>
        <p:spPr>
          <a:xfrm>
            <a:off x="769620" y="3556635"/>
            <a:ext cx="5118100" cy="221615"/>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17">
            <a:extLst>
              <a:ext uri="{FF2B5EF4-FFF2-40B4-BE49-F238E27FC236}">
                <a16:creationId xmlns:a16="http://schemas.microsoft.com/office/drawing/2014/main" id="{32E287F8-BA3F-4430-A758-71A167D5F060}"/>
              </a:ext>
            </a:extLst>
          </p:cNvPr>
          <p:cNvSpPr/>
          <p:nvPr/>
        </p:nvSpPr>
        <p:spPr>
          <a:xfrm>
            <a:off x="739140" y="3879215"/>
            <a:ext cx="5118100" cy="221615"/>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8">
            <a:extLst>
              <a:ext uri="{FF2B5EF4-FFF2-40B4-BE49-F238E27FC236}">
                <a16:creationId xmlns:a16="http://schemas.microsoft.com/office/drawing/2014/main" id="{65EE8813-8B52-438E-816C-0522EDC6439D}"/>
              </a:ext>
            </a:extLst>
          </p:cNvPr>
          <p:cNvSpPr/>
          <p:nvPr/>
        </p:nvSpPr>
        <p:spPr>
          <a:xfrm>
            <a:off x="7862253" y="2191652"/>
            <a:ext cx="2035175" cy="192405"/>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60540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linds(horizontal)">
                                      <p:cBhvr>
                                        <p:cTn id="12" dur="500"/>
                                        <p:tgtEl>
                                          <p:spTgt spid="8">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blinds(horizontal)">
                                      <p:cBhvr>
                                        <p:cTn id="15" dur="500"/>
                                        <p:tgtEl>
                                          <p:spTgt spid="8">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xEl>
                                              <p:pRg st="3" end="3"/>
                                            </p:txEl>
                                          </p:spTgt>
                                        </p:tgtEl>
                                        <p:attrNameLst>
                                          <p:attrName>style.visibility</p:attrName>
                                        </p:attrNameLst>
                                      </p:cBhvr>
                                      <p:to>
                                        <p:strVal val="visible"/>
                                      </p:to>
                                    </p:set>
                                    <p:animEffect transition="in" filter="blinds(horizontal)">
                                      <p:cBhvr>
                                        <p:cTn id="18" dur="500"/>
                                        <p:tgtEl>
                                          <p:spTgt spid="8">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linds(horizontal)">
                                      <p:cBhvr>
                                        <p:cTn id="26" dur="500"/>
                                        <p:tgtEl>
                                          <p:spTgt spid="9"/>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linds(horizontal)">
                                      <p:cBhvr>
                                        <p:cTn id="29" dur="500"/>
                                        <p:tgtEl>
                                          <p:spTgt spid="11"/>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blinds(horizontal)">
                                      <p:cBhvr>
                                        <p:cTn id="32" dur="500"/>
                                        <p:tgtEl>
                                          <p:spTgt spid="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Effect transition="in" filter="blinds(horizontal)">
                                      <p:cBhvr>
                                        <p:cTn id="37" dur="500"/>
                                        <p:tgtEl>
                                          <p:spTgt spid="8">
                                            <p:txEl>
                                              <p:pRg st="5" end="5"/>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8">
                                            <p:txEl>
                                              <p:pRg st="6" end="6"/>
                                            </p:txEl>
                                          </p:spTgt>
                                        </p:tgtEl>
                                        <p:attrNameLst>
                                          <p:attrName>style.visibility</p:attrName>
                                        </p:attrNameLst>
                                      </p:cBhvr>
                                      <p:to>
                                        <p:strVal val="visible"/>
                                      </p:to>
                                    </p:set>
                                    <p:animEffect transition="in" filter="blinds(horizontal)">
                                      <p:cBhvr>
                                        <p:cTn id="40" dur="500"/>
                                        <p:tgtEl>
                                          <p:spTgt spid="8">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8">
                                            <p:txEl>
                                              <p:pRg st="7" end="7"/>
                                            </p:txEl>
                                          </p:spTgt>
                                        </p:tgtEl>
                                        <p:attrNameLst>
                                          <p:attrName>style.visibility</p:attrName>
                                        </p:attrNameLst>
                                      </p:cBhvr>
                                      <p:to>
                                        <p:strVal val="visible"/>
                                      </p:to>
                                    </p:set>
                                    <p:animEffect transition="in" filter="blinds(horizontal)">
                                      <p:cBhvr>
                                        <p:cTn id="45" dur="500"/>
                                        <p:tgtEl>
                                          <p:spTgt spid="8">
                                            <p:txEl>
                                              <p:pRg st="7" end="7"/>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8">
                                            <p:txEl>
                                              <p:pRg st="8" end="8"/>
                                            </p:txEl>
                                          </p:spTgt>
                                        </p:tgtEl>
                                        <p:attrNameLst>
                                          <p:attrName>style.visibility</p:attrName>
                                        </p:attrNameLst>
                                      </p:cBhvr>
                                      <p:to>
                                        <p:strVal val="visible"/>
                                      </p:to>
                                    </p:set>
                                    <p:animEffect transition="in" filter="blinds(horizontal)">
                                      <p:cBhvr>
                                        <p:cTn id="48"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uiExpand="1" build="p"/>
      <p:bldP spid="8" grpId="1"/>
      <p:bldP spid="9" grpId="0" animBg="1"/>
      <p:bldP spid="9" grpId="1" animBg="1"/>
      <p:bldP spid="10" grpId="0" animBg="1"/>
      <p:bldP spid="10" grpId="1" animBg="1"/>
      <p:bldP spid="11" grpId="0" bldLvl="0" animBg="1"/>
      <p:bldP spid="11"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
            <a:extLst>
              <a:ext uri="{FF2B5EF4-FFF2-40B4-BE49-F238E27FC236}">
                <a16:creationId xmlns:a16="http://schemas.microsoft.com/office/drawing/2014/main" id="{B309B544-5F26-45DF-9EA8-977DD82603F2}"/>
              </a:ext>
            </a:extLst>
          </p:cNvPr>
          <p:cNvSpPr/>
          <p:nvPr>
            <p:custDataLst>
              <p:tags r:id="rId1"/>
            </p:custDataLst>
          </p:nvPr>
        </p:nvSpPr>
        <p:spPr>
          <a:xfrm>
            <a:off x="628084" y="1381760"/>
            <a:ext cx="10974649" cy="4572000"/>
          </a:xfrm>
          <a:prstGeom prst="rect">
            <a:avLst/>
          </a:prstGeom>
          <a:solidFill>
            <a:schemeClr val="bg2"/>
          </a:solidFill>
          <a:ln>
            <a:noFill/>
          </a:ln>
          <a:effectLst>
            <a:outerShdw blurRad="127000" dist="38100" dir="5400000" algn="t"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1" lang="zh-CN" altLang="en-US" sz="1600" b="1"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4" name="Title 6">
            <a:extLst>
              <a:ext uri="{FF2B5EF4-FFF2-40B4-BE49-F238E27FC236}">
                <a16:creationId xmlns:a16="http://schemas.microsoft.com/office/drawing/2014/main" id="{9FF545B4-8513-400D-AF38-3FDBDD51ECA6}"/>
              </a:ext>
            </a:extLst>
          </p:cNvPr>
          <p:cNvSpPr txBox="1"/>
          <p:nvPr>
            <p:custDataLst>
              <p:tags r:id="rId2"/>
            </p:custDataLst>
          </p:nvPr>
        </p:nvSpPr>
        <p:spPr>
          <a:xfrm>
            <a:off x="580459" y="306035"/>
            <a:ext cx="10974649" cy="608400"/>
          </a:xfrm>
          <a:prstGeom prst="rect">
            <a:avLst/>
          </a:prstGeom>
          <a:noFill/>
          <a:ln w="3175">
            <a:noFill/>
            <a:prstDash val="dash"/>
          </a:ln>
        </p:spPr>
        <p:txBody>
          <a:bodyPr wrap="square" lIns="90170" tIns="46990" rIns="90170" bIns="46990" anchor="b"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just">
              <a:lnSpc>
                <a:spcPct val="130000"/>
              </a:lnSpc>
              <a:spcAft>
                <a:spcPts val="800"/>
              </a:spcAft>
              <a:buClr>
                <a:schemeClr val="tx1">
                  <a:lumMod val="65000"/>
                  <a:lumOff val="35000"/>
                </a:schemeClr>
              </a:buClr>
              <a:buNone/>
            </a:pPr>
            <a:r>
              <a:rPr altLang="zh-CN" sz="3200" spc="100" dirty="0" err="1">
                <a:latin typeface="Arial" panose="020B0604020202020204" pitchFamily="34" charset="0"/>
                <a:ea typeface="微软雅黑" panose="020B0503020204020204" charset="-122"/>
                <a:sym typeface="Arial" panose="020B0604020202020204" pitchFamily="34" charset="0"/>
              </a:rPr>
              <a:t>朴素贝叶斯例子</a:t>
            </a:r>
            <a:endParaRPr lang="zh-CN" altLang="zh-CN" sz="3200" b="1" spc="100" dirty="0">
              <a:ln w="3175">
                <a:noFill/>
                <a:prstDash val="dash"/>
              </a:ln>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5" name="文本框 14">
            <a:extLst>
              <a:ext uri="{FF2B5EF4-FFF2-40B4-BE49-F238E27FC236}">
                <a16:creationId xmlns:a16="http://schemas.microsoft.com/office/drawing/2014/main" id="{D9E24061-CF02-4BF8-A650-76AD26521FBE}"/>
              </a:ext>
            </a:extLst>
          </p:cNvPr>
          <p:cNvSpPr txBox="1"/>
          <p:nvPr>
            <p:custDataLst>
              <p:tags r:id="rId3"/>
            </p:custDataLst>
          </p:nvPr>
        </p:nvSpPr>
        <p:spPr>
          <a:xfrm>
            <a:off x="739140" y="1745615"/>
            <a:ext cx="6815455" cy="2980055"/>
          </a:xfrm>
          <a:prstGeom prst="rect">
            <a:avLst/>
          </a:prstGeom>
          <a:noFill/>
        </p:spPr>
        <p:txBody>
          <a:bodyPr wrap="square" rtlCol="0" anchor="ctr" anchorCtr="0">
            <a:noAutofit/>
          </a:bodyPr>
          <a:lstStyle/>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已知购买记录：</a:t>
            </a: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待预测记录：</a:t>
            </a:r>
          </a:p>
        </p:txBody>
      </p:sp>
      <p:pic>
        <p:nvPicPr>
          <p:cNvPr id="6" name="图片 5">
            <a:extLst>
              <a:ext uri="{FF2B5EF4-FFF2-40B4-BE49-F238E27FC236}">
                <a16:creationId xmlns:a16="http://schemas.microsoft.com/office/drawing/2014/main" id="{04C4B36E-DAA2-497D-93A6-22B5FD13F61C}"/>
              </a:ext>
            </a:extLst>
          </p:cNvPr>
          <p:cNvPicPr>
            <a:picLocks noChangeAspect="1"/>
          </p:cNvPicPr>
          <p:nvPr/>
        </p:nvPicPr>
        <p:blipFill>
          <a:blip r:embed="rId5"/>
          <a:stretch>
            <a:fillRect/>
          </a:stretch>
        </p:blipFill>
        <p:spPr>
          <a:xfrm>
            <a:off x="1050290" y="1821180"/>
            <a:ext cx="4540250" cy="2828925"/>
          </a:xfrm>
          <a:prstGeom prst="rect">
            <a:avLst/>
          </a:prstGeom>
        </p:spPr>
      </p:pic>
      <p:pic>
        <p:nvPicPr>
          <p:cNvPr id="7" name="图片 6">
            <a:extLst>
              <a:ext uri="{FF2B5EF4-FFF2-40B4-BE49-F238E27FC236}">
                <a16:creationId xmlns:a16="http://schemas.microsoft.com/office/drawing/2014/main" id="{3E9A199C-FF56-4A7B-A78E-D0D12FF16E2E}"/>
              </a:ext>
            </a:extLst>
          </p:cNvPr>
          <p:cNvPicPr>
            <a:picLocks noChangeAspect="1"/>
          </p:cNvPicPr>
          <p:nvPr/>
        </p:nvPicPr>
        <p:blipFill>
          <a:blip r:embed="rId6"/>
          <a:stretch>
            <a:fillRect/>
          </a:stretch>
        </p:blipFill>
        <p:spPr>
          <a:xfrm>
            <a:off x="909320" y="5381625"/>
            <a:ext cx="3299460" cy="236220"/>
          </a:xfrm>
          <a:prstGeom prst="rect">
            <a:avLst/>
          </a:prstGeom>
        </p:spPr>
      </p:pic>
      <p:sp>
        <p:nvSpPr>
          <p:cNvPr id="8" name="文本框 7">
            <a:extLst>
              <a:ext uri="{FF2B5EF4-FFF2-40B4-BE49-F238E27FC236}">
                <a16:creationId xmlns:a16="http://schemas.microsoft.com/office/drawing/2014/main" id="{CFD8B193-3868-4606-A1CD-4287BDF197CB}"/>
              </a:ext>
            </a:extLst>
          </p:cNvPr>
          <p:cNvSpPr txBox="1"/>
          <p:nvPr/>
        </p:nvSpPr>
        <p:spPr>
          <a:xfrm>
            <a:off x="6296025" y="1920240"/>
            <a:ext cx="5666740" cy="3017520"/>
          </a:xfrm>
          <a:prstGeom prst="rect">
            <a:avLst/>
          </a:prstGeom>
          <a:noFill/>
        </p:spPr>
        <p:txBody>
          <a:bodyPr wrap="square" rtlCol="0">
            <a:spAutoFit/>
          </a:bodyPr>
          <a:lstStyle/>
          <a:p>
            <a:pPr>
              <a:lnSpc>
                <a:spcPct val="170000"/>
              </a:lnSpc>
            </a:pPr>
            <a:r>
              <a:rPr lang="zh-CN" altLang="en-US" sz="1600" dirty="0"/>
              <a:t>计算收入层次X</a:t>
            </a:r>
            <a:r>
              <a:rPr lang="zh-CN" altLang="en-US" sz="1600" baseline="-25000" dirty="0"/>
              <a:t>2</a:t>
            </a:r>
            <a:r>
              <a:rPr lang="zh-CN" altLang="en-US" sz="1600" dirty="0"/>
              <a:t>={高，中，低}</a:t>
            </a:r>
          </a:p>
          <a:p>
            <a:pPr>
              <a:lnSpc>
                <a:spcPct val="170000"/>
              </a:lnSpc>
            </a:pPr>
            <a:r>
              <a:rPr lang="zh-CN" altLang="en-US" sz="1600" dirty="0"/>
              <a:t>P(高｜是）=（2/14）/（9/14）=2/9</a:t>
            </a:r>
          </a:p>
          <a:p>
            <a:pPr>
              <a:lnSpc>
                <a:spcPct val="170000"/>
              </a:lnSpc>
            </a:pPr>
            <a:r>
              <a:rPr lang="zh-CN" altLang="en-US" sz="1600" dirty="0"/>
              <a:t>P（高|否）=（2/14）/（5/14）=2/5</a:t>
            </a:r>
          </a:p>
          <a:p>
            <a:pPr>
              <a:lnSpc>
                <a:spcPct val="170000"/>
              </a:lnSpc>
            </a:pPr>
            <a:r>
              <a:rPr lang="zh-CN" altLang="en-US" sz="1600" dirty="0"/>
              <a:t>P(中</a:t>
            </a:r>
            <a:r>
              <a:rPr lang="en-US" altLang="zh-CN" sz="1600" dirty="0"/>
              <a:t>|</a:t>
            </a:r>
            <a:r>
              <a:rPr lang="zh-CN" altLang="en-US" sz="1600" dirty="0"/>
              <a:t>否）=（4/14）/（9/14）=4/9</a:t>
            </a:r>
          </a:p>
          <a:p>
            <a:pPr>
              <a:lnSpc>
                <a:spcPct val="170000"/>
              </a:lnSpc>
            </a:pPr>
            <a:r>
              <a:rPr lang="zh-CN" altLang="en-US" sz="1600" dirty="0"/>
              <a:t>P(中</a:t>
            </a:r>
            <a:r>
              <a:rPr lang="en-US" altLang="zh-CN" sz="1600" dirty="0"/>
              <a:t>|</a:t>
            </a:r>
            <a:r>
              <a:rPr lang="zh-CN" altLang="en-US" sz="1600" dirty="0"/>
              <a:t>是）=（2/14）/（5/14）=2/5</a:t>
            </a:r>
          </a:p>
          <a:p>
            <a:pPr>
              <a:lnSpc>
                <a:spcPct val="170000"/>
              </a:lnSpc>
            </a:pPr>
            <a:r>
              <a:rPr lang="zh-CN" altLang="en-US" sz="1600" dirty="0"/>
              <a:t>P(低</a:t>
            </a:r>
            <a:r>
              <a:rPr lang="en-US" altLang="zh-CN" sz="1600" dirty="0"/>
              <a:t>|</a:t>
            </a:r>
            <a:r>
              <a:rPr lang="zh-CN" altLang="en-US" sz="1600" dirty="0"/>
              <a:t>否）=（3/14）/（9/14）=3/9</a:t>
            </a:r>
          </a:p>
          <a:p>
            <a:pPr>
              <a:lnSpc>
                <a:spcPct val="170000"/>
              </a:lnSpc>
            </a:pPr>
            <a:r>
              <a:rPr lang="zh-CN" altLang="en-US" sz="1600" dirty="0"/>
              <a:t>P(低</a:t>
            </a:r>
            <a:r>
              <a:rPr lang="en-US" altLang="zh-CN" sz="1600" dirty="0"/>
              <a:t>|</a:t>
            </a:r>
            <a:r>
              <a:rPr lang="zh-CN" altLang="en-US" sz="1600" dirty="0"/>
              <a:t>是）=（1/14）/（5/14）=2/9</a:t>
            </a:r>
          </a:p>
        </p:txBody>
      </p:sp>
    </p:spTree>
    <p:extLst>
      <p:ext uri="{BB962C8B-B14F-4D97-AF65-F5344CB8AC3E}">
        <p14:creationId xmlns:p14="http://schemas.microsoft.com/office/powerpoint/2010/main" val="592627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linds(horizontal)">
                                      <p:cBhvr>
                                        <p:cTn id="12" dur="500"/>
                                        <p:tgtEl>
                                          <p:spTgt spid="8">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blinds(horizontal)">
                                      <p:cBhvr>
                                        <p:cTn id="15" dur="500"/>
                                        <p:tgtEl>
                                          <p:spTgt spid="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8">
                                            <p:txEl>
                                              <p:pRg st="3" end="3"/>
                                            </p:txEl>
                                          </p:spTgt>
                                        </p:tgtEl>
                                        <p:attrNameLst>
                                          <p:attrName>style.visibility</p:attrName>
                                        </p:attrNameLst>
                                      </p:cBhvr>
                                      <p:to>
                                        <p:strVal val="visible"/>
                                      </p:to>
                                    </p:set>
                                    <p:animEffect transition="in" filter="blinds(horizontal)">
                                      <p:cBhvr>
                                        <p:cTn id="20" dur="500"/>
                                        <p:tgtEl>
                                          <p:spTgt spid="8">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animEffect transition="in" filter="blinds(horizontal)">
                                      <p:cBhvr>
                                        <p:cTn id="23" dur="500"/>
                                        <p:tgtEl>
                                          <p:spTgt spid="8">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8">
                                            <p:txEl>
                                              <p:pRg st="5" end="5"/>
                                            </p:txEl>
                                          </p:spTgt>
                                        </p:tgtEl>
                                        <p:attrNameLst>
                                          <p:attrName>style.visibility</p:attrName>
                                        </p:attrNameLst>
                                      </p:cBhvr>
                                      <p:to>
                                        <p:strVal val="visible"/>
                                      </p:to>
                                    </p:set>
                                    <p:animEffect transition="in" filter="blinds(horizontal)">
                                      <p:cBhvr>
                                        <p:cTn id="28" dur="500"/>
                                        <p:tgtEl>
                                          <p:spTgt spid="8">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animEffect transition="in" filter="blinds(horizontal)">
                                      <p:cBhvr>
                                        <p:cTn id="31"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uiExpand="1" build="p"/>
      <p:bldP spid="8"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
            <a:extLst>
              <a:ext uri="{FF2B5EF4-FFF2-40B4-BE49-F238E27FC236}">
                <a16:creationId xmlns:a16="http://schemas.microsoft.com/office/drawing/2014/main" id="{4B481669-CE81-43FB-9321-29560052F425}"/>
              </a:ext>
            </a:extLst>
          </p:cNvPr>
          <p:cNvSpPr/>
          <p:nvPr>
            <p:custDataLst>
              <p:tags r:id="rId1"/>
            </p:custDataLst>
          </p:nvPr>
        </p:nvSpPr>
        <p:spPr>
          <a:xfrm>
            <a:off x="628084" y="1381760"/>
            <a:ext cx="10974649" cy="4572000"/>
          </a:xfrm>
          <a:prstGeom prst="rect">
            <a:avLst/>
          </a:prstGeom>
          <a:solidFill>
            <a:schemeClr val="bg2"/>
          </a:solidFill>
          <a:ln>
            <a:noFill/>
          </a:ln>
          <a:effectLst>
            <a:outerShdw blurRad="127000" dist="38100" dir="5400000" algn="t"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1" lang="zh-CN" altLang="en-US" sz="1600" b="1"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4" name="Title 6">
            <a:extLst>
              <a:ext uri="{FF2B5EF4-FFF2-40B4-BE49-F238E27FC236}">
                <a16:creationId xmlns:a16="http://schemas.microsoft.com/office/drawing/2014/main" id="{C0678EEF-EABF-499A-A028-2B23F30BE5DA}"/>
              </a:ext>
            </a:extLst>
          </p:cNvPr>
          <p:cNvSpPr txBox="1"/>
          <p:nvPr>
            <p:custDataLst>
              <p:tags r:id="rId2"/>
            </p:custDataLst>
          </p:nvPr>
        </p:nvSpPr>
        <p:spPr>
          <a:xfrm>
            <a:off x="580459" y="306035"/>
            <a:ext cx="10974649" cy="608400"/>
          </a:xfrm>
          <a:prstGeom prst="rect">
            <a:avLst/>
          </a:prstGeom>
          <a:noFill/>
          <a:ln w="3175">
            <a:noFill/>
            <a:prstDash val="dash"/>
          </a:ln>
        </p:spPr>
        <p:txBody>
          <a:bodyPr wrap="square" lIns="90170" tIns="46990" rIns="90170" bIns="46990" anchor="b"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just">
              <a:lnSpc>
                <a:spcPct val="130000"/>
              </a:lnSpc>
              <a:spcAft>
                <a:spcPts val="800"/>
              </a:spcAft>
              <a:buClr>
                <a:schemeClr val="tx1">
                  <a:lumMod val="65000"/>
                  <a:lumOff val="35000"/>
                </a:schemeClr>
              </a:buClr>
              <a:buNone/>
            </a:pPr>
            <a:r>
              <a:rPr altLang="zh-CN" sz="3200" spc="100" dirty="0" err="1">
                <a:latin typeface="Arial" panose="020B0604020202020204" pitchFamily="34" charset="0"/>
                <a:ea typeface="微软雅黑" panose="020B0503020204020204" charset="-122"/>
                <a:sym typeface="Arial" panose="020B0604020202020204" pitchFamily="34" charset="0"/>
              </a:rPr>
              <a:t>朴素贝叶斯例子</a:t>
            </a:r>
            <a:endParaRPr lang="zh-CN" altLang="zh-CN" sz="3200" b="1" spc="100" dirty="0">
              <a:ln w="3175">
                <a:noFill/>
                <a:prstDash val="dash"/>
              </a:ln>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5" name="文本框 14">
            <a:extLst>
              <a:ext uri="{FF2B5EF4-FFF2-40B4-BE49-F238E27FC236}">
                <a16:creationId xmlns:a16="http://schemas.microsoft.com/office/drawing/2014/main" id="{98E1003F-5AC8-4053-9039-FF38779B54BA}"/>
              </a:ext>
            </a:extLst>
          </p:cNvPr>
          <p:cNvSpPr txBox="1"/>
          <p:nvPr>
            <p:custDataLst>
              <p:tags r:id="rId3"/>
            </p:custDataLst>
          </p:nvPr>
        </p:nvSpPr>
        <p:spPr>
          <a:xfrm>
            <a:off x="739140" y="1745615"/>
            <a:ext cx="6815455" cy="2980055"/>
          </a:xfrm>
          <a:prstGeom prst="rect">
            <a:avLst/>
          </a:prstGeom>
          <a:noFill/>
        </p:spPr>
        <p:txBody>
          <a:bodyPr wrap="square" rtlCol="0" anchor="ctr" anchorCtr="0">
            <a:noAutofit/>
          </a:bodyPr>
          <a:lstStyle/>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已知购买记录：</a:t>
            </a: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3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待预测记录：</a:t>
            </a:r>
          </a:p>
        </p:txBody>
      </p:sp>
      <p:pic>
        <p:nvPicPr>
          <p:cNvPr id="6" name="图片 5">
            <a:extLst>
              <a:ext uri="{FF2B5EF4-FFF2-40B4-BE49-F238E27FC236}">
                <a16:creationId xmlns:a16="http://schemas.microsoft.com/office/drawing/2014/main" id="{D2F3D7E3-FFC6-4E77-AE6B-CEA9776003F2}"/>
              </a:ext>
            </a:extLst>
          </p:cNvPr>
          <p:cNvPicPr>
            <a:picLocks noChangeAspect="1"/>
          </p:cNvPicPr>
          <p:nvPr/>
        </p:nvPicPr>
        <p:blipFill>
          <a:blip r:embed="rId5"/>
          <a:stretch>
            <a:fillRect/>
          </a:stretch>
        </p:blipFill>
        <p:spPr>
          <a:xfrm>
            <a:off x="1050290" y="1821180"/>
            <a:ext cx="4540250" cy="2828925"/>
          </a:xfrm>
          <a:prstGeom prst="rect">
            <a:avLst/>
          </a:prstGeom>
        </p:spPr>
      </p:pic>
      <p:pic>
        <p:nvPicPr>
          <p:cNvPr id="7" name="图片 6">
            <a:extLst>
              <a:ext uri="{FF2B5EF4-FFF2-40B4-BE49-F238E27FC236}">
                <a16:creationId xmlns:a16="http://schemas.microsoft.com/office/drawing/2014/main" id="{105EEA5E-3840-4F9D-A7D5-06F223427FE6}"/>
              </a:ext>
            </a:extLst>
          </p:cNvPr>
          <p:cNvPicPr>
            <a:picLocks noChangeAspect="1"/>
          </p:cNvPicPr>
          <p:nvPr/>
        </p:nvPicPr>
        <p:blipFill>
          <a:blip r:embed="rId6"/>
          <a:stretch>
            <a:fillRect/>
          </a:stretch>
        </p:blipFill>
        <p:spPr>
          <a:xfrm>
            <a:off x="909320" y="5381625"/>
            <a:ext cx="3299460" cy="236220"/>
          </a:xfrm>
          <a:prstGeom prst="rect">
            <a:avLst/>
          </a:prstGeom>
        </p:spPr>
      </p:pic>
      <p:sp>
        <p:nvSpPr>
          <p:cNvPr id="8" name="文本框 7">
            <a:extLst>
              <a:ext uri="{FF2B5EF4-FFF2-40B4-BE49-F238E27FC236}">
                <a16:creationId xmlns:a16="http://schemas.microsoft.com/office/drawing/2014/main" id="{288BBEEA-68DC-42CA-AB3A-32037FA07B45}"/>
              </a:ext>
            </a:extLst>
          </p:cNvPr>
          <p:cNvSpPr txBox="1"/>
          <p:nvPr/>
        </p:nvSpPr>
        <p:spPr>
          <a:xfrm>
            <a:off x="6296025" y="1920240"/>
            <a:ext cx="5666740" cy="4028440"/>
          </a:xfrm>
          <a:prstGeom prst="rect">
            <a:avLst/>
          </a:prstGeom>
          <a:noFill/>
        </p:spPr>
        <p:txBody>
          <a:bodyPr wrap="square" rtlCol="0">
            <a:spAutoFit/>
          </a:bodyPr>
          <a:lstStyle/>
          <a:p>
            <a:pPr>
              <a:lnSpc>
                <a:spcPct val="160000"/>
              </a:lnSpc>
            </a:pPr>
            <a:r>
              <a:rPr lang="zh-CN" altLang="en-US" sz="1600" dirty="0"/>
              <a:t>计算是否单身：X2={否，是}：</a:t>
            </a:r>
          </a:p>
          <a:p>
            <a:pPr>
              <a:lnSpc>
                <a:spcPct val="160000"/>
              </a:lnSpc>
            </a:pPr>
            <a:r>
              <a:rPr lang="zh-CN" altLang="en-US" sz="1600" dirty="0"/>
              <a:t>P(单身|是）=（6/14）/（9/14）=6/9</a:t>
            </a:r>
          </a:p>
          <a:p>
            <a:pPr>
              <a:lnSpc>
                <a:spcPct val="160000"/>
              </a:lnSpc>
            </a:pPr>
            <a:r>
              <a:rPr lang="zh-CN" altLang="en-US" sz="1600" dirty="0"/>
              <a:t>P(单身|否）=（1/14）/（5/14）=1/5</a:t>
            </a:r>
          </a:p>
          <a:p>
            <a:pPr>
              <a:lnSpc>
                <a:spcPct val="160000"/>
              </a:lnSpc>
            </a:pPr>
            <a:r>
              <a:rPr lang="zh-CN" altLang="en-US" sz="1600" dirty="0"/>
              <a:t>P（不单|是)=（3/14）/（9/14）=3/9</a:t>
            </a:r>
          </a:p>
          <a:p>
            <a:pPr>
              <a:lnSpc>
                <a:spcPct val="160000"/>
              </a:lnSpc>
            </a:pPr>
            <a:r>
              <a:rPr lang="zh-CN" altLang="en-US" sz="1600" dirty="0"/>
              <a:t>P（不单</a:t>
            </a:r>
            <a:r>
              <a:rPr lang="zh-CN" altLang="en-US" sz="1600" dirty="0">
                <a:sym typeface="+mn-ea"/>
              </a:rPr>
              <a:t>|</a:t>
            </a:r>
            <a:r>
              <a:rPr lang="zh-CN" altLang="en-US" sz="1600" dirty="0"/>
              <a:t>否）=（4/14）/（5/14）=4/5</a:t>
            </a:r>
          </a:p>
          <a:p>
            <a:pPr>
              <a:lnSpc>
                <a:spcPct val="160000"/>
              </a:lnSpc>
            </a:pPr>
            <a:r>
              <a:rPr lang="zh-CN" altLang="en-US" sz="1600" dirty="0"/>
              <a:t>计算信用等级：X4={一般，良好}：</a:t>
            </a:r>
          </a:p>
          <a:p>
            <a:pPr>
              <a:lnSpc>
                <a:spcPct val="160000"/>
              </a:lnSpc>
            </a:pPr>
            <a:r>
              <a:rPr lang="zh-CN" altLang="en-US" sz="1600" dirty="0"/>
              <a:t>P（一般</a:t>
            </a:r>
            <a:r>
              <a:rPr lang="en-US" altLang="zh-CN" sz="1600" dirty="0"/>
              <a:t>|</a:t>
            </a:r>
            <a:r>
              <a:rPr lang="zh-CN" altLang="en-US" sz="1600" dirty="0"/>
              <a:t>否）=（6/14）/（9/14）=6/9</a:t>
            </a:r>
          </a:p>
          <a:p>
            <a:pPr>
              <a:lnSpc>
                <a:spcPct val="160000"/>
              </a:lnSpc>
            </a:pPr>
            <a:r>
              <a:rPr lang="zh-CN" altLang="en-US" sz="1600" dirty="0"/>
              <a:t>P(一般|是）=（2/14）/（5/14）=2/5</a:t>
            </a:r>
          </a:p>
          <a:p>
            <a:pPr>
              <a:lnSpc>
                <a:spcPct val="160000"/>
              </a:lnSpc>
            </a:pPr>
            <a:r>
              <a:rPr lang="zh-CN" altLang="en-US" sz="1600" dirty="0"/>
              <a:t>P(良好|否）=（3/14）/（9/14）=3/9</a:t>
            </a:r>
          </a:p>
          <a:p>
            <a:pPr>
              <a:lnSpc>
                <a:spcPct val="160000"/>
              </a:lnSpc>
            </a:pPr>
            <a:r>
              <a:rPr lang="zh-CN" altLang="en-US" sz="1600" dirty="0"/>
              <a:t>P(良好|是)=（3/14）/（5/14）=3/5</a:t>
            </a:r>
          </a:p>
        </p:txBody>
      </p:sp>
    </p:spTree>
    <p:extLst>
      <p:ext uri="{BB962C8B-B14F-4D97-AF65-F5344CB8AC3E}">
        <p14:creationId xmlns:p14="http://schemas.microsoft.com/office/powerpoint/2010/main" val="3209527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linds(horizontal)">
                                      <p:cBhvr>
                                        <p:cTn id="12" dur="500"/>
                                        <p:tgtEl>
                                          <p:spTgt spid="8">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blinds(horizontal)">
                                      <p:cBhvr>
                                        <p:cTn id="15" dur="500"/>
                                        <p:tgtEl>
                                          <p:spTgt spid="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8">
                                            <p:txEl>
                                              <p:pRg st="3" end="3"/>
                                            </p:txEl>
                                          </p:spTgt>
                                        </p:tgtEl>
                                        <p:attrNameLst>
                                          <p:attrName>style.visibility</p:attrName>
                                        </p:attrNameLst>
                                      </p:cBhvr>
                                      <p:to>
                                        <p:strVal val="visible"/>
                                      </p:to>
                                    </p:set>
                                    <p:animEffect transition="in" filter="blinds(horizontal)">
                                      <p:cBhvr>
                                        <p:cTn id="20" dur="500"/>
                                        <p:tgtEl>
                                          <p:spTgt spid="8">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animEffect transition="in" filter="blinds(horizontal)">
                                      <p:cBhvr>
                                        <p:cTn id="23" dur="500"/>
                                        <p:tgtEl>
                                          <p:spTgt spid="8">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8">
                                            <p:txEl>
                                              <p:pRg st="5" end="5"/>
                                            </p:txEl>
                                          </p:spTgt>
                                        </p:tgtEl>
                                        <p:attrNameLst>
                                          <p:attrName>style.visibility</p:attrName>
                                        </p:attrNameLst>
                                      </p:cBhvr>
                                      <p:to>
                                        <p:strVal val="visible"/>
                                      </p:to>
                                    </p:set>
                                    <p:animEffect transition="in" filter="blinds(horizontal)">
                                      <p:cBhvr>
                                        <p:cTn id="28" dur="500"/>
                                        <p:tgtEl>
                                          <p:spTgt spid="8">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8">
                                            <p:txEl>
                                              <p:pRg st="6" end="6"/>
                                            </p:txEl>
                                          </p:spTgt>
                                        </p:tgtEl>
                                        <p:attrNameLst>
                                          <p:attrName>style.visibility</p:attrName>
                                        </p:attrNameLst>
                                      </p:cBhvr>
                                      <p:to>
                                        <p:strVal val="visible"/>
                                      </p:to>
                                    </p:set>
                                    <p:animEffect transition="in" filter="blinds(horizontal)">
                                      <p:cBhvr>
                                        <p:cTn id="33" dur="500"/>
                                        <p:tgtEl>
                                          <p:spTgt spid="8">
                                            <p:txEl>
                                              <p:pRg st="6" end="6"/>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8">
                                            <p:txEl>
                                              <p:pRg st="7" end="7"/>
                                            </p:txEl>
                                          </p:spTgt>
                                        </p:tgtEl>
                                        <p:attrNameLst>
                                          <p:attrName>style.visibility</p:attrName>
                                        </p:attrNameLst>
                                      </p:cBhvr>
                                      <p:to>
                                        <p:strVal val="visible"/>
                                      </p:to>
                                    </p:set>
                                    <p:animEffect transition="in" filter="blinds(horizontal)">
                                      <p:cBhvr>
                                        <p:cTn id="36" dur="500"/>
                                        <p:tgtEl>
                                          <p:spTgt spid="8">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8">
                                            <p:txEl>
                                              <p:pRg st="8" end="8"/>
                                            </p:txEl>
                                          </p:spTgt>
                                        </p:tgtEl>
                                        <p:attrNameLst>
                                          <p:attrName>style.visibility</p:attrName>
                                        </p:attrNameLst>
                                      </p:cBhvr>
                                      <p:to>
                                        <p:strVal val="visible"/>
                                      </p:to>
                                    </p:set>
                                    <p:animEffect transition="in" filter="blinds(horizontal)">
                                      <p:cBhvr>
                                        <p:cTn id="41" dur="500"/>
                                        <p:tgtEl>
                                          <p:spTgt spid="8">
                                            <p:txEl>
                                              <p:pRg st="8" end="8"/>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8">
                                            <p:txEl>
                                              <p:pRg st="9" end="9"/>
                                            </p:txEl>
                                          </p:spTgt>
                                        </p:tgtEl>
                                        <p:attrNameLst>
                                          <p:attrName>style.visibility</p:attrName>
                                        </p:attrNameLst>
                                      </p:cBhvr>
                                      <p:to>
                                        <p:strVal val="visible"/>
                                      </p:to>
                                    </p:set>
                                    <p:animEffect transition="in" filter="blinds(horizontal)">
                                      <p:cBhvr>
                                        <p:cTn id="44" dur="5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uiExpand="1" build="p"/>
      <p:bldP spid="8"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874AF8A2-ED33-4E49-8802-6D54BC76D564}"/>
              </a:ext>
            </a:extLst>
          </p:cNvPr>
          <p:cNvSpPr txBox="1"/>
          <p:nvPr>
            <p:custDataLst>
              <p:tags r:id="rId1"/>
            </p:custDataLst>
          </p:nvPr>
        </p:nvSpPr>
        <p:spPr>
          <a:xfrm>
            <a:off x="580459" y="306035"/>
            <a:ext cx="10974649" cy="608400"/>
          </a:xfrm>
          <a:prstGeom prst="rect">
            <a:avLst/>
          </a:prstGeom>
          <a:noFill/>
          <a:ln w="3175">
            <a:noFill/>
            <a:prstDash val="dash"/>
          </a:ln>
        </p:spPr>
        <p:txBody>
          <a:bodyPr wrap="square" lIns="90170" tIns="46990" rIns="90170" bIns="4699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nSpc>
                <a:spcPct val="100000"/>
              </a:lnSpc>
            </a:pPr>
            <a:r>
              <a:rPr altLang="zh-CN" sz="3200" spc="100" dirty="0" err="1">
                <a:latin typeface="Arial" panose="020B0604020202020204" pitchFamily="34" charset="0"/>
                <a:ea typeface="微软雅黑" panose="020B0503020204020204" charset="-122"/>
                <a:sym typeface="Arial" panose="020B0604020202020204" pitchFamily="34" charset="0"/>
              </a:rPr>
              <a:t>朴素贝叶斯例子</a:t>
            </a:r>
            <a:endParaRPr lang="zh-CN" altLang="zh-CN" sz="3200" b="1" spc="100" dirty="0">
              <a:ln w="3175">
                <a:noFill/>
                <a:prstDash val="dash"/>
              </a:ln>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5" name="文本框 14">
            <a:extLst>
              <a:ext uri="{FF2B5EF4-FFF2-40B4-BE49-F238E27FC236}">
                <a16:creationId xmlns:a16="http://schemas.microsoft.com/office/drawing/2014/main" id="{2FD414F3-E757-45CC-B513-D838AD2F1FD1}"/>
              </a:ext>
            </a:extLst>
          </p:cNvPr>
          <p:cNvSpPr txBox="1"/>
          <p:nvPr>
            <p:custDataLst>
              <p:tags r:id="rId2"/>
            </p:custDataLst>
          </p:nvPr>
        </p:nvSpPr>
        <p:spPr>
          <a:xfrm>
            <a:off x="881380" y="1664335"/>
            <a:ext cx="11126470" cy="4208780"/>
          </a:xfrm>
          <a:prstGeom prst="rect">
            <a:avLst/>
          </a:prstGeom>
          <a:noFill/>
        </p:spPr>
        <p:txBody>
          <a:bodyPr wrap="square" rtlCol="0" anchor="ctr" anchorCtr="0">
            <a:noAutofit/>
          </a:bodyPr>
          <a:lstStyle/>
          <a:p>
            <a:pPr lvl="0" indent="0" algn="just">
              <a:lnSpc>
                <a:spcPct val="7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待预测记录：计算P(Y=G</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j</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|X=X</a:t>
            </a:r>
            <a:r>
              <a:rPr lang="en-US" altLang="zh-CN" sz="1900" spc="100" baseline="30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(new)</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p>
          <a:p>
            <a:pPr lvl="0" indent="0" algn="just">
              <a:lnSpc>
                <a:spcPct val="7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P(Y=是|X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=老年,X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=低,X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3</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=不单,X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4</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=一般) =  </a:t>
            </a:r>
            <a:r>
              <a:rPr lang="en-US" altLang="zh-CN" sz="1900" u="sng"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P(X={老年，低，不单，</a:t>
            </a:r>
            <a:r>
              <a:rPr lang="zh-CN" altLang="en-US" sz="1900" u="sng"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一般</a:t>
            </a:r>
            <a:r>
              <a:rPr lang="en-US" altLang="zh-CN" sz="1900" u="sng"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1900" u="sng"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en-US" altLang="zh-CN" sz="1900" u="sng"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Y=</a:t>
            </a:r>
            <a:r>
              <a:rPr lang="zh-CN" altLang="en-US" sz="1900" u="sng"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是</a:t>
            </a:r>
            <a:r>
              <a:rPr lang="en-US" altLang="zh-CN" sz="1900" u="sng"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p>
          <a:p>
            <a:pPr lvl="0" indent="0" algn="just">
              <a:lnSpc>
                <a:spcPct val="7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P（老年，低，不单，一般）</a:t>
            </a:r>
          </a:p>
          <a:p>
            <a:pPr lvl="0" indent="0" algn="just">
              <a:lnSpc>
                <a:spcPct val="70000"/>
              </a:lnSpc>
              <a:spcAft>
                <a:spcPts val="800"/>
              </a:spcAft>
              <a:buClr>
                <a:schemeClr val="tx1">
                  <a:lumMod val="65000"/>
                  <a:lumOff val="35000"/>
                </a:schemeClr>
              </a:buClr>
              <a:buNone/>
            </a:pPr>
            <a:endParaRPr lang="en-US" altLang="zh-CN" sz="700" u="sng"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11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a:t>
            </a:r>
            <a:r>
              <a:rPr lang="en-US" altLang="zh-CN" sz="1900" u="sng"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P（是)P(老年|是)P(低|是)P（不单|是)P(一般|是)</a:t>
            </a:r>
          </a:p>
          <a:p>
            <a:pPr lvl="0" indent="0" algn="just">
              <a:lnSpc>
                <a:spcPct val="7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P（老年，低，不单，一般）</a:t>
            </a:r>
          </a:p>
          <a:p>
            <a:pPr lvl="0" indent="0" algn="just">
              <a:lnSpc>
                <a:spcPct val="70000"/>
              </a:lnSpc>
              <a:spcAft>
                <a:spcPts val="800"/>
              </a:spcAft>
              <a:buClr>
                <a:schemeClr val="tx1">
                  <a:lumMod val="65000"/>
                  <a:lumOff val="35000"/>
                </a:schemeClr>
              </a:buClr>
              <a:buNone/>
            </a:pP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7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P(Y=否|X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=老年,X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=低,X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3</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=不单,X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4</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=一般) =  </a:t>
            </a:r>
            <a:r>
              <a:rPr lang="en-US" altLang="zh-CN" sz="1900" u="sng"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P(X={老年，低，不单，一般},Y=否)</a:t>
            </a:r>
          </a:p>
          <a:p>
            <a:pPr lvl="0" indent="0" algn="just">
              <a:lnSpc>
                <a:spcPct val="7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P（X={老年，低，不单，一般})</a:t>
            </a:r>
          </a:p>
          <a:p>
            <a:pPr lvl="0" indent="0" algn="just">
              <a:lnSpc>
                <a:spcPct val="70000"/>
              </a:lnSpc>
              <a:spcAft>
                <a:spcPts val="800"/>
              </a:spcAft>
              <a:buClr>
                <a:schemeClr val="tx1">
                  <a:lumMod val="65000"/>
                  <a:lumOff val="35000"/>
                </a:schemeClr>
              </a:buClr>
              <a:buNone/>
            </a:pPr>
            <a:endParaRPr lang="en-US" altLang="zh-CN" sz="12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7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en-US" altLang="zh-CN" sz="1900" u="sng"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P（否)P（老年I否)P（低I否)P（不单I否)P（一般|否）</a:t>
            </a: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7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               P（老年，低，不单，一般）</a:t>
            </a:r>
          </a:p>
          <a:p>
            <a:pPr lvl="0" indent="0" algn="just">
              <a:lnSpc>
                <a:spcPct val="70000"/>
              </a:lnSpc>
              <a:spcAft>
                <a:spcPts val="800"/>
              </a:spcAft>
              <a:buClr>
                <a:schemeClr val="tx1">
                  <a:lumMod val="65000"/>
                  <a:lumOff val="35000"/>
                </a:schemeClr>
              </a:buClr>
              <a:buNone/>
            </a:pPr>
            <a:endParaRPr lang="en-US" altLang="zh-CN" sz="10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9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P(Y=是|X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=老年,X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=低,X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3</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=不单,X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4</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=一般)αP(是)P(老年|是)P（低|是)P(不单|是)P(一般|是)</a:t>
            </a:r>
          </a:p>
          <a:p>
            <a:pPr lvl="0" indent="0" algn="just">
              <a:lnSpc>
                <a:spcPct val="9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P(Y=否|X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=老年,X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=低,X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3</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=不单</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4</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=一般)αP(否)P(老年|否)P(低|否)P（不单|否)P（一般|否)</a:t>
            </a:r>
          </a:p>
        </p:txBody>
      </p:sp>
      <p:pic>
        <p:nvPicPr>
          <p:cNvPr id="6" name="图片 5">
            <a:extLst>
              <a:ext uri="{FF2B5EF4-FFF2-40B4-BE49-F238E27FC236}">
                <a16:creationId xmlns:a16="http://schemas.microsoft.com/office/drawing/2014/main" id="{B3E0CCC0-1B45-486E-810A-B6CAFFACBEA3}"/>
              </a:ext>
            </a:extLst>
          </p:cNvPr>
          <p:cNvPicPr>
            <a:picLocks noChangeAspect="1"/>
          </p:cNvPicPr>
          <p:nvPr/>
        </p:nvPicPr>
        <p:blipFill>
          <a:blip r:embed="rId4"/>
          <a:stretch>
            <a:fillRect/>
          </a:stretch>
        </p:blipFill>
        <p:spPr>
          <a:xfrm>
            <a:off x="5754139" y="1234630"/>
            <a:ext cx="3999865" cy="286385"/>
          </a:xfrm>
          <a:prstGeom prst="rect">
            <a:avLst/>
          </a:prstGeom>
        </p:spPr>
      </p:pic>
    </p:spTree>
    <p:extLst>
      <p:ext uri="{BB962C8B-B14F-4D97-AF65-F5344CB8AC3E}">
        <p14:creationId xmlns:p14="http://schemas.microsoft.com/office/powerpoint/2010/main" val="273282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par>
                                <p:cTn id="13" presetID="3" presetClass="entr" presetSubtype="10" fill="hold" grpId="0" nodeType="withEffect" nodePh="1">
                                  <p:stCondLst>
                                    <p:cond delay="0"/>
                                  </p:stCondLst>
                                  <p:endCondLst>
                                    <p:cond evt="begin" delay="0">
                                      <p:tn val="13"/>
                                    </p:cond>
                                  </p:end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blinds(horizontal)">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nodePh="1">
                                  <p:stCondLst>
                                    <p:cond delay="0"/>
                                  </p:stCondLst>
                                  <p:endCondLst>
                                    <p:cond evt="begin" delay="0">
                                      <p:tn val="18"/>
                                    </p:cond>
                                  </p:end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blinds(horizontal)">
                                      <p:cBhvr>
                                        <p:cTn id="20" dur="500"/>
                                        <p:tgtEl>
                                          <p:spTgt spid="5">
                                            <p:txEl>
                                              <p:pRg st="4" end="4"/>
                                            </p:txEl>
                                          </p:spTgt>
                                        </p:tgtEl>
                                      </p:cBhvr>
                                    </p:animEffect>
                                  </p:childTnLst>
                                </p:cTn>
                              </p:par>
                              <p:par>
                                <p:cTn id="21" presetID="3" presetClass="entr" presetSubtype="10" fill="hold" grpId="0" nodeType="withEffect" nodePh="1">
                                  <p:stCondLst>
                                    <p:cond delay="0"/>
                                  </p:stCondLst>
                                  <p:endCondLst>
                                    <p:cond evt="begin" delay="0">
                                      <p:tn val="21"/>
                                    </p:cond>
                                  </p:endCondLst>
                                  <p:childTnLst>
                                    <p:set>
                                      <p:cBhvr>
                                        <p:cTn id="22" dur="1" fill="hold">
                                          <p:stCondLst>
                                            <p:cond delay="0"/>
                                          </p:stCondLst>
                                        </p:cTn>
                                        <p:tgtEl>
                                          <p:spTgt spid="5">
                                            <p:txEl>
                                              <p:pRg st="5" end="5"/>
                                            </p:txEl>
                                          </p:spTgt>
                                        </p:tgtEl>
                                        <p:attrNameLst>
                                          <p:attrName>style.visibility</p:attrName>
                                        </p:attrNameLst>
                                      </p:cBhvr>
                                      <p:to>
                                        <p:strVal val="visible"/>
                                      </p:to>
                                    </p:set>
                                    <p:animEffect transition="in" filter="blinds(horizontal)">
                                      <p:cBhvr>
                                        <p:cTn id="23" dur="500"/>
                                        <p:tgtEl>
                                          <p:spTgt spid="5">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nodePh="1">
                                  <p:stCondLst>
                                    <p:cond delay="0"/>
                                  </p:stCondLst>
                                  <p:endCondLst>
                                    <p:cond evt="begin" delay="0">
                                      <p:tn val="26"/>
                                    </p:cond>
                                  </p:endCondLst>
                                  <p:childTnLst>
                                    <p:set>
                                      <p:cBhvr>
                                        <p:cTn id="27" dur="1" fill="hold">
                                          <p:stCondLst>
                                            <p:cond delay="0"/>
                                          </p:stCondLst>
                                        </p:cTn>
                                        <p:tgtEl>
                                          <p:spTgt spid="5">
                                            <p:txEl>
                                              <p:pRg st="7" end="7"/>
                                            </p:txEl>
                                          </p:spTgt>
                                        </p:tgtEl>
                                        <p:attrNameLst>
                                          <p:attrName>style.visibility</p:attrName>
                                        </p:attrNameLst>
                                      </p:cBhvr>
                                      <p:to>
                                        <p:strVal val="visible"/>
                                      </p:to>
                                    </p:set>
                                    <p:animEffect transition="in" filter="blinds(horizontal)">
                                      <p:cBhvr>
                                        <p:cTn id="28" dur="500"/>
                                        <p:tgtEl>
                                          <p:spTgt spid="5">
                                            <p:txEl>
                                              <p:pRg st="7" end="7"/>
                                            </p:txEl>
                                          </p:spTgt>
                                        </p:tgtEl>
                                      </p:cBhvr>
                                    </p:animEffect>
                                  </p:childTnLst>
                                </p:cTn>
                              </p:par>
                              <p:par>
                                <p:cTn id="29" presetID="3" presetClass="entr" presetSubtype="10" fill="hold" grpId="0" nodeType="withEffect" nodePh="1">
                                  <p:stCondLst>
                                    <p:cond delay="0"/>
                                  </p:stCondLst>
                                  <p:endCondLst>
                                    <p:cond evt="begin" delay="0">
                                      <p:tn val="29"/>
                                    </p:cond>
                                  </p:endCondLst>
                                  <p:childTnLst>
                                    <p:set>
                                      <p:cBhvr>
                                        <p:cTn id="30" dur="1" fill="hold">
                                          <p:stCondLst>
                                            <p:cond delay="0"/>
                                          </p:stCondLst>
                                        </p:cTn>
                                        <p:tgtEl>
                                          <p:spTgt spid="5">
                                            <p:txEl>
                                              <p:pRg st="8" end="8"/>
                                            </p:txEl>
                                          </p:spTgt>
                                        </p:tgtEl>
                                        <p:attrNameLst>
                                          <p:attrName>style.visibility</p:attrName>
                                        </p:attrNameLst>
                                      </p:cBhvr>
                                      <p:to>
                                        <p:strVal val="visible"/>
                                      </p:to>
                                    </p:set>
                                    <p:animEffect transition="in" filter="blinds(horizontal)">
                                      <p:cBhvr>
                                        <p:cTn id="31" dur="500"/>
                                        <p:tgtEl>
                                          <p:spTgt spid="5">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nodePh="1">
                                  <p:stCondLst>
                                    <p:cond delay="0"/>
                                  </p:stCondLst>
                                  <p:endCondLst>
                                    <p:cond evt="begin" delay="0">
                                      <p:tn val="34"/>
                                    </p:cond>
                                  </p:endCondLst>
                                  <p:childTnLst>
                                    <p:set>
                                      <p:cBhvr>
                                        <p:cTn id="35" dur="1" fill="hold">
                                          <p:stCondLst>
                                            <p:cond delay="0"/>
                                          </p:stCondLst>
                                        </p:cTn>
                                        <p:tgtEl>
                                          <p:spTgt spid="5">
                                            <p:txEl>
                                              <p:pRg st="10" end="10"/>
                                            </p:txEl>
                                          </p:spTgt>
                                        </p:tgtEl>
                                        <p:attrNameLst>
                                          <p:attrName>style.visibility</p:attrName>
                                        </p:attrNameLst>
                                      </p:cBhvr>
                                      <p:to>
                                        <p:strVal val="visible"/>
                                      </p:to>
                                    </p:set>
                                    <p:animEffect transition="in" filter="blinds(horizontal)">
                                      <p:cBhvr>
                                        <p:cTn id="36" dur="500"/>
                                        <p:tgtEl>
                                          <p:spTgt spid="5">
                                            <p:txEl>
                                              <p:pRg st="10" end="10"/>
                                            </p:txEl>
                                          </p:spTgt>
                                        </p:tgtEl>
                                      </p:cBhvr>
                                    </p:animEffect>
                                  </p:childTnLst>
                                </p:cTn>
                              </p:par>
                              <p:par>
                                <p:cTn id="37" presetID="3" presetClass="entr" presetSubtype="10" fill="hold" grpId="0" nodeType="withEffect" nodePh="1">
                                  <p:stCondLst>
                                    <p:cond delay="0"/>
                                  </p:stCondLst>
                                  <p:endCondLst>
                                    <p:cond evt="begin" delay="0">
                                      <p:tn val="37"/>
                                    </p:cond>
                                  </p:endCondLst>
                                  <p:childTnLst>
                                    <p:set>
                                      <p:cBhvr>
                                        <p:cTn id="38" dur="1" fill="hold">
                                          <p:stCondLst>
                                            <p:cond delay="0"/>
                                          </p:stCondLst>
                                        </p:cTn>
                                        <p:tgtEl>
                                          <p:spTgt spid="5">
                                            <p:txEl>
                                              <p:pRg st="11" end="11"/>
                                            </p:txEl>
                                          </p:spTgt>
                                        </p:tgtEl>
                                        <p:attrNameLst>
                                          <p:attrName>style.visibility</p:attrName>
                                        </p:attrNameLst>
                                      </p:cBhvr>
                                      <p:to>
                                        <p:strVal val="visible"/>
                                      </p:to>
                                    </p:set>
                                    <p:animEffect transition="in" filter="blinds(horizontal)">
                                      <p:cBhvr>
                                        <p:cTn id="39" dur="500"/>
                                        <p:tgtEl>
                                          <p:spTgt spid="5">
                                            <p:txEl>
                                              <p:pRg st="11" end="1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nodePh="1">
                                  <p:stCondLst>
                                    <p:cond delay="0"/>
                                  </p:stCondLst>
                                  <p:endCondLst>
                                    <p:cond evt="begin" delay="0">
                                      <p:tn val="42"/>
                                    </p:cond>
                                  </p:endCondLst>
                                  <p:childTnLst>
                                    <p:set>
                                      <p:cBhvr>
                                        <p:cTn id="43" dur="1" fill="hold">
                                          <p:stCondLst>
                                            <p:cond delay="0"/>
                                          </p:stCondLst>
                                        </p:cTn>
                                        <p:tgtEl>
                                          <p:spTgt spid="5">
                                            <p:txEl>
                                              <p:pRg st="13" end="13"/>
                                            </p:txEl>
                                          </p:spTgt>
                                        </p:tgtEl>
                                        <p:attrNameLst>
                                          <p:attrName>style.visibility</p:attrName>
                                        </p:attrNameLst>
                                      </p:cBhvr>
                                      <p:to>
                                        <p:strVal val="visible"/>
                                      </p:to>
                                    </p:set>
                                    <p:animEffect transition="in" filter="blinds(horizontal)">
                                      <p:cBhvr>
                                        <p:cTn id="44" dur="500"/>
                                        <p:tgtEl>
                                          <p:spTgt spid="5">
                                            <p:txEl>
                                              <p:pRg st="13" end="1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nodePh="1">
                                  <p:stCondLst>
                                    <p:cond delay="0"/>
                                  </p:stCondLst>
                                  <p:endCondLst>
                                    <p:cond evt="begin" delay="0">
                                      <p:tn val="47"/>
                                    </p:cond>
                                  </p:endCondLst>
                                  <p:childTnLst>
                                    <p:set>
                                      <p:cBhvr>
                                        <p:cTn id="48" dur="1" fill="hold">
                                          <p:stCondLst>
                                            <p:cond delay="0"/>
                                          </p:stCondLst>
                                        </p:cTn>
                                        <p:tgtEl>
                                          <p:spTgt spid="5">
                                            <p:txEl>
                                              <p:pRg st="14" end="14"/>
                                            </p:txEl>
                                          </p:spTgt>
                                        </p:tgtEl>
                                        <p:attrNameLst>
                                          <p:attrName>style.visibility</p:attrName>
                                        </p:attrNameLst>
                                      </p:cBhvr>
                                      <p:to>
                                        <p:strVal val="visible"/>
                                      </p:to>
                                    </p:set>
                                    <p:animEffect transition="in" filter="blinds(horizontal)">
                                      <p:cBhvr>
                                        <p:cTn id="49" dur="500"/>
                                        <p:tgtEl>
                                          <p:spTgt spid="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1C009BEA-6751-45F0-8018-CAE753FE6267}"/>
              </a:ext>
            </a:extLst>
          </p:cNvPr>
          <p:cNvSpPr txBox="1"/>
          <p:nvPr>
            <p:custDataLst>
              <p:tags r:id="rId1"/>
            </p:custDataLst>
          </p:nvPr>
        </p:nvSpPr>
        <p:spPr>
          <a:xfrm>
            <a:off x="580459" y="306035"/>
            <a:ext cx="10974649" cy="608400"/>
          </a:xfrm>
          <a:prstGeom prst="rect">
            <a:avLst/>
          </a:prstGeom>
          <a:noFill/>
          <a:ln w="3175">
            <a:noFill/>
            <a:prstDash val="dash"/>
          </a:ln>
        </p:spPr>
        <p:txBody>
          <a:bodyPr wrap="square" lIns="90170" tIns="46990" rIns="90170" bIns="4699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nSpc>
                <a:spcPct val="100000"/>
              </a:lnSpc>
            </a:pPr>
            <a:r>
              <a:rPr altLang="zh-CN" sz="3200" spc="100" dirty="0" err="1">
                <a:latin typeface="Arial" panose="020B0604020202020204" pitchFamily="34" charset="0"/>
                <a:ea typeface="微软雅黑" panose="020B0503020204020204" charset="-122"/>
                <a:sym typeface="Arial" panose="020B0604020202020204" pitchFamily="34" charset="0"/>
              </a:rPr>
              <a:t>朴素贝叶斯例子</a:t>
            </a:r>
            <a:endParaRPr lang="zh-CN" altLang="en-US" sz="3200" b="1" spc="100" dirty="0">
              <a:ln w="3175">
                <a:noFill/>
                <a:prstDash val="dash"/>
              </a:ln>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5" name="文本框 14">
            <a:extLst>
              <a:ext uri="{FF2B5EF4-FFF2-40B4-BE49-F238E27FC236}">
                <a16:creationId xmlns:a16="http://schemas.microsoft.com/office/drawing/2014/main" id="{9A9DFF8D-A369-4427-8DE5-B1BADD92437C}"/>
              </a:ext>
            </a:extLst>
          </p:cNvPr>
          <p:cNvSpPr txBox="1"/>
          <p:nvPr>
            <p:custDataLst>
              <p:tags r:id="rId2"/>
            </p:custDataLst>
          </p:nvPr>
        </p:nvSpPr>
        <p:spPr>
          <a:xfrm>
            <a:off x="348933" y="4062095"/>
            <a:ext cx="11126470" cy="1962150"/>
          </a:xfrm>
          <a:prstGeom prst="rect">
            <a:avLst/>
          </a:prstGeom>
          <a:noFill/>
        </p:spPr>
        <p:txBody>
          <a:bodyPr wrap="square" rtlCol="0" anchor="ctr" anchorCtr="0">
            <a:noAutofit/>
          </a:bodyPr>
          <a:lstStyle/>
          <a:p>
            <a:pPr lvl="0" indent="0" algn="just">
              <a:lnSpc>
                <a:spcPct val="90000"/>
              </a:lnSpc>
              <a:spcAft>
                <a:spcPts val="800"/>
              </a:spcAft>
              <a:buClr>
                <a:schemeClr val="tx1">
                  <a:lumMod val="65000"/>
                  <a:lumOff val="35000"/>
                </a:schemeClr>
              </a:buClr>
              <a:buNone/>
            </a:pPr>
            <a:r>
              <a:rPr lang="zh-CN" altLang="en-US" sz="1900" dirty="0">
                <a:sym typeface="+mn-ea"/>
              </a:rPr>
              <a:t>待预测记录：计算P(Y=C</a:t>
            </a:r>
            <a:r>
              <a:rPr lang="zh-CN" altLang="en-US" sz="1900" baseline="-25000" dirty="0">
                <a:sym typeface="+mn-ea"/>
              </a:rPr>
              <a:t>j</a:t>
            </a:r>
            <a:r>
              <a:rPr lang="zh-CN" altLang="en-US" sz="1900" dirty="0">
                <a:sym typeface="+mn-ea"/>
              </a:rPr>
              <a:t>lX=X</a:t>
            </a:r>
            <a:r>
              <a:rPr lang="zh-CN" altLang="en-US" sz="1900" baseline="30000" dirty="0">
                <a:sym typeface="+mn-ea"/>
              </a:rPr>
              <a:t>(new)</a:t>
            </a:r>
            <a:r>
              <a:rPr lang="zh-CN" altLang="en-US" sz="1900" dirty="0">
                <a:sym typeface="+mn-ea"/>
              </a:rPr>
              <a:t>)</a:t>
            </a: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lvl="0" indent="0" algn="just">
              <a:lnSpc>
                <a:spcPct val="9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P(Y=是|X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=老年,X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=低,X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3</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=不单,X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4</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=一般)αP(是)P(老年|是)P（低|是)P(不单|是)P(一般|是)</a:t>
            </a:r>
          </a:p>
          <a:p>
            <a:pPr lvl="0" indent="0" algn="just">
              <a:lnSpc>
                <a:spcPct val="90000"/>
              </a:lnSpc>
              <a:spcAft>
                <a:spcPts val="800"/>
              </a:spcAft>
              <a:buClr>
                <a:schemeClr val="tx1">
                  <a:lumMod val="65000"/>
                  <a:lumOff val="35000"/>
                </a:schemeClr>
              </a:buClr>
              <a:buNone/>
            </a:pPr>
            <a:r>
              <a:rPr lang="zh-CN" altLang="en-US" sz="1900" dirty="0">
                <a:sym typeface="+mn-ea"/>
              </a:rPr>
              <a:t>                                                           =9/14*3/9*3/9*3/9*6/9=0.01587302</a:t>
            </a:r>
            <a:endParaRPr lang="zh-CN" altLang="en-US" sz="1900" dirty="0"/>
          </a:p>
          <a:p>
            <a:pPr lvl="0" indent="0" algn="just">
              <a:lnSpc>
                <a:spcPct val="9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P(Y=否|X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=老年,X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=低,X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3</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=不单</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4</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=一般)αP(否)P(老年|否)P(低|否)P（不单|否)P（一般|否)</a:t>
            </a:r>
          </a:p>
          <a:p>
            <a:pPr lvl="0" indent="0" algn="just">
              <a:lnSpc>
                <a:spcPct val="90000"/>
              </a:lnSpc>
              <a:spcAft>
                <a:spcPts val="800"/>
              </a:spcAft>
              <a:buClr>
                <a:schemeClr val="tx1">
                  <a:lumMod val="65000"/>
                  <a:lumOff val="35000"/>
                </a:schemeClr>
              </a:buClr>
              <a:buNone/>
            </a:pPr>
            <a:r>
              <a:rPr lang="zh-CN" altLang="en-US" sz="1900" dirty="0">
                <a:sym typeface="+mn-ea"/>
              </a:rPr>
              <a:t>                                                              =5/14*2/5*1/5*1/4*2/5=0.009142857</a:t>
            </a: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p:txBody>
      </p:sp>
      <p:pic>
        <p:nvPicPr>
          <p:cNvPr id="6" name="图片 5">
            <a:extLst>
              <a:ext uri="{FF2B5EF4-FFF2-40B4-BE49-F238E27FC236}">
                <a16:creationId xmlns:a16="http://schemas.microsoft.com/office/drawing/2014/main" id="{BFDA08A8-B62B-4670-9E0E-52EC9199BDEC}"/>
              </a:ext>
            </a:extLst>
          </p:cNvPr>
          <p:cNvPicPr>
            <a:picLocks noChangeAspect="1"/>
          </p:cNvPicPr>
          <p:nvPr/>
        </p:nvPicPr>
        <p:blipFill>
          <a:blip r:embed="rId4"/>
          <a:stretch>
            <a:fillRect/>
          </a:stretch>
        </p:blipFill>
        <p:spPr>
          <a:xfrm>
            <a:off x="5119832" y="1376369"/>
            <a:ext cx="4558030" cy="326390"/>
          </a:xfrm>
          <a:prstGeom prst="rect">
            <a:avLst/>
          </a:prstGeom>
        </p:spPr>
      </p:pic>
      <p:sp>
        <p:nvSpPr>
          <p:cNvPr id="7" name="文本框 6">
            <a:extLst>
              <a:ext uri="{FF2B5EF4-FFF2-40B4-BE49-F238E27FC236}">
                <a16:creationId xmlns:a16="http://schemas.microsoft.com/office/drawing/2014/main" id="{A71BECA4-5809-488C-8A17-6830272D3384}"/>
              </a:ext>
            </a:extLst>
          </p:cNvPr>
          <p:cNvSpPr txBox="1"/>
          <p:nvPr/>
        </p:nvSpPr>
        <p:spPr>
          <a:xfrm>
            <a:off x="348933" y="1372870"/>
            <a:ext cx="10287635" cy="2846070"/>
          </a:xfrm>
          <a:prstGeom prst="rect">
            <a:avLst/>
          </a:prstGeom>
          <a:noFill/>
        </p:spPr>
        <p:txBody>
          <a:bodyPr wrap="square" rtlCol="0">
            <a:spAutoFit/>
          </a:bodyPr>
          <a:lstStyle/>
          <a:p>
            <a:pPr>
              <a:lnSpc>
                <a:spcPct val="170000"/>
              </a:lnSpc>
            </a:pPr>
            <a:r>
              <a:rPr lang="zh-CN" altLang="en-US" sz="1600" dirty="0"/>
              <a:t>计算结果：P(Y=是)=9/14           P(Y=否)=5/14</a:t>
            </a:r>
          </a:p>
          <a:p>
            <a:pPr>
              <a:lnSpc>
                <a:spcPct val="170000"/>
              </a:lnSpc>
            </a:pPr>
            <a:r>
              <a:rPr lang="zh-CN" altLang="en-US" sz="1600" dirty="0"/>
              <a:t>P</a:t>
            </a:r>
            <a:r>
              <a:rPr lang="en-US" altLang="zh-CN" sz="1600" dirty="0"/>
              <a:t>(</a:t>
            </a:r>
            <a:r>
              <a:rPr lang="zh-CN" altLang="en-US" sz="1600" dirty="0"/>
              <a:t>青少年｜是）=2/5     P</a:t>
            </a:r>
            <a:r>
              <a:rPr lang="en-US" altLang="zh-CN" sz="1600" dirty="0"/>
              <a:t>(</a:t>
            </a:r>
            <a:r>
              <a:rPr lang="zh-CN" altLang="en-US" sz="1600" dirty="0"/>
              <a:t>青少年|否）=3/5      P(中年｜是）=4/9    P（中年｜否）=0    P(老年是）=2/5                   P(老年否）=</a:t>
            </a:r>
            <a:r>
              <a:rPr lang="en-US" altLang="zh-CN" sz="1600" dirty="0"/>
              <a:t>2/5                 </a:t>
            </a:r>
            <a:r>
              <a:rPr lang="zh-CN" altLang="en-US" sz="1600" dirty="0"/>
              <a:t>   </a:t>
            </a:r>
          </a:p>
          <a:p>
            <a:pPr>
              <a:lnSpc>
                <a:spcPct val="170000"/>
              </a:lnSpc>
            </a:pPr>
            <a:r>
              <a:rPr lang="zh-CN" altLang="en-US" sz="1600" dirty="0"/>
              <a:t>P（高｜是）=2/9    P（高|否）=2/5   P（中｜是）=4/9     P（中｜否）=2/5    P（低｜是）=3/9     P(低｜否)=1/5</a:t>
            </a:r>
          </a:p>
          <a:p>
            <a:pPr>
              <a:lnSpc>
                <a:spcPct val="170000"/>
              </a:lnSpc>
            </a:pPr>
            <a:r>
              <a:rPr lang="zh-CN" altLang="en-US" sz="1600" dirty="0"/>
              <a:t>P（单身｜是）=6/9              P(单身|否）=1/5                 P（不单｜是）=3/9               P（不单｜否）=4/5</a:t>
            </a:r>
          </a:p>
          <a:p>
            <a:pPr>
              <a:lnSpc>
                <a:spcPct val="170000"/>
              </a:lnSpc>
            </a:pPr>
            <a:r>
              <a:rPr lang="zh-CN" altLang="en-US" sz="1600" dirty="0"/>
              <a:t>P（一般｜是）＝6/9            P（一般｜否）=2/5             P（良好|是）=3/9                 P(良好|否）=3/5</a:t>
            </a:r>
          </a:p>
          <a:p>
            <a:endParaRPr lang="zh-CN" altLang="en-US" sz="1600" dirty="0"/>
          </a:p>
        </p:txBody>
      </p:sp>
      <p:sp>
        <p:nvSpPr>
          <p:cNvPr id="8" name="文本框 7">
            <a:extLst>
              <a:ext uri="{FF2B5EF4-FFF2-40B4-BE49-F238E27FC236}">
                <a16:creationId xmlns:a16="http://schemas.microsoft.com/office/drawing/2014/main" id="{52A99C45-713D-4A3E-950E-3469647B01C6}"/>
              </a:ext>
            </a:extLst>
          </p:cNvPr>
          <p:cNvSpPr txBox="1"/>
          <p:nvPr/>
        </p:nvSpPr>
        <p:spPr>
          <a:xfrm>
            <a:off x="8778240" y="4859020"/>
            <a:ext cx="2388235" cy="368300"/>
          </a:xfrm>
          <a:prstGeom prst="rect">
            <a:avLst/>
          </a:prstGeom>
          <a:noFill/>
        </p:spPr>
        <p:txBody>
          <a:bodyPr wrap="square" rtlCol="0">
            <a:spAutoFit/>
          </a:bodyPr>
          <a:lstStyle/>
          <a:p>
            <a:r>
              <a:rPr lang="zh-CN" altLang="en-US">
                <a:solidFill>
                  <a:srgbClr val="FF0000"/>
                </a:solidFill>
              </a:rPr>
              <a:t>购买的概率更大</a:t>
            </a:r>
          </a:p>
        </p:txBody>
      </p:sp>
    </p:spTree>
    <p:extLst>
      <p:ext uri="{BB962C8B-B14F-4D97-AF65-F5344CB8AC3E}">
        <p14:creationId xmlns:p14="http://schemas.microsoft.com/office/powerpoint/2010/main" val="957926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par>
                                <p:cTn id="13" presetID="3" presetClass="entr" presetSubtype="10" fill="hold" grpId="0" nodeType="withEffect" nodePh="1">
                                  <p:stCondLst>
                                    <p:cond delay="0"/>
                                  </p:stCondLst>
                                  <p:endCondLst>
                                    <p:cond evt="begin" delay="0">
                                      <p:tn val="13"/>
                                    </p:cond>
                                  </p:end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blinds(horizontal)">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nodePh="1">
                                  <p:stCondLst>
                                    <p:cond delay="0"/>
                                  </p:stCondLst>
                                  <p:endCondLst>
                                    <p:cond evt="begin" delay="0">
                                      <p:tn val="18"/>
                                    </p:cond>
                                  </p:end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blinds(horizontal)">
                                      <p:cBhvr>
                                        <p:cTn id="20" dur="500"/>
                                        <p:tgtEl>
                                          <p:spTgt spid="5">
                                            <p:txEl>
                                              <p:pRg st="3" end="3"/>
                                            </p:txEl>
                                          </p:spTgt>
                                        </p:tgtEl>
                                      </p:cBhvr>
                                    </p:animEffect>
                                  </p:childTnLst>
                                </p:cTn>
                              </p:par>
                              <p:par>
                                <p:cTn id="21" presetID="3" presetClass="entr" presetSubtype="10" fill="hold" grpId="0" nodeType="withEffect" nodePh="1">
                                  <p:stCondLst>
                                    <p:cond delay="0"/>
                                  </p:stCondLst>
                                  <p:endCondLst>
                                    <p:cond evt="begin" delay="0">
                                      <p:tn val="21"/>
                                    </p:cond>
                                  </p:end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blinds(horizontal)">
                                      <p:cBhvr>
                                        <p:cTn id="23" dur="500"/>
                                        <p:tgtEl>
                                          <p:spTgt spid="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linds(horizontal)">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p:bldP spid="8" grpId="0"/>
      <p:bldP spid="8"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C7D01C99-D944-4E34-A787-469D9B6B29DB}"/>
              </a:ext>
            </a:extLst>
          </p:cNvPr>
          <p:cNvSpPr txBox="1"/>
          <p:nvPr>
            <p:custDataLst>
              <p:tags r:id="rId1"/>
            </p:custDataLst>
          </p:nvPr>
        </p:nvSpPr>
        <p:spPr>
          <a:xfrm>
            <a:off x="580459" y="306035"/>
            <a:ext cx="10974649" cy="608400"/>
          </a:xfrm>
          <a:prstGeom prst="rect">
            <a:avLst/>
          </a:prstGeom>
          <a:noFill/>
          <a:ln w="3175">
            <a:noFill/>
            <a:prstDash val="dash"/>
          </a:ln>
        </p:spPr>
        <p:txBody>
          <a:bodyPr wrap="square" lIns="90170" tIns="46990" rIns="90170" bIns="4699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nSpc>
                <a:spcPct val="100000"/>
              </a:lnSpc>
            </a:pPr>
            <a:r>
              <a:rPr lang="zh-CN" altLang="en-US" sz="3200" dirty="0">
                <a:sym typeface="+mn-ea"/>
              </a:rPr>
              <a:t>拉普拉斯平滑</a:t>
            </a:r>
            <a:endParaRPr lang="zh-CN" altLang="en-US" sz="3200" b="1" spc="100" dirty="0">
              <a:ln w="3175">
                <a:noFill/>
                <a:prstDash val="dash"/>
              </a:ln>
              <a:latin typeface="Arial" panose="020B0604020202020204" pitchFamily="34" charset="0"/>
              <a:ea typeface="微软雅黑" panose="020B0503020204020204" charset="-122"/>
              <a:cs typeface="微软雅黑" panose="020B0503020204020204" charset="-122"/>
              <a:sym typeface="+mn-ea"/>
            </a:endParaRPr>
          </a:p>
        </p:txBody>
      </p:sp>
      <p:sp>
        <p:nvSpPr>
          <p:cNvPr id="5" name="文本框 14">
            <a:extLst>
              <a:ext uri="{FF2B5EF4-FFF2-40B4-BE49-F238E27FC236}">
                <a16:creationId xmlns:a16="http://schemas.microsoft.com/office/drawing/2014/main" id="{EEBA4130-523D-48E9-92AE-CED4186937C9}"/>
              </a:ext>
            </a:extLst>
          </p:cNvPr>
          <p:cNvSpPr txBox="1"/>
          <p:nvPr>
            <p:custDataLst>
              <p:tags r:id="rId2"/>
            </p:custDataLst>
          </p:nvPr>
        </p:nvSpPr>
        <p:spPr>
          <a:xfrm>
            <a:off x="698500" y="5011420"/>
            <a:ext cx="11126470" cy="932180"/>
          </a:xfrm>
          <a:prstGeom prst="rect">
            <a:avLst/>
          </a:prstGeom>
          <a:noFill/>
        </p:spPr>
        <p:txBody>
          <a:bodyPr wrap="square" rtlCol="0" anchor="ctr" anchorCtr="0">
            <a:noAutofit/>
          </a:bodyPr>
          <a:lstStyle/>
          <a:p>
            <a:pPr lvl="0" indent="0" algn="just">
              <a:lnSpc>
                <a:spcPct val="9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P(Y=是|X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中年</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=低,X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3</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=不单,X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4</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=一般)αP(是)P(</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中年</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|是)P（低|是)P(不单|是)P(一般|是)</a:t>
            </a:r>
          </a:p>
          <a:p>
            <a:pPr lvl="0" indent="0" algn="just">
              <a:lnSpc>
                <a:spcPct val="90000"/>
              </a:lnSpc>
              <a:spcAft>
                <a:spcPts val="800"/>
              </a:spcAft>
              <a:buClr>
                <a:schemeClr val="tx1">
                  <a:lumMod val="65000"/>
                  <a:lumOff val="35000"/>
                </a:schemeClr>
              </a:buClr>
              <a:buNone/>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P(Y=否|X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1</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中年</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2</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=低,X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3</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=不单</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X</a:t>
            </a:r>
            <a:r>
              <a:rPr lang="en-US" altLang="zh-CN" sz="1900" spc="100" baseline="-250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4</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=一般)αP(否)P(</a:t>
            </a:r>
            <a:r>
              <a:rPr lang="zh-CN" altLang="en-US"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中年</a:t>
            </a: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|否)P(低|否)P（不单|否)P（一般|否)</a:t>
            </a:r>
          </a:p>
        </p:txBody>
      </p:sp>
      <p:sp>
        <p:nvSpPr>
          <p:cNvPr id="6" name="文本框 5">
            <a:extLst>
              <a:ext uri="{FF2B5EF4-FFF2-40B4-BE49-F238E27FC236}">
                <a16:creationId xmlns:a16="http://schemas.microsoft.com/office/drawing/2014/main" id="{972EE863-A0FD-42F2-BEC1-90D50BC9F833}"/>
              </a:ext>
            </a:extLst>
          </p:cNvPr>
          <p:cNvSpPr txBox="1"/>
          <p:nvPr/>
        </p:nvSpPr>
        <p:spPr>
          <a:xfrm>
            <a:off x="889635" y="1682115"/>
            <a:ext cx="9965055" cy="3307715"/>
          </a:xfrm>
          <a:prstGeom prst="rect">
            <a:avLst/>
          </a:prstGeom>
          <a:noFill/>
        </p:spPr>
        <p:txBody>
          <a:bodyPr wrap="square" rtlCol="0">
            <a:spAutoFit/>
          </a:bodyPr>
          <a:lstStyle/>
          <a:p>
            <a:r>
              <a:rPr lang="zh-CN" altLang="en-US" sz="2000" b="1" dirty="0"/>
              <a:t>拉普拉斯平滑</a:t>
            </a:r>
            <a:r>
              <a:rPr lang="zh-CN" altLang="en-US" dirty="0"/>
              <a:t>：分类过程中，有时会碰到零概率问题，即某个带预测样本中的某个属性取值在样本中没有出现过，会导致整个概率的计算结果为0。拉普拉斯平滑通过在分子、分母上加上调整可以很好的解决这类问题。</a:t>
            </a:r>
          </a:p>
          <a:p>
            <a:endParaRPr lang="zh-CN" altLang="en-US" dirty="0"/>
          </a:p>
          <a:p>
            <a:endParaRPr lang="zh-CN" altLang="en-US" dirty="0"/>
          </a:p>
          <a:p>
            <a:endParaRPr lang="zh-CN" altLang="en-US" dirty="0"/>
          </a:p>
          <a:p>
            <a:pPr>
              <a:lnSpc>
                <a:spcPct val="50000"/>
              </a:lnSpc>
            </a:pPr>
            <a:endParaRPr lang="zh-CN" altLang="en-US" dirty="0"/>
          </a:p>
          <a:p>
            <a:r>
              <a:rPr lang="zh-CN" altLang="en-US" dirty="0"/>
              <a:t>P(X</a:t>
            </a:r>
            <a:r>
              <a:rPr lang="zh-CN" altLang="en-US" baseline="-25000" dirty="0"/>
              <a:t>i</a:t>
            </a:r>
            <a:r>
              <a:rPr lang="zh-CN" altLang="en-US" dirty="0"/>
              <a:t>=x</a:t>
            </a:r>
            <a:r>
              <a:rPr lang="zh-CN" altLang="en-US" baseline="-25000" dirty="0"/>
              <a:t>i</a:t>
            </a:r>
            <a:r>
              <a:rPr lang="zh-CN" altLang="en-US" dirty="0"/>
              <a:t>lY =</a:t>
            </a:r>
            <a:r>
              <a:rPr lang="en-US" altLang="zh-CN" dirty="0"/>
              <a:t>C</a:t>
            </a:r>
            <a:r>
              <a:rPr lang="zh-CN" altLang="en-US" baseline="-25000" dirty="0"/>
              <a:t>j</a:t>
            </a:r>
            <a:r>
              <a:rPr lang="zh-CN" altLang="en-US" dirty="0"/>
              <a:t>)=  </a:t>
            </a:r>
            <a:r>
              <a:rPr lang="zh-CN" altLang="en-US" u="sng" dirty="0">
                <a:sym typeface="+mn-ea"/>
              </a:rPr>
              <a:t>n</a:t>
            </a:r>
            <a:r>
              <a:rPr lang="zh-CN" altLang="en-US" u="sng" baseline="-25000" dirty="0">
                <a:sym typeface="+mn-ea"/>
              </a:rPr>
              <a:t>i</a:t>
            </a:r>
            <a:r>
              <a:rPr lang="zh-CN" altLang="en-US" u="sng" dirty="0">
                <a:sym typeface="+mn-ea"/>
              </a:rPr>
              <a:t> </a:t>
            </a:r>
            <a:r>
              <a:rPr lang="en-US" altLang="zh-CN" u="sng" baseline="-25000" dirty="0"/>
              <a:t>       </a:t>
            </a:r>
            <a:endParaRPr lang="zh-CN" altLang="en-US" dirty="0"/>
          </a:p>
          <a:p>
            <a:r>
              <a:rPr lang="zh-CN" altLang="en-US" dirty="0"/>
              <a:t>                          N</a:t>
            </a:r>
          </a:p>
          <a:p>
            <a:endParaRPr lang="zh-CN" altLang="en-US" dirty="0"/>
          </a:p>
          <a:p>
            <a:r>
              <a:rPr lang="zh-CN" altLang="en-US" dirty="0"/>
              <a:t>以之前的购买记录分类为例：</a:t>
            </a:r>
          </a:p>
          <a:p>
            <a:r>
              <a:rPr lang="zh-CN" altLang="en-US" dirty="0"/>
              <a:t>P（中年|否）=（0/14）/（5/14）=0</a:t>
            </a:r>
          </a:p>
        </p:txBody>
      </p:sp>
      <p:sp>
        <p:nvSpPr>
          <p:cNvPr id="7" name="文本框 6">
            <a:extLst>
              <a:ext uri="{FF2B5EF4-FFF2-40B4-BE49-F238E27FC236}">
                <a16:creationId xmlns:a16="http://schemas.microsoft.com/office/drawing/2014/main" id="{9E470C44-027C-4563-994E-8C289E83CEC1}"/>
              </a:ext>
            </a:extLst>
          </p:cNvPr>
          <p:cNvSpPr txBox="1"/>
          <p:nvPr/>
        </p:nvSpPr>
        <p:spPr>
          <a:xfrm>
            <a:off x="5205730" y="3495675"/>
            <a:ext cx="4793615" cy="645160"/>
          </a:xfrm>
          <a:prstGeom prst="rect">
            <a:avLst/>
          </a:prstGeom>
          <a:noFill/>
        </p:spPr>
        <p:txBody>
          <a:bodyPr wrap="none" rtlCol="0">
            <a:spAutoFit/>
          </a:bodyPr>
          <a:lstStyle/>
          <a:p>
            <a:pPr algn="l"/>
            <a:r>
              <a:rPr lang="zh-CN" altLang="en-US">
                <a:sym typeface="+mn-ea"/>
              </a:rPr>
              <a:t>P(X</a:t>
            </a:r>
            <a:r>
              <a:rPr lang="zh-CN" altLang="en-US" baseline="-25000">
                <a:sym typeface="+mn-ea"/>
              </a:rPr>
              <a:t>i</a:t>
            </a:r>
            <a:r>
              <a:rPr lang="zh-CN" altLang="en-US">
                <a:sym typeface="+mn-ea"/>
              </a:rPr>
              <a:t>=x</a:t>
            </a:r>
            <a:r>
              <a:rPr lang="zh-CN" altLang="en-US" baseline="-25000">
                <a:sym typeface="+mn-ea"/>
              </a:rPr>
              <a:t>i</a:t>
            </a:r>
            <a:r>
              <a:rPr lang="zh-CN" altLang="en-US">
                <a:sym typeface="+mn-ea"/>
              </a:rPr>
              <a:t>lY =</a:t>
            </a:r>
            <a:r>
              <a:rPr lang="en-US" altLang="zh-CN">
                <a:sym typeface="+mn-ea"/>
              </a:rPr>
              <a:t>C</a:t>
            </a:r>
            <a:r>
              <a:rPr lang="zh-CN" altLang="en-US" baseline="-25000">
                <a:sym typeface="+mn-ea"/>
              </a:rPr>
              <a:t>j</a:t>
            </a:r>
            <a:r>
              <a:rPr lang="zh-CN" altLang="en-US">
                <a:sym typeface="+mn-ea"/>
              </a:rPr>
              <a:t>)=</a:t>
            </a:r>
            <a:r>
              <a:rPr lang="zh-CN" altLang="en-US" u="sng">
                <a:sym typeface="+mn-ea"/>
              </a:rPr>
              <a:t>n</a:t>
            </a:r>
            <a:r>
              <a:rPr lang="zh-CN" altLang="en-US" u="sng" baseline="-25000">
                <a:sym typeface="+mn-ea"/>
              </a:rPr>
              <a:t>i</a:t>
            </a:r>
            <a:r>
              <a:rPr lang="zh-CN" altLang="en-US" u="sng">
                <a:sym typeface="+mn-ea"/>
              </a:rPr>
              <a:t>+1 </a:t>
            </a:r>
            <a:r>
              <a:rPr lang="zh-CN" altLang="en-US">
                <a:sym typeface="+mn-ea"/>
              </a:rPr>
              <a:t>，其中k为输出分类的个数</a:t>
            </a:r>
            <a:endParaRPr lang="zh-CN" altLang="en-US"/>
          </a:p>
          <a:p>
            <a:pPr algn="l"/>
            <a:r>
              <a:rPr lang="zh-CN" altLang="en-US">
                <a:sym typeface="+mn-ea"/>
              </a:rPr>
              <a:t>                        N+k</a:t>
            </a:r>
            <a:endParaRPr lang="zh-CN" altLang="en-US"/>
          </a:p>
        </p:txBody>
      </p:sp>
      <p:pic>
        <p:nvPicPr>
          <p:cNvPr id="8" name="图片 7">
            <a:extLst>
              <a:ext uri="{FF2B5EF4-FFF2-40B4-BE49-F238E27FC236}">
                <a16:creationId xmlns:a16="http://schemas.microsoft.com/office/drawing/2014/main" id="{0E80E6C7-978E-4807-976F-5A8EE4692C61}"/>
              </a:ext>
            </a:extLst>
          </p:cNvPr>
          <p:cNvPicPr>
            <a:picLocks noChangeAspect="1"/>
          </p:cNvPicPr>
          <p:nvPr/>
        </p:nvPicPr>
        <p:blipFill>
          <a:blip r:embed="rId4"/>
          <a:stretch>
            <a:fillRect/>
          </a:stretch>
        </p:blipFill>
        <p:spPr>
          <a:xfrm>
            <a:off x="3007360" y="2631440"/>
            <a:ext cx="5227320" cy="662940"/>
          </a:xfrm>
          <a:prstGeom prst="rect">
            <a:avLst/>
          </a:prstGeom>
        </p:spPr>
      </p:pic>
      <p:sp>
        <p:nvSpPr>
          <p:cNvPr id="9" name="右箭头 8">
            <a:extLst>
              <a:ext uri="{FF2B5EF4-FFF2-40B4-BE49-F238E27FC236}">
                <a16:creationId xmlns:a16="http://schemas.microsoft.com/office/drawing/2014/main" id="{AC809615-707B-4F33-8B21-FA4878C54207}"/>
              </a:ext>
            </a:extLst>
          </p:cNvPr>
          <p:cNvSpPr/>
          <p:nvPr/>
        </p:nvSpPr>
        <p:spPr>
          <a:xfrm>
            <a:off x="3632835" y="3522345"/>
            <a:ext cx="883285" cy="618490"/>
          </a:xfrm>
          <a:prstGeom prst="righ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 name="表格 9">
            <a:extLst>
              <a:ext uri="{FF2B5EF4-FFF2-40B4-BE49-F238E27FC236}">
                <a16:creationId xmlns:a16="http://schemas.microsoft.com/office/drawing/2014/main" id="{CD304293-CD16-4442-952A-167C3ABD67F2}"/>
              </a:ext>
            </a:extLst>
          </p:cNvPr>
          <p:cNvGraphicFramePr/>
          <p:nvPr/>
        </p:nvGraphicFramePr>
        <p:xfrm>
          <a:off x="5365115" y="4250690"/>
          <a:ext cx="3705860" cy="381000"/>
        </p:xfrm>
        <a:graphic>
          <a:graphicData uri="http://schemas.openxmlformats.org/drawingml/2006/table">
            <a:tbl>
              <a:tblPr firstRow="1" bandRow="1">
                <a:tableStyleId>{5C22544A-7EE6-4342-B048-85BDC9FD1C3A}</a:tableStyleId>
              </a:tblPr>
              <a:tblGrid>
                <a:gridCol w="926465">
                  <a:extLst>
                    <a:ext uri="{9D8B030D-6E8A-4147-A177-3AD203B41FA5}">
                      <a16:colId xmlns:a16="http://schemas.microsoft.com/office/drawing/2014/main" val="20000"/>
                    </a:ext>
                  </a:extLst>
                </a:gridCol>
                <a:gridCol w="926465">
                  <a:extLst>
                    <a:ext uri="{9D8B030D-6E8A-4147-A177-3AD203B41FA5}">
                      <a16:colId xmlns:a16="http://schemas.microsoft.com/office/drawing/2014/main" val="20001"/>
                    </a:ext>
                  </a:extLst>
                </a:gridCol>
                <a:gridCol w="926465">
                  <a:extLst>
                    <a:ext uri="{9D8B030D-6E8A-4147-A177-3AD203B41FA5}">
                      <a16:colId xmlns:a16="http://schemas.microsoft.com/office/drawing/2014/main" val="20002"/>
                    </a:ext>
                  </a:extLst>
                </a:gridCol>
                <a:gridCol w="926465">
                  <a:extLst>
                    <a:ext uri="{9D8B030D-6E8A-4147-A177-3AD203B41FA5}">
                      <a16:colId xmlns:a16="http://schemas.microsoft.com/office/drawing/2014/main" val="20003"/>
                    </a:ext>
                  </a:extLst>
                </a:gridCol>
              </a:tblGrid>
              <a:tr h="381000">
                <a:tc>
                  <a:txBody>
                    <a:bodyPr/>
                    <a:lstStyle/>
                    <a:p>
                      <a:pPr>
                        <a:buNone/>
                      </a:pPr>
                      <a:r>
                        <a:rPr lang="en-US" altLang="zh-CN">
                          <a:solidFill>
                            <a:schemeClr val="tx1"/>
                          </a:solidFill>
                        </a:rPr>
                        <a:t>    </a:t>
                      </a:r>
                      <a:r>
                        <a:rPr lang="zh-CN" altLang="en-US">
                          <a:solidFill>
                            <a:schemeClr val="tx1"/>
                          </a:solidFill>
                        </a:rPr>
                        <a:t>中年</a:t>
                      </a:r>
                    </a:p>
                  </a:txBody>
                  <a:tcPr>
                    <a:solidFill>
                      <a:schemeClr val="accent3">
                        <a:lumMod val="20000"/>
                        <a:lumOff val="80000"/>
                      </a:schemeClr>
                    </a:solidFill>
                  </a:tcPr>
                </a:tc>
                <a:tc>
                  <a:txBody>
                    <a:bodyPr/>
                    <a:lstStyle/>
                    <a:p>
                      <a:pPr>
                        <a:buNone/>
                      </a:pPr>
                      <a:r>
                        <a:rPr lang="en-US" altLang="zh-CN"/>
                        <a:t>   </a:t>
                      </a:r>
                      <a:r>
                        <a:rPr lang="zh-CN" altLang="en-US">
                          <a:solidFill>
                            <a:schemeClr val="tx1"/>
                          </a:solidFill>
                        </a:rPr>
                        <a:t>高</a:t>
                      </a:r>
                    </a:p>
                  </a:txBody>
                  <a:tcPr>
                    <a:solidFill>
                      <a:schemeClr val="accent3">
                        <a:lumMod val="20000"/>
                        <a:lumOff val="80000"/>
                      </a:schemeClr>
                    </a:solidFill>
                  </a:tcPr>
                </a:tc>
                <a:tc>
                  <a:txBody>
                    <a:bodyPr/>
                    <a:lstStyle/>
                    <a:p>
                      <a:pPr>
                        <a:buNone/>
                      </a:pPr>
                      <a:r>
                        <a:rPr lang="en-US" altLang="zh-CN">
                          <a:solidFill>
                            <a:schemeClr val="tx1"/>
                          </a:solidFill>
                        </a:rPr>
                        <a:t>   </a:t>
                      </a:r>
                      <a:r>
                        <a:rPr lang="zh-CN" altLang="en-US">
                          <a:solidFill>
                            <a:schemeClr val="tx1"/>
                          </a:solidFill>
                        </a:rPr>
                        <a:t>否   </a:t>
                      </a:r>
                    </a:p>
                  </a:txBody>
                  <a:tcPr>
                    <a:solidFill>
                      <a:schemeClr val="accent3">
                        <a:lumMod val="20000"/>
                        <a:lumOff val="80000"/>
                      </a:schemeClr>
                    </a:solidFill>
                  </a:tcPr>
                </a:tc>
                <a:tc>
                  <a:txBody>
                    <a:bodyPr/>
                    <a:lstStyle/>
                    <a:p>
                      <a:pPr>
                        <a:buNone/>
                      </a:pPr>
                      <a:r>
                        <a:rPr lang="en-US" altLang="zh-CN"/>
                        <a:t>   </a:t>
                      </a:r>
                      <a:r>
                        <a:rPr lang="zh-CN" altLang="en-US">
                          <a:solidFill>
                            <a:schemeClr val="tx1"/>
                          </a:solidFill>
                        </a:rPr>
                        <a:t>良好</a:t>
                      </a:r>
                    </a:p>
                  </a:txBody>
                  <a:tcPr>
                    <a:solidFill>
                      <a:schemeClr val="accent3">
                        <a:lumMod val="20000"/>
                        <a:lumOff val="80000"/>
                      </a:schemeClr>
                    </a:solidFill>
                  </a:tcPr>
                </a:tc>
                <a:extLst>
                  <a:ext uri="{0D108BD9-81ED-4DB2-BD59-A6C34878D82A}">
                    <a16:rowId xmlns:a16="http://schemas.microsoft.com/office/drawing/2014/main" val="10000"/>
                  </a:ext>
                </a:extLst>
              </a:tr>
            </a:tbl>
          </a:graphicData>
        </a:graphic>
      </p:graphicFrame>
      <p:sp>
        <p:nvSpPr>
          <p:cNvPr id="11" name="文本框 10">
            <a:extLst>
              <a:ext uri="{FF2B5EF4-FFF2-40B4-BE49-F238E27FC236}">
                <a16:creationId xmlns:a16="http://schemas.microsoft.com/office/drawing/2014/main" id="{D98661A4-D013-45B6-9642-2569F2096000}"/>
              </a:ext>
            </a:extLst>
          </p:cNvPr>
          <p:cNvSpPr txBox="1"/>
          <p:nvPr/>
        </p:nvSpPr>
        <p:spPr>
          <a:xfrm>
            <a:off x="4933632" y="1313815"/>
            <a:ext cx="4568825" cy="368300"/>
          </a:xfrm>
          <a:prstGeom prst="rect">
            <a:avLst/>
          </a:prstGeom>
          <a:noFill/>
        </p:spPr>
        <p:txBody>
          <a:bodyPr wrap="square" rtlCol="0">
            <a:spAutoFit/>
          </a:bodyPr>
          <a:lstStyle/>
          <a:p>
            <a:r>
              <a:rPr lang="zh-CN" altLang="en-US" dirty="0">
                <a:solidFill>
                  <a:srgbClr val="FF0000"/>
                </a:solidFill>
              </a:rPr>
              <a:t>任何一个概率为0，会导致整个分类失败</a:t>
            </a:r>
          </a:p>
        </p:txBody>
      </p:sp>
      <p:sp>
        <p:nvSpPr>
          <p:cNvPr id="12" name="文本框 11">
            <a:extLst>
              <a:ext uri="{FF2B5EF4-FFF2-40B4-BE49-F238E27FC236}">
                <a16:creationId xmlns:a16="http://schemas.microsoft.com/office/drawing/2014/main" id="{191335B3-04BC-4459-8EB2-22F3F835C7A3}"/>
              </a:ext>
            </a:extLst>
          </p:cNvPr>
          <p:cNvSpPr txBox="1"/>
          <p:nvPr/>
        </p:nvSpPr>
        <p:spPr>
          <a:xfrm>
            <a:off x="7710805" y="4621530"/>
            <a:ext cx="3454792" cy="369332"/>
          </a:xfrm>
          <a:prstGeom prst="rect">
            <a:avLst/>
          </a:prstGeom>
          <a:noFill/>
        </p:spPr>
        <p:txBody>
          <a:bodyPr wrap="none" rtlCol="0" anchor="t">
            <a:spAutoFit/>
          </a:bodyPr>
          <a:lstStyle/>
          <a:p>
            <a:r>
              <a:rPr lang="zh-CN" altLang="en-US" b="1" dirty="0">
                <a:solidFill>
                  <a:schemeClr val="tx1"/>
                </a:solidFill>
                <a:sym typeface="+mn-ea"/>
              </a:rPr>
              <a:t>P（中年|否）=（</a:t>
            </a:r>
            <a:r>
              <a:rPr lang="en-US" altLang="zh-CN" b="1" dirty="0">
                <a:solidFill>
                  <a:schemeClr val="tx1"/>
                </a:solidFill>
                <a:sym typeface="+mn-ea"/>
              </a:rPr>
              <a:t>0+1</a:t>
            </a:r>
            <a:r>
              <a:rPr lang="en-US" altLang="zh-CN" b="1" dirty="0">
                <a:sym typeface="+mn-ea"/>
              </a:rPr>
              <a:t>)</a:t>
            </a:r>
            <a:r>
              <a:rPr lang="en-US" altLang="zh-CN" b="1" dirty="0">
                <a:solidFill>
                  <a:schemeClr val="tx1"/>
                </a:solidFill>
                <a:sym typeface="+mn-ea"/>
              </a:rPr>
              <a:t>/(5+3)</a:t>
            </a:r>
            <a:r>
              <a:rPr lang="zh-CN" altLang="en-US" b="1" dirty="0">
                <a:solidFill>
                  <a:schemeClr val="tx1"/>
                </a:solidFill>
                <a:sym typeface="+mn-ea"/>
              </a:rPr>
              <a:t>=</a:t>
            </a:r>
            <a:r>
              <a:rPr lang="en-US" altLang="zh-CN" b="1" dirty="0">
                <a:solidFill>
                  <a:schemeClr val="tx1"/>
                </a:solidFill>
                <a:sym typeface="+mn-ea"/>
              </a:rPr>
              <a:t>1/8</a:t>
            </a:r>
          </a:p>
        </p:txBody>
      </p:sp>
      <p:sp>
        <p:nvSpPr>
          <p:cNvPr id="13" name="文本框 12">
            <a:extLst>
              <a:ext uri="{FF2B5EF4-FFF2-40B4-BE49-F238E27FC236}">
                <a16:creationId xmlns:a16="http://schemas.microsoft.com/office/drawing/2014/main" id="{34E27730-FA32-414A-A286-3C66128D60F5}"/>
              </a:ext>
            </a:extLst>
          </p:cNvPr>
          <p:cNvSpPr txBox="1"/>
          <p:nvPr/>
        </p:nvSpPr>
        <p:spPr>
          <a:xfrm>
            <a:off x="9893935" y="5748020"/>
            <a:ext cx="2540000" cy="368300"/>
          </a:xfrm>
          <a:prstGeom prst="rect">
            <a:avLst/>
          </a:prstGeom>
          <a:noFill/>
        </p:spPr>
        <p:txBody>
          <a:bodyPr wrap="square" rtlCol="0" anchor="t">
            <a:spAutoFit/>
          </a:bodyPr>
          <a:lstStyle/>
          <a:p>
            <a:r>
              <a:rPr lang="zh-CN" altLang="en-US">
                <a:solidFill>
                  <a:srgbClr val="FF0000"/>
                </a:solidFill>
              </a:rPr>
              <a:t>≡0</a:t>
            </a:r>
          </a:p>
        </p:txBody>
      </p:sp>
    </p:spTree>
    <p:extLst>
      <p:ext uri="{BB962C8B-B14F-4D97-AF65-F5344CB8AC3E}">
        <p14:creationId xmlns:p14="http://schemas.microsoft.com/office/powerpoint/2010/main" val="1769810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blinds(horizontal)">
                                      <p:cBhvr>
                                        <p:cTn id="22" dur="500"/>
                                        <p:tgtEl>
                                          <p:spTgt spid="6">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animEffect transition="in" filter="blinds(horizontal)">
                                      <p:cBhvr>
                                        <p:cTn id="25" dur="500"/>
                                        <p:tgtEl>
                                          <p:spTgt spid="6">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blinds(horizontal)">
                                      <p:cBhvr>
                                        <p:cTn id="30" dur="500"/>
                                        <p:tgtEl>
                                          <p:spTgt spid="7"/>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blinds(horizontal)">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6">
                                            <p:txEl>
                                              <p:pRg st="8" end="8"/>
                                            </p:txEl>
                                          </p:spTgt>
                                        </p:tgtEl>
                                        <p:attrNameLst>
                                          <p:attrName>style.visibility</p:attrName>
                                        </p:attrNameLst>
                                      </p:cBhvr>
                                      <p:to>
                                        <p:strVal val="visible"/>
                                      </p:to>
                                    </p:set>
                                    <p:animEffect transition="in" filter="blinds(horizontal)">
                                      <p:cBhvr>
                                        <p:cTn id="38" dur="500"/>
                                        <p:tgtEl>
                                          <p:spTgt spid="6">
                                            <p:txEl>
                                              <p:pRg st="8" end="8"/>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6">
                                            <p:txEl>
                                              <p:pRg st="9" end="9"/>
                                            </p:txEl>
                                          </p:spTgt>
                                        </p:tgtEl>
                                        <p:attrNameLst>
                                          <p:attrName>style.visibility</p:attrName>
                                        </p:attrNameLst>
                                      </p:cBhvr>
                                      <p:to>
                                        <p:strVal val="visible"/>
                                      </p:to>
                                    </p:set>
                                    <p:animEffect transition="in" filter="blinds(horizontal)">
                                      <p:cBhvr>
                                        <p:cTn id="41" dur="500"/>
                                        <p:tgtEl>
                                          <p:spTgt spid="6">
                                            <p:txEl>
                                              <p:pRg st="9" end="9"/>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blinds(horizontal)">
                                      <p:cBhvr>
                                        <p:cTn id="44" dur="5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nodePh="1">
                                  <p:stCondLst>
                                    <p:cond delay="0"/>
                                  </p:stCondLst>
                                  <p:endCondLst>
                                    <p:cond evt="begin" delay="0">
                                      <p:tn val="47"/>
                                    </p:cond>
                                  </p:endCondLst>
                                  <p:childTnLst>
                                    <p:set>
                                      <p:cBhvr>
                                        <p:cTn id="48" dur="1" fill="hold">
                                          <p:stCondLst>
                                            <p:cond delay="0"/>
                                          </p:stCondLst>
                                        </p:cTn>
                                        <p:tgtEl>
                                          <p:spTgt spid="5">
                                            <p:txEl>
                                              <p:pRg st="0" end="0"/>
                                            </p:txEl>
                                          </p:spTgt>
                                        </p:tgtEl>
                                        <p:attrNameLst>
                                          <p:attrName>style.visibility</p:attrName>
                                        </p:attrNameLst>
                                      </p:cBhvr>
                                      <p:to>
                                        <p:strVal val="visible"/>
                                      </p:to>
                                    </p:set>
                                    <p:animEffect transition="in" filter="blinds(horizontal)">
                                      <p:cBhvr>
                                        <p:cTn id="49" dur="500"/>
                                        <p:tgtEl>
                                          <p:spTgt spid="5">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nodePh="1">
                                  <p:stCondLst>
                                    <p:cond delay="0"/>
                                  </p:stCondLst>
                                  <p:endCondLst>
                                    <p:cond evt="begin" delay="0">
                                      <p:tn val="52"/>
                                    </p:cond>
                                  </p:endCondLst>
                                  <p:childTnLst>
                                    <p:set>
                                      <p:cBhvr>
                                        <p:cTn id="53" dur="1" fill="hold">
                                          <p:stCondLst>
                                            <p:cond delay="0"/>
                                          </p:stCondLst>
                                        </p:cTn>
                                        <p:tgtEl>
                                          <p:spTgt spid="5">
                                            <p:txEl>
                                              <p:pRg st="1" end="1"/>
                                            </p:txEl>
                                          </p:spTgt>
                                        </p:tgtEl>
                                        <p:attrNameLst>
                                          <p:attrName>style.visibility</p:attrName>
                                        </p:attrNameLst>
                                      </p:cBhvr>
                                      <p:to>
                                        <p:strVal val="visible"/>
                                      </p:to>
                                    </p:set>
                                    <p:animEffect transition="in" filter="blinds(horizontal)">
                                      <p:cBhvr>
                                        <p:cTn id="54" dur="500"/>
                                        <p:tgtEl>
                                          <p:spTgt spid="5">
                                            <p:txEl>
                                              <p:pRg st="1" end="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blinds(horizontal)">
                                      <p:cBhvr>
                                        <p:cTn id="59" dur="50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blinds(horizontal)">
                                      <p:cBhvr>
                                        <p:cTn id="6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p:bldP spid="6" grpId="0" uiExpand="1" build="p"/>
      <p:bldP spid="6" grpId="1"/>
      <p:bldP spid="7" grpId="0"/>
      <p:bldP spid="7" grpId="1"/>
      <p:bldP spid="9" grpId="0" animBg="1"/>
      <p:bldP spid="9" grpId="1" animBg="1"/>
      <p:bldP spid="11" grpId="0"/>
      <p:bldP spid="11" grpId="1"/>
      <p:bldP spid="12" grpId="0"/>
      <p:bldP spid="12" grpId="1"/>
      <p:bldP spid="13" grpId="0"/>
      <p:bldP spid="13"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B331B91D-2502-4BAD-B095-89EE1E43B323}"/>
              </a:ext>
            </a:extLst>
          </p:cNvPr>
          <p:cNvSpPr txBox="1"/>
          <p:nvPr>
            <p:custDataLst>
              <p:tags r:id="rId1"/>
            </p:custDataLst>
          </p:nvPr>
        </p:nvSpPr>
        <p:spPr>
          <a:xfrm>
            <a:off x="580459" y="306035"/>
            <a:ext cx="10974649" cy="608400"/>
          </a:xfrm>
          <a:prstGeom prst="rect">
            <a:avLst/>
          </a:prstGeom>
          <a:noFill/>
          <a:ln w="3175">
            <a:noFill/>
            <a:prstDash val="dash"/>
          </a:ln>
        </p:spPr>
        <p:txBody>
          <a:bodyPr wrap="square" lIns="90170" tIns="46990" rIns="90170" bIns="4699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nSpc>
                <a:spcPct val="100000"/>
              </a:lnSpc>
            </a:pPr>
            <a:r>
              <a:rPr altLang="zh-CN" sz="3200" spc="100" dirty="0" err="1">
                <a:latin typeface="Arial" panose="020B0604020202020204" pitchFamily="34" charset="0"/>
                <a:ea typeface="微软雅黑" panose="020B0503020204020204" charset="-122"/>
                <a:sym typeface="Arial" panose="020B0604020202020204" pitchFamily="34" charset="0"/>
              </a:rPr>
              <a:t>朴素贝叶斯算法的优缺点</a:t>
            </a:r>
            <a:endParaRPr lang="zh-CN" altLang="zh-CN" sz="3200" b="1" spc="100" dirty="0">
              <a:ln w="3175">
                <a:noFill/>
                <a:prstDash val="dash"/>
              </a:ln>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5" name="文本框 14">
            <a:extLst>
              <a:ext uri="{FF2B5EF4-FFF2-40B4-BE49-F238E27FC236}">
                <a16:creationId xmlns:a16="http://schemas.microsoft.com/office/drawing/2014/main" id="{4C44D40F-79E2-49EF-9542-37B585C195F5}"/>
              </a:ext>
            </a:extLst>
          </p:cNvPr>
          <p:cNvSpPr txBox="1"/>
          <p:nvPr>
            <p:custDataLst>
              <p:tags r:id="rId2"/>
            </p:custDataLst>
          </p:nvPr>
        </p:nvSpPr>
        <p:spPr>
          <a:xfrm>
            <a:off x="1005205" y="1599565"/>
            <a:ext cx="11126470" cy="4389755"/>
          </a:xfrm>
          <a:prstGeom prst="rect">
            <a:avLst/>
          </a:prstGeom>
          <a:noFill/>
        </p:spPr>
        <p:txBody>
          <a:bodyPr wrap="square" rtlCol="0" anchor="ctr" anchorCtr="0">
            <a:noAutofit/>
          </a:bodyPr>
          <a:lstStyle/>
          <a:p>
            <a:pPr lvl="0" indent="0" algn="just">
              <a:lnSpc>
                <a:spcPct val="80000"/>
              </a:lnSpc>
              <a:spcAft>
                <a:spcPts val="800"/>
              </a:spcAft>
              <a:buClr>
                <a:schemeClr val="tx1">
                  <a:lumMod val="65000"/>
                  <a:lumOff val="35000"/>
                </a:schemeClr>
              </a:buClr>
              <a:buNone/>
            </a:pPr>
            <a:r>
              <a:rPr lang="en-US" altLang="zh-CN" sz="2400"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NB优点：</a:t>
            </a: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marL="342900" lvl="0" indent="-342900" algn="just">
              <a:lnSpc>
                <a:spcPct val="80000"/>
              </a:lnSpc>
              <a:spcAft>
                <a:spcPts val="800"/>
              </a:spcAft>
              <a:buClr>
                <a:schemeClr val="tx1">
                  <a:lumMod val="65000"/>
                  <a:lumOff val="35000"/>
                </a:schemeClr>
              </a:buClr>
              <a:buFont typeface="Wingdings" panose="05000000000000000000" charset="0"/>
              <a:buChar char="n"/>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有统计学基础背书，分类效率稳定</a:t>
            </a:r>
          </a:p>
          <a:p>
            <a:pPr marL="342900" lvl="0" indent="-342900" algn="just">
              <a:lnSpc>
                <a:spcPct val="80000"/>
              </a:lnSpc>
              <a:spcAft>
                <a:spcPts val="800"/>
              </a:spcAft>
              <a:buClr>
                <a:schemeClr val="tx1">
                  <a:lumMod val="65000"/>
                  <a:lumOff val="35000"/>
                </a:schemeClr>
              </a:buClr>
              <a:buFont typeface="Wingdings" panose="05000000000000000000" charset="0"/>
              <a:buChar char="n"/>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支持多分类任务</a:t>
            </a:r>
          </a:p>
          <a:p>
            <a:pPr marL="342900" lvl="0" indent="-342900" algn="just">
              <a:lnSpc>
                <a:spcPct val="80000"/>
              </a:lnSpc>
              <a:spcAft>
                <a:spcPts val="800"/>
              </a:spcAft>
              <a:buClr>
                <a:schemeClr val="tx1">
                  <a:lumMod val="65000"/>
                  <a:lumOff val="35000"/>
                </a:schemeClr>
              </a:buClr>
              <a:buFont typeface="Wingdings" panose="05000000000000000000" charset="0"/>
              <a:buChar char="n"/>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对缺失数据不敏感</a:t>
            </a:r>
          </a:p>
          <a:p>
            <a:pPr marL="342900" lvl="0" indent="-342900" algn="just">
              <a:lnSpc>
                <a:spcPct val="80000"/>
              </a:lnSpc>
              <a:spcAft>
                <a:spcPts val="800"/>
              </a:spcAft>
              <a:buClr>
                <a:schemeClr val="tx1">
                  <a:lumMod val="65000"/>
                  <a:lumOff val="35000"/>
                </a:schemeClr>
              </a:buClr>
              <a:buFont typeface="Wingdings" panose="05000000000000000000" charset="0"/>
              <a:buChar char="n"/>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算法简单，模型容易解释</a:t>
            </a:r>
          </a:p>
          <a:p>
            <a:pPr marL="342900" lvl="0" indent="-342900" algn="just">
              <a:lnSpc>
                <a:spcPct val="80000"/>
              </a:lnSpc>
              <a:spcAft>
                <a:spcPts val="800"/>
              </a:spcAft>
              <a:buClr>
                <a:schemeClr val="tx1">
                  <a:lumMod val="65000"/>
                  <a:lumOff val="35000"/>
                </a:schemeClr>
              </a:buClr>
              <a:buFont typeface="Wingdings" panose="05000000000000000000" charset="0"/>
              <a:buChar char="n"/>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计算量小，支持海量数据</a:t>
            </a:r>
          </a:p>
          <a:p>
            <a:pPr marL="342900" lvl="0" indent="-342900" algn="just">
              <a:lnSpc>
                <a:spcPct val="80000"/>
              </a:lnSpc>
              <a:spcAft>
                <a:spcPts val="800"/>
              </a:spcAft>
              <a:buClr>
                <a:schemeClr val="tx1">
                  <a:lumMod val="65000"/>
                  <a:lumOff val="35000"/>
                </a:schemeClr>
              </a:buClr>
              <a:buFont typeface="Wingdings" panose="05000000000000000000" charset="0"/>
              <a:buChar char="n"/>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支持增量式计算，可用作在线预测</a:t>
            </a:r>
          </a:p>
          <a:p>
            <a:pPr lvl="0" indent="0" algn="just">
              <a:lnSpc>
                <a:spcPct val="150000"/>
              </a:lnSpc>
              <a:spcAft>
                <a:spcPts val="800"/>
              </a:spcAft>
              <a:buClr>
                <a:schemeClr val="tx1">
                  <a:lumMod val="65000"/>
                  <a:lumOff val="35000"/>
                </a:schemeClr>
              </a:buClr>
              <a:buNone/>
            </a:pPr>
            <a:r>
              <a:rPr lang="en-US" altLang="zh-CN" sz="2400" b="1"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NB缺点：</a:t>
            </a:r>
            <a:endPar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marL="342900" lvl="0" indent="-342900" algn="just">
              <a:lnSpc>
                <a:spcPct val="80000"/>
              </a:lnSpc>
              <a:spcAft>
                <a:spcPts val="800"/>
              </a:spcAft>
              <a:buClr>
                <a:schemeClr val="tx1">
                  <a:lumMod val="65000"/>
                  <a:lumOff val="35000"/>
                </a:schemeClr>
              </a:buClr>
              <a:buFont typeface="Wingdings" panose="05000000000000000000" charset="0"/>
              <a:buChar char="n"/>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需要有先验概率，不同值对结果有影响</a:t>
            </a:r>
          </a:p>
          <a:p>
            <a:pPr marL="342900" lvl="0" indent="-342900" algn="just">
              <a:lnSpc>
                <a:spcPct val="80000"/>
              </a:lnSpc>
              <a:spcAft>
                <a:spcPts val="800"/>
              </a:spcAft>
              <a:buClr>
                <a:schemeClr val="tx1">
                  <a:lumMod val="65000"/>
                  <a:lumOff val="35000"/>
                </a:schemeClr>
              </a:buClr>
              <a:buFont typeface="Wingdings" panose="05000000000000000000" charset="0"/>
              <a:buChar char="n"/>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分类决策存在错误率</a:t>
            </a:r>
          </a:p>
          <a:p>
            <a:pPr marL="342900" lvl="0" indent="-342900" algn="just">
              <a:lnSpc>
                <a:spcPct val="80000"/>
              </a:lnSpc>
              <a:spcAft>
                <a:spcPts val="800"/>
              </a:spcAft>
              <a:buClr>
                <a:schemeClr val="tx1">
                  <a:lumMod val="65000"/>
                  <a:lumOff val="35000"/>
                </a:schemeClr>
              </a:buClr>
              <a:buFont typeface="Wingdings" panose="05000000000000000000" charset="0"/>
              <a:buChar char="n"/>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对输入数据表达形式敏感</a:t>
            </a:r>
          </a:p>
          <a:p>
            <a:pPr marL="342900" lvl="0" indent="-342900" algn="just">
              <a:lnSpc>
                <a:spcPct val="80000"/>
              </a:lnSpc>
              <a:spcAft>
                <a:spcPts val="800"/>
              </a:spcAft>
              <a:buClr>
                <a:schemeClr val="tx1">
                  <a:lumMod val="65000"/>
                  <a:lumOff val="35000"/>
                </a:schemeClr>
              </a:buClr>
              <a:buFont typeface="Wingdings" panose="05000000000000000000" charset="0"/>
              <a:buChar char="n"/>
            </a:pPr>
            <a:r>
              <a:rPr lang="en-US" altLang="zh-CN" sz="1900" spc="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“朴素”的假设对结果影响大</a:t>
            </a:r>
          </a:p>
        </p:txBody>
      </p:sp>
    </p:spTree>
    <p:extLst>
      <p:ext uri="{BB962C8B-B14F-4D97-AF65-F5344CB8AC3E}">
        <p14:creationId xmlns:p14="http://schemas.microsoft.com/office/powerpoint/2010/main" val="30280458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2"/>
            </p:custDataLst>
          </p:nvPr>
        </p:nvSpPr>
        <p:spPr/>
        <p:txBody>
          <a:bodyPr/>
          <a:lstStyle/>
          <a:p>
            <a:r>
              <a:rPr lang="en-US" altLang="zh-CN" dirty="0"/>
              <a:t>THANKS</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884"/>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884"/>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3884"/>
  <p:tag name="KSO_WM_TEMPLATE_MASTER_THUMB_INDEX" val="12"/>
  <p:tag name="KSO_WM_TEMPLATE_THUMBS_INDEX" val="1、4、7、8、11、14、15、16、17、18、19、20、21、22、23、24、25、26"/>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_1*y*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4"/>
  <p:tag name="KSO_WM_UNIT_ID" val="_1*y*4"/>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2"/>
  <p:tag name="KSO_WM_UNIT_ID" val="_1*y*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3"/>
  <p:tag name="KSO_WM_UNIT_ID" val="_1*y*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1"/>
  <p:tag name="KSO_WM_UNIT_LAYERLEVEL" val="1"/>
  <p:tag name="KSO_WM_TAG_VERSION" val="1.0"/>
  <p:tag name="KSO_WM_BEAUTIFY_FLAG" val="#wm#"/>
  <p:tag name="KSO_WM_UNIT_TYPE" val="i"/>
  <p:tag name="KSO_WM_UNIT_INDEX" val="1"/>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5"/>
  <p:tag name="KSO_WM_UNIT_LAYERLEVEL" val="1"/>
  <p:tag name="KSO_WM_TAG_VERSION" val="1.0"/>
  <p:tag name="KSO_WM_BEAUTIFY_FLAG" val="#wm#"/>
  <p:tag name="KSO_WM_UNIT_TYPE" val="i"/>
  <p:tag name="KSO_WM_UNIT_INDEX" val="5"/>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2"/>
  <p:tag name="KSO_WM_UNIT_LAYERLEVEL" val="1"/>
  <p:tag name="KSO_WM_TAG_VERSION" val="1.0"/>
  <p:tag name="KSO_WM_BEAUTIFY_FLAG" val="#wm#"/>
  <p:tag name="KSO_WM_UNIT_TYPE" val="i"/>
  <p:tag name="KSO_WM_UNIT_INDEX" val="2"/>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3"/>
  <p:tag name="KSO_WM_UNIT_LAYERLEVEL" val="1"/>
  <p:tag name="KSO_WM_TAG_VERSION" val="1.0"/>
  <p:tag name="KSO_WM_BEAUTIFY_FLAG" val="#wm#"/>
  <p:tag name="KSO_WM_UNIT_TYPE" val="i"/>
  <p:tag name="KSO_WM_UNIT_INDEX" val="3"/>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4"/>
  <p:tag name="KSO_WM_UNIT_LAYERLEVEL" val="1"/>
  <p:tag name="KSO_WM_TAG_VERSION" val="1.0"/>
  <p:tag name="KSO_WM_BEAUTIFY_FLAG" val="#wm#"/>
  <p:tag name="KSO_WM_UNIT_TYPE" val="i"/>
  <p:tag name="KSO_WM_UNIT_INDEX" val="4"/>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2*i*3"/>
  <p:tag name="KSO_WM_UNIT_LAYERLEVEL" val="1"/>
  <p:tag name="KSO_WM_TAG_VERSION" val="1.0"/>
  <p:tag name="KSO_WM_BEAUTIFY_FLAG" val="#wm#"/>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2*i*4"/>
  <p:tag name="KSO_WM_UNIT_LAYERLEVEL" val="1"/>
  <p:tag name="KSO_WM_TAG_VERSION" val="1.0"/>
  <p:tag name="KSO_WM_BEAUTIFY_FLAG" val="#wm#"/>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3*i*2"/>
  <p:tag name="KSO_WM_UNIT_LAYERLEVEL" val="1"/>
  <p:tag name="KSO_WM_TAG_VERSION" val="1.0"/>
  <p:tag name="KSO_WM_BEAUTIFY_FLAG" val="#wm#"/>
  <p:tag name="KSO_WM_SLIDE_BACKGROUND_TYPE" val="frame"/>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3*i*4"/>
  <p:tag name="KSO_WM_UNIT_LAYERLEVEL" val="1"/>
  <p:tag name="KSO_WM_TAG_VERSION" val="1.0"/>
  <p:tag name="KSO_WM_BEAUTIFY_FLAG" val="#wm#"/>
  <p:tag name="KSO_WM_SLIDE_BACKGROUND_TYPE" val="frame"/>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3*i*4"/>
  <p:tag name="KSO_WM_UNIT_LAYERLEVEL" val="1"/>
  <p:tag name="KSO_WM_TAG_VERSION" val="1.0"/>
  <p:tag name="KSO_WM_BEAUTIFY_FLAG" val="#wm#"/>
  <p:tag name="KSO_WM_SLIDE_BACKGROUND_TYPE" val="frame"/>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4*i*5"/>
  <p:tag name="KSO_WM_UNIT_LAYERLEVEL" val="1"/>
  <p:tag name="KSO_WM_TAG_VERSION" val="1.0"/>
  <p:tag name="KSO_WM_BEAUTIFY_FLAG" val="#wm#"/>
  <p:tag name="KSO_WM_SLIDE_BACKGROUND_TYPE" val="leftRight"/>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UNIT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4*i*2"/>
  <p:tag name="KSO_WM_UNIT_LAYERLEVEL" val="1"/>
  <p:tag name="KSO_WM_TAG_VERSION" val="1.0"/>
  <p:tag name="KSO_WM_BEAUTIFY_FLAG" val="#wm#"/>
  <p:tag name="KSO_WM_SLIDE_BACKGROUND_TYPE" val="leftRight"/>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4*i*3"/>
  <p:tag name="KSO_WM_UNIT_LAYERLEVEL" val="1"/>
  <p:tag name="KSO_WM_TAG_VERSION" val="1.0"/>
  <p:tag name="KSO_WM_BEAUTIFY_FLAG" val="#wm#"/>
  <p:tag name="KSO_WM_SLIDE_BACKGROUND_TYPE" val="leftRight"/>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5*i*2"/>
  <p:tag name="KSO_WM_UNIT_LAYERLEVEL" val="1"/>
  <p:tag name="KSO_WM_TAG_VERSION" val="1.0"/>
  <p:tag name="KSO_WM_BEAUTIFY_FLAG" val="#wm#"/>
  <p:tag name="KSO_WM_SLIDE_BACKGROUND_TYPE" val="topBotto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5*i*3"/>
  <p:tag name="KSO_WM_UNIT_LAYERLEVEL" val="1"/>
  <p:tag name="KSO_WM_TAG_VERSION" val="1.0"/>
  <p:tag name="KSO_WM_BEAUTIFY_FLAG" val="#wm#"/>
  <p:tag name="KSO_WM_SLIDE_BACKGROUND_TYPE" val="topBotto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5*i*4"/>
  <p:tag name="KSO_WM_UNIT_LAYERLEVEL" val="1"/>
  <p:tag name="KSO_WM_TAG_VERSION" val="1.0"/>
  <p:tag name="KSO_WM_BEAUTIFY_FLAG" val="#wm#"/>
  <p:tag name="KSO_WM_SLIDE_BACKGROUND_TYPE" val="topBotto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UNIT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6*i*4"/>
  <p:tag name="KSO_WM_UNIT_LAYERLEVEL" val="1"/>
  <p:tag name="KSO_WM_TAG_VERSION" val="1.0"/>
  <p:tag name="KSO_WM_BEAUTIFY_FLAG" val="#wm#"/>
  <p:tag name="KSO_WM_SLIDE_BACKGROUND_TYPE" val="bottomTop"/>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UNIT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6*i*2"/>
  <p:tag name="KSO_WM_UNIT_LAYERLEVEL" val="1"/>
  <p:tag name="KSO_WM_TAG_VERSION" val="1.0"/>
  <p:tag name="KSO_WM_BEAUTIFY_FLAG" val="#wm#"/>
  <p:tag name="KSO_WM_SLIDE_BACKGROUND_TYPE" val="bottomTop"/>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6*i*3"/>
  <p:tag name="KSO_WM_UNIT_LAYERLEVEL" val="1"/>
  <p:tag name="KSO_WM_TAG_VERSION" val="1.0"/>
  <p:tag name="KSO_WM_BEAUTIFY_FLAG" val="#wm#"/>
  <p:tag name="KSO_WM_SLIDE_BACKGROUND_TYPE" val="bottomTop"/>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7*i*2"/>
  <p:tag name="KSO_WM_UNIT_LAYERLEVEL" val="1"/>
  <p:tag name="KSO_WM_TAG_VERSION" val="1.0"/>
  <p:tag name="KSO_WM_BEAUTIFY_FLAG" val="#wm#"/>
  <p:tag name="KSO_WM_SLIDE_BACKGROUND_TYPE" val="navigation"/>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7*i*3"/>
  <p:tag name="KSO_WM_UNIT_LAYERLEVEL" val="1"/>
  <p:tag name="KSO_WM_TAG_VERSION" val="1.0"/>
  <p:tag name="KSO_WM_BEAUTIFY_FLAG" val="#wm#"/>
  <p:tag name="KSO_WM_SLIDE_BACKGROUND_TYPE" val="navigation"/>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7*i*4"/>
  <p:tag name="KSO_WM_UNIT_LAYERLEVEL" val="1"/>
  <p:tag name="KSO_WM_TAG_VERSION" val="1.0"/>
  <p:tag name="KSO_WM_BEAUTIFY_FLAG" val="#wm#"/>
  <p:tag name="KSO_WM_SLIDE_BACKGROUND_TYPE" val="navigation"/>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UNIT_BK_DARK_LIGHT" val="2"/>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59.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60.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8*i*1"/>
  <p:tag name="KSO_WM_UNIT_LAYERLEVEL" val="1"/>
  <p:tag name="KSO_WM_TAG_VERSION" val="1.0"/>
  <p:tag name="KSO_WM_BEAUTIFY_FLAG" val="#wm#"/>
  <p:tag name="KSO_WM_SLIDE_BACKGROUND_TYPE" val="belt"/>
  <p:tag name="KSO_WM_SLIDE_BK_DARK_LIGHT" val="2"/>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8*i*2"/>
  <p:tag name="KSO_WM_UNIT_LAYERLEVEL" val="1"/>
  <p:tag name="KSO_WM_TAG_VERSION" val="1.0"/>
  <p:tag name="KSO_WM_BEAUTIFY_FLAG" val="#wm#"/>
  <p:tag name="KSO_WM_SLIDE_BACKGROUND_TYPE" val="belt"/>
  <p:tag name="KSO_WM_SLIDE_BK_DARK_LIGHT" val="2"/>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8*i*1"/>
  <p:tag name="KSO_WM_UNIT_LAYERLEVEL" val="1"/>
  <p:tag name="KSO_WM_TAG_VERSION" val="1.0"/>
  <p:tag name="KSO_WM_BEAUTIFY_FLAG" val="#wm#"/>
  <p:tag name="KSO_WM_SLIDE_BACKGROUND_TYPE" val="belt"/>
  <p:tag name="KSO_WM_SLIDE_BK_DARK_LIGHT" val="2"/>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8*i*2"/>
  <p:tag name="KSO_WM_UNIT_LAYERLEVEL" val="1"/>
  <p:tag name="KSO_WM_TAG_VERSION" val="1.0"/>
  <p:tag name="KSO_WM_BEAUTIFY_FLAG" val="#wm#"/>
  <p:tag name="KSO_WM_SLIDE_BACKGROUND_TYPE" val="belt"/>
  <p:tag name="KSO_WM_SLIDE_BK_DARK_LIGHT" val="2"/>
</p:tagLst>
</file>

<file path=ppt/tags/tag170.xml><?xml version="1.0" encoding="utf-8"?>
<p:tagLst xmlns:a="http://schemas.openxmlformats.org/drawingml/2006/main" xmlns:r="http://schemas.openxmlformats.org/officeDocument/2006/relationships" xmlns:p="http://schemas.openxmlformats.org/presentationml/2006/main">
  <p:tag name="KSO_WM_SLIDE_ID" val="custom20203884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3884"/>
  <p:tag name="KSO_WM_SLIDE_LAYOUT" val="a_b"/>
  <p:tag name="KSO_WM_SLIDE_LAYOUT_CNT" val="1_3"/>
  <p:tag name="KSO_WM_TEMPLATE_THUMBS_INDEX" val="1、4、7、8、11、14、15、16、17、18、19、20、21、22、23、24、25、26"/>
  <p:tag name="KSO_WM_TEMPLATE_MASTER_THUMB_INDEX" val="12"/>
  <p:tag name="KSO_WM_SLIDE_MODEL_TYPE" val="cover"/>
</p:tagLst>
</file>

<file path=ppt/tags/tag17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3884_1*a*1"/>
  <p:tag name="KSO_WM_TEMPLATE_CATEGORY" val="custom"/>
  <p:tag name="KSO_WM_TEMPLATE_INDEX" val="20203884"/>
  <p:tag name="KSO_WM_UNIT_LAYERLEVEL" val="1"/>
  <p:tag name="KSO_WM_TAG_VERSION" val="1.0"/>
  <p:tag name="KSO_WM_BEAUTIFY_FLAG" val="#wm#"/>
  <p:tag name="KSO_WM_UNIT_PRESET_TEXT" val="简约工作汇报模板"/>
  <p:tag name="KSO_WM_UNIT_ISNUMDGMTITLE" val="0"/>
</p:tagLst>
</file>

<file path=ppt/tags/tag17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汇报人姓名"/>
  <p:tag name="KSO_WM_UNIT_NOCLEAR" val="0"/>
  <p:tag name="KSO_WM_UNIT_VALUE" val="30"/>
  <p:tag name="KSO_WM_UNIT_HIGHLIGHT" val="0"/>
  <p:tag name="KSO_WM_UNIT_COMPATIBLE" val="0"/>
  <p:tag name="KSO_WM_UNIT_DIAGRAM_ISNUMVISUAL" val="0"/>
  <p:tag name="KSO_WM_UNIT_DIAGRAM_ISREFERUNIT" val="0"/>
  <p:tag name="KSO_WM_UNIT_TYPE" val="b"/>
  <p:tag name="KSO_WM_UNIT_INDEX" val="2"/>
  <p:tag name="KSO_WM_UNIT_ID" val="custom20203884_1*b*2"/>
  <p:tag name="KSO_WM_TEMPLATE_CATEGORY" val="custom"/>
  <p:tag name="KSO_WM_TEMPLATE_INDEX" val="20203884"/>
  <p:tag name="KSO_WM_UNIT_LAYERLEVEL" val="1"/>
  <p:tag name="KSO_WM_TAG_VERSION" val="1.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03884_4"/>
  <p:tag name="KSO_WM_TEMPLATE_SUBCATEGORY" val="0"/>
  <p:tag name="KSO_WM_TEMPLATE_MASTER_TYPE" val="1"/>
  <p:tag name="KSO_WM_TEMPLATE_COLOR_TYPE" val="1"/>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3884"/>
  <p:tag name="KSO_WM_SLIDE_LAYOUT" val="a_l"/>
  <p:tag name="KSO_WM_SLIDE_LAYOUT_CNT" val="1_1"/>
  <p:tag name="KSO_WM_SLIDE_TYPE" val="contents"/>
  <p:tag name="KSO_WM_SLIDE_SUBTYPE" val="diag"/>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1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1_1"/>
  <p:tag name="KSO_WM_UNIT_TEXT_FILL_FORE_SCHEMECOLOR_INDEX" val="5"/>
  <p:tag name="KSO_WM_UNIT_TEXT_FILL_TYPE" val="1"/>
  <p:tag name="KSO_WM_UNIT_USESOURCEFORMAT_APPLY" val="1"/>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1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1_1"/>
  <p:tag name="KSO_WM_UNIT_PRESET_TEXT" val="单击此处添加标题"/>
  <p:tag name="KSO_WM_UNIT_TEXT_FILL_FORE_SCHEMECOLOR_INDEX" val="13"/>
  <p:tag name="KSO_WM_UNIT_TEXT_FILL_TYPE" val="1"/>
  <p:tag name="KSO_WM_UNIT_USESOURCEFORMAT_APPLY" val="1"/>
  <p:tag name="KSO_WM_UNIT_ISNUMDGMTITLE" val="0"/>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3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3_1"/>
  <p:tag name="KSO_WM_UNIT_TEXT_FILL_FORE_SCHEMECOLOR_INDEX" val="5"/>
  <p:tag name="KSO_WM_UNIT_TEXT_FILL_TYPE" val="1"/>
  <p:tag name="KSO_WM_UNIT_USESOURCEFORMAT_APPLY" val="1"/>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3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3_1"/>
  <p:tag name="KSO_WM_UNIT_PRESET_TEXT" val="单击此处添加标题"/>
  <p:tag name="KSO_WM_UNIT_TEXT_FILL_FORE_SCHEMECOLOR_INDEX" val="13"/>
  <p:tag name="KSO_WM_UNIT_TEXT_FILL_TYPE" val="1"/>
  <p:tag name="KSO_WM_UNIT_USESOURCEFORMAT_APPLY" val="1"/>
  <p:tag name="KSO_WM_UNIT_VALUE" val="10"/>
  <p:tag name="KSO_WM_UNIT_ISNUMDGMTITLE" val="0"/>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2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2_1"/>
  <p:tag name="KSO_WM_UNIT_TEXT_FILL_FORE_SCHEMECOLOR_INDEX" val="5"/>
  <p:tag name="KSO_WM_UNIT_TEXT_FILL_TYPE" val="1"/>
  <p:tag name="KSO_WM_UNIT_USESOURCEFORMAT_APPLY" val="1"/>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2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2_1"/>
  <p:tag name="KSO_WM_UNIT_PRESET_TEXT" val="单击此处添加标题"/>
  <p:tag name="KSO_WM_UNIT_TEXT_FILL_FORE_SCHEMECOLOR_INDEX" val="13"/>
  <p:tag name="KSO_WM_UNIT_TEXT_FILL_TYPE" val="1"/>
  <p:tag name="KSO_WM_UNIT_USESOURCEFORMAT_APPLY" val="1"/>
  <p:tag name="KSO_WM_UNIT_VALUE" val="10"/>
  <p:tag name="KSO_WM_UNIT_ISNUMDGMTITLE" val="0"/>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4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4_1"/>
  <p:tag name="KSO_WM_UNIT_TEXT_FILL_FORE_SCHEMECOLOR_INDEX" val="5"/>
  <p:tag name="KSO_WM_UNIT_TEXT_FILL_TYPE" val="1"/>
  <p:tag name="KSO_WM_UNIT_USESOURCEFORMAT_APPLY" val="1"/>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4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4_1"/>
  <p:tag name="KSO_WM_UNIT_PRESET_TEXT" val="单击此处添加标题"/>
  <p:tag name="KSO_WM_UNIT_TEXT_FILL_FORE_SCHEMECOLOR_INDEX" val="13"/>
  <p:tag name="KSO_WM_UNIT_TEXT_FILL_TYPE" val="1"/>
  <p:tag name="KSO_WM_UNIT_USESOURCEFORMAT_APPLY" val="1"/>
  <p:tag name="KSO_WM_UNIT_ISNUMDGMTITLE" val="0"/>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a*1"/>
  <p:tag name="KSO_WM_TEMPLATE_CATEGORY" val="custom"/>
  <p:tag name="KSO_WM_TEMPLATE_INDEX" val="20203884"/>
  <p:tag name="KSO_WM_UNIT_LAYERLEVEL" val="1"/>
  <p:tag name="KSO_WM_TAG_VERSION" val="1.0"/>
  <p:tag name="KSO_WM_BEAUTIFY_FLAG" val="#wm#"/>
  <p:tag name="KSO_WM_UNIT_ISCONTENTSTITLE" val="1"/>
  <p:tag name="KSO_WM_UNIT_PRESET_TEXT" val="CONTENTS"/>
  <p:tag name="KSO_WM_UNIT_NOCLEAR" val="0"/>
  <p:tag name="KSO_WM_UNIT_VALUE" val="7"/>
  <p:tag name="KSO_WM_DIAGRAM_GROUP_CODE" val="l1-1"/>
  <p:tag name="KSO_WM_UNIT_TYPE" val="a"/>
  <p:tag name="KSO_WM_UNIT_INDEX" val="1"/>
  <p:tag name="KSO_WM_UNIT_TEXT_FILL_FORE_SCHEMECOLOR_INDEX" val="13"/>
  <p:tag name="KSO_WM_UNIT_TEXT_FILL_TYPE" val="1"/>
  <p:tag name="KSO_WM_UNIT_USESOURCEFORMAT_APPLY" val="1"/>
  <p:tag name="KSO_WM_UNIT_ISNUMDGMTITLE" val="0"/>
</p:tagLst>
</file>

<file path=ppt/tags/tag183.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184.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185.xml><?xml version="1.0" encoding="utf-8"?>
<p:tagLst xmlns:a="http://schemas.openxmlformats.org/drawingml/2006/main" xmlns:r="http://schemas.openxmlformats.org/officeDocument/2006/relationships" xmlns:p="http://schemas.openxmlformats.org/presentationml/2006/main">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HIGHLIGHT" val="0"/>
  <p:tag name="KSO_WM_UNIT_COMPATIBLE" val="0"/>
  <p:tag name="KSO_WM_UNIT_DIAGRAM_ISNUMVISUAL" val="0"/>
  <p:tag name="KSO_WM_UNIT_DIAGRAM_ISREFERUNIT" val="0"/>
  <p:tag name="KSO_WM_UNIT_TYPE" val="i"/>
  <p:tag name="KSO_WM_UNIT_INDEX" val="8"/>
  <p:tag name="KSO_WM_UNIT_ID" val="custom20204426_8*i*8"/>
  <p:tag name="KSO_WM_TEMPLATE_CATEGORY" val="custom"/>
  <p:tag name="KSO_WM_TEMPLATE_INDEX" val="20204426"/>
  <p:tag name="KSO_WM_UNIT_LAYERLEVEL" val="1"/>
  <p:tag name="KSO_WM_TAG_VERSION" val="1.0"/>
  <p:tag name="KSO_WM_BEAUTIFY_FLAG" val="#wm#"/>
</p:tagLst>
</file>

<file path=ppt/tags/tag186.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187.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188.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189.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190.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191.xml><?xml version="1.0" encoding="utf-8"?>
<p:tagLst xmlns:a="http://schemas.openxmlformats.org/drawingml/2006/main" xmlns:r="http://schemas.openxmlformats.org/officeDocument/2006/relationships" xmlns:p="http://schemas.openxmlformats.org/presentationml/2006/main">
  <p:tag name="KSO_WM_UNIT_DEFAULT_FONT" val="28;32;4"/>
  <p:tag name="KSO_WM_UNIT_BLOCK" val="0"/>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4426_8*a*1"/>
  <p:tag name="KSO_WM_TEMPLATE_CATEGORY" val="custom"/>
  <p:tag name="KSO_WM_TEMPLATE_INDEX" val="20204426"/>
  <p:tag name="KSO_WM_UNIT_LAYERLEVEL" val="1"/>
  <p:tag name="KSO_WM_TAG_VERSION" val="1.0"/>
  <p:tag name="KSO_WM_BEAUTIFY_FLAG" val="#wm#"/>
  <p:tag name="KSO_WM_UNIT_PRESET_TEXT" val="单击此处添加大标题"/>
</p:tagLst>
</file>

<file path=ppt/tags/tag192.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193.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194.xml><?xml version="1.0" encoding="utf-8"?>
<p:tagLst xmlns:a="http://schemas.openxmlformats.org/drawingml/2006/main" xmlns:r="http://schemas.openxmlformats.org/officeDocument/2006/relationships" xmlns:p="http://schemas.openxmlformats.org/presentationml/2006/main">
  <p:tag name="KSO_WM_UNIT_DEFAULT_FONT" val="28;32;4"/>
  <p:tag name="KSO_WM_UNIT_BLOCK" val="0"/>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4426_8*a*1"/>
  <p:tag name="KSO_WM_TEMPLATE_CATEGORY" val="custom"/>
  <p:tag name="KSO_WM_TEMPLATE_INDEX" val="20204426"/>
  <p:tag name="KSO_WM_UNIT_LAYERLEVEL" val="1"/>
  <p:tag name="KSO_WM_TAG_VERSION" val="1.0"/>
  <p:tag name="KSO_WM_BEAUTIFY_FLAG" val="#wm#"/>
  <p:tag name="KSO_WM_UNIT_PRESET_TEXT" val="单击此处添加大标题"/>
</p:tagLst>
</file>

<file path=ppt/tags/tag195.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196.xml><?xml version="1.0" encoding="utf-8"?>
<p:tagLst xmlns:a="http://schemas.openxmlformats.org/drawingml/2006/main" xmlns:r="http://schemas.openxmlformats.org/officeDocument/2006/relationships" xmlns:p="http://schemas.openxmlformats.org/presentationml/2006/main">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HIGHLIGHT" val="0"/>
  <p:tag name="KSO_WM_UNIT_COMPATIBLE" val="0"/>
  <p:tag name="KSO_WM_UNIT_DIAGRAM_ISNUMVISUAL" val="0"/>
  <p:tag name="KSO_WM_UNIT_DIAGRAM_ISREFERUNIT" val="0"/>
  <p:tag name="KSO_WM_UNIT_TYPE" val="i"/>
  <p:tag name="KSO_WM_UNIT_INDEX" val="8"/>
  <p:tag name="KSO_WM_UNIT_ID" val="custom20204426_8*i*8"/>
  <p:tag name="KSO_WM_TEMPLATE_CATEGORY" val="custom"/>
  <p:tag name="KSO_WM_TEMPLATE_INDEX" val="20204426"/>
  <p:tag name="KSO_WM_UNIT_LAYERLEVEL" val="1"/>
  <p:tag name="KSO_WM_TAG_VERSION" val="1.0"/>
  <p:tag name="KSO_WM_BEAUTIFY_FLAG" val="#wm#"/>
</p:tagLst>
</file>

<file path=ppt/tags/tag197.xml><?xml version="1.0" encoding="utf-8"?>
<p:tagLst xmlns:a="http://schemas.openxmlformats.org/drawingml/2006/main" xmlns:r="http://schemas.openxmlformats.org/officeDocument/2006/relationships" xmlns:p="http://schemas.openxmlformats.org/presentationml/2006/main">
  <p:tag name="KSO_WM_UNIT_DEFAULT_FONT" val="28;32;4"/>
  <p:tag name="KSO_WM_UNIT_BLOCK" val="0"/>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4426_8*a*1"/>
  <p:tag name="KSO_WM_TEMPLATE_CATEGORY" val="custom"/>
  <p:tag name="KSO_WM_TEMPLATE_INDEX" val="20204426"/>
  <p:tag name="KSO_WM_UNIT_LAYERLEVEL" val="1"/>
  <p:tag name="KSO_WM_TAG_VERSION" val="1.0"/>
  <p:tag name="KSO_WM_BEAUTIFY_FLAG" val="#wm#"/>
  <p:tag name="KSO_WM_UNIT_PRESET_TEXT" val="单击此处添加大标题"/>
</p:tagLst>
</file>

<file path=ppt/tags/tag198.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199.xml><?xml version="1.0" encoding="utf-8"?>
<p:tagLst xmlns:a="http://schemas.openxmlformats.org/drawingml/2006/main" xmlns:r="http://schemas.openxmlformats.org/officeDocument/2006/relationships" xmlns:p="http://schemas.openxmlformats.org/presentationml/2006/main">
  <p:tag name="KSO_WM_UNIT_DEFAULT_FONT" val="28;32;4"/>
  <p:tag name="KSO_WM_UNIT_BLOCK" val="0"/>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4426_8*a*1"/>
  <p:tag name="KSO_WM_TEMPLATE_CATEGORY" val="custom"/>
  <p:tag name="KSO_WM_TEMPLATE_INDEX" val="20204426"/>
  <p:tag name="KSO_WM_UNIT_LAYERLEVEL" val="1"/>
  <p:tag name="KSO_WM_TAG_VERSION" val="1.0"/>
  <p:tag name="KSO_WM_BEAUTIFY_FLAG" val="#wm#"/>
  <p:tag name="KSO_WM_UNIT_PRESET_TEXT" val="单击此处添加大标题"/>
</p:tagLst>
</file>

<file path=ppt/tags/tag200.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201.xml><?xml version="1.0" encoding="utf-8"?>
<p:tagLst xmlns:a="http://schemas.openxmlformats.org/drawingml/2006/main" xmlns:r="http://schemas.openxmlformats.org/officeDocument/2006/relationships" xmlns:p="http://schemas.openxmlformats.org/presentationml/2006/main">
  <p:tag name="KSO_WM_UNIT_DEFAULT_FONT" val="28;32;4"/>
  <p:tag name="KSO_WM_UNIT_BLOCK" val="0"/>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4426_8*a*1"/>
  <p:tag name="KSO_WM_TEMPLATE_CATEGORY" val="custom"/>
  <p:tag name="KSO_WM_TEMPLATE_INDEX" val="20204426"/>
  <p:tag name="KSO_WM_UNIT_LAYERLEVEL" val="1"/>
  <p:tag name="KSO_WM_TAG_VERSION" val="1.0"/>
  <p:tag name="KSO_WM_BEAUTIFY_FLAG" val="#wm#"/>
  <p:tag name="KSO_WM_UNIT_PRESET_TEXT" val="单击此处添加大标题"/>
</p:tagLst>
</file>

<file path=ppt/tags/tag202.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203.xml><?xml version="1.0" encoding="utf-8"?>
<p:tagLst xmlns:a="http://schemas.openxmlformats.org/drawingml/2006/main" xmlns:r="http://schemas.openxmlformats.org/officeDocument/2006/relationships" xmlns:p="http://schemas.openxmlformats.org/presentationml/2006/main">
  <p:tag name="KSO_WM_UNIT_DEFAULT_FONT" val="28;32;4"/>
  <p:tag name="KSO_WM_UNIT_BLOCK" val="0"/>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4426_8*a*1"/>
  <p:tag name="KSO_WM_TEMPLATE_CATEGORY" val="custom"/>
  <p:tag name="KSO_WM_TEMPLATE_INDEX" val="20204426"/>
  <p:tag name="KSO_WM_UNIT_LAYERLEVEL" val="1"/>
  <p:tag name="KSO_WM_TAG_VERSION" val="1.0"/>
  <p:tag name="KSO_WM_BEAUTIFY_FLAG" val="#wm#"/>
  <p:tag name="KSO_WM_UNIT_PRESET_TEXT" val="单击此处添加大标题"/>
</p:tagLst>
</file>

<file path=ppt/tags/tag204.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205.xml><?xml version="1.0" encoding="utf-8"?>
<p:tagLst xmlns:a="http://schemas.openxmlformats.org/drawingml/2006/main" xmlns:r="http://schemas.openxmlformats.org/officeDocument/2006/relationships" xmlns:p="http://schemas.openxmlformats.org/presentationml/2006/main">
  <p:tag name="KSO_WM_UNIT_DEFAULT_FONT" val="28;32;4"/>
  <p:tag name="KSO_WM_UNIT_BLOCK" val="0"/>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4426_8*a*1"/>
  <p:tag name="KSO_WM_TEMPLATE_CATEGORY" val="custom"/>
  <p:tag name="KSO_WM_TEMPLATE_INDEX" val="20204426"/>
  <p:tag name="KSO_WM_UNIT_LAYERLEVEL" val="1"/>
  <p:tag name="KSO_WM_TAG_VERSION" val="1.0"/>
  <p:tag name="KSO_WM_BEAUTIFY_FLAG" val="#wm#"/>
  <p:tag name="KSO_WM_UNIT_PRESET_TEXT" val="单击此处添加大标题"/>
</p:tagLst>
</file>

<file path=ppt/tags/tag206.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207.xml><?xml version="1.0" encoding="utf-8"?>
<p:tagLst xmlns:a="http://schemas.openxmlformats.org/drawingml/2006/main" xmlns:r="http://schemas.openxmlformats.org/officeDocument/2006/relationships" xmlns:p="http://schemas.openxmlformats.org/presentationml/2006/main">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HIGHLIGHT" val="0"/>
  <p:tag name="KSO_WM_UNIT_COMPATIBLE" val="0"/>
  <p:tag name="KSO_WM_UNIT_DIAGRAM_ISNUMVISUAL" val="0"/>
  <p:tag name="KSO_WM_UNIT_DIAGRAM_ISREFERUNIT" val="0"/>
  <p:tag name="KSO_WM_UNIT_TYPE" val="i"/>
  <p:tag name="KSO_WM_UNIT_INDEX" val="8"/>
  <p:tag name="KSO_WM_UNIT_ID" val="custom20204426_8*i*8"/>
  <p:tag name="KSO_WM_TEMPLATE_CATEGORY" val="custom"/>
  <p:tag name="KSO_WM_TEMPLATE_INDEX" val="20204426"/>
  <p:tag name="KSO_WM_UNIT_LAYERLEVEL" val="1"/>
  <p:tag name="KSO_WM_TAG_VERSION" val="1.0"/>
  <p:tag name="KSO_WM_BEAUTIFY_FLAG" val="#wm#"/>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28;32;4"/>
  <p:tag name="KSO_WM_UNIT_BLOCK" val="0"/>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4426_8*a*1"/>
  <p:tag name="KSO_WM_TEMPLATE_CATEGORY" val="custom"/>
  <p:tag name="KSO_WM_TEMPLATE_INDEX" val="20204426"/>
  <p:tag name="KSO_WM_UNIT_LAYERLEVEL" val="1"/>
  <p:tag name="KSO_WM_TAG_VERSION" val="1.0"/>
  <p:tag name="KSO_WM_BEAUTIFY_FLAG" val="#wm#"/>
  <p:tag name="KSO_WM_UNIT_PRESET_TEXT" val="单击此处添加大标题"/>
</p:tagLst>
</file>

<file path=ppt/tags/tag209.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210.xml><?xml version="1.0" encoding="utf-8"?>
<p:tagLst xmlns:a="http://schemas.openxmlformats.org/drawingml/2006/main" xmlns:r="http://schemas.openxmlformats.org/officeDocument/2006/relationships" xmlns:p="http://schemas.openxmlformats.org/presentationml/2006/main">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HIGHLIGHT" val="0"/>
  <p:tag name="KSO_WM_UNIT_COMPATIBLE" val="0"/>
  <p:tag name="KSO_WM_UNIT_DIAGRAM_ISNUMVISUAL" val="0"/>
  <p:tag name="KSO_WM_UNIT_DIAGRAM_ISREFERUNIT" val="0"/>
  <p:tag name="KSO_WM_UNIT_TYPE" val="i"/>
  <p:tag name="KSO_WM_UNIT_INDEX" val="8"/>
  <p:tag name="KSO_WM_UNIT_ID" val="custom20204426_8*i*8"/>
  <p:tag name="KSO_WM_TEMPLATE_CATEGORY" val="custom"/>
  <p:tag name="KSO_WM_TEMPLATE_INDEX" val="20204426"/>
  <p:tag name="KSO_WM_UNIT_LAYERLEVEL" val="1"/>
  <p:tag name="KSO_WM_TAG_VERSION" val="1.0"/>
  <p:tag name="KSO_WM_BEAUTIFY_FLAG" val="#wm#"/>
</p:tagLst>
</file>

<file path=ppt/tags/tag211.xml><?xml version="1.0" encoding="utf-8"?>
<p:tagLst xmlns:a="http://schemas.openxmlformats.org/drawingml/2006/main" xmlns:r="http://schemas.openxmlformats.org/officeDocument/2006/relationships" xmlns:p="http://schemas.openxmlformats.org/presentationml/2006/main">
  <p:tag name="KSO_WM_UNIT_DEFAULT_FONT" val="28;32;4"/>
  <p:tag name="KSO_WM_UNIT_BLOCK" val="0"/>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4426_8*a*1"/>
  <p:tag name="KSO_WM_TEMPLATE_CATEGORY" val="custom"/>
  <p:tag name="KSO_WM_TEMPLATE_INDEX" val="20204426"/>
  <p:tag name="KSO_WM_UNIT_LAYERLEVEL" val="1"/>
  <p:tag name="KSO_WM_TAG_VERSION" val="1.0"/>
  <p:tag name="KSO_WM_BEAUTIFY_FLAG" val="#wm#"/>
  <p:tag name="KSO_WM_UNIT_PRESET_TEXT" val="单击此处添加大标题"/>
</p:tagLst>
</file>

<file path=ppt/tags/tag212.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213.xml><?xml version="1.0" encoding="utf-8"?>
<p:tagLst xmlns:a="http://schemas.openxmlformats.org/drawingml/2006/main" xmlns:r="http://schemas.openxmlformats.org/officeDocument/2006/relationships" xmlns:p="http://schemas.openxmlformats.org/presentationml/2006/main">
  <p:tag name="KSO_WM_UNIT_DEFAULT_FONT" val="28;32;4"/>
  <p:tag name="KSO_WM_UNIT_BLOCK" val="0"/>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4426_8*a*1"/>
  <p:tag name="KSO_WM_TEMPLATE_CATEGORY" val="custom"/>
  <p:tag name="KSO_WM_TEMPLATE_INDEX" val="20204426"/>
  <p:tag name="KSO_WM_UNIT_LAYERLEVEL" val="1"/>
  <p:tag name="KSO_WM_TAG_VERSION" val="1.0"/>
  <p:tag name="KSO_WM_BEAUTIFY_FLAG" val="#wm#"/>
  <p:tag name="KSO_WM_UNIT_PRESET_TEXT" val="单击此处添加大标题"/>
</p:tagLst>
</file>

<file path=ppt/tags/tag214.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215.xml><?xml version="1.0" encoding="utf-8"?>
<p:tagLst xmlns:a="http://schemas.openxmlformats.org/drawingml/2006/main" xmlns:r="http://schemas.openxmlformats.org/officeDocument/2006/relationships" xmlns:p="http://schemas.openxmlformats.org/presentationml/2006/main">
  <p:tag name="KSO_WM_UNIT_DEFAULT_FONT" val="28;32;4"/>
  <p:tag name="KSO_WM_UNIT_BLOCK" val="0"/>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4426_8*a*1"/>
  <p:tag name="KSO_WM_TEMPLATE_CATEGORY" val="custom"/>
  <p:tag name="KSO_WM_TEMPLATE_INDEX" val="20204426"/>
  <p:tag name="KSO_WM_UNIT_LAYERLEVEL" val="1"/>
  <p:tag name="KSO_WM_TAG_VERSION" val="1.0"/>
  <p:tag name="KSO_WM_BEAUTIFY_FLAG" val="#wm#"/>
  <p:tag name="KSO_WM_UNIT_PRESET_TEXT" val="单击此处添加大标题"/>
</p:tagLst>
</file>

<file path=ppt/tags/tag216.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217.xml><?xml version="1.0" encoding="utf-8"?>
<p:tagLst xmlns:a="http://schemas.openxmlformats.org/drawingml/2006/main" xmlns:r="http://schemas.openxmlformats.org/officeDocument/2006/relationships" xmlns:p="http://schemas.openxmlformats.org/presentationml/2006/main">
  <p:tag name="KSO_WM_UNIT_DEFAULT_FONT" val="28;32;4"/>
  <p:tag name="KSO_WM_UNIT_BLOCK" val="0"/>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4426_8*a*1"/>
  <p:tag name="KSO_WM_TEMPLATE_CATEGORY" val="custom"/>
  <p:tag name="KSO_WM_TEMPLATE_INDEX" val="20204426"/>
  <p:tag name="KSO_WM_UNIT_LAYERLEVEL" val="1"/>
  <p:tag name="KSO_WM_TAG_VERSION" val="1.0"/>
  <p:tag name="KSO_WM_BEAUTIFY_FLAG" val="#wm#"/>
  <p:tag name="KSO_WM_UNIT_PRESET_TEXT" val="单击此处添加大标题"/>
</p:tagLst>
</file>

<file path=ppt/tags/tag218.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219.xml><?xml version="1.0" encoding="utf-8"?>
<p:tagLst xmlns:a="http://schemas.openxmlformats.org/drawingml/2006/main" xmlns:r="http://schemas.openxmlformats.org/officeDocument/2006/relationships" xmlns:p="http://schemas.openxmlformats.org/presentationml/2006/main">
  <p:tag name="KSO_WM_UNIT_DEFAULT_FONT" val="28;32;4"/>
  <p:tag name="KSO_WM_UNIT_BLOCK" val="0"/>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4426_8*a*1"/>
  <p:tag name="KSO_WM_TEMPLATE_CATEGORY" val="custom"/>
  <p:tag name="KSO_WM_TEMPLATE_INDEX" val="20204426"/>
  <p:tag name="KSO_WM_UNIT_LAYERLEVEL" val="1"/>
  <p:tag name="KSO_WM_TAG_VERSION" val="1.0"/>
  <p:tag name="KSO_WM_BEAUTIFY_FLAG" val="#wm#"/>
  <p:tag name="KSO_WM_UNIT_PRESET_TEXT" val="单击此处添加大标题"/>
</p:tagLst>
</file>

<file path=ppt/tags/tag220.xml><?xml version="1.0" encoding="utf-8"?>
<p:tagLst xmlns:a="http://schemas.openxmlformats.org/drawingml/2006/main" xmlns:r="http://schemas.openxmlformats.org/officeDocument/2006/relationships" xmlns:p="http://schemas.openxmlformats.org/presentationml/2006/main">
  <p:tag name="KSO_WM_UNIT_ISCONTENTSTITLE" val="0"/>
  <p:tag name="KSO_WM_UNIT_DEFAULT_FONT" val="16;24;2"/>
  <p:tag name="KSO_WM_UNIT_BLOCK" val="0"/>
  <p:tag name="KSO_WM_UNIT_SUBTYPE" val="a"/>
  <p:tag name="KSO_WM_UNIT_NOCLEAR" val="0"/>
  <p:tag name="KSO_WM_UNIT_VALUE" val="380"/>
  <p:tag name="KSO_WM_UNIT_HIGHLIGHT" val="0"/>
  <p:tag name="KSO_WM_UNIT_COMPATIBLE" val="0"/>
  <p:tag name="KSO_WM_UNIT_DIAGRAM_ISNUMVISUAL" val="0"/>
  <p:tag name="KSO_WM_UNIT_DIAGRAM_ISREFERUNIT" val="0"/>
  <p:tag name="KSO_WM_UNIT_TYPE" val="f"/>
  <p:tag name="KSO_WM_UNIT_INDEX" val="1"/>
  <p:tag name="KSO_WM_UNIT_ID" val="custom20204426_8*f*1"/>
  <p:tag name="KSO_WM_TEMPLATE_CATEGORY" val="custom"/>
  <p:tag name="KSO_WM_TEMPLATE_INDEX" val="20204426"/>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字字珠玑，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
</p:tagLst>
</file>

<file path=ppt/tags/tag221.xml><?xml version="1.0" encoding="utf-8"?>
<p:tagLst xmlns:a="http://schemas.openxmlformats.org/drawingml/2006/main" xmlns:r="http://schemas.openxmlformats.org/officeDocument/2006/relationships" xmlns:p="http://schemas.openxmlformats.org/presentationml/2006/main">
  <p:tag name="KSO_WM_SLIDE_ID" val="custom20203884_26"/>
  <p:tag name="KSO_WM_TEMPLATE_SUBCATEGORY" val="0"/>
  <p:tag name="KSO_WM_TEMPLATE_MASTER_TYPE" val="1"/>
  <p:tag name="KSO_WM_TEMPLATE_COLOR_TYPE" val="1"/>
  <p:tag name="KSO_WM_SLIDE_ITEM_CNT" val="0"/>
  <p:tag name="KSO_WM_SLIDE_INDEX" val="26"/>
  <p:tag name="KSO_WM_TAG_VERSION" val="1.0"/>
  <p:tag name="KSO_WM_BEAUTIFY_FLAG" val="#wm#"/>
  <p:tag name="KSO_WM_TEMPLATE_CATEGORY" val="custom"/>
  <p:tag name="KSO_WM_TEMPLATE_INDEX" val="20203884"/>
  <p:tag name="KSO_WM_SLIDE_TYPE" val="endPage"/>
  <p:tag name="KSO_WM_SLIDE_SUBTYPE" val="pureTxt"/>
  <p:tag name="KSO_WM_SLIDE_LAYOUT" val="a"/>
  <p:tag name="KSO_WM_SLIDE_LAYOUT_CNT" val="1"/>
</p:tagLst>
</file>

<file path=ppt/tags/tag2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26*a*1"/>
  <p:tag name="KSO_WM_TEMPLATE_CATEGORY" val="custom"/>
  <p:tag name="KSO_WM_TEMPLATE_INDEX" val="20203884"/>
  <p:tag name="KSO_WM_UNIT_LAYERLEVEL" val="1"/>
  <p:tag name="KSO_WM_TAG_VERSION" val="1.0"/>
  <p:tag name="KSO_WM_BEAUTIFY_FLAG" val="#wm#"/>
  <p:tag name="KSO_WM_UNIT_ISCONTENTSTITLE" val="0"/>
  <p:tag name="KSO_WM_UNIT_NOCLEAR" val="1"/>
  <p:tag name="KSO_WM_UNIT_VALUE" val="5"/>
  <p:tag name="KSO_WM_UNIT_TYPE" val="a"/>
  <p:tag name="KSO_WM_UNIT_INDEX" val="1"/>
  <p:tag name="KSO_WM_UNIT_PRESET_TEXT" val="THANKS"/>
  <p:tag name="KSO_WM_UNIT_ISNUMDGMTITLE" val="0"/>
</p:tagLst>
</file>

<file path=ppt/theme/theme1.xml><?xml version="1.0" encoding="utf-8"?>
<a:theme xmlns:a="http://schemas.openxmlformats.org/drawingml/2006/main" name="Office 主题​​">
  <a:themeElements>
    <a:clrScheme name="自定义 5">
      <a:dk1>
        <a:sysClr val="windowText" lastClr="000000"/>
      </a:dk1>
      <a:lt1>
        <a:sysClr val="window" lastClr="FFFFFF"/>
      </a:lt1>
      <a:dk2>
        <a:srgbClr val="002842"/>
      </a:dk2>
      <a:lt2>
        <a:srgbClr val="FFFFFF"/>
      </a:lt2>
      <a:accent1>
        <a:srgbClr val="5195A5"/>
      </a:accent1>
      <a:accent2>
        <a:srgbClr val="8CA26C"/>
      </a:accent2>
      <a:accent3>
        <a:srgbClr val="C5B331"/>
      </a:accent3>
      <a:accent4>
        <a:srgbClr val="E1A215"/>
      </a:accent4>
      <a:accent5>
        <a:srgbClr val="E87A20"/>
      </a:accent5>
      <a:accent6>
        <a:srgbClr val="DD4319"/>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825</TotalTime>
  <Words>4182</Words>
  <Application>Microsoft Office PowerPoint</Application>
  <PresentationFormat>宽屏</PresentationFormat>
  <Paragraphs>344</Paragraphs>
  <Slides>30</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30</vt:i4>
      </vt:variant>
    </vt:vector>
  </HeadingPairs>
  <TitlesOfParts>
    <vt:vector size="35" baseType="lpstr">
      <vt:lpstr>微软雅黑</vt:lpstr>
      <vt:lpstr>Arial</vt:lpstr>
      <vt:lpstr>Calibri</vt:lpstr>
      <vt:lpstr>Wingdings</vt:lpstr>
      <vt:lpstr>Office 主题​​</vt:lpstr>
      <vt:lpstr>朴素贝叶斯</vt:lpstr>
      <vt:lpstr>PowerPoint 演示文稿</vt:lpstr>
      <vt:lpstr>随机试验与随机事件</vt:lpstr>
      <vt:lpstr>PowerPoint 演示文稿</vt:lpstr>
      <vt:lpstr>PowerPoint 演示文稿</vt:lpstr>
      <vt:lpstr>条件概率 </vt:lpstr>
      <vt:lpstr>乘法公式 </vt:lpstr>
      <vt:lpstr>事件独立性 </vt:lpstr>
      <vt:lpstr>全概率公式 </vt:lpstr>
      <vt:lpstr>贝叶斯公式 </vt:lpstr>
      <vt:lpstr>贝叶斯公式推断 </vt:lpstr>
      <vt:lpstr>先验概率与后验概率 </vt:lpstr>
      <vt:lpstr>似然函数vs先验概率vs后验概率 </vt:lpstr>
      <vt:lpstr>似然函数 </vt:lpstr>
      <vt:lpstr>最大后验估计 </vt:lpstr>
      <vt:lpstr>PowerPoint 演示文稿</vt:lpstr>
      <vt:lpstr>最大后验估计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课程介绍</dc:title>
  <dc:creator>邵欣怡</dc:creator>
  <cp:lastModifiedBy>LIU HAIBIN</cp:lastModifiedBy>
  <cp:revision>58</cp:revision>
  <dcterms:created xsi:type="dcterms:W3CDTF">2021-03-01T12:12:00Z</dcterms:created>
  <dcterms:modified xsi:type="dcterms:W3CDTF">2021-05-26T08:29:59Z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2052-11.1.0.9192</vt:lpwstr>
  </property>
</Properties>
</file>