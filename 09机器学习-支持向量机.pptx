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696" r:id="rId2"/>
    <p:sldId id="1018" r:id="rId3"/>
    <p:sldId id="1025" r:id="rId4"/>
    <p:sldId id="1027" r:id="rId5"/>
    <p:sldId id="1037" r:id="rId6"/>
    <p:sldId id="1034" r:id="rId7"/>
    <p:sldId id="1031" r:id="rId8"/>
    <p:sldId id="1032" r:id="rId9"/>
    <p:sldId id="1039" r:id="rId10"/>
    <p:sldId id="1033" r:id="rId11"/>
    <p:sldId id="402" r:id="rId12"/>
    <p:sldId id="413" r:id="rId13"/>
    <p:sldId id="414" r:id="rId14"/>
    <p:sldId id="1041" r:id="rId15"/>
    <p:sldId id="415" r:id="rId16"/>
    <p:sldId id="1040" r:id="rId17"/>
    <p:sldId id="1042" r:id="rId18"/>
    <p:sldId id="1044" r:id="rId19"/>
    <p:sldId id="1045" r:id="rId20"/>
    <p:sldId id="1046" r:id="rId21"/>
    <p:sldId id="1043" r:id="rId22"/>
    <p:sldId id="1038" r:id="rId23"/>
    <p:sldId id="1048" r:id="rId24"/>
    <p:sldId id="1050" r:id="rId25"/>
    <p:sldId id="1047" r:id="rId26"/>
    <p:sldId id="403" r:id="rId27"/>
    <p:sldId id="1049" r:id="rId28"/>
    <p:sldId id="1003" r:id="rId29"/>
    <p:sldId id="916" r:id="rId30"/>
  </p:sldIdLst>
  <p:sldSz cx="12192000" cy="6858000"/>
  <p:notesSz cx="6811963" cy="9945688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6">
          <p15:clr>
            <a:srgbClr val="A4A3A4"/>
          </p15:clr>
        </p15:guide>
        <p15:guide id="2" pos="381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586"/>
    <a:srgbClr val="A3D6D9"/>
    <a:srgbClr val="FF9900"/>
    <a:srgbClr val="00B0F0"/>
    <a:srgbClr val="0070C0"/>
    <a:srgbClr val="FF0000"/>
    <a:srgbClr val="0066CC"/>
    <a:srgbClr val="DFF1F2"/>
    <a:srgbClr val="1C2948"/>
    <a:srgbClr val="FBBC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11" autoAdjust="0"/>
    <p:restoredTop sz="84491" autoAdjust="0"/>
  </p:normalViewPr>
  <p:slideViewPr>
    <p:cSldViewPr snapToGrid="0">
      <p:cViewPr varScale="1">
        <p:scale>
          <a:sx n="73" d="100"/>
          <a:sy n="73" d="100"/>
        </p:scale>
        <p:origin x="1046" y="139"/>
      </p:cViewPr>
      <p:guideLst>
        <p:guide orient="horz" pos="2266"/>
        <p:guide pos="381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52054" cy="496744"/>
          </a:xfrm>
          <a:prstGeom prst="rect">
            <a:avLst/>
          </a:prstGeom>
        </p:spPr>
        <p:txBody>
          <a:bodyPr vert="horz" lIns="88395" tIns="44198" rIns="88395" bIns="44198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8387" y="1"/>
            <a:ext cx="2952054" cy="496744"/>
          </a:xfrm>
          <a:prstGeom prst="rect">
            <a:avLst/>
          </a:prstGeom>
        </p:spPr>
        <p:txBody>
          <a:bodyPr vert="horz" lIns="88395" tIns="44198" rIns="88395" bIns="44198" rtlCol="0"/>
          <a:lstStyle>
            <a:lvl1pPr algn="r">
              <a:defRPr sz="1200"/>
            </a:lvl1pPr>
          </a:lstStyle>
          <a:p>
            <a:fld id="{33F7A549-B379-4C34-825B-70BFB0F88B3A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7401"/>
            <a:ext cx="2952054" cy="496744"/>
          </a:xfrm>
          <a:prstGeom prst="rect">
            <a:avLst/>
          </a:prstGeom>
        </p:spPr>
        <p:txBody>
          <a:bodyPr vert="horz" lIns="88395" tIns="44198" rIns="88395" bIns="44198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8387" y="9447401"/>
            <a:ext cx="2952054" cy="496744"/>
          </a:xfrm>
          <a:prstGeom prst="rect">
            <a:avLst/>
          </a:prstGeom>
        </p:spPr>
        <p:txBody>
          <a:bodyPr vert="horz" lIns="88395" tIns="44198" rIns="88395" bIns="44198" rtlCol="0" anchor="b"/>
          <a:lstStyle>
            <a:lvl1pPr algn="r">
              <a:defRPr sz="1200"/>
            </a:lvl1pPr>
          </a:lstStyle>
          <a:p>
            <a:fld id="{2EC52559-07F0-4EB5-B465-6612A22996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3T16:17:06.62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3T16:17:19.00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2893,'15'0,"-10"1,1-1,-1 0,1 0,-1-1,1 0,-1 0,1 0,-1 0,10-5,-4 1,0 1,1 0,20-5,6-1,-24 6,0 1,21-1,-16 1,-12 2,1-1,-1 1,1-2,-1 1,0-1,0-1,0 1,0-1,0 0,6-6,-7 6,0 1,0 0,0 1,0 0,0 0,1 0,7-1,-5 2,0-1,-1-1,11-3,5-3,-20 8,0 0,0 0,0 0,0-1,-1 0,1 0,5-4,-6 4,0 0,0 1,0-1,1 1,-1-1,1 1,-1 0,7-1,-6 2,-1-1,1 0,-1 0,1 0,-1-1,0 1,1-1,5-4,-5 4,0-1,0 0,0 1,0 0,1 0,-1 0,1 1,-1 0,6-1,1-1,47-22,-22 5,-33 19,0 0,-1 0,1-1,0 1,-1-1,1 0,-1 1,0-1,0 0,1-1,-1 1,0 0,-1-1,1 1,3-6,-3 5,1 0,0-1,0 1,0 1,6-6,-6 6,0 0,0 0,-1-1,1 1,-1-1,1 0,-1 1,0-1,3-5,-3 2,2 0,-1 0,1 1,0-1,0 1,0 0,0 0,1 0,5-3,-8 6,-1 0,1 0,-1 0,0 0,0 0,0 0,0 0,0 0,0 0,1-3,6-14,-6 15,0 0,0-1,-1 1,3-8,2-7,6 2,-11 16,1 0,-1-1,0 1,0-1,0 1,0-1,0 0,0 1,0-1,-1 0,1 0,-1 1,1-3,0 0,-1 0,1 0,-1 0,0 0,0 0,-1 0,1 0,-1 0,1 1,-1-1,-1 0,1 0,0 1,-4-8,3 9,1-1,0 0,-1 0,0 0,1 0,-1 1,0-1,0 0,-1 1,1 0,0 0,-1-1,1 1,-1 1,0-1,1 0,-1 1,0 0,-4-2,3 2,1 0,-1 0,0 0,0-1,1 1,-1-1,1 0,-1 0,1-1,0 1,0-1,0 1,0-1,-3-4,2 2,-1-1,0 1,0 0,-1 0,1 1,-1 0,0 0,0 0,-1 1,-11-5,16 6,-1 1,1-1,-1 0,1 0,0 0,0-1,0 1,0-1,0 1,0-1,1 1,-3-6,2 4,-1 0,1 0,-1 0,1 0,-6-5,4 5,0 0,0 0,1-1,0 0,0 0,0 0,0 0,1 0,0 0,0-1,0 1,1-1,-1 1,0-9,-6-25,6 30,-1 1,2-1,-1 0,1-12,1-180,0 196,1 0,0 0,0 1,0-1,0 0,3-6,-2 6,0 0,-1 0,1 0,-1 0,0-6,-1 5,1 0,-1 0,1 1,0-1,0 0,1 1,0-1,0 1,0 0,0-1,1 1,5-8,-5 9,0 0,-1 0,1 0,-1 0,0-1,0 1,0-1,2-8,7-19,-9 29,0-1,1 1,0 0,-1 0,5-4,-3 4,-1-1,0 1,0-1,3-4,2-7,-5 10,0-1,0 1,0-1,1 1,0 0,0 0,9-8,4-4,-15 14,0 1,0 0,0-1,0 1,1 0,-1 0,1 0,-1 1,1-1,0 1,0-1,4-1,-4 2,0 0,1-1,-1 0,0 1,0-2,0 1,0 0,0 0,0-1,-1 0,4-4,17-15,30-6,-44 16,-8 11,-1-1,1 1,0 0,0 0,0 0,0 0,0 0,0 0,0 0,2-2,6-3,1 0,-1-1,-1-1,0 0,0 0,12-15,-15 18,-1 1,1-1,0 1,0 1,6-4,-6 4,-1 0,1 0,-1 0,0 0,0-1,0 0,0 0,3-5,-4 6,0-1,0 1,0 0,0 1,1-1,-1 0,1 1,-1 0,1 0,0 0,0 0,5-1,-4 2,-1-1,0 1,0-1,0 0,-1 0,1-1,0 1,-1-1,1 0,-1 0,5-6,-6 6,0 1,1 0,-1-1,1 1,-1 0,1 0,-1 1,1-1,0 0,0 1,0 0,0 0,6-2,2 1,1 0,17-1,7 1,37 4,-60 0,-1 1,1 0,-1 1,12 6,0-1,1 3,-20-9,0-1,-1 1,1-1,8 2,-7-2,0 0,0 1,9 5,6 3,15 12,-32-20,0 0,0 0,0 0,-1 0,1 1,-1-1,0 1,1 0,-2 0,4 5,-4-7,0 1,0-1,0 0,0 0,1 0,-1 0,1 0,4 2,-4-3,0 1,-1 0,1-1,-1 1,1 0,-1 1,0-1,4 4,-2 0,1 0,0-1,1 0,8 7,9 9,-20-17,1-1,0 0,0 1,0-1,0-1,1 1,-1-1,1 0,-1 0,1 0,8 1,-11-2,0 1,1-1,-1 0,0 0,0 1,0 0,0-1,0 1,0 0,0 0,-1 0,3 4,-2-4,0 1,0-1,0 0,0 1,0-1,1 0,-1 0,1-1,-1 1,4 1,1-1,-1 0,1 0,-1-1,1-1,9 1,21 3,-26-2,-1-1,18 0,-18-1,0 1,0 0,11 2,-8 0,1-1,-1-1,1-1,-1 0,16-2,26-8,-45 8,0 0,-1-1,14-5,16-5,-32 11,0-1,0 1,8-5,-8 3,-1 1,1 1,10-4,-15 6,0-1,0 1,0-1,0 1,0-1,0 0,0 0,0 0,0 0,0 0,0-1,-1 1,1 0,0-1,-1 0,1 1,-1-1,0 0,1 0,-1 1,0-1,0 0,1-3,-1 3,0 0,0 0,1 0,-1 0,1 1,-1-1,1 0,0 1,0 0,0-1,-1 1,1 0,3-1,31-9,-31 10,0 0,0-1,0 1,0-1,0 0,0-1,0 1,5-5,54-51,-55 49,-7 6,-1 1,1 0,0 0,0 0,0 1,0-1,1 0,-1 1,0-1,3 0,-2 0,0 1,0-1,0 0,0-1,0 1,0 0,3-5,-4 5,0-1,0 1,0 0,0 0,1 0,-1 1,0-1,1 1,0-1,-1 1,5-1,-4 0,0 1,-1 0,1-1,-1 1,1-1,-1 0,1 0,-1 0,0 0,0-1,0 1,3-5,-3 4,1 0,-1 1,0-1,1 0,-1 1,1 0,0-1,0 1,5-2,-4 2,-1 0,1 0,0 0,-1-1,0 1,1-1,-1 0,0 0,0 0,-1 0,4-4,-3 3,-1 2,0 0,0 1,0-1,0 1,0-1,0 1,0 0,4-2,-4 2,1 0,-1 0,0 0,0-1,1 1,-1-1,0 1,0-1,2-2,-1-1,0 1,0 1,0-1,1 0,0 1,-1 0,1 0,0 0,1 0,-1 1,0-1,1 1,-1 0,6-1,-8 3,1-1,0 0,-1 0,1 0,-1 0,1-1,-1 1,1 0,-1-1,0 0,0 0,0 0,0 0,0 0,0 0,0 0,-1-1,1 1,-1 0,3-6,-2 5,-1 1,1 0,-1 0,1 0,0 1,0-1,0 1,0-1,0 1,0-1,0 1,0 0,0 0,4-1,-4 2,1-1,-1 0,0 0,0 0,0 0,0 0,0-1,0 1,0-1,0 1,0-1,-1 0,1 0,-1 0,1 0,1-2,-2 1,1 0,0 0,1 0,-1 0,0 0,1 1,0-1,-1 1,1 0,3-2,-2 1,0 0,-1 1,1-1,-1 0,5-7,-4 5,0 0,1 0,6-5,-7 7,0-1,0 0,0 0,6-10,-3 4,0 0,0 1,1 0,0 0,16-13,-13 13,-1 0,-1-1,10-12,0 0,-5 11,-12 10,-1 0,1 0,-1-1,1 1,-1 0,1-1,-1 1,0-1,1 0,-1 1,0-1,1-2,0 1,0-1,0 1,0 0,0 0,0 1,1-1,-1 0,5-3,26-18,-27 20,0 0,0-1,0 0,-1-1,0 1,0-1,5-7,-7 9,-1 1,1 0,0 1,0 0,0 0,0-1,0 2,0-1,0 0,5-1,-4 2,-1-1,0 1,0-1,0 0,0 1,0-1,0-1,0 1,-1 0,5-6,-5 6,0-1,1 1,-1 0,0 0,1 0,-1 0,1 0,0 1,-1-1,1 1,0 0,0 0,5-2,-4 2,0 0,0 0,-1-1,1 0,-1 0,1 0,5-5,0-5,-8 11,-1 0,1-1,0 1,0 0,0-1,0 1,0 0,0 0,3-2,41-22,-28 17,17-11,-9 3,-15 10,-1 1,0-2,14-12,-21 17,1 0,0 0,0 0,0 0,0 0,0 1,0-1,1 1,-1 0,0 0,1 0,3 0,9-3,-13 3,-1 0,1 0,0-1,-1 1,1-1,-1 0,1 0,-1 0,0 0,4-5,-3 5,-1-1,0 0,1 1,0 0,-1 0,1 0,6-3,17-4,-21 8,0-1,-1 1,1-1,0 0,-1-1,1 1,-1-1,0 1,0-1,6-6,-4 4,1 0,0 0,0 1,0 0,0 1,1-1,-1 1,9-1,-1-2,2 1,-12 3,0 1,-1-1,1 0,-1 0,1 0,-1 0,5-4,-8 5,1-1,0 2,0-1,0 0,0 0,0 0,0 1,0-1,0 1,4 0,-4 0,0-1,0 1,0 0,-1-1,1 1,0-1,0 1,0-1,-1 0,1 0,2-1,0-2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3T16:20:22.802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211 2386,'8'-1,"1"0,-1-1,1 0,-1-1,0 0,0 0,0-1,0 0,-1 0,8-6,-11 7,0 0,1-1,-1 2,1-1,0 0,-1 1,1 0,0 0,0 0,9-1,7-2,28-11,-20 6,6-5,-29 11,0 1,0 1,0-1,1 1,10-3,-8 3,0-1,0 0,0-1,-1 0,9-5,13-6,-2-2,-24 14,0 0,1 0,-1 1,0-1,1 1,7-2,-9 3,0-1,0 1,0-1,0 0,0 0,0 0,-1 0,1 0,-1 0,0-1,0 1,0-1,0 0,0 1,0-1,-1 0,2-4,-1 4,0-1,0 1,0 0,0 0,0 0,0 0,1 0,0 0,0 0,-1 1,1 0,1-1,3-1,-1 2,-1-1,1 1,-1-1,0 0,0 0,-1-1,1 1,-1-1,1 0,-1-1,-1 1,1 0,0-1,-1 0,3-6,-2 4,0 0,-1 0,0 0,0 0,-1-1,1 1,0-13,-2 16,-1 1,0 0,0-1,0 1,0 0,0-1,-1 1,0 0,1 0,-1-1,0 1,-1 0,1 0,-1 0,1 0,-1 0,0 1,0-1,0 0,-4-3,2 3,0 0,-1 0,1 1,-1 0,-7-3,6 3,1-1,0 1,1 0,-10-7,-42-27,18 9,30 22,1 0,0 0,-12-12,17 15,-1-1,1 0,0 0,1 1,-1-2,0 1,1 0,-1 0,1 0,0-1,0 1,1 0,-1-7,0 1,0 0,1 0,0 0,1 0,0-1,0 1,1 0,0 0,1 1,6-15,-7 15,1 1,-1-1,-1 1,1-1,-1 0,0-13,4-25,-3 31,0-1,0 1,-2-17,0 16,0 1,2-1,2-16,-1 22,-2 1,1-1,-1 0,-1 0,0 0,0 0,-1 0,0 0,-1 0,0 0,0 0,-1 1,-4-10,0 3,5 12,1 0,-1 0,0 0,0 0,0 1,-1-1,0 1,1-1,-1 1,0 0,0 0,-1 0,-5-4,-17-10,19 11,-1 1,0 0,0 0,-1 0,0 1,1 0,-1 1,0 0,-1 1,1 0,-15-2,19 4,0-1,0 1,0-1,0 0,0-1,0 1,1-1,-1 0,0 0,-6-5,1 0,1-1,0 0,-11-11,0 2,18 16,0 0,0 0,1 0,-1-1,0 1,0-1,1 1,-1-1,1 0,-1 1,1-1,0 0,0 0,0 0,0 0,0 0,0 0,1-1,-1 1,0-3,-1-4,-1 1,0-1,0 1,-1 0,0 0,0 0,-1 1,0 0,0-1,-1 2,-11-12,-43-18,34 21,23 14,0 0,0 0,1-1,-1 1,0-1,1 0,-1 0,1 0,-4-4,2 2,0 0,0 1,0-1,0 1,-1 0,-7-4,9 5,-1 0,1 0,-1 0,1 0,0-1,0 1,0-1,1 0,-1 0,0 0,1 0,0 0,0 0,-3-7,3 6,0 0,0 1,0-1,-1 1,1 0,-1-1,0 1,0 0,0 1,-4-4,4 4,0 0,1 0,-1 0,1-1,-1 1,1-1,0 1,0-1,0 0,0 0,1 0,-1 0,1 0,0 0,0 0,-2-6,2-13,0-1,4-36,-2 56,-1 0,1 0,1 0,-1 0,0 0,1 0,-1 0,1 0,0 1,0-1,0 1,0-1,5-3,-4 3,0 0,0 0,-1 0,1 0,-1 0,0-1,0 1,3-8,1-2,-1 1,2 0,0 0,1 0,0 0,0 1,1 1,12-12,-3 2,24-39,-19 26,5 4,-24 25,1 0,-1 0,0 0,0-1,-1 0,7-9,-8 10,1 0,-1 0,1 1,0-1,0 0,0 1,1 0,-1 0,1 0,-1 0,9-3,3-4,-3 1,-7 4,2 1,-1-1,0 1,1 0,0 1,0-1,0 1,0 1,0-1,1 1,-1 1,1-1,11 0,29 2,100 2,-144-2,0 0,0 1,0 0,0 0,0 0,0 0,0 1,0-1,-1 1,1 0,-1 0,1 1,5 4,-5-3,-1 0,0 1,1-1,-2 1,1 0,0 0,-1-1,0 2,2 8,-3-12,0 0,0 0,0 0,1-1,-1 1,0 0,1 0,-1-1,1 1,-1-1,1 1,0-1,0 0,0 1,0-1,-1 0,1 0,4 1,-4-2,0 1,0 0,0-1,0 1,0 0,-1 0,1 0,0 1,-1-1,1 0,-1 1,1-1,-1 1,0-1,1 1,-1-1,0 1,0 0,0 0,0 0,-1 0,2 3,-1 5,1 1,-2-1,0 1,0 0,-1-1,0 1,0-1,-1 1,-1-1,0 0,-6 14,-20 38,24-47,1 0,1 0,0 0,0 17,-7 31,6-36,3-20,0 0,-1 0,1-1,-1 1,-5 10,0 0,0 0,2 1,0-1,-5 31,10-47,0 1,1-1,-1 1,0-1,0 1,1-1,-1 0,1 1,-1-1,1 0,0 1,-1-1,1 0,0 0,0 1,0-1,0 0,0 0,0 0,0 0,0 0,1-1,-1 1,0 0,0-1,3 2,43 15,-35-13,23 10,-26-10,1 0,0 0,-1-1,14 2,6 0,-16-2,0-1,1 0,-1-1,1 0,0-1,-1-1,19-2,-26 1,0-1,0 1,0-1,0 0,-1-1,1 1,7-8,-9 8,1-1,-1 1,1 0,0 0,0 0,0 0,0 1,1 0,-1 0,11-2,2 2,-4 2,0-2,0 0,-1 0,26-9,-37 10,95-38,-83 34,0 1,1 0,0 2,29-3,-28 4,1-1,31-8,-32 6,0 1,0 0,24 0,-31 3,10 0,0 1,33 5,-46-5,0 1,0 0,0 0,0 0,-1 1,1 0,-1 0,1 0,-1 0,0 1,-1 0,8 8,-8-9,0 1,0 0,1-1,0 0,-1 0,1-1,0 1,0-1,0 0,1 0,-1-1,0 1,1-1,-1 0,1-1,5 1,32 6,-36-5,0 1,0 0,12 7,8 3,39 27,-54-35,2 0,0 1,-1 0,0 1,0 0,0 1,16 14,-23-17,0 0,0-1,0 0,1 0,-1 0,1-1,0 0,0 0,13 3,5-1,38 4,-51-8,26 5,-22-3,0-1,18 0,-23-1,0-1,0 0,0-1,-1 0,1-1,0 0,-1 0,1-1,-1-1,0 0,14-7,3-12,-25 20,1 1,0-1,0 1,0-1,0 1,0 0,0 0,0 0,1 0,-1 1,5-2,3-2,1 0,-2-1,1 0,0-1,-1 0,-1 0,1-1,10-11,-13 12,0 1,1 0,0 0,0 1,0 0,0 0,15-5,-20 9,1-1,0 0,-1-1,1 1,-1-1,0 1,0-1,0 0,0 0,0 0,-1-1,3-3,17-19,-19 23,0 1,1 0,-1 0,1 0,-1 1,1-1,0 1,0 0,6-1,-5 1,-1-1,1 1,-1 0,1-1,-1 0,0 0,6-4,7-5,1 0,0 0,1 2,26-10,-25 11,27-19,-1 1,0 0,-36 19,1 1,-1 0,13-4,-21 9,14-4,-1-1,0 0,0-1,-1 0,0-2,0 1,16-15,-22 18,-1 1,1 0,0 0,0 1,0 0,1 0,-1 1,1 0,8 0,-3-1,136-15,-143 17,71-11,-68 11,0 0,0-1,0 0,-1-1,18-7,-18 6,1 0,-1 1,1 0,0 1,-1 0,14 0,-7 1,-1 1,1-2,-1 0,0-1,0-1,0 0,0-1,0 0,16-10,-20 8,-8 5,0 0,0 0,0 0,0 1,0-1,0 1,1-1,-1 1,1 0,4 0,0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51850" cy="497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t" anchorCtr="0" compatLnSpc="1"/>
          <a:lstStyle>
            <a:lvl1pPr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8537" y="0"/>
            <a:ext cx="2951850" cy="497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t" anchorCtr="0" compatLnSpc="1"/>
          <a:lstStyle>
            <a:lvl1pPr algn="r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6125"/>
            <a:ext cx="6627813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197" y="4724202"/>
            <a:ext cx="5449570" cy="4475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6678"/>
            <a:ext cx="2951850" cy="497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b" anchorCtr="0" compatLnSpc="1"/>
          <a:lstStyle>
            <a:lvl1pPr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8537" y="9446678"/>
            <a:ext cx="2951850" cy="497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b" anchorCtr="0" compatLnSpc="1"/>
          <a:lstStyle>
            <a:lvl1pPr algn="r" eaLnBrk="1" hangingPunct="1">
              <a:defRPr sz="13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020F7E6-B6AB-4685-9920-66673A4976C0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0522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6852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3397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8454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8867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2125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6701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5281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308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75677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42668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26115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由于</a:t>
            </a:r>
            <a:r>
              <a:rPr lang="en-US" altLang="zh-CN" sz="1200" kern="100" dirty="0">
                <a:effectLst/>
                <a:latin typeface="+mj-ea"/>
                <a:ea typeface="+mj-ea"/>
              </a:rPr>
              <a:t>0-1</a:t>
            </a:r>
            <a:r>
              <a:rPr lang="zh-CN" altLang="zh-CN" sz="12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损失函数不是连续可导的，直接优化由其构成的目标函数比较困难，可以认为线性支持向量机是优化</a:t>
            </a:r>
            <a:r>
              <a:rPr lang="en-US" altLang="zh-CN" sz="1200" kern="100" dirty="0">
                <a:effectLst/>
                <a:latin typeface="+mj-ea"/>
                <a:ea typeface="+mj-ea"/>
              </a:rPr>
              <a:t>0-1</a:t>
            </a:r>
            <a:r>
              <a:rPr lang="zh-CN" altLang="zh-CN" sz="12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损失函数的上界（合页损失函数）构成的目标函数。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这时的上界损失函数又称为代理损失函数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+mj-ea"/>
                <a:ea typeface="+mj-ea"/>
              </a:rPr>
              <a:t>(Surrogate Loss Function)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+mj-ea"/>
                <a:ea typeface="+mj-ea"/>
              </a:rPr>
              <a:t> </a:t>
            </a:r>
            <a:endParaRPr lang="zh-CN" altLang="en-US" sz="1200" dirty="0">
              <a:latin typeface="+mj-ea"/>
              <a:ea typeface="+mj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33273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71976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52651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22525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54045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36567" y="222253"/>
            <a:ext cx="2880784" cy="59039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94219" y="222253"/>
            <a:ext cx="8439149" cy="590391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A54C05-12C6-4ED5-8C42-25DA65BDDB2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060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ChangeArrowheads="1"/>
          </p:cNvSpPr>
          <p:nvPr userDrawn="1"/>
        </p:nvSpPr>
        <p:spPr bwMode="auto">
          <a:xfrm>
            <a:off x="0" y="1000125"/>
            <a:ext cx="646113" cy="261938"/>
          </a:xfrm>
          <a:prstGeom prst="rect">
            <a:avLst/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10"/>
          <p:cNvSpPr>
            <a:spLocks noChangeArrowheads="1"/>
          </p:cNvSpPr>
          <p:nvPr userDrawn="1"/>
        </p:nvSpPr>
        <p:spPr bwMode="auto">
          <a:xfrm>
            <a:off x="703263" y="996950"/>
            <a:ext cx="11488737" cy="26193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Text Box 11"/>
          <p:cNvSpPr txBox="1">
            <a:spLocks noChangeArrowheads="1"/>
          </p:cNvSpPr>
          <p:nvPr userDrawn="1"/>
        </p:nvSpPr>
        <p:spPr bwMode="auto">
          <a:xfrm>
            <a:off x="261938" y="963613"/>
            <a:ext cx="40322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defRPr/>
            </a:pPr>
            <a:fld id="{679EA1FA-98DD-462E-800D-6ADA9E20B4EE}" type="slidenum">
              <a:rPr lang="en-US" altLang="zh-CN" sz="1400" b="1" smtClean="0">
                <a:solidFill>
                  <a:schemeClr val="bg1"/>
                </a:solidFill>
                <a:ea typeface="宋体" panose="02010600030101010101" pitchFamily="2" charset="-122"/>
              </a:rPr>
              <a:t>‹#›</a:t>
            </a:fld>
            <a:endParaRPr lang="en-US" altLang="zh-CN" sz="1400" b="1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029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293688" y="222250"/>
            <a:ext cx="11523662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1630" indent="-34163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1680" indent="-28448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1730" indent="-22733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598930" indent="-22733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6130" indent="-22733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3" Type="http://schemas.openxmlformats.org/officeDocument/2006/relationships/image" Target="../media/image13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17.png"/><Relationship Id="rId5" Type="http://schemas.openxmlformats.org/officeDocument/2006/relationships/image" Target="../media/image15.png"/><Relationship Id="rId10" Type="http://schemas.openxmlformats.org/officeDocument/2006/relationships/image" Target="../media/image28.png"/><Relationship Id="rId4" Type="http://schemas.openxmlformats.org/officeDocument/2006/relationships/image" Target="../media/image14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9.png"/><Relationship Id="rId7" Type="http://schemas.openxmlformats.org/officeDocument/2006/relationships/image" Target="../media/image25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2.png"/><Relationship Id="rId5" Type="http://schemas.openxmlformats.org/officeDocument/2006/relationships/image" Target="../media/image23.png"/><Relationship Id="rId15" Type="http://schemas.openxmlformats.org/officeDocument/2006/relationships/image" Target="../media/image37.png"/><Relationship Id="rId10" Type="http://schemas.openxmlformats.org/officeDocument/2006/relationships/image" Target="../media/image28.png"/><Relationship Id="rId9" Type="http://schemas.openxmlformats.org/officeDocument/2006/relationships/image" Target="../media/image27.png"/><Relationship Id="rId1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0" name="矩形 13"/>
          <p:cNvSpPr>
            <a:spLocks noChangeArrowheads="1"/>
          </p:cNvSpPr>
          <p:nvPr/>
        </p:nvSpPr>
        <p:spPr bwMode="auto">
          <a:xfrm>
            <a:off x="5200631" y="4962165"/>
            <a:ext cx="245999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2024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年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04</a:t>
            </a:r>
            <a:r>
              <a:rPr lang="zh-CN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月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1904" y="2668905"/>
            <a:ext cx="12199426" cy="2234691"/>
          </a:xfr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/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机器学习</a:t>
            </a:r>
            <a:r>
              <a:rPr lang="en-US" altLang="zh-CN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支持向量机</a:t>
            </a:r>
            <a:br>
              <a:rPr lang="en-US" altLang="zh-CN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br>
              <a:rPr lang="en-US" altLang="zh-CN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刘海斌</a:t>
            </a:r>
            <a:endParaRPr lang="zh-CN" altLang="en-US" sz="2400" dirty="0">
              <a:solidFill>
                <a:schemeClr val="bg1"/>
              </a:solidFill>
              <a:latin typeface="+mj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79E224C-85F1-EFF5-451B-B3146D79DC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1180" y="-211104"/>
            <a:ext cx="4169497" cy="144529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DAD3453-C414-50F6-D2DD-F81A9ED72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7134"/>
            <a:ext cx="12192000" cy="1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75"/>
    </mc:Choice>
    <mc:Fallback xmlns="">
      <p:transition spd="slow" advTm="717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zh-CN" altLang="en-US" dirty="0">
                <a:solidFill>
                  <a:schemeClr val="tx1"/>
                </a:solidFill>
              </a:rPr>
              <a:t>本章目录</a:t>
            </a:r>
          </a:p>
        </p:txBody>
      </p:sp>
      <p:sp>
        <p:nvSpPr>
          <p:cNvPr id="44" name="TextBox 6"/>
          <p:cNvSpPr txBox="1">
            <a:spLocks noChangeArrowheads="1"/>
          </p:cNvSpPr>
          <p:nvPr/>
        </p:nvSpPr>
        <p:spPr bwMode="auto">
          <a:xfrm>
            <a:off x="3002507" y="1872975"/>
            <a:ext cx="5105475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01 </a:t>
            </a:r>
            <a:r>
              <a:rPr lang="en-US" altLang="zh-CN" sz="4000" dirty="0">
                <a:latin typeface="Impact" pitchFamily="34" charset="0"/>
                <a:ea typeface="微软雅黑" pitchFamily="34" charset="-122"/>
              </a:rPr>
              <a:t> </a:t>
            </a:r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  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支持向量机概述</a:t>
            </a:r>
            <a:endParaRPr lang="en-US" altLang="zh-CN" sz="3600" dirty="0"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47" name="TextBox 10"/>
          <p:cNvSpPr txBox="1">
            <a:spLocks noChangeArrowheads="1"/>
          </p:cNvSpPr>
          <p:nvPr/>
        </p:nvSpPr>
        <p:spPr bwMode="auto">
          <a:xfrm>
            <a:off x="3002508" y="2749712"/>
            <a:ext cx="507241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02    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线性可分支持向量机</a:t>
            </a:r>
          </a:p>
        </p:txBody>
      </p:sp>
      <p:sp>
        <p:nvSpPr>
          <p:cNvPr id="48" name="TextBox 11"/>
          <p:cNvSpPr txBox="1">
            <a:spLocks noChangeArrowheads="1"/>
          </p:cNvSpPr>
          <p:nvPr/>
        </p:nvSpPr>
        <p:spPr bwMode="auto">
          <a:xfrm>
            <a:off x="3002507" y="3564894"/>
            <a:ext cx="629759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03    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线性支持向量机</a:t>
            </a:r>
          </a:p>
        </p:txBody>
      </p:sp>
      <p:sp>
        <p:nvSpPr>
          <p:cNvPr id="51" name="TextBox 10"/>
          <p:cNvSpPr txBox="1">
            <a:spLocks noChangeArrowheads="1"/>
          </p:cNvSpPr>
          <p:nvPr/>
        </p:nvSpPr>
        <p:spPr bwMode="auto">
          <a:xfrm>
            <a:off x="3029495" y="4380075"/>
            <a:ext cx="57460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04    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线性不可分支持向量机</a:t>
            </a:r>
          </a:p>
        </p:txBody>
      </p:sp>
    </p:spTree>
    <p:extLst>
      <p:ext uri="{BB962C8B-B14F-4D97-AF65-F5344CB8AC3E}">
        <p14:creationId xmlns:p14="http://schemas.microsoft.com/office/powerpoint/2010/main" val="920164863"/>
      </p:ext>
    </p:extLst>
  </p:cSld>
  <p:clrMapOvr>
    <a:masterClrMapping/>
  </p:clrMapOvr>
  <p:transition advTm="8005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对角圆角矩形 8">
            <a:extLst>
              <a:ext uri="{FF2B5EF4-FFF2-40B4-BE49-F238E27FC236}">
                <a16:creationId xmlns:a16="http://schemas.microsoft.com/office/drawing/2014/main" id="{CAE08E35-DEC9-4689-915B-1B27E7F9279D}"/>
              </a:ext>
            </a:extLst>
          </p:cNvPr>
          <p:cNvSpPr/>
          <p:nvPr/>
        </p:nvSpPr>
        <p:spPr>
          <a:xfrm>
            <a:off x="2691358" y="1892442"/>
            <a:ext cx="6278833" cy="647700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1353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1.</a:t>
            </a:r>
            <a:r>
              <a:rPr lang="zh-CN" altLang="en-US" dirty="0">
                <a:solidFill>
                  <a:schemeClr val="tx1"/>
                </a:solidFill>
              </a:rPr>
              <a:t>支持向量机概述</a:t>
            </a:r>
          </a:p>
        </p:txBody>
      </p:sp>
      <p:sp>
        <p:nvSpPr>
          <p:cNvPr id="44" name="TextBox 6"/>
          <p:cNvSpPr txBox="1">
            <a:spLocks noChangeArrowheads="1"/>
          </p:cNvSpPr>
          <p:nvPr/>
        </p:nvSpPr>
        <p:spPr bwMode="auto">
          <a:xfrm>
            <a:off x="3002507" y="1872975"/>
            <a:ext cx="5105475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01 </a:t>
            </a:r>
            <a:r>
              <a:rPr lang="en-US" altLang="zh-CN" sz="40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 </a:t>
            </a:r>
            <a:r>
              <a:rPr lang="en-US" altLang="zh-CN" sz="36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  </a:t>
            </a:r>
            <a:r>
              <a:rPr lang="zh-CN" altLang="en-US" sz="36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支持向量机概述</a:t>
            </a:r>
            <a:endParaRPr lang="en-US" altLang="zh-CN" sz="36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CE822752-ED3E-40A5-A413-EA904066F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2508" y="2749712"/>
            <a:ext cx="507241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02    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线性可分支持向量机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DE451D03-4E2B-4B55-B1F5-AAA25318C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2507" y="3564894"/>
            <a:ext cx="629759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03    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线性支持向量机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9D5D64A-90E0-4181-9705-14943FB68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9495" y="4380075"/>
            <a:ext cx="57460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04    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线性不可分支持向量机</a:t>
            </a:r>
          </a:p>
        </p:txBody>
      </p:sp>
    </p:spTree>
    <p:extLst>
      <p:ext uri="{BB962C8B-B14F-4D97-AF65-F5344CB8AC3E}">
        <p14:creationId xmlns:p14="http://schemas.microsoft.com/office/powerpoint/2010/main" val="761052216"/>
      </p:ext>
    </p:extLst>
  </p:cSld>
  <p:clrMapOvr>
    <a:masterClrMapping/>
  </p:clrMapOvr>
  <p:transition advTm="8005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1.</a:t>
            </a:r>
            <a:r>
              <a:rPr lang="zh-CN" altLang="en-US" dirty="0">
                <a:solidFill>
                  <a:schemeClr val="tx1"/>
                </a:solidFill>
              </a:rPr>
              <a:t>支持向量机概述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51BAD8-F509-4094-9DA5-A807CA95B36A}"/>
              </a:ext>
            </a:extLst>
          </p:cNvPr>
          <p:cNvSpPr txBox="1"/>
          <p:nvPr/>
        </p:nvSpPr>
        <p:spPr>
          <a:xfrm>
            <a:off x="668339" y="1315263"/>
            <a:ext cx="6619368" cy="501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400" b="1" kern="100" dirty="0">
                <a:effectLst/>
                <a:latin typeface="微软雅黑" panose="020B0503020204020204" pitchFamily="34" charset="-122"/>
              </a:rPr>
              <a:t>支持向量机（</a:t>
            </a:r>
            <a:r>
              <a:rPr lang="en-US" altLang="zh-CN" sz="2400" b="1" kern="100" dirty="0">
                <a:effectLst/>
                <a:latin typeface="微软雅黑" panose="020B0503020204020204" pitchFamily="34" charset="-122"/>
              </a:rPr>
              <a:t>Support Vector Machine, SVM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</a:rPr>
              <a:t>）</a:t>
            </a:r>
            <a:r>
              <a:rPr lang="zh-CN" altLang="zh-CN" sz="2400" kern="100" dirty="0">
                <a:effectLst/>
                <a:latin typeface="微软雅黑" panose="020B0503020204020204" pitchFamily="34" charset="-122"/>
              </a:rPr>
              <a:t>是一类按监督学习（</a:t>
            </a:r>
            <a:r>
              <a:rPr lang="en-US" altLang="zh-CN" sz="2400" kern="100" dirty="0">
                <a:effectLst/>
                <a:latin typeface="微软雅黑" panose="020B0503020204020204" pitchFamily="34" charset="-122"/>
              </a:rPr>
              <a:t>supervised learning</a:t>
            </a:r>
            <a:r>
              <a:rPr lang="zh-CN" altLang="zh-CN" sz="2400" kern="100" dirty="0">
                <a:effectLst/>
                <a:latin typeface="微软雅黑" panose="020B0503020204020204" pitchFamily="34" charset="-122"/>
              </a:rPr>
              <a:t>）方式对数据进行二元分类的广义线性分类器（</a:t>
            </a:r>
            <a:r>
              <a:rPr lang="en-US" altLang="zh-CN" sz="2400" kern="100" dirty="0">
                <a:effectLst/>
                <a:latin typeface="微软雅黑" panose="020B0503020204020204" pitchFamily="34" charset="-122"/>
              </a:rPr>
              <a:t>generalized linear classifier</a:t>
            </a:r>
            <a:r>
              <a:rPr lang="zh-CN" altLang="zh-CN" sz="2400" kern="100" dirty="0">
                <a:effectLst/>
                <a:latin typeface="微软雅黑" panose="020B0503020204020204" pitchFamily="34" charset="-122"/>
              </a:rPr>
              <a:t>），其决策边界是对学习样本求解的最大边距超平面（</a:t>
            </a:r>
            <a:r>
              <a:rPr lang="en-US" altLang="zh-CN" sz="2400" kern="100" dirty="0">
                <a:effectLst/>
                <a:latin typeface="微软雅黑" panose="020B0503020204020204" pitchFamily="34" charset="-122"/>
              </a:rPr>
              <a:t>maximum-margin hyperplane</a:t>
            </a:r>
            <a:r>
              <a:rPr lang="zh-CN" altLang="zh-CN" sz="2400" kern="100" dirty="0">
                <a:effectLst/>
                <a:latin typeface="微软雅黑" panose="020B0503020204020204" pitchFamily="34" charset="-122"/>
              </a:rPr>
              <a:t>） 。</a:t>
            </a:r>
            <a:endParaRPr lang="en-US" altLang="zh-CN" sz="2400" kern="100" dirty="0">
              <a:effectLst/>
              <a:latin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400" kern="100" dirty="0">
                <a:effectLst/>
                <a:latin typeface="微软雅黑" panose="020B0503020204020204" pitchFamily="34" charset="-122"/>
              </a:rPr>
              <a:t>与逻辑回归和神经网络相比，支持向量机，在学习复杂的非线性方程时提供了一种更为清晰，更加强大的方式。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C2CFA3A-EC40-407C-B28B-5DF6E1874BDC}"/>
              </a:ext>
            </a:extLst>
          </p:cNvPr>
          <p:cNvGrpSpPr/>
          <p:nvPr/>
        </p:nvGrpSpPr>
        <p:grpSpPr>
          <a:xfrm>
            <a:off x="7733364" y="1664677"/>
            <a:ext cx="3827814" cy="2949430"/>
            <a:chOff x="7733364" y="1664677"/>
            <a:chExt cx="3827814" cy="2949430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5A4C79CD-C3FB-4D86-B008-1B66CD2CAFED}"/>
                </a:ext>
              </a:extLst>
            </p:cNvPr>
            <p:cNvSpPr/>
            <p:nvPr/>
          </p:nvSpPr>
          <p:spPr>
            <a:xfrm>
              <a:off x="9780625" y="4081228"/>
              <a:ext cx="1087279" cy="290909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支持向量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086AC7A-6273-4751-BADF-E3F7E8A6C820}"/>
                </a:ext>
              </a:extLst>
            </p:cNvPr>
            <p:cNvSpPr/>
            <p:nvPr/>
          </p:nvSpPr>
          <p:spPr>
            <a:xfrm rot="19351612">
              <a:off x="8066522" y="2625024"/>
              <a:ext cx="2926319" cy="48232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" name="Google Shape;3707;p62">
              <a:extLst>
                <a:ext uri="{FF2B5EF4-FFF2-40B4-BE49-F238E27FC236}">
                  <a16:creationId xmlns:a16="http://schemas.microsoft.com/office/drawing/2014/main" id="{9DC9D416-47C9-43B6-B83B-6540D529616D}"/>
                </a:ext>
              </a:extLst>
            </p:cNvPr>
            <p:cNvCxnSpPr/>
            <p:nvPr/>
          </p:nvCxnSpPr>
          <p:spPr>
            <a:xfrm rot="10800000">
              <a:off x="7733364" y="4466558"/>
              <a:ext cx="3827814" cy="11124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10" name="Google Shape;3708;p62">
              <a:extLst>
                <a:ext uri="{FF2B5EF4-FFF2-40B4-BE49-F238E27FC236}">
                  <a16:creationId xmlns:a16="http://schemas.microsoft.com/office/drawing/2014/main" id="{6BEC4AB1-21B7-40F9-9A1D-B423B5E5D02E}"/>
                </a:ext>
              </a:extLst>
            </p:cNvPr>
            <p:cNvSpPr/>
            <p:nvPr/>
          </p:nvSpPr>
          <p:spPr>
            <a:xfrm rot="8931971">
              <a:off x="9265119" y="3567599"/>
              <a:ext cx="84560" cy="93815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709;p62">
              <a:extLst>
                <a:ext uri="{FF2B5EF4-FFF2-40B4-BE49-F238E27FC236}">
                  <a16:creationId xmlns:a16="http://schemas.microsoft.com/office/drawing/2014/main" id="{D94538F5-4EDA-46A1-8FF9-7ED0E554264E}"/>
                </a:ext>
              </a:extLst>
            </p:cNvPr>
            <p:cNvSpPr/>
            <p:nvPr/>
          </p:nvSpPr>
          <p:spPr>
            <a:xfrm rot="8931971">
              <a:off x="9024010" y="3825634"/>
              <a:ext cx="84560" cy="93815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710;p62">
              <a:extLst>
                <a:ext uri="{FF2B5EF4-FFF2-40B4-BE49-F238E27FC236}">
                  <a16:creationId xmlns:a16="http://schemas.microsoft.com/office/drawing/2014/main" id="{08828659-ECF6-45C8-B696-2C086171D8D2}"/>
                </a:ext>
              </a:extLst>
            </p:cNvPr>
            <p:cNvSpPr/>
            <p:nvPr/>
          </p:nvSpPr>
          <p:spPr>
            <a:xfrm rot="8931971">
              <a:off x="9215993" y="3883812"/>
              <a:ext cx="84560" cy="93815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711;p62">
              <a:extLst>
                <a:ext uri="{FF2B5EF4-FFF2-40B4-BE49-F238E27FC236}">
                  <a16:creationId xmlns:a16="http://schemas.microsoft.com/office/drawing/2014/main" id="{737FEA52-9A7C-4505-A611-1B7A76243457}"/>
                </a:ext>
              </a:extLst>
            </p:cNvPr>
            <p:cNvSpPr/>
            <p:nvPr/>
          </p:nvSpPr>
          <p:spPr>
            <a:xfrm rot="8931971">
              <a:off x="9711104" y="3022669"/>
              <a:ext cx="84560" cy="93815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712;p62">
              <a:extLst>
                <a:ext uri="{FF2B5EF4-FFF2-40B4-BE49-F238E27FC236}">
                  <a16:creationId xmlns:a16="http://schemas.microsoft.com/office/drawing/2014/main" id="{B6D6D335-C3EC-495F-899A-EE7638942257}"/>
                </a:ext>
              </a:extLst>
            </p:cNvPr>
            <p:cNvSpPr/>
            <p:nvPr/>
          </p:nvSpPr>
          <p:spPr>
            <a:xfrm rot="8931971">
              <a:off x="9102295" y="3626369"/>
              <a:ext cx="84560" cy="93815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713;p62">
              <a:extLst>
                <a:ext uri="{FF2B5EF4-FFF2-40B4-BE49-F238E27FC236}">
                  <a16:creationId xmlns:a16="http://schemas.microsoft.com/office/drawing/2014/main" id="{6A10754C-0513-41EC-8B59-063878EA831C}"/>
                </a:ext>
              </a:extLst>
            </p:cNvPr>
            <p:cNvSpPr/>
            <p:nvPr/>
          </p:nvSpPr>
          <p:spPr>
            <a:xfrm rot="8931971">
              <a:off x="9955587" y="2960402"/>
              <a:ext cx="84560" cy="93815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714;p62">
              <a:extLst>
                <a:ext uri="{FF2B5EF4-FFF2-40B4-BE49-F238E27FC236}">
                  <a16:creationId xmlns:a16="http://schemas.microsoft.com/office/drawing/2014/main" id="{4E171FF7-B391-4576-9581-FA51EDEE5EA8}"/>
                </a:ext>
              </a:extLst>
            </p:cNvPr>
            <p:cNvSpPr/>
            <p:nvPr/>
          </p:nvSpPr>
          <p:spPr>
            <a:xfrm rot="8931971">
              <a:off x="10148020" y="3606726"/>
              <a:ext cx="84560" cy="93815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715;p62">
              <a:extLst>
                <a:ext uri="{FF2B5EF4-FFF2-40B4-BE49-F238E27FC236}">
                  <a16:creationId xmlns:a16="http://schemas.microsoft.com/office/drawing/2014/main" id="{32586344-4B4B-4B51-916E-9FB659904A6E}"/>
                </a:ext>
              </a:extLst>
            </p:cNvPr>
            <p:cNvSpPr/>
            <p:nvPr/>
          </p:nvSpPr>
          <p:spPr>
            <a:xfrm rot="8931971">
              <a:off x="10242185" y="3041517"/>
              <a:ext cx="84560" cy="93815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" name="Google Shape;3718;p62">
              <a:extLst>
                <a:ext uri="{FF2B5EF4-FFF2-40B4-BE49-F238E27FC236}">
                  <a16:creationId xmlns:a16="http://schemas.microsoft.com/office/drawing/2014/main" id="{4D0092BC-1F6E-4572-8AF5-437F92F2CE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2402" y="1848546"/>
              <a:ext cx="2552671" cy="1967557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" name="Google Shape;3719;p62">
              <a:extLst>
                <a:ext uri="{FF2B5EF4-FFF2-40B4-BE49-F238E27FC236}">
                  <a16:creationId xmlns:a16="http://schemas.microsoft.com/office/drawing/2014/main" id="{15414173-0AFF-47FA-A28B-8C46FA408E22}"/>
                </a:ext>
              </a:extLst>
            </p:cNvPr>
            <p:cNvCxnSpPr/>
            <p:nvPr/>
          </p:nvCxnSpPr>
          <p:spPr>
            <a:xfrm rot="10800000" flipH="1">
              <a:off x="7850758" y="1664678"/>
              <a:ext cx="10465" cy="2949429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23" name="Google Shape;3720;p62">
              <a:extLst>
                <a:ext uri="{FF2B5EF4-FFF2-40B4-BE49-F238E27FC236}">
                  <a16:creationId xmlns:a16="http://schemas.microsoft.com/office/drawing/2014/main" id="{C3BD3E19-E8F9-4C4F-8ED7-C7D7B0AA0798}"/>
                </a:ext>
              </a:extLst>
            </p:cNvPr>
            <p:cNvSpPr/>
            <p:nvPr/>
          </p:nvSpPr>
          <p:spPr>
            <a:xfrm rot="8931971">
              <a:off x="9847926" y="3384258"/>
              <a:ext cx="84560" cy="93815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721;p62">
              <a:extLst>
                <a:ext uri="{FF2B5EF4-FFF2-40B4-BE49-F238E27FC236}">
                  <a16:creationId xmlns:a16="http://schemas.microsoft.com/office/drawing/2014/main" id="{99B61EAE-13E3-4C1B-AFC4-134AF39E18F8}"/>
                </a:ext>
              </a:extLst>
            </p:cNvPr>
            <p:cNvSpPr/>
            <p:nvPr/>
          </p:nvSpPr>
          <p:spPr>
            <a:xfrm rot="8931971">
              <a:off x="9470879" y="3606727"/>
              <a:ext cx="84560" cy="93815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722;p62">
              <a:extLst>
                <a:ext uri="{FF2B5EF4-FFF2-40B4-BE49-F238E27FC236}">
                  <a16:creationId xmlns:a16="http://schemas.microsoft.com/office/drawing/2014/main" id="{078A8B9C-01B1-4A36-993A-707848EFA107}"/>
                </a:ext>
              </a:extLst>
            </p:cNvPr>
            <p:cNvSpPr/>
            <p:nvPr/>
          </p:nvSpPr>
          <p:spPr>
            <a:xfrm rot="8931971">
              <a:off x="10372743" y="2785418"/>
              <a:ext cx="84560" cy="93815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728;p62">
              <a:extLst>
                <a:ext uri="{FF2B5EF4-FFF2-40B4-BE49-F238E27FC236}">
                  <a16:creationId xmlns:a16="http://schemas.microsoft.com/office/drawing/2014/main" id="{BFF9110D-52AC-45DE-B46A-150262C53511}"/>
                </a:ext>
              </a:extLst>
            </p:cNvPr>
            <p:cNvSpPr/>
            <p:nvPr/>
          </p:nvSpPr>
          <p:spPr>
            <a:xfrm rot="8931971">
              <a:off x="9643278" y="3274352"/>
              <a:ext cx="84560" cy="93815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3734;p62">
              <a:extLst>
                <a:ext uri="{FF2B5EF4-FFF2-40B4-BE49-F238E27FC236}">
                  <a16:creationId xmlns:a16="http://schemas.microsoft.com/office/drawing/2014/main" id="{963FDDAF-FF08-4913-B675-484F1EDDDC5E}"/>
                </a:ext>
              </a:extLst>
            </p:cNvPr>
            <p:cNvSpPr/>
            <p:nvPr/>
          </p:nvSpPr>
          <p:spPr>
            <a:xfrm rot="8931971">
              <a:off x="10081067" y="3432189"/>
              <a:ext cx="84560" cy="93815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735;p62">
              <a:extLst>
                <a:ext uri="{FF2B5EF4-FFF2-40B4-BE49-F238E27FC236}">
                  <a16:creationId xmlns:a16="http://schemas.microsoft.com/office/drawing/2014/main" id="{E5C15CB8-0E1F-4DAF-BE77-217BFD3F65B1}"/>
                </a:ext>
              </a:extLst>
            </p:cNvPr>
            <p:cNvSpPr/>
            <p:nvPr/>
          </p:nvSpPr>
          <p:spPr>
            <a:xfrm rot="8931971">
              <a:off x="9977060" y="3201526"/>
              <a:ext cx="84560" cy="93815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746;p62">
              <a:extLst>
                <a:ext uri="{FF2B5EF4-FFF2-40B4-BE49-F238E27FC236}">
                  <a16:creationId xmlns:a16="http://schemas.microsoft.com/office/drawing/2014/main" id="{F6597DFB-7C36-4A79-9AA7-6BECC1839338}"/>
                </a:ext>
              </a:extLst>
            </p:cNvPr>
            <p:cNvSpPr/>
            <p:nvPr/>
          </p:nvSpPr>
          <p:spPr>
            <a:xfrm rot="8931971">
              <a:off x="9492643" y="3875475"/>
              <a:ext cx="84560" cy="93815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747;p62">
              <a:extLst>
                <a:ext uri="{FF2B5EF4-FFF2-40B4-BE49-F238E27FC236}">
                  <a16:creationId xmlns:a16="http://schemas.microsoft.com/office/drawing/2014/main" id="{08842C18-625C-437B-8DA6-3181721B67BF}"/>
                </a:ext>
              </a:extLst>
            </p:cNvPr>
            <p:cNvSpPr/>
            <p:nvPr/>
          </p:nvSpPr>
          <p:spPr>
            <a:xfrm rot="8931971">
              <a:off x="9789863" y="3889285"/>
              <a:ext cx="84560" cy="93815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749;p62">
              <a:extLst>
                <a:ext uri="{FF2B5EF4-FFF2-40B4-BE49-F238E27FC236}">
                  <a16:creationId xmlns:a16="http://schemas.microsoft.com/office/drawing/2014/main" id="{6386293F-4AA4-498B-AD59-161F20DDC48E}"/>
                </a:ext>
              </a:extLst>
            </p:cNvPr>
            <p:cNvSpPr/>
            <p:nvPr/>
          </p:nvSpPr>
          <p:spPr>
            <a:xfrm rot="8931971">
              <a:off x="9813302" y="3620823"/>
              <a:ext cx="84560" cy="93815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761;p62">
              <a:extLst>
                <a:ext uri="{FF2B5EF4-FFF2-40B4-BE49-F238E27FC236}">
                  <a16:creationId xmlns:a16="http://schemas.microsoft.com/office/drawing/2014/main" id="{947AD814-7E2A-4E16-B5D0-31E5386F06A1}"/>
                </a:ext>
              </a:extLst>
            </p:cNvPr>
            <p:cNvSpPr/>
            <p:nvPr/>
          </p:nvSpPr>
          <p:spPr>
            <a:xfrm rot="8931971">
              <a:off x="8853685" y="3687303"/>
              <a:ext cx="84560" cy="93815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762;p62">
              <a:extLst>
                <a:ext uri="{FF2B5EF4-FFF2-40B4-BE49-F238E27FC236}">
                  <a16:creationId xmlns:a16="http://schemas.microsoft.com/office/drawing/2014/main" id="{6A595BE5-BF66-4FB9-AB00-5A22B9C6340A}"/>
                </a:ext>
              </a:extLst>
            </p:cNvPr>
            <p:cNvSpPr/>
            <p:nvPr/>
          </p:nvSpPr>
          <p:spPr>
            <a:xfrm rot="8931971">
              <a:off x="10125816" y="2702030"/>
              <a:ext cx="84560" cy="93815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764;p62">
              <a:extLst>
                <a:ext uri="{FF2B5EF4-FFF2-40B4-BE49-F238E27FC236}">
                  <a16:creationId xmlns:a16="http://schemas.microsoft.com/office/drawing/2014/main" id="{1B7AF366-0889-4558-9999-5E476D597E73}"/>
                </a:ext>
              </a:extLst>
            </p:cNvPr>
            <p:cNvSpPr/>
            <p:nvPr/>
          </p:nvSpPr>
          <p:spPr>
            <a:xfrm rot="8931971">
              <a:off x="10585399" y="2973790"/>
              <a:ext cx="84560" cy="93815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765;p62">
              <a:extLst>
                <a:ext uri="{FF2B5EF4-FFF2-40B4-BE49-F238E27FC236}">
                  <a16:creationId xmlns:a16="http://schemas.microsoft.com/office/drawing/2014/main" id="{E11368BB-6895-4ADA-9869-3AAED6C3377C}"/>
                </a:ext>
              </a:extLst>
            </p:cNvPr>
            <p:cNvSpPr/>
            <p:nvPr/>
          </p:nvSpPr>
          <p:spPr>
            <a:xfrm rot="8931971">
              <a:off x="9335212" y="3317519"/>
              <a:ext cx="84560" cy="93815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等腰三角形 35">
              <a:extLst>
                <a:ext uri="{FF2B5EF4-FFF2-40B4-BE49-F238E27FC236}">
                  <a16:creationId xmlns:a16="http://schemas.microsoft.com/office/drawing/2014/main" id="{F3C1A380-1E02-4CF0-8CF4-247B40BCBAF3}"/>
                </a:ext>
              </a:extLst>
            </p:cNvPr>
            <p:cNvSpPr/>
            <p:nvPr/>
          </p:nvSpPr>
          <p:spPr>
            <a:xfrm>
              <a:off x="9126454" y="2479787"/>
              <a:ext cx="96565" cy="91159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等腰三角形 36">
              <a:extLst>
                <a:ext uri="{FF2B5EF4-FFF2-40B4-BE49-F238E27FC236}">
                  <a16:creationId xmlns:a16="http://schemas.microsoft.com/office/drawing/2014/main" id="{18C4C661-05D9-4413-A334-8E47CF081E23}"/>
                </a:ext>
              </a:extLst>
            </p:cNvPr>
            <p:cNvSpPr/>
            <p:nvPr/>
          </p:nvSpPr>
          <p:spPr>
            <a:xfrm>
              <a:off x="9329210" y="2557296"/>
              <a:ext cx="96565" cy="91159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等腰三角形 37">
              <a:extLst>
                <a:ext uri="{FF2B5EF4-FFF2-40B4-BE49-F238E27FC236}">
                  <a16:creationId xmlns:a16="http://schemas.microsoft.com/office/drawing/2014/main" id="{FB756C0A-EBD8-4ACF-9932-E0FD6C338BF9}"/>
                </a:ext>
              </a:extLst>
            </p:cNvPr>
            <p:cNvSpPr/>
            <p:nvPr/>
          </p:nvSpPr>
          <p:spPr>
            <a:xfrm>
              <a:off x="9362693" y="2220747"/>
              <a:ext cx="96565" cy="91159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等腰三角形 38">
              <a:extLst>
                <a:ext uri="{FF2B5EF4-FFF2-40B4-BE49-F238E27FC236}">
                  <a16:creationId xmlns:a16="http://schemas.microsoft.com/office/drawing/2014/main" id="{439FCC91-680D-47D0-919B-DF3F2E25CC25}"/>
                </a:ext>
              </a:extLst>
            </p:cNvPr>
            <p:cNvSpPr/>
            <p:nvPr/>
          </p:nvSpPr>
          <p:spPr>
            <a:xfrm>
              <a:off x="9070660" y="1701302"/>
              <a:ext cx="96565" cy="91159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等腰三角形 39">
              <a:extLst>
                <a:ext uri="{FF2B5EF4-FFF2-40B4-BE49-F238E27FC236}">
                  <a16:creationId xmlns:a16="http://schemas.microsoft.com/office/drawing/2014/main" id="{92434E64-86F4-4BF7-AD7C-0DDB5D68F2C3}"/>
                </a:ext>
              </a:extLst>
            </p:cNvPr>
            <p:cNvSpPr/>
            <p:nvPr/>
          </p:nvSpPr>
          <p:spPr>
            <a:xfrm>
              <a:off x="9048545" y="1981576"/>
              <a:ext cx="96565" cy="91159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等腰三角形 40">
              <a:extLst>
                <a:ext uri="{FF2B5EF4-FFF2-40B4-BE49-F238E27FC236}">
                  <a16:creationId xmlns:a16="http://schemas.microsoft.com/office/drawing/2014/main" id="{01C3484E-1D18-41FA-A350-602ED37E627D}"/>
                </a:ext>
              </a:extLst>
            </p:cNvPr>
            <p:cNvSpPr/>
            <p:nvPr/>
          </p:nvSpPr>
          <p:spPr>
            <a:xfrm>
              <a:off x="9162931" y="2097300"/>
              <a:ext cx="96565" cy="91159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等腰三角形 41">
              <a:extLst>
                <a:ext uri="{FF2B5EF4-FFF2-40B4-BE49-F238E27FC236}">
                  <a16:creationId xmlns:a16="http://schemas.microsoft.com/office/drawing/2014/main" id="{544C166B-B567-4677-A10C-C81325026B67}"/>
                </a:ext>
              </a:extLst>
            </p:cNvPr>
            <p:cNvSpPr/>
            <p:nvPr/>
          </p:nvSpPr>
          <p:spPr>
            <a:xfrm>
              <a:off x="9453804" y="1788124"/>
              <a:ext cx="96565" cy="91159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等腰三角形 42">
              <a:extLst>
                <a:ext uri="{FF2B5EF4-FFF2-40B4-BE49-F238E27FC236}">
                  <a16:creationId xmlns:a16="http://schemas.microsoft.com/office/drawing/2014/main" id="{6CB0CA6F-CAC0-4BD6-A8C0-70E58B8509C4}"/>
                </a:ext>
              </a:extLst>
            </p:cNvPr>
            <p:cNvSpPr/>
            <p:nvPr/>
          </p:nvSpPr>
          <p:spPr>
            <a:xfrm>
              <a:off x="9745721" y="1721859"/>
              <a:ext cx="96565" cy="91159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等腰三角形 43">
              <a:extLst>
                <a:ext uri="{FF2B5EF4-FFF2-40B4-BE49-F238E27FC236}">
                  <a16:creationId xmlns:a16="http://schemas.microsoft.com/office/drawing/2014/main" id="{F76463BA-AB24-4FFC-AB9E-D7666FBBC3AE}"/>
                </a:ext>
              </a:extLst>
            </p:cNvPr>
            <p:cNvSpPr/>
            <p:nvPr/>
          </p:nvSpPr>
          <p:spPr>
            <a:xfrm>
              <a:off x="9550369" y="2017376"/>
              <a:ext cx="96565" cy="91159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等腰三角形 44">
              <a:extLst>
                <a:ext uri="{FF2B5EF4-FFF2-40B4-BE49-F238E27FC236}">
                  <a16:creationId xmlns:a16="http://schemas.microsoft.com/office/drawing/2014/main" id="{2400C00F-E73B-4B64-A72C-CFF33CED5CCB}"/>
                </a:ext>
              </a:extLst>
            </p:cNvPr>
            <p:cNvSpPr/>
            <p:nvPr/>
          </p:nvSpPr>
          <p:spPr>
            <a:xfrm>
              <a:off x="8532864" y="2133897"/>
              <a:ext cx="96565" cy="91159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等腰三角形 45">
              <a:extLst>
                <a:ext uri="{FF2B5EF4-FFF2-40B4-BE49-F238E27FC236}">
                  <a16:creationId xmlns:a16="http://schemas.microsoft.com/office/drawing/2014/main" id="{DAC6AF14-F4E1-4361-820D-98EA87A685BC}"/>
                </a:ext>
              </a:extLst>
            </p:cNvPr>
            <p:cNvSpPr/>
            <p:nvPr/>
          </p:nvSpPr>
          <p:spPr>
            <a:xfrm>
              <a:off x="9662540" y="2291434"/>
              <a:ext cx="96565" cy="91159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等腰三角形 46">
              <a:extLst>
                <a:ext uri="{FF2B5EF4-FFF2-40B4-BE49-F238E27FC236}">
                  <a16:creationId xmlns:a16="http://schemas.microsoft.com/office/drawing/2014/main" id="{98899163-241C-4160-81D9-2A81B2C13B6D}"/>
                </a:ext>
              </a:extLst>
            </p:cNvPr>
            <p:cNvSpPr/>
            <p:nvPr/>
          </p:nvSpPr>
          <p:spPr>
            <a:xfrm>
              <a:off x="8544931" y="2358624"/>
              <a:ext cx="96565" cy="91159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等腰三角形 47">
              <a:extLst>
                <a:ext uri="{FF2B5EF4-FFF2-40B4-BE49-F238E27FC236}">
                  <a16:creationId xmlns:a16="http://schemas.microsoft.com/office/drawing/2014/main" id="{8D85E677-A8DB-4C71-A070-A75FC86E6CA4}"/>
                </a:ext>
              </a:extLst>
            </p:cNvPr>
            <p:cNvSpPr/>
            <p:nvPr/>
          </p:nvSpPr>
          <p:spPr>
            <a:xfrm>
              <a:off x="8835803" y="2049448"/>
              <a:ext cx="96565" cy="91159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等腰三角形 48">
              <a:extLst>
                <a:ext uri="{FF2B5EF4-FFF2-40B4-BE49-F238E27FC236}">
                  <a16:creationId xmlns:a16="http://schemas.microsoft.com/office/drawing/2014/main" id="{43FD4B1F-22D1-4B82-B34D-0BC36B441812}"/>
                </a:ext>
              </a:extLst>
            </p:cNvPr>
            <p:cNvSpPr/>
            <p:nvPr/>
          </p:nvSpPr>
          <p:spPr>
            <a:xfrm>
              <a:off x="8249777" y="2496008"/>
              <a:ext cx="96565" cy="91159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等腰三角形 49">
              <a:extLst>
                <a:ext uri="{FF2B5EF4-FFF2-40B4-BE49-F238E27FC236}">
                  <a16:creationId xmlns:a16="http://schemas.microsoft.com/office/drawing/2014/main" id="{7282062F-CF51-4F6D-8AA9-C40E711DE7BB}"/>
                </a:ext>
              </a:extLst>
            </p:cNvPr>
            <p:cNvSpPr/>
            <p:nvPr/>
          </p:nvSpPr>
          <p:spPr>
            <a:xfrm>
              <a:off x="9064576" y="2280897"/>
              <a:ext cx="96565" cy="91159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等腰三角形 50">
              <a:extLst>
                <a:ext uri="{FF2B5EF4-FFF2-40B4-BE49-F238E27FC236}">
                  <a16:creationId xmlns:a16="http://schemas.microsoft.com/office/drawing/2014/main" id="{925649B0-C2DE-4077-81FF-D9A8DE8D2E4E}"/>
                </a:ext>
              </a:extLst>
            </p:cNvPr>
            <p:cNvSpPr/>
            <p:nvPr/>
          </p:nvSpPr>
          <p:spPr>
            <a:xfrm>
              <a:off x="8400656" y="2735960"/>
              <a:ext cx="96565" cy="91159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等腰三角形 51">
              <a:extLst>
                <a:ext uri="{FF2B5EF4-FFF2-40B4-BE49-F238E27FC236}">
                  <a16:creationId xmlns:a16="http://schemas.microsoft.com/office/drawing/2014/main" id="{3D9BC524-BA56-4D1E-BC4A-6A0343AA6041}"/>
                </a:ext>
              </a:extLst>
            </p:cNvPr>
            <p:cNvSpPr/>
            <p:nvPr/>
          </p:nvSpPr>
          <p:spPr>
            <a:xfrm>
              <a:off x="8677712" y="2695187"/>
              <a:ext cx="96565" cy="91159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等腰三角形 52">
              <a:extLst>
                <a:ext uri="{FF2B5EF4-FFF2-40B4-BE49-F238E27FC236}">
                  <a16:creationId xmlns:a16="http://schemas.microsoft.com/office/drawing/2014/main" id="{EA92B4B0-3E7A-465A-980C-055017B5A3A8}"/>
                </a:ext>
              </a:extLst>
            </p:cNvPr>
            <p:cNvSpPr/>
            <p:nvPr/>
          </p:nvSpPr>
          <p:spPr>
            <a:xfrm>
              <a:off x="8690956" y="3042845"/>
              <a:ext cx="96565" cy="91159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等腰三角形 53">
              <a:extLst>
                <a:ext uri="{FF2B5EF4-FFF2-40B4-BE49-F238E27FC236}">
                  <a16:creationId xmlns:a16="http://schemas.microsoft.com/office/drawing/2014/main" id="{E648D90E-4147-4A4A-BFD9-BEE607B7B0A8}"/>
                </a:ext>
              </a:extLst>
            </p:cNvPr>
            <p:cNvSpPr/>
            <p:nvPr/>
          </p:nvSpPr>
          <p:spPr>
            <a:xfrm>
              <a:off x="8320589" y="3002510"/>
              <a:ext cx="96565" cy="91159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等腰三角形 54">
              <a:extLst>
                <a:ext uri="{FF2B5EF4-FFF2-40B4-BE49-F238E27FC236}">
                  <a16:creationId xmlns:a16="http://schemas.microsoft.com/office/drawing/2014/main" id="{001CAFC9-F0E4-40C9-BD9E-DD3B2758DCE0}"/>
                </a:ext>
              </a:extLst>
            </p:cNvPr>
            <p:cNvSpPr/>
            <p:nvPr/>
          </p:nvSpPr>
          <p:spPr>
            <a:xfrm>
              <a:off x="9034689" y="2773957"/>
              <a:ext cx="96565" cy="91159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等腰三角形 55">
              <a:extLst>
                <a:ext uri="{FF2B5EF4-FFF2-40B4-BE49-F238E27FC236}">
                  <a16:creationId xmlns:a16="http://schemas.microsoft.com/office/drawing/2014/main" id="{9222F6EE-8D6F-4124-B97F-1D945A0F9AFC}"/>
                </a:ext>
              </a:extLst>
            </p:cNvPr>
            <p:cNvSpPr/>
            <p:nvPr/>
          </p:nvSpPr>
          <p:spPr>
            <a:xfrm>
              <a:off x="8787521" y="2404848"/>
              <a:ext cx="96565" cy="91159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7" name="Google Shape;3718;p62">
              <a:extLst>
                <a:ext uri="{FF2B5EF4-FFF2-40B4-BE49-F238E27FC236}">
                  <a16:creationId xmlns:a16="http://schemas.microsoft.com/office/drawing/2014/main" id="{72F47F5B-40EA-46C6-B3F5-134DB0B57A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68504" y="1664677"/>
              <a:ext cx="2552671" cy="1967557"/>
            </a:xfrm>
            <a:prstGeom prst="straightConnector1">
              <a:avLst/>
            </a:prstGeom>
            <a:ln>
              <a:solidFill>
                <a:srgbClr val="004586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8" name="Google Shape;3718;p62">
              <a:extLst>
                <a:ext uri="{FF2B5EF4-FFF2-40B4-BE49-F238E27FC236}">
                  <a16:creationId xmlns:a16="http://schemas.microsoft.com/office/drawing/2014/main" id="{1067CFE4-E504-433B-BAFA-7B9E2D393E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34865" y="2042960"/>
              <a:ext cx="2552671" cy="1967557"/>
            </a:xfrm>
            <a:prstGeom prst="straightConnector1">
              <a:avLst/>
            </a:prstGeom>
            <a:ln>
              <a:solidFill>
                <a:srgbClr val="004586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9" name="连接符: 曲线 58">
              <a:extLst>
                <a:ext uri="{FF2B5EF4-FFF2-40B4-BE49-F238E27FC236}">
                  <a16:creationId xmlns:a16="http://schemas.microsoft.com/office/drawing/2014/main" id="{C6BA2C22-49C4-4204-A134-7E17FD4219C5}"/>
                </a:ext>
              </a:extLst>
            </p:cNvPr>
            <p:cNvCxnSpPr>
              <a:cxnSpLocks/>
              <a:endCxn id="33" idx="0"/>
            </p:cNvCxnSpPr>
            <p:nvPr/>
          </p:nvCxnSpPr>
          <p:spPr>
            <a:xfrm rot="16200000" flipV="1">
              <a:off x="9677975" y="3303181"/>
              <a:ext cx="1269828" cy="241640"/>
            </a:xfrm>
            <a:prstGeom prst="curvedConnector3">
              <a:avLst/>
            </a:prstGeom>
            <a:ln w="38100"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连接符: 曲线 59">
              <a:extLst>
                <a:ext uri="{FF2B5EF4-FFF2-40B4-BE49-F238E27FC236}">
                  <a16:creationId xmlns:a16="http://schemas.microsoft.com/office/drawing/2014/main" id="{C137802B-50DC-49B0-BD2D-E18C6E3981B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8959494" y="3039095"/>
              <a:ext cx="1185447" cy="868155"/>
            </a:xfrm>
            <a:prstGeom prst="curvedConnector3">
              <a:avLst/>
            </a:prstGeom>
            <a:ln w="38100"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连接符: 曲线 60">
              <a:extLst>
                <a:ext uri="{FF2B5EF4-FFF2-40B4-BE49-F238E27FC236}">
                  <a16:creationId xmlns:a16="http://schemas.microsoft.com/office/drawing/2014/main" id="{84757B73-09F7-476C-8A95-CC93B7DA59A2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 rot="16200000" flipV="1">
              <a:off x="9484675" y="3393580"/>
              <a:ext cx="1003239" cy="380737"/>
            </a:xfrm>
            <a:prstGeom prst="curvedConnector3">
              <a:avLst/>
            </a:prstGeom>
            <a:ln w="38100"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23614D26-B120-4DB6-843A-9F1804310DAA}"/>
                </a:ext>
              </a:extLst>
            </p:cNvPr>
            <p:cNvCxnSpPr>
              <a:cxnSpLocks/>
            </p:cNvCxnSpPr>
            <p:nvPr/>
          </p:nvCxnSpPr>
          <p:spPr>
            <a:xfrm>
              <a:off x="10642938" y="1739388"/>
              <a:ext cx="263746" cy="361525"/>
            </a:xfrm>
            <a:prstGeom prst="straightConnector1">
              <a:avLst/>
            </a:prstGeom>
            <a:ln w="38100">
              <a:solidFill>
                <a:srgbClr val="FF99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DACC3086-AE80-4C72-9983-97B77EA8EA87}"/>
                </a:ext>
              </a:extLst>
            </p:cNvPr>
            <p:cNvSpPr/>
            <p:nvPr/>
          </p:nvSpPr>
          <p:spPr>
            <a:xfrm>
              <a:off x="10888553" y="2199993"/>
              <a:ext cx="648565" cy="223826"/>
            </a:xfrm>
            <a:prstGeom prst="round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距离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6531976"/>
      </p:ext>
    </p:extLst>
  </p:cSld>
  <p:clrMapOvr>
    <a:masterClrMapping/>
  </p:clrMapOvr>
  <p:transition advTm="8005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1.</a:t>
            </a:r>
            <a:r>
              <a:rPr lang="zh-CN" altLang="en-US" dirty="0">
                <a:solidFill>
                  <a:schemeClr val="tx1"/>
                </a:solidFill>
              </a:rPr>
              <a:t>支持向量机概述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51BAD8-F509-4094-9DA5-A807CA95B36A}"/>
              </a:ext>
            </a:extLst>
          </p:cNvPr>
          <p:cNvSpPr txBox="1"/>
          <p:nvPr/>
        </p:nvSpPr>
        <p:spPr>
          <a:xfrm>
            <a:off x="668337" y="1334020"/>
            <a:ext cx="4501483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硬间隔、软间隔和非线性 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PingFang SC"/>
              </a:rPr>
              <a:t>SVM</a:t>
            </a:r>
            <a:endParaRPr lang="en-US" altLang="zh-CN" b="1" kern="100" dirty="0">
              <a:latin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90167F6-61C7-4C78-ABA4-0C6105453DFB}"/>
              </a:ext>
            </a:extLst>
          </p:cNvPr>
          <p:cNvSpPr txBox="1"/>
          <p:nvPr/>
        </p:nvSpPr>
        <p:spPr>
          <a:xfrm>
            <a:off x="837584" y="4862853"/>
            <a:ext cx="9973707" cy="1688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假如数据是完全的线性可分的，那么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学习到的模型可以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称为硬间隔支持向量机。换个说法，硬间隔指的就是完全分类准确，不能存在分类错误的情况。软间隔，就是允许一定量的样本分类错误。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9" name="墨迹 38">
                <a:extLst>
                  <a:ext uri="{FF2B5EF4-FFF2-40B4-BE49-F238E27FC236}">
                    <a16:creationId xmlns:a16="http://schemas.microsoft.com/office/drawing/2014/main" id="{116B5FAB-CAEF-4B1C-A6F0-7B43D5AB8B55}"/>
                  </a:ext>
                </a:extLst>
              </p14:cNvPr>
              <p14:cNvContentPartPr/>
              <p14:nvPr/>
            </p14:nvContentPartPr>
            <p14:xfrm>
              <a:off x="-455234" y="618637"/>
              <a:ext cx="360" cy="360"/>
            </p14:xfrm>
          </p:contentPart>
        </mc:Choice>
        <mc:Fallback xmlns="">
          <p:pic>
            <p:nvPicPr>
              <p:cNvPr id="39" name="墨迹 38">
                <a:extLst>
                  <a:ext uri="{FF2B5EF4-FFF2-40B4-BE49-F238E27FC236}">
                    <a16:creationId xmlns:a16="http://schemas.microsoft.com/office/drawing/2014/main" id="{116B5FAB-CAEF-4B1C-A6F0-7B43D5AB8B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73234" y="582637"/>
                <a:ext cx="360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组合 43">
            <a:extLst>
              <a:ext uri="{FF2B5EF4-FFF2-40B4-BE49-F238E27FC236}">
                <a16:creationId xmlns:a16="http://schemas.microsoft.com/office/drawing/2014/main" id="{8007EC40-F845-4A1D-8198-82A89A6EC5AB}"/>
              </a:ext>
            </a:extLst>
          </p:cNvPr>
          <p:cNvGrpSpPr/>
          <p:nvPr/>
        </p:nvGrpSpPr>
        <p:grpSpPr>
          <a:xfrm>
            <a:off x="6056969" y="2057008"/>
            <a:ext cx="2273249" cy="1837329"/>
            <a:chOff x="7097732" y="1841315"/>
            <a:chExt cx="3255062" cy="2507505"/>
          </a:xfrm>
        </p:grpSpPr>
        <p:sp>
          <p:nvSpPr>
            <p:cNvPr id="9" name="Google Shape;3708;p62">
              <a:extLst>
                <a:ext uri="{FF2B5EF4-FFF2-40B4-BE49-F238E27FC236}">
                  <a16:creationId xmlns:a16="http://schemas.microsoft.com/office/drawing/2014/main" id="{DF3C78EE-ECDD-4EEE-8843-0E669FA768D3}"/>
                </a:ext>
              </a:extLst>
            </p:cNvPr>
            <p:cNvSpPr/>
            <p:nvPr/>
          </p:nvSpPr>
          <p:spPr>
            <a:xfrm rot="8931971">
              <a:off x="8864387" y="4001639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709;p62">
              <a:extLst>
                <a:ext uri="{FF2B5EF4-FFF2-40B4-BE49-F238E27FC236}">
                  <a16:creationId xmlns:a16="http://schemas.microsoft.com/office/drawing/2014/main" id="{6E2E49D6-0390-4C18-BA29-9301955CDB6C}"/>
                </a:ext>
              </a:extLst>
            </p:cNvPr>
            <p:cNvSpPr/>
            <p:nvPr/>
          </p:nvSpPr>
          <p:spPr>
            <a:xfrm rot="8931971">
              <a:off x="8435296" y="4148656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710;p62">
              <a:extLst>
                <a:ext uri="{FF2B5EF4-FFF2-40B4-BE49-F238E27FC236}">
                  <a16:creationId xmlns:a16="http://schemas.microsoft.com/office/drawing/2014/main" id="{CC46042D-88DB-4976-BDE9-8F6A84E65A7C}"/>
                </a:ext>
              </a:extLst>
            </p:cNvPr>
            <p:cNvSpPr/>
            <p:nvPr/>
          </p:nvSpPr>
          <p:spPr>
            <a:xfrm rot="8931971">
              <a:off x="8691079" y="4225273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711;p62">
              <a:extLst>
                <a:ext uri="{FF2B5EF4-FFF2-40B4-BE49-F238E27FC236}">
                  <a16:creationId xmlns:a16="http://schemas.microsoft.com/office/drawing/2014/main" id="{437AFC6A-0B8C-4727-93AF-3BCEAB12C7F3}"/>
                </a:ext>
              </a:extLst>
            </p:cNvPr>
            <p:cNvSpPr/>
            <p:nvPr/>
          </p:nvSpPr>
          <p:spPr>
            <a:xfrm rot="8931971">
              <a:off x="9350729" y="3091212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712;p62">
              <a:extLst>
                <a:ext uri="{FF2B5EF4-FFF2-40B4-BE49-F238E27FC236}">
                  <a16:creationId xmlns:a16="http://schemas.microsoft.com/office/drawing/2014/main" id="{3BB31132-14F9-42E7-96E4-407CD052FEA0}"/>
                </a:ext>
              </a:extLst>
            </p:cNvPr>
            <p:cNvSpPr/>
            <p:nvPr/>
          </p:nvSpPr>
          <p:spPr>
            <a:xfrm rot="8931971">
              <a:off x="8595609" y="361337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713;p62">
              <a:extLst>
                <a:ext uri="{FF2B5EF4-FFF2-40B4-BE49-F238E27FC236}">
                  <a16:creationId xmlns:a16="http://schemas.microsoft.com/office/drawing/2014/main" id="{1CD658A2-52A1-4F7E-82D9-C9AAF8FD281D}"/>
                </a:ext>
              </a:extLst>
            </p:cNvPr>
            <p:cNvSpPr/>
            <p:nvPr/>
          </p:nvSpPr>
          <p:spPr>
            <a:xfrm rot="8931971">
              <a:off x="9676459" y="3009211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714;p62">
              <a:extLst>
                <a:ext uri="{FF2B5EF4-FFF2-40B4-BE49-F238E27FC236}">
                  <a16:creationId xmlns:a16="http://schemas.microsoft.com/office/drawing/2014/main" id="{2EE4E68F-1695-4474-BF20-DBCB090BF4D5}"/>
                </a:ext>
              </a:extLst>
            </p:cNvPr>
            <p:cNvSpPr/>
            <p:nvPr/>
          </p:nvSpPr>
          <p:spPr>
            <a:xfrm rot="8931971">
              <a:off x="9932843" y="3860371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715;p62">
              <a:extLst>
                <a:ext uri="{FF2B5EF4-FFF2-40B4-BE49-F238E27FC236}">
                  <a16:creationId xmlns:a16="http://schemas.microsoft.com/office/drawing/2014/main" id="{422A43D4-03CF-498E-AB64-71D4DEF51D39}"/>
                </a:ext>
              </a:extLst>
            </p:cNvPr>
            <p:cNvSpPr/>
            <p:nvPr/>
          </p:nvSpPr>
          <p:spPr>
            <a:xfrm rot="8931971">
              <a:off x="10058301" y="3116034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720;p62">
              <a:extLst>
                <a:ext uri="{FF2B5EF4-FFF2-40B4-BE49-F238E27FC236}">
                  <a16:creationId xmlns:a16="http://schemas.microsoft.com/office/drawing/2014/main" id="{56F31CEF-EDA3-4361-9B36-7A96DEE95718}"/>
                </a:ext>
              </a:extLst>
            </p:cNvPr>
            <p:cNvSpPr/>
            <p:nvPr/>
          </p:nvSpPr>
          <p:spPr>
            <a:xfrm rot="8931971">
              <a:off x="9533020" y="356739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721;p62">
              <a:extLst>
                <a:ext uri="{FF2B5EF4-FFF2-40B4-BE49-F238E27FC236}">
                  <a16:creationId xmlns:a16="http://schemas.microsoft.com/office/drawing/2014/main" id="{45D46EA5-8DD3-4789-8958-ED7D1FCC18D2}"/>
                </a:ext>
              </a:extLst>
            </p:cNvPr>
            <p:cNvSpPr/>
            <p:nvPr/>
          </p:nvSpPr>
          <p:spPr>
            <a:xfrm rot="8931971">
              <a:off x="7885097" y="2919739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722;p62">
              <a:extLst>
                <a:ext uri="{FF2B5EF4-FFF2-40B4-BE49-F238E27FC236}">
                  <a16:creationId xmlns:a16="http://schemas.microsoft.com/office/drawing/2014/main" id="{74BD9329-A92E-42C4-816D-635AB9AA7669}"/>
                </a:ext>
              </a:extLst>
            </p:cNvPr>
            <p:cNvSpPr/>
            <p:nvPr/>
          </p:nvSpPr>
          <p:spPr>
            <a:xfrm rot="8931971">
              <a:off x="9542065" y="4028166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728;p62">
              <a:extLst>
                <a:ext uri="{FF2B5EF4-FFF2-40B4-BE49-F238E27FC236}">
                  <a16:creationId xmlns:a16="http://schemas.microsoft.com/office/drawing/2014/main" id="{20279080-B251-42C5-9007-38F90585744F}"/>
                </a:ext>
              </a:extLst>
            </p:cNvPr>
            <p:cNvSpPr/>
            <p:nvPr/>
          </p:nvSpPr>
          <p:spPr>
            <a:xfrm rot="8931971">
              <a:off x="9260362" y="3422659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3734;p62">
              <a:extLst>
                <a:ext uri="{FF2B5EF4-FFF2-40B4-BE49-F238E27FC236}">
                  <a16:creationId xmlns:a16="http://schemas.microsoft.com/office/drawing/2014/main" id="{F1C05825-9DC6-413D-A55B-DD3227BD3BB5}"/>
                </a:ext>
              </a:extLst>
            </p:cNvPr>
            <p:cNvSpPr/>
            <p:nvPr/>
          </p:nvSpPr>
          <p:spPr>
            <a:xfrm rot="8931971">
              <a:off x="8080762" y="2803062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35;p62">
              <a:extLst>
                <a:ext uri="{FF2B5EF4-FFF2-40B4-BE49-F238E27FC236}">
                  <a16:creationId xmlns:a16="http://schemas.microsoft.com/office/drawing/2014/main" id="{C3FDA6D4-E264-42C2-8C55-BD4F61CF8090}"/>
                </a:ext>
              </a:extLst>
            </p:cNvPr>
            <p:cNvSpPr/>
            <p:nvPr/>
          </p:nvSpPr>
          <p:spPr>
            <a:xfrm rot="8931971">
              <a:off x="9705069" y="3326753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746;p62">
              <a:extLst>
                <a:ext uri="{FF2B5EF4-FFF2-40B4-BE49-F238E27FC236}">
                  <a16:creationId xmlns:a16="http://schemas.microsoft.com/office/drawing/2014/main" id="{69FE8933-2515-4720-A6DD-3754362B924C}"/>
                </a:ext>
              </a:extLst>
            </p:cNvPr>
            <p:cNvSpPr/>
            <p:nvPr/>
          </p:nvSpPr>
          <p:spPr>
            <a:xfrm rot="8931971">
              <a:off x="9059668" y="4214293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747;p62">
              <a:extLst>
                <a:ext uri="{FF2B5EF4-FFF2-40B4-BE49-F238E27FC236}">
                  <a16:creationId xmlns:a16="http://schemas.microsoft.com/office/drawing/2014/main" id="{4507CD2C-64BE-4374-BA62-6FFDC4FDA1F5}"/>
                </a:ext>
              </a:extLst>
            </p:cNvPr>
            <p:cNvSpPr/>
            <p:nvPr/>
          </p:nvSpPr>
          <p:spPr>
            <a:xfrm rot="8931971">
              <a:off x="8619552" y="323422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749;p62">
              <a:extLst>
                <a:ext uri="{FF2B5EF4-FFF2-40B4-BE49-F238E27FC236}">
                  <a16:creationId xmlns:a16="http://schemas.microsoft.com/office/drawing/2014/main" id="{771C133F-A599-4076-A2B2-715EF316490F}"/>
                </a:ext>
              </a:extLst>
            </p:cNvPr>
            <p:cNvSpPr/>
            <p:nvPr/>
          </p:nvSpPr>
          <p:spPr>
            <a:xfrm rot="8931971">
              <a:off x="8269625" y="3339829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761;p62">
              <a:extLst>
                <a:ext uri="{FF2B5EF4-FFF2-40B4-BE49-F238E27FC236}">
                  <a16:creationId xmlns:a16="http://schemas.microsoft.com/office/drawing/2014/main" id="{775E7F8A-FA3E-449A-A37C-DFFC09581C7E}"/>
                </a:ext>
              </a:extLst>
            </p:cNvPr>
            <p:cNvSpPr/>
            <p:nvPr/>
          </p:nvSpPr>
          <p:spPr>
            <a:xfrm rot="8931971">
              <a:off x="8169949" y="404400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3762;p62">
              <a:extLst>
                <a:ext uri="{FF2B5EF4-FFF2-40B4-BE49-F238E27FC236}">
                  <a16:creationId xmlns:a16="http://schemas.microsoft.com/office/drawing/2014/main" id="{2BC096DC-BBD7-4E5F-B5AE-025824FCDDF4}"/>
                </a:ext>
              </a:extLst>
            </p:cNvPr>
            <p:cNvSpPr/>
            <p:nvPr/>
          </p:nvSpPr>
          <p:spPr>
            <a:xfrm rot="8931971">
              <a:off x="8473611" y="3860371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3764;p62">
              <a:extLst>
                <a:ext uri="{FF2B5EF4-FFF2-40B4-BE49-F238E27FC236}">
                  <a16:creationId xmlns:a16="http://schemas.microsoft.com/office/drawing/2014/main" id="{ED824A43-A57B-499C-A051-CA7B2A3E0C9E}"/>
                </a:ext>
              </a:extLst>
            </p:cNvPr>
            <p:cNvSpPr/>
            <p:nvPr/>
          </p:nvSpPr>
          <p:spPr>
            <a:xfrm rot="8931971">
              <a:off x="10240132" y="345441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3765;p62">
              <a:extLst>
                <a:ext uri="{FF2B5EF4-FFF2-40B4-BE49-F238E27FC236}">
                  <a16:creationId xmlns:a16="http://schemas.microsoft.com/office/drawing/2014/main" id="{D3CD65D6-B709-45F6-A6E3-347A73668E13}"/>
                </a:ext>
              </a:extLst>
            </p:cNvPr>
            <p:cNvSpPr/>
            <p:nvPr/>
          </p:nvSpPr>
          <p:spPr>
            <a:xfrm rot="8931971">
              <a:off x="8849918" y="347950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BCEC1699-D37B-48B9-92FA-CF0AC1DAB83A}"/>
                </a:ext>
              </a:extLst>
            </p:cNvPr>
            <p:cNvSpPr/>
            <p:nvPr/>
          </p:nvSpPr>
          <p:spPr>
            <a:xfrm>
              <a:off x="8265751" y="2752182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id="{9A866BA8-D75F-44D4-9FC0-5A0334FF09A6}"/>
                </a:ext>
              </a:extLst>
            </p:cNvPr>
            <p:cNvSpPr/>
            <p:nvPr/>
          </p:nvSpPr>
          <p:spPr>
            <a:xfrm>
              <a:off x="8867556" y="2666006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id="{5B791913-F5F5-4BAA-97EE-B9CDAA300715}"/>
                </a:ext>
              </a:extLst>
            </p:cNvPr>
            <p:cNvSpPr/>
            <p:nvPr/>
          </p:nvSpPr>
          <p:spPr>
            <a:xfrm>
              <a:off x="8606134" y="2598701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4DA7EE79-2C31-42B9-B334-BE9F4B0C7F4A}"/>
                </a:ext>
              </a:extLst>
            </p:cNvPr>
            <p:cNvSpPr/>
            <p:nvPr/>
          </p:nvSpPr>
          <p:spPr>
            <a:xfrm>
              <a:off x="7948840" y="3244771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5F086A49-7115-4910-BAED-FAB629720968}"/>
                </a:ext>
              </a:extLst>
            </p:cNvPr>
            <p:cNvSpPr/>
            <p:nvPr/>
          </p:nvSpPr>
          <p:spPr>
            <a:xfrm>
              <a:off x="8161951" y="2096076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72B97D96-69A4-472D-B5AD-DD271236ADD8}"/>
                </a:ext>
              </a:extLst>
            </p:cNvPr>
            <p:cNvSpPr/>
            <p:nvPr/>
          </p:nvSpPr>
          <p:spPr>
            <a:xfrm>
              <a:off x="8675787" y="2845287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54ACCDFF-75F7-45DF-8F1A-2EDCEDB7310E}"/>
                </a:ext>
              </a:extLst>
            </p:cNvPr>
            <p:cNvSpPr/>
            <p:nvPr/>
          </p:nvSpPr>
          <p:spPr>
            <a:xfrm>
              <a:off x="8701888" y="1841315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id="{665A6DA2-7FF0-4940-BC49-3E8908ECF334}"/>
                </a:ext>
              </a:extLst>
            </p:cNvPr>
            <p:cNvSpPr/>
            <p:nvPr/>
          </p:nvSpPr>
          <p:spPr>
            <a:xfrm>
              <a:off x="9172208" y="2126495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id="{E7FF3BF8-9470-4219-AD46-354807C1DDD5}"/>
                </a:ext>
              </a:extLst>
            </p:cNvPr>
            <p:cNvSpPr/>
            <p:nvPr/>
          </p:nvSpPr>
          <p:spPr>
            <a:xfrm>
              <a:off x="8933287" y="2977095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71A34BDB-8106-438C-A739-920DAF005C52}"/>
                </a:ext>
              </a:extLst>
            </p:cNvPr>
            <p:cNvSpPr/>
            <p:nvPr/>
          </p:nvSpPr>
          <p:spPr>
            <a:xfrm>
              <a:off x="7474897" y="2296672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id="{FDC9155B-6D40-453C-B69A-66DC8A6AB31C}"/>
                </a:ext>
              </a:extLst>
            </p:cNvPr>
            <p:cNvSpPr/>
            <p:nvPr/>
          </p:nvSpPr>
          <p:spPr>
            <a:xfrm>
              <a:off x="9157463" y="2791565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等腰三角形 79">
              <a:extLst>
                <a:ext uri="{FF2B5EF4-FFF2-40B4-BE49-F238E27FC236}">
                  <a16:creationId xmlns:a16="http://schemas.microsoft.com/office/drawing/2014/main" id="{30A87E80-676C-449C-AD25-FC3A797B5180}"/>
                </a:ext>
              </a:extLst>
            </p:cNvPr>
            <p:cNvSpPr/>
            <p:nvPr/>
          </p:nvSpPr>
          <p:spPr>
            <a:xfrm>
              <a:off x="7490973" y="2592620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等腰三角形 80">
              <a:extLst>
                <a:ext uri="{FF2B5EF4-FFF2-40B4-BE49-F238E27FC236}">
                  <a16:creationId xmlns:a16="http://schemas.microsoft.com/office/drawing/2014/main" id="{6E30FE5E-A8CD-4B15-9EDA-25AA73DE00DC}"/>
                </a:ext>
              </a:extLst>
            </p:cNvPr>
            <p:cNvSpPr/>
            <p:nvPr/>
          </p:nvSpPr>
          <p:spPr>
            <a:xfrm>
              <a:off x="7878510" y="2185459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等腰三角形 81">
              <a:extLst>
                <a:ext uri="{FF2B5EF4-FFF2-40B4-BE49-F238E27FC236}">
                  <a16:creationId xmlns:a16="http://schemas.microsoft.com/office/drawing/2014/main" id="{3811CC80-7C66-41A5-AB5A-47975EEEFF1C}"/>
                </a:ext>
              </a:extLst>
            </p:cNvPr>
            <p:cNvSpPr/>
            <p:nvPr/>
          </p:nvSpPr>
          <p:spPr>
            <a:xfrm>
              <a:off x="7097732" y="2773544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等腰三角形 82">
              <a:extLst>
                <a:ext uri="{FF2B5EF4-FFF2-40B4-BE49-F238E27FC236}">
                  <a16:creationId xmlns:a16="http://schemas.microsoft.com/office/drawing/2014/main" id="{953AB385-760C-405A-ADB9-B24475EB085D}"/>
                </a:ext>
              </a:extLst>
            </p:cNvPr>
            <p:cNvSpPr/>
            <p:nvPr/>
          </p:nvSpPr>
          <p:spPr>
            <a:xfrm>
              <a:off x="8183310" y="2490259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等腰三角形 83">
              <a:extLst>
                <a:ext uri="{FF2B5EF4-FFF2-40B4-BE49-F238E27FC236}">
                  <a16:creationId xmlns:a16="http://schemas.microsoft.com/office/drawing/2014/main" id="{D99F91CE-AA71-41F2-95A3-195525FCE6F7}"/>
                </a:ext>
              </a:extLst>
            </p:cNvPr>
            <p:cNvSpPr/>
            <p:nvPr/>
          </p:nvSpPr>
          <p:spPr>
            <a:xfrm>
              <a:off x="7298753" y="3089543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等腰三角形 84">
              <a:extLst>
                <a:ext uri="{FF2B5EF4-FFF2-40B4-BE49-F238E27FC236}">
                  <a16:creationId xmlns:a16="http://schemas.microsoft.com/office/drawing/2014/main" id="{4C6A064C-5E0B-4779-AFF2-71DDDF49C5E5}"/>
                </a:ext>
              </a:extLst>
            </p:cNvPr>
            <p:cNvSpPr/>
            <p:nvPr/>
          </p:nvSpPr>
          <p:spPr>
            <a:xfrm>
              <a:off x="7667881" y="3035848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等腰三角形 85">
              <a:extLst>
                <a:ext uri="{FF2B5EF4-FFF2-40B4-BE49-F238E27FC236}">
                  <a16:creationId xmlns:a16="http://schemas.microsoft.com/office/drawing/2014/main" id="{80753768-1C3D-4696-AC2B-24B7C5B625AA}"/>
                </a:ext>
              </a:extLst>
            </p:cNvPr>
            <p:cNvSpPr/>
            <p:nvPr/>
          </p:nvSpPr>
          <p:spPr>
            <a:xfrm>
              <a:off x="8252602" y="2954132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等腰三角形 86">
              <a:extLst>
                <a:ext uri="{FF2B5EF4-FFF2-40B4-BE49-F238E27FC236}">
                  <a16:creationId xmlns:a16="http://schemas.microsoft.com/office/drawing/2014/main" id="{153DD54F-9EA5-40D9-9945-8B1439FC95B2}"/>
                </a:ext>
              </a:extLst>
            </p:cNvPr>
            <p:cNvSpPr/>
            <p:nvPr/>
          </p:nvSpPr>
          <p:spPr>
            <a:xfrm>
              <a:off x="8061664" y="3548397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等腰三角形 87">
              <a:extLst>
                <a:ext uri="{FF2B5EF4-FFF2-40B4-BE49-F238E27FC236}">
                  <a16:creationId xmlns:a16="http://schemas.microsoft.com/office/drawing/2014/main" id="{DF2F7782-903D-4593-93AE-05F72737135F}"/>
                </a:ext>
              </a:extLst>
            </p:cNvPr>
            <p:cNvSpPr/>
            <p:nvPr/>
          </p:nvSpPr>
          <p:spPr>
            <a:xfrm>
              <a:off x="8600125" y="2057115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等腰三角形 88">
              <a:extLst>
                <a:ext uri="{FF2B5EF4-FFF2-40B4-BE49-F238E27FC236}">
                  <a16:creationId xmlns:a16="http://schemas.microsoft.com/office/drawing/2014/main" id="{C2F45278-4D7C-4DD2-9D21-7AC01C2A020D}"/>
                </a:ext>
              </a:extLst>
            </p:cNvPr>
            <p:cNvSpPr/>
            <p:nvPr/>
          </p:nvSpPr>
          <p:spPr>
            <a:xfrm>
              <a:off x="7814182" y="2653494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Google Shape;3714;p62">
              <a:extLst>
                <a:ext uri="{FF2B5EF4-FFF2-40B4-BE49-F238E27FC236}">
                  <a16:creationId xmlns:a16="http://schemas.microsoft.com/office/drawing/2014/main" id="{2EAE0A33-F720-43A7-AA49-56539A680206}"/>
                </a:ext>
              </a:extLst>
            </p:cNvPr>
            <p:cNvSpPr/>
            <p:nvPr/>
          </p:nvSpPr>
          <p:spPr>
            <a:xfrm rot="8931971">
              <a:off x="8508258" y="3069235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720;p62">
              <a:extLst>
                <a:ext uri="{FF2B5EF4-FFF2-40B4-BE49-F238E27FC236}">
                  <a16:creationId xmlns:a16="http://schemas.microsoft.com/office/drawing/2014/main" id="{A5F37D6B-2EFA-416C-905D-CAB83EC1C7F8}"/>
                </a:ext>
              </a:extLst>
            </p:cNvPr>
            <p:cNvSpPr/>
            <p:nvPr/>
          </p:nvSpPr>
          <p:spPr>
            <a:xfrm rot="8931971">
              <a:off x="8944544" y="3774514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734;p62">
              <a:extLst>
                <a:ext uri="{FF2B5EF4-FFF2-40B4-BE49-F238E27FC236}">
                  <a16:creationId xmlns:a16="http://schemas.microsoft.com/office/drawing/2014/main" id="{19503C73-2CB9-4672-808F-DC2B672C7EFC}"/>
                </a:ext>
              </a:extLst>
            </p:cNvPr>
            <p:cNvSpPr/>
            <p:nvPr/>
          </p:nvSpPr>
          <p:spPr>
            <a:xfrm rot="8931971">
              <a:off x="9255164" y="3837636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53A0F18A-3B77-4EA7-A135-BAFD3E8A2FC0}"/>
                    </a:ext>
                  </a:extLst>
                </p14:cNvPr>
                <p14:cNvContentPartPr/>
                <p14:nvPr/>
              </p14:nvContentPartPr>
              <p14:xfrm>
                <a:off x="7868326" y="2526997"/>
                <a:ext cx="2170800" cy="1422000"/>
              </p14:xfrm>
            </p:contentPart>
          </mc:Choice>
          <mc:Fallback xmlns=""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53A0F18A-3B77-4EA7-A135-BAFD3E8A2FC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842557" y="2477878"/>
                  <a:ext cx="2221823" cy="151974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7C5CF4BE-92EC-4030-8D59-653C1149D7FB}"/>
              </a:ext>
            </a:extLst>
          </p:cNvPr>
          <p:cNvGrpSpPr/>
          <p:nvPr/>
        </p:nvGrpSpPr>
        <p:grpSpPr>
          <a:xfrm>
            <a:off x="3263725" y="2061056"/>
            <a:ext cx="2273249" cy="1837329"/>
            <a:chOff x="7097732" y="1841315"/>
            <a:chExt cx="3255062" cy="2507505"/>
          </a:xfrm>
        </p:grpSpPr>
        <p:sp>
          <p:nvSpPr>
            <p:cNvPr id="138" name="Google Shape;3708;p62">
              <a:extLst>
                <a:ext uri="{FF2B5EF4-FFF2-40B4-BE49-F238E27FC236}">
                  <a16:creationId xmlns:a16="http://schemas.microsoft.com/office/drawing/2014/main" id="{47AFF9EF-16BB-4126-BD69-6F619D645AAD}"/>
                </a:ext>
              </a:extLst>
            </p:cNvPr>
            <p:cNvSpPr/>
            <p:nvPr/>
          </p:nvSpPr>
          <p:spPr>
            <a:xfrm rot="8931971">
              <a:off x="8864387" y="4001639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3709;p62">
              <a:extLst>
                <a:ext uri="{FF2B5EF4-FFF2-40B4-BE49-F238E27FC236}">
                  <a16:creationId xmlns:a16="http://schemas.microsoft.com/office/drawing/2014/main" id="{EE0D87DC-DFA1-458F-AF49-587EE417DCCA}"/>
                </a:ext>
              </a:extLst>
            </p:cNvPr>
            <p:cNvSpPr/>
            <p:nvPr/>
          </p:nvSpPr>
          <p:spPr>
            <a:xfrm rot="8931971">
              <a:off x="8435296" y="4148656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3710;p62">
              <a:extLst>
                <a:ext uri="{FF2B5EF4-FFF2-40B4-BE49-F238E27FC236}">
                  <a16:creationId xmlns:a16="http://schemas.microsoft.com/office/drawing/2014/main" id="{031B934A-E6F4-471E-BBFA-02B0AD78C9FF}"/>
                </a:ext>
              </a:extLst>
            </p:cNvPr>
            <p:cNvSpPr/>
            <p:nvPr/>
          </p:nvSpPr>
          <p:spPr>
            <a:xfrm rot="8931971">
              <a:off x="8691079" y="4225273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3711;p62">
              <a:extLst>
                <a:ext uri="{FF2B5EF4-FFF2-40B4-BE49-F238E27FC236}">
                  <a16:creationId xmlns:a16="http://schemas.microsoft.com/office/drawing/2014/main" id="{6FD08D80-6A79-4BEE-BA8B-6D28DEFC46B0}"/>
                </a:ext>
              </a:extLst>
            </p:cNvPr>
            <p:cNvSpPr/>
            <p:nvPr/>
          </p:nvSpPr>
          <p:spPr>
            <a:xfrm rot="8931971">
              <a:off x="9350729" y="3091212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3712;p62">
              <a:extLst>
                <a:ext uri="{FF2B5EF4-FFF2-40B4-BE49-F238E27FC236}">
                  <a16:creationId xmlns:a16="http://schemas.microsoft.com/office/drawing/2014/main" id="{78F2B986-65B8-496A-80F5-4A9019B8F9C8}"/>
                </a:ext>
              </a:extLst>
            </p:cNvPr>
            <p:cNvSpPr/>
            <p:nvPr/>
          </p:nvSpPr>
          <p:spPr>
            <a:xfrm rot="8931971">
              <a:off x="8595609" y="361337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3713;p62">
              <a:extLst>
                <a:ext uri="{FF2B5EF4-FFF2-40B4-BE49-F238E27FC236}">
                  <a16:creationId xmlns:a16="http://schemas.microsoft.com/office/drawing/2014/main" id="{C1A2873B-C081-4583-83A1-9E2888D3F1A3}"/>
                </a:ext>
              </a:extLst>
            </p:cNvPr>
            <p:cNvSpPr/>
            <p:nvPr/>
          </p:nvSpPr>
          <p:spPr>
            <a:xfrm rot="8931971">
              <a:off x="9676459" y="3009211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3714;p62">
              <a:extLst>
                <a:ext uri="{FF2B5EF4-FFF2-40B4-BE49-F238E27FC236}">
                  <a16:creationId xmlns:a16="http://schemas.microsoft.com/office/drawing/2014/main" id="{31EA7F36-EFCD-43CF-BAAD-C852E5509C39}"/>
                </a:ext>
              </a:extLst>
            </p:cNvPr>
            <p:cNvSpPr/>
            <p:nvPr/>
          </p:nvSpPr>
          <p:spPr>
            <a:xfrm rot="8931971">
              <a:off x="9932843" y="3860371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3715;p62">
              <a:extLst>
                <a:ext uri="{FF2B5EF4-FFF2-40B4-BE49-F238E27FC236}">
                  <a16:creationId xmlns:a16="http://schemas.microsoft.com/office/drawing/2014/main" id="{B2DA21CF-1394-47F8-AEC0-EA8BB87B46EC}"/>
                </a:ext>
              </a:extLst>
            </p:cNvPr>
            <p:cNvSpPr/>
            <p:nvPr/>
          </p:nvSpPr>
          <p:spPr>
            <a:xfrm rot="8931971">
              <a:off x="10058301" y="3116034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3720;p62">
              <a:extLst>
                <a:ext uri="{FF2B5EF4-FFF2-40B4-BE49-F238E27FC236}">
                  <a16:creationId xmlns:a16="http://schemas.microsoft.com/office/drawing/2014/main" id="{590B831A-EE3A-41A5-8239-E321856079E4}"/>
                </a:ext>
              </a:extLst>
            </p:cNvPr>
            <p:cNvSpPr/>
            <p:nvPr/>
          </p:nvSpPr>
          <p:spPr>
            <a:xfrm rot="8931971">
              <a:off x="9533020" y="356739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3721;p62">
              <a:extLst>
                <a:ext uri="{FF2B5EF4-FFF2-40B4-BE49-F238E27FC236}">
                  <a16:creationId xmlns:a16="http://schemas.microsoft.com/office/drawing/2014/main" id="{53A1452D-685C-49C1-8D02-0B976EF7D51B}"/>
                </a:ext>
              </a:extLst>
            </p:cNvPr>
            <p:cNvSpPr/>
            <p:nvPr/>
          </p:nvSpPr>
          <p:spPr>
            <a:xfrm rot="8931971">
              <a:off x="7885097" y="2919739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3722;p62">
              <a:extLst>
                <a:ext uri="{FF2B5EF4-FFF2-40B4-BE49-F238E27FC236}">
                  <a16:creationId xmlns:a16="http://schemas.microsoft.com/office/drawing/2014/main" id="{F7A942C8-780C-4DEA-8A61-25E800FC00CA}"/>
                </a:ext>
              </a:extLst>
            </p:cNvPr>
            <p:cNvSpPr/>
            <p:nvPr/>
          </p:nvSpPr>
          <p:spPr>
            <a:xfrm rot="8931971">
              <a:off x="9542065" y="4028166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3728;p62">
              <a:extLst>
                <a:ext uri="{FF2B5EF4-FFF2-40B4-BE49-F238E27FC236}">
                  <a16:creationId xmlns:a16="http://schemas.microsoft.com/office/drawing/2014/main" id="{F7874D06-6E90-453B-A93E-2AE8E7248B25}"/>
                </a:ext>
              </a:extLst>
            </p:cNvPr>
            <p:cNvSpPr/>
            <p:nvPr/>
          </p:nvSpPr>
          <p:spPr>
            <a:xfrm rot="8931971">
              <a:off x="9260362" y="3422659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" name="Google Shape;3734;p62">
              <a:extLst>
                <a:ext uri="{FF2B5EF4-FFF2-40B4-BE49-F238E27FC236}">
                  <a16:creationId xmlns:a16="http://schemas.microsoft.com/office/drawing/2014/main" id="{1851DE85-E4C1-489B-9B23-006A5E4977FA}"/>
                </a:ext>
              </a:extLst>
            </p:cNvPr>
            <p:cNvSpPr/>
            <p:nvPr/>
          </p:nvSpPr>
          <p:spPr>
            <a:xfrm rot="8931971">
              <a:off x="8080762" y="2803062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3735;p62">
              <a:extLst>
                <a:ext uri="{FF2B5EF4-FFF2-40B4-BE49-F238E27FC236}">
                  <a16:creationId xmlns:a16="http://schemas.microsoft.com/office/drawing/2014/main" id="{65EA2069-CF18-4EDE-865A-E1FBEF4EB889}"/>
                </a:ext>
              </a:extLst>
            </p:cNvPr>
            <p:cNvSpPr/>
            <p:nvPr/>
          </p:nvSpPr>
          <p:spPr>
            <a:xfrm rot="8931971">
              <a:off x="9705069" y="3326753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3746;p62">
              <a:extLst>
                <a:ext uri="{FF2B5EF4-FFF2-40B4-BE49-F238E27FC236}">
                  <a16:creationId xmlns:a16="http://schemas.microsoft.com/office/drawing/2014/main" id="{2B187082-83E6-4052-BCD5-7E7921DE7DA1}"/>
                </a:ext>
              </a:extLst>
            </p:cNvPr>
            <p:cNvSpPr/>
            <p:nvPr/>
          </p:nvSpPr>
          <p:spPr>
            <a:xfrm rot="8931971">
              <a:off x="9059668" y="4214293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3747;p62">
              <a:extLst>
                <a:ext uri="{FF2B5EF4-FFF2-40B4-BE49-F238E27FC236}">
                  <a16:creationId xmlns:a16="http://schemas.microsoft.com/office/drawing/2014/main" id="{7772248D-0183-438A-A466-C433D4D1071A}"/>
                </a:ext>
              </a:extLst>
            </p:cNvPr>
            <p:cNvSpPr/>
            <p:nvPr/>
          </p:nvSpPr>
          <p:spPr>
            <a:xfrm rot="8931971">
              <a:off x="8619552" y="323422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3749;p62">
              <a:extLst>
                <a:ext uri="{FF2B5EF4-FFF2-40B4-BE49-F238E27FC236}">
                  <a16:creationId xmlns:a16="http://schemas.microsoft.com/office/drawing/2014/main" id="{E575D910-AD59-460E-924E-D8666F27332E}"/>
                </a:ext>
              </a:extLst>
            </p:cNvPr>
            <p:cNvSpPr/>
            <p:nvPr/>
          </p:nvSpPr>
          <p:spPr>
            <a:xfrm rot="8931971">
              <a:off x="8269625" y="3339829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3761;p62">
              <a:extLst>
                <a:ext uri="{FF2B5EF4-FFF2-40B4-BE49-F238E27FC236}">
                  <a16:creationId xmlns:a16="http://schemas.microsoft.com/office/drawing/2014/main" id="{56D41721-5925-440E-B369-376D24FFCDC6}"/>
                </a:ext>
              </a:extLst>
            </p:cNvPr>
            <p:cNvSpPr/>
            <p:nvPr/>
          </p:nvSpPr>
          <p:spPr>
            <a:xfrm rot="8931971">
              <a:off x="8169949" y="404400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3762;p62">
              <a:extLst>
                <a:ext uri="{FF2B5EF4-FFF2-40B4-BE49-F238E27FC236}">
                  <a16:creationId xmlns:a16="http://schemas.microsoft.com/office/drawing/2014/main" id="{F168414F-25A1-4EC4-95A3-B493667FFD6B}"/>
                </a:ext>
              </a:extLst>
            </p:cNvPr>
            <p:cNvSpPr/>
            <p:nvPr/>
          </p:nvSpPr>
          <p:spPr>
            <a:xfrm rot="8931971">
              <a:off x="8473611" y="3860371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3764;p62">
              <a:extLst>
                <a:ext uri="{FF2B5EF4-FFF2-40B4-BE49-F238E27FC236}">
                  <a16:creationId xmlns:a16="http://schemas.microsoft.com/office/drawing/2014/main" id="{C1D0ED31-9C9B-4E51-921D-CE3A063BB104}"/>
                </a:ext>
              </a:extLst>
            </p:cNvPr>
            <p:cNvSpPr/>
            <p:nvPr/>
          </p:nvSpPr>
          <p:spPr>
            <a:xfrm rot="8931971">
              <a:off x="10240132" y="345441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3765;p62">
              <a:extLst>
                <a:ext uri="{FF2B5EF4-FFF2-40B4-BE49-F238E27FC236}">
                  <a16:creationId xmlns:a16="http://schemas.microsoft.com/office/drawing/2014/main" id="{BE7D2203-8639-4816-82E6-A4CEC23F1595}"/>
                </a:ext>
              </a:extLst>
            </p:cNvPr>
            <p:cNvSpPr/>
            <p:nvPr/>
          </p:nvSpPr>
          <p:spPr>
            <a:xfrm rot="8931971">
              <a:off x="8849918" y="347950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等腰三角形 158">
              <a:extLst>
                <a:ext uri="{FF2B5EF4-FFF2-40B4-BE49-F238E27FC236}">
                  <a16:creationId xmlns:a16="http://schemas.microsoft.com/office/drawing/2014/main" id="{36B36BDD-7A60-4C63-98B0-B6E08B189F2A}"/>
                </a:ext>
              </a:extLst>
            </p:cNvPr>
            <p:cNvSpPr/>
            <p:nvPr/>
          </p:nvSpPr>
          <p:spPr>
            <a:xfrm>
              <a:off x="8265751" y="2752182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等腰三角形 159">
              <a:extLst>
                <a:ext uri="{FF2B5EF4-FFF2-40B4-BE49-F238E27FC236}">
                  <a16:creationId xmlns:a16="http://schemas.microsoft.com/office/drawing/2014/main" id="{5FF6BF66-859F-4E1E-933C-0E0CFDCB400B}"/>
                </a:ext>
              </a:extLst>
            </p:cNvPr>
            <p:cNvSpPr/>
            <p:nvPr/>
          </p:nvSpPr>
          <p:spPr>
            <a:xfrm>
              <a:off x="8867556" y="2666006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等腰三角形 160">
              <a:extLst>
                <a:ext uri="{FF2B5EF4-FFF2-40B4-BE49-F238E27FC236}">
                  <a16:creationId xmlns:a16="http://schemas.microsoft.com/office/drawing/2014/main" id="{D92E3A6B-1A0E-438E-8FF0-6E133B88F71B}"/>
                </a:ext>
              </a:extLst>
            </p:cNvPr>
            <p:cNvSpPr/>
            <p:nvPr/>
          </p:nvSpPr>
          <p:spPr>
            <a:xfrm>
              <a:off x="8606134" y="2598701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等腰三角形 161">
              <a:extLst>
                <a:ext uri="{FF2B5EF4-FFF2-40B4-BE49-F238E27FC236}">
                  <a16:creationId xmlns:a16="http://schemas.microsoft.com/office/drawing/2014/main" id="{150BB803-4F1A-4C1E-9317-759B8F82F17E}"/>
                </a:ext>
              </a:extLst>
            </p:cNvPr>
            <p:cNvSpPr/>
            <p:nvPr/>
          </p:nvSpPr>
          <p:spPr>
            <a:xfrm>
              <a:off x="7948840" y="3244771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等腰三角形 162">
              <a:extLst>
                <a:ext uri="{FF2B5EF4-FFF2-40B4-BE49-F238E27FC236}">
                  <a16:creationId xmlns:a16="http://schemas.microsoft.com/office/drawing/2014/main" id="{491A08CB-B579-4A79-B01C-686DA4A5F2AC}"/>
                </a:ext>
              </a:extLst>
            </p:cNvPr>
            <p:cNvSpPr/>
            <p:nvPr/>
          </p:nvSpPr>
          <p:spPr>
            <a:xfrm>
              <a:off x="8161951" y="2096076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等腰三角形 163">
              <a:extLst>
                <a:ext uri="{FF2B5EF4-FFF2-40B4-BE49-F238E27FC236}">
                  <a16:creationId xmlns:a16="http://schemas.microsoft.com/office/drawing/2014/main" id="{2B0DA173-15E4-475E-8846-EA9AF5660FDE}"/>
                </a:ext>
              </a:extLst>
            </p:cNvPr>
            <p:cNvSpPr/>
            <p:nvPr/>
          </p:nvSpPr>
          <p:spPr>
            <a:xfrm>
              <a:off x="8675787" y="2845287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5" name="等腰三角形 164">
              <a:extLst>
                <a:ext uri="{FF2B5EF4-FFF2-40B4-BE49-F238E27FC236}">
                  <a16:creationId xmlns:a16="http://schemas.microsoft.com/office/drawing/2014/main" id="{88EE5DA2-CC3F-4AA7-8C05-1437781B2EA0}"/>
                </a:ext>
              </a:extLst>
            </p:cNvPr>
            <p:cNvSpPr/>
            <p:nvPr/>
          </p:nvSpPr>
          <p:spPr>
            <a:xfrm>
              <a:off x="8701888" y="1841315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等腰三角形 165">
              <a:extLst>
                <a:ext uri="{FF2B5EF4-FFF2-40B4-BE49-F238E27FC236}">
                  <a16:creationId xmlns:a16="http://schemas.microsoft.com/office/drawing/2014/main" id="{833397BA-61CD-4E5D-A588-02D960CD191C}"/>
                </a:ext>
              </a:extLst>
            </p:cNvPr>
            <p:cNvSpPr/>
            <p:nvPr/>
          </p:nvSpPr>
          <p:spPr>
            <a:xfrm>
              <a:off x="9172208" y="2126495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等腰三角形 166">
              <a:extLst>
                <a:ext uri="{FF2B5EF4-FFF2-40B4-BE49-F238E27FC236}">
                  <a16:creationId xmlns:a16="http://schemas.microsoft.com/office/drawing/2014/main" id="{7503D202-E67D-440F-9CE9-D86DBE405C68}"/>
                </a:ext>
              </a:extLst>
            </p:cNvPr>
            <p:cNvSpPr/>
            <p:nvPr/>
          </p:nvSpPr>
          <p:spPr>
            <a:xfrm>
              <a:off x="8933287" y="2977095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8" name="等腰三角形 167">
              <a:extLst>
                <a:ext uri="{FF2B5EF4-FFF2-40B4-BE49-F238E27FC236}">
                  <a16:creationId xmlns:a16="http://schemas.microsoft.com/office/drawing/2014/main" id="{CFC02411-0A95-4BDE-A69E-CAB1D91F9463}"/>
                </a:ext>
              </a:extLst>
            </p:cNvPr>
            <p:cNvSpPr/>
            <p:nvPr/>
          </p:nvSpPr>
          <p:spPr>
            <a:xfrm>
              <a:off x="7474897" y="2296672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等腰三角形 168">
              <a:extLst>
                <a:ext uri="{FF2B5EF4-FFF2-40B4-BE49-F238E27FC236}">
                  <a16:creationId xmlns:a16="http://schemas.microsoft.com/office/drawing/2014/main" id="{757C4EBE-AED7-4C74-A86C-B5896FB341F1}"/>
                </a:ext>
              </a:extLst>
            </p:cNvPr>
            <p:cNvSpPr/>
            <p:nvPr/>
          </p:nvSpPr>
          <p:spPr>
            <a:xfrm>
              <a:off x="9157463" y="2791565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等腰三角形 169">
              <a:extLst>
                <a:ext uri="{FF2B5EF4-FFF2-40B4-BE49-F238E27FC236}">
                  <a16:creationId xmlns:a16="http://schemas.microsoft.com/office/drawing/2014/main" id="{88570D61-36FF-487A-A1A8-23D9FFBC751C}"/>
                </a:ext>
              </a:extLst>
            </p:cNvPr>
            <p:cNvSpPr/>
            <p:nvPr/>
          </p:nvSpPr>
          <p:spPr>
            <a:xfrm>
              <a:off x="7490973" y="2592620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等腰三角形 170">
              <a:extLst>
                <a:ext uri="{FF2B5EF4-FFF2-40B4-BE49-F238E27FC236}">
                  <a16:creationId xmlns:a16="http://schemas.microsoft.com/office/drawing/2014/main" id="{27577894-B5C3-4A4D-B195-FC0654EE0303}"/>
                </a:ext>
              </a:extLst>
            </p:cNvPr>
            <p:cNvSpPr/>
            <p:nvPr/>
          </p:nvSpPr>
          <p:spPr>
            <a:xfrm>
              <a:off x="7878510" y="2185459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等腰三角形 171">
              <a:extLst>
                <a:ext uri="{FF2B5EF4-FFF2-40B4-BE49-F238E27FC236}">
                  <a16:creationId xmlns:a16="http://schemas.microsoft.com/office/drawing/2014/main" id="{A5D92D59-0F7F-4B83-9229-9238560BCA90}"/>
                </a:ext>
              </a:extLst>
            </p:cNvPr>
            <p:cNvSpPr/>
            <p:nvPr/>
          </p:nvSpPr>
          <p:spPr>
            <a:xfrm>
              <a:off x="7097732" y="2773544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等腰三角形 172">
              <a:extLst>
                <a:ext uri="{FF2B5EF4-FFF2-40B4-BE49-F238E27FC236}">
                  <a16:creationId xmlns:a16="http://schemas.microsoft.com/office/drawing/2014/main" id="{23CBDD21-73D9-4B97-B887-A7637ACFC159}"/>
                </a:ext>
              </a:extLst>
            </p:cNvPr>
            <p:cNvSpPr/>
            <p:nvPr/>
          </p:nvSpPr>
          <p:spPr>
            <a:xfrm>
              <a:off x="8183310" y="2490259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等腰三角形 173">
              <a:extLst>
                <a:ext uri="{FF2B5EF4-FFF2-40B4-BE49-F238E27FC236}">
                  <a16:creationId xmlns:a16="http://schemas.microsoft.com/office/drawing/2014/main" id="{491D4B5E-E9EB-40F7-8A14-04ACC4CCF23B}"/>
                </a:ext>
              </a:extLst>
            </p:cNvPr>
            <p:cNvSpPr/>
            <p:nvPr/>
          </p:nvSpPr>
          <p:spPr>
            <a:xfrm>
              <a:off x="7298753" y="3089543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等腰三角形 174">
              <a:extLst>
                <a:ext uri="{FF2B5EF4-FFF2-40B4-BE49-F238E27FC236}">
                  <a16:creationId xmlns:a16="http://schemas.microsoft.com/office/drawing/2014/main" id="{168F7807-AC67-45C4-ADEC-E6558A1AE539}"/>
                </a:ext>
              </a:extLst>
            </p:cNvPr>
            <p:cNvSpPr/>
            <p:nvPr/>
          </p:nvSpPr>
          <p:spPr>
            <a:xfrm>
              <a:off x="7667881" y="3035848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等腰三角形 175">
              <a:extLst>
                <a:ext uri="{FF2B5EF4-FFF2-40B4-BE49-F238E27FC236}">
                  <a16:creationId xmlns:a16="http://schemas.microsoft.com/office/drawing/2014/main" id="{E4CBEFED-CFA3-4BA3-8501-8828067952CF}"/>
                </a:ext>
              </a:extLst>
            </p:cNvPr>
            <p:cNvSpPr/>
            <p:nvPr/>
          </p:nvSpPr>
          <p:spPr>
            <a:xfrm>
              <a:off x="8252602" y="2954132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等腰三角形 176">
              <a:extLst>
                <a:ext uri="{FF2B5EF4-FFF2-40B4-BE49-F238E27FC236}">
                  <a16:creationId xmlns:a16="http://schemas.microsoft.com/office/drawing/2014/main" id="{4EFE4139-DBE9-4B3C-8863-3CCA3AEAADC6}"/>
                </a:ext>
              </a:extLst>
            </p:cNvPr>
            <p:cNvSpPr/>
            <p:nvPr/>
          </p:nvSpPr>
          <p:spPr>
            <a:xfrm>
              <a:off x="8061664" y="3548397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等腰三角形 177">
              <a:extLst>
                <a:ext uri="{FF2B5EF4-FFF2-40B4-BE49-F238E27FC236}">
                  <a16:creationId xmlns:a16="http://schemas.microsoft.com/office/drawing/2014/main" id="{D17E9D1D-A7F6-4912-AAE3-16F8CE34B2AC}"/>
                </a:ext>
              </a:extLst>
            </p:cNvPr>
            <p:cNvSpPr/>
            <p:nvPr/>
          </p:nvSpPr>
          <p:spPr>
            <a:xfrm>
              <a:off x="8600125" y="2057115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等腰三角形 178">
              <a:extLst>
                <a:ext uri="{FF2B5EF4-FFF2-40B4-BE49-F238E27FC236}">
                  <a16:creationId xmlns:a16="http://schemas.microsoft.com/office/drawing/2014/main" id="{F1100213-7DEE-4B08-BBE1-ED353CEFD970}"/>
                </a:ext>
              </a:extLst>
            </p:cNvPr>
            <p:cNvSpPr/>
            <p:nvPr/>
          </p:nvSpPr>
          <p:spPr>
            <a:xfrm>
              <a:off x="7814182" y="2653494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Google Shape;3714;p62">
              <a:extLst>
                <a:ext uri="{FF2B5EF4-FFF2-40B4-BE49-F238E27FC236}">
                  <a16:creationId xmlns:a16="http://schemas.microsoft.com/office/drawing/2014/main" id="{2532314A-47C4-48AF-AD74-3699F7CD4D6F}"/>
                </a:ext>
              </a:extLst>
            </p:cNvPr>
            <p:cNvSpPr/>
            <p:nvPr/>
          </p:nvSpPr>
          <p:spPr>
            <a:xfrm rot="8931971">
              <a:off x="8508258" y="3069235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3720;p62">
              <a:extLst>
                <a:ext uri="{FF2B5EF4-FFF2-40B4-BE49-F238E27FC236}">
                  <a16:creationId xmlns:a16="http://schemas.microsoft.com/office/drawing/2014/main" id="{2CC315D9-0042-4F52-B6F4-3956C0645042}"/>
                </a:ext>
              </a:extLst>
            </p:cNvPr>
            <p:cNvSpPr/>
            <p:nvPr/>
          </p:nvSpPr>
          <p:spPr>
            <a:xfrm rot="8931971">
              <a:off x="8944544" y="3774514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3734;p62">
              <a:extLst>
                <a:ext uri="{FF2B5EF4-FFF2-40B4-BE49-F238E27FC236}">
                  <a16:creationId xmlns:a16="http://schemas.microsoft.com/office/drawing/2014/main" id="{BB7E4AA2-FC0D-4738-8AA9-81374AED9558}"/>
                </a:ext>
              </a:extLst>
            </p:cNvPr>
            <p:cNvSpPr/>
            <p:nvPr/>
          </p:nvSpPr>
          <p:spPr>
            <a:xfrm rot="8931971">
              <a:off x="9255164" y="3837636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BE15D245-3B45-4CC7-B15C-082B4544312D}"/>
                  </a:ext>
                </a:extLst>
              </p14:cNvPr>
              <p14:cNvContentPartPr/>
              <p14:nvPr/>
            </p14:nvContentPartPr>
            <p14:xfrm>
              <a:off x="3793027" y="2720064"/>
              <a:ext cx="1508400" cy="859320"/>
            </p14:xfrm>
          </p:contentPart>
        </mc:Choice>
        <mc:Fallback xmlns=""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BE15D245-3B45-4CC7-B15C-082B4544312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75027" y="2684049"/>
                <a:ext cx="1544040" cy="930990"/>
              </a:xfrm>
              <a:prstGeom prst="rect">
                <a:avLst/>
              </a:prstGeom>
            </p:spPr>
          </p:pic>
        </mc:Fallback>
      </mc:AlternateContent>
      <p:sp>
        <p:nvSpPr>
          <p:cNvPr id="184" name="文本框 183">
            <a:extLst>
              <a:ext uri="{FF2B5EF4-FFF2-40B4-BE49-F238E27FC236}">
                <a16:creationId xmlns:a16="http://schemas.microsoft.com/office/drawing/2014/main" id="{32C612A8-5B1E-4151-A11E-4E661EF049D4}"/>
              </a:ext>
            </a:extLst>
          </p:cNvPr>
          <p:cNvSpPr txBox="1"/>
          <p:nvPr/>
        </p:nvSpPr>
        <p:spPr>
          <a:xfrm>
            <a:off x="6775079" y="4368088"/>
            <a:ext cx="12674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333333"/>
                </a:solidFill>
                <a:effectLst/>
                <a:latin typeface="PingFang SC"/>
              </a:rPr>
              <a:t>软间隔</a:t>
            </a:r>
            <a:endParaRPr lang="zh-CN" altLang="en-US" sz="2000" dirty="0"/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69338B73-4F19-45BB-9E57-051C74383A42}"/>
              </a:ext>
            </a:extLst>
          </p:cNvPr>
          <p:cNvSpPr txBox="1"/>
          <p:nvPr/>
        </p:nvSpPr>
        <p:spPr>
          <a:xfrm>
            <a:off x="4185673" y="4358862"/>
            <a:ext cx="12674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333333"/>
                </a:solidFill>
                <a:effectLst/>
                <a:latin typeface="PingFang SC"/>
              </a:rPr>
              <a:t>硬间隔</a:t>
            </a:r>
            <a:endParaRPr lang="zh-CN" altLang="en-US" sz="2000" dirty="0"/>
          </a:p>
        </p:txBody>
      </p:sp>
      <p:grpSp>
        <p:nvGrpSpPr>
          <p:cNvPr id="186" name="组合 185">
            <a:extLst>
              <a:ext uri="{FF2B5EF4-FFF2-40B4-BE49-F238E27FC236}">
                <a16:creationId xmlns:a16="http://schemas.microsoft.com/office/drawing/2014/main" id="{655235AF-A36D-438E-81DB-BB6021BAD460}"/>
              </a:ext>
            </a:extLst>
          </p:cNvPr>
          <p:cNvGrpSpPr/>
          <p:nvPr/>
        </p:nvGrpSpPr>
        <p:grpSpPr>
          <a:xfrm>
            <a:off x="1143134" y="2208531"/>
            <a:ext cx="1829765" cy="1812624"/>
            <a:chOff x="7097732" y="1726977"/>
            <a:chExt cx="3224471" cy="3004955"/>
          </a:xfrm>
        </p:grpSpPr>
        <p:sp>
          <p:nvSpPr>
            <p:cNvPr id="187" name="Google Shape;3708;p62">
              <a:extLst>
                <a:ext uri="{FF2B5EF4-FFF2-40B4-BE49-F238E27FC236}">
                  <a16:creationId xmlns:a16="http://schemas.microsoft.com/office/drawing/2014/main" id="{CFDF819E-1F6F-468C-A090-23BD6C368472}"/>
                </a:ext>
              </a:extLst>
            </p:cNvPr>
            <p:cNvSpPr/>
            <p:nvPr/>
          </p:nvSpPr>
          <p:spPr>
            <a:xfrm rot="8931971">
              <a:off x="8450498" y="4184749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3709;p62">
              <a:extLst>
                <a:ext uri="{FF2B5EF4-FFF2-40B4-BE49-F238E27FC236}">
                  <a16:creationId xmlns:a16="http://schemas.microsoft.com/office/drawing/2014/main" id="{C54489BE-E850-497D-9C49-A3960DF711DC}"/>
                </a:ext>
              </a:extLst>
            </p:cNvPr>
            <p:cNvSpPr/>
            <p:nvPr/>
          </p:nvSpPr>
          <p:spPr>
            <a:xfrm rot="8931971">
              <a:off x="8129263" y="4524561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3710;p62">
              <a:extLst>
                <a:ext uri="{FF2B5EF4-FFF2-40B4-BE49-F238E27FC236}">
                  <a16:creationId xmlns:a16="http://schemas.microsoft.com/office/drawing/2014/main" id="{F966AB02-4234-46EE-BFC9-5538D6130CC2}"/>
                </a:ext>
              </a:extLst>
            </p:cNvPr>
            <p:cNvSpPr/>
            <p:nvPr/>
          </p:nvSpPr>
          <p:spPr>
            <a:xfrm rot="8931971">
              <a:off x="8385046" y="4601178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3711;p62">
              <a:extLst>
                <a:ext uri="{FF2B5EF4-FFF2-40B4-BE49-F238E27FC236}">
                  <a16:creationId xmlns:a16="http://schemas.microsoft.com/office/drawing/2014/main" id="{442AE482-13C3-415E-8B45-1891F25BBF17}"/>
                </a:ext>
              </a:extLst>
            </p:cNvPr>
            <p:cNvSpPr/>
            <p:nvPr/>
          </p:nvSpPr>
          <p:spPr>
            <a:xfrm rot="8931971">
              <a:off x="9044696" y="346711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3712;p62">
              <a:extLst>
                <a:ext uri="{FF2B5EF4-FFF2-40B4-BE49-F238E27FC236}">
                  <a16:creationId xmlns:a16="http://schemas.microsoft.com/office/drawing/2014/main" id="{68C2731E-5C07-4C38-BA14-AC5D767686F3}"/>
                </a:ext>
              </a:extLst>
            </p:cNvPr>
            <p:cNvSpPr/>
            <p:nvPr/>
          </p:nvSpPr>
          <p:spPr>
            <a:xfrm rot="8931971">
              <a:off x="8233564" y="4262145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3713;p62">
              <a:extLst>
                <a:ext uri="{FF2B5EF4-FFF2-40B4-BE49-F238E27FC236}">
                  <a16:creationId xmlns:a16="http://schemas.microsoft.com/office/drawing/2014/main" id="{F36945F9-37B0-473B-8FA3-6713B516CBFD}"/>
                </a:ext>
              </a:extLst>
            </p:cNvPr>
            <p:cNvSpPr/>
            <p:nvPr/>
          </p:nvSpPr>
          <p:spPr>
            <a:xfrm rot="8931971">
              <a:off x="9370426" y="3385116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3714;p62">
              <a:extLst>
                <a:ext uri="{FF2B5EF4-FFF2-40B4-BE49-F238E27FC236}">
                  <a16:creationId xmlns:a16="http://schemas.microsoft.com/office/drawing/2014/main" id="{8003DF42-6F0E-4AB2-BE2D-5A0034403432}"/>
                </a:ext>
              </a:extLst>
            </p:cNvPr>
            <p:cNvSpPr/>
            <p:nvPr/>
          </p:nvSpPr>
          <p:spPr>
            <a:xfrm rot="8931971">
              <a:off x="9626810" y="4236276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3715;p62">
              <a:extLst>
                <a:ext uri="{FF2B5EF4-FFF2-40B4-BE49-F238E27FC236}">
                  <a16:creationId xmlns:a16="http://schemas.microsoft.com/office/drawing/2014/main" id="{4C1F031D-3D52-433C-8C60-DD7AD141ACFC}"/>
                </a:ext>
              </a:extLst>
            </p:cNvPr>
            <p:cNvSpPr/>
            <p:nvPr/>
          </p:nvSpPr>
          <p:spPr>
            <a:xfrm rot="8931971">
              <a:off x="9752268" y="3491939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5" name="Google Shape;3718;p62">
              <a:extLst>
                <a:ext uri="{FF2B5EF4-FFF2-40B4-BE49-F238E27FC236}">
                  <a16:creationId xmlns:a16="http://schemas.microsoft.com/office/drawing/2014/main" id="{66739DD6-9036-419D-8E9D-99DD64A8A0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7846" y="2609761"/>
              <a:ext cx="2645199" cy="1902252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96" name="Google Shape;3720;p62">
              <a:extLst>
                <a:ext uri="{FF2B5EF4-FFF2-40B4-BE49-F238E27FC236}">
                  <a16:creationId xmlns:a16="http://schemas.microsoft.com/office/drawing/2014/main" id="{1F1CE213-0975-45BB-A6DA-0474DD340B32}"/>
                </a:ext>
              </a:extLst>
            </p:cNvPr>
            <p:cNvSpPr/>
            <p:nvPr/>
          </p:nvSpPr>
          <p:spPr>
            <a:xfrm rot="8931971">
              <a:off x="9226987" y="3943302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3721;p62">
              <a:extLst>
                <a:ext uri="{FF2B5EF4-FFF2-40B4-BE49-F238E27FC236}">
                  <a16:creationId xmlns:a16="http://schemas.microsoft.com/office/drawing/2014/main" id="{75A5EAC6-710A-4590-9E05-86EA08779323}"/>
                </a:ext>
              </a:extLst>
            </p:cNvPr>
            <p:cNvSpPr/>
            <p:nvPr/>
          </p:nvSpPr>
          <p:spPr>
            <a:xfrm rot="8931971">
              <a:off x="8724637" y="423627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3722;p62">
              <a:extLst>
                <a:ext uri="{FF2B5EF4-FFF2-40B4-BE49-F238E27FC236}">
                  <a16:creationId xmlns:a16="http://schemas.microsoft.com/office/drawing/2014/main" id="{6B380177-5C5F-4BB4-A723-CE28826A3803}"/>
                </a:ext>
              </a:extLst>
            </p:cNvPr>
            <p:cNvSpPr/>
            <p:nvPr/>
          </p:nvSpPr>
          <p:spPr>
            <a:xfrm rot="8931971">
              <a:off x="9926214" y="3154675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3728;p62">
              <a:extLst>
                <a:ext uri="{FF2B5EF4-FFF2-40B4-BE49-F238E27FC236}">
                  <a16:creationId xmlns:a16="http://schemas.microsoft.com/office/drawing/2014/main" id="{4F9F76FB-D843-41B0-88C5-1CF2294637CA}"/>
                </a:ext>
              </a:extLst>
            </p:cNvPr>
            <p:cNvSpPr/>
            <p:nvPr/>
          </p:nvSpPr>
          <p:spPr>
            <a:xfrm rot="8931971">
              <a:off x="8954329" y="3798564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0" name="Google Shape;3734;p62">
              <a:extLst>
                <a:ext uri="{FF2B5EF4-FFF2-40B4-BE49-F238E27FC236}">
                  <a16:creationId xmlns:a16="http://schemas.microsoft.com/office/drawing/2014/main" id="{5144B6DA-81C6-4D0C-AF51-515AF128B451}"/>
                </a:ext>
              </a:extLst>
            </p:cNvPr>
            <p:cNvSpPr/>
            <p:nvPr/>
          </p:nvSpPr>
          <p:spPr>
            <a:xfrm rot="8931971">
              <a:off x="9537607" y="4006424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3735;p62">
              <a:extLst>
                <a:ext uri="{FF2B5EF4-FFF2-40B4-BE49-F238E27FC236}">
                  <a16:creationId xmlns:a16="http://schemas.microsoft.com/office/drawing/2014/main" id="{47E02BAF-E8B9-4D30-B820-A7107E24FA8C}"/>
                </a:ext>
              </a:extLst>
            </p:cNvPr>
            <p:cNvSpPr/>
            <p:nvPr/>
          </p:nvSpPr>
          <p:spPr>
            <a:xfrm rot="8931971">
              <a:off x="9399036" y="3702658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3746;p62">
              <a:extLst>
                <a:ext uri="{FF2B5EF4-FFF2-40B4-BE49-F238E27FC236}">
                  <a16:creationId xmlns:a16="http://schemas.microsoft.com/office/drawing/2014/main" id="{9471B24B-A2BE-4FB7-AF7D-05A3B4AE4665}"/>
                </a:ext>
              </a:extLst>
            </p:cNvPr>
            <p:cNvSpPr/>
            <p:nvPr/>
          </p:nvSpPr>
          <p:spPr>
            <a:xfrm rot="8931971">
              <a:off x="8753635" y="4590198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3747;p62">
              <a:extLst>
                <a:ext uri="{FF2B5EF4-FFF2-40B4-BE49-F238E27FC236}">
                  <a16:creationId xmlns:a16="http://schemas.microsoft.com/office/drawing/2014/main" id="{74270E79-9196-4D66-9102-445866203883}"/>
                </a:ext>
              </a:extLst>
            </p:cNvPr>
            <p:cNvSpPr/>
            <p:nvPr/>
          </p:nvSpPr>
          <p:spPr>
            <a:xfrm rot="8931971">
              <a:off x="9149628" y="4608385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3749;p62">
              <a:extLst>
                <a:ext uri="{FF2B5EF4-FFF2-40B4-BE49-F238E27FC236}">
                  <a16:creationId xmlns:a16="http://schemas.microsoft.com/office/drawing/2014/main" id="{65A5500C-E465-4C33-929C-0009BDF734E4}"/>
                </a:ext>
              </a:extLst>
            </p:cNvPr>
            <p:cNvSpPr/>
            <p:nvPr/>
          </p:nvSpPr>
          <p:spPr>
            <a:xfrm rot="8931971">
              <a:off x="9180857" y="4254841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3761;p62">
              <a:extLst>
                <a:ext uri="{FF2B5EF4-FFF2-40B4-BE49-F238E27FC236}">
                  <a16:creationId xmlns:a16="http://schemas.microsoft.com/office/drawing/2014/main" id="{4D6449F3-6185-44BE-A031-30CD791DEA48}"/>
                </a:ext>
              </a:extLst>
            </p:cNvPr>
            <p:cNvSpPr/>
            <p:nvPr/>
          </p:nvSpPr>
          <p:spPr>
            <a:xfrm rot="8931971">
              <a:off x="7902335" y="4342390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3762;p62">
              <a:extLst>
                <a:ext uri="{FF2B5EF4-FFF2-40B4-BE49-F238E27FC236}">
                  <a16:creationId xmlns:a16="http://schemas.microsoft.com/office/drawing/2014/main" id="{F2B22BB3-677A-4C0B-BA53-5F51DBE5D5F5}"/>
                </a:ext>
              </a:extLst>
            </p:cNvPr>
            <p:cNvSpPr/>
            <p:nvPr/>
          </p:nvSpPr>
          <p:spPr>
            <a:xfrm rot="8931971">
              <a:off x="9597227" y="3044859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3764;p62">
              <a:extLst>
                <a:ext uri="{FF2B5EF4-FFF2-40B4-BE49-F238E27FC236}">
                  <a16:creationId xmlns:a16="http://schemas.microsoft.com/office/drawing/2014/main" id="{59C1170C-C298-4D01-AC22-3460B2164297}"/>
                </a:ext>
              </a:extLst>
            </p:cNvPr>
            <p:cNvSpPr/>
            <p:nvPr/>
          </p:nvSpPr>
          <p:spPr>
            <a:xfrm rot="8931971">
              <a:off x="10209541" y="340274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3765;p62">
              <a:extLst>
                <a:ext uri="{FF2B5EF4-FFF2-40B4-BE49-F238E27FC236}">
                  <a16:creationId xmlns:a16="http://schemas.microsoft.com/office/drawing/2014/main" id="{4DE7A526-48FD-4FC4-A390-26DA9E3070A5}"/>
                </a:ext>
              </a:extLst>
            </p:cNvPr>
            <p:cNvSpPr/>
            <p:nvPr/>
          </p:nvSpPr>
          <p:spPr>
            <a:xfrm rot="8931971">
              <a:off x="8543885" y="3855412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等腰三角形 208">
              <a:extLst>
                <a:ext uri="{FF2B5EF4-FFF2-40B4-BE49-F238E27FC236}">
                  <a16:creationId xmlns:a16="http://schemas.microsoft.com/office/drawing/2014/main" id="{68081B31-E123-4641-8E46-6A3195A5869D}"/>
                </a:ext>
              </a:extLst>
            </p:cNvPr>
            <p:cNvSpPr/>
            <p:nvPr/>
          </p:nvSpPr>
          <p:spPr>
            <a:xfrm>
              <a:off x="8265751" y="2752182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等腰三角形 209">
              <a:extLst>
                <a:ext uri="{FF2B5EF4-FFF2-40B4-BE49-F238E27FC236}">
                  <a16:creationId xmlns:a16="http://schemas.microsoft.com/office/drawing/2014/main" id="{ED2EAF3E-C42A-42CE-971F-1B0D82B0B7CE}"/>
                </a:ext>
              </a:extLst>
            </p:cNvPr>
            <p:cNvSpPr/>
            <p:nvPr/>
          </p:nvSpPr>
          <p:spPr>
            <a:xfrm>
              <a:off x="8535888" y="2854256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1" name="等腰三角形 210">
              <a:extLst>
                <a:ext uri="{FF2B5EF4-FFF2-40B4-BE49-F238E27FC236}">
                  <a16:creationId xmlns:a16="http://schemas.microsoft.com/office/drawing/2014/main" id="{A531BF43-1095-4323-9412-B7D5CB0C9C24}"/>
                </a:ext>
              </a:extLst>
            </p:cNvPr>
            <p:cNvSpPr/>
            <p:nvPr/>
          </p:nvSpPr>
          <p:spPr>
            <a:xfrm>
              <a:off x="8580499" y="2411046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等腰三角形 211">
              <a:extLst>
                <a:ext uri="{FF2B5EF4-FFF2-40B4-BE49-F238E27FC236}">
                  <a16:creationId xmlns:a16="http://schemas.microsoft.com/office/drawing/2014/main" id="{D3BA5EC0-9B21-498B-8FB5-FA2220B46F27}"/>
                </a:ext>
              </a:extLst>
            </p:cNvPr>
            <p:cNvSpPr/>
            <p:nvPr/>
          </p:nvSpPr>
          <p:spPr>
            <a:xfrm>
              <a:off x="8191416" y="1726977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等腰三角形 212">
              <a:extLst>
                <a:ext uri="{FF2B5EF4-FFF2-40B4-BE49-F238E27FC236}">
                  <a16:creationId xmlns:a16="http://schemas.microsoft.com/office/drawing/2014/main" id="{A51C7B51-348E-4ACB-A245-B2632D0C65CB}"/>
                </a:ext>
              </a:extLst>
            </p:cNvPr>
            <p:cNvSpPr/>
            <p:nvPr/>
          </p:nvSpPr>
          <p:spPr>
            <a:xfrm>
              <a:off x="8161951" y="2096076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等腰三角形 213">
              <a:extLst>
                <a:ext uri="{FF2B5EF4-FFF2-40B4-BE49-F238E27FC236}">
                  <a16:creationId xmlns:a16="http://schemas.microsoft.com/office/drawing/2014/main" id="{1409C559-3C05-46A3-9D71-22B815E0FDDF}"/>
                </a:ext>
              </a:extLst>
            </p:cNvPr>
            <p:cNvSpPr/>
            <p:nvPr/>
          </p:nvSpPr>
          <p:spPr>
            <a:xfrm>
              <a:off x="8314351" y="2248476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等腰三角形 214">
              <a:extLst>
                <a:ext uri="{FF2B5EF4-FFF2-40B4-BE49-F238E27FC236}">
                  <a16:creationId xmlns:a16="http://schemas.microsoft.com/office/drawing/2014/main" id="{4223DC7F-F652-4283-B607-D05B968011F8}"/>
                </a:ext>
              </a:extLst>
            </p:cNvPr>
            <p:cNvSpPr/>
            <p:nvPr/>
          </p:nvSpPr>
          <p:spPr>
            <a:xfrm>
              <a:off x="8701888" y="1841315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等腰三角形 215">
              <a:extLst>
                <a:ext uri="{FF2B5EF4-FFF2-40B4-BE49-F238E27FC236}">
                  <a16:creationId xmlns:a16="http://schemas.microsoft.com/office/drawing/2014/main" id="{AAE6FE7A-091A-4F70-8009-E323BDB410B7}"/>
                </a:ext>
              </a:extLst>
            </p:cNvPr>
            <p:cNvSpPr/>
            <p:nvPr/>
          </p:nvSpPr>
          <p:spPr>
            <a:xfrm>
              <a:off x="9090817" y="1754048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等腰三角形 216">
              <a:extLst>
                <a:ext uri="{FF2B5EF4-FFF2-40B4-BE49-F238E27FC236}">
                  <a16:creationId xmlns:a16="http://schemas.microsoft.com/office/drawing/2014/main" id="{95687FFA-9D8A-443C-AF33-3BE99F0FC0D1}"/>
                </a:ext>
              </a:extLst>
            </p:cNvPr>
            <p:cNvSpPr/>
            <p:nvPr/>
          </p:nvSpPr>
          <p:spPr>
            <a:xfrm>
              <a:off x="8830544" y="2143222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等腰三角形 217">
              <a:extLst>
                <a:ext uri="{FF2B5EF4-FFF2-40B4-BE49-F238E27FC236}">
                  <a16:creationId xmlns:a16="http://schemas.microsoft.com/office/drawing/2014/main" id="{A048DC6A-ED3B-4C18-880B-38DFB2106B79}"/>
                </a:ext>
              </a:extLst>
            </p:cNvPr>
            <p:cNvSpPr/>
            <p:nvPr/>
          </p:nvSpPr>
          <p:spPr>
            <a:xfrm>
              <a:off x="7474897" y="2296672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等腰三角形 218">
              <a:extLst>
                <a:ext uri="{FF2B5EF4-FFF2-40B4-BE49-F238E27FC236}">
                  <a16:creationId xmlns:a16="http://schemas.microsoft.com/office/drawing/2014/main" id="{E4490A3E-EE5B-42CE-A28F-27BEADE005CE}"/>
                </a:ext>
              </a:extLst>
            </p:cNvPr>
            <p:cNvSpPr/>
            <p:nvPr/>
          </p:nvSpPr>
          <p:spPr>
            <a:xfrm>
              <a:off x="8979993" y="2504136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" name="等腰三角形 219">
              <a:extLst>
                <a:ext uri="{FF2B5EF4-FFF2-40B4-BE49-F238E27FC236}">
                  <a16:creationId xmlns:a16="http://schemas.microsoft.com/office/drawing/2014/main" id="{351C3BC6-EF1F-4D15-9EDE-96CE10F6688C}"/>
                </a:ext>
              </a:extLst>
            </p:cNvPr>
            <p:cNvSpPr/>
            <p:nvPr/>
          </p:nvSpPr>
          <p:spPr>
            <a:xfrm>
              <a:off x="7490973" y="2592620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" name="等腰三角形 220">
              <a:extLst>
                <a:ext uri="{FF2B5EF4-FFF2-40B4-BE49-F238E27FC236}">
                  <a16:creationId xmlns:a16="http://schemas.microsoft.com/office/drawing/2014/main" id="{1A01D8E3-B0FD-4449-8FE1-7A093BE08D81}"/>
                </a:ext>
              </a:extLst>
            </p:cNvPr>
            <p:cNvSpPr/>
            <p:nvPr/>
          </p:nvSpPr>
          <p:spPr>
            <a:xfrm>
              <a:off x="7878510" y="2185459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" name="等腰三角形 221">
              <a:extLst>
                <a:ext uri="{FF2B5EF4-FFF2-40B4-BE49-F238E27FC236}">
                  <a16:creationId xmlns:a16="http://schemas.microsoft.com/office/drawing/2014/main" id="{58B6C173-2897-4315-8489-22752077DFEB}"/>
                </a:ext>
              </a:extLst>
            </p:cNvPr>
            <p:cNvSpPr/>
            <p:nvPr/>
          </p:nvSpPr>
          <p:spPr>
            <a:xfrm>
              <a:off x="7097732" y="2773544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3" name="等腰三角形 222">
              <a:extLst>
                <a:ext uri="{FF2B5EF4-FFF2-40B4-BE49-F238E27FC236}">
                  <a16:creationId xmlns:a16="http://schemas.microsoft.com/office/drawing/2014/main" id="{11F9A505-B8F8-4EA9-BD50-A49937C121B8}"/>
                </a:ext>
              </a:extLst>
            </p:cNvPr>
            <p:cNvSpPr/>
            <p:nvPr/>
          </p:nvSpPr>
          <p:spPr>
            <a:xfrm>
              <a:off x="8183310" y="2490259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4" name="等腰三角形 223">
              <a:extLst>
                <a:ext uri="{FF2B5EF4-FFF2-40B4-BE49-F238E27FC236}">
                  <a16:creationId xmlns:a16="http://schemas.microsoft.com/office/drawing/2014/main" id="{163CEC18-8D25-4B9D-9296-C4D93983D06A}"/>
                </a:ext>
              </a:extLst>
            </p:cNvPr>
            <p:cNvSpPr/>
            <p:nvPr/>
          </p:nvSpPr>
          <p:spPr>
            <a:xfrm>
              <a:off x="7298753" y="3089543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" name="等腰三角形 224">
              <a:extLst>
                <a:ext uri="{FF2B5EF4-FFF2-40B4-BE49-F238E27FC236}">
                  <a16:creationId xmlns:a16="http://schemas.microsoft.com/office/drawing/2014/main" id="{A79C488F-FDDF-470B-8E3A-FC5A3070DF90}"/>
                </a:ext>
              </a:extLst>
            </p:cNvPr>
            <p:cNvSpPr/>
            <p:nvPr/>
          </p:nvSpPr>
          <p:spPr>
            <a:xfrm>
              <a:off x="7667881" y="3035848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" name="等腰三角形 225">
              <a:extLst>
                <a:ext uri="{FF2B5EF4-FFF2-40B4-BE49-F238E27FC236}">
                  <a16:creationId xmlns:a16="http://schemas.microsoft.com/office/drawing/2014/main" id="{A56C5F5E-79FF-4E40-A292-AC90EEF76FDE}"/>
                </a:ext>
              </a:extLst>
            </p:cNvPr>
            <p:cNvSpPr/>
            <p:nvPr/>
          </p:nvSpPr>
          <p:spPr>
            <a:xfrm>
              <a:off x="7685526" y="3493687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7" name="等腰三角形 226">
              <a:extLst>
                <a:ext uri="{FF2B5EF4-FFF2-40B4-BE49-F238E27FC236}">
                  <a16:creationId xmlns:a16="http://schemas.microsoft.com/office/drawing/2014/main" id="{55AF23D2-E70E-48EF-8EA4-1388C07856ED}"/>
                </a:ext>
              </a:extLst>
            </p:cNvPr>
            <p:cNvSpPr/>
            <p:nvPr/>
          </p:nvSpPr>
          <p:spPr>
            <a:xfrm>
              <a:off x="7192077" y="3440569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等腰三角形 227">
              <a:extLst>
                <a:ext uri="{FF2B5EF4-FFF2-40B4-BE49-F238E27FC236}">
                  <a16:creationId xmlns:a16="http://schemas.microsoft.com/office/drawing/2014/main" id="{09999F29-DD47-4CE3-825A-4B5818E2735C}"/>
                </a:ext>
              </a:extLst>
            </p:cNvPr>
            <p:cNvSpPr/>
            <p:nvPr/>
          </p:nvSpPr>
          <p:spPr>
            <a:xfrm>
              <a:off x="8143490" y="3139582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等腰三角形 228">
              <a:extLst>
                <a:ext uri="{FF2B5EF4-FFF2-40B4-BE49-F238E27FC236}">
                  <a16:creationId xmlns:a16="http://schemas.microsoft.com/office/drawing/2014/main" id="{D1B565AE-86D3-4D2F-923D-6FBE02CB07EB}"/>
                </a:ext>
              </a:extLst>
            </p:cNvPr>
            <p:cNvSpPr/>
            <p:nvPr/>
          </p:nvSpPr>
          <p:spPr>
            <a:xfrm>
              <a:off x="7814182" y="2653494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0" name="文本框 229">
            <a:extLst>
              <a:ext uri="{FF2B5EF4-FFF2-40B4-BE49-F238E27FC236}">
                <a16:creationId xmlns:a16="http://schemas.microsoft.com/office/drawing/2014/main" id="{F045E802-B226-49CC-A347-93E85424598E}"/>
              </a:ext>
            </a:extLst>
          </p:cNvPr>
          <p:cNvSpPr txBox="1"/>
          <p:nvPr/>
        </p:nvSpPr>
        <p:spPr>
          <a:xfrm>
            <a:off x="1338769" y="4364749"/>
            <a:ext cx="12674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333333"/>
                </a:solidFill>
                <a:effectLst/>
                <a:latin typeface="PingFang SC"/>
              </a:rPr>
              <a:t>线性可分</a:t>
            </a:r>
            <a:endParaRPr lang="zh-CN" altLang="en-US" sz="2000" dirty="0"/>
          </a:p>
        </p:txBody>
      </p:sp>
      <p:sp>
        <p:nvSpPr>
          <p:cNvPr id="231" name="椭圆 230">
            <a:extLst>
              <a:ext uri="{FF2B5EF4-FFF2-40B4-BE49-F238E27FC236}">
                <a16:creationId xmlns:a16="http://schemas.microsoft.com/office/drawing/2014/main" id="{611128DD-3CD2-45E9-8F07-14275D725BC5}"/>
              </a:ext>
            </a:extLst>
          </p:cNvPr>
          <p:cNvSpPr/>
          <p:nvPr/>
        </p:nvSpPr>
        <p:spPr>
          <a:xfrm>
            <a:off x="9415586" y="2532586"/>
            <a:ext cx="1404747" cy="1330062"/>
          </a:xfrm>
          <a:prstGeom prst="ellipse">
            <a:avLst/>
          </a:prstGeom>
          <a:ln>
            <a:solidFill>
              <a:srgbClr val="FF99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Google Shape;3708;p62">
            <a:extLst>
              <a:ext uri="{FF2B5EF4-FFF2-40B4-BE49-F238E27FC236}">
                <a16:creationId xmlns:a16="http://schemas.microsoft.com/office/drawing/2014/main" id="{64CF8D43-3A38-4C92-BDC3-96D0D2F8E1E0}"/>
              </a:ext>
            </a:extLst>
          </p:cNvPr>
          <p:cNvSpPr/>
          <p:nvPr/>
        </p:nvSpPr>
        <p:spPr>
          <a:xfrm rot="8931971">
            <a:off x="9722152" y="3588033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3709;p62">
            <a:extLst>
              <a:ext uri="{FF2B5EF4-FFF2-40B4-BE49-F238E27FC236}">
                <a16:creationId xmlns:a16="http://schemas.microsoft.com/office/drawing/2014/main" id="{7F90D317-E376-44B1-BAF0-0B21EC9E080D}"/>
              </a:ext>
            </a:extLst>
          </p:cNvPr>
          <p:cNvSpPr/>
          <p:nvPr/>
        </p:nvSpPr>
        <p:spPr>
          <a:xfrm rot="8931971">
            <a:off x="10496678" y="3225513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3710;p62">
            <a:extLst>
              <a:ext uri="{FF2B5EF4-FFF2-40B4-BE49-F238E27FC236}">
                <a16:creationId xmlns:a16="http://schemas.microsoft.com/office/drawing/2014/main" id="{E7C4B3CE-D3A3-439F-B9C0-CF5037F84B6A}"/>
              </a:ext>
            </a:extLst>
          </p:cNvPr>
          <p:cNvSpPr/>
          <p:nvPr/>
        </p:nvSpPr>
        <p:spPr>
          <a:xfrm rot="8931971">
            <a:off x="10464490" y="3080780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3711;p62">
            <a:extLst>
              <a:ext uri="{FF2B5EF4-FFF2-40B4-BE49-F238E27FC236}">
                <a16:creationId xmlns:a16="http://schemas.microsoft.com/office/drawing/2014/main" id="{96EB19E8-8BD8-4891-9105-80937C304E11}"/>
              </a:ext>
            </a:extLst>
          </p:cNvPr>
          <p:cNvSpPr/>
          <p:nvPr/>
        </p:nvSpPr>
        <p:spPr>
          <a:xfrm rot="8931971">
            <a:off x="10061800" y="2920934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3712;p62">
            <a:extLst>
              <a:ext uri="{FF2B5EF4-FFF2-40B4-BE49-F238E27FC236}">
                <a16:creationId xmlns:a16="http://schemas.microsoft.com/office/drawing/2014/main" id="{7C7D866E-C755-4629-8DE9-4F1FA9A9E9F4}"/>
              </a:ext>
            </a:extLst>
          </p:cNvPr>
          <p:cNvSpPr/>
          <p:nvPr/>
        </p:nvSpPr>
        <p:spPr>
          <a:xfrm rot="8931971">
            <a:off x="9534445" y="3303541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3713;p62">
            <a:extLst>
              <a:ext uri="{FF2B5EF4-FFF2-40B4-BE49-F238E27FC236}">
                <a16:creationId xmlns:a16="http://schemas.microsoft.com/office/drawing/2014/main" id="{DB415652-99B7-4938-BFF6-2F6338FAFBD9}"/>
              </a:ext>
            </a:extLst>
          </p:cNvPr>
          <p:cNvSpPr/>
          <p:nvPr/>
        </p:nvSpPr>
        <p:spPr>
          <a:xfrm rot="8931971">
            <a:off x="10289282" y="2860850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3714;p62">
            <a:extLst>
              <a:ext uri="{FF2B5EF4-FFF2-40B4-BE49-F238E27FC236}">
                <a16:creationId xmlns:a16="http://schemas.microsoft.com/office/drawing/2014/main" id="{40B0AA07-BE4A-4F03-8E30-93AAE27C7DA4}"/>
              </a:ext>
            </a:extLst>
          </p:cNvPr>
          <p:cNvSpPr/>
          <p:nvPr/>
        </p:nvSpPr>
        <p:spPr>
          <a:xfrm rot="8931971">
            <a:off x="10468333" y="3484522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3715;p62">
            <a:extLst>
              <a:ext uri="{FF2B5EF4-FFF2-40B4-BE49-F238E27FC236}">
                <a16:creationId xmlns:a16="http://schemas.microsoft.com/office/drawing/2014/main" id="{4C3C5D91-898D-4C0E-8BC5-4EB5599CC761}"/>
              </a:ext>
            </a:extLst>
          </p:cNvPr>
          <p:cNvSpPr/>
          <p:nvPr/>
        </p:nvSpPr>
        <p:spPr>
          <a:xfrm rot="8931971">
            <a:off x="10555950" y="2939122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3720;p62">
            <a:extLst>
              <a:ext uri="{FF2B5EF4-FFF2-40B4-BE49-F238E27FC236}">
                <a16:creationId xmlns:a16="http://schemas.microsoft.com/office/drawing/2014/main" id="{C4158F1E-272F-4A5D-9DF0-E606C0C73E2B}"/>
              </a:ext>
            </a:extLst>
          </p:cNvPr>
          <p:cNvSpPr/>
          <p:nvPr/>
        </p:nvSpPr>
        <p:spPr>
          <a:xfrm rot="8931971">
            <a:off x="10189108" y="3269850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3721;p62">
            <a:extLst>
              <a:ext uri="{FF2B5EF4-FFF2-40B4-BE49-F238E27FC236}">
                <a16:creationId xmlns:a16="http://schemas.microsoft.com/office/drawing/2014/main" id="{FFEBFD0F-3EE7-4B12-B945-2173E2147A28}"/>
              </a:ext>
            </a:extLst>
          </p:cNvPr>
          <p:cNvSpPr/>
          <p:nvPr/>
        </p:nvSpPr>
        <p:spPr>
          <a:xfrm rot="8931971">
            <a:off x="10041610" y="3136466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3722;p62">
            <a:extLst>
              <a:ext uri="{FF2B5EF4-FFF2-40B4-BE49-F238E27FC236}">
                <a16:creationId xmlns:a16="http://schemas.microsoft.com/office/drawing/2014/main" id="{E5298723-52AC-4709-87C9-AFA57C869747}"/>
              </a:ext>
            </a:extLst>
          </p:cNvPr>
          <p:cNvSpPr/>
          <p:nvPr/>
        </p:nvSpPr>
        <p:spPr>
          <a:xfrm rot="8931971">
            <a:off x="10195424" y="3607471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3728;p62">
            <a:extLst>
              <a:ext uri="{FF2B5EF4-FFF2-40B4-BE49-F238E27FC236}">
                <a16:creationId xmlns:a16="http://schemas.microsoft.com/office/drawing/2014/main" id="{2CE9AB4A-4942-460D-839D-80EE9051AF92}"/>
              </a:ext>
            </a:extLst>
          </p:cNvPr>
          <p:cNvSpPr/>
          <p:nvPr/>
        </p:nvSpPr>
        <p:spPr>
          <a:xfrm rot="8931971">
            <a:off x="10274813" y="2670677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4" name="Google Shape;3734;p62">
            <a:extLst>
              <a:ext uri="{FF2B5EF4-FFF2-40B4-BE49-F238E27FC236}">
                <a16:creationId xmlns:a16="http://schemas.microsoft.com/office/drawing/2014/main" id="{769D2297-4287-43F0-86DD-1C9B5A37510D}"/>
              </a:ext>
            </a:extLst>
          </p:cNvPr>
          <p:cNvSpPr/>
          <p:nvPr/>
        </p:nvSpPr>
        <p:spPr>
          <a:xfrm rot="8931971">
            <a:off x="9847281" y="2629584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3735;p62">
            <a:extLst>
              <a:ext uri="{FF2B5EF4-FFF2-40B4-BE49-F238E27FC236}">
                <a16:creationId xmlns:a16="http://schemas.microsoft.com/office/drawing/2014/main" id="{32B6C07F-1D60-4A10-B15F-997639F9FF79}"/>
              </a:ext>
            </a:extLst>
          </p:cNvPr>
          <p:cNvSpPr/>
          <p:nvPr/>
        </p:nvSpPr>
        <p:spPr>
          <a:xfrm rot="8931971">
            <a:off x="10309262" y="3093523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3746;p62">
            <a:extLst>
              <a:ext uri="{FF2B5EF4-FFF2-40B4-BE49-F238E27FC236}">
                <a16:creationId xmlns:a16="http://schemas.microsoft.com/office/drawing/2014/main" id="{1D369DF9-A929-4AA7-9A19-ABFA03A95AF3}"/>
              </a:ext>
            </a:extLst>
          </p:cNvPr>
          <p:cNvSpPr/>
          <p:nvPr/>
        </p:nvSpPr>
        <p:spPr>
          <a:xfrm rot="8931971">
            <a:off x="9895758" y="3640608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3747;p62">
            <a:extLst>
              <a:ext uri="{FF2B5EF4-FFF2-40B4-BE49-F238E27FC236}">
                <a16:creationId xmlns:a16="http://schemas.microsoft.com/office/drawing/2014/main" id="{6A896F09-8D6E-4C42-8596-32C04A723A8A}"/>
              </a:ext>
            </a:extLst>
          </p:cNvPr>
          <p:cNvSpPr/>
          <p:nvPr/>
        </p:nvSpPr>
        <p:spPr>
          <a:xfrm rot="8931971">
            <a:off x="9551166" y="3025726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3749;p62">
            <a:extLst>
              <a:ext uri="{FF2B5EF4-FFF2-40B4-BE49-F238E27FC236}">
                <a16:creationId xmlns:a16="http://schemas.microsoft.com/office/drawing/2014/main" id="{9050E6AC-FC08-4E1E-A360-7DE8FD1DA67F}"/>
              </a:ext>
            </a:extLst>
          </p:cNvPr>
          <p:cNvSpPr/>
          <p:nvPr/>
        </p:nvSpPr>
        <p:spPr>
          <a:xfrm rot="8931971">
            <a:off x="10071208" y="2695620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3761;p62">
            <a:extLst>
              <a:ext uri="{FF2B5EF4-FFF2-40B4-BE49-F238E27FC236}">
                <a16:creationId xmlns:a16="http://schemas.microsoft.com/office/drawing/2014/main" id="{4C97698D-74D7-47DB-AA2E-D0C03F805882}"/>
              </a:ext>
            </a:extLst>
          </p:cNvPr>
          <p:cNvSpPr/>
          <p:nvPr/>
        </p:nvSpPr>
        <p:spPr>
          <a:xfrm rot="8931971">
            <a:off x="10045081" y="3390279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3762;p62">
            <a:extLst>
              <a:ext uri="{FF2B5EF4-FFF2-40B4-BE49-F238E27FC236}">
                <a16:creationId xmlns:a16="http://schemas.microsoft.com/office/drawing/2014/main" id="{45CD391E-4A33-4ED1-8B90-6AE55C4EA254}"/>
              </a:ext>
            </a:extLst>
          </p:cNvPr>
          <p:cNvSpPr/>
          <p:nvPr/>
        </p:nvSpPr>
        <p:spPr>
          <a:xfrm rot="8931971">
            <a:off x="9881237" y="2845747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3764;p62">
            <a:extLst>
              <a:ext uri="{FF2B5EF4-FFF2-40B4-BE49-F238E27FC236}">
                <a16:creationId xmlns:a16="http://schemas.microsoft.com/office/drawing/2014/main" id="{9F59DB39-ADDD-4884-85DE-C68B6E04515E}"/>
              </a:ext>
            </a:extLst>
          </p:cNvPr>
          <p:cNvSpPr/>
          <p:nvPr/>
        </p:nvSpPr>
        <p:spPr>
          <a:xfrm rot="8931971">
            <a:off x="10682936" y="3187066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3765;p62">
            <a:extLst>
              <a:ext uri="{FF2B5EF4-FFF2-40B4-BE49-F238E27FC236}">
                <a16:creationId xmlns:a16="http://schemas.microsoft.com/office/drawing/2014/main" id="{E3336FF1-FC91-4EE3-B9A8-3AD9ADAB81D3}"/>
              </a:ext>
            </a:extLst>
          </p:cNvPr>
          <p:cNvSpPr/>
          <p:nvPr/>
        </p:nvSpPr>
        <p:spPr>
          <a:xfrm rot="8931971">
            <a:off x="9712047" y="3205451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等腰三角形 252">
            <a:extLst>
              <a:ext uri="{FF2B5EF4-FFF2-40B4-BE49-F238E27FC236}">
                <a16:creationId xmlns:a16="http://schemas.microsoft.com/office/drawing/2014/main" id="{70868CD8-3675-42B4-B1B3-9D427F09DC29}"/>
              </a:ext>
            </a:extLst>
          </p:cNvPr>
          <p:cNvSpPr/>
          <p:nvPr/>
        </p:nvSpPr>
        <p:spPr>
          <a:xfrm>
            <a:off x="10415367" y="2208416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4" name="等腰三角形 253">
            <a:extLst>
              <a:ext uri="{FF2B5EF4-FFF2-40B4-BE49-F238E27FC236}">
                <a16:creationId xmlns:a16="http://schemas.microsoft.com/office/drawing/2014/main" id="{A17C941D-356F-4315-848E-BF52B7049802}"/>
              </a:ext>
            </a:extLst>
          </p:cNvPr>
          <p:cNvSpPr/>
          <p:nvPr/>
        </p:nvSpPr>
        <p:spPr>
          <a:xfrm>
            <a:off x="10578508" y="2389324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5" name="等腰三角形 254">
            <a:extLst>
              <a:ext uri="{FF2B5EF4-FFF2-40B4-BE49-F238E27FC236}">
                <a16:creationId xmlns:a16="http://schemas.microsoft.com/office/drawing/2014/main" id="{2EF13AF1-2DD6-4E71-98F5-73D655C7D028}"/>
              </a:ext>
            </a:extLst>
          </p:cNvPr>
          <p:cNvSpPr/>
          <p:nvPr/>
        </p:nvSpPr>
        <p:spPr>
          <a:xfrm>
            <a:off x="10021141" y="2373770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6" name="等腰三角形 255">
            <a:extLst>
              <a:ext uri="{FF2B5EF4-FFF2-40B4-BE49-F238E27FC236}">
                <a16:creationId xmlns:a16="http://schemas.microsoft.com/office/drawing/2014/main" id="{DA139C2C-B705-4CC1-A89D-369B4394119E}"/>
              </a:ext>
            </a:extLst>
          </p:cNvPr>
          <p:cNvSpPr/>
          <p:nvPr/>
        </p:nvSpPr>
        <p:spPr>
          <a:xfrm>
            <a:off x="10891803" y="2923941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等腰三角形 256">
            <a:extLst>
              <a:ext uri="{FF2B5EF4-FFF2-40B4-BE49-F238E27FC236}">
                <a16:creationId xmlns:a16="http://schemas.microsoft.com/office/drawing/2014/main" id="{710FD970-0777-41F6-971A-4402CF2ED0A6}"/>
              </a:ext>
            </a:extLst>
          </p:cNvPr>
          <p:cNvSpPr/>
          <p:nvPr/>
        </p:nvSpPr>
        <p:spPr>
          <a:xfrm>
            <a:off x="9879831" y="3952473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8" name="等腰三角形 257">
            <a:extLst>
              <a:ext uri="{FF2B5EF4-FFF2-40B4-BE49-F238E27FC236}">
                <a16:creationId xmlns:a16="http://schemas.microsoft.com/office/drawing/2014/main" id="{DD18A76B-D8A8-4A90-A604-40181E25DEFB}"/>
              </a:ext>
            </a:extLst>
          </p:cNvPr>
          <p:cNvSpPr/>
          <p:nvPr/>
        </p:nvSpPr>
        <p:spPr>
          <a:xfrm>
            <a:off x="9649385" y="2386013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9" name="等腰三角形 258">
            <a:extLst>
              <a:ext uri="{FF2B5EF4-FFF2-40B4-BE49-F238E27FC236}">
                <a16:creationId xmlns:a16="http://schemas.microsoft.com/office/drawing/2014/main" id="{54386F3F-5689-4CFC-9235-49D2AAAF09A3}"/>
              </a:ext>
            </a:extLst>
          </p:cNvPr>
          <p:cNvSpPr/>
          <p:nvPr/>
        </p:nvSpPr>
        <p:spPr>
          <a:xfrm>
            <a:off x="9642160" y="2205968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0" name="等腰三角形 259">
            <a:extLst>
              <a:ext uri="{FF2B5EF4-FFF2-40B4-BE49-F238E27FC236}">
                <a16:creationId xmlns:a16="http://schemas.microsoft.com/office/drawing/2014/main" id="{84609D00-E93C-4E97-BA9B-5ECF65EDFFC2}"/>
              </a:ext>
            </a:extLst>
          </p:cNvPr>
          <p:cNvSpPr/>
          <p:nvPr/>
        </p:nvSpPr>
        <p:spPr>
          <a:xfrm>
            <a:off x="9937126" y="2214055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1" name="等腰三角形 260">
            <a:extLst>
              <a:ext uri="{FF2B5EF4-FFF2-40B4-BE49-F238E27FC236}">
                <a16:creationId xmlns:a16="http://schemas.microsoft.com/office/drawing/2014/main" id="{FD49C432-49FB-48D0-BD9B-C227187258A3}"/>
              </a:ext>
            </a:extLst>
          </p:cNvPr>
          <p:cNvSpPr/>
          <p:nvPr/>
        </p:nvSpPr>
        <p:spPr>
          <a:xfrm>
            <a:off x="10652367" y="2261885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等腰三角形 261">
            <a:extLst>
              <a:ext uri="{FF2B5EF4-FFF2-40B4-BE49-F238E27FC236}">
                <a16:creationId xmlns:a16="http://schemas.microsoft.com/office/drawing/2014/main" id="{31967CD3-2E3C-4E01-B0E3-AFCF4BD85FCD}"/>
              </a:ext>
            </a:extLst>
          </p:cNvPr>
          <p:cNvSpPr/>
          <p:nvPr/>
        </p:nvSpPr>
        <p:spPr>
          <a:xfrm>
            <a:off x="10996412" y="3557942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3" name="等腰三角形 262">
            <a:extLst>
              <a:ext uri="{FF2B5EF4-FFF2-40B4-BE49-F238E27FC236}">
                <a16:creationId xmlns:a16="http://schemas.microsoft.com/office/drawing/2014/main" id="{BFB4BA8B-D7F9-4702-A44B-124C6459BA76}"/>
              </a:ext>
            </a:extLst>
          </p:cNvPr>
          <p:cNvSpPr/>
          <p:nvPr/>
        </p:nvSpPr>
        <p:spPr>
          <a:xfrm>
            <a:off x="10158217" y="2227111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4" name="等腰三角形 263">
            <a:extLst>
              <a:ext uri="{FF2B5EF4-FFF2-40B4-BE49-F238E27FC236}">
                <a16:creationId xmlns:a16="http://schemas.microsoft.com/office/drawing/2014/main" id="{1B251E73-1FC2-4793-8777-4EBC3808F749}"/>
              </a:ext>
            </a:extLst>
          </p:cNvPr>
          <p:cNvSpPr/>
          <p:nvPr/>
        </p:nvSpPr>
        <p:spPr>
          <a:xfrm>
            <a:off x="9053320" y="3141171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等腰三角形 264">
            <a:extLst>
              <a:ext uri="{FF2B5EF4-FFF2-40B4-BE49-F238E27FC236}">
                <a16:creationId xmlns:a16="http://schemas.microsoft.com/office/drawing/2014/main" id="{7F7A6E6C-2E45-438D-B7F5-F9BAD5E160A2}"/>
              </a:ext>
            </a:extLst>
          </p:cNvPr>
          <p:cNvSpPr/>
          <p:nvPr/>
        </p:nvSpPr>
        <p:spPr>
          <a:xfrm>
            <a:off x="10463833" y="3830020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等腰三角形 265">
            <a:extLst>
              <a:ext uri="{FF2B5EF4-FFF2-40B4-BE49-F238E27FC236}">
                <a16:creationId xmlns:a16="http://schemas.microsoft.com/office/drawing/2014/main" id="{0CB13607-0585-4416-92B7-C2393A03F281}"/>
              </a:ext>
            </a:extLst>
          </p:cNvPr>
          <p:cNvSpPr/>
          <p:nvPr/>
        </p:nvSpPr>
        <p:spPr>
          <a:xfrm>
            <a:off x="9082007" y="2889551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等腰三角形 266">
            <a:extLst>
              <a:ext uri="{FF2B5EF4-FFF2-40B4-BE49-F238E27FC236}">
                <a16:creationId xmlns:a16="http://schemas.microsoft.com/office/drawing/2014/main" id="{E2920D48-C74E-432B-8906-B9486F6F114C}"/>
              </a:ext>
            </a:extLst>
          </p:cNvPr>
          <p:cNvSpPr/>
          <p:nvPr/>
        </p:nvSpPr>
        <p:spPr>
          <a:xfrm>
            <a:off x="10759553" y="3780364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等腰三角形 267">
            <a:extLst>
              <a:ext uri="{FF2B5EF4-FFF2-40B4-BE49-F238E27FC236}">
                <a16:creationId xmlns:a16="http://schemas.microsoft.com/office/drawing/2014/main" id="{3E412005-923C-455E-9EEA-F874FE8DBE81}"/>
              </a:ext>
            </a:extLst>
          </p:cNvPr>
          <p:cNvSpPr/>
          <p:nvPr/>
        </p:nvSpPr>
        <p:spPr>
          <a:xfrm>
            <a:off x="9355838" y="2629684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等腰三角形 268">
            <a:extLst>
              <a:ext uri="{FF2B5EF4-FFF2-40B4-BE49-F238E27FC236}">
                <a16:creationId xmlns:a16="http://schemas.microsoft.com/office/drawing/2014/main" id="{713C3615-38EA-4B47-8BB3-045007C5E883}"/>
              </a:ext>
            </a:extLst>
          </p:cNvPr>
          <p:cNvSpPr/>
          <p:nvPr/>
        </p:nvSpPr>
        <p:spPr>
          <a:xfrm>
            <a:off x="9176868" y="3465938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0" name="等腰三角形 269">
            <a:extLst>
              <a:ext uri="{FF2B5EF4-FFF2-40B4-BE49-F238E27FC236}">
                <a16:creationId xmlns:a16="http://schemas.microsoft.com/office/drawing/2014/main" id="{69E12192-4ECF-4544-A009-9CF3F6821E18}"/>
              </a:ext>
            </a:extLst>
          </p:cNvPr>
          <p:cNvSpPr/>
          <p:nvPr/>
        </p:nvSpPr>
        <p:spPr>
          <a:xfrm>
            <a:off x="9294898" y="2820492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1" name="等腰三角形 270">
            <a:extLst>
              <a:ext uri="{FF2B5EF4-FFF2-40B4-BE49-F238E27FC236}">
                <a16:creationId xmlns:a16="http://schemas.microsoft.com/office/drawing/2014/main" id="{4614C2E0-6423-4E77-9E19-3DBA6DB65047}"/>
              </a:ext>
            </a:extLst>
          </p:cNvPr>
          <p:cNvSpPr/>
          <p:nvPr/>
        </p:nvSpPr>
        <p:spPr>
          <a:xfrm>
            <a:off x="9339626" y="3597907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2" name="等腰三角形 271">
            <a:extLst>
              <a:ext uri="{FF2B5EF4-FFF2-40B4-BE49-F238E27FC236}">
                <a16:creationId xmlns:a16="http://schemas.microsoft.com/office/drawing/2014/main" id="{89A26695-9627-425F-B7AE-AB73DBF322F5}"/>
              </a:ext>
            </a:extLst>
          </p:cNvPr>
          <p:cNvSpPr/>
          <p:nvPr/>
        </p:nvSpPr>
        <p:spPr>
          <a:xfrm>
            <a:off x="9298410" y="2458315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3" name="等腰三角形 272">
            <a:extLst>
              <a:ext uri="{FF2B5EF4-FFF2-40B4-BE49-F238E27FC236}">
                <a16:creationId xmlns:a16="http://schemas.microsoft.com/office/drawing/2014/main" id="{2409D4DD-9D11-4A75-9EDE-7168A6BBC941}"/>
              </a:ext>
            </a:extLst>
          </p:cNvPr>
          <p:cNvSpPr/>
          <p:nvPr/>
        </p:nvSpPr>
        <p:spPr>
          <a:xfrm>
            <a:off x="9279041" y="3185775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4" name="Google Shape;3714;p62">
            <a:extLst>
              <a:ext uri="{FF2B5EF4-FFF2-40B4-BE49-F238E27FC236}">
                <a16:creationId xmlns:a16="http://schemas.microsoft.com/office/drawing/2014/main" id="{EEEE9DBE-39E1-4D18-82B3-0547A1C0DAFC}"/>
              </a:ext>
            </a:extLst>
          </p:cNvPr>
          <p:cNvSpPr/>
          <p:nvPr/>
        </p:nvSpPr>
        <p:spPr>
          <a:xfrm rot="8931971">
            <a:off x="9660597" y="2800296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3720;p62">
            <a:extLst>
              <a:ext uri="{FF2B5EF4-FFF2-40B4-BE49-F238E27FC236}">
                <a16:creationId xmlns:a16="http://schemas.microsoft.com/office/drawing/2014/main" id="{B671B041-8FD0-4939-B8B7-D7B9F0DBE7DD}"/>
              </a:ext>
            </a:extLst>
          </p:cNvPr>
          <p:cNvSpPr/>
          <p:nvPr/>
        </p:nvSpPr>
        <p:spPr>
          <a:xfrm rot="8931971">
            <a:off x="9778132" y="3421612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3734;p62">
            <a:extLst>
              <a:ext uri="{FF2B5EF4-FFF2-40B4-BE49-F238E27FC236}">
                <a16:creationId xmlns:a16="http://schemas.microsoft.com/office/drawing/2014/main" id="{D43751F7-2EF6-41C9-AFA6-B04900D6B5C4}"/>
              </a:ext>
            </a:extLst>
          </p:cNvPr>
          <p:cNvSpPr/>
          <p:nvPr/>
        </p:nvSpPr>
        <p:spPr>
          <a:xfrm rot="8931971">
            <a:off x="10370560" y="3325582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文本框 276">
            <a:extLst>
              <a:ext uri="{FF2B5EF4-FFF2-40B4-BE49-F238E27FC236}">
                <a16:creationId xmlns:a16="http://schemas.microsoft.com/office/drawing/2014/main" id="{9BF52228-2ECC-487E-857B-B1FD00B1839B}"/>
              </a:ext>
            </a:extLst>
          </p:cNvPr>
          <p:cNvSpPr txBox="1"/>
          <p:nvPr/>
        </p:nvSpPr>
        <p:spPr>
          <a:xfrm>
            <a:off x="9229193" y="4354080"/>
            <a:ext cx="16737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333333"/>
                </a:solidFill>
                <a:latin typeface="PingFang SC"/>
              </a:rPr>
              <a:t>线性不可分</a:t>
            </a:r>
            <a:endParaRPr lang="zh-CN" altLang="en-US" sz="2000" dirty="0"/>
          </a:p>
        </p:txBody>
      </p:sp>
      <p:sp>
        <p:nvSpPr>
          <p:cNvPr id="278" name="Google Shape;3711;p62">
            <a:extLst>
              <a:ext uri="{FF2B5EF4-FFF2-40B4-BE49-F238E27FC236}">
                <a16:creationId xmlns:a16="http://schemas.microsoft.com/office/drawing/2014/main" id="{900503B2-57C6-4EA2-8FD1-0A9F4D9203F7}"/>
              </a:ext>
            </a:extLst>
          </p:cNvPr>
          <p:cNvSpPr/>
          <p:nvPr/>
        </p:nvSpPr>
        <p:spPr>
          <a:xfrm rot="8931971">
            <a:off x="10031951" y="3617202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3713;p62">
            <a:extLst>
              <a:ext uri="{FF2B5EF4-FFF2-40B4-BE49-F238E27FC236}">
                <a16:creationId xmlns:a16="http://schemas.microsoft.com/office/drawing/2014/main" id="{14BA4913-9726-4C70-BF89-6710721146A2}"/>
              </a:ext>
            </a:extLst>
          </p:cNvPr>
          <p:cNvSpPr/>
          <p:nvPr/>
        </p:nvSpPr>
        <p:spPr>
          <a:xfrm rot="8931971">
            <a:off x="10704195" y="3005585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3715;p62">
            <a:extLst>
              <a:ext uri="{FF2B5EF4-FFF2-40B4-BE49-F238E27FC236}">
                <a16:creationId xmlns:a16="http://schemas.microsoft.com/office/drawing/2014/main" id="{47469008-6FAA-405B-BA56-73166F93E3DF}"/>
              </a:ext>
            </a:extLst>
          </p:cNvPr>
          <p:cNvSpPr/>
          <p:nvPr/>
        </p:nvSpPr>
        <p:spPr>
          <a:xfrm rot="8931971">
            <a:off x="10468648" y="2810718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等腰三角形 280">
            <a:extLst>
              <a:ext uri="{FF2B5EF4-FFF2-40B4-BE49-F238E27FC236}">
                <a16:creationId xmlns:a16="http://schemas.microsoft.com/office/drawing/2014/main" id="{76DAAAD8-E659-4D0A-AD17-63CD09DD2DE9}"/>
              </a:ext>
            </a:extLst>
          </p:cNvPr>
          <p:cNvSpPr/>
          <p:nvPr/>
        </p:nvSpPr>
        <p:spPr>
          <a:xfrm>
            <a:off x="10772886" y="3536647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2" name="等腰三角形 281">
            <a:extLst>
              <a:ext uri="{FF2B5EF4-FFF2-40B4-BE49-F238E27FC236}">
                <a16:creationId xmlns:a16="http://schemas.microsoft.com/office/drawing/2014/main" id="{695CFB57-F5B5-4702-83C5-3602E49C4682}"/>
              </a:ext>
            </a:extLst>
          </p:cNvPr>
          <p:cNvSpPr/>
          <p:nvPr/>
        </p:nvSpPr>
        <p:spPr>
          <a:xfrm>
            <a:off x="9585937" y="3729606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3" name="等腰三角形 282">
            <a:extLst>
              <a:ext uri="{FF2B5EF4-FFF2-40B4-BE49-F238E27FC236}">
                <a16:creationId xmlns:a16="http://schemas.microsoft.com/office/drawing/2014/main" id="{15C59202-4302-4957-9678-5462BFF54934}"/>
              </a:ext>
            </a:extLst>
          </p:cNvPr>
          <p:cNvSpPr/>
          <p:nvPr/>
        </p:nvSpPr>
        <p:spPr>
          <a:xfrm>
            <a:off x="11107242" y="2927592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4" name="等腰三角形 283">
            <a:extLst>
              <a:ext uri="{FF2B5EF4-FFF2-40B4-BE49-F238E27FC236}">
                <a16:creationId xmlns:a16="http://schemas.microsoft.com/office/drawing/2014/main" id="{6FB3361C-E0E9-44A7-8F0D-8C2523CED4E1}"/>
              </a:ext>
            </a:extLst>
          </p:cNvPr>
          <p:cNvSpPr/>
          <p:nvPr/>
        </p:nvSpPr>
        <p:spPr>
          <a:xfrm>
            <a:off x="11084061" y="3149875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5" name="等腰三角形 284">
            <a:extLst>
              <a:ext uri="{FF2B5EF4-FFF2-40B4-BE49-F238E27FC236}">
                <a16:creationId xmlns:a16="http://schemas.microsoft.com/office/drawing/2014/main" id="{1649E815-C599-4EE1-B57F-B08F426E40BD}"/>
              </a:ext>
            </a:extLst>
          </p:cNvPr>
          <p:cNvSpPr/>
          <p:nvPr/>
        </p:nvSpPr>
        <p:spPr>
          <a:xfrm>
            <a:off x="10962754" y="2684241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6" name="等腰三角形 285">
            <a:extLst>
              <a:ext uri="{FF2B5EF4-FFF2-40B4-BE49-F238E27FC236}">
                <a16:creationId xmlns:a16="http://schemas.microsoft.com/office/drawing/2014/main" id="{F6679843-44B4-44C8-B528-A03547FF2625}"/>
              </a:ext>
            </a:extLst>
          </p:cNvPr>
          <p:cNvSpPr/>
          <p:nvPr/>
        </p:nvSpPr>
        <p:spPr>
          <a:xfrm>
            <a:off x="10943113" y="3360890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7" name="等腰三角形 286">
            <a:extLst>
              <a:ext uri="{FF2B5EF4-FFF2-40B4-BE49-F238E27FC236}">
                <a16:creationId xmlns:a16="http://schemas.microsoft.com/office/drawing/2014/main" id="{33B15D56-8D46-4852-B81F-669BD3AF82DE}"/>
              </a:ext>
            </a:extLst>
          </p:cNvPr>
          <p:cNvSpPr/>
          <p:nvPr/>
        </p:nvSpPr>
        <p:spPr>
          <a:xfrm>
            <a:off x="10195675" y="4006987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8" name="等腰三角形 287">
            <a:extLst>
              <a:ext uri="{FF2B5EF4-FFF2-40B4-BE49-F238E27FC236}">
                <a16:creationId xmlns:a16="http://schemas.microsoft.com/office/drawing/2014/main" id="{15708247-31E6-4EC0-86E8-E58CC4F49AE9}"/>
              </a:ext>
            </a:extLst>
          </p:cNvPr>
          <p:cNvSpPr/>
          <p:nvPr/>
        </p:nvSpPr>
        <p:spPr>
          <a:xfrm>
            <a:off x="9426858" y="2389363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9" name="等腰三角形 288">
            <a:extLst>
              <a:ext uri="{FF2B5EF4-FFF2-40B4-BE49-F238E27FC236}">
                <a16:creationId xmlns:a16="http://schemas.microsoft.com/office/drawing/2014/main" id="{646F3CE1-88D2-47C4-BE1C-0C54EC55E454}"/>
              </a:ext>
            </a:extLst>
          </p:cNvPr>
          <p:cNvSpPr/>
          <p:nvPr/>
        </p:nvSpPr>
        <p:spPr>
          <a:xfrm>
            <a:off x="10740025" y="2617012"/>
            <a:ext cx="89850" cy="87964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0" name="Google Shape;3714;p62">
            <a:extLst>
              <a:ext uri="{FF2B5EF4-FFF2-40B4-BE49-F238E27FC236}">
                <a16:creationId xmlns:a16="http://schemas.microsoft.com/office/drawing/2014/main" id="{31779613-75B0-4F41-887A-E9AB6AFCD6EC}"/>
              </a:ext>
            </a:extLst>
          </p:cNvPr>
          <p:cNvSpPr/>
          <p:nvPr/>
        </p:nvSpPr>
        <p:spPr>
          <a:xfrm rot="8931971">
            <a:off x="9919420" y="3044110"/>
            <a:ext cx="78680" cy="9052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3024881"/>
      </p:ext>
    </p:extLst>
  </p:cSld>
  <p:clrMapOvr>
    <a:masterClrMapping/>
  </p:clrMapOvr>
  <p:transition advTm="8005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1" name="矩形: 圆角 4110">
            <a:extLst>
              <a:ext uri="{FF2B5EF4-FFF2-40B4-BE49-F238E27FC236}">
                <a16:creationId xmlns:a16="http://schemas.microsoft.com/office/drawing/2014/main" id="{9916821E-5116-4536-9C1F-DA8832B4C81B}"/>
              </a:ext>
            </a:extLst>
          </p:cNvPr>
          <p:cNvSpPr/>
          <p:nvPr/>
        </p:nvSpPr>
        <p:spPr>
          <a:xfrm>
            <a:off x="9137320" y="4861159"/>
            <a:ext cx="1448610" cy="38310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支持向量</a:t>
            </a:r>
          </a:p>
        </p:txBody>
      </p:sp>
      <p:sp>
        <p:nvSpPr>
          <p:cNvPr id="4100" name="矩形 4099">
            <a:extLst>
              <a:ext uri="{FF2B5EF4-FFF2-40B4-BE49-F238E27FC236}">
                <a16:creationId xmlns:a16="http://schemas.microsoft.com/office/drawing/2014/main" id="{C0B41A2E-4DD8-471D-AC71-C3BFBDBD22DC}"/>
              </a:ext>
            </a:extLst>
          </p:cNvPr>
          <p:cNvSpPr/>
          <p:nvPr/>
        </p:nvSpPr>
        <p:spPr>
          <a:xfrm rot="19351612">
            <a:off x="6853577" y="2943449"/>
            <a:ext cx="3898809" cy="635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1.</a:t>
            </a:r>
            <a:r>
              <a:rPr lang="zh-CN" altLang="en-US" dirty="0">
                <a:solidFill>
                  <a:schemeClr val="tx1"/>
                </a:solidFill>
              </a:rPr>
              <a:t>支持向量机概述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51BAD8-F509-4094-9DA5-A807CA95B36A}"/>
              </a:ext>
            </a:extLst>
          </p:cNvPr>
          <p:cNvSpPr txBox="1"/>
          <p:nvPr/>
        </p:nvSpPr>
        <p:spPr>
          <a:xfrm>
            <a:off x="668338" y="1334020"/>
            <a:ext cx="1455882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kern="100" dirty="0">
                <a:latin typeface="微软雅黑" panose="020B0503020204020204" pitchFamily="34" charset="-122"/>
              </a:rPr>
              <a:t>算法思想</a:t>
            </a:r>
            <a:endParaRPr lang="en-US" altLang="zh-CN" b="1" kern="100" dirty="0">
              <a:latin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22E5447-54A5-4D41-B44B-609827BF8A19}"/>
              </a:ext>
            </a:extLst>
          </p:cNvPr>
          <p:cNvSpPr txBox="1"/>
          <p:nvPr/>
        </p:nvSpPr>
        <p:spPr>
          <a:xfrm>
            <a:off x="682403" y="1973428"/>
            <a:ext cx="4828389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400" kern="100" dirty="0">
                <a:effectLst/>
                <a:latin typeface="微软雅黑" panose="020B0503020204020204" pitchFamily="34" charset="-122"/>
              </a:rPr>
              <a:t>找到集合边缘上的若干数据（称为支持向量（</a:t>
            </a:r>
            <a:r>
              <a:rPr lang="en-US" altLang="zh-CN" sz="2400" kern="100" dirty="0">
                <a:effectLst/>
                <a:latin typeface="微软雅黑" panose="020B0503020204020204" pitchFamily="34" charset="-122"/>
              </a:rPr>
              <a:t>Support Vector</a:t>
            </a:r>
            <a:r>
              <a:rPr lang="zh-CN" altLang="zh-CN" sz="2400" kern="100" dirty="0">
                <a:effectLst/>
                <a:latin typeface="微软雅黑" panose="020B0503020204020204" pitchFamily="34" charset="-122"/>
              </a:rPr>
              <a:t>）），用这些点找出一个平面（称为决策面），使得支持向量到该平面的距离最大。</a:t>
            </a:r>
          </a:p>
        </p:txBody>
      </p:sp>
      <p:cxnSp>
        <p:nvCxnSpPr>
          <p:cNvPr id="8" name="Google Shape;3707;p62">
            <a:extLst>
              <a:ext uri="{FF2B5EF4-FFF2-40B4-BE49-F238E27FC236}">
                <a16:creationId xmlns:a16="http://schemas.microsoft.com/office/drawing/2014/main" id="{14488662-2F4D-4E01-9B11-9C1CBDD3E054}"/>
              </a:ext>
            </a:extLst>
          </p:cNvPr>
          <p:cNvCxnSpPr/>
          <p:nvPr/>
        </p:nvCxnSpPr>
        <p:spPr>
          <a:xfrm rot="10800000">
            <a:off x="6409702" y="5368610"/>
            <a:ext cx="5099894" cy="1465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" name="Google Shape;3708;p62">
            <a:extLst>
              <a:ext uri="{FF2B5EF4-FFF2-40B4-BE49-F238E27FC236}">
                <a16:creationId xmlns:a16="http://schemas.microsoft.com/office/drawing/2014/main" id="{DF3C78EE-ECDD-4EEE-8843-0E669FA768D3}"/>
              </a:ext>
            </a:extLst>
          </p:cNvPr>
          <p:cNvSpPr/>
          <p:nvPr/>
        </p:nvSpPr>
        <p:spPr>
          <a:xfrm rot="8931971">
            <a:off x="8450498" y="4184749"/>
            <a:ext cx="112662" cy="12354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709;p62">
            <a:extLst>
              <a:ext uri="{FF2B5EF4-FFF2-40B4-BE49-F238E27FC236}">
                <a16:creationId xmlns:a16="http://schemas.microsoft.com/office/drawing/2014/main" id="{6E2E49D6-0390-4C18-BA29-9301955CDB6C}"/>
              </a:ext>
            </a:extLst>
          </p:cNvPr>
          <p:cNvSpPr/>
          <p:nvPr/>
        </p:nvSpPr>
        <p:spPr>
          <a:xfrm rot="8931971">
            <a:off x="8129263" y="4524561"/>
            <a:ext cx="112662" cy="12354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710;p62">
            <a:extLst>
              <a:ext uri="{FF2B5EF4-FFF2-40B4-BE49-F238E27FC236}">
                <a16:creationId xmlns:a16="http://schemas.microsoft.com/office/drawing/2014/main" id="{CC46042D-88DB-4976-BDE9-8F6A84E65A7C}"/>
              </a:ext>
            </a:extLst>
          </p:cNvPr>
          <p:cNvSpPr/>
          <p:nvPr/>
        </p:nvSpPr>
        <p:spPr>
          <a:xfrm rot="8931971">
            <a:off x="8385046" y="4601178"/>
            <a:ext cx="112662" cy="12354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711;p62">
            <a:extLst>
              <a:ext uri="{FF2B5EF4-FFF2-40B4-BE49-F238E27FC236}">
                <a16:creationId xmlns:a16="http://schemas.microsoft.com/office/drawing/2014/main" id="{437AFC6A-0B8C-4727-93AF-3BCEAB12C7F3}"/>
              </a:ext>
            </a:extLst>
          </p:cNvPr>
          <p:cNvSpPr/>
          <p:nvPr/>
        </p:nvSpPr>
        <p:spPr>
          <a:xfrm rot="8931971">
            <a:off x="9044696" y="3467117"/>
            <a:ext cx="112662" cy="12354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712;p62">
            <a:extLst>
              <a:ext uri="{FF2B5EF4-FFF2-40B4-BE49-F238E27FC236}">
                <a16:creationId xmlns:a16="http://schemas.microsoft.com/office/drawing/2014/main" id="{3BB31132-14F9-42E7-96E4-407CD052FEA0}"/>
              </a:ext>
            </a:extLst>
          </p:cNvPr>
          <p:cNvSpPr/>
          <p:nvPr/>
        </p:nvSpPr>
        <p:spPr>
          <a:xfrm rot="8931971">
            <a:off x="8233564" y="4262145"/>
            <a:ext cx="112662" cy="12354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3713;p62">
            <a:extLst>
              <a:ext uri="{FF2B5EF4-FFF2-40B4-BE49-F238E27FC236}">
                <a16:creationId xmlns:a16="http://schemas.microsoft.com/office/drawing/2014/main" id="{1CD658A2-52A1-4F7E-82D9-C9AAF8FD281D}"/>
              </a:ext>
            </a:extLst>
          </p:cNvPr>
          <p:cNvSpPr/>
          <p:nvPr/>
        </p:nvSpPr>
        <p:spPr>
          <a:xfrm rot="8931971">
            <a:off x="9370426" y="3385116"/>
            <a:ext cx="112662" cy="12354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714;p62">
            <a:extLst>
              <a:ext uri="{FF2B5EF4-FFF2-40B4-BE49-F238E27FC236}">
                <a16:creationId xmlns:a16="http://schemas.microsoft.com/office/drawing/2014/main" id="{2EE4E68F-1695-4474-BF20-DBCB090BF4D5}"/>
              </a:ext>
            </a:extLst>
          </p:cNvPr>
          <p:cNvSpPr/>
          <p:nvPr/>
        </p:nvSpPr>
        <p:spPr>
          <a:xfrm rot="8931971">
            <a:off x="9626810" y="4236276"/>
            <a:ext cx="112662" cy="12354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715;p62">
            <a:extLst>
              <a:ext uri="{FF2B5EF4-FFF2-40B4-BE49-F238E27FC236}">
                <a16:creationId xmlns:a16="http://schemas.microsoft.com/office/drawing/2014/main" id="{422A43D4-03CF-498E-AB64-71D4DEF51D39}"/>
              </a:ext>
            </a:extLst>
          </p:cNvPr>
          <p:cNvSpPr/>
          <p:nvPr/>
        </p:nvSpPr>
        <p:spPr>
          <a:xfrm rot="8931971">
            <a:off x="9752268" y="3491939"/>
            <a:ext cx="112662" cy="12354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" name="Google Shape;3718;p62">
            <a:extLst>
              <a:ext uri="{FF2B5EF4-FFF2-40B4-BE49-F238E27FC236}">
                <a16:creationId xmlns:a16="http://schemas.microsoft.com/office/drawing/2014/main" id="{E50CC299-4704-4533-AA55-130D59C57E32}"/>
              </a:ext>
            </a:extLst>
          </p:cNvPr>
          <p:cNvCxnSpPr>
            <a:cxnSpLocks/>
          </p:cNvCxnSpPr>
          <p:nvPr/>
        </p:nvCxnSpPr>
        <p:spPr>
          <a:xfrm flipV="1">
            <a:off x="7167846" y="1920886"/>
            <a:ext cx="3400988" cy="259112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" name="Google Shape;3719;p62">
            <a:extLst>
              <a:ext uri="{FF2B5EF4-FFF2-40B4-BE49-F238E27FC236}">
                <a16:creationId xmlns:a16="http://schemas.microsoft.com/office/drawing/2014/main" id="{7EA906D5-1E91-4C64-BE8D-9A2A370234D0}"/>
              </a:ext>
            </a:extLst>
          </p:cNvPr>
          <p:cNvCxnSpPr/>
          <p:nvPr/>
        </p:nvCxnSpPr>
        <p:spPr>
          <a:xfrm rot="10800000" flipH="1">
            <a:off x="6566109" y="1678745"/>
            <a:ext cx="13943" cy="388417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Google Shape;3720;p62">
            <a:extLst>
              <a:ext uri="{FF2B5EF4-FFF2-40B4-BE49-F238E27FC236}">
                <a16:creationId xmlns:a16="http://schemas.microsoft.com/office/drawing/2014/main" id="{56F31CEF-EDA3-4361-9B36-7A96DEE95718}"/>
              </a:ext>
            </a:extLst>
          </p:cNvPr>
          <p:cNvSpPr/>
          <p:nvPr/>
        </p:nvSpPr>
        <p:spPr>
          <a:xfrm rot="8931971">
            <a:off x="9226987" y="3943302"/>
            <a:ext cx="112662" cy="12354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3721;p62">
            <a:extLst>
              <a:ext uri="{FF2B5EF4-FFF2-40B4-BE49-F238E27FC236}">
                <a16:creationId xmlns:a16="http://schemas.microsoft.com/office/drawing/2014/main" id="{45D46EA5-8DD3-4789-8958-ED7D1FCC18D2}"/>
              </a:ext>
            </a:extLst>
          </p:cNvPr>
          <p:cNvSpPr/>
          <p:nvPr/>
        </p:nvSpPr>
        <p:spPr>
          <a:xfrm rot="8931971">
            <a:off x="8724637" y="4236277"/>
            <a:ext cx="112662" cy="12354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3722;p62">
            <a:extLst>
              <a:ext uri="{FF2B5EF4-FFF2-40B4-BE49-F238E27FC236}">
                <a16:creationId xmlns:a16="http://schemas.microsoft.com/office/drawing/2014/main" id="{74BD9329-A92E-42C4-816D-635AB9AA7669}"/>
              </a:ext>
            </a:extLst>
          </p:cNvPr>
          <p:cNvSpPr/>
          <p:nvPr/>
        </p:nvSpPr>
        <p:spPr>
          <a:xfrm rot="8931971">
            <a:off x="9926214" y="3154675"/>
            <a:ext cx="112662" cy="12354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728;p62">
            <a:extLst>
              <a:ext uri="{FF2B5EF4-FFF2-40B4-BE49-F238E27FC236}">
                <a16:creationId xmlns:a16="http://schemas.microsoft.com/office/drawing/2014/main" id="{20279080-B251-42C5-9007-38F90585744F}"/>
              </a:ext>
            </a:extLst>
          </p:cNvPr>
          <p:cNvSpPr/>
          <p:nvPr/>
        </p:nvSpPr>
        <p:spPr>
          <a:xfrm rot="8931971">
            <a:off x="8954329" y="3798564"/>
            <a:ext cx="112662" cy="12354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" name="Google Shape;3734;p62">
            <a:extLst>
              <a:ext uri="{FF2B5EF4-FFF2-40B4-BE49-F238E27FC236}">
                <a16:creationId xmlns:a16="http://schemas.microsoft.com/office/drawing/2014/main" id="{F1C05825-9DC6-413D-A55B-DD3227BD3BB5}"/>
              </a:ext>
            </a:extLst>
          </p:cNvPr>
          <p:cNvSpPr/>
          <p:nvPr/>
        </p:nvSpPr>
        <p:spPr>
          <a:xfrm rot="8931971">
            <a:off x="9537607" y="4006424"/>
            <a:ext cx="112662" cy="12354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35;p62">
            <a:extLst>
              <a:ext uri="{FF2B5EF4-FFF2-40B4-BE49-F238E27FC236}">
                <a16:creationId xmlns:a16="http://schemas.microsoft.com/office/drawing/2014/main" id="{C3FDA6D4-E264-42C2-8C55-BD4F61CF8090}"/>
              </a:ext>
            </a:extLst>
          </p:cNvPr>
          <p:cNvSpPr/>
          <p:nvPr/>
        </p:nvSpPr>
        <p:spPr>
          <a:xfrm rot="8931971">
            <a:off x="9399036" y="3702658"/>
            <a:ext cx="112662" cy="12354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3746;p62">
            <a:extLst>
              <a:ext uri="{FF2B5EF4-FFF2-40B4-BE49-F238E27FC236}">
                <a16:creationId xmlns:a16="http://schemas.microsoft.com/office/drawing/2014/main" id="{69FE8933-2515-4720-A6DD-3754362B924C}"/>
              </a:ext>
            </a:extLst>
          </p:cNvPr>
          <p:cNvSpPr/>
          <p:nvPr/>
        </p:nvSpPr>
        <p:spPr>
          <a:xfrm rot="8931971">
            <a:off x="8753635" y="4590198"/>
            <a:ext cx="112662" cy="12354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747;p62">
            <a:extLst>
              <a:ext uri="{FF2B5EF4-FFF2-40B4-BE49-F238E27FC236}">
                <a16:creationId xmlns:a16="http://schemas.microsoft.com/office/drawing/2014/main" id="{4507CD2C-64BE-4374-BA62-6FFDC4FDA1F5}"/>
              </a:ext>
            </a:extLst>
          </p:cNvPr>
          <p:cNvSpPr/>
          <p:nvPr/>
        </p:nvSpPr>
        <p:spPr>
          <a:xfrm rot="8931971">
            <a:off x="9149628" y="4608385"/>
            <a:ext cx="112662" cy="12354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749;p62">
            <a:extLst>
              <a:ext uri="{FF2B5EF4-FFF2-40B4-BE49-F238E27FC236}">
                <a16:creationId xmlns:a16="http://schemas.microsoft.com/office/drawing/2014/main" id="{771C133F-A599-4076-A2B2-715EF316490F}"/>
              </a:ext>
            </a:extLst>
          </p:cNvPr>
          <p:cNvSpPr/>
          <p:nvPr/>
        </p:nvSpPr>
        <p:spPr>
          <a:xfrm rot="8931971">
            <a:off x="9180857" y="4254841"/>
            <a:ext cx="112662" cy="12354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3761;p62">
            <a:extLst>
              <a:ext uri="{FF2B5EF4-FFF2-40B4-BE49-F238E27FC236}">
                <a16:creationId xmlns:a16="http://schemas.microsoft.com/office/drawing/2014/main" id="{775E7F8A-FA3E-449A-A37C-DFFC09581C7E}"/>
              </a:ext>
            </a:extLst>
          </p:cNvPr>
          <p:cNvSpPr/>
          <p:nvPr/>
        </p:nvSpPr>
        <p:spPr>
          <a:xfrm rot="8931971">
            <a:off x="7902335" y="4342390"/>
            <a:ext cx="112662" cy="12354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3762;p62">
            <a:extLst>
              <a:ext uri="{FF2B5EF4-FFF2-40B4-BE49-F238E27FC236}">
                <a16:creationId xmlns:a16="http://schemas.microsoft.com/office/drawing/2014/main" id="{2BC096DC-BBD7-4E5F-B5AE-025824FCDDF4}"/>
              </a:ext>
            </a:extLst>
          </p:cNvPr>
          <p:cNvSpPr/>
          <p:nvPr/>
        </p:nvSpPr>
        <p:spPr>
          <a:xfrm rot="8931971">
            <a:off x="9597227" y="3044859"/>
            <a:ext cx="112662" cy="12354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3764;p62">
            <a:extLst>
              <a:ext uri="{FF2B5EF4-FFF2-40B4-BE49-F238E27FC236}">
                <a16:creationId xmlns:a16="http://schemas.microsoft.com/office/drawing/2014/main" id="{ED824A43-A57B-499C-A051-CA7B2A3E0C9E}"/>
              </a:ext>
            </a:extLst>
          </p:cNvPr>
          <p:cNvSpPr/>
          <p:nvPr/>
        </p:nvSpPr>
        <p:spPr>
          <a:xfrm rot="8931971">
            <a:off x="10209541" y="3402747"/>
            <a:ext cx="112662" cy="12354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3765;p62">
            <a:extLst>
              <a:ext uri="{FF2B5EF4-FFF2-40B4-BE49-F238E27FC236}">
                <a16:creationId xmlns:a16="http://schemas.microsoft.com/office/drawing/2014/main" id="{D3CD65D6-B709-45F6-A6E3-347A73668E13}"/>
              </a:ext>
            </a:extLst>
          </p:cNvPr>
          <p:cNvSpPr/>
          <p:nvPr/>
        </p:nvSpPr>
        <p:spPr>
          <a:xfrm rot="8931971">
            <a:off x="8543885" y="3855412"/>
            <a:ext cx="112662" cy="123547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BCEC1699-D37B-48B9-92FA-CF0AC1DAB83A}"/>
              </a:ext>
            </a:extLst>
          </p:cNvPr>
          <p:cNvSpPr/>
          <p:nvPr/>
        </p:nvSpPr>
        <p:spPr>
          <a:xfrm>
            <a:off x="8265751" y="2752182"/>
            <a:ext cx="128656" cy="12005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等腰三角形 69">
            <a:extLst>
              <a:ext uri="{FF2B5EF4-FFF2-40B4-BE49-F238E27FC236}">
                <a16:creationId xmlns:a16="http://schemas.microsoft.com/office/drawing/2014/main" id="{9A866BA8-D75F-44D4-9FC0-5A0334FF09A6}"/>
              </a:ext>
            </a:extLst>
          </p:cNvPr>
          <p:cNvSpPr/>
          <p:nvPr/>
        </p:nvSpPr>
        <p:spPr>
          <a:xfrm>
            <a:off x="8535888" y="2854256"/>
            <a:ext cx="128656" cy="12005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等腰三角形 70">
            <a:extLst>
              <a:ext uri="{FF2B5EF4-FFF2-40B4-BE49-F238E27FC236}">
                <a16:creationId xmlns:a16="http://schemas.microsoft.com/office/drawing/2014/main" id="{5B791913-F5F5-4BAA-97EE-B9CDAA300715}"/>
              </a:ext>
            </a:extLst>
          </p:cNvPr>
          <p:cNvSpPr/>
          <p:nvPr/>
        </p:nvSpPr>
        <p:spPr>
          <a:xfrm>
            <a:off x="8580499" y="2411046"/>
            <a:ext cx="128656" cy="12005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等腰三角形 71">
            <a:extLst>
              <a:ext uri="{FF2B5EF4-FFF2-40B4-BE49-F238E27FC236}">
                <a16:creationId xmlns:a16="http://schemas.microsoft.com/office/drawing/2014/main" id="{4DA7EE79-2C31-42B9-B334-BE9F4B0C7F4A}"/>
              </a:ext>
            </a:extLst>
          </p:cNvPr>
          <p:cNvSpPr/>
          <p:nvPr/>
        </p:nvSpPr>
        <p:spPr>
          <a:xfrm>
            <a:off x="8191416" y="1726977"/>
            <a:ext cx="128656" cy="12005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>
            <a:extLst>
              <a:ext uri="{FF2B5EF4-FFF2-40B4-BE49-F238E27FC236}">
                <a16:creationId xmlns:a16="http://schemas.microsoft.com/office/drawing/2014/main" id="{5F086A49-7115-4910-BAED-FAB629720968}"/>
              </a:ext>
            </a:extLst>
          </p:cNvPr>
          <p:cNvSpPr/>
          <p:nvPr/>
        </p:nvSpPr>
        <p:spPr>
          <a:xfrm>
            <a:off x="8161951" y="2096076"/>
            <a:ext cx="128656" cy="12005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>
            <a:extLst>
              <a:ext uri="{FF2B5EF4-FFF2-40B4-BE49-F238E27FC236}">
                <a16:creationId xmlns:a16="http://schemas.microsoft.com/office/drawing/2014/main" id="{72B97D96-69A4-472D-B5AD-DD271236ADD8}"/>
              </a:ext>
            </a:extLst>
          </p:cNvPr>
          <p:cNvSpPr/>
          <p:nvPr/>
        </p:nvSpPr>
        <p:spPr>
          <a:xfrm>
            <a:off x="8314351" y="2248476"/>
            <a:ext cx="128656" cy="12005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>
            <a:extLst>
              <a:ext uri="{FF2B5EF4-FFF2-40B4-BE49-F238E27FC236}">
                <a16:creationId xmlns:a16="http://schemas.microsoft.com/office/drawing/2014/main" id="{54ACCDFF-75F7-45DF-8F1A-2EDCEDB7310E}"/>
              </a:ext>
            </a:extLst>
          </p:cNvPr>
          <p:cNvSpPr/>
          <p:nvPr/>
        </p:nvSpPr>
        <p:spPr>
          <a:xfrm>
            <a:off x="8701888" y="1841315"/>
            <a:ext cx="128656" cy="12005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>
            <a:extLst>
              <a:ext uri="{FF2B5EF4-FFF2-40B4-BE49-F238E27FC236}">
                <a16:creationId xmlns:a16="http://schemas.microsoft.com/office/drawing/2014/main" id="{665A6DA2-7FF0-4940-BC49-3E8908ECF334}"/>
              </a:ext>
            </a:extLst>
          </p:cNvPr>
          <p:cNvSpPr/>
          <p:nvPr/>
        </p:nvSpPr>
        <p:spPr>
          <a:xfrm>
            <a:off x="9090817" y="1754048"/>
            <a:ext cx="128656" cy="12005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>
            <a:extLst>
              <a:ext uri="{FF2B5EF4-FFF2-40B4-BE49-F238E27FC236}">
                <a16:creationId xmlns:a16="http://schemas.microsoft.com/office/drawing/2014/main" id="{E7FF3BF8-9470-4219-AD46-354807C1DDD5}"/>
              </a:ext>
            </a:extLst>
          </p:cNvPr>
          <p:cNvSpPr/>
          <p:nvPr/>
        </p:nvSpPr>
        <p:spPr>
          <a:xfrm>
            <a:off x="8830544" y="2143222"/>
            <a:ext cx="128656" cy="12005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>
            <a:extLst>
              <a:ext uri="{FF2B5EF4-FFF2-40B4-BE49-F238E27FC236}">
                <a16:creationId xmlns:a16="http://schemas.microsoft.com/office/drawing/2014/main" id="{71A34BDB-8106-438C-A739-920DAF005C52}"/>
              </a:ext>
            </a:extLst>
          </p:cNvPr>
          <p:cNvSpPr/>
          <p:nvPr/>
        </p:nvSpPr>
        <p:spPr>
          <a:xfrm>
            <a:off x="7474897" y="2296672"/>
            <a:ext cx="128656" cy="12005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等腰三角形 78">
            <a:extLst>
              <a:ext uri="{FF2B5EF4-FFF2-40B4-BE49-F238E27FC236}">
                <a16:creationId xmlns:a16="http://schemas.microsoft.com/office/drawing/2014/main" id="{FDC9155B-6D40-453C-B69A-66DC8A6AB31C}"/>
              </a:ext>
            </a:extLst>
          </p:cNvPr>
          <p:cNvSpPr/>
          <p:nvPr/>
        </p:nvSpPr>
        <p:spPr>
          <a:xfrm>
            <a:off x="8979993" y="2504136"/>
            <a:ext cx="128656" cy="12005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等腰三角形 79">
            <a:extLst>
              <a:ext uri="{FF2B5EF4-FFF2-40B4-BE49-F238E27FC236}">
                <a16:creationId xmlns:a16="http://schemas.microsoft.com/office/drawing/2014/main" id="{30A87E80-676C-449C-AD25-FC3A797B5180}"/>
              </a:ext>
            </a:extLst>
          </p:cNvPr>
          <p:cNvSpPr/>
          <p:nvPr/>
        </p:nvSpPr>
        <p:spPr>
          <a:xfrm>
            <a:off x="7490973" y="2592620"/>
            <a:ext cx="128656" cy="12005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等腰三角形 80">
            <a:extLst>
              <a:ext uri="{FF2B5EF4-FFF2-40B4-BE49-F238E27FC236}">
                <a16:creationId xmlns:a16="http://schemas.microsoft.com/office/drawing/2014/main" id="{6E30FE5E-A8CD-4B15-9EDA-25AA73DE00DC}"/>
              </a:ext>
            </a:extLst>
          </p:cNvPr>
          <p:cNvSpPr/>
          <p:nvPr/>
        </p:nvSpPr>
        <p:spPr>
          <a:xfrm>
            <a:off x="7878510" y="2185459"/>
            <a:ext cx="128656" cy="12005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等腰三角形 81">
            <a:extLst>
              <a:ext uri="{FF2B5EF4-FFF2-40B4-BE49-F238E27FC236}">
                <a16:creationId xmlns:a16="http://schemas.microsoft.com/office/drawing/2014/main" id="{3811CC80-7C66-41A5-AB5A-47975EEEFF1C}"/>
              </a:ext>
            </a:extLst>
          </p:cNvPr>
          <p:cNvSpPr/>
          <p:nvPr/>
        </p:nvSpPr>
        <p:spPr>
          <a:xfrm>
            <a:off x="7097732" y="2773544"/>
            <a:ext cx="128656" cy="12005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等腰三角形 82">
            <a:extLst>
              <a:ext uri="{FF2B5EF4-FFF2-40B4-BE49-F238E27FC236}">
                <a16:creationId xmlns:a16="http://schemas.microsoft.com/office/drawing/2014/main" id="{953AB385-760C-405A-ADB9-B24475EB085D}"/>
              </a:ext>
            </a:extLst>
          </p:cNvPr>
          <p:cNvSpPr/>
          <p:nvPr/>
        </p:nvSpPr>
        <p:spPr>
          <a:xfrm>
            <a:off x="8183310" y="2490259"/>
            <a:ext cx="128656" cy="12005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等腰三角形 83">
            <a:extLst>
              <a:ext uri="{FF2B5EF4-FFF2-40B4-BE49-F238E27FC236}">
                <a16:creationId xmlns:a16="http://schemas.microsoft.com/office/drawing/2014/main" id="{D99F91CE-AA71-41F2-95A3-195525FCE6F7}"/>
              </a:ext>
            </a:extLst>
          </p:cNvPr>
          <p:cNvSpPr/>
          <p:nvPr/>
        </p:nvSpPr>
        <p:spPr>
          <a:xfrm>
            <a:off x="7298753" y="3089543"/>
            <a:ext cx="128656" cy="12005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等腰三角形 84">
            <a:extLst>
              <a:ext uri="{FF2B5EF4-FFF2-40B4-BE49-F238E27FC236}">
                <a16:creationId xmlns:a16="http://schemas.microsoft.com/office/drawing/2014/main" id="{4C6A064C-5E0B-4779-AFF2-71DDDF49C5E5}"/>
              </a:ext>
            </a:extLst>
          </p:cNvPr>
          <p:cNvSpPr/>
          <p:nvPr/>
        </p:nvSpPr>
        <p:spPr>
          <a:xfrm>
            <a:off x="7667881" y="3035848"/>
            <a:ext cx="128656" cy="12005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等腰三角形 85">
            <a:extLst>
              <a:ext uri="{FF2B5EF4-FFF2-40B4-BE49-F238E27FC236}">
                <a16:creationId xmlns:a16="http://schemas.microsoft.com/office/drawing/2014/main" id="{80753768-1C3D-4696-AC2B-24B7C5B625AA}"/>
              </a:ext>
            </a:extLst>
          </p:cNvPr>
          <p:cNvSpPr/>
          <p:nvPr/>
        </p:nvSpPr>
        <p:spPr>
          <a:xfrm>
            <a:off x="7685526" y="3493687"/>
            <a:ext cx="128656" cy="12005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等腰三角形 86">
            <a:extLst>
              <a:ext uri="{FF2B5EF4-FFF2-40B4-BE49-F238E27FC236}">
                <a16:creationId xmlns:a16="http://schemas.microsoft.com/office/drawing/2014/main" id="{153DD54F-9EA5-40D9-9945-8B1439FC95B2}"/>
              </a:ext>
            </a:extLst>
          </p:cNvPr>
          <p:cNvSpPr/>
          <p:nvPr/>
        </p:nvSpPr>
        <p:spPr>
          <a:xfrm>
            <a:off x="7192077" y="3440569"/>
            <a:ext cx="128656" cy="12005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等腰三角形 87">
            <a:extLst>
              <a:ext uri="{FF2B5EF4-FFF2-40B4-BE49-F238E27FC236}">
                <a16:creationId xmlns:a16="http://schemas.microsoft.com/office/drawing/2014/main" id="{DF2F7782-903D-4593-93AE-05F72737135F}"/>
              </a:ext>
            </a:extLst>
          </p:cNvPr>
          <p:cNvSpPr/>
          <p:nvPr/>
        </p:nvSpPr>
        <p:spPr>
          <a:xfrm>
            <a:off x="8143490" y="3139582"/>
            <a:ext cx="128656" cy="12005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等腰三角形 88">
            <a:extLst>
              <a:ext uri="{FF2B5EF4-FFF2-40B4-BE49-F238E27FC236}">
                <a16:creationId xmlns:a16="http://schemas.microsoft.com/office/drawing/2014/main" id="{C2F45278-4D7C-4DD2-9D21-7AC01C2A020D}"/>
              </a:ext>
            </a:extLst>
          </p:cNvPr>
          <p:cNvSpPr/>
          <p:nvPr/>
        </p:nvSpPr>
        <p:spPr>
          <a:xfrm>
            <a:off x="7814182" y="2653494"/>
            <a:ext cx="128656" cy="12005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3" name="Google Shape;3718;p62">
            <a:extLst>
              <a:ext uri="{FF2B5EF4-FFF2-40B4-BE49-F238E27FC236}">
                <a16:creationId xmlns:a16="http://schemas.microsoft.com/office/drawing/2014/main" id="{FD299ACF-B16C-42B0-9A59-3C6EFBA4C613}"/>
              </a:ext>
            </a:extLst>
          </p:cNvPr>
          <p:cNvCxnSpPr>
            <a:cxnSpLocks/>
          </p:cNvCxnSpPr>
          <p:nvPr/>
        </p:nvCxnSpPr>
        <p:spPr>
          <a:xfrm flipV="1">
            <a:off x="6989451" y="1678744"/>
            <a:ext cx="3400988" cy="2591124"/>
          </a:xfrm>
          <a:prstGeom prst="straightConnector1">
            <a:avLst/>
          </a:prstGeom>
          <a:ln>
            <a:solidFill>
              <a:srgbClr val="004586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4" name="Google Shape;3718;p62">
            <a:extLst>
              <a:ext uri="{FF2B5EF4-FFF2-40B4-BE49-F238E27FC236}">
                <a16:creationId xmlns:a16="http://schemas.microsoft.com/office/drawing/2014/main" id="{509C94DE-D567-4EF7-9BE6-5F053F39B941}"/>
              </a:ext>
            </a:extLst>
          </p:cNvPr>
          <p:cNvCxnSpPr>
            <a:cxnSpLocks/>
          </p:cNvCxnSpPr>
          <p:nvPr/>
        </p:nvCxnSpPr>
        <p:spPr>
          <a:xfrm flipV="1">
            <a:off x="7344330" y="2176914"/>
            <a:ext cx="3400988" cy="2591124"/>
          </a:xfrm>
          <a:prstGeom prst="straightConnector1">
            <a:avLst/>
          </a:prstGeom>
          <a:ln>
            <a:solidFill>
              <a:srgbClr val="004586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103" name="连接符: 曲线 4102">
            <a:extLst>
              <a:ext uri="{FF2B5EF4-FFF2-40B4-BE49-F238E27FC236}">
                <a16:creationId xmlns:a16="http://schemas.microsoft.com/office/drawing/2014/main" id="{75A45AB9-32C8-4435-A59D-149B8A8E5B22}"/>
              </a:ext>
            </a:extLst>
          </p:cNvPr>
          <p:cNvCxnSpPr>
            <a:cxnSpLocks/>
            <a:endCxn id="64" idx="0"/>
          </p:cNvCxnSpPr>
          <p:nvPr/>
        </p:nvCxnSpPr>
        <p:spPr>
          <a:xfrm rot="16200000" flipV="1">
            <a:off x="9010335" y="3834670"/>
            <a:ext cx="1672268" cy="321943"/>
          </a:xfrm>
          <a:prstGeom prst="curvedConnector3">
            <a:avLst/>
          </a:prstGeom>
          <a:ln w="38100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连接符: 曲线 100">
            <a:extLst>
              <a:ext uri="{FF2B5EF4-FFF2-40B4-BE49-F238E27FC236}">
                <a16:creationId xmlns:a16="http://schemas.microsoft.com/office/drawing/2014/main" id="{31BFC52D-447E-4322-A897-245391389C10}"/>
              </a:ext>
            </a:extLst>
          </p:cNvPr>
          <p:cNvCxnSpPr>
            <a:cxnSpLocks/>
          </p:cNvCxnSpPr>
          <p:nvPr/>
        </p:nvCxnSpPr>
        <p:spPr>
          <a:xfrm rot="16200000" flipV="1">
            <a:off x="8052435" y="3482063"/>
            <a:ext cx="1561144" cy="1156665"/>
          </a:xfrm>
          <a:prstGeom prst="curvedConnector3">
            <a:avLst/>
          </a:prstGeom>
          <a:ln w="38100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连接符: 曲线 101">
            <a:extLst>
              <a:ext uri="{FF2B5EF4-FFF2-40B4-BE49-F238E27FC236}">
                <a16:creationId xmlns:a16="http://schemas.microsoft.com/office/drawing/2014/main" id="{E153141A-7D94-498E-B1A8-75E86ECC02C2}"/>
              </a:ext>
            </a:extLst>
          </p:cNvPr>
          <p:cNvCxnSpPr>
            <a:cxnSpLocks/>
            <a:endCxn id="13" idx="1"/>
          </p:cNvCxnSpPr>
          <p:nvPr/>
        </p:nvCxnSpPr>
        <p:spPr>
          <a:xfrm rot="16200000" flipV="1">
            <a:off x="8750744" y="3952647"/>
            <a:ext cx="1321190" cy="507266"/>
          </a:xfrm>
          <a:prstGeom prst="curvedConnector3">
            <a:avLst/>
          </a:prstGeom>
          <a:ln w="38100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15" name="直接箭头连接符 4114">
            <a:extLst>
              <a:ext uri="{FF2B5EF4-FFF2-40B4-BE49-F238E27FC236}">
                <a16:creationId xmlns:a16="http://schemas.microsoft.com/office/drawing/2014/main" id="{25D4846E-863F-44B8-B98B-68F1DAC53493}"/>
              </a:ext>
            </a:extLst>
          </p:cNvPr>
          <p:cNvCxnSpPr>
            <a:cxnSpLocks/>
          </p:cNvCxnSpPr>
          <p:nvPr/>
        </p:nvCxnSpPr>
        <p:spPr>
          <a:xfrm>
            <a:off x="10286202" y="1777133"/>
            <a:ext cx="351395" cy="476101"/>
          </a:xfrm>
          <a:prstGeom prst="straightConnector1">
            <a:avLst/>
          </a:prstGeom>
          <a:ln w="38100">
            <a:solidFill>
              <a:srgbClr val="FF99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3973CD96-7B77-4392-ABC4-19659F3A56B3}"/>
              </a:ext>
            </a:extLst>
          </p:cNvPr>
          <p:cNvSpPr/>
          <p:nvPr/>
        </p:nvSpPr>
        <p:spPr>
          <a:xfrm>
            <a:off x="10613440" y="2383715"/>
            <a:ext cx="864099" cy="294762"/>
          </a:xfrm>
          <a:prstGeom prst="roundRect">
            <a:avLst/>
          </a:prstGeom>
          <a:solidFill>
            <a:srgbClr val="FF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距离</a:t>
            </a:r>
          </a:p>
        </p:txBody>
      </p:sp>
    </p:spTree>
    <p:extLst>
      <p:ext uri="{BB962C8B-B14F-4D97-AF65-F5344CB8AC3E}">
        <p14:creationId xmlns:p14="http://schemas.microsoft.com/office/powerpoint/2010/main" val="1701313355"/>
      </p:ext>
    </p:extLst>
  </p:cSld>
  <p:clrMapOvr>
    <a:masterClrMapping/>
  </p:clrMapOvr>
  <p:transition advTm="8005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1.</a:t>
            </a:r>
            <a:r>
              <a:rPr lang="zh-CN" altLang="en-US" dirty="0">
                <a:solidFill>
                  <a:schemeClr val="tx1"/>
                </a:solidFill>
              </a:rPr>
              <a:t>支持向量机概述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51BAD8-F509-4094-9DA5-A807CA95B36A}"/>
              </a:ext>
            </a:extLst>
          </p:cNvPr>
          <p:cNvSpPr txBox="1"/>
          <p:nvPr/>
        </p:nvSpPr>
        <p:spPr>
          <a:xfrm>
            <a:off x="668338" y="1334020"/>
            <a:ext cx="1455882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kern="100" dirty="0">
                <a:latin typeface="微软雅黑" panose="020B0503020204020204" pitchFamily="34" charset="-122"/>
              </a:rPr>
              <a:t>背景知识</a:t>
            </a:r>
            <a:endParaRPr lang="en-US" altLang="zh-CN" b="1" kern="100" dirty="0">
              <a:latin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817CEF95-DD17-4A5C-843A-744F718D631A}"/>
                  </a:ext>
                </a:extLst>
              </p:cNvPr>
              <p:cNvSpPr txBox="1"/>
              <p:nvPr/>
            </p:nvSpPr>
            <p:spPr>
              <a:xfrm>
                <a:off x="663187" y="2049079"/>
                <a:ext cx="5620382" cy="9530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2000" dirty="0" err="1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任意超平面可以用下面这个线性方程来描述</a:t>
                </a:r>
                <a:r>
                  <a:rPr lang="en-US" altLang="zh-CN" sz="24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：</a:t>
                </a:r>
                <a:endParaRPr lang="zh-CN" altLang="zh-CN" sz="2400" dirty="0">
                  <a:effectLst/>
                  <a:latin typeface="+mj-ea"/>
                  <a:ea typeface="+mj-ea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400" i="0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sz="2400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US" altLang="zh-CN" sz="24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</a:br>
                <a:endParaRPr lang="zh-CN" altLang="en-US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817CEF95-DD17-4A5C-843A-744F718D6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187" y="2049079"/>
                <a:ext cx="5620382" cy="953018"/>
              </a:xfrm>
              <a:prstGeom prst="rect">
                <a:avLst/>
              </a:prstGeom>
              <a:blipFill>
                <a:blip r:embed="rId3"/>
                <a:stretch>
                  <a:fillRect l="-1193" t="-5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1BADE68D-E9F5-4157-BCB9-A6A352CC799A}"/>
                  </a:ext>
                </a:extLst>
              </p:cNvPr>
              <p:cNvSpPr txBox="1"/>
              <p:nvPr/>
            </p:nvSpPr>
            <p:spPr>
              <a:xfrm>
                <a:off x="629445" y="3259632"/>
                <a:ext cx="6859440" cy="11576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20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二维空间点</a:t>
                </a:r>
                <a:r>
                  <a:rPr lang="en-US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0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到直线</a:t>
                </a:r>
                <a:r>
                  <a:rPr lang="en-US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𝐴𝑥</m:t>
                    </m:r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𝐵𝑦</m:t>
                    </m:r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CN" sz="20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的距离公式是</a:t>
                </a:r>
                <a:r>
                  <a:rPr lang="en-US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endParaRPr lang="zh-CN" altLang="zh-CN" sz="2000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𝐴𝑥</m:t>
                          </m:r>
                          <m:r>
                            <a:rPr lang="en-US" altLang="zh-CN" sz="20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𝐵𝑦</m:t>
                          </m:r>
                          <m:r>
                            <a:rPr lang="en-US" altLang="zh-CN" sz="20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en-US" altLang="zh-CN" sz="20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|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zh-CN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zh-CN" altLang="zh-CN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0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zh-CN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br>
                  <a:rPr lang="en-US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</a:br>
                <a:endParaRPr lang="zh-CN" altLang="en-US" sz="2000" dirty="0">
                  <a:latin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1BADE68D-E9F5-4157-BCB9-A6A352CC7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45" y="3259632"/>
                <a:ext cx="6859440" cy="1157625"/>
              </a:xfrm>
              <a:prstGeom prst="rect">
                <a:avLst/>
              </a:prstGeom>
              <a:blipFill>
                <a:blip r:embed="rId4"/>
                <a:stretch>
                  <a:fillRect l="-889" t="-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EED70C19-A90A-45E2-A13C-693F0C8731BD}"/>
                  </a:ext>
                </a:extLst>
              </p:cNvPr>
              <p:cNvSpPr txBox="1"/>
              <p:nvPr/>
            </p:nvSpPr>
            <p:spPr>
              <a:xfrm>
                <a:off x="578138" y="4417257"/>
                <a:ext cx="6957456" cy="2405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扩展到</a:t>
                </a:r>
                <a14:m>
                  <m:oMath xmlns:m="http://schemas.openxmlformats.org/officeDocument/2006/math">
                    <m:r>
                      <a:rPr lang="zh-CN" altLang="zh-CN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维空间后，点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=(</m:t>
                    </m:r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…</m:t>
                    </m:r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到</a:t>
                </a:r>
                <a:r>
                  <a:rPr lang="zh-CN" altLang="en-US" sz="2000" dirty="0"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超平面</a:t>
                </a:r>
                <a:endParaRPr lang="en-US" altLang="zh-CN" sz="2000" dirty="0"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的距离为：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zh-CN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|</m:t>
                        </m:r>
                      </m:num>
                      <m:den>
                        <m:r>
                          <a:rPr lang="en-US" altLang="zh-CN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||</m:t>
                        </m:r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𝑤</m:t>
                        </m:r>
                        <m:r>
                          <a:rPr lang="en-US" altLang="zh-CN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||</m:t>
                        </m:r>
                      </m:den>
                    </m:f>
                  </m:oMath>
                </a14:m>
                <a:endParaRPr lang="en-US" altLang="zh-CN" sz="2000" dirty="0"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2000" dirty="0"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其中 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||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||=</m:t>
                    </m:r>
                    <m:rad>
                      <m:radPr>
                        <m:degHide m:val="on"/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0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+…</m:t>
                        </m:r>
                        <m:sSubSup>
                          <m:sSub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endParaRPr lang="zh-CN" altLang="zh-CN" sz="2000" dirty="0"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endParaRPr lang="zh-CN" altLang="zh-CN" sz="2000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EED70C19-A90A-45E2-A13C-693F0C873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138" y="4417257"/>
                <a:ext cx="6957456" cy="2405851"/>
              </a:xfrm>
              <a:prstGeom prst="rect">
                <a:avLst/>
              </a:prstGeom>
              <a:blipFill>
                <a:blip r:embed="rId5"/>
                <a:stretch>
                  <a:fillRect l="-964" t="-15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97" name="组合 4096">
            <a:extLst>
              <a:ext uri="{FF2B5EF4-FFF2-40B4-BE49-F238E27FC236}">
                <a16:creationId xmlns:a16="http://schemas.microsoft.com/office/drawing/2014/main" id="{203F4414-BCF0-4E85-8203-01B8621B3303}"/>
              </a:ext>
            </a:extLst>
          </p:cNvPr>
          <p:cNvGrpSpPr/>
          <p:nvPr/>
        </p:nvGrpSpPr>
        <p:grpSpPr>
          <a:xfrm>
            <a:off x="7224161" y="1334020"/>
            <a:ext cx="4573943" cy="3190545"/>
            <a:chOff x="7477379" y="1558825"/>
            <a:chExt cx="4573943" cy="3190545"/>
          </a:xfrm>
        </p:grpSpPr>
        <p:cxnSp>
          <p:nvCxnSpPr>
            <p:cNvPr id="97" name="连接符: 曲线 96">
              <a:extLst>
                <a:ext uri="{FF2B5EF4-FFF2-40B4-BE49-F238E27FC236}">
                  <a16:creationId xmlns:a16="http://schemas.microsoft.com/office/drawing/2014/main" id="{3E387F8B-1800-438B-8215-7E8B7A6D7C99}"/>
                </a:ext>
              </a:extLst>
            </p:cNvPr>
            <p:cNvCxnSpPr>
              <a:cxnSpLocks/>
              <a:stCxn id="69" idx="2"/>
            </p:cNvCxnSpPr>
            <p:nvPr/>
          </p:nvCxnSpPr>
          <p:spPr>
            <a:xfrm rot="5400000">
              <a:off x="10759739" y="1632078"/>
              <a:ext cx="206436" cy="745888"/>
            </a:xfrm>
            <a:prstGeom prst="curvedConnector2">
              <a:avLst/>
            </a:prstGeom>
            <a:ln w="19050">
              <a:prstDash val="soli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096" name="组合 4095">
              <a:extLst>
                <a:ext uri="{FF2B5EF4-FFF2-40B4-BE49-F238E27FC236}">
                  <a16:creationId xmlns:a16="http://schemas.microsoft.com/office/drawing/2014/main" id="{873889BE-4E8B-450A-BFD1-500F02AAE7AE}"/>
                </a:ext>
              </a:extLst>
            </p:cNvPr>
            <p:cNvGrpSpPr/>
            <p:nvPr/>
          </p:nvGrpSpPr>
          <p:grpSpPr>
            <a:xfrm>
              <a:off x="7477379" y="1558825"/>
              <a:ext cx="4573943" cy="3190545"/>
              <a:chOff x="7533650" y="1570344"/>
              <a:chExt cx="4573943" cy="3190545"/>
            </a:xfrm>
          </p:grpSpPr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CB37A580-2D05-4985-A35C-B5827E81B74C}"/>
                  </a:ext>
                </a:extLst>
              </p:cNvPr>
              <p:cNvGrpSpPr/>
              <p:nvPr/>
            </p:nvGrpSpPr>
            <p:grpSpPr>
              <a:xfrm>
                <a:off x="7533650" y="1978079"/>
                <a:ext cx="3422514" cy="2782810"/>
                <a:chOff x="6409702" y="1490311"/>
                <a:chExt cx="5099894" cy="4072610"/>
              </a:xfrm>
            </p:grpSpPr>
            <p:sp>
              <p:nvSpPr>
                <p:cNvPr id="4100" name="矩形 4099">
                  <a:extLst>
                    <a:ext uri="{FF2B5EF4-FFF2-40B4-BE49-F238E27FC236}">
                      <a16:creationId xmlns:a16="http://schemas.microsoft.com/office/drawing/2014/main" id="{C0B41A2E-4DD8-471D-AC71-C3BFBDBD22DC}"/>
                    </a:ext>
                  </a:extLst>
                </p:cNvPr>
                <p:cNvSpPr/>
                <p:nvPr/>
              </p:nvSpPr>
              <p:spPr>
                <a:xfrm rot="19351612">
                  <a:off x="6853577" y="2943449"/>
                  <a:ext cx="3898809" cy="635188"/>
                </a:xfrm>
                <a:prstGeom prst="rect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8" name="Google Shape;3707;p62">
                  <a:extLst>
                    <a:ext uri="{FF2B5EF4-FFF2-40B4-BE49-F238E27FC236}">
                      <a16:creationId xmlns:a16="http://schemas.microsoft.com/office/drawing/2014/main" id="{14488662-2F4D-4E01-9B11-9C1CBDD3E054}"/>
                    </a:ext>
                  </a:extLst>
                </p:cNvPr>
                <p:cNvCxnSpPr/>
                <p:nvPr/>
              </p:nvCxnSpPr>
              <p:spPr>
                <a:xfrm rot="10800000">
                  <a:off x="6409702" y="5368610"/>
                  <a:ext cx="5099894" cy="14650"/>
                </a:xfrm>
                <a:prstGeom prst="straightConnector1">
                  <a:avLst/>
                </a:prstGeom>
                <a:ln>
                  <a:headEnd type="triangle" w="med" len="med"/>
                  <a:tailEnd type="none" w="med" len="med"/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9" name="Google Shape;3708;p62">
                  <a:extLst>
                    <a:ext uri="{FF2B5EF4-FFF2-40B4-BE49-F238E27FC236}">
                      <a16:creationId xmlns:a16="http://schemas.microsoft.com/office/drawing/2014/main" id="{DF3C78EE-ECDD-4EEE-8843-0E669FA768D3}"/>
                    </a:ext>
                  </a:extLst>
                </p:cNvPr>
                <p:cNvSpPr/>
                <p:nvPr/>
              </p:nvSpPr>
              <p:spPr>
                <a:xfrm rot="8931971">
                  <a:off x="8450498" y="4184749"/>
                  <a:ext cx="112662" cy="123547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" name="Google Shape;3709;p62">
                  <a:extLst>
                    <a:ext uri="{FF2B5EF4-FFF2-40B4-BE49-F238E27FC236}">
                      <a16:creationId xmlns:a16="http://schemas.microsoft.com/office/drawing/2014/main" id="{6E2E49D6-0390-4C18-BA29-9301955CDB6C}"/>
                    </a:ext>
                  </a:extLst>
                </p:cNvPr>
                <p:cNvSpPr/>
                <p:nvPr/>
              </p:nvSpPr>
              <p:spPr>
                <a:xfrm rot="8931971">
                  <a:off x="8129263" y="4524561"/>
                  <a:ext cx="112662" cy="123547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" name="Google Shape;3710;p62">
                  <a:extLst>
                    <a:ext uri="{FF2B5EF4-FFF2-40B4-BE49-F238E27FC236}">
                      <a16:creationId xmlns:a16="http://schemas.microsoft.com/office/drawing/2014/main" id="{CC46042D-88DB-4976-BDE9-8F6A84E65A7C}"/>
                    </a:ext>
                  </a:extLst>
                </p:cNvPr>
                <p:cNvSpPr/>
                <p:nvPr/>
              </p:nvSpPr>
              <p:spPr>
                <a:xfrm rot="8931971">
                  <a:off x="8385046" y="4601178"/>
                  <a:ext cx="112662" cy="123547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" name="Google Shape;3711;p62">
                  <a:extLst>
                    <a:ext uri="{FF2B5EF4-FFF2-40B4-BE49-F238E27FC236}">
                      <a16:creationId xmlns:a16="http://schemas.microsoft.com/office/drawing/2014/main" id="{437AFC6A-0B8C-4727-93AF-3BCEAB12C7F3}"/>
                    </a:ext>
                  </a:extLst>
                </p:cNvPr>
                <p:cNvSpPr/>
                <p:nvPr/>
              </p:nvSpPr>
              <p:spPr>
                <a:xfrm rot="8931971">
                  <a:off x="9044696" y="3467117"/>
                  <a:ext cx="112662" cy="123547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" name="Google Shape;3712;p62">
                  <a:extLst>
                    <a:ext uri="{FF2B5EF4-FFF2-40B4-BE49-F238E27FC236}">
                      <a16:creationId xmlns:a16="http://schemas.microsoft.com/office/drawing/2014/main" id="{3BB31132-14F9-42E7-96E4-407CD052FEA0}"/>
                    </a:ext>
                  </a:extLst>
                </p:cNvPr>
                <p:cNvSpPr/>
                <p:nvPr/>
              </p:nvSpPr>
              <p:spPr>
                <a:xfrm rot="8931971">
                  <a:off x="8233564" y="4262145"/>
                  <a:ext cx="112662" cy="123547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" name="Google Shape;3713;p62">
                  <a:extLst>
                    <a:ext uri="{FF2B5EF4-FFF2-40B4-BE49-F238E27FC236}">
                      <a16:creationId xmlns:a16="http://schemas.microsoft.com/office/drawing/2014/main" id="{1CD658A2-52A1-4F7E-82D9-C9AAF8FD281D}"/>
                    </a:ext>
                  </a:extLst>
                </p:cNvPr>
                <p:cNvSpPr/>
                <p:nvPr/>
              </p:nvSpPr>
              <p:spPr>
                <a:xfrm rot="8931971">
                  <a:off x="9370426" y="3385116"/>
                  <a:ext cx="112662" cy="123547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" name="Google Shape;3714;p62">
                  <a:extLst>
                    <a:ext uri="{FF2B5EF4-FFF2-40B4-BE49-F238E27FC236}">
                      <a16:creationId xmlns:a16="http://schemas.microsoft.com/office/drawing/2014/main" id="{2EE4E68F-1695-4474-BF20-DBCB090BF4D5}"/>
                    </a:ext>
                  </a:extLst>
                </p:cNvPr>
                <p:cNvSpPr/>
                <p:nvPr/>
              </p:nvSpPr>
              <p:spPr>
                <a:xfrm rot="8931971">
                  <a:off x="9626810" y="4236276"/>
                  <a:ext cx="112662" cy="123547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" name="Google Shape;3715;p62">
                  <a:extLst>
                    <a:ext uri="{FF2B5EF4-FFF2-40B4-BE49-F238E27FC236}">
                      <a16:creationId xmlns:a16="http://schemas.microsoft.com/office/drawing/2014/main" id="{422A43D4-03CF-498E-AB64-71D4DEF51D39}"/>
                    </a:ext>
                  </a:extLst>
                </p:cNvPr>
                <p:cNvSpPr/>
                <p:nvPr/>
              </p:nvSpPr>
              <p:spPr>
                <a:xfrm rot="8931971">
                  <a:off x="9752268" y="3491939"/>
                  <a:ext cx="112662" cy="123547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0" name="Google Shape;3718;p62">
                  <a:extLst>
                    <a:ext uri="{FF2B5EF4-FFF2-40B4-BE49-F238E27FC236}">
                      <a16:creationId xmlns:a16="http://schemas.microsoft.com/office/drawing/2014/main" id="{E50CC299-4704-4533-AA55-130D59C57E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167846" y="1522148"/>
                  <a:ext cx="3937493" cy="2989862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Google Shape;3719;p62">
                  <a:extLst>
                    <a:ext uri="{FF2B5EF4-FFF2-40B4-BE49-F238E27FC236}">
                      <a16:creationId xmlns:a16="http://schemas.microsoft.com/office/drawing/2014/main" id="{7EA906D5-1E91-4C64-BE8D-9A2A370234D0}"/>
                    </a:ext>
                  </a:extLst>
                </p:cNvPr>
                <p:cNvCxnSpPr/>
                <p:nvPr/>
              </p:nvCxnSpPr>
              <p:spPr>
                <a:xfrm rot="10800000" flipH="1">
                  <a:off x="6566109" y="1678745"/>
                  <a:ext cx="13943" cy="3884176"/>
                </a:xfrm>
                <a:prstGeom prst="straightConnector1">
                  <a:avLst/>
                </a:prstGeom>
                <a:ln>
                  <a:headEnd type="none" w="med" len="med"/>
                  <a:tailEnd type="triangle" w="med" len="med"/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22" name="Google Shape;3720;p62">
                  <a:extLst>
                    <a:ext uri="{FF2B5EF4-FFF2-40B4-BE49-F238E27FC236}">
                      <a16:creationId xmlns:a16="http://schemas.microsoft.com/office/drawing/2014/main" id="{56F31CEF-EDA3-4361-9B36-7A96DEE95718}"/>
                    </a:ext>
                  </a:extLst>
                </p:cNvPr>
                <p:cNvSpPr/>
                <p:nvPr/>
              </p:nvSpPr>
              <p:spPr>
                <a:xfrm rot="8931971">
                  <a:off x="9226987" y="3943302"/>
                  <a:ext cx="112662" cy="123547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" name="Google Shape;3721;p62">
                  <a:extLst>
                    <a:ext uri="{FF2B5EF4-FFF2-40B4-BE49-F238E27FC236}">
                      <a16:creationId xmlns:a16="http://schemas.microsoft.com/office/drawing/2014/main" id="{45D46EA5-8DD3-4789-8958-ED7D1FCC18D2}"/>
                    </a:ext>
                  </a:extLst>
                </p:cNvPr>
                <p:cNvSpPr/>
                <p:nvPr/>
              </p:nvSpPr>
              <p:spPr>
                <a:xfrm rot="8931971">
                  <a:off x="8724637" y="4236277"/>
                  <a:ext cx="112662" cy="123547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3722;p62">
                  <a:extLst>
                    <a:ext uri="{FF2B5EF4-FFF2-40B4-BE49-F238E27FC236}">
                      <a16:creationId xmlns:a16="http://schemas.microsoft.com/office/drawing/2014/main" id="{74BD9329-A92E-42C4-816D-635AB9AA7669}"/>
                    </a:ext>
                  </a:extLst>
                </p:cNvPr>
                <p:cNvSpPr/>
                <p:nvPr/>
              </p:nvSpPr>
              <p:spPr>
                <a:xfrm rot="8931971">
                  <a:off x="9926214" y="3154675"/>
                  <a:ext cx="112662" cy="123547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" name="Google Shape;3728;p62">
                  <a:extLst>
                    <a:ext uri="{FF2B5EF4-FFF2-40B4-BE49-F238E27FC236}">
                      <a16:creationId xmlns:a16="http://schemas.microsoft.com/office/drawing/2014/main" id="{20279080-B251-42C5-9007-38F90585744F}"/>
                    </a:ext>
                  </a:extLst>
                </p:cNvPr>
                <p:cNvSpPr/>
                <p:nvPr/>
              </p:nvSpPr>
              <p:spPr>
                <a:xfrm rot="8931971">
                  <a:off x="8954329" y="3798564"/>
                  <a:ext cx="112662" cy="123547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6" name="Google Shape;3734;p62">
                  <a:extLst>
                    <a:ext uri="{FF2B5EF4-FFF2-40B4-BE49-F238E27FC236}">
                      <a16:creationId xmlns:a16="http://schemas.microsoft.com/office/drawing/2014/main" id="{F1C05825-9DC6-413D-A55B-DD3227BD3BB5}"/>
                    </a:ext>
                  </a:extLst>
                </p:cNvPr>
                <p:cNvSpPr/>
                <p:nvPr/>
              </p:nvSpPr>
              <p:spPr>
                <a:xfrm rot="8931971">
                  <a:off x="9537607" y="4006424"/>
                  <a:ext cx="112662" cy="123547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3735;p62">
                  <a:extLst>
                    <a:ext uri="{FF2B5EF4-FFF2-40B4-BE49-F238E27FC236}">
                      <a16:creationId xmlns:a16="http://schemas.microsoft.com/office/drawing/2014/main" id="{C3FDA6D4-E264-42C2-8C55-BD4F61CF8090}"/>
                    </a:ext>
                  </a:extLst>
                </p:cNvPr>
                <p:cNvSpPr/>
                <p:nvPr/>
              </p:nvSpPr>
              <p:spPr>
                <a:xfrm rot="8931971">
                  <a:off x="9399036" y="3702658"/>
                  <a:ext cx="112662" cy="123547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3746;p62">
                  <a:extLst>
                    <a:ext uri="{FF2B5EF4-FFF2-40B4-BE49-F238E27FC236}">
                      <a16:creationId xmlns:a16="http://schemas.microsoft.com/office/drawing/2014/main" id="{69FE8933-2515-4720-A6DD-3754362B924C}"/>
                    </a:ext>
                  </a:extLst>
                </p:cNvPr>
                <p:cNvSpPr/>
                <p:nvPr/>
              </p:nvSpPr>
              <p:spPr>
                <a:xfrm rot="8931971">
                  <a:off x="8753635" y="4590198"/>
                  <a:ext cx="112662" cy="123547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3747;p62">
                  <a:extLst>
                    <a:ext uri="{FF2B5EF4-FFF2-40B4-BE49-F238E27FC236}">
                      <a16:creationId xmlns:a16="http://schemas.microsoft.com/office/drawing/2014/main" id="{4507CD2C-64BE-4374-BA62-6FFDC4FDA1F5}"/>
                    </a:ext>
                  </a:extLst>
                </p:cNvPr>
                <p:cNvSpPr/>
                <p:nvPr/>
              </p:nvSpPr>
              <p:spPr>
                <a:xfrm rot="8931971">
                  <a:off x="9149628" y="4608385"/>
                  <a:ext cx="112662" cy="123547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3749;p62">
                  <a:extLst>
                    <a:ext uri="{FF2B5EF4-FFF2-40B4-BE49-F238E27FC236}">
                      <a16:creationId xmlns:a16="http://schemas.microsoft.com/office/drawing/2014/main" id="{771C133F-A599-4076-A2B2-715EF316490F}"/>
                    </a:ext>
                  </a:extLst>
                </p:cNvPr>
                <p:cNvSpPr/>
                <p:nvPr/>
              </p:nvSpPr>
              <p:spPr>
                <a:xfrm rot="8931971">
                  <a:off x="9180857" y="4254841"/>
                  <a:ext cx="112662" cy="123547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" name="Google Shape;3761;p62">
                  <a:extLst>
                    <a:ext uri="{FF2B5EF4-FFF2-40B4-BE49-F238E27FC236}">
                      <a16:creationId xmlns:a16="http://schemas.microsoft.com/office/drawing/2014/main" id="{775E7F8A-FA3E-449A-A37C-DFFC09581C7E}"/>
                    </a:ext>
                  </a:extLst>
                </p:cNvPr>
                <p:cNvSpPr/>
                <p:nvPr/>
              </p:nvSpPr>
              <p:spPr>
                <a:xfrm rot="8931971">
                  <a:off x="7902335" y="4342390"/>
                  <a:ext cx="112662" cy="123547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" name="Google Shape;3762;p62">
                  <a:extLst>
                    <a:ext uri="{FF2B5EF4-FFF2-40B4-BE49-F238E27FC236}">
                      <a16:creationId xmlns:a16="http://schemas.microsoft.com/office/drawing/2014/main" id="{2BC096DC-BBD7-4E5F-B5AE-025824FCDDF4}"/>
                    </a:ext>
                  </a:extLst>
                </p:cNvPr>
                <p:cNvSpPr/>
                <p:nvPr/>
              </p:nvSpPr>
              <p:spPr>
                <a:xfrm rot="8931971">
                  <a:off x="9597227" y="3044859"/>
                  <a:ext cx="112662" cy="123547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" name="Google Shape;3764;p62">
                  <a:extLst>
                    <a:ext uri="{FF2B5EF4-FFF2-40B4-BE49-F238E27FC236}">
                      <a16:creationId xmlns:a16="http://schemas.microsoft.com/office/drawing/2014/main" id="{ED824A43-A57B-499C-A051-CA7B2A3E0C9E}"/>
                    </a:ext>
                  </a:extLst>
                </p:cNvPr>
                <p:cNvSpPr/>
                <p:nvPr/>
              </p:nvSpPr>
              <p:spPr>
                <a:xfrm rot="8931971">
                  <a:off x="10209541" y="3402747"/>
                  <a:ext cx="112662" cy="123547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" name="Google Shape;3765;p62">
                  <a:extLst>
                    <a:ext uri="{FF2B5EF4-FFF2-40B4-BE49-F238E27FC236}">
                      <a16:creationId xmlns:a16="http://schemas.microsoft.com/office/drawing/2014/main" id="{D3CD65D6-B709-45F6-A6E3-347A73668E13}"/>
                    </a:ext>
                  </a:extLst>
                </p:cNvPr>
                <p:cNvSpPr/>
                <p:nvPr/>
              </p:nvSpPr>
              <p:spPr>
                <a:xfrm rot="8931971">
                  <a:off x="8543885" y="3855412"/>
                  <a:ext cx="112662" cy="123547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" name="等腰三角形 4">
                  <a:extLst>
                    <a:ext uri="{FF2B5EF4-FFF2-40B4-BE49-F238E27FC236}">
                      <a16:creationId xmlns:a16="http://schemas.microsoft.com/office/drawing/2014/main" id="{BCEC1699-D37B-48B9-92FA-CF0AC1DAB83A}"/>
                    </a:ext>
                  </a:extLst>
                </p:cNvPr>
                <p:cNvSpPr/>
                <p:nvPr/>
              </p:nvSpPr>
              <p:spPr>
                <a:xfrm>
                  <a:off x="8265751" y="2752182"/>
                  <a:ext cx="128656" cy="120050"/>
                </a:xfrm>
                <a:prstGeom prst="triangl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0" name="等腰三角形 69">
                  <a:extLst>
                    <a:ext uri="{FF2B5EF4-FFF2-40B4-BE49-F238E27FC236}">
                      <a16:creationId xmlns:a16="http://schemas.microsoft.com/office/drawing/2014/main" id="{9A866BA8-D75F-44D4-9FC0-5A0334FF09A6}"/>
                    </a:ext>
                  </a:extLst>
                </p:cNvPr>
                <p:cNvSpPr/>
                <p:nvPr/>
              </p:nvSpPr>
              <p:spPr>
                <a:xfrm>
                  <a:off x="8535888" y="2854256"/>
                  <a:ext cx="128656" cy="120050"/>
                </a:xfrm>
                <a:prstGeom prst="triangl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等腰三角形 70">
                  <a:extLst>
                    <a:ext uri="{FF2B5EF4-FFF2-40B4-BE49-F238E27FC236}">
                      <a16:creationId xmlns:a16="http://schemas.microsoft.com/office/drawing/2014/main" id="{5B791913-F5F5-4BAA-97EE-B9CDAA300715}"/>
                    </a:ext>
                  </a:extLst>
                </p:cNvPr>
                <p:cNvSpPr/>
                <p:nvPr/>
              </p:nvSpPr>
              <p:spPr>
                <a:xfrm>
                  <a:off x="8580499" y="2411046"/>
                  <a:ext cx="128656" cy="120050"/>
                </a:xfrm>
                <a:prstGeom prst="triangl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等腰三角形 71">
                  <a:extLst>
                    <a:ext uri="{FF2B5EF4-FFF2-40B4-BE49-F238E27FC236}">
                      <a16:creationId xmlns:a16="http://schemas.microsoft.com/office/drawing/2014/main" id="{4DA7EE79-2C31-42B9-B334-BE9F4B0C7F4A}"/>
                    </a:ext>
                  </a:extLst>
                </p:cNvPr>
                <p:cNvSpPr/>
                <p:nvPr/>
              </p:nvSpPr>
              <p:spPr>
                <a:xfrm>
                  <a:off x="8191416" y="1726977"/>
                  <a:ext cx="128656" cy="120050"/>
                </a:xfrm>
                <a:prstGeom prst="triangl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等腰三角形 72">
                  <a:extLst>
                    <a:ext uri="{FF2B5EF4-FFF2-40B4-BE49-F238E27FC236}">
                      <a16:creationId xmlns:a16="http://schemas.microsoft.com/office/drawing/2014/main" id="{5F086A49-7115-4910-BAED-FAB629720968}"/>
                    </a:ext>
                  </a:extLst>
                </p:cNvPr>
                <p:cNvSpPr/>
                <p:nvPr/>
              </p:nvSpPr>
              <p:spPr>
                <a:xfrm>
                  <a:off x="8161951" y="2096076"/>
                  <a:ext cx="128656" cy="120050"/>
                </a:xfrm>
                <a:prstGeom prst="triangl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等腰三角形 73">
                  <a:extLst>
                    <a:ext uri="{FF2B5EF4-FFF2-40B4-BE49-F238E27FC236}">
                      <a16:creationId xmlns:a16="http://schemas.microsoft.com/office/drawing/2014/main" id="{72B97D96-69A4-472D-B5AD-DD271236ADD8}"/>
                    </a:ext>
                  </a:extLst>
                </p:cNvPr>
                <p:cNvSpPr/>
                <p:nvPr/>
              </p:nvSpPr>
              <p:spPr>
                <a:xfrm>
                  <a:off x="8314351" y="2248476"/>
                  <a:ext cx="128656" cy="120050"/>
                </a:xfrm>
                <a:prstGeom prst="triangl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等腰三角形 74">
                  <a:extLst>
                    <a:ext uri="{FF2B5EF4-FFF2-40B4-BE49-F238E27FC236}">
                      <a16:creationId xmlns:a16="http://schemas.microsoft.com/office/drawing/2014/main" id="{54ACCDFF-75F7-45DF-8F1A-2EDCEDB7310E}"/>
                    </a:ext>
                  </a:extLst>
                </p:cNvPr>
                <p:cNvSpPr/>
                <p:nvPr/>
              </p:nvSpPr>
              <p:spPr>
                <a:xfrm>
                  <a:off x="8701888" y="1841315"/>
                  <a:ext cx="128656" cy="120050"/>
                </a:xfrm>
                <a:prstGeom prst="triangl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等腰三角形 75">
                  <a:extLst>
                    <a:ext uri="{FF2B5EF4-FFF2-40B4-BE49-F238E27FC236}">
                      <a16:creationId xmlns:a16="http://schemas.microsoft.com/office/drawing/2014/main" id="{665A6DA2-7FF0-4940-BC49-3E8908ECF334}"/>
                    </a:ext>
                  </a:extLst>
                </p:cNvPr>
                <p:cNvSpPr/>
                <p:nvPr/>
              </p:nvSpPr>
              <p:spPr>
                <a:xfrm>
                  <a:off x="9090817" y="1754048"/>
                  <a:ext cx="128656" cy="120050"/>
                </a:xfrm>
                <a:prstGeom prst="triangl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7" name="等腰三角形 76">
                  <a:extLst>
                    <a:ext uri="{FF2B5EF4-FFF2-40B4-BE49-F238E27FC236}">
                      <a16:creationId xmlns:a16="http://schemas.microsoft.com/office/drawing/2014/main" id="{E7FF3BF8-9470-4219-AD46-354807C1DDD5}"/>
                    </a:ext>
                  </a:extLst>
                </p:cNvPr>
                <p:cNvSpPr/>
                <p:nvPr/>
              </p:nvSpPr>
              <p:spPr>
                <a:xfrm>
                  <a:off x="8830544" y="2143222"/>
                  <a:ext cx="128656" cy="120050"/>
                </a:xfrm>
                <a:prstGeom prst="triangl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8" name="等腰三角形 77">
                  <a:extLst>
                    <a:ext uri="{FF2B5EF4-FFF2-40B4-BE49-F238E27FC236}">
                      <a16:creationId xmlns:a16="http://schemas.microsoft.com/office/drawing/2014/main" id="{71A34BDB-8106-438C-A739-920DAF005C52}"/>
                    </a:ext>
                  </a:extLst>
                </p:cNvPr>
                <p:cNvSpPr/>
                <p:nvPr/>
              </p:nvSpPr>
              <p:spPr>
                <a:xfrm>
                  <a:off x="7474897" y="2296672"/>
                  <a:ext cx="128656" cy="120050"/>
                </a:xfrm>
                <a:prstGeom prst="triangl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9" name="等腰三角形 78">
                  <a:extLst>
                    <a:ext uri="{FF2B5EF4-FFF2-40B4-BE49-F238E27FC236}">
                      <a16:creationId xmlns:a16="http://schemas.microsoft.com/office/drawing/2014/main" id="{FDC9155B-6D40-453C-B69A-66DC8A6AB31C}"/>
                    </a:ext>
                  </a:extLst>
                </p:cNvPr>
                <p:cNvSpPr/>
                <p:nvPr/>
              </p:nvSpPr>
              <p:spPr>
                <a:xfrm>
                  <a:off x="8979993" y="2504136"/>
                  <a:ext cx="128656" cy="120050"/>
                </a:xfrm>
                <a:prstGeom prst="triangl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" name="等腰三角形 79">
                  <a:extLst>
                    <a:ext uri="{FF2B5EF4-FFF2-40B4-BE49-F238E27FC236}">
                      <a16:creationId xmlns:a16="http://schemas.microsoft.com/office/drawing/2014/main" id="{30A87E80-676C-449C-AD25-FC3A797B5180}"/>
                    </a:ext>
                  </a:extLst>
                </p:cNvPr>
                <p:cNvSpPr/>
                <p:nvPr/>
              </p:nvSpPr>
              <p:spPr>
                <a:xfrm>
                  <a:off x="7490973" y="2592620"/>
                  <a:ext cx="128656" cy="120050"/>
                </a:xfrm>
                <a:prstGeom prst="triangl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1" name="等腰三角形 80">
                  <a:extLst>
                    <a:ext uri="{FF2B5EF4-FFF2-40B4-BE49-F238E27FC236}">
                      <a16:creationId xmlns:a16="http://schemas.microsoft.com/office/drawing/2014/main" id="{6E30FE5E-A8CD-4B15-9EDA-25AA73DE00DC}"/>
                    </a:ext>
                  </a:extLst>
                </p:cNvPr>
                <p:cNvSpPr/>
                <p:nvPr/>
              </p:nvSpPr>
              <p:spPr>
                <a:xfrm>
                  <a:off x="7878510" y="2185459"/>
                  <a:ext cx="128656" cy="120050"/>
                </a:xfrm>
                <a:prstGeom prst="triangl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等腰三角形 81">
                  <a:extLst>
                    <a:ext uri="{FF2B5EF4-FFF2-40B4-BE49-F238E27FC236}">
                      <a16:creationId xmlns:a16="http://schemas.microsoft.com/office/drawing/2014/main" id="{3811CC80-7C66-41A5-AB5A-47975EEEFF1C}"/>
                    </a:ext>
                  </a:extLst>
                </p:cNvPr>
                <p:cNvSpPr/>
                <p:nvPr/>
              </p:nvSpPr>
              <p:spPr>
                <a:xfrm>
                  <a:off x="7097732" y="2773544"/>
                  <a:ext cx="128656" cy="120050"/>
                </a:xfrm>
                <a:prstGeom prst="triangl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3" name="等腰三角形 82">
                  <a:extLst>
                    <a:ext uri="{FF2B5EF4-FFF2-40B4-BE49-F238E27FC236}">
                      <a16:creationId xmlns:a16="http://schemas.microsoft.com/office/drawing/2014/main" id="{953AB385-760C-405A-ADB9-B24475EB085D}"/>
                    </a:ext>
                  </a:extLst>
                </p:cNvPr>
                <p:cNvSpPr/>
                <p:nvPr/>
              </p:nvSpPr>
              <p:spPr>
                <a:xfrm>
                  <a:off x="8183310" y="2490259"/>
                  <a:ext cx="128656" cy="120050"/>
                </a:xfrm>
                <a:prstGeom prst="triangl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4" name="等腰三角形 83">
                  <a:extLst>
                    <a:ext uri="{FF2B5EF4-FFF2-40B4-BE49-F238E27FC236}">
                      <a16:creationId xmlns:a16="http://schemas.microsoft.com/office/drawing/2014/main" id="{D99F91CE-AA71-41F2-95A3-195525FCE6F7}"/>
                    </a:ext>
                  </a:extLst>
                </p:cNvPr>
                <p:cNvSpPr/>
                <p:nvPr/>
              </p:nvSpPr>
              <p:spPr>
                <a:xfrm>
                  <a:off x="7298753" y="3089543"/>
                  <a:ext cx="128656" cy="120050"/>
                </a:xfrm>
                <a:prstGeom prst="triangl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5" name="等腰三角形 84">
                  <a:extLst>
                    <a:ext uri="{FF2B5EF4-FFF2-40B4-BE49-F238E27FC236}">
                      <a16:creationId xmlns:a16="http://schemas.microsoft.com/office/drawing/2014/main" id="{4C6A064C-5E0B-4779-AFF2-71DDDF49C5E5}"/>
                    </a:ext>
                  </a:extLst>
                </p:cNvPr>
                <p:cNvSpPr/>
                <p:nvPr/>
              </p:nvSpPr>
              <p:spPr>
                <a:xfrm>
                  <a:off x="7667881" y="3035848"/>
                  <a:ext cx="128656" cy="120050"/>
                </a:xfrm>
                <a:prstGeom prst="triangl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6" name="等腰三角形 85">
                  <a:extLst>
                    <a:ext uri="{FF2B5EF4-FFF2-40B4-BE49-F238E27FC236}">
                      <a16:creationId xmlns:a16="http://schemas.microsoft.com/office/drawing/2014/main" id="{80753768-1C3D-4696-AC2B-24B7C5B625AA}"/>
                    </a:ext>
                  </a:extLst>
                </p:cNvPr>
                <p:cNvSpPr/>
                <p:nvPr/>
              </p:nvSpPr>
              <p:spPr>
                <a:xfrm>
                  <a:off x="7685526" y="3493687"/>
                  <a:ext cx="128656" cy="120050"/>
                </a:xfrm>
                <a:prstGeom prst="triangl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7" name="等腰三角形 86">
                  <a:extLst>
                    <a:ext uri="{FF2B5EF4-FFF2-40B4-BE49-F238E27FC236}">
                      <a16:creationId xmlns:a16="http://schemas.microsoft.com/office/drawing/2014/main" id="{153DD54F-9EA5-40D9-9945-8B1439FC95B2}"/>
                    </a:ext>
                  </a:extLst>
                </p:cNvPr>
                <p:cNvSpPr/>
                <p:nvPr/>
              </p:nvSpPr>
              <p:spPr>
                <a:xfrm>
                  <a:off x="7192077" y="3440569"/>
                  <a:ext cx="128656" cy="120050"/>
                </a:xfrm>
                <a:prstGeom prst="triangl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8" name="等腰三角形 87">
                  <a:extLst>
                    <a:ext uri="{FF2B5EF4-FFF2-40B4-BE49-F238E27FC236}">
                      <a16:creationId xmlns:a16="http://schemas.microsoft.com/office/drawing/2014/main" id="{DF2F7782-903D-4593-93AE-05F72737135F}"/>
                    </a:ext>
                  </a:extLst>
                </p:cNvPr>
                <p:cNvSpPr/>
                <p:nvPr/>
              </p:nvSpPr>
              <p:spPr>
                <a:xfrm>
                  <a:off x="8143490" y="3139582"/>
                  <a:ext cx="128656" cy="120050"/>
                </a:xfrm>
                <a:prstGeom prst="triangl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9" name="等腰三角形 88">
                  <a:extLst>
                    <a:ext uri="{FF2B5EF4-FFF2-40B4-BE49-F238E27FC236}">
                      <a16:creationId xmlns:a16="http://schemas.microsoft.com/office/drawing/2014/main" id="{C2F45278-4D7C-4DD2-9D21-7AC01C2A020D}"/>
                    </a:ext>
                  </a:extLst>
                </p:cNvPr>
                <p:cNvSpPr/>
                <p:nvPr/>
              </p:nvSpPr>
              <p:spPr>
                <a:xfrm>
                  <a:off x="7814182" y="2653494"/>
                  <a:ext cx="128656" cy="120050"/>
                </a:xfrm>
                <a:prstGeom prst="triangl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93" name="Google Shape;3718;p62">
                  <a:extLst>
                    <a:ext uri="{FF2B5EF4-FFF2-40B4-BE49-F238E27FC236}">
                      <a16:creationId xmlns:a16="http://schemas.microsoft.com/office/drawing/2014/main" id="{FD299ACF-B16C-42B0-9A59-3C6EFBA4C6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989451" y="1678744"/>
                  <a:ext cx="3400988" cy="2591124"/>
                </a:xfrm>
                <a:prstGeom prst="straightConnector1">
                  <a:avLst/>
                </a:prstGeom>
                <a:ln>
                  <a:solidFill>
                    <a:srgbClr val="004586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Google Shape;3718;p62">
                  <a:extLst>
                    <a:ext uri="{FF2B5EF4-FFF2-40B4-BE49-F238E27FC236}">
                      <a16:creationId xmlns:a16="http://schemas.microsoft.com/office/drawing/2014/main" id="{509C94DE-D567-4EF7-9BE6-5F053F39B9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344330" y="2176914"/>
                  <a:ext cx="3400988" cy="2591124"/>
                </a:xfrm>
                <a:prstGeom prst="straightConnector1">
                  <a:avLst/>
                </a:prstGeom>
                <a:ln>
                  <a:solidFill>
                    <a:srgbClr val="004586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连接符: 曲线 100">
                  <a:extLst>
                    <a:ext uri="{FF2B5EF4-FFF2-40B4-BE49-F238E27FC236}">
                      <a16:creationId xmlns:a16="http://schemas.microsoft.com/office/drawing/2014/main" id="{31BFC52D-447E-4322-A897-245391389C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9272254" y="1535982"/>
                  <a:ext cx="617144" cy="525802"/>
                </a:xfrm>
                <a:prstGeom prst="curvedConnector3">
                  <a:avLst>
                    <a:gd name="adj1" fmla="val 50000"/>
                  </a:avLst>
                </a:prstGeom>
                <a:ln w="19050">
                  <a:prstDash val="solid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15" name="直接箭头连接符 4114">
                  <a:extLst>
                    <a:ext uri="{FF2B5EF4-FFF2-40B4-BE49-F238E27FC236}">
                      <a16:creationId xmlns:a16="http://schemas.microsoft.com/office/drawing/2014/main" id="{25D4846E-863F-44B8-B98B-68F1DAC534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86202" y="1777133"/>
                  <a:ext cx="351395" cy="476101"/>
                </a:xfrm>
                <a:prstGeom prst="straightConnector1">
                  <a:avLst/>
                </a:prstGeom>
                <a:ln w="38100">
                  <a:solidFill>
                    <a:srgbClr val="FF9900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文本框 68">
                    <a:extLst>
                      <a:ext uri="{FF2B5EF4-FFF2-40B4-BE49-F238E27FC236}">
                        <a16:creationId xmlns:a16="http://schemas.microsoft.com/office/drawing/2014/main" id="{DE00322D-699D-45CC-AFFB-E45F4645EA34}"/>
                      </a:ext>
                    </a:extLst>
                  </p:cNvPr>
                  <p:cNvSpPr txBox="1"/>
                  <p:nvPr/>
                </p:nvSpPr>
                <p:spPr>
                  <a:xfrm>
                    <a:off x="10584098" y="1570344"/>
                    <a:ext cx="1416148" cy="34297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zh-CN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16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16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zh-CN" sz="16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sz="1600" dirty="0">
                      <a:latin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69" name="文本框 68">
                    <a:extLst>
                      <a:ext uri="{FF2B5EF4-FFF2-40B4-BE49-F238E27FC236}">
                        <a16:creationId xmlns:a16="http://schemas.microsoft.com/office/drawing/2014/main" id="{DE00322D-699D-45CC-AFFB-E45F4645EA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84098" y="1570344"/>
                    <a:ext cx="1416148" cy="34297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文本框 94">
                    <a:extLst>
                      <a:ext uri="{FF2B5EF4-FFF2-40B4-BE49-F238E27FC236}">
                        <a16:creationId xmlns:a16="http://schemas.microsoft.com/office/drawing/2014/main" id="{9B6C8C2B-6E6D-418E-90B1-7303DFD54E28}"/>
                      </a:ext>
                    </a:extLst>
                  </p:cNvPr>
                  <p:cNvSpPr txBox="1"/>
                  <p:nvPr/>
                </p:nvSpPr>
                <p:spPr>
                  <a:xfrm>
                    <a:off x="9134749" y="1694994"/>
                    <a:ext cx="1416148" cy="34297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zh-CN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16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16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zh-CN" sz="16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600" dirty="0">
                      <a:latin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95" name="文本框 94">
                    <a:extLst>
                      <a:ext uri="{FF2B5EF4-FFF2-40B4-BE49-F238E27FC236}">
                        <a16:creationId xmlns:a16="http://schemas.microsoft.com/office/drawing/2014/main" id="{9B6C8C2B-6E6D-418E-90B1-7303DFD54E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34749" y="1694994"/>
                    <a:ext cx="1416148" cy="34297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5CB6D22A-F150-4E69-8806-F659DF6C344B}"/>
                      </a:ext>
                    </a:extLst>
                  </p:cNvPr>
                  <p:cNvSpPr txBox="1"/>
                  <p:nvPr/>
                </p:nvSpPr>
                <p:spPr>
                  <a:xfrm>
                    <a:off x="10539830" y="2431251"/>
                    <a:ext cx="1567763" cy="34297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zh-CN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16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16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zh-CN" sz="16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zh-CN" altLang="en-US" sz="1600" dirty="0">
                      <a:latin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5CB6D22A-F150-4E69-8806-F659DF6C34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39830" y="2431251"/>
                    <a:ext cx="1567763" cy="34297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8" name="连接符: 曲线 97">
                <a:extLst>
                  <a:ext uri="{FF2B5EF4-FFF2-40B4-BE49-F238E27FC236}">
                    <a16:creationId xmlns:a16="http://schemas.microsoft.com/office/drawing/2014/main" id="{38526598-908D-42B0-B035-77D75911FA1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9979837" y="2702356"/>
                <a:ext cx="896435" cy="140959"/>
              </a:xfrm>
              <a:prstGeom prst="curvedConnector3">
                <a:avLst>
                  <a:gd name="adj1" fmla="val 2398"/>
                </a:avLst>
              </a:prstGeom>
              <a:ln w="19050">
                <a:prstDash val="solid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C1D4AAC1-134F-41B5-9E14-F719AA18D0D5}"/>
                  </a:ext>
                </a:extLst>
              </p:cNvPr>
              <p:cNvSpPr txBox="1"/>
              <p:nvPr/>
            </p:nvSpPr>
            <p:spPr>
              <a:xfrm>
                <a:off x="6830565" y="4727538"/>
                <a:ext cx="5169412" cy="20334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如图所示，根据支持向量的定义我们知道，支持向量到超平面的距离为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，其他点到超平面的距离大于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8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每个支持向量到超平面的距离可以写为：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+mj-ea"/>
                          </a:rPr>
                        </m:ctrlPr>
                      </m:fPr>
                      <m:num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18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|</m:t>
                        </m:r>
                      </m:num>
                      <m:den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||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𝑤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||</m:t>
                        </m:r>
                      </m:den>
                    </m:f>
                  </m:oMath>
                </a14:m>
                <a:endParaRPr lang="zh-CN" altLang="en-US" sz="18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C1D4AAC1-134F-41B5-9E14-F719AA18D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565" y="4727538"/>
                <a:ext cx="5169412" cy="2033442"/>
              </a:xfrm>
              <a:prstGeom prst="rect">
                <a:avLst/>
              </a:prstGeom>
              <a:blipFill>
                <a:blip r:embed="rId9"/>
                <a:stretch>
                  <a:fillRect l="-9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542E2AFD-DCB2-42B3-AC4E-034A36CCDB73}"/>
                  </a:ext>
                </a:extLst>
              </p:cNvPr>
              <p:cNvSpPr txBox="1"/>
              <p:nvPr/>
            </p:nvSpPr>
            <p:spPr>
              <a:xfrm rot="20963141">
                <a:off x="8030572" y="3402207"/>
                <a:ext cx="42476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542E2AFD-DCB2-42B3-AC4E-034A36CCD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63141">
                <a:off x="8030572" y="3402207"/>
                <a:ext cx="424761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2C3FE653-9C58-4F04-8C6E-35419B83E749}"/>
              </a:ext>
            </a:extLst>
          </p:cNvPr>
          <p:cNvCxnSpPr>
            <a:cxnSpLocks/>
          </p:cNvCxnSpPr>
          <p:nvPr/>
        </p:nvCxnSpPr>
        <p:spPr>
          <a:xfrm>
            <a:off x="7918116" y="3415026"/>
            <a:ext cx="123683" cy="1543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DBB6DF53-2CA6-43C3-A604-1C17278911D2}"/>
              </a:ext>
            </a:extLst>
          </p:cNvPr>
          <p:cNvCxnSpPr>
            <a:cxnSpLocks/>
          </p:cNvCxnSpPr>
          <p:nvPr/>
        </p:nvCxnSpPr>
        <p:spPr>
          <a:xfrm>
            <a:off x="8051301" y="3575901"/>
            <a:ext cx="123683" cy="1543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19BCE33F-020B-4359-8D2F-A9B7AA03EF2B}"/>
                  </a:ext>
                </a:extLst>
              </p:cNvPr>
              <p:cNvSpPr txBox="1"/>
              <p:nvPr/>
            </p:nvSpPr>
            <p:spPr>
              <a:xfrm rot="20963141">
                <a:off x="7886015" y="3243264"/>
                <a:ext cx="42476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19BCE33F-020B-4359-8D2F-A9B7AA03E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63141">
                <a:off x="7886015" y="3243264"/>
                <a:ext cx="424761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3997236"/>
      </p:ext>
    </p:extLst>
  </p:cSld>
  <p:clrMapOvr>
    <a:masterClrMapping/>
  </p:clrMapOvr>
  <p:transition advTm="8005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1.</a:t>
            </a:r>
            <a:r>
              <a:rPr lang="zh-CN" altLang="en-US" dirty="0">
                <a:solidFill>
                  <a:schemeClr val="tx1"/>
                </a:solidFill>
              </a:rPr>
              <a:t>支持向量机概述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51BAD8-F509-4094-9DA5-A807CA95B36A}"/>
              </a:ext>
            </a:extLst>
          </p:cNvPr>
          <p:cNvSpPr txBox="1"/>
          <p:nvPr/>
        </p:nvSpPr>
        <p:spPr>
          <a:xfrm>
            <a:off x="668338" y="1334020"/>
            <a:ext cx="1455882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kern="100" dirty="0">
                <a:latin typeface="微软雅黑" panose="020B0503020204020204" pitchFamily="34" charset="-122"/>
              </a:rPr>
              <a:t>背景知识</a:t>
            </a:r>
            <a:endParaRPr lang="en-US" altLang="zh-CN" b="1" kern="100" dirty="0">
              <a:latin typeface="微软雅黑" panose="020B0503020204020204" pitchFamily="34" charset="-122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CB37A580-2D05-4985-A35C-B5827E81B74C}"/>
              </a:ext>
            </a:extLst>
          </p:cNvPr>
          <p:cNvGrpSpPr/>
          <p:nvPr/>
        </p:nvGrpSpPr>
        <p:grpSpPr>
          <a:xfrm>
            <a:off x="7533650" y="1978079"/>
            <a:ext cx="3422514" cy="2782810"/>
            <a:chOff x="6409702" y="1490311"/>
            <a:chExt cx="5099894" cy="4072610"/>
          </a:xfrm>
        </p:grpSpPr>
        <p:sp>
          <p:nvSpPr>
            <p:cNvPr id="4100" name="矩形 4099">
              <a:extLst>
                <a:ext uri="{FF2B5EF4-FFF2-40B4-BE49-F238E27FC236}">
                  <a16:creationId xmlns:a16="http://schemas.microsoft.com/office/drawing/2014/main" id="{C0B41A2E-4DD8-471D-AC71-C3BFBDBD22DC}"/>
                </a:ext>
              </a:extLst>
            </p:cNvPr>
            <p:cNvSpPr/>
            <p:nvPr/>
          </p:nvSpPr>
          <p:spPr>
            <a:xfrm rot="19351612">
              <a:off x="6853577" y="2943449"/>
              <a:ext cx="3898809" cy="635188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8" name="Google Shape;3707;p62">
              <a:extLst>
                <a:ext uri="{FF2B5EF4-FFF2-40B4-BE49-F238E27FC236}">
                  <a16:creationId xmlns:a16="http://schemas.microsoft.com/office/drawing/2014/main" id="{14488662-2F4D-4E01-9B11-9C1CBDD3E054}"/>
                </a:ext>
              </a:extLst>
            </p:cNvPr>
            <p:cNvCxnSpPr/>
            <p:nvPr/>
          </p:nvCxnSpPr>
          <p:spPr>
            <a:xfrm rot="10800000">
              <a:off x="6409702" y="5368610"/>
              <a:ext cx="5099894" cy="14650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9" name="Google Shape;3708;p62">
              <a:extLst>
                <a:ext uri="{FF2B5EF4-FFF2-40B4-BE49-F238E27FC236}">
                  <a16:creationId xmlns:a16="http://schemas.microsoft.com/office/drawing/2014/main" id="{DF3C78EE-ECDD-4EEE-8843-0E669FA768D3}"/>
                </a:ext>
              </a:extLst>
            </p:cNvPr>
            <p:cNvSpPr/>
            <p:nvPr/>
          </p:nvSpPr>
          <p:spPr>
            <a:xfrm rot="8931971">
              <a:off x="8450498" y="4184749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709;p62">
              <a:extLst>
                <a:ext uri="{FF2B5EF4-FFF2-40B4-BE49-F238E27FC236}">
                  <a16:creationId xmlns:a16="http://schemas.microsoft.com/office/drawing/2014/main" id="{6E2E49D6-0390-4C18-BA29-9301955CDB6C}"/>
                </a:ext>
              </a:extLst>
            </p:cNvPr>
            <p:cNvSpPr/>
            <p:nvPr/>
          </p:nvSpPr>
          <p:spPr>
            <a:xfrm rot="8931971">
              <a:off x="8129263" y="4524561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710;p62">
              <a:extLst>
                <a:ext uri="{FF2B5EF4-FFF2-40B4-BE49-F238E27FC236}">
                  <a16:creationId xmlns:a16="http://schemas.microsoft.com/office/drawing/2014/main" id="{CC46042D-88DB-4976-BDE9-8F6A84E65A7C}"/>
                </a:ext>
              </a:extLst>
            </p:cNvPr>
            <p:cNvSpPr/>
            <p:nvPr/>
          </p:nvSpPr>
          <p:spPr>
            <a:xfrm rot="8931971">
              <a:off x="8385046" y="4601178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711;p62">
              <a:extLst>
                <a:ext uri="{FF2B5EF4-FFF2-40B4-BE49-F238E27FC236}">
                  <a16:creationId xmlns:a16="http://schemas.microsoft.com/office/drawing/2014/main" id="{437AFC6A-0B8C-4727-93AF-3BCEAB12C7F3}"/>
                </a:ext>
              </a:extLst>
            </p:cNvPr>
            <p:cNvSpPr/>
            <p:nvPr/>
          </p:nvSpPr>
          <p:spPr>
            <a:xfrm rot="8931971">
              <a:off x="9044696" y="346711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712;p62">
              <a:extLst>
                <a:ext uri="{FF2B5EF4-FFF2-40B4-BE49-F238E27FC236}">
                  <a16:creationId xmlns:a16="http://schemas.microsoft.com/office/drawing/2014/main" id="{3BB31132-14F9-42E7-96E4-407CD052FEA0}"/>
                </a:ext>
              </a:extLst>
            </p:cNvPr>
            <p:cNvSpPr/>
            <p:nvPr/>
          </p:nvSpPr>
          <p:spPr>
            <a:xfrm rot="8931971">
              <a:off x="8233564" y="4262145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713;p62">
              <a:extLst>
                <a:ext uri="{FF2B5EF4-FFF2-40B4-BE49-F238E27FC236}">
                  <a16:creationId xmlns:a16="http://schemas.microsoft.com/office/drawing/2014/main" id="{1CD658A2-52A1-4F7E-82D9-C9AAF8FD281D}"/>
                </a:ext>
              </a:extLst>
            </p:cNvPr>
            <p:cNvSpPr/>
            <p:nvPr/>
          </p:nvSpPr>
          <p:spPr>
            <a:xfrm rot="8931971">
              <a:off x="9370426" y="3385116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714;p62">
              <a:extLst>
                <a:ext uri="{FF2B5EF4-FFF2-40B4-BE49-F238E27FC236}">
                  <a16:creationId xmlns:a16="http://schemas.microsoft.com/office/drawing/2014/main" id="{2EE4E68F-1695-4474-BF20-DBCB090BF4D5}"/>
                </a:ext>
              </a:extLst>
            </p:cNvPr>
            <p:cNvSpPr/>
            <p:nvPr/>
          </p:nvSpPr>
          <p:spPr>
            <a:xfrm rot="8931971">
              <a:off x="9626810" y="4236276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715;p62">
              <a:extLst>
                <a:ext uri="{FF2B5EF4-FFF2-40B4-BE49-F238E27FC236}">
                  <a16:creationId xmlns:a16="http://schemas.microsoft.com/office/drawing/2014/main" id="{422A43D4-03CF-498E-AB64-71D4DEF51D39}"/>
                </a:ext>
              </a:extLst>
            </p:cNvPr>
            <p:cNvSpPr/>
            <p:nvPr/>
          </p:nvSpPr>
          <p:spPr>
            <a:xfrm rot="8931971">
              <a:off x="9752268" y="3491939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" name="Google Shape;3718;p62">
              <a:extLst>
                <a:ext uri="{FF2B5EF4-FFF2-40B4-BE49-F238E27FC236}">
                  <a16:creationId xmlns:a16="http://schemas.microsoft.com/office/drawing/2014/main" id="{E50CC299-4704-4533-AA55-130D59C57E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7846" y="1522148"/>
              <a:ext cx="3937493" cy="2989862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" name="Google Shape;3719;p62">
              <a:extLst>
                <a:ext uri="{FF2B5EF4-FFF2-40B4-BE49-F238E27FC236}">
                  <a16:creationId xmlns:a16="http://schemas.microsoft.com/office/drawing/2014/main" id="{7EA906D5-1E91-4C64-BE8D-9A2A370234D0}"/>
                </a:ext>
              </a:extLst>
            </p:cNvPr>
            <p:cNvCxnSpPr/>
            <p:nvPr/>
          </p:nvCxnSpPr>
          <p:spPr>
            <a:xfrm rot="10800000" flipH="1">
              <a:off x="6566109" y="1678745"/>
              <a:ext cx="13943" cy="3884176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22" name="Google Shape;3720;p62">
              <a:extLst>
                <a:ext uri="{FF2B5EF4-FFF2-40B4-BE49-F238E27FC236}">
                  <a16:creationId xmlns:a16="http://schemas.microsoft.com/office/drawing/2014/main" id="{56F31CEF-EDA3-4361-9B36-7A96DEE95718}"/>
                </a:ext>
              </a:extLst>
            </p:cNvPr>
            <p:cNvSpPr/>
            <p:nvPr/>
          </p:nvSpPr>
          <p:spPr>
            <a:xfrm rot="8931971">
              <a:off x="9226987" y="3943302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721;p62">
              <a:extLst>
                <a:ext uri="{FF2B5EF4-FFF2-40B4-BE49-F238E27FC236}">
                  <a16:creationId xmlns:a16="http://schemas.microsoft.com/office/drawing/2014/main" id="{45D46EA5-8DD3-4789-8958-ED7D1FCC18D2}"/>
                </a:ext>
              </a:extLst>
            </p:cNvPr>
            <p:cNvSpPr/>
            <p:nvPr/>
          </p:nvSpPr>
          <p:spPr>
            <a:xfrm rot="8931971">
              <a:off x="8724637" y="423627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722;p62">
              <a:extLst>
                <a:ext uri="{FF2B5EF4-FFF2-40B4-BE49-F238E27FC236}">
                  <a16:creationId xmlns:a16="http://schemas.microsoft.com/office/drawing/2014/main" id="{74BD9329-A92E-42C4-816D-635AB9AA7669}"/>
                </a:ext>
              </a:extLst>
            </p:cNvPr>
            <p:cNvSpPr/>
            <p:nvPr/>
          </p:nvSpPr>
          <p:spPr>
            <a:xfrm rot="8931971">
              <a:off x="9926214" y="3154675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728;p62">
              <a:extLst>
                <a:ext uri="{FF2B5EF4-FFF2-40B4-BE49-F238E27FC236}">
                  <a16:creationId xmlns:a16="http://schemas.microsoft.com/office/drawing/2014/main" id="{20279080-B251-42C5-9007-38F90585744F}"/>
                </a:ext>
              </a:extLst>
            </p:cNvPr>
            <p:cNvSpPr/>
            <p:nvPr/>
          </p:nvSpPr>
          <p:spPr>
            <a:xfrm rot="8931971">
              <a:off x="8954329" y="3798564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3734;p62">
              <a:extLst>
                <a:ext uri="{FF2B5EF4-FFF2-40B4-BE49-F238E27FC236}">
                  <a16:creationId xmlns:a16="http://schemas.microsoft.com/office/drawing/2014/main" id="{F1C05825-9DC6-413D-A55B-DD3227BD3BB5}"/>
                </a:ext>
              </a:extLst>
            </p:cNvPr>
            <p:cNvSpPr/>
            <p:nvPr/>
          </p:nvSpPr>
          <p:spPr>
            <a:xfrm rot="8931971">
              <a:off x="9537607" y="4006424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35;p62">
              <a:extLst>
                <a:ext uri="{FF2B5EF4-FFF2-40B4-BE49-F238E27FC236}">
                  <a16:creationId xmlns:a16="http://schemas.microsoft.com/office/drawing/2014/main" id="{C3FDA6D4-E264-42C2-8C55-BD4F61CF8090}"/>
                </a:ext>
              </a:extLst>
            </p:cNvPr>
            <p:cNvSpPr/>
            <p:nvPr/>
          </p:nvSpPr>
          <p:spPr>
            <a:xfrm rot="8931971">
              <a:off x="9399036" y="3702658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746;p62">
              <a:extLst>
                <a:ext uri="{FF2B5EF4-FFF2-40B4-BE49-F238E27FC236}">
                  <a16:creationId xmlns:a16="http://schemas.microsoft.com/office/drawing/2014/main" id="{69FE8933-2515-4720-A6DD-3754362B924C}"/>
                </a:ext>
              </a:extLst>
            </p:cNvPr>
            <p:cNvSpPr/>
            <p:nvPr/>
          </p:nvSpPr>
          <p:spPr>
            <a:xfrm rot="8931971">
              <a:off x="8753635" y="4590198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747;p62">
              <a:extLst>
                <a:ext uri="{FF2B5EF4-FFF2-40B4-BE49-F238E27FC236}">
                  <a16:creationId xmlns:a16="http://schemas.microsoft.com/office/drawing/2014/main" id="{4507CD2C-64BE-4374-BA62-6FFDC4FDA1F5}"/>
                </a:ext>
              </a:extLst>
            </p:cNvPr>
            <p:cNvSpPr/>
            <p:nvPr/>
          </p:nvSpPr>
          <p:spPr>
            <a:xfrm rot="8931971">
              <a:off x="9149628" y="4608385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749;p62">
              <a:extLst>
                <a:ext uri="{FF2B5EF4-FFF2-40B4-BE49-F238E27FC236}">
                  <a16:creationId xmlns:a16="http://schemas.microsoft.com/office/drawing/2014/main" id="{771C133F-A599-4076-A2B2-715EF316490F}"/>
                </a:ext>
              </a:extLst>
            </p:cNvPr>
            <p:cNvSpPr/>
            <p:nvPr/>
          </p:nvSpPr>
          <p:spPr>
            <a:xfrm rot="8931971">
              <a:off x="9180857" y="4254841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761;p62">
              <a:extLst>
                <a:ext uri="{FF2B5EF4-FFF2-40B4-BE49-F238E27FC236}">
                  <a16:creationId xmlns:a16="http://schemas.microsoft.com/office/drawing/2014/main" id="{775E7F8A-FA3E-449A-A37C-DFFC09581C7E}"/>
                </a:ext>
              </a:extLst>
            </p:cNvPr>
            <p:cNvSpPr/>
            <p:nvPr/>
          </p:nvSpPr>
          <p:spPr>
            <a:xfrm rot="8931971">
              <a:off x="7902335" y="4342390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3762;p62">
              <a:extLst>
                <a:ext uri="{FF2B5EF4-FFF2-40B4-BE49-F238E27FC236}">
                  <a16:creationId xmlns:a16="http://schemas.microsoft.com/office/drawing/2014/main" id="{2BC096DC-BBD7-4E5F-B5AE-025824FCDDF4}"/>
                </a:ext>
              </a:extLst>
            </p:cNvPr>
            <p:cNvSpPr/>
            <p:nvPr/>
          </p:nvSpPr>
          <p:spPr>
            <a:xfrm rot="8931971">
              <a:off x="9597227" y="3044859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3764;p62">
              <a:extLst>
                <a:ext uri="{FF2B5EF4-FFF2-40B4-BE49-F238E27FC236}">
                  <a16:creationId xmlns:a16="http://schemas.microsoft.com/office/drawing/2014/main" id="{ED824A43-A57B-499C-A051-CA7B2A3E0C9E}"/>
                </a:ext>
              </a:extLst>
            </p:cNvPr>
            <p:cNvSpPr/>
            <p:nvPr/>
          </p:nvSpPr>
          <p:spPr>
            <a:xfrm rot="8931971">
              <a:off x="10209541" y="340274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3765;p62">
              <a:extLst>
                <a:ext uri="{FF2B5EF4-FFF2-40B4-BE49-F238E27FC236}">
                  <a16:creationId xmlns:a16="http://schemas.microsoft.com/office/drawing/2014/main" id="{D3CD65D6-B709-45F6-A6E3-347A73668E13}"/>
                </a:ext>
              </a:extLst>
            </p:cNvPr>
            <p:cNvSpPr/>
            <p:nvPr/>
          </p:nvSpPr>
          <p:spPr>
            <a:xfrm rot="8931971">
              <a:off x="8543885" y="3855412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BCEC1699-D37B-48B9-92FA-CF0AC1DAB83A}"/>
                </a:ext>
              </a:extLst>
            </p:cNvPr>
            <p:cNvSpPr/>
            <p:nvPr/>
          </p:nvSpPr>
          <p:spPr>
            <a:xfrm>
              <a:off x="8265751" y="2752182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id="{9A866BA8-D75F-44D4-9FC0-5A0334FF09A6}"/>
                </a:ext>
              </a:extLst>
            </p:cNvPr>
            <p:cNvSpPr/>
            <p:nvPr/>
          </p:nvSpPr>
          <p:spPr>
            <a:xfrm>
              <a:off x="8535888" y="2854256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id="{5B791913-F5F5-4BAA-97EE-B9CDAA300715}"/>
                </a:ext>
              </a:extLst>
            </p:cNvPr>
            <p:cNvSpPr/>
            <p:nvPr/>
          </p:nvSpPr>
          <p:spPr>
            <a:xfrm>
              <a:off x="8580499" y="2411046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4DA7EE79-2C31-42B9-B334-BE9F4B0C7F4A}"/>
                </a:ext>
              </a:extLst>
            </p:cNvPr>
            <p:cNvSpPr/>
            <p:nvPr/>
          </p:nvSpPr>
          <p:spPr>
            <a:xfrm>
              <a:off x="8191416" y="1726977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5F086A49-7115-4910-BAED-FAB629720968}"/>
                </a:ext>
              </a:extLst>
            </p:cNvPr>
            <p:cNvSpPr/>
            <p:nvPr/>
          </p:nvSpPr>
          <p:spPr>
            <a:xfrm>
              <a:off x="8161951" y="2096076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72B97D96-69A4-472D-B5AD-DD271236ADD8}"/>
                </a:ext>
              </a:extLst>
            </p:cNvPr>
            <p:cNvSpPr/>
            <p:nvPr/>
          </p:nvSpPr>
          <p:spPr>
            <a:xfrm>
              <a:off x="8314351" y="2248476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54ACCDFF-75F7-45DF-8F1A-2EDCEDB7310E}"/>
                </a:ext>
              </a:extLst>
            </p:cNvPr>
            <p:cNvSpPr/>
            <p:nvPr/>
          </p:nvSpPr>
          <p:spPr>
            <a:xfrm>
              <a:off x="8701888" y="1841315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id="{665A6DA2-7FF0-4940-BC49-3E8908ECF334}"/>
                </a:ext>
              </a:extLst>
            </p:cNvPr>
            <p:cNvSpPr/>
            <p:nvPr/>
          </p:nvSpPr>
          <p:spPr>
            <a:xfrm>
              <a:off x="9090817" y="1754048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id="{E7FF3BF8-9470-4219-AD46-354807C1DDD5}"/>
                </a:ext>
              </a:extLst>
            </p:cNvPr>
            <p:cNvSpPr/>
            <p:nvPr/>
          </p:nvSpPr>
          <p:spPr>
            <a:xfrm>
              <a:off x="8830544" y="2143222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71A34BDB-8106-438C-A739-920DAF005C52}"/>
                </a:ext>
              </a:extLst>
            </p:cNvPr>
            <p:cNvSpPr/>
            <p:nvPr/>
          </p:nvSpPr>
          <p:spPr>
            <a:xfrm>
              <a:off x="7474897" y="2296672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id="{FDC9155B-6D40-453C-B69A-66DC8A6AB31C}"/>
                </a:ext>
              </a:extLst>
            </p:cNvPr>
            <p:cNvSpPr/>
            <p:nvPr/>
          </p:nvSpPr>
          <p:spPr>
            <a:xfrm>
              <a:off x="8979993" y="2504136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等腰三角形 79">
              <a:extLst>
                <a:ext uri="{FF2B5EF4-FFF2-40B4-BE49-F238E27FC236}">
                  <a16:creationId xmlns:a16="http://schemas.microsoft.com/office/drawing/2014/main" id="{30A87E80-676C-449C-AD25-FC3A797B5180}"/>
                </a:ext>
              </a:extLst>
            </p:cNvPr>
            <p:cNvSpPr/>
            <p:nvPr/>
          </p:nvSpPr>
          <p:spPr>
            <a:xfrm>
              <a:off x="7490973" y="2592620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等腰三角形 80">
              <a:extLst>
                <a:ext uri="{FF2B5EF4-FFF2-40B4-BE49-F238E27FC236}">
                  <a16:creationId xmlns:a16="http://schemas.microsoft.com/office/drawing/2014/main" id="{6E30FE5E-A8CD-4B15-9EDA-25AA73DE00DC}"/>
                </a:ext>
              </a:extLst>
            </p:cNvPr>
            <p:cNvSpPr/>
            <p:nvPr/>
          </p:nvSpPr>
          <p:spPr>
            <a:xfrm>
              <a:off x="7878510" y="2185459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等腰三角形 81">
              <a:extLst>
                <a:ext uri="{FF2B5EF4-FFF2-40B4-BE49-F238E27FC236}">
                  <a16:creationId xmlns:a16="http://schemas.microsoft.com/office/drawing/2014/main" id="{3811CC80-7C66-41A5-AB5A-47975EEEFF1C}"/>
                </a:ext>
              </a:extLst>
            </p:cNvPr>
            <p:cNvSpPr/>
            <p:nvPr/>
          </p:nvSpPr>
          <p:spPr>
            <a:xfrm>
              <a:off x="7097732" y="2773544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等腰三角形 82">
              <a:extLst>
                <a:ext uri="{FF2B5EF4-FFF2-40B4-BE49-F238E27FC236}">
                  <a16:creationId xmlns:a16="http://schemas.microsoft.com/office/drawing/2014/main" id="{953AB385-760C-405A-ADB9-B24475EB085D}"/>
                </a:ext>
              </a:extLst>
            </p:cNvPr>
            <p:cNvSpPr/>
            <p:nvPr/>
          </p:nvSpPr>
          <p:spPr>
            <a:xfrm>
              <a:off x="8183310" y="2490259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等腰三角形 83">
              <a:extLst>
                <a:ext uri="{FF2B5EF4-FFF2-40B4-BE49-F238E27FC236}">
                  <a16:creationId xmlns:a16="http://schemas.microsoft.com/office/drawing/2014/main" id="{D99F91CE-AA71-41F2-95A3-195525FCE6F7}"/>
                </a:ext>
              </a:extLst>
            </p:cNvPr>
            <p:cNvSpPr/>
            <p:nvPr/>
          </p:nvSpPr>
          <p:spPr>
            <a:xfrm>
              <a:off x="7298753" y="3089543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等腰三角形 84">
              <a:extLst>
                <a:ext uri="{FF2B5EF4-FFF2-40B4-BE49-F238E27FC236}">
                  <a16:creationId xmlns:a16="http://schemas.microsoft.com/office/drawing/2014/main" id="{4C6A064C-5E0B-4779-AFF2-71DDDF49C5E5}"/>
                </a:ext>
              </a:extLst>
            </p:cNvPr>
            <p:cNvSpPr/>
            <p:nvPr/>
          </p:nvSpPr>
          <p:spPr>
            <a:xfrm>
              <a:off x="7667881" y="3035848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等腰三角形 85">
              <a:extLst>
                <a:ext uri="{FF2B5EF4-FFF2-40B4-BE49-F238E27FC236}">
                  <a16:creationId xmlns:a16="http://schemas.microsoft.com/office/drawing/2014/main" id="{80753768-1C3D-4696-AC2B-24B7C5B625AA}"/>
                </a:ext>
              </a:extLst>
            </p:cNvPr>
            <p:cNvSpPr/>
            <p:nvPr/>
          </p:nvSpPr>
          <p:spPr>
            <a:xfrm>
              <a:off x="7685526" y="3493687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等腰三角形 86">
              <a:extLst>
                <a:ext uri="{FF2B5EF4-FFF2-40B4-BE49-F238E27FC236}">
                  <a16:creationId xmlns:a16="http://schemas.microsoft.com/office/drawing/2014/main" id="{153DD54F-9EA5-40D9-9945-8B1439FC95B2}"/>
                </a:ext>
              </a:extLst>
            </p:cNvPr>
            <p:cNvSpPr/>
            <p:nvPr/>
          </p:nvSpPr>
          <p:spPr>
            <a:xfrm>
              <a:off x="7192077" y="3440569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等腰三角形 87">
              <a:extLst>
                <a:ext uri="{FF2B5EF4-FFF2-40B4-BE49-F238E27FC236}">
                  <a16:creationId xmlns:a16="http://schemas.microsoft.com/office/drawing/2014/main" id="{DF2F7782-903D-4593-93AE-05F72737135F}"/>
                </a:ext>
              </a:extLst>
            </p:cNvPr>
            <p:cNvSpPr/>
            <p:nvPr/>
          </p:nvSpPr>
          <p:spPr>
            <a:xfrm>
              <a:off x="8143490" y="3139582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等腰三角形 88">
              <a:extLst>
                <a:ext uri="{FF2B5EF4-FFF2-40B4-BE49-F238E27FC236}">
                  <a16:creationId xmlns:a16="http://schemas.microsoft.com/office/drawing/2014/main" id="{C2F45278-4D7C-4DD2-9D21-7AC01C2A020D}"/>
                </a:ext>
              </a:extLst>
            </p:cNvPr>
            <p:cNvSpPr/>
            <p:nvPr/>
          </p:nvSpPr>
          <p:spPr>
            <a:xfrm>
              <a:off x="7814182" y="2653494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3" name="Google Shape;3718;p62">
              <a:extLst>
                <a:ext uri="{FF2B5EF4-FFF2-40B4-BE49-F238E27FC236}">
                  <a16:creationId xmlns:a16="http://schemas.microsoft.com/office/drawing/2014/main" id="{FD299ACF-B16C-42B0-9A59-3C6EFBA4C6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9451" y="1678744"/>
              <a:ext cx="3400988" cy="2591124"/>
            </a:xfrm>
            <a:prstGeom prst="straightConnector1">
              <a:avLst/>
            </a:prstGeom>
            <a:ln>
              <a:solidFill>
                <a:srgbClr val="004586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4" name="Google Shape;3718;p62">
              <a:extLst>
                <a:ext uri="{FF2B5EF4-FFF2-40B4-BE49-F238E27FC236}">
                  <a16:creationId xmlns:a16="http://schemas.microsoft.com/office/drawing/2014/main" id="{509C94DE-D567-4EF7-9BE6-5F053F39B9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4330" y="2176914"/>
              <a:ext cx="3400988" cy="2591124"/>
            </a:xfrm>
            <a:prstGeom prst="straightConnector1">
              <a:avLst/>
            </a:prstGeom>
            <a:ln>
              <a:solidFill>
                <a:srgbClr val="004586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连接符: 曲线 100">
              <a:extLst>
                <a:ext uri="{FF2B5EF4-FFF2-40B4-BE49-F238E27FC236}">
                  <a16:creationId xmlns:a16="http://schemas.microsoft.com/office/drawing/2014/main" id="{31BFC52D-447E-4322-A897-245391389C1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272254" y="1535982"/>
              <a:ext cx="617144" cy="525802"/>
            </a:xfrm>
            <a:prstGeom prst="curvedConnector3">
              <a:avLst>
                <a:gd name="adj1" fmla="val 50000"/>
              </a:avLst>
            </a:prstGeom>
            <a:ln w="19050">
              <a:prstDash val="soli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15" name="直接箭头连接符 4114">
              <a:extLst>
                <a:ext uri="{FF2B5EF4-FFF2-40B4-BE49-F238E27FC236}">
                  <a16:creationId xmlns:a16="http://schemas.microsoft.com/office/drawing/2014/main" id="{25D4846E-863F-44B8-B98B-68F1DAC53493}"/>
                </a:ext>
              </a:extLst>
            </p:cNvPr>
            <p:cNvCxnSpPr>
              <a:cxnSpLocks/>
            </p:cNvCxnSpPr>
            <p:nvPr/>
          </p:nvCxnSpPr>
          <p:spPr>
            <a:xfrm>
              <a:off x="10286202" y="1777133"/>
              <a:ext cx="351395" cy="476101"/>
            </a:xfrm>
            <a:prstGeom prst="straightConnector1">
              <a:avLst/>
            </a:prstGeom>
            <a:ln w="38100">
              <a:solidFill>
                <a:srgbClr val="FF99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DE00322D-699D-45CC-AFFB-E45F4645EA34}"/>
                  </a:ext>
                </a:extLst>
              </p:cNvPr>
              <p:cNvSpPr txBox="1"/>
              <p:nvPr/>
            </p:nvSpPr>
            <p:spPr>
              <a:xfrm>
                <a:off x="10584098" y="1570344"/>
                <a:ext cx="1416148" cy="342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6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CN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latin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DE00322D-699D-45CC-AFFB-E45F4645E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4098" y="1570344"/>
                <a:ext cx="1416148" cy="3429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9B6C8C2B-6E6D-418E-90B1-7303DFD54E28}"/>
                  </a:ext>
                </a:extLst>
              </p:cNvPr>
              <p:cNvSpPr txBox="1"/>
              <p:nvPr/>
            </p:nvSpPr>
            <p:spPr>
              <a:xfrm>
                <a:off x="9134749" y="1694994"/>
                <a:ext cx="1416148" cy="342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6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CN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>
                  <a:latin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9B6C8C2B-6E6D-418E-90B1-7303DFD54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4749" y="1694994"/>
                <a:ext cx="1416148" cy="3429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5CB6D22A-F150-4E69-8806-F659DF6C344B}"/>
                  </a:ext>
                </a:extLst>
              </p:cNvPr>
              <p:cNvSpPr txBox="1"/>
              <p:nvPr/>
            </p:nvSpPr>
            <p:spPr>
              <a:xfrm>
                <a:off x="10539830" y="2431251"/>
                <a:ext cx="1567763" cy="342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6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CN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sz="1600" dirty="0">
                  <a:latin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5CB6D22A-F150-4E69-8806-F659DF6C3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9830" y="2431251"/>
                <a:ext cx="1567763" cy="3429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连接符: 曲线 96">
            <a:extLst>
              <a:ext uri="{FF2B5EF4-FFF2-40B4-BE49-F238E27FC236}">
                <a16:creationId xmlns:a16="http://schemas.microsoft.com/office/drawing/2014/main" id="{3E387F8B-1800-438B-8215-7E8B7A6D7C99}"/>
              </a:ext>
            </a:extLst>
          </p:cNvPr>
          <p:cNvCxnSpPr>
            <a:cxnSpLocks/>
            <a:stCxn id="69" idx="2"/>
          </p:cNvCxnSpPr>
          <p:nvPr/>
        </p:nvCxnSpPr>
        <p:spPr>
          <a:xfrm rot="5400000">
            <a:off x="10816010" y="1643597"/>
            <a:ext cx="206436" cy="745888"/>
          </a:xfrm>
          <a:prstGeom prst="curvedConnector2">
            <a:avLst/>
          </a:prstGeom>
          <a:ln w="19050"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连接符: 曲线 97">
            <a:extLst>
              <a:ext uri="{FF2B5EF4-FFF2-40B4-BE49-F238E27FC236}">
                <a16:creationId xmlns:a16="http://schemas.microsoft.com/office/drawing/2014/main" id="{38526598-908D-42B0-B035-77D75911FA13}"/>
              </a:ext>
            </a:extLst>
          </p:cNvPr>
          <p:cNvCxnSpPr>
            <a:cxnSpLocks/>
          </p:cNvCxnSpPr>
          <p:nvPr/>
        </p:nvCxnSpPr>
        <p:spPr>
          <a:xfrm rot="10800000" flipV="1">
            <a:off x="9979837" y="2702356"/>
            <a:ext cx="896435" cy="140959"/>
          </a:xfrm>
          <a:prstGeom prst="curvedConnector3">
            <a:avLst>
              <a:gd name="adj1" fmla="val 2398"/>
            </a:avLst>
          </a:prstGeom>
          <a:ln w="19050"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C1D4AAC1-134F-41B5-9E14-F719AA18D0D5}"/>
                  </a:ext>
                </a:extLst>
              </p:cNvPr>
              <p:cNvSpPr txBox="1"/>
              <p:nvPr/>
            </p:nvSpPr>
            <p:spPr>
              <a:xfrm>
                <a:off x="6392933" y="5504239"/>
                <a:ext cx="2023801" cy="7005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||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||</m:t>
                          </m:r>
                        </m:den>
                      </m:f>
                    </m:oMath>
                  </m:oMathPara>
                </a14:m>
                <a:endParaRPr lang="zh-CN" altLang="en-US" sz="18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C1D4AAC1-134F-41B5-9E14-F719AA18D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933" y="5504239"/>
                <a:ext cx="2023801" cy="7005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542E2AFD-DCB2-42B3-AC4E-034A36CCDB73}"/>
                  </a:ext>
                </a:extLst>
              </p:cNvPr>
              <p:cNvSpPr txBox="1"/>
              <p:nvPr/>
            </p:nvSpPr>
            <p:spPr>
              <a:xfrm rot="20963141">
                <a:off x="8124584" y="3524695"/>
                <a:ext cx="42476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542E2AFD-DCB2-42B3-AC4E-034A36CCD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63141">
                <a:off x="8124584" y="3524695"/>
                <a:ext cx="424761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2C3FE653-9C58-4F04-8C6E-35419B83E749}"/>
              </a:ext>
            </a:extLst>
          </p:cNvPr>
          <p:cNvCxnSpPr>
            <a:cxnSpLocks/>
          </p:cNvCxnSpPr>
          <p:nvPr/>
        </p:nvCxnSpPr>
        <p:spPr>
          <a:xfrm>
            <a:off x="8197444" y="3662362"/>
            <a:ext cx="123683" cy="1543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DBB6DF53-2CA6-43C3-A604-1C17278911D2}"/>
              </a:ext>
            </a:extLst>
          </p:cNvPr>
          <p:cNvCxnSpPr>
            <a:cxnSpLocks/>
          </p:cNvCxnSpPr>
          <p:nvPr/>
        </p:nvCxnSpPr>
        <p:spPr>
          <a:xfrm>
            <a:off x="8365415" y="3796265"/>
            <a:ext cx="123683" cy="1543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19BCE33F-020B-4359-8D2F-A9B7AA03EF2B}"/>
                  </a:ext>
                </a:extLst>
              </p:cNvPr>
              <p:cNvSpPr txBox="1"/>
              <p:nvPr/>
            </p:nvSpPr>
            <p:spPr>
              <a:xfrm rot="20963141">
                <a:off x="8313545" y="3642021"/>
                <a:ext cx="42476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19BCE33F-020B-4359-8D2F-A9B7AA03E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63141">
                <a:off x="8313545" y="3642021"/>
                <a:ext cx="424761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0FA4000B-2F23-423F-85C1-49B1B6A09E21}"/>
                  </a:ext>
                </a:extLst>
              </p:cNvPr>
              <p:cNvSpPr txBox="1"/>
              <p:nvPr/>
            </p:nvSpPr>
            <p:spPr>
              <a:xfrm>
                <a:off x="693234" y="2048654"/>
                <a:ext cx="6347805" cy="2016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如图所示，根据支持向量的定义我们知道，支持向量到超平面的距离为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，其他点到超平面的距离大于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于是我们有这样的一个公式</a:t>
                </a:r>
                <a:r>
                  <a:rPr lang="zh-CN" altLang="zh-CN" sz="1800" dirty="0"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：故</a:t>
                </a:r>
                <a:r>
                  <a:rPr lang="zh-CN" altLang="zh-CN" sz="2000" dirty="0"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0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CN" altLang="zh-CN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0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0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US" altLang="zh-CN" sz="20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  <m:r>
                                    <a:rPr lang="en-US" altLang="zh-CN" sz="20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  <m:r>
                                    <a:rPr lang="en-US" altLang="zh-CN" sz="20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den>
                              </m:f>
                              <m:r>
                                <a:rPr lang="en-US" altLang="zh-CN" sz="20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≥</m:t>
                              </m:r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 </m:t>
                              </m:r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altLang="zh-CN" sz="20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zh-CN" altLang="zh-CN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0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0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US" altLang="zh-CN" sz="20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  <m:r>
                                    <a:rPr lang="en-US" altLang="zh-CN" sz="20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  <m:r>
                                    <a:rPr lang="en-US" altLang="zh-CN" sz="20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den>
                              </m:f>
                              <m:r>
                                <a:rPr lang="en-US" altLang="zh-CN" sz="20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≤</m:t>
                              </m:r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 </m:t>
                              </m:r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altLang="zh-CN" sz="20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zh-CN" sz="2400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0FA4000B-2F23-423F-85C1-49B1B6A09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234" y="2048654"/>
                <a:ext cx="6347805" cy="2016834"/>
              </a:xfrm>
              <a:prstGeom prst="rect">
                <a:avLst/>
              </a:prstGeom>
              <a:blipFill>
                <a:blip r:embed="rId11"/>
                <a:stretch>
                  <a:fillRect l="-865" t="-1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F2F5D9EE-9B51-4FDE-870D-01B686EAA375}"/>
                  </a:ext>
                </a:extLst>
              </p:cNvPr>
              <p:cNvSpPr txBox="1"/>
              <p:nvPr/>
            </p:nvSpPr>
            <p:spPr>
              <a:xfrm>
                <a:off x="756549" y="4140960"/>
                <a:ext cx="6519466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我们暂且令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 1</a:t>
                </a:r>
                <a:r>
                  <a:rPr lang="zh-CN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（之所以令它等于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 1</a:t>
                </a:r>
                <a:r>
                  <a:rPr lang="zh-CN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，是为了方便推导和优化，且这样做对目标函数的优化没有影响），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将两个方程合并，我们可以简写为：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至此我们就可以得到最大间隔超平面的上下两个超平面：</a:t>
                </a:r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F2F5D9EE-9B51-4FDE-870D-01B686EAA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549" y="4140960"/>
                <a:ext cx="6519466" cy="1938992"/>
              </a:xfrm>
              <a:prstGeom prst="rect">
                <a:avLst/>
              </a:prstGeom>
              <a:blipFill>
                <a:blip r:embed="rId12"/>
                <a:stretch>
                  <a:fillRect l="-748" b="-40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899CC9EA-FB51-4A54-AFB4-4CDAAC509A80}"/>
                  </a:ext>
                </a:extLst>
              </p:cNvPr>
              <p:cNvSpPr txBox="1"/>
              <p:nvPr/>
            </p:nvSpPr>
            <p:spPr>
              <a:xfrm>
                <a:off x="2436578" y="5181463"/>
                <a:ext cx="6096000" cy="521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)≥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CN" altLang="zh-CN" sz="2800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899CC9EA-FB51-4A54-AFB4-4CDAAC509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578" y="5181463"/>
                <a:ext cx="6096000" cy="52104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695236"/>
      </p:ext>
    </p:extLst>
  </p:cSld>
  <p:clrMapOvr>
    <a:masterClrMapping/>
  </p:clrMapOvr>
  <p:transition advTm="8005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对角圆角矩形 8">
            <a:extLst>
              <a:ext uri="{FF2B5EF4-FFF2-40B4-BE49-F238E27FC236}">
                <a16:creationId xmlns:a16="http://schemas.microsoft.com/office/drawing/2014/main" id="{CAE08E35-DEC9-4689-915B-1B27E7F9279D}"/>
              </a:ext>
            </a:extLst>
          </p:cNvPr>
          <p:cNvSpPr/>
          <p:nvPr/>
        </p:nvSpPr>
        <p:spPr>
          <a:xfrm>
            <a:off x="2611642" y="2702861"/>
            <a:ext cx="6278833" cy="647700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1353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2.</a:t>
            </a:r>
            <a:r>
              <a:rPr lang="zh-CN" altLang="en-US" dirty="0">
                <a:solidFill>
                  <a:schemeClr val="tx1"/>
                </a:solidFill>
              </a:rPr>
              <a:t>线性可分支持向量机</a:t>
            </a:r>
          </a:p>
        </p:txBody>
      </p:sp>
      <p:sp>
        <p:nvSpPr>
          <p:cNvPr id="44" name="TextBox 6"/>
          <p:cNvSpPr txBox="1">
            <a:spLocks noChangeArrowheads="1"/>
          </p:cNvSpPr>
          <p:nvPr/>
        </p:nvSpPr>
        <p:spPr bwMode="auto">
          <a:xfrm>
            <a:off x="3002507" y="1872975"/>
            <a:ext cx="5105475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01 </a:t>
            </a:r>
            <a:r>
              <a:rPr lang="en-US" altLang="zh-CN" sz="4000" dirty="0">
                <a:latin typeface="Impact" pitchFamily="34" charset="0"/>
                <a:ea typeface="微软雅黑" pitchFamily="34" charset="-122"/>
              </a:rPr>
              <a:t> </a:t>
            </a:r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  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支持向量机概述</a:t>
            </a:r>
            <a:endParaRPr lang="en-US" altLang="zh-CN" sz="3600" dirty="0"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CE822752-ED3E-40A5-A413-EA904066F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2508" y="2749712"/>
            <a:ext cx="507241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02    </a:t>
            </a:r>
            <a:r>
              <a:rPr lang="zh-CN" altLang="en-US" sz="36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线性可分支持向量机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DE451D03-4E2B-4B55-B1F5-AAA25318C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2507" y="3564894"/>
            <a:ext cx="629759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03    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线性支持向量机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9D5D64A-90E0-4181-9705-14943FB68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9495" y="4380075"/>
            <a:ext cx="57460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04    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线性不可分支持向量机</a:t>
            </a:r>
          </a:p>
        </p:txBody>
      </p:sp>
    </p:spTree>
    <p:extLst>
      <p:ext uri="{BB962C8B-B14F-4D97-AF65-F5344CB8AC3E}">
        <p14:creationId xmlns:p14="http://schemas.microsoft.com/office/powerpoint/2010/main" val="2820402274"/>
      </p:ext>
    </p:extLst>
  </p:cSld>
  <p:clrMapOvr>
    <a:masterClrMapping/>
  </p:clrMapOvr>
  <p:transition advTm="8005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线性可分</a:t>
            </a:r>
            <a:r>
              <a:rPr lang="zh-CN" altLang="en-US" dirty="0"/>
              <a:t>支持向量机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51BAD8-F509-4094-9DA5-A807CA95B36A}"/>
              </a:ext>
            </a:extLst>
          </p:cNvPr>
          <p:cNvSpPr txBox="1"/>
          <p:nvPr/>
        </p:nvSpPr>
        <p:spPr>
          <a:xfrm>
            <a:off x="668338" y="1334020"/>
            <a:ext cx="1455882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kern="100" dirty="0">
                <a:latin typeface="微软雅黑" panose="020B0503020204020204" pitchFamily="34" charset="-122"/>
              </a:rPr>
              <a:t>背景知识</a:t>
            </a:r>
            <a:endParaRPr lang="en-US" altLang="zh-CN" b="1" kern="100" dirty="0">
              <a:latin typeface="微软雅黑" panose="020B0503020204020204" pitchFamily="34" charset="-122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CB37A580-2D05-4985-A35C-B5827E81B74C}"/>
              </a:ext>
            </a:extLst>
          </p:cNvPr>
          <p:cNvGrpSpPr/>
          <p:nvPr/>
        </p:nvGrpSpPr>
        <p:grpSpPr>
          <a:xfrm>
            <a:off x="7533650" y="1978079"/>
            <a:ext cx="3422514" cy="2782810"/>
            <a:chOff x="6409702" y="1490311"/>
            <a:chExt cx="5099894" cy="4072610"/>
          </a:xfrm>
        </p:grpSpPr>
        <p:sp>
          <p:nvSpPr>
            <p:cNvPr id="4100" name="矩形 4099">
              <a:extLst>
                <a:ext uri="{FF2B5EF4-FFF2-40B4-BE49-F238E27FC236}">
                  <a16:creationId xmlns:a16="http://schemas.microsoft.com/office/drawing/2014/main" id="{C0B41A2E-4DD8-471D-AC71-C3BFBDBD22DC}"/>
                </a:ext>
              </a:extLst>
            </p:cNvPr>
            <p:cNvSpPr/>
            <p:nvPr/>
          </p:nvSpPr>
          <p:spPr>
            <a:xfrm rot="19351612">
              <a:off x="6853577" y="2943449"/>
              <a:ext cx="3898809" cy="635188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8" name="Google Shape;3707;p62">
              <a:extLst>
                <a:ext uri="{FF2B5EF4-FFF2-40B4-BE49-F238E27FC236}">
                  <a16:creationId xmlns:a16="http://schemas.microsoft.com/office/drawing/2014/main" id="{14488662-2F4D-4E01-9B11-9C1CBDD3E054}"/>
                </a:ext>
              </a:extLst>
            </p:cNvPr>
            <p:cNvCxnSpPr/>
            <p:nvPr/>
          </p:nvCxnSpPr>
          <p:spPr>
            <a:xfrm rot="10800000">
              <a:off x="6409702" y="5368610"/>
              <a:ext cx="5099894" cy="14650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9" name="Google Shape;3708;p62">
              <a:extLst>
                <a:ext uri="{FF2B5EF4-FFF2-40B4-BE49-F238E27FC236}">
                  <a16:creationId xmlns:a16="http://schemas.microsoft.com/office/drawing/2014/main" id="{DF3C78EE-ECDD-4EEE-8843-0E669FA768D3}"/>
                </a:ext>
              </a:extLst>
            </p:cNvPr>
            <p:cNvSpPr/>
            <p:nvPr/>
          </p:nvSpPr>
          <p:spPr>
            <a:xfrm rot="8931971">
              <a:off x="8450498" y="4184749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709;p62">
              <a:extLst>
                <a:ext uri="{FF2B5EF4-FFF2-40B4-BE49-F238E27FC236}">
                  <a16:creationId xmlns:a16="http://schemas.microsoft.com/office/drawing/2014/main" id="{6E2E49D6-0390-4C18-BA29-9301955CDB6C}"/>
                </a:ext>
              </a:extLst>
            </p:cNvPr>
            <p:cNvSpPr/>
            <p:nvPr/>
          </p:nvSpPr>
          <p:spPr>
            <a:xfrm rot="8931971">
              <a:off x="8129263" y="4524561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710;p62">
              <a:extLst>
                <a:ext uri="{FF2B5EF4-FFF2-40B4-BE49-F238E27FC236}">
                  <a16:creationId xmlns:a16="http://schemas.microsoft.com/office/drawing/2014/main" id="{CC46042D-88DB-4976-BDE9-8F6A84E65A7C}"/>
                </a:ext>
              </a:extLst>
            </p:cNvPr>
            <p:cNvSpPr/>
            <p:nvPr/>
          </p:nvSpPr>
          <p:spPr>
            <a:xfrm rot="8931971">
              <a:off x="8385046" y="4601178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711;p62">
              <a:extLst>
                <a:ext uri="{FF2B5EF4-FFF2-40B4-BE49-F238E27FC236}">
                  <a16:creationId xmlns:a16="http://schemas.microsoft.com/office/drawing/2014/main" id="{437AFC6A-0B8C-4727-93AF-3BCEAB12C7F3}"/>
                </a:ext>
              </a:extLst>
            </p:cNvPr>
            <p:cNvSpPr/>
            <p:nvPr/>
          </p:nvSpPr>
          <p:spPr>
            <a:xfrm rot="8931971">
              <a:off x="9044696" y="346711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712;p62">
              <a:extLst>
                <a:ext uri="{FF2B5EF4-FFF2-40B4-BE49-F238E27FC236}">
                  <a16:creationId xmlns:a16="http://schemas.microsoft.com/office/drawing/2014/main" id="{3BB31132-14F9-42E7-96E4-407CD052FEA0}"/>
                </a:ext>
              </a:extLst>
            </p:cNvPr>
            <p:cNvSpPr/>
            <p:nvPr/>
          </p:nvSpPr>
          <p:spPr>
            <a:xfrm rot="8931971">
              <a:off x="8233564" y="4262145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713;p62">
              <a:extLst>
                <a:ext uri="{FF2B5EF4-FFF2-40B4-BE49-F238E27FC236}">
                  <a16:creationId xmlns:a16="http://schemas.microsoft.com/office/drawing/2014/main" id="{1CD658A2-52A1-4F7E-82D9-C9AAF8FD281D}"/>
                </a:ext>
              </a:extLst>
            </p:cNvPr>
            <p:cNvSpPr/>
            <p:nvPr/>
          </p:nvSpPr>
          <p:spPr>
            <a:xfrm rot="8931971">
              <a:off x="9370426" y="3385116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714;p62">
              <a:extLst>
                <a:ext uri="{FF2B5EF4-FFF2-40B4-BE49-F238E27FC236}">
                  <a16:creationId xmlns:a16="http://schemas.microsoft.com/office/drawing/2014/main" id="{2EE4E68F-1695-4474-BF20-DBCB090BF4D5}"/>
                </a:ext>
              </a:extLst>
            </p:cNvPr>
            <p:cNvSpPr/>
            <p:nvPr/>
          </p:nvSpPr>
          <p:spPr>
            <a:xfrm rot="8931971">
              <a:off x="9626810" y="4236276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715;p62">
              <a:extLst>
                <a:ext uri="{FF2B5EF4-FFF2-40B4-BE49-F238E27FC236}">
                  <a16:creationId xmlns:a16="http://schemas.microsoft.com/office/drawing/2014/main" id="{422A43D4-03CF-498E-AB64-71D4DEF51D39}"/>
                </a:ext>
              </a:extLst>
            </p:cNvPr>
            <p:cNvSpPr/>
            <p:nvPr/>
          </p:nvSpPr>
          <p:spPr>
            <a:xfrm rot="8931971">
              <a:off x="9752268" y="3491939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" name="Google Shape;3718;p62">
              <a:extLst>
                <a:ext uri="{FF2B5EF4-FFF2-40B4-BE49-F238E27FC236}">
                  <a16:creationId xmlns:a16="http://schemas.microsoft.com/office/drawing/2014/main" id="{E50CC299-4704-4533-AA55-130D59C57E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7846" y="1522148"/>
              <a:ext cx="3937493" cy="2989862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" name="Google Shape;3719;p62">
              <a:extLst>
                <a:ext uri="{FF2B5EF4-FFF2-40B4-BE49-F238E27FC236}">
                  <a16:creationId xmlns:a16="http://schemas.microsoft.com/office/drawing/2014/main" id="{7EA906D5-1E91-4C64-BE8D-9A2A370234D0}"/>
                </a:ext>
              </a:extLst>
            </p:cNvPr>
            <p:cNvCxnSpPr/>
            <p:nvPr/>
          </p:nvCxnSpPr>
          <p:spPr>
            <a:xfrm rot="10800000" flipH="1">
              <a:off x="6566109" y="1678745"/>
              <a:ext cx="13943" cy="3884176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22" name="Google Shape;3720;p62">
              <a:extLst>
                <a:ext uri="{FF2B5EF4-FFF2-40B4-BE49-F238E27FC236}">
                  <a16:creationId xmlns:a16="http://schemas.microsoft.com/office/drawing/2014/main" id="{56F31CEF-EDA3-4361-9B36-7A96DEE95718}"/>
                </a:ext>
              </a:extLst>
            </p:cNvPr>
            <p:cNvSpPr/>
            <p:nvPr/>
          </p:nvSpPr>
          <p:spPr>
            <a:xfrm rot="8931971">
              <a:off x="9226987" y="3943302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721;p62">
              <a:extLst>
                <a:ext uri="{FF2B5EF4-FFF2-40B4-BE49-F238E27FC236}">
                  <a16:creationId xmlns:a16="http://schemas.microsoft.com/office/drawing/2014/main" id="{45D46EA5-8DD3-4789-8958-ED7D1FCC18D2}"/>
                </a:ext>
              </a:extLst>
            </p:cNvPr>
            <p:cNvSpPr/>
            <p:nvPr/>
          </p:nvSpPr>
          <p:spPr>
            <a:xfrm rot="8931971">
              <a:off x="8724637" y="423627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722;p62">
              <a:extLst>
                <a:ext uri="{FF2B5EF4-FFF2-40B4-BE49-F238E27FC236}">
                  <a16:creationId xmlns:a16="http://schemas.microsoft.com/office/drawing/2014/main" id="{74BD9329-A92E-42C4-816D-635AB9AA7669}"/>
                </a:ext>
              </a:extLst>
            </p:cNvPr>
            <p:cNvSpPr/>
            <p:nvPr/>
          </p:nvSpPr>
          <p:spPr>
            <a:xfrm rot="8931971">
              <a:off x="9926214" y="3154675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728;p62">
              <a:extLst>
                <a:ext uri="{FF2B5EF4-FFF2-40B4-BE49-F238E27FC236}">
                  <a16:creationId xmlns:a16="http://schemas.microsoft.com/office/drawing/2014/main" id="{20279080-B251-42C5-9007-38F90585744F}"/>
                </a:ext>
              </a:extLst>
            </p:cNvPr>
            <p:cNvSpPr/>
            <p:nvPr/>
          </p:nvSpPr>
          <p:spPr>
            <a:xfrm rot="8931971">
              <a:off x="8954329" y="3798564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3734;p62">
              <a:extLst>
                <a:ext uri="{FF2B5EF4-FFF2-40B4-BE49-F238E27FC236}">
                  <a16:creationId xmlns:a16="http://schemas.microsoft.com/office/drawing/2014/main" id="{F1C05825-9DC6-413D-A55B-DD3227BD3BB5}"/>
                </a:ext>
              </a:extLst>
            </p:cNvPr>
            <p:cNvSpPr/>
            <p:nvPr/>
          </p:nvSpPr>
          <p:spPr>
            <a:xfrm rot="8931971">
              <a:off x="9537607" y="4006424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35;p62">
              <a:extLst>
                <a:ext uri="{FF2B5EF4-FFF2-40B4-BE49-F238E27FC236}">
                  <a16:creationId xmlns:a16="http://schemas.microsoft.com/office/drawing/2014/main" id="{C3FDA6D4-E264-42C2-8C55-BD4F61CF8090}"/>
                </a:ext>
              </a:extLst>
            </p:cNvPr>
            <p:cNvSpPr/>
            <p:nvPr/>
          </p:nvSpPr>
          <p:spPr>
            <a:xfrm rot="8931971">
              <a:off x="9399036" y="3702658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746;p62">
              <a:extLst>
                <a:ext uri="{FF2B5EF4-FFF2-40B4-BE49-F238E27FC236}">
                  <a16:creationId xmlns:a16="http://schemas.microsoft.com/office/drawing/2014/main" id="{69FE8933-2515-4720-A6DD-3754362B924C}"/>
                </a:ext>
              </a:extLst>
            </p:cNvPr>
            <p:cNvSpPr/>
            <p:nvPr/>
          </p:nvSpPr>
          <p:spPr>
            <a:xfrm rot="8931971">
              <a:off x="8753635" y="4590198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747;p62">
              <a:extLst>
                <a:ext uri="{FF2B5EF4-FFF2-40B4-BE49-F238E27FC236}">
                  <a16:creationId xmlns:a16="http://schemas.microsoft.com/office/drawing/2014/main" id="{4507CD2C-64BE-4374-BA62-6FFDC4FDA1F5}"/>
                </a:ext>
              </a:extLst>
            </p:cNvPr>
            <p:cNvSpPr/>
            <p:nvPr/>
          </p:nvSpPr>
          <p:spPr>
            <a:xfrm rot="8931971">
              <a:off x="9149628" y="4608385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749;p62">
              <a:extLst>
                <a:ext uri="{FF2B5EF4-FFF2-40B4-BE49-F238E27FC236}">
                  <a16:creationId xmlns:a16="http://schemas.microsoft.com/office/drawing/2014/main" id="{771C133F-A599-4076-A2B2-715EF316490F}"/>
                </a:ext>
              </a:extLst>
            </p:cNvPr>
            <p:cNvSpPr/>
            <p:nvPr/>
          </p:nvSpPr>
          <p:spPr>
            <a:xfrm rot="8931971">
              <a:off x="9180857" y="4254841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761;p62">
              <a:extLst>
                <a:ext uri="{FF2B5EF4-FFF2-40B4-BE49-F238E27FC236}">
                  <a16:creationId xmlns:a16="http://schemas.microsoft.com/office/drawing/2014/main" id="{775E7F8A-FA3E-449A-A37C-DFFC09581C7E}"/>
                </a:ext>
              </a:extLst>
            </p:cNvPr>
            <p:cNvSpPr/>
            <p:nvPr/>
          </p:nvSpPr>
          <p:spPr>
            <a:xfrm rot="8931971">
              <a:off x="7902335" y="4342390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3762;p62">
              <a:extLst>
                <a:ext uri="{FF2B5EF4-FFF2-40B4-BE49-F238E27FC236}">
                  <a16:creationId xmlns:a16="http://schemas.microsoft.com/office/drawing/2014/main" id="{2BC096DC-BBD7-4E5F-B5AE-025824FCDDF4}"/>
                </a:ext>
              </a:extLst>
            </p:cNvPr>
            <p:cNvSpPr/>
            <p:nvPr/>
          </p:nvSpPr>
          <p:spPr>
            <a:xfrm rot="8931971">
              <a:off x="9597227" y="3044859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3764;p62">
              <a:extLst>
                <a:ext uri="{FF2B5EF4-FFF2-40B4-BE49-F238E27FC236}">
                  <a16:creationId xmlns:a16="http://schemas.microsoft.com/office/drawing/2014/main" id="{ED824A43-A57B-499C-A051-CA7B2A3E0C9E}"/>
                </a:ext>
              </a:extLst>
            </p:cNvPr>
            <p:cNvSpPr/>
            <p:nvPr/>
          </p:nvSpPr>
          <p:spPr>
            <a:xfrm rot="8931971">
              <a:off x="10209541" y="340274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3765;p62">
              <a:extLst>
                <a:ext uri="{FF2B5EF4-FFF2-40B4-BE49-F238E27FC236}">
                  <a16:creationId xmlns:a16="http://schemas.microsoft.com/office/drawing/2014/main" id="{D3CD65D6-B709-45F6-A6E3-347A73668E13}"/>
                </a:ext>
              </a:extLst>
            </p:cNvPr>
            <p:cNvSpPr/>
            <p:nvPr/>
          </p:nvSpPr>
          <p:spPr>
            <a:xfrm rot="8931971">
              <a:off x="8543885" y="3855412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BCEC1699-D37B-48B9-92FA-CF0AC1DAB83A}"/>
                </a:ext>
              </a:extLst>
            </p:cNvPr>
            <p:cNvSpPr/>
            <p:nvPr/>
          </p:nvSpPr>
          <p:spPr>
            <a:xfrm>
              <a:off x="8265751" y="2752182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id="{9A866BA8-D75F-44D4-9FC0-5A0334FF09A6}"/>
                </a:ext>
              </a:extLst>
            </p:cNvPr>
            <p:cNvSpPr/>
            <p:nvPr/>
          </p:nvSpPr>
          <p:spPr>
            <a:xfrm>
              <a:off x="8535888" y="2854256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id="{5B791913-F5F5-4BAA-97EE-B9CDAA300715}"/>
                </a:ext>
              </a:extLst>
            </p:cNvPr>
            <p:cNvSpPr/>
            <p:nvPr/>
          </p:nvSpPr>
          <p:spPr>
            <a:xfrm>
              <a:off x="8580499" y="2411046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4DA7EE79-2C31-42B9-B334-BE9F4B0C7F4A}"/>
                </a:ext>
              </a:extLst>
            </p:cNvPr>
            <p:cNvSpPr/>
            <p:nvPr/>
          </p:nvSpPr>
          <p:spPr>
            <a:xfrm>
              <a:off x="8191416" y="1726977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5F086A49-7115-4910-BAED-FAB629720968}"/>
                </a:ext>
              </a:extLst>
            </p:cNvPr>
            <p:cNvSpPr/>
            <p:nvPr/>
          </p:nvSpPr>
          <p:spPr>
            <a:xfrm>
              <a:off x="8161951" y="2096076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72B97D96-69A4-472D-B5AD-DD271236ADD8}"/>
                </a:ext>
              </a:extLst>
            </p:cNvPr>
            <p:cNvSpPr/>
            <p:nvPr/>
          </p:nvSpPr>
          <p:spPr>
            <a:xfrm>
              <a:off x="8314351" y="2248476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54ACCDFF-75F7-45DF-8F1A-2EDCEDB7310E}"/>
                </a:ext>
              </a:extLst>
            </p:cNvPr>
            <p:cNvSpPr/>
            <p:nvPr/>
          </p:nvSpPr>
          <p:spPr>
            <a:xfrm>
              <a:off x="8701888" y="1841315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id="{665A6DA2-7FF0-4940-BC49-3E8908ECF334}"/>
                </a:ext>
              </a:extLst>
            </p:cNvPr>
            <p:cNvSpPr/>
            <p:nvPr/>
          </p:nvSpPr>
          <p:spPr>
            <a:xfrm>
              <a:off x="9090817" y="1754048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id="{E7FF3BF8-9470-4219-AD46-354807C1DDD5}"/>
                </a:ext>
              </a:extLst>
            </p:cNvPr>
            <p:cNvSpPr/>
            <p:nvPr/>
          </p:nvSpPr>
          <p:spPr>
            <a:xfrm>
              <a:off x="8830544" y="2143222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71A34BDB-8106-438C-A739-920DAF005C52}"/>
                </a:ext>
              </a:extLst>
            </p:cNvPr>
            <p:cNvSpPr/>
            <p:nvPr/>
          </p:nvSpPr>
          <p:spPr>
            <a:xfrm>
              <a:off x="7474897" y="2296672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id="{FDC9155B-6D40-453C-B69A-66DC8A6AB31C}"/>
                </a:ext>
              </a:extLst>
            </p:cNvPr>
            <p:cNvSpPr/>
            <p:nvPr/>
          </p:nvSpPr>
          <p:spPr>
            <a:xfrm>
              <a:off x="8979993" y="2504136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等腰三角形 79">
              <a:extLst>
                <a:ext uri="{FF2B5EF4-FFF2-40B4-BE49-F238E27FC236}">
                  <a16:creationId xmlns:a16="http://schemas.microsoft.com/office/drawing/2014/main" id="{30A87E80-676C-449C-AD25-FC3A797B5180}"/>
                </a:ext>
              </a:extLst>
            </p:cNvPr>
            <p:cNvSpPr/>
            <p:nvPr/>
          </p:nvSpPr>
          <p:spPr>
            <a:xfrm>
              <a:off x="7490973" y="2592620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等腰三角形 80">
              <a:extLst>
                <a:ext uri="{FF2B5EF4-FFF2-40B4-BE49-F238E27FC236}">
                  <a16:creationId xmlns:a16="http://schemas.microsoft.com/office/drawing/2014/main" id="{6E30FE5E-A8CD-4B15-9EDA-25AA73DE00DC}"/>
                </a:ext>
              </a:extLst>
            </p:cNvPr>
            <p:cNvSpPr/>
            <p:nvPr/>
          </p:nvSpPr>
          <p:spPr>
            <a:xfrm>
              <a:off x="7878510" y="2185459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等腰三角形 81">
              <a:extLst>
                <a:ext uri="{FF2B5EF4-FFF2-40B4-BE49-F238E27FC236}">
                  <a16:creationId xmlns:a16="http://schemas.microsoft.com/office/drawing/2014/main" id="{3811CC80-7C66-41A5-AB5A-47975EEEFF1C}"/>
                </a:ext>
              </a:extLst>
            </p:cNvPr>
            <p:cNvSpPr/>
            <p:nvPr/>
          </p:nvSpPr>
          <p:spPr>
            <a:xfrm>
              <a:off x="7097732" y="2773544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等腰三角形 82">
              <a:extLst>
                <a:ext uri="{FF2B5EF4-FFF2-40B4-BE49-F238E27FC236}">
                  <a16:creationId xmlns:a16="http://schemas.microsoft.com/office/drawing/2014/main" id="{953AB385-760C-405A-ADB9-B24475EB085D}"/>
                </a:ext>
              </a:extLst>
            </p:cNvPr>
            <p:cNvSpPr/>
            <p:nvPr/>
          </p:nvSpPr>
          <p:spPr>
            <a:xfrm>
              <a:off x="8183310" y="2490259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等腰三角形 83">
              <a:extLst>
                <a:ext uri="{FF2B5EF4-FFF2-40B4-BE49-F238E27FC236}">
                  <a16:creationId xmlns:a16="http://schemas.microsoft.com/office/drawing/2014/main" id="{D99F91CE-AA71-41F2-95A3-195525FCE6F7}"/>
                </a:ext>
              </a:extLst>
            </p:cNvPr>
            <p:cNvSpPr/>
            <p:nvPr/>
          </p:nvSpPr>
          <p:spPr>
            <a:xfrm>
              <a:off x="7298753" y="3089543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等腰三角形 84">
              <a:extLst>
                <a:ext uri="{FF2B5EF4-FFF2-40B4-BE49-F238E27FC236}">
                  <a16:creationId xmlns:a16="http://schemas.microsoft.com/office/drawing/2014/main" id="{4C6A064C-5E0B-4779-AFF2-71DDDF49C5E5}"/>
                </a:ext>
              </a:extLst>
            </p:cNvPr>
            <p:cNvSpPr/>
            <p:nvPr/>
          </p:nvSpPr>
          <p:spPr>
            <a:xfrm>
              <a:off x="7667881" y="3035848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等腰三角形 85">
              <a:extLst>
                <a:ext uri="{FF2B5EF4-FFF2-40B4-BE49-F238E27FC236}">
                  <a16:creationId xmlns:a16="http://schemas.microsoft.com/office/drawing/2014/main" id="{80753768-1C3D-4696-AC2B-24B7C5B625AA}"/>
                </a:ext>
              </a:extLst>
            </p:cNvPr>
            <p:cNvSpPr/>
            <p:nvPr/>
          </p:nvSpPr>
          <p:spPr>
            <a:xfrm>
              <a:off x="7685526" y="3493687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等腰三角形 86">
              <a:extLst>
                <a:ext uri="{FF2B5EF4-FFF2-40B4-BE49-F238E27FC236}">
                  <a16:creationId xmlns:a16="http://schemas.microsoft.com/office/drawing/2014/main" id="{153DD54F-9EA5-40D9-9945-8B1439FC95B2}"/>
                </a:ext>
              </a:extLst>
            </p:cNvPr>
            <p:cNvSpPr/>
            <p:nvPr/>
          </p:nvSpPr>
          <p:spPr>
            <a:xfrm>
              <a:off x="7192077" y="3440569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等腰三角形 87">
              <a:extLst>
                <a:ext uri="{FF2B5EF4-FFF2-40B4-BE49-F238E27FC236}">
                  <a16:creationId xmlns:a16="http://schemas.microsoft.com/office/drawing/2014/main" id="{DF2F7782-903D-4593-93AE-05F72737135F}"/>
                </a:ext>
              </a:extLst>
            </p:cNvPr>
            <p:cNvSpPr/>
            <p:nvPr/>
          </p:nvSpPr>
          <p:spPr>
            <a:xfrm>
              <a:off x="8143490" y="3139582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等腰三角形 88">
              <a:extLst>
                <a:ext uri="{FF2B5EF4-FFF2-40B4-BE49-F238E27FC236}">
                  <a16:creationId xmlns:a16="http://schemas.microsoft.com/office/drawing/2014/main" id="{C2F45278-4D7C-4DD2-9D21-7AC01C2A020D}"/>
                </a:ext>
              </a:extLst>
            </p:cNvPr>
            <p:cNvSpPr/>
            <p:nvPr/>
          </p:nvSpPr>
          <p:spPr>
            <a:xfrm>
              <a:off x="7814182" y="2653494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3" name="Google Shape;3718;p62">
              <a:extLst>
                <a:ext uri="{FF2B5EF4-FFF2-40B4-BE49-F238E27FC236}">
                  <a16:creationId xmlns:a16="http://schemas.microsoft.com/office/drawing/2014/main" id="{FD299ACF-B16C-42B0-9A59-3C6EFBA4C6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9451" y="1678744"/>
              <a:ext cx="3400988" cy="2591124"/>
            </a:xfrm>
            <a:prstGeom prst="straightConnector1">
              <a:avLst/>
            </a:prstGeom>
            <a:ln>
              <a:solidFill>
                <a:srgbClr val="004586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4" name="Google Shape;3718;p62">
              <a:extLst>
                <a:ext uri="{FF2B5EF4-FFF2-40B4-BE49-F238E27FC236}">
                  <a16:creationId xmlns:a16="http://schemas.microsoft.com/office/drawing/2014/main" id="{509C94DE-D567-4EF7-9BE6-5F053F39B9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4330" y="2176914"/>
              <a:ext cx="3400988" cy="2591124"/>
            </a:xfrm>
            <a:prstGeom prst="straightConnector1">
              <a:avLst/>
            </a:prstGeom>
            <a:ln>
              <a:solidFill>
                <a:srgbClr val="004586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连接符: 曲线 100">
              <a:extLst>
                <a:ext uri="{FF2B5EF4-FFF2-40B4-BE49-F238E27FC236}">
                  <a16:creationId xmlns:a16="http://schemas.microsoft.com/office/drawing/2014/main" id="{31BFC52D-447E-4322-A897-245391389C1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272254" y="1535982"/>
              <a:ext cx="617144" cy="525802"/>
            </a:xfrm>
            <a:prstGeom prst="curvedConnector3">
              <a:avLst>
                <a:gd name="adj1" fmla="val 50000"/>
              </a:avLst>
            </a:prstGeom>
            <a:ln w="19050">
              <a:prstDash val="soli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15" name="直接箭头连接符 4114">
              <a:extLst>
                <a:ext uri="{FF2B5EF4-FFF2-40B4-BE49-F238E27FC236}">
                  <a16:creationId xmlns:a16="http://schemas.microsoft.com/office/drawing/2014/main" id="{25D4846E-863F-44B8-B98B-68F1DAC53493}"/>
                </a:ext>
              </a:extLst>
            </p:cNvPr>
            <p:cNvCxnSpPr>
              <a:cxnSpLocks/>
            </p:cNvCxnSpPr>
            <p:nvPr/>
          </p:nvCxnSpPr>
          <p:spPr>
            <a:xfrm>
              <a:off x="10286202" y="1777133"/>
              <a:ext cx="351395" cy="476101"/>
            </a:xfrm>
            <a:prstGeom prst="straightConnector1">
              <a:avLst/>
            </a:prstGeom>
            <a:ln w="38100">
              <a:solidFill>
                <a:srgbClr val="FF99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DE00322D-699D-45CC-AFFB-E45F4645EA34}"/>
                  </a:ext>
                </a:extLst>
              </p:cNvPr>
              <p:cNvSpPr txBox="1"/>
              <p:nvPr/>
            </p:nvSpPr>
            <p:spPr>
              <a:xfrm>
                <a:off x="10584098" y="1570344"/>
                <a:ext cx="141614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6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>
                  <a:latin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DE00322D-699D-45CC-AFFB-E45F4645E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4098" y="1570344"/>
                <a:ext cx="1416148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9B6C8C2B-6E6D-418E-90B1-7303DFD54E28}"/>
                  </a:ext>
                </a:extLst>
              </p:cNvPr>
              <p:cNvSpPr txBox="1"/>
              <p:nvPr/>
            </p:nvSpPr>
            <p:spPr>
              <a:xfrm>
                <a:off x="9134749" y="1694994"/>
                <a:ext cx="141614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6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>
                  <a:latin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9B6C8C2B-6E6D-418E-90B1-7303DFD54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4749" y="1694994"/>
                <a:ext cx="1416148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5CB6D22A-F150-4E69-8806-F659DF6C344B}"/>
                  </a:ext>
                </a:extLst>
              </p:cNvPr>
              <p:cNvSpPr txBox="1"/>
              <p:nvPr/>
            </p:nvSpPr>
            <p:spPr>
              <a:xfrm>
                <a:off x="10539830" y="2431251"/>
                <a:ext cx="15677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6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sz="1600" dirty="0">
                  <a:latin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5CB6D22A-F150-4E69-8806-F659DF6C3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9830" y="2431251"/>
                <a:ext cx="1567763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连接符: 曲线 96">
            <a:extLst>
              <a:ext uri="{FF2B5EF4-FFF2-40B4-BE49-F238E27FC236}">
                <a16:creationId xmlns:a16="http://schemas.microsoft.com/office/drawing/2014/main" id="{3E387F8B-1800-438B-8215-7E8B7A6D7C99}"/>
              </a:ext>
            </a:extLst>
          </p:cNvPr>
          <p:cNvCxnSpPr>
            <a:cxnSpLocks/>
            <a:stCxn id="69" idx="2"/>
          </p:cNvCxnSpPr>
          <p:nvPr/>
        </p:nvCxnSpPr>
        <p:spPr>
          <a:xfrm rot="5400000">
            <a:off x="10813797" y="1641383"/>
            <a:ext cx="210861" cy="745890"/>
          </a:xfrm>
          <a:prstGeom prst="curvedConnector2">
            <a:avLst/>
          </a:prstGeom>
          <a:ln w="19050"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连接符: 曲线 97">
            <a:extLst>
              <a:ext uri="{FF2B5EF4-FFF2-40B4-BE49-F238E27FC236}">
                <a16:creationId xmlns:a16="http://schemas.microsoft.com/office/drawing/2014/main" id="{38526598-908D-42B0-B035-77D75911FA13}"/>
              </a:ext>
            </a:extLst>
          </p:cNvPr>
          <p:cNvCxnSpPr>
            <a:cxnSpLocks/>
          </p:cNvCxnSpPr>
          <p:nvPr/>
        </p:nvCxnSpPr>
        <p:spPr>
          <a:xfrm rot="10800000" flipV="1">
            <a:off x="9979837" y="2702356"/>
            <a:ext cx="896435" cy="140959"/>
          </a:xfrm>
          <a:prstGeom prst="curvedConnector3">
            <a:avLst>
              <a:gd name="adj1" fmla="val 2398"/>
            </a:avLst>
          </a:prstGeom>
          <a:ln w="19050"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C1D4AAC1-134F-41B5-9E14-F719AA18D0D5}"/>
                  </a:ext>
                </a:extLst>
              </p:cNvPr>
              <p:cNvSpPr txBox="1"/>
              <p:nvPr/>
            </p:nvSpPr>
            <p:spPr>
              <a:xfrm>
                <a:off x="3269361" y="3947004"/>
                <a:ext cx="2023801" cy="7931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r>
                            <a:rPr lang="en-US" altLang="zh-CN" sz="2000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000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zh-CN" sz="2000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en-US" altLang="zh-CN" sz="2000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||</m:t>
                          </m:r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zh-CN" sz="2000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||</m:t>
                          </m:r>
                        </m:den>
                      </m:f>
                    </m:oMath>
                  </m:oMathPara>
                </a14:m>
                <a:endParaRPr lang="zh-CN" altLang="en-US" sz="20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C1D4AAC1-134F-41B5-9E14-F719AA18D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361" y="3947004"/>
                <a:ext cx="2023801" cy="79310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542E2AFD-DCB2-42B3-AC4E-034A36CCDB73}"/>
                  </a:ext>
                </a:extLst>
              </p:cNvPr>
              <p:cNvSpPr txBox="1"/>
              <p:nvPr/>
            </p:nvSpPr>
            <p:spPr>
              <a:xfrm rot="20963141">
                <a:off x="8124584" y="3524695"/>
                <a:ext cx="42476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542E2AFD-DCB2-42B3-AC4E-034A36CCD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63141">
                <a:off x="8124584" y="3524695"/>
                <a:ext cx="424761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2C3FE653-9C58-4F04-8C6E-35419B83E749}"/>
              </a:ext>
            </a:extLst>
          </p:cNvPr>
          <p:cNvCxnSpPr>
            <a:cxnSpLocks/>
          </p:cNvCxnSpPr>
          <p:nvPr/>
        </p:nvCxnSpPr>
        <p:spPr>
          <a:xfrm>
            <a:off x="8197444" y="3662362"/>
            <a:ext cx="123683" cy="1543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DBB6DF53-2CA6-43C3-A604-1C17278911D2}"/>
              </a:ext>
            </a:extLst>
          </p:cNvPr>
          <p:cNvCxnSpPr>
            <a:cxnSpLocks/>
          </p:cNvCxnSpPr>
          <p:nvPr/>
        </p:nvCxnSpPr>
        <p:spPr>
          <a:xfrm>
            <a:off x="8365415" y="3796265"/>
            <a:ext cx="123683" cy="1543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19BCE33F-020B-4359-8D2F-A9B7AA03EF2B}"/>
                  </a:ext>
                </a:extLst>
              </p:cNvPr>
              <p:cNvSpPr txBox="1"/>
              <p:nvPr/>
            </p:nvSpPr>
            <p:spPr>
              <a:xfrm rot="20963141">
                <a:off x="8313545" y="3642021"/>
                <a:ext cx="42476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19BCE33F-020B-4359-8D2F-A9B7AA03E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63141">
                <a:off x="8313545" y="3642021"/>
                <a:ext cx="424761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899CC9EA-FB51-4A54-AFB4-4CDAAC509A80}"/>
                  </a:ext>
                </a:extLst>
              </p:cNvPr>
              <p:cNvSpPr txBox="1"/>
              <p:nvPr/>
            </p:nvSpPr>
            <p:spPr>
              <a:xfrm>
                <a:off x="655093" y="4167540"/>
                <a:ext cx="2263672" cy="521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)≥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CN" altLang="zh-CN" sz="2800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899CC9EA-FB51-4A54-AFB4-4CDAAC509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93" y="4167540"/>
                <a:ext cx="2263672" cy="5210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41C75408-A5E7-49B0-9F48-E7BB154DB709}"/>
                  </a:ext>
                </a:extLst>
              </p:cNvPr>
              <p:cNvSpPr txBox="1"/>
              <p:nvPr/>
            </p:nvSpPr>
            <p:spPr>
              <a:xfrm>
                <a:off x="566342" y="4820644"/>
                <a:ext cx="2318564" cy="405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41C75408-A5E7-49B0-9F48-E7BB154DB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42" y="4820644"/>
                <a:ext cx="2318564" cy="405624"/>
              </a:xfrm>
              <a:prstGeom prst="rect">
                <a:avLst/>
              </a:prstGeom>
              <a:blipFill>
                <a:blip r:embed="rId1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473867DE-4CAB-48F1-82E1-F816DB34C487}"/>
                  </a:ext>
                </a:extLst>
              </p:cNvPr>
              <p:cNvSpPr txBox="1"/>
              <p:nvPr/>
            </p:nvSpPr>
            <p:spPr>
              <a:xfrm>
                <a:off x="2198581" y="4819216"/>
                <a:ext cx="1922142" cy="405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smtClean="0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|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|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473867DE-4CAB-48F1-82E1-F816DB34C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8581" y="4819216"/>
                <a:ext cx="1922142" cy="405624"/>
              </a:xfrm>
              <a:prstGeom prst="rect">
                <a:avLst/>
              </a:prstGeom>
              <a:blipFill>
                <a:blip r:embed="rId1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AAD2AB5-0E22-4CCC-9768-E0F7221C40BA}"/>
                  </a:ext>
                </a:extLst>
              </p:cNvPr>
              <p:cNvSpPr txBox="1"/>
              <p:nvPr/>
            </p:nvSpPr>
            <p:spPr>
              <a:xfrm>
                <a:off x="857994" y="5619167"/>
                <a:ext cx="54287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支持向量机的最终目的是最大化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effectLst/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AAD2AB5-0E22-4CCC-9768-E0F7221C4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94" y="5619167"/>
                <a:ext cx="5428752" cy="461665"/>
              </a:xfrm>
              <a:prstGeom prst="rect">
                <a:avLst/>
              </a:prstGeom>
              <a:blipFill>
                <a:blip r:embed="rId14"/>
                <a:stretch>
                  <a:fillRect l="-1798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9A3D7B77-CD53-4CAB-96C5-A39BECE6B934}"/>
                  </a:ext>
                </a:extLst>
              </p:cNvPr>
              <p:cNvSpPr txBox="1"/>
              <p:nvPr/>
            </p:nvSpPr>
            <p:spPr>
              <a:xfrm>
                <a:off x="497416" y="2664122"/>
                <a:ext cx="4164037" cy="8754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9A3D7B77-CD53-4CAB-96C5-A39BECE6B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416" y="2664122"/>
                <a:ext cx="4164037" cy="87549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文本框 103">
            <a:extLst>
              <a:ext uri="{FF2B5EF4-FFF2-40B4-BE49-F238E27FC236}">
                <a16:creationId xmlns:a16="http://schemas.microsoft.com/office/drawing/2014/main" id="{7BD499E4-F6A0-4310-B56C-1A8D0C00DF69}"/>
              </a:ext>
            </a:extLst>
          </p:cNvPr>
          <p:cNvSpPr txBox="1"/>
          <p:nvPr/>
        </p:nvSpPr>
        <p:spPr>
          <a:xfrm>
            <a:off x="668338" y="2051227"/>
            <a:ext cx="29052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点到面的距离公式</a:t>
            </a:r>
          </a:p>
        </p:txBody>
      </p:sp>
    </p:spTree>
    <p:extLst>
      <p:ext uri="{BB962C8B-B14F-4D97-AF65-F5344CB8AC3E}">
        <p14:creationId xmlns:p14="http://schemas.microsoft.com/office/powerpoint/2010/main" val="3504209156"/>
      </p:ext>
    </p:extLst>
  </p:cSld>
  <p:clrMapOvr>
    <a:masterClrMapping/>
  </p:clrMapOvr>
  <p:transition advTm="8005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22">
            <a:extLst>
              <a:ext uri="{FF2B5EF4-FFF2-40B4-BE49-F238E27FC236}">
                <a16:creationId xmlns:a16="http://schemas.microsoft.com/office/drawing/2014/main" id="{4CDD033A-9BDC-462A-93B9-D2A3289CB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145" y="208280"/>
            <a:ext cx="66812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3600" b="1">
                <a:latin typeface="+mj-lt"/>
                <a:ea typeface="+mj-ea"/>
                <a:cs typeface="+mj-cs"/>
              </a:defRPr>
            </a:lvl1pPr>
            <a:lvl2pPr algn="ctr">
              <a:defRPr sz="3600" b="1">
                <a:solidFill>
                  <a:schemeClr val="tx2"/>
                </a:solidFill>
              </a:defRPr>
            </a:lvl2pPr>
            <a:lvl3pPr algn="ctr">
              <a:defRPr sz="3600" b="1">
                <a:solidFill>
                  <a:schemeClr val="tx2"/>
                </a:solidFill>
              </a:defRPr>
            </a:lvl3pPr>
            <a:lvl4pPr algn="ctr">
              <a:defRPr sz="3600" b="1">
                <a:solidFill>
                  <a:schemeClr val="tx2"/>
                </a:solidFill>
              </a:defRPr>
            </a:lvl4pPr>
            <a:lvl5pPr algn="ctr">
              <a:defRPr sz="3600" b="1">
                <a:solidFill>
                  <a:schemeClr val="tx2"/>
                </a:solidFill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/>
              <a:t>支持向量机求解</a:t>
            </a:r>
          </a:p>
        </p:txBody>
      </p:sp>
      <p:sp>
        <p:nvSpPr>
          <p:cNvPr id="20" name="AutoShape 5" descr="data:image/png;base64,iVBORw0KGgoAAAANSUhEUgAAAtEAAAHwCAYAAABg0TMJAAAABHNCSVQICAgIfAhkiAAAAAlwSFlz%0AAAALEgAACxIB0t1+/AAAIABJREFUeJzs3Xd4lFX6xvHvIUYIRSKIaEIVMYCgBKKC2FtcXTGi4qJi%0AFysKSiju7s+y7goEKdIULIAiiyJmdUURARXsYNBoIIAKSII0iYBECcn5/XEmGNh0MvNOuT/XxeXk%0AzZRnJkjuOfO8zzHWWkREREREpPJqeV2AiIiIiEioUYgWEREREakihWgRERERkSpSiBYRERERqSKF%0AaBERERGRKlKIFhERERGpIoVoEQlKxphWxhhrjDnM9/XbxpgbA/C4jxhjXvL34/geK8EYs8IYs8sY%0Ac58x5mljzN8D8djBxhizzhhzQTVve6YxJruma6rE40bsz0tEFKJF5BD4gk++MWa3MWazMWaaMaa+%0APx7LWvsna+30StZUrTBWifs+xxhT5Hu+u4wx2caYmw/hLgcDi621Day1T1lr77TW/qPEY22smcor%0Az/cmosD3HPOMMR8bY7oHuo7y+N5cHV/8tbV2ibU2wU+PdasxZpXv573ZGDPPGNPA97j7f14iEnkU%0AokXkUF1mra0PdAGSgL8dfAXjhMu/N7m+53sEMASYaozpcPCVilfQK9AS+LaG66sJs33PsQmwFJhr%0AjDEe1xRwxpizgX8Bfay1DYD2wGxvqxKRYBEuv9RExGPW2hzgbaAjgDHmfWPMP40xHwF7gOOMMQ2N%0AMc8ZYzYZY3KMMY8bY6J8148yxowyxmwzxnwPXFry/n33d1uJr283xqz0rRBmGWO6GGNeBFoAb/pW%0AUgf7rtvNt6KaZ4z5yhhzTon7aW2M+cB3PwuAoyr5fK21Nh3YAXQo0X5yqzFmA7DId/89jTHf+h77%0AfWNMe9/xRcC5wARfrSf4VvIfN8bU872Wcb7v7TbGxB30epxmjPmp+PXzHbvCGPO17/Kpxphlxpid%0AvhXU0ZV5Xgc9xwJgOnAM0NgYU8sY8zdjzHpjzBZjzAxjTEPf4xU//37GmFzfz3hQidqmGWMeL/F1%0AmSvtvto/8b1mm4wxE4wxh/u+96Hval/5XpdrDr4vY0x732ud53vtex5Ux0RjzFu+n/lnxpg2ZbwE%0ApwCfWGszfK/Hz9ba6dbaXQc/J2NM8d+54j9FxpibfN9rZ4xZYIz52bhPL3pX6QchIkFJIVpEaoQx%0ApjlwCZBR4nBfoB/QAFgPTAP2AccDicBFQHEwvh34s+94EnBVOY91NfAIcANuRbgnsN1a2xfYgG91%0A3Fo70hgTD7wFPA40AgYBrxljmvju7mVgOS48/wOoVN+1L1BeAcQCmSW+dTZuxTLZGHMCMAsYgFvV%0AnYcL+Idba88DlgD3+mpdXXwH1tpfgT/hW/X2/ckt+fjW2s+AX4HzShy+1vd8AMYB46y1RwBtgFcq%0A87wOeo61gZuAH62123yXb8KF/+OA+sCEg252LtAW97MdYqrXWlMIDMT9TLoD5wN3A1hrz/Jd52Tf%0A63LAyrAxJhp4E3gXOBroD8w0xpRs9/gL8ChwJLAW+GcZdXyG+zk+aozp4Xs9SmWtLf47Vx+4GvgJ%0AWOh7Q7QA93M52vfYk0wpn16ISGhRiBaRQ5VujMnDfez/Ae7j72LTrLXfWmv34QLsJcAAa+2v1tot%0AwBhcqADoDYy11v5orf0ZeKKcx7wNGGmt/cK3IrzWWru+jOteD8yz1s6z1hZZaxcAy4BLjDEtcKuN%0Af7fW/m6t/RAXwMoT53u+24CHgb7W2pIntT3ie375wDXAW9baBb5V3VFADHB6BY9RWbOAPgDG9ele%0A4jsGUAAcb4w5ylq721r7aRXut7fvOf4IdAWu8B2/Dhhtrf3eWrsbGAb8xRzYuvKo7/lnAi8U11cV%0A1trl1tpPrbX7rLXrgGdwb04qoxsu3A+31u611i4C/ntQHa9baz/3/b2cCXQuo44lQC9cq9JbwHZj%0AzOiSq/8H871xmg70ttb+iHtjuM5a+4Lv+WQAr+GCtoiEsMr07ImIlCfFWvteGd/7scTllkA0sMn8%0A0V5bq8R14g66flmhGKA58F0l62sJXG2MuazEsWhgse8xd/hWfks+bvNy7i/XWtusnO+XfA5xlHge%0A1toiY8yPQHwla6/Iy8DHxpi7cGHvyxJvJm4FHgNWGWN+wIXb/1byfl+x1l5fyvEDno/v8mFA0xLH%0ADv4ZdqrkY+7nC6KjcZ9I1PU9xvJK3jwOt3JedFAdJV/zn0pc3oML3aWy1r4NvG1cT/+5wKtANi7Y%0AH1x3Q+A/wN+stUt9h1sCp/nelBQ7DHixks9HRIKUQrSI+JMtcflH4HfgKN8K4ME2cWB4bVHO/f6I%0Aa1Go6DGLr/uitfb2g69ojGkJHGmMqVciSLco5T6qouRtcykRIo1799AcyKni/ZR+BWuzjDHrca0f%0AJVs5sNauAfr4wl8vYI4xpvFBbxiqKhcXCou1wLXnbAaK31g0B1aV+H5xG8qvuEBc7JhyHmcyri2o%0Aj7V2lzFmAOW095RSY3NjTK0SQboFsLqc21TId18Lfb3sHQ/+vu91fhk3bWVKiW/9CHxgrb3wUB5f%0ARIKP2jlEJCCstZtwfapPGmOO8PUUtzFuAgK4nt37jDHNjDFHAkPLubtngUHGmK7GOd4XiMEFuuNK%0AXPcl4DJjTLJxJy/W8Z2I1sy3arsMeNQYc7gx5gzgMmrOK8Clxpjzfb26D+LeSHxcidtuxp3M17CC%0A670M3A+chVslBcAYc70xpokv/BWvghaVcvuqmAUMNO5kzPq41p3ZB70p+rsxpq4x5kTgZv6YZrEC%0A10LTyBhzDK5PvCwNgJ3AbmNMO+Cug75/8M+4pM9wq8uDjTHRxp1Eehnw70o/Sx9jzOXGmL8YY470%0A/T07FddWUlprzD+BerifRUn/BU4wxvT11RNtjDnF+E4wFZHQpRAtIoF0A3A4kIWbajEHONb3vanA%0AfOAr4Etgbll3Yq19FRdaXgZ2Aem4nmtwvdR/801mGOTrS70ceAjYilsZTOWPf/+uBU4Dfsb1OM+o%0AiSfqqzMb15M9HtdDfRnupMe9lbjtKlxo/d73XOLKuOosXLBb5Dv5r9jFwLfGmN24kwz/4uvTxjc9%0A4sxqPKXncW0IHwI/AL/hTtwr6QPcyXoLgVHW2nd9x1/E/WzX4d5MlTcqbhDu57IL9/fi4Os+Akz3%0AvS4HTLrwvbaX4VbntwGTgBt8r2dV7cCd8LoGF+pfAtKstTNLuW4fXD/2jhITOq7zTfK4CNf7n4tr%0AJRkBlHmSooiEBmPtoXxqKSIi4kbc4YJ1dBntOiIiYUUr0SIiIiIiVaQQLSIiIiJSRWrnEBERERGp%0AIq1Ei4iIiIhUkUK0iIiIiEgVhcRmK0cddZRt1aqV12WIiIiISJhbvnz5Nmttk4quFxIhulWrVixb%0AtszrMkREREQkzPl2gq2Q2jlERERERKpIIVpEREREpIoUokVEREREqigkeqJLU1BQwMaNG/ntt9+8%0ALkWAOnXq0KxZM6Kjo70uRURERMTv/BaijTHNgRlAU8ACU6y144wxjwC3A1t9V33IWjuvqve/ceNG%0AGjRoQKtWrTDG1FTZUg3WWrZv387GjRtp3bq11+WIiIiI+J0/V6L3AQ9aa780xjQAlhtjFvi+N8Za%0AO+pQ7vy3335TgA4SxhgaN27M1q1bK76yiIiISBjwW4i21m4CNvku7zLGrATia/IxFKCDh34WIiIi%0AEkkCcmKhMaYVkAh85jvU3xjztTHmeWPMkWXcpp8xZpkxZlmwrnBGRUXRuXNnOnbsyNVXX82ePXuq%0AfV/vv/8+f/7znwF44403GD58eJnXzcvLY9KkSfu/zs3N5aqrrqr2Y4uIiIhI1fg9RBtj6gOvAQOs%0AtTuBycBxQGfcSvWTpd3OWjvFWptkrU1q0qTCTWM8ERMTw4oVK/jmm284/PDDefrppw/4vrWWoqKi%0AKt9vz549GTp0aJnfPzhEx8XFMWfOnCo/joiIiIhUj19DtDEmGhegZ1pr5wJYazdbawuttUXAVOBU%0Af9YQKGeeeSZr165l3bp1JCQkcMMNN9CxY0d+/PFH3n33Xbp3706XLl24+uqr2b17NwDvvPMO7dq1%0Ao0uXLsydO3f/fU2bNo17770XgM2bN3PFFVdw8sknc/LJJ/Pxxx8zdOhQvvvuOzp37kxqairr1q2j%0AY8eOgOsVv/nmm+nUqROJiYksXrx4/3326tWLiy++mLZt2zJ48OAAv0IiIiIi4cOf0zkM8Byw0lo7%0AusTxY3390gBXAN8c8oMNGAArVhzy3Rygc2cYO7ZSV923bx9vv/02F198MQBr1qxh+vTpdOvWjW3b%0AtvH444/z3nvvUa9ePUaMGMHo0aMZPHgwt99+O4sWLeL444/nmmuuKfW+77vvPs4++2xef/11CgsL%0A2b17N8OHD+ebb75hhe85r1u3bv/1J06ciDGGzMxMVq1axUUXXcTq1asBWLFiBRkZGdSuXZuEhAT6%0A9+9P8+bND+FFEhEREYlM/pzO0QPoC2QaY4oT7kNAH2NMZ9zYu3XAHX6swa/y8/Pp3Lkz4Faib731%0AVnJzc2nZsiXdunUD4NNPPyUrK4sePXoAsHfvXrp3786qVato3bo1bdu2BeD6669nypQp//MYixYt%0AYsaMGYDrwW7YsCE7duwos6alS5fSv39/ANq1a0fLli33h+jzzz+fhg0bAtChQwfWr1+vEC0iIiJS%0ADf6czrEUKG1kQ5VnQleokivGNa24J/pg9erV23/ZWsuFF17IrFmzDrhOabfzt9q1a++/HBUVxb59%0A+wJeg4iIiEg40LbfftatWzc++ugj1q5dC8Cvv/7K6tWradeuHevWreO7774D+J+QXez8889n8uTJ%0AABQWFvLLL7/QoEEDdu3aVer1zzzzTGbOnAnA6tWr2bBhAwkJCTX9tEREREQimkK0nzVp0oRp06bR%0Ap08fTjrppP2tHHXq1GHKlClceumldOnShaOPPrrU248bN47FixfTqVMnunbtSlZWFo0bN6ZHjx50%0A7NiR1NTUA65/9913U1RURKdOnbjmmmuYNm3aASvQIiIiInLojLXW6xoqlJSUZJctW3bAsZUrV9K+%0AfXuPKpLS6GciIiIioc4Ys9xam1TR9bQSLSIiIiJSRf6cziEiIiIiUq70jBzS5meTm5dPXGwMqckJ%0ApCTGe11WhRSiRURERMQT6Rk5DJubSX5BIQA5efkMm5sJEPRBWu0cIiIiIuKJtPnZ+wN0sfyCQtLm%0AZ3tUUeUpRIuIiIiIJ3Lz8qt0PJgoRIuIiIiIJ+JiY6p0PJgoRFfT9u3b6dy5M507d+aYY44hPj5+%0A/9d79+49pPt+/fXXSUtLq5E6r7/+elq3bs3JJ5/MCSecwI033khubm6Ftxs9ejS//fZbjdQgIiIi%0AUprU5ARioqMOOBYTHUVqcvBvFKcTC6upcePG+7fufuSRR6hfvz6DBg064DrWWqy11KpVtfcqV1xx%0ARY3VCTBmzBhSUlIoKipi9OjRnHfeeWRmZhIdHV3mbUaPHs0tt9xCnTp1arQWERERkWLFJw+G4nSO%0AiFmJTs/IocfwRbQe+hY9hi8iPSPHL4+zdu1aOnTowHXXXceJJ57Ipk2b6NevH0lJSZx44ok89thj%0A+6/brFkzHnnkERITEznppJNYvXo1AM8++ywDBgwA3Ery/fffz+mnn85xxx3H66+/DrgtwO+8807a%0AtWvHRRddxMUXX0x6enq5tdWqVYtBgwbRqFEj3n33XYBSaxszZgxbtmzhzDPP5IILLijzeiIiIiKH%0AKiUxno+GnscPwy/lo6HnhUSAhggJ0cXjU3Ly8rH8MT7FX0F61apVDBw4kKysLOLj4xk+fDjLli3j%0Aq6++YsGCBWRlZe2/btOmTcnIyOC2225j9OjRpd7fli1b+Oijj0hPT2fYsGEAvPrqq+Tk5JCVlcW0%0AadP45JNPKl1fly5dWLVqFUCptQ0cOJCjjz6aJUuW8N5775V5PREREZFIFREhOtDjU9q0aUNS0h+7%0ARc6aNYsuXbrQpUsXVq5ceUAA7dWrFwBdu3Zl3bp1pd5fSkoKxhhOOukkcnJc8F+6dCm9e/emVq1a%0AxMXFcfbZZ1e6vpJbvZdXW0mVvZ6IiIhIJIiInuhAj0+pV6/e/str1qxh3LhxfP7558TGxnL99dcf%0AcMJe7dq1AYiKimLfvn2l3l/xdeDAAFxdK1as4NJLL62wtso+BxEREZFIExEr0V6OT9m5cycNGjTg%0AiCOOYNOmTcyfP79G7rdHjx7MmTMHay2bNm3iww8/rPA21lrGjBnD9u3bufDCC8utrUGDBuzatcuv%0Az0FEREQkVEXESnRqcsIBW0pC4MandOnShQ4dOtCuXTtatmxJjx49auR+e/fuzaJFi2jfvj0tW7Yk%0AMTGRhg0blnrdgQMH8vDDD5Ofn0/37t1ZtGgR0dHR5dbWr18/LrjgApo3b86CBQv88hxEREREQpWp%0AifYAf0tKSrLLli074NjKlStp3759pe8jPSMnJMenlGf37t3Ur1+frVu3ctppp/HZZ5/RpEkTz+qp%0A6s9EREREJNgYY5Zba5Mqul5ErESDG58S6qH5YH/605/YuXMnBQUFPProo54GaBEREZFIEjEhOhwt%0AWbLE6xJEREREIlJEnFgoIiIiIlKTQjpEh0I/d6TQz0JEREQiSciG6Dp16rB9+3aFtyBgrWX79u3U%0AqVPH61JEREREAiJke6KbNWvGxo0b2bp1q9elCO5NTbNmzbwuQ0RERCQgQjZER0dH07p1a6/LEBER%0AEZEIFLLtHCIiIiIiXgnZlWgRERGJbOG4kZqEDoVoERERCTnpGTkMm5tJfkEhADl5+QybmwmgIC0B%0AoXYOERERCTlp87P3B+hi+QWFpM3P9qgiiTQK0SIiIhJycvPyq3RcpKYpRIuIiEjIiYuNqdJxkZqm%0AEC0iIiIhJzU5gZjoqAOOxURHkZqc4FFFEml0YqGIiIiEnOKTBzWdQ7yiEC0iIiIhKSUxXqFZPKN2%0ADhERERGRKlKIFhERERGpIoVoEREREZEqUogWEREREakihWgRERERkSrSdA4RERGRAErPyNFovjCg%0AlWgRERGRAEnPyGHY3Exy8vKxQE5ePsPmZpKekeN1ad4pKoL0dPjXv7yupEoUokVEREQCJG1+NvkF%0AhQccyy8oJG1+tkcVeWjvXnjhBTjxRLjiCpg+HX7/3euqKk0hWkRERCRAcvPyq3Q8LO3eDWPGQJs2%0AcMstULs2zJoF337rLocI9USLiIiIBEhcbAw5pQTmuNgYD6oJsG3bYPx4mDABfv4ZzjkHpk6F5GQw%0Axuvqqkwr0SIiIiIBkpqcQEx01AHHYqKjSE1O8KiiAFi/Hu6/H1q0gMcegzPPhE8+gcWL4eKLQzJA%0Ag1aiRURERAKmeApHREzn+OYbGDnStWoAXH89DB4M7dt7W1cNUYgWERERCaCUxPjwDM3FPv4Yhg+H%0AN9+EunXh3nvhgQegeXOvK6tRCtEiIiIicmishXnzYMQIWLIEGjWChx+G/v2hcWOvq/MLhWgRERER%0AqZ59+2D2bBeeMzPdavPYsXDbbVCvntfV+ZVCtIiIiIhUzZ49bsbzqFGwbh106ODmPPfpA9HRXlcX%0AEArRIiIiIh4JuS3Ad+yASZNg3DjYuhW6d3crz5ddBrUia+ibQrSIiIiIB4q3AC/ewbB4C3Ag+IJ0%0Abq7bIOXpp91mKZdcAkOHwhlnhOyIukMVWW8ZRERERIJESGwBnp3t+ptbtYLRo6FnT1ixAt56y817%0AjtAADVqJFhEREfFEUG8BvmyZG1M3d67bivv22+HBB+G447yuLGgoRIuIiIh4IOi2ALcWFi504Xnh%0AQmjYEIYNg/vug6ZNvakpiKmdQ0RERMQDQbMFeGEhzJkDp5wCF14IWVlup8ENG+Cf/1SALoNWokVE%0AREQ84PkW4L//Di++6ALzmjXQti1MnQp9+7oWDimXQrSIiIiIRzzZAnznTpgyxZ0ouGkTdO0Kr74K%0AV1wBUVEV314AhWgRERGRyLB5Mzz1FEycCL/8Ahdc4FaizzsvoqdsVJdCtIiIiEg4++EHt7Pg88+7%0AFo4rr4QhQyApyevKQppCtIiIiEg4+vprGDECZs92bRo33ACpqXDCCV5XFhYUokVERETChbWwZIkb%0AU/f221C/PjzwAAwYAHFxXlcXVhSiRUREREJdURG8+aYLz59+Ck2auPF0d90FRx7pdXVhSSFaRERE%0AJFTt3QuzZrkxdVlZbnvuiRPh5pshxqNNWyKE3zZbMcY0N8YsNsZkGWO+Ncbc7zveyBizwBizxvdf%0AvT0SERERqYpff4Vx4+D44+Gmm1zP88yZbt7z3XcrQAeAP3cs3Ac8aK3tAHQD7jHGdACGAguttW2B%0Ahb6vRURERKQi27fDo49Cixauz7l1a5g3D776Cq69Fg5Tk0Gg+O2VttZuAjb5Lu8yxqwE4oHLgXN8%0AV5sOvA8M8VcdIiIiIiHvxx/d5ihTpsCePdCzpxtTd/rpXlcWsQLydsUY0wpIBD4DmvoCNsBPQKkb%0Ashtj+gH9AFq0aOH/IkVERESCTVaW63eeOdN93aePC88nnuhtXeLXdg4AjDH1gdeAAdbanSW/Z621%0AgC3tdtbaKdbaJGttUpMmTfxdpoiIiEjw+PRTSElxYfnVV12f89q1MGOGAnSQ8OtKtDEmGhegZ1pr%0A5/oObzbGHGut3WSMORbY4s8aREREREKCtfDOO26DlA8+cKPpHn4Y7r0XjjrK6+rkIP6czmGA54CV%0A1trRJb71BnCj7/KNwH/8VYOIiIhI0Nu3z42pS0yESy6B775z/c8bNsAjjyhAByl/rkT3APoCmcaY%0AFb5jDwHDgVeMMbcC64HefqxBREREJDjl58O0aZCWBj/8AO3awQsvuCkbhx/udXVSAX9O51gKmDK+%0Afb6/HldEREQkqOXlweTJMHYsbNkCp53mVp579oRafj9dTWqIhgmKiIiIBMKmTS44T54Mu3ZBcjIM%0AHQpnnw2mrHVHCVYK0SIiIiL+tHata9mYNs31P/fuDYMHux5oCVkK0SIiIiL+sHy5m7Tx2msQHQ23%0A3AKDBkGbNl5XJjVAIVpERESkplgLixfD8OGwYAEccYRbdb7/fjjmGK+rkxqkEC0iIiJyqIqKID3d%0AhecvvnCBecQIuOMOaNjQ6+rEDxSiRURERKrr99/dltwjR0J2tmvVeOYZuOEGqFPH6+rEjxSiRURE%0ARKpq1y6YMsWNpsvNhS5d4JVXoFcviIryujoJAIVoERERkcrauhWeegomTHDzns87z03duOACjamL%0AMArRIiIiIhVZtw5GjYLnn4fffnMrzkOGwCmneF2ZeEQhWkRERKQsmZnuBMF//9vtJnjDDZCaCgkJ%0AXlcmHlOIFhERETnY0qVu0sZbb0G9ejBgAAwcCPHxXlcmQUIhWkRERATcmLp581x4/ugjaNwYHnsM%0A7rkHGjXyujoJMgrRIiIiEtkKCly7xogR8O230LIljB/vdhisW9fr6iRIKUSLiIhIZNqzB557zp0w%0AuGEDdOwIL74I11zjtukWKYdCtIiIiESWn392I+rGj4dt26BHD5g4ES69VGPqpNIUokVERCQybNzo%0ANkeZMgV+/RX+/Gc3pu6MM7yuTEKQQrSIiIiEt1Wr3LbcL73kTh689loYPNi1b4hUk0K0iIiIhKfP%0AP3eTNtLToU4duPNOeOABaNXK68okDChEi4iISPiwFhYscOF58WI48kj429+gf39o0sTr6iSMKESL%0AiIhI6Nu3D157zY2py8hwm6KMHg233w7163tdnYQhhWgREREJXb/9BtOnQ1oafPed2477+efhuuvg%0A8MO9rk7CmEK0iIiIhJ5ffoHJk2HsWNi8GU45xQXpyy+HWrW8ri6kpGfkkDY/m9y8fOJiY0hNTiAl%0AUdubV0QhWkRERELHTz+54Dx5MuzcCRddBEOHwjnnaMZzNaRn5DBsbib5BYUA5OTlM2xuJoCCdAX0%0AVk1ERESC39q1brpGq1ZuxTk5GZYvh/nz4dxzFaCrKW1+9v4AXSy/oJC0+dkeVRQ6tBItIiIiwevL%0AL93JgnPmwGGHwU03waBB0Lat15WFhdy8/Codlz8oRIuIiEhwsRbef9+NqXv3XWjQAFJT4f774dhj%0Ava4urMTFxpBTSmCOi43xoJrQonaOEJWekUOP4YtoPfQtegxfRHpGjtcliYiIHJqiInj9dejWDc47%0AD1asgH/9CzZscIFaAbrGpSYnEBMddcCxmOgoUpMTPKoodGglOgTpJAAREQkre/fCzJmubSM7G447%0Azp04eOONEKMVUX8qzg2azlF1CtEhqLyTAPSXXkREQsauXTB1qtsUJScHOneGWbPgqqtc/7MEREpi%0AvPJDNehvaAjSSQAiIhLStm6F8eNhwgTYscONp3vuOTeuTlM2JEQoRIcgnQQgIiIhaf16ePJJePZZ%0AyM+HlBQYMsT1QIuEGJ1YGIJ0EoCIiISUb76BG26ANm1cr/M110BW1h8nEYqEIK1EhyCdBCAiIiHh%0Ao4/cyYJvvgn16sF998HAgdC8udeViRwyhegQpZMAREQkKFkL8+a58LxkCTRuDI8+Cvfc4y6LhAmF%0AaBERETl0+/bB7NkuPGdmutXmsWPhttvcKrQfpGfk6FNZ8YxCtIiIiFTfnj3wwgswahSsWwcdOsCM%0AGfCXv0B0tN8eVnsmiNd0YqGIiIhU3Y4d8Pjj0KoV3Huv203wjTfcKnTfvn4N0FD+ngkigaCVaBER%0AEam8nBwYMwaeeQZ274ZLLnFj6s48M6AznrVngnhNIVpEREQqlp0NaWmuVaOoyLVrDB4MJ53kSTna%0AM0G8pnYOERERKdsXX7htuNu3h5kzoV8/WLMGXnrJswAN2jNBvKeVaBERETmQtbBwITzxBCxaBLGx%0A8NBDbs7z0Ud7XR2gPRPEewrRIiIi4hQWwty5MHw4fPklxMW5qRv9+kGDBl5X9z+0Z4J4SSFaREQk%0A0v3+u+t1HjkS1q6FE06AZ5+F66+H2rW9rk4kKClEi4iIRKqdO+Hpp920jZ9+gqQkmDMHUlIgKqri%0A24tEMIWHObCMAAAgAElEQVRoERGRSLN5M4wbB5MmwS+/wIUXuhMFzzsvoGPqREKZQrSIiEik+P57%0A1+P8/POwdy9ceSUMHQpdu3pdmUjIUYgWEREJdytWwIgR8MorcNhhcOONMGiQ630WkWpRiBYREQlH%0A1sKHH7pJG++8A/Xrw4MPwoABbuqGiBwShWgREZFwUlQEb77pwvOnn0KTJvDPf8Jdd8GRR3pdnUjY%0AUIgWEREJB3v3wssvuzF1K1dC69buxMGbboIYbYUtUtMUokVERELZ7t1upvOTT8LGjW4r7pdfhquv%0Adv3PIuIX+r9LREQkFG3bBhMmwPjx8PPPcOaZMGUKXHyxxtSJBIBCtIiISCjZsAFGj4apU2HPHujZ%0AE4YMgdNP97oykYiiEC0iIhIKsrJcv/PMme7r666DwYOhQwdv6xKJUArRIiIiweyTT9ykjTfegLp1%0A4e673ai6Fi28rkwkoilEi4iIBBtr3Wzn4cPdrOdGjeDhh6F/f2jc2OvqRASFaBERkeCxbx+8+qoL%0Az19/Dc2awdixcNttUK+e19WJSAkK0SIiUqb0jBzS5meTm5dPXGwMqckJpCTGe11W+MnPh2nTIC0N%0AfvgB2rd3X/fpA4cf7nV1IlIKhWgRESlVekYOw+Zmkl9QCEBOXj7D5mYCKEjXlLw8tyHKuHGwZQt0%0A6wZjxsBll0GtWl5XJyLl0P+hIiJSqrT52fsDdLH8gkLS5md7VFEYyc11kzVatIC//hW6doX334eP%0AP4bLL1eAFgkBWokWEZFS5eblV+m4VMKaNa5lY/p01/98zTUuTHfu7HVlIlJFCtEiIlKquNgYckoJ%0AzHGxMR5UE+KWL4cRI2DOHNfjfOutMGgQHHec15WJSDXp8yIRESlVanICMdFRBxyLiY4iNTnBo4pC%0AjLWwcCFceCEkJcH8+W5nwfXrXR+0ArRISPNbiDbGPG+M2WKM+abEsUeMMTnGmBW+P5f46/FFROTQ%0ApCTG80SvTsTHxmCA+NgYnujVSScVVqSwEF57DU49FS64AL75xq1Cb9gATzwBTZt6XaGI1AB/tnNM%0AAyYAMw46PsZaO8qPjysiIjUkJTFeobmyfv8dXnzRbc29Zg0cfzxMmQJ9+0KdOl5XJyI1zG8h2lr7%0AoTGmlb/uX0REJCjs3AnPPONG023aBF26wOzZcOWVEBVV8e1FJCR5cWJhf2PMDcAy4EFr7Q4PahAR%0AETk0W7a4+c4TJ8Ivv8D558OMGe6/xnhdnYj4WaBPLJwMHAd0BjYBT5Z1RWNMP2PMMmPMsq1btwaq%0APhERkfL98APccw+0bOl6nC+4AD7/HN57z11WgBaJCAEN0dbazdbaQmttETAVOLWc606x1iZZa5Oa%0ANGkSuCJFRERK8/XXcN110LYtTJ3qLq9c6cbWnXKK19WJSIAFtJ3DGHOstXaT78srgG/Ku76ISCRK%0Az8ghbX42uXn5xMXGkJqcoJP7vGItLF0Kw4fDvHlQvz4MGAADB0K8fiYikcxvIdoYMws4BzjKGLMR%0AeBg4xxjTGbDAOuAOfz2+iEgoSs/IYdjczP3bbefk5TNsbiaAgnQgFRXBW2+58Pzxx3DUUfD443D3%0A3XDkkV5XJyJBwJ/TOfqUcvg5fz2eiEg4SJufvT9AF8svKCRtfrZCdCAUFMCsWW6uc1aW63ueMAFu%0Avhnq1vW6OhEJItr2W0QkiOSWss12ecelhvz6Kzz3HDz5pNsUpWNHeOkl6N0boqO9rk5EgpBCtIhI%0AEImLjSGnlMAcFxvjQTURYPt2N6Luqafc5R493Jbcl1yiKRsiUq5Aj7gTEZFypCYnEBN94AYdMdFR%0ApCYneFRRmPrxR3jgAdeu8fDD0L07LFniTiK89FIFaBGpkFaiRUSCSHHfs6Zz+MnKlW5b7pdecpM3%0Arr0WBg927RsiIlWgEC0iEmRSEuMVmmvaZ5+5SRvp6RATA3fd5VaiW7XyujIRCVEK0SIiEp6shfnz%0AXXj+4AM3mu7vf4f+/UGbeInIIVKIFhGR8LJvn9tFcPhw+OortynK6NFw++1usxQRkRqgEC0iIuEh%0APx+mT4e0NPj+e2jXDl54wfU9H36419WJSJhRiBYRkdCWlweTJ8PYsbBlC5x6KowaBZdfDrU0hEpE%0A/EMhWkREQtOmTS44T54Mu3ZBcjIMHQpnn60RdSLidwrRIiISWtaudS0b06a5/uerr4YhQyAx0evK%0ARCSCKESLiEho+PJLGDHCnTQYHQ233AKDBkGbNl5XJiIRSCFaxCc9I0cbXIgEG2vh/ffdpI1334Uj%0AjnCbo9x/PxxzjNfViUgEU4gWwQXoYXMzyS8oBCAnL59hczMBFKRFvFBU5DZGGTECPv8cmjZ1QfrO%0AO6FhQ6+rExFRiBYBt8VycYAull9QSNr8bIVoOWT6lKMK9u51W3KPHAnZ2XDccfD003DjjVCnjtfV%0AiYjspxAtAuTm5VfpuEhl6VOOStq1C6ZOdZui5ORA587w73/DlVfCYfpVJSLBRwM0RYC42JgqHRep%0ArPI+5RBg61a3FXeLFvDgg9C2LbzzjjuJ8JprFKBFJGgpRIsAqckJxERHHXAsJjqK1OQEjyqScKFP%0AOcqwbh307w8tW8I//wnnnguffgqLF7t5z5rzLCJBTm/xRfjjY3X1rUpNi4uNIaeUwByxn3JkZrp+%0A51mz3G6C118PqanQvr3XlYmIVIlCtIhPSmK8QrPUuNTkhAN6oiFCP+VYutRN13jrLahXz42oGzgQ%0AmjXzujIRkWpRiBYR8aOI/pSjqAjmzXPh+aOPoHFjeOwxuOceaNTI6+pERA6JQrSIiJ9F3KccBQUw%0Ae7ab8fzNN+6kwXHj4NZb3Sq0iEgYUIgWEZGasWcPPP88jBoF69fDiSfCjBnwl7+4bbpFRMKIQrSI%0AiByan3+GiRPhqadg2zY4/XSYMAEuucSdPCgiEoYUokVEpHo2boQxY+CZZ+DXX11oHjYMzjjD68pE%0ARPxOIVpERKpm1SpIS4MXX3QnD/bpA4MHQ6dOXlcmIhIwCtEiIlI5n3/uThZ8/XWoXRvuuMPtMtiq%0AldeViYgEnEK0iIiUzVp47z03pm7RIoiNhb/+1e02ePTRXlcnIuIZhWgREflfhYXw2msuPGdkQFyc%0Am7rRrx80aOB1dSIinlOIFhGRP/z2mxtLl5YGa9fCCSfAs8+67blr1/a6OhGRoKEQLSIisHMnPP20%0Am7bx00+QlARz5kBKCkRFeV2diEjQUYgWEYlkmze73QQnTYJffoELL4SZM+Hcc8EYr6sTEQlaCtEi%0AIpHo++9dj/Pzz7ttuq+8EoYMga5dva5MRCQkKESLiESSFSvcmLpXXoHDDoObboJBg6BtW68rExEJ%0AKQrRIgGWnpFD2vxscvPyiYuNITU5gZTEeK/LknBmLXz4oZu08c47brrGoEEwYAAce6zX1YmIhCSF%0AaJEASs/IYdjcTPILCgHIyctn2NxMAAVpqXlFRfDGG27l+dNP3Vznf/0L7rrLzXsOInpzKSKhRiFa%0A5CD+/GWeNj97f4Aull9QSNr8bAUGqTl798LLL7vwvGoVtG4NEyfCzTdDTIzX1f0PvbkUkVBUy+sC%0ARIJJ8S/znLx8LH/8Mk/PyKmR+8/Ny6/ScZEq2b0bxo6FNm1cYD78cBemV6+Gu+8OygAN5b+5FBEJ%0AVlqJlmoJ9Y9ey6rf3yvFcbEx5JQSmONigzPcSIjYtg0mTIDx4+Hnn+Hss2HKFLj44pAYU6c3lyIS%0AihSipcpC/aPX8ur39y/z1OSEAx4bICY6itTkhBq5f4kwGzbA6NEwdSrs2QOXX+7G1HXv7nVlVaI3%0AlyISitTOIVUW6h+9lld/Wb+0a+qXeUpiPE/06kR8bAwGiI+N4YlenULizYcEkawsN5quTRvX69y7%0AN3z7LaSnh1yABvfmMib6wF0R9eZSRIKdVqKlykL9o9fy6h9zTWe/rxSnJMYrNEv1fPKJG1P3xhtQ%0Aty7cey888AA0b+51ZYek+P+HUG4RE5HIoxAtVRbqH72WV79+mUvQsRbeftuF5yVLoHFjeOQRF6Ab%0AN/a6uhqjN5ciEmoUoqXKQr2vt6L69ctcgsK+fW5XweHDITPTrTaPGwe33gr16nldnYhIxFOIlioL%0A9dXaUK9fwtyePfDCCzBqFKxbBx06wPTp0KcPREd7XZ2IiPgYa63XNVQoKSnJLlu2zOsyRET8Z8cO%0AmDTJrTZv3QrdusHQoXDZZVBL54CLiASKMWa5tTapoutV6l9mY0yPyhwTEZEqys2F1FRo0QL+9jdI%0ASoIPPoCPP3Yj6xSgRUSCUmX/dR5fyWMiIlIZ2dlw221uS+7Ro6FnT1ixAubNg7POColNUkREIlm5%0APdHGmO7A6UATY8wDJb51BBBV+q1ERKRMX3wBI0bA3LlQu7YL0g8+CMcd53VlIiJSBRWdWHg4UN93%0AvQYlju8ErvJXUSIiYcVaWLjQTdpYuBAaNoRhw+C++6BpU6+rExGRaig3RFtrPwA+MMZMs9auD1BN%0AIiLhobAQXn/dhefly+GYY2DkSLjjDjjiCK+rExGRQ1BRO8dYa+0AYIIx5n/GeFhre/qtMhGRUPX7%0A7/Diiy4wr1kDbdvC1KnQt69r4RARkZBXUTvHDN9/R/m7EBGRkLdzJ0yZ4k4U3LQJunaFV1+FK66A%0AKJ1GIiISTioK0WnA+cAl1tohAahHRCT0bNni5jtPmgR5eXDeeTBjBpx/vqZsiIiEqYpC9LHGmNOB%0AnsaYfwMH/Daw1n7pt8pERILdDz+4nQWff961cPTqBUOGwCmneF2ZiIj4WUUh+v+AvwPNgNEHfc8C%0A5/mjKBGRoPb1125M3ezZbjOUG2+EQYMgIcHrykREJEAqms4xB5hjjPm7tfYfAapJRCT4WAtLl7pJ%0AG/PmQf36MGAADBwI8fFeVyciIgFW0Uo0ANbafxhjegJn+Q69b639r//KEhEJEkVF8N//uvD8ySfQ%0ApAk8/jjcfTcceaTX1YmIiEcqFaKNMU8ApwIzfYfuN8acbq19yG+ViYh4qaAAZs1ybRtZWdCqFUyY%0AALfcAjExXlcnIiIeq1SIBi4FOltriwCMMdOBDEAhWkTCy6+/wrPPwpNPwo8/wkknwcsvw9VXw2GV%0A/SdTRETCXVV+I8QCP/suN/RDLSIi3tm+3a00jx/vLp91FjzzDFx8scbUiYjI/6hsiH4CyDDGLMaN%0AuTsLGOq3qkREAuXHH93mKFOmwJ490LOnG1N3+uleVyYiIkGswhBtjDHAUqAbUDz8dIi19id/FiYi%0A4ldZWW5b7pm+Uz2uvRYGD4YTT/S2LhERCQkVhmhrrTXGzLPWdgLeCEBNIiL+8+mnbtLGf/4Ddeu6%0AKRsPPAAtW/rtIdMzckibn01uXj5xsTGkJieQkqixeCIioaxWJa/3pTGmSltwGWOeN8ZsMcZ8U+JY%0AI2PMAmPMGt9/NR9KRPzPWnjnHTjnHOjeHT78EB5+GNavd9t1+zlAD5ubSU5ePhbIyctn2NxM0jNy%0A/PaYIiLif5UN0acBnxpjvjPGfG2MyTTGfF3BbaYBFx90bCiw0FrbFliI+qpFxJ/27XNj6hIT4U9/%0Agu++c/3PGzbAI4/AUUf5vYS0+dnkFxQecCy/oJC0+dl+f2wREfGfyp5YmFzVO7bWfmiMaXXQ4cuB%0Ac3yXpwPvA0Oqet8iIuXKz4dp0yAtDX74Adq1gxdecH3Phx8e0FJy8/KrdFxEREJDuSHaGFMHuBM4%0AHsgEnrPW7juEx2tqrd3ku/wT0PQQ7ktE5EB5eTB5MowdC1u2wKmnupXnnj2hVmU/eKtZcbEx5JQS%0AmONitWGLiEgoq+i3ynQgCReg/wQ8WVMPbK21gC3r+8aYfsaYZcaYZVu3bq2phxWRcLRpkxtL16IF%0APPSQa99YvNidRJiS4lmABkhNTiAmOuqAYzHRUaQmJ3hUkYiI1ISK2jk6+KZyYIx5Dvj8EB9vszHm%0AWGvtJmPMscCWsq5orZ0CTAFISkoqM2yLSARbswZGjXKtG/v2Qe/ebkxdYqLXle1XPIVD0zlERMJL%0ARSG6oPiCtXafOfRdu94AbgSG+/77n0O9QxGJQMuXw4gRMGeO63G++WZITYU2bbyurFQpifEKzSIi%0AYaaiEH2yMWan77IBYnxfG1xHxhFl3dAYMwt3EuFRxpiNwMO48PyKMeZWYD3Q+xDrF5FIYa1r0Rg+%0AHBYsgCOOcC0c998PxxzjdXUiIhJhyg3R1tqo8r5fwW37lPGt86t7nyISgYqKID3dhecvvnCBefhw%0AuPNOaNjQ6+pERCRCVXbEnYhIYP3+u9uSe+RIyM52rRrPPAM33AB16nhdnYiIRDiFaBEJLrt2wdSp%0AbjRdTo47SXD2bLjySoiq9odjIiIiNUohWkSCw9at8NRTMGGCm/d87rnw/PNw4YVw6Cc1i4iI1CiF%0AaBHx1rp18OST8Nxz8NtvcMUV7oTBU0/1ujIREZEyKUSLiDcyM12/86xZbjOUvn3dmLp27byuTERE%0ApEIK0QGSnpGjzRZEAJYuddM13noL6tWDAQPcn2bNvK5MRESk0hSiAyA9I4dhczPJLygEICcvn2Fz%0AMwEUpCUyFBXBvHkuPH/0ERx1FDz2GNxzDzRq5HV1IUdvykVEvFfL6wIiQdr87P0Bulh+QSFp87M9%0AqkgkQAoK4MUX4aST4LLLYONGGD8e1q+Hv/9dAboait+U5+TlY/njTXl6Ro7XpYmIRBSF6ADIzcuv%0A0nGRkLdnjwvLxx/v5jobAy+9BGvWwL33Qt26XlcYsvSmXEQkOKidIwDiYmPIKSUwx8XGeFCNiB/9%0A/DNMnOhG1W3bBmec4b6+9FKNqashelMuIhIctBIdAKnJCcREH7hJREx0FKnJCR5VJFLDNm6EBx+E%0AFi3g//4PunWDJUvcnz//WQG6BpX15ltvykVEAkshOgBSEuN5olcn4mNjMEB8bAxP9OqkE4Ek9K1a%0ABbfcAscdB+PGuRnPX38Nb77pVqGlxulNuYhIcFA7R4CkJMYrNEv4+PxzN2kjPR1q14Y77nAr0a1a%0AeV1Z2Cv+d0TTOUREvKUQLSKVYy0sWODC8+LFEBsLf/0r9O8PRx/tdXURRW/KRUS8pxAtIuUrLIQ5%0Ac2DECMjIgLg4t0337bdDgwZeVyciIuIJhWgRKd1vv8H06ZCWBt99ByecAM89B9dd51o4REREIphC%0AtIgc6Jdf4OmnYcwY2LwZTjkFRo6Eyy+HqKiKby8iIhIBFKJFxPnpJzdhY9Ik2LkTLroIhgyBc8/V%0AiDoREZGDKESLRLq1a2HUKJg2zW3TfdVVLjx36eJ1ZSIiIkFLIVokUmVkuJMFX30VDjsMbroJBg2C%0Atm29rkxERCToKUSLRBJr4YMP3Ji6+fPddI3UVLj/fjj2WK+rExERCRkK0SKRoKgI3njDhefPPoOm%0ATeGJJ+DOO9285zCQnpGjDUhERCRgFKJFwtnevfDyy65tY9Uqtz335Mlw440QE+N1dTUmPSOHYXMz%0AyS8oBCAnL59hczMBFKRFRMQvanldgIj4we7dbkRdmzZw881Qpw7MmgXZ2W71OYwCNLgtsIsDdLH8%0AgkLS5md7VJGIiIQ7rUSLhJOtW2H8eJgwAXbsgHPOgWefdePqDhpTF07tD7l5+VU6LiIicqgUokXC%0Awfr1bivuZ5+F/HxISXFj6rp1K/Xq4db+EBcbQ04pgTkuNrxW3EVEJHionUMklH3zDfTt69o2Jk+G%0Aa66BrCx4/fUyAzSEX/tDanICMdEH7qYYEx1FanKCRxWJiEi400q0SCj66CM3aeO//4V69eC++2Dg%0AQGjevFI3D7f2h+LV83BpTxERkeCnEC0SKqyFefNceF66lN9jj+TFC25kYodk6h7dlNRttUipXIYO%0Ay/aHlMR4hWYREQkYhWiRYLdvH8ye7cbUZWZC8+Z8nfooN5mT+NlEA7Cjij3NqckJB/REg9ofRERE%0AqkI90SLBas8emDjRbcN9/fVQWAjTp8N333FXozP2B+hiVelpTkmM54lenYiPjcEA8bExPNGrk1Zy%0ARUREKkkr0SLBZscOmDQJxo1zI+u6d4ennoJLL4Va7n1vTfQ0q/1BRESk+hSiJWIF3ZzknBy3Qcoz%0Az7jNUi65xI2pO/PM/5nxHI49zSIiIqFEITpIBV3ACzNBNSc5OxvS0mDGDNey8Ze/wODBcPLJZd5E%0APc0iIiLeUk90ECoOeDl5+Vj+CHjpGTlelxY2gmJO8hdfwFVXQfv2MHMm3H47rFnjLpcToEE9zSIi%0AIl7TSnQQKi/gKSTVDM/mJFsLCxe6MXULF0LDhjBsmJvz3LRple4qFHqa9YmKiIiEK4XoIBRuG2EE%0Ao4D3FBcWwty5bkzd8uVw7LGuhaNfPzjiCP88pseCqmVGRESkhqmdIwiVFeR00ljNCdg20b//DlOn%0AQrt20Ls37Nzpvv7hBxg0KGwDNARJy4yIiIifKEQHodTkBKKjDpzGEB1ldNJYDfJ7T/HOnW6luXVr%0At9rcsCG8+iqsXAm33Qa1a9fM4wQxfaIiIiLhTO0cwcpW8HUY8apv1i89xZs3u5nOEyfCL7/ABRfA%0Aiy+SfmQCae+uJvev7wRdb7C/Xn+N4RMRkXCmEB2E0uZnU1B0YGouKLJheWJhVfpmg/okte+/h1Gj%0A4IUXXAvHlVfC0KHQtWtQ9QYf/Bqe264Jry3P8UttGsMnIiLhTO0cQSiSPgavbN9s0I79++oruPZa%0AtzX3c89B376wapVr3ejaFQie3uDSXsOZn27wW20awyciIuFMK9FByJ8fgwfbam5l3zBUd+yfX56v%0AtfDhh25M3TvvQP368OCDMGAAxMVV+FwqOu4vpb2GZXUJ1VRtoTCGT0REpDq0Eh2E/DU5IhhXcys7%0AiaQ6QbTGn29REfznP3D66XDOOW5U3eOPw4YNMHJkqQG6tOdS0XF/qUowVt+yiIhI+RSig5C/PgYP%0AlraCkir7hqE6QbTGnu/evTB9OnTsCCkp7uTBSZNg/Xr461/hyCPLvXnAxulVoKzXyhz0tfqWRURE%0AKqZ2jiDlj4/Bg6WtoKTi51hRy0V1TlI75Oe7ezc8+yw8+SRs3AgnnQQvvwxXXw2HVf5/nco+R38r%0A6zW8sms8i1dtDZoWHxERkVCgEB1BgnXkWGXeMFQniFb7+W7bBhMmwPjx8PPPcNZZ8Mwz8Kc/gTl4%0A3bZygqE3OFjCvIiISDhQiI4goT5yrKpBtMrPd8MGGD3a7Si4Zw/07AlDhrge6DARDGFeREQkHChE%0AR5BIW4ms9PPNynInBs6c6b6+7joYPBg6dAhwxSIiIhIqjLXBvxVeUlKSXbZsmddlSLj59FM3pu4/%0A/4G6deH22+GBB6BFC68rExEREY8YY5Zba5Mqup5WoiNYsM2MDghr3WznESPggw+gUSN4+GG49144%0A6iivqxMREZEQoRAdoYJpK+qA2LfP7SI4YoTbZbBZMxgzBm67zW2WIiIiIlIFmhMdoYJxZrRf5OfD%0A5Mlwwglue+69e+GFF+C779wOgwrQIiIiUg1aiY5QwTgzukbl5bnwPHYsbNkCp53mVp4vuwxq6b2j%0AiIiIHBqliQgVLFtR17jcXDdZo0ULeOghSEyE99+HTz4hvUUSPUa+T+uhb9Fj+CJPtzsXERGR0KaV%0A6EoIxxPwQn1m9P9YswbS0tz23Pv2Qe/ebsZz585ABPaAi4iIiF9pJboCxeErJy8fyx/hK9RXMVMS%0A43miVyfiY2MwQHxsDE/06hR6gXL5cheYExJgxgy49VZYvRpmzdofoCGCesBFREQkILQSXYHywlfI%0ABc6DhOzuddbCokVu0saCBdCwIQwdCvffD02blnqTsO8BFxERkYBSiK5AKIevsGtDKSyE9HS3Qcqy%0AZXDMMW6nwTvugCOOKPemcbEx5JTyMwv5HnARERHxhEJ0BUI1fAWqBzggQf333+Gll1xgXr0ajj8e%0ApkyBvn2hTp1K3UWo9ICH3RufANJrJyIigaQQXYFQCV8Hq6gHuCbCht+D+q5d8MwzbjRdbi506QKz%0AZ8OVV0JUVJXuqrieYA5ZOvmx+vTaiYhIoBlrrdc1VCgpKckuW7bMs8cPxRWuVkPfKvN7MdFR//Om%0AoDonFfYYvqjUVfr42Bg+Gnpele7rAFu2wFNPwcSJbt7z+ee7nufzzwdjqn+/Qc5vr2cE0GsnIiI1%0AxRiz3FqbVNH1tBJdCaF4Ap4x7vy70tTUiZI13i/+ww/w5JPw3HOuhaNXLzem7pRTqnd/fuSPN1ah%0A3H/vNb12IiISaArRlRRKq9HpGTllBuiyVCds1Fi/+Ndfu0kbs2e73QRvuAFSU93YuiDkr9aBUO2/%0ADwZ67UREJNA8mRNtjFlnjMk0xqwwxnjXp1FJoTYrurzZx1FltENUJ2ykJicQE31gb3Kl+8WthSVL%0A4NJL4eST4Y03YMAAtxr97LNBG6DBfzOnD+n1jHB67UREJNC83GzlXGtt58r0nHgt1DbqKG9Vuc9p%0AzWssbFRrw5aiInjzTTjjDDjrLPj8c/jHP2D9etKvG0iPF7ODfltuf7UOhM0GOB7QayciIoGmdo5K%0ACLV+y7I+2j6ybjSPp3QiqWWjGmtNqXS/eEGB20VwxAjIyoKWLd3Jg7feCnXrhtR0BX+2DoRi/32w%0A0GsnIiKB5FWItsB7xphC4Blr7RSP6qiUUOu3LGss38OXnQj4P2yU7B8/ri6M2b2ck2Y/Bxs2QMeO%0AbuZz794QHb3/NqG0M2Sojj0UERGRmuNViD7DWptjjDkaWGCMWWWt/bDkFYwx/YB+AC1atPCixv1C%0ALTR5ORO5eEW59s4d9P/yLW5a/iaN8neyrfOpHDVpElxySalj6kJptT8UZk6LiIiIf3k+J9oY8wiw%0A21o7qqzreD0nGkJrOoeXUobN5s/vzaLPV/OpV/Ab77U5hae7XcWmjknlzuvVnF8REREJBkE7J9oY%0AUw+oZa3d5bt8EfBYoOuoKvVbVmDVKhg5klemv0gtW8R/OpzNM6ddyeomrQAwFawoh9pqv4iIiEQ2%0AL7VrTW0AABfASURBVNo5mvL/7d17lJ11fe/x9zfJFAYKDChVMoLAkaYuBJNDFkQRC9KaoCIRu1ot%0Ay4K6jncUXYTLwXVE6pJoLBYVpeANjigUCFO0lKAFqqYnaG4kQQkQG5DhYsRcQKZmkvzOH3tP2DPZ%0At2ff9573a61Zs+fZz977yW/vPPnkN9/n+4PbIvcr/WnAd1NKd7bhONqqZ2a277svd7Hg0BDsvTf/%0AcsLpXPnqt/D4AS8Zt1ul+vGsJRI9M36SJKkrtTxEp5R+Bby61a/bSbqpE0VRKcFdd8HChXDvvXDg%0AgfDJT8K559L3+HaeWbwWaphRrna2v+vHT5Ikdb129ometLqt7/RuO3bkVhU87jiYNw8efji3TPej%0Aj8Jll8HBB7ekX2/Xjp8kSeoZ9olug27qRAHAf/83XHcdLFoEGzbAn/4pfOMbcNZZsNdee+xezYxy%0APeUYXTd+kiSp5xii26Br+k5v3QpXXw1f/CI8/TQcf3wuSJ9xBkyp7ZcYQ6uG+fT3H2Dz86O7txWW%0AY0DluuiuGT9JktSzDNEtMHHW9ZQ/O5hbVwx3bieKp56Cf/xH+NrXYNs2mDsXLrwQTj65aI/nak2s%0AZS40MrqTS29/gD/s2FWx1rlZnTy8WFGSJFXLmugmGwuOw1tGSOSC4a0rhnn7cYNNrRuuySOPwPvf%0AD4cfnptxnjcPVq6EO++EU06pK0BD8VrmQltGRquqdW5G3XWx9+nixWsZWjVc83NKkqTe5Ux0k5W6%0ACO6eBzd1ziIiK1fm2tTdcktuKe5zzoHzz4dXvKKhL1NrzXKxx5Wqu651Nrmblh2XJEntZ4huso69%0ACC4luOeeXHi+6y7Yf3+44AL42MfgpS9t6EuNBdtya2P2901l774p42qlx1Rb61xP67uOfZ8kSVJH%0AspyjyUoFwLZdBLdrFyxeDCecAKeeCvffD5dfDo89lvvehAA9ViZRykB/H5efeQyfOv1o+vumjrsv%0AS61zPa3v2vE+Da0a5sSFd3PERf/KiQvvtnREkqQu4kx0k3XMctbbt8N3vgOf/zysXw9HHpnrvHH2%0A2bD33mUfWs8Fd+XqoAfzzzW23xNbRjigv4+9+6aw5fnRlra+a/X75IIxkiR1N0N0FeoJkVmXs264%0AZ5+Fa6+FK66A4WGYORNuvBHe/naYVvntrzfslQqwASy96A17PP+WkVH6+6byxb+ZmXmM6ml91+r3%0AyRpsSZK6myG6gkbMGFa7nHVDbdoEX/4yfOUrsHlzrj3d17+ea1eXoctGvWGvUrBtZJisdza5le+T%0ANdiSJHU3a6Ir6Lolph99FD76UXj5y+Hv/z4Xnpcty11EOG9e5jZ19Ya9BXNnlK1zbmSYbMWS443S%0AcbXykiQpE2eiK+iaGcN163KdNr73vVxQfte7YMECeOUrgdpLUupdHbBSmUSjVx9sy6x/DTqmVl6S%0AJNXEEF1Bxy8xvXQpLFwIP/gB7Ltvbhb64x+HQw/dvUs9JSmNCHvlgu1kDZNtr5WXJEl1MURXUEvI%0Aa/ry0SnBHXfkwvNPfwovehFcdhl8+MNw0EF77F5P3XGzw95kDpPdMmsuSZL2ZIiuIGvIq2bWt+aQ%0AvWMH3HRTLjyvWweHHQZf+hK85z25WegS6i1JaXbYM0xKkqRuY4iuQpaQV2nWt6bSiuefh299C77w%0ABdi4EY4+Gq6/Ht7xjtwy3RW0oySl6bPxkiRJbWR3jgarNOtbKmSfd9PqPVet27wZPvMZOPxw+MhH%0AYPp0uP12WLMmd+FgFQEaKnfIaLTCVQoTL/xHwRX5JElSr3AmusEqzfqWK6EYC5t7/+ZJ5v3wRvin%0Af4LnnoPTToOLL4aTTqrpmFxIRJIkqbEM0Q1W6ULEUiEb4MhnHud9P1vMqZ+9GyLlyjUuuACOPbbs%0Aa1ZTOuFCIpIkSY1jiG6wcrO+Q6uG+f0fduzxmGOffIgPLLuFeQ/9P7ZP6+OGmfOYftklvPHNcyq+%0AXiNWVGy0jm8LKEmSVCdDdBMUm/WdGHZJiddtXM0H77uZEx9dw9a99uWq1/w13z7udJ7Zd4DBtc/z%0AxjdXfq1OLJ2YrL2fJUnS5GGIbpGxsDtl105OW/+ffPC+W3jV0xt46o8P4jOnvIfvvXoev99rn937%0AV1v60ImlE5O597MkSZocDNEt8tvfbuWd6+7mfT+7lSM2P8mGgwa5YN5HGTr6FLZP27PLRrWlD51a%0AOmHvZ0mS1MsM0VWoq+fx1q1w9dUsvebzvPjZ33H/S4/i/fP/Nz886gR2TZnKgfv0MXV0V82lD5ZO%0ASJIktZ4huoKaL9x76im48kr46ldh2zZ2zXk95/yP07h38FUQAeTC7qdOPxqovfTB0glJkqTWi5RS%0Au4+hotmzZ6fly5e35bVPXHh30XKJwYF+ll70hj0fsGFDbmXBb30Ltm+Hv/oruPBCOO44V/GTJEnq%0AcBGxIqU0u9J+zkRXUPWFe6tXw+c+B//8zzBtGpx9NixYAEcdtXsX64QlSZJ6gyG6grIX7qUEP/4x%0ALFwId94J++0H558P550HhxzShqOVJElSKxiiKyh24d4+04Ir/ui/4LWXwLJl8Cd/Ap/9LHzwgzAw%0AUPNrNaLcw5IRSZKk5jNEV1B44d6mZ7Zx9sb/5KPLb2O/jY/AEUfAVVfBu98N/fW1lGvEyoOduHqh%0AJElSL5rS7gPoBvOPOoCle6/hoRvP5ZJbFrHf/vvAd78LDz0EH/pQ3QEayq882MrnkCRJUmXORFfj%0A2mvhE5+AP/9zuOYamDdvd5u6RmnEyoOduHqhJElSLzJEV+O974U5c+A1r2naSzRi5cFOXb1QkiSp%0A11jOUY39929qgIbcBYz9fVPHbcu68mAjnkOSJEmVOROdQTM7XzRi5UFXL5QkSWoNVyys0sTOF5Cb%0A5b38zGOYP2vQ1nKSJEk9wBULG6xS5wtby0mSJE0ehugqlet8US5gVwrRE2ewT/mzg7nnwU08sWWE%0AgX36SAm2jow6uy1JktRBDNFVKtf5oth2oOT2McUWR/nOssd237/5+dFxz+XstiRJUmewO0eVynW+%0AmFqiZ3Sp7WOKzWCX48IpkiRJncEQXaX5swa5/MxjGBzoJ4DBgf7dFxXuLHFxZqntY2pZBMWFUyRJ%0AktrPco4M5s8aLFpKMViipGOwwiIn5UpByj1GkiRJ7eVMdAPUushJsceV48IpkiRJncGZ6AaodZGT%0AYo9rVHcO+1ZLkiQ1j4ut9KBKC8NIkiSpOBdb6UHVzi7X07dakiRJlRmiu0SxntKl+kaXWxhGkiRJ%0A9fPCwi5RadnxQqU6eNjZQ5IkqTEM0V0iy+xyrd1CJEmSVB3LOVpgaNUwn/7+A7uX8R7o7+PStx6d%0AqT653LLjE9XaLaRWdgKRJEmTjSG6yYZWDbPglvsZ3flCF5QtI6MsuPl+YM965lIWzJ3BgpvvZ3TX%0AC8/TNyVKzi6XWhim0bLUakuSJPUKyzmabNGS9eMC9JjRXaloPXNZUeHnNshSqy1JktQrDNFNVq4j%0ARpZuGcXC+OjOGoJ4g9kJRJIkTUaG6CYr1xFjSgRHXPSvnLjwboZWDZd9nk4Nq3YCkSRJk5EhuskW%0AzJ1B39TidRc7UyLxQh1xuSBdS1gdWjXMiQvvrjqo18JOIJIkaTIyRDfRWNeK0Z2JKQU5ulikrlRH%0AnDWsjl3wN7xlpOqgXov5swa5/MxjGBzoJ4DBgX6XF5ckST3P7hwZVdvO7ZNDa7lh2WOMVTHvSrnQ%0Ae/mZx/Dxm1YXfe5ypRlZ29a1cunvVnUCkSRJ6hSG6Ayqbec2tGp4XIAeMxZiS/V8TsCJC+8uGY6z%0AhNVOraGWJEnqBZZzZFBtO7dFS9bvEaDHPLFlpGhpxphGlV14wZ8kSVLzGKIzqHZ2t9xs7/SB/nF1%0AxMU0os9ypRrqVlx0KEmS1KsM0RlUO7tbar+A3SF2/qxBll70hpLrpdRbdlHugr9WXXQoSZLUqwzR%0AGZQqw3h++45xAbTYfgGcNeewPWqam1l2MRbU/2vhm1l60RvGXZzoKoOSJEm1M0RnMDa7O9DfN277%0A5udHx83kFpsFPmvOYdzz4KY9yifa0Wd5sl50aAmLJElqlLaE6IiYFxHrI+KRiLioHcdQq/mzBtl3%0Arz2bmkycyS2cBV4wdwa3rhguWj7Rjj7Lk/GiQ0tYJElSI7W8xV1ETAWuAv4SeBz4eUTcnlL6RauP%0ApVZZZ3Ir9WxudZ/lBXNnjGvVB72/ymAr+2ZLkqTe146Z6OOBR1JKv0opbQduBM5ow3HULOtMbqeV%0AT0zGVQY77T2QJEndrR2LrQwCvy74+XHghDYcR82yzuSWWlylneUTk22VwU58DyRJUvfq2AsLI+J9%0AEbE8IpZv2rSp3YczTtaZ3HZcPKjxfA8kSVIjtWMmehg4tODnl+W3jZNSuga4BmD27NmlFgBsmywz%0AuYWt5Z7YMsL0gf6SS3urOXwPJElSI0VKrc2nETENeAg4lVx4/jnwtymlB0o9Zvbs2Wn58uUtOkJJ%0AkiRNVhGxIqU0u9J+LZ+JTintiIiPAEuAqcA3ywVoSZIkqdO0o5yDlNIdwB3teG1JkiSpXh17YaEk%0ASZLUqQzRkiRJUkaGaEmSJCmjttRE94KhVcO2S5MkSZqkDNE1GFo1PG7FwuEtI1y8eC2AQVqSJGkS%0AsJyjBouWrB+35DfAyOhOFi1Z36YjkiRJUisZomvwxJaRTNslSZLUWwzRNZg+0J9puyRJknqLIboG%0AC+bOoL9v6rht/X1TWTB3RpuOSJIkSa3khYU1GLt40O4ckiRJk1OklNp9DBXNnj07LV++vN2HUZSt%0A7iRJknpHRKxIKc2utJ8z0XWw1Z0kSdLkZE10HWx1J0mSNDk5E12HTm91Z6mJJElSczgTXYdObnU3%0AVmoyvGWExAulJkOrhtt9aJIkSV3PEF2HTm51Z6mJJElS81jOUYdObnXX6aUmkiRJ3cwQXaf5swY7%0AIjRPNH2gn+EigbkTSk0kSZK6neUcPaqTS00kSZK6nTPRPaqTS00kSZK6nSG6h3VqqYkkSVK3s5xD%0AkiRJysgQLUmSJGVkiJYkSZIyMkRLkiRJGRmiJUmSpIwM0ZIkSVJGhmhJkiQpI0O0JEmSlJEhWpIk%0AScrIEC1JkiRl5LLfFQytGmbRkvU8sWWE6QP9LJg7w6W0JUmSJjlDdBlDq4a5ePFaRkZ3AjC8ZYSL%0AF68FMEhLkiRNYpZzlLFoyfrdAXrMyOhOFi1Z36YjkiRJUicwRJfxxJaRTNslSZI0ORiiy5g+0J9p%0AuyRJkiYHQ3QZC+bOoL9v6rht/X1TWTB3RpuOSJIkSZ3ACwvLGLt40O4ckiRJKmSIrmD+rEFDsyRJ%0AksaxnEOSJEnKyBAtSZIkZWSIliRJkjIyREuSJEkZGaIlSZKkjAzRkiRJUkaGaEmSJCkjQ7QkSZKU%0AkSFakiRJysgQLUmSJGVkiJYkSZIyMkRLkiRJGRmiJUmSpIwM0ZIkSVJGhmhJkiQpI0O0JEmSlJEh%0AWpIkScooUkrtPoaKImIT8GgbD+HFwG/b+Pq9zvFtLse3uRzf5nFsm8vxbS7Ht7maOb4vTykdXGmn%0ArgjR7RYRy1NKs9t9HL3K8W0ux7e5HN/mcWyby/FtLse3uTphfC3nkCRJkjIyREuSJEkZGaKrc027%0AD6DHOb7N5fg2l+PbPI5tczm+zeX4Nlfbx9eaaEmSJCkjZ6IlSZKkjAzRBSJiY0SsjYjVEbG8yP0R%0AEV+KiEciYk1E/M92HGc3iogZ+XEd+9oWEedN2OfkiNhasM//adfxdoOI+GZE/CYi1hVsOygifhgR%0AD+e/H1jisfMiYn3+s3xR6466e5QY30UR8WD+7/9tETFQ4rFlzyWTXYmxvTQihgv+/r+pxGP97FZQ%0AYnxvKhjbjRGxusRj/eyWERGHRsQ9EfGLiHggIj6W3+65twHKjG9Hnnst5ygQERuB2Smlon0H8yf1%0Ac4E3AScAV6aUTmjdEfaGiJgKDAMnpJQeLdh+MnB+Sukt7Tq2bhIRrweeA65PKb0qv+3zwO9SSgvz%0AJ+gDU0oXTnjcVOAh4C+Bx4GfA+9MKf2ipX+ADldifN8I3J1S2hERnwOYOL75/TZS5lwy2ZUY20uB%0A51JKXyjzOD+7VSg2vhPu/wdga0rpsiL3bcTPbkkRcQhwSEppZUTsB6wA5gPn4Lm3bmXG92V04LnX%0AmehsziB3UkoppWXAQP4NVzanAhsKA7SySyn9GPjdhM1nANflb19H7uQz0fHAIymlX6WUtgM35h+n%0AAsXGN6V0V0ppR/7HZeRO7MqoxGe3Gn52q1BufCMigL8GvtfSg+oRKaUnU0or87efBX4JDOK5tyFK%0AjW+nnnsN0eMl4EcRsSIi3lfk/kHg1wU/P57fpmzeQekT+Gvzv675t4g4upUH1SNeklJ6Mn/7KeAl%0ARfbxc9wY7wH+rcR9lc4lKu7c/N//b5b4dbif3fqdBDydUnq4xP1+dqsUEYcDs4D78NzbcBPGt1DH%0AnHsN0eO9LqU0EzgN+HD+V2JqoIj4I+CtwM1F7l4JHJZSOhb4MjDUymPrNSlXq2W9VhNExCXADuCG%0AErt4Lsnua8CRwEzgSeAf2ns4PeudlJ+F9rNbhYj4Y+BW4LyU0rbC+zz31q/U+HbaudcQXSClNJz/%0A/hvgNnK/eik0DBxa8PPL8ttUvdOAlSmlpyfekVLallJ6Ln/7DqAvIl7c6gPsck+PlRjlv/+myD5+%0AjusQEecAbwHOSiUuKqniXKIJUkpPp5R2ppR2AddSfMz87NYhIqYBZwI3ldrHz25lEdFHLuDdkFJa%0AnN/subdBSoxvR557DdF5EbFvvoidiNgXeCOwbsJutwN/FzlzyF2Y8STKouQsSES8NF+vR0QcT+7z%0A+UwLj60X3A6cnb99NvAvRfb5OXBURByR/83AO/KPUwURMQ+4AHhrSun5EvtUcy7RBBOuL3kbxcfM%0Az259/gJ4MKX0eLE7/exWlv836hvAL1NKVxTc5bm3AUqNb8eee1NKfuX+Q3MkcH/+6wHgkvz2DwAf%0AyN8O4CpgA7CW3BWgbT/2bvkC9iUXig8o2FY4vh/Jj/395C4ceG27j7mTv8j9Z+RJYJRcbd17gRcB%0A/w48DPwIOCi/73TgjoLHvoncVeIbxj7rflU1vo+Qq2lcnf+6euL4ljqX+FVxbP9v/ry6hlywOGTi%0A2OZ/9rNbw/jmt3977HxbsK+f3Wxj+zpypRprCs4Db/Lc2/Tx7chzry3uJEmSpIws55AkSZIyMkRL%0AkiRJGRmiJUmSpIwM0ZIkSVJGhmhJkiQpI0O0JLVYROyMiNURsS4ibo6IfRr8/OdExFcq7HNyRLy2%0A4OcPRMTfNfI4JKmXGaIlqfVGUkozU0qvAraT65feaicDu0N0SunqlNL1bTgOSepKhmhJaq+fAK8A%0AiIhP5Gen10XEeflth0fEgxFxQ0T8MiJuGZu5joiNEfHi/O3ZEXHvxCePiNMj4r6IWBURP4qIl0TE%0A4eSC+8fzM+InRcSlEXF+/jEzI2JZRKyJiNsi4sD89nsj4nMR8bOIeCgiTmr+8EhSZzJES1KbRMQ0%0A4DRgbUQcB7wbOAGYA/yviJiV33UG8NWU0iuBbcCHMrzMT4E5KaVZwI3ABSmljcDVwBfzM+I/mfCY%0A64ELU0rHkltF8FMF901LKR0PnDdhuyRNKoZoSWq9/ohYDSwHHgO+QW6529tSSr9PKT0HLAbGZnp/%0AnVJamr/9nfy+1XoZsCQi1gILgKPL7RwRBwADKaX/yG+6Dnh9wS6L899XAIdnOA5J6inT2n0AkjQJ%0AjaSUZhZuiIhy+6cSP+/ghcmQvUs89svAFSml2yPiZODSTEe6pz/kv+/Ef0MkTWLOREtSZ/gJMD8i%0A9omIfYG35bcBHBYRr8nf/ltyJRoAG4Hj8rffXuJ5DwCG87fPLtj+LLDfxJ1TSluBzQX1zu8C/mPi%0AfpI02RmiJakDpJRWAt8GfgbcB3w9pbQqf/d64MMR8UvgQOBr+e2fBq6MiOXkZoaLuRS4OSJWAL8t%0A2P594G1jFxZOeMzZwKKIWAPMBC6r588mSb0oUpr4W0JJUqfId9L4Qb4dniSpQzgTLUmSJGXkTLQk%0ASZKUkTPRkiRJUkaGaEmSJCkjQ7QkSZKUkSFakiRJysgQLUmSJGVkiJYkSZIy+v9JU5gv3mOwXwAA%0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661651" y="497512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730250" y="1543844"/>
                <a:ext cx="9586058" cy="39124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1800" b="1" dirty="0"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函数间隔</a:t>
                </a:r>
                <a:r>
                  <a:rPr lang="en-US" altLang="zh-CN" sz="14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 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  <m:r>
                      <a:rPr lang="en-US" altLang="zh-CN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1800" b="1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几何间隔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18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||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𝑤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||</m:t>
                        </m:r>
                      </m:den>
                    </m:f>
                  </m:oMath>
                </a14:m>
                <a:r>
                  <a:rPr lang="en-US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当数据被正确分类时，几何间隔就是点到超平面的距离</a:t>
                </a:r>
                <a:endParaRPr lang="zh-CN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为了求几何间隔最大，</a:t>
                </a:r>
                <a:r>
                  <a:rPr lang="en-US" altLang="zh-CN" sz="1800" dirty="0" err="1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SVM</a:t>
                </a: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基本问题可以转化为求解</a:t>
                </a:r>
                <a:r>
                  <a:rPr lang="en-US" altLang="zh-CN" sz="1800" dirty="0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:(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||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𝑤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||</m:t>
                        </m:r>
                      </m:den>
                    </m:f>
                  </m:oMath>
                </a14:m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为几何间隔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为函数间隔</a:t>
                </a:r>
                <a:r>
                  <a:rPr lang="en-US" altLang="zh-CN" sz="1800" dirty="0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18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𝑏</m:t>
                          </m:r>
                        </m:lim>
                      </m:limLow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||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||</m:t>
                          </m:r>
                        </m:den>
                      </m:f>
                    </m:oMath>
                  </m:oMathPara>
                </a14:m>
                <a:endParaRPr lang="zh-CN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𝑠𝑢𝑏𝑗𝑒𝑐𝑡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 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𝑡𝑜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) </m:t>
                      </m:r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8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)≥</m:t>
                      </m:r>
                      <m:sSup>
                        <m:sSup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, 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=1,2,..,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𝑚</m:t>
                      </m:r>
                    </m:oMath>
                  </m:oMathPara>
                </a14:m>
                <a:endParaRPr lang="zh-CN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50" y="1543844"/>
                <a:ext cx="9586058" cy="3912418"/>
              </a:xfrm>
              <a:prstGeom prst="rect">
                <a:avLst/>
              </a:prstGeom>
              <a:blipFill>
                <a:blip r:embed="rId2"/>
                <a:stretch>
                  <a:fillRect l="-573" t="-6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2607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5" descr="data:image/png;base64,iVBORw0KGgoAAAANSUhEUgAAAtEAAAHwCAYAAABg0TMJAAAABHNCSVQICAgIfAhkiAAAAAlwSFlz%0AAAALEgAACxIB0t1+/AAAIABJREFUeJzs3Xd4lFX6xvHvIUYIRSKIaEIVMYCgBKKC2FtcXTGi4qJi%0AFysKSiju7s+y7goEKdIULIAiiyJmdUURARXsYNBoIIAKSII0iYBECcn5/XEmGNh0MvNOuT/XxeXk%0AzZRnJkjuOfO8zzHWWkREREREpPJqeV2AiIiIiEioUYgWEREREakihWgRERERkSpSiBYRERERqSKF%0AaBERERGRKlKIFhERERGpIoVoEQlKxphWxhhrjDnM9/XbxpgbA/C4jxhjXvL34/geK8EYs8IYs8sY%0Ac58x5mljzN8D8djBxhizzhhzQTVve6YxJruma6rE40bsz0tEFKJF5BD4gk++MWa3MWazMWaaMaa+%0APx7LWvsna+30StZUrTBWifs+xxhT5Hu+u4wx2caYmw/hLgcDi621Day1T1lr77TW/qPEY22smcor%0Az/cmosD3HPOMMR8bY7oHuo7y+N5cHV/8tbV2ibU2wU+PdasxZpXv573ZGDPPGNPA97j7f14iEnkU%0AokXkUF1mra0PdAGSgL8dfAXjhMu/N7m+53sEMASYaozpcPCVilfQK9AS+LaG66sJs33PsQmwFJhr%0AjDEe1xRwxpizgX8Bfay1DYD2wGxvqxKRYBEuv9RExGPW2hzgbaAjgDHmfWPMP40xHwF7gOOMMQ2N%0AMc8ZYzYZY3KMMY8bY6J8148yxowyxmwzxnwPXFry/n33d1uJr283xqz0rRBmGWO6GGNeBFoAb/pW%0AUgf7rtvNt6KaZ4z5yhhzTon7aW2M+cB3PwuAoyr5fK21Nh3YAXQo0X5yqzFmA7DId/89jTHf+h77%0AfWNMe9/xRcC5wARfrSf4VvIfN8bU872Wcb7v7TbGxB30epxmjPmp+PXzHbvCGPO17/Kpxphlxpid%0AvhXU0ZV5Xgc9xwJgOnAM0NgYU8sY8zdjzHpjzBZjzAxjTEPf4xU//37GmFzfz3hQidqmGWMeL/F1%0AmSvtvto/8b1mm4wxE4wxh/u+96Hval/5XpdrDr4vY0x732ud53vtex5Ux0RjzFu+n/lnxpg2ZbwE%0ApwCfWGszfK/Hz9ba6dbaXQc/J2NM8d+54j9FxpibfN9rZ4xZYIz52bhPL3pX6QchIkFJIVpEaoQx%0ApjlwCZBR4nBfoB/QAFgPTAP2AccDicBFQHEwvh34s+94EnBVOY91NfAIcANuRbgnsN1a2xfYgG91%0A3Fo70hgTD7wFPA40AgYBrxljmvju7mVgOS48/wOoVN+1L1BeAcQCmSW+dTZuxTLZGHMCMAsYgFvV%0AnYcL+Idba88DlgD3+mpdXXwH1tpfgT/hW/X2/ckt+fjW2s+AX4HzShy+1vd8AMYB46y1RwBtgFcq%0A87wOeo61gZuAH62123yXb8KF/+OA+sCEg252LtAW97MdYqrXWlMIDMT9TLoD5wN3A1hrz/Jd52Tf%0A63LAyrAxJhp4E3gXOBroD8w0xpRs9/gL8ChwJLAW+GcZdXyG+zk+aozp4Xs9SmWtLf47Vx+4GvgJ%0AWOh7Q7QA93M52vfYk0wpn16ISGhRiBaRQ5VujMnDfez/Ae7j72LTrLXfWmv34QLsJcAAa+2v1tot%0AwBhcqADoDYy11v5orf0ZeKKcx7wNGGmt/cK3IrzWWru+jOteD8yz1s6z1hZZaxcAy4BLjDEtcKuN%0Af7fW/m6t/RAXwMoT53u+24CHgb7W2pIntT3ie375wDXAW9baBb5V3VFADHB6BY9RWbOAPgDG9ele%0A4jsGUAAcb4w5ylq721r7aRXut7fvOf4IdAWu8B2/Dhhtrf3eWrsbGAb8xRzYuvKo7/lnAi8U11cV%0A1trl1tpPrbX7rLXrgGdwb04qoxsu3A+31u611i4C/ntQHa9baz/3/b2cCXQuo44lQC9cq9JbwHZj%0AzOiSq/8H871xmg70ttb+iHtjuM5a+4Lv+WQAr+GCtoiEsMr07ImIlCfFWvteGd/7scTllkA0sMn8%0A0V5bq8R14g66flmhGKA58F0l62sJXG2MuazEsWhgse8xd/hWfks+bvNy7i/XWtusnO+XfA5xlHge%0A1toiY8yPQHwla6/Iy8DHxpi7cGHvyxJvJm4FHgNWGWN+wIXb/1byfl+x1l5fyvEDno/v8mFA0xLH%0ADv4ZdqrkY+7nC6KjcZ9I1PU9xvJK3jwOt3JedFAdJV/zn0pc3oML3aWy1r4NvG1cT/+5wKtANi7Y%0AH1x3Q+A/wN+stUt9h1sCp/nelBQ7DHixks9HRIKUQrSI+JMtcflH4HfgKN8K4ME2cWB4bVHO/f6I%0Aa1Go6DGLr/uitfb2g69ojGkJHGmMqVciSLco5T6qouRtcykRIo1799AcyKni/ZR+BWuzjDHrca0f%0AJVs5sNauAfr4wl8vYI4xpvFBbxiqKhcXCou1wLXnbAaK31g0B1aV+H5xG8qvuEBc7JhyHmcyri2o%0Aj7V2lzFmAOW095RSY3NjTK0SQboFsLqc21TId18Lfb3sHQ/+vu91fhk3bWVKiW/9CHxgrb3wUB5f%0ARIKP2jlEJCCstZtwfapPGmOO8PUUtzFuAgK4nt37jDHNjDFHAkPLubtngUHGmK7GOd4XiMEFuuNK%0AXPcl4DJjTLJxJy/W8Z2I1sy3arsMeNQYc7gx5gzgMmrOK8Clxpjzfb26D+LeSHxcidtuxp3M17CC%0A670M3A+chVslBcAYc70xpokv/BWvghaVcvuqmAUMNO5kzPq41p3ZB70p+rsxpq4x5kTgZv6YZrEC%0A10LTyBhzDK5PvCwNgJ3AbmNMO+Cug75/8M+4pM9wq8uDjTHRxp1Eehnw70o/Sx9jzOXGmL8YY470%0A/T07FddWUlprzD+BerifRUn/BU4wxvT11RNtjDnF+E4wFZHQpRAtIoF0A3A4kIWbajEHONb3vanA%0AfOAr4Etgbll3Yq19FRdaXgZ2Aem4nmtwvdR/801mGOTrS70ceAjYilsZTOWPf/+uBU4Dfsb1OM+o%0AiSfqqzMb15M9HtdDfRnupMe9lbjtKlxo/d73XOLKuOosXLBb5Dv5r9jFwLfGmN24kwz/4uvTxjc9%0A4sxqPKXncW0IHwI/AL/hTtwr6QPcyXoLgVHW2nd9x1/E/WzX4d5MlTcqbhDu57IL9/fi4Os+Akz3%0AvS4HTLrwvbaX4VbntwGTgBt8r2dV7cCd8LoGF+pfAtKstTNLuW4fXD/2jhITOq7zTfK4CNf7n4tr%0AJRkBlHmSooiEBmPtoXxqKSIi4kbc4YJ1dBntOiIiYUUr0SIiIiIiVaQQLSIiIiJSRWrnEBERERGp%0AIq1Ei4iIiIhUkUK0iIiIiEgVhcRmK0cddZRt1aqV12WIiIiISJhbvnz5Nmttk4quFxIhulWrVixb%0AtszrMkREREQkzPl2gq2Q2jlERERERKpIIVpEREREpIoUokVEREREqigkeqJLU1BQwMaNG/ntt9+8%0ALkWAOnXq0KxZM6Kjo70uRURERMTv/BaijTHNgRlAU8ACU6y144wxjwC3A1t9V33IWjuvqve/ceNG%0AGjRoQKtWrTDG1FTZUg3WWrZv387GjRtp3bq11+WIiIiI+J0/V6L3AQ9aa780xjQAlhtjFvi+N8Za%0AO+pQ7vy3335TgA4SxhgaN27M1q1bK76yiIiISBjwW4i21m4CNvku7zLGrATia/IxFKCDh34WIiIi%0AEkkCcmKhMaYVkAh85jvU3xjztTHmeWPMkWXcpp8xZpkxZlmwrnBGRUXRuXNnOnbsyNVXX82ePXuq%0AfV/vv/8+f/7znwF44403GD58eJnXzcvLY9KkSfu/zs3N5aqrrqr2Y4uIiIhI1fg9RBtj6gOvAQOs%0AtTuBycBxQGfcSvWTpd3OWjvFWptkrU1q0qTCTWM8ERMTw4oVK/jmm284/PDDefrppw/4vrWWoqKi%0AKt9vz549GTp0aJnfPzhEx8XFMWfOnCo/joiIiIhUj19DtDEmGhegZ1pr5wJYazdbawuttUXAVOBU%0Af9YQKGeeeSZr165l3bp1JCQkcMMNN9CxY0d+/PFH3n33Xbp3706XLl24+uqr2b17NwDvvPMO7dq1%0Ao0uXLsydO3f/fU2bNo17770XgM2bN3PFFVdw8sknc/LJJ/Pxxx8zdOhQvvvuOzp37kxqairr1q2j%0AY8eOgOsVv/nmm+nUqROJiYksXrx4/3326tWLiy++mLZt2zJ48OAAv0IiIiIi4cOf0zkM8Byw0lo7%0AusTxY3390gBXAN8c8oMNGAArVhzy3Rygc2cYO7ZSV923bx9vv/02F198MQBr1qxh+vTpdOvWjW3b%0AtvH444/z3nvvUa9ePUaMGMHo0aMZPHgwt99+O4sWLeL444/nmmuuKfW+77vvPs4++2xef/11CgsL%0A2b17N8OHD+ebb75hhe85r1u3bv/1J06ciDGGzMxMVq1axUUXXcTq1asBWLFiBRkZGdSuXZuEhAT6%0A9+9P8+bND+FFEhEREYlM/pzO0QPoC2QaY4oT7kNAH2NMZ9zYu3XAHX6swa/y8/Pp3Lkz4Faib731%0AVnJzc2nZsiXdunUD4NNPPyUrK4sePXoAsHfvXrp3786qVato3bo1bdu2BeD6669nypQp//MYixYt%0AYsaMGYDrwW7YsCE7duwos6alS5fSv39/ANq1a0fLli33h+jzzz+fhg0bAtChQwfWr1+vEC0iIiJS%0ADf6czrEUKG1kQ5VnQleokivGNa24J/pg9erV23/ZWsuFF17IrFmzDrhOabfzt9q1a++/HBUVxb59%0A+wJeg4iIiEg40LbfftatWzc++ugj1q5dC8Cvv/7K6tWradeuHevWreO7774D+J+QXez8889n8uTJ%0AABQWFvLLL7/QoEEDdu3aVer1zzzzTGbOnAnA6tWr2bBhAwkJCTX9tEREREQimkK0nzVp0oRp06bR%0Ap08fTjrppP2tHHXq1GHKlClceumldOnShaOPPrrU248bN47FixfTqVMnunbtSlZWFo0bN6ZHjx50%0A7NiR1NTUA65/9913U1RURKdOnbjmmmuYNm3aASvQIiIiInLojLXW6xoqlJSUZJctW3bAsZUrV9K+%0AfXuPKpLS6GciIiIioc4Ys9xam1TR9bQSLSIiIiJSRf6cziEiIiIiUq70jBzS5meTm5dPXGwMqckJ%0ApCTGe11WhRSiRURERMQT6Rk5DJubSX5BIQA5efkMm5sJEPRBWu0cIiIiIuKJtPnZ+wN0sfyCQtLm%0AZ3tUUeUpRIuIiIiIJ3Lz8qt0PJgoRIuIiIiIJ+JiY6p0PJgoRFfT9u3b6dy5M507d+aYY44hPj5+%0A/9d79+49pPt+/fXXSUtLq5E6r7/+elq3bs3JJ5/MCSecwI033khubm6Ftxs9ejS//fZbjdQgIiIi%0AUprU5ARioqMOOBYTHUVqcvBvFKcTC6upcePG+7fufuSRR6hfvz6DBg064DrWWqy11KpVtfcqV1xx%0ARY3VCTBmzBhSUlIoKipi9OjRnHfeeWRmZhIdHV3mbUaPHs0tt9xCnTp1arQWERERkWLFJw+G4nSO%0AiFmJTs/IocfwRbQe+hY9hi8iPSPHL4+zdu1aOnTowHXXXceJJ57Ipk2b6NevH0lJSZx44ok89thj%0A+6/brFkzHnnkERITEznppJNYvXo1AM8++ywDBgwA3Ery/fffz+mnn85xxx3H66+/DrgtwO+8807a%0AtWvHRRddxMUXX0x6enq5tdWqVYtBgwbRqFEj3n33XYBSaxszZgxbtmzhzDPP5IILLijzeiIiIiKH%0AKiUxno+GnscPwy/lo6HnhUSAhggJ0cXjU3Ly8rH8MT7FX0F61apVDBw4kKysLOLj4xk+fDjLli3j%0Aq6++YsGCBWRlZe2/btOmTcnIyOC2225j9OjRpd7fli1b+Oijj0hPT2fYsGEAvPrqq+Tk5JCVlcW0%0AadP45JNPKl1fly5dWLVqFUCptQ0cOJCjjz6aJUuW8N5775V5PREREZFIFREhOtDjU9q0aUNS0h+7%0ARc6aNYsuXbrQpUsXVq5ceUAA7dWrFwBdu3Zl3bp1pd5fSkoKxhhOOukkcnJc8F+6dCm9e/emVq1a%0AxMXFcfbZZ1e6vpJbvZdXW0mVvZ6IiIhIJIiInuhAj0+pV6/e/str1qxh3LhxfP7558TGxnL99dcf%0AcMJe7dq1AYiKimLfvn2l3l/xdeDAAFxdK1as4NJLL62wtso+BxEREZFIExEr0V6OT9m5cycNGjTg%0AiCOOYNOmTcyfP79G7rdHjx7MmTMHay2bNm3iww8/rPA21lrGjBnD9u3bufDCC8utrUGDBuzatcuv%0Az0FEREQkVEXESnRqcsIBW0pC4MandOnShQ4dOtCuXTtatmxJjx49auR+e/fuzaJFi2jfvj0tW7Yk%0AMTGRhg0blnrdgQMH8vDDD5Ofn0/37t1ZtGgR0dHR5dbWr18/LrjgApo3b86CBQv88hxEREREQpWp%0AifYAf0tKSrLLli074NjKlStp3759pe8jPSMnJMenlGf37t3Ur1+frVu3ctppp/HZZ5/RpEkTz+qp%0A6s9EREREJNgYY5Zba5Mqul5ErESDG58S6qH5YH/605/YuXMnBQUFPProo54GaBEREZFIEjEhOhwt%0AWbLE6xJEREREIlJEnFgoIiIiIlKTQjpEh0I/d6TQz0JEREQiSciG6Dp16rB9+3aFtyBgrWX79u3U%0AqVPH61JEREREAiJke6KbNWvGxo0b2bp1q9elCO5NTbNmzbwuQ0RERCQgQjZER0dH07p1a6/LEBER%0AEZEIFLLtHCIiIiIiXgnZlWgRERGJbOG4kZqEDoVoERERCTnpGTkMm5tJfkEhADl5+QybmwmgIC0B%0AoXYOERERCTlp87P3B+hi+QWFpM3P9qgiiTQK0SIiIhJycvPyq3RcpKYpRIuIiEjIiYuNqdJxkZqm%0AEC0iIiIhJzU5gZjoqAOOxURHkZqc4FFFEml0YqGIiIiEnOKTBzWdQ7yiEC0iIiIhKSUxXqFZPKN2%0ADhERERGRKlKIFhERERGpIoVoEREREZEqUogWEREREakihWgRERERkSrSdA4RERGRAErPyNFovjCg%0AlWgRERGRAEnPyGHY3Exy8vKxQE5ePsPmZpKekeN1ad4pKoL0dPjXv7yupEoUokVEREQCJG1+NvkF%0AhQccyy8oJG1+tkcVeWjvXnjhBTjxRLjiCpg+HX7/3euqKk0hWkRERCRAcvPyq3Q8LO3eDWPGQJs2%0AcMstULs2zJoF337rLocI9USLiIiIBEhcbAw5pQTmuNgYD6oJsG3bYPx4mDABfv4ZzjkHpk6F5GQw%0Axuvqqkwr0SIiIiIBkpqcQEx01AHHYqKjSE1O8KiiAFi/Hu6/H1q0gMcegzPPhE8+gcWL4eKLQzJA%0Ag1aiRURERAKmeApHREzn+OYbGDnStWoAXH89DB4M7dt7W1cNUYgWERERCaCUxPjwDM3FPv4Yhg+H%0AN9+EunXh3nvhgQegeXOvK6tRCtEiIiIicmishXnzYMQIWLIEGjWChx+G/v2hcWOvq/MLhWgRERER%0AqZ59+2D2bBeeMzPdavPYsXDbbVCvntfV+ZVCtIiIiIhUzZ49bsbzqFGwbh106ODmPPfpA9HRXlcX%0AEArRIiIiIh4JuS3Ad+yASZNg3DjYuhW6d3crz5ddBrUia+ibQrSIiIiIB4q3AC/ewbB4C3Ag+IJ0%0Abq7bIOXpp91mKZdcAkOHwhlnhOyIukMVWW8ZRERERIJESGwBnp3t+ptbtYLRo6FnT1ixAt56y817%0AjtAADVqJFhEREfFEUG8BvmyZG1M3d67bivv22+HBB+G447yuLGgoRIuIiIh4IOi2ALcWFi504Xnh%0AQmjYEIYNg/vug6ZNvakpiKmdQ0RERMQDQbMFeGEhzJkDp5wCF14IWVlup8ENG+Cf/1SALoNWokVE%0AREQ84PkW4L//Di++6ALzmjXQti1MnQp9+7oWDimXQrSIiIiIRzzZAnznTpgyxZ0ouGkTdO0Kr74K%0AV1wBUVEV314AhWgRERGRyLB5Mzz1FEycCL/8Ahdc4FaizzsvoqdsVJdCtIiIiEg4++EHt7Pg88+7%0AFo4rr4QhQyApyevKQppCtIiIiEg4+vprGDECZs92bRo33ACpqXDCCV5XFhYUokVERETChbWwZIkb%0AU/f221C/PjzwAAwYAHFxXlcXVhSiRUREREJdURG8+aYLz59+Ck2auPF0d90FRx7pdXVhSSFaRERE%0AJFTt3QuzZrkxdVlZbnvuiRPh5pshxqNNWyKE3zZbMcY0N8YsNsZkGWO+Ncbc7zveyBizwBizxvdf%0AvT0SERERqYpff4Vx4+D44+Gmm1zP88yZbt7z3XcrQAeAP3cs3Ac8aK3tAHQD7jHGdACGAguttW2B%0Ahb6vRURERKQi27fDo49Cixauz7l1a5g3D776Cq69Fg5Tk0Gg+O2VttZuAjb5Lu8yxqwE4oHLgXN8%0AV5sOvA8M8VcdIiIiIiHvxx/d5ihTpsCePdCzpxtTd/rpXlcWsQLydsUY0wpIBD4DmvoCNsBPQKkb%0Ashtj+gH9AFq0aOH/IkVERESCTVaW63eeOdN93aePC88nnuhtXeLXdg4AjDH1gdeAAdbanSW/Z621%0AgC3tdtbaKdbaJGttUpMmTfxdpoiIiEjw+PRTSElxYfnVV12f89q1MGOGAnSQ8OtKtDEmGhegZ1pr%0A5/oObzbGHGut3WSMORbY4s8aREREREKCtfDOO26DlA8+cKPpHn4Y7r0XjjrK6+rkIP6czmGA54CV%0A1trRJb71BnCj7/KNwH/8VYOIiIhI0Nu3z42pS0yESy6B775z/c8bNsAjjyhAByl/rkT3APoCmcaY%0AFb5jDwHDgVeMMbcC64HefqxBREREJDjl58O0aZCWBj/8AO3awQsvuCkbhx/udXVSAX9O51gKmDK+%0Afb6/HldEREQkqOXlweTJMHYsbNkCp53mVp579oRafj9dTWqIhgmKiIiIBMKmTS44T54Mu3ZBcjIM%0AHQpnnw2mrHVHCVYK0SIiIiL+tHata9mYNs31P/fuDYMHux5oCVkK0SIiIiL+sHy5m7Tx2msQHQ23%0A3AKDBkGbNl5XJjVAIVpERESkplgLixfD8OGwYAEccYRbdb7/fjjmGK+rkxqkEC0iIiJyqIqKID3d%0AhecvvnCBecQIuOMOaNjQ6+rEDxSiRURERKrr99/dltwjR0J2tmvVeOYZuOEGqFPH6+rEjxSiRURE%0ARKpq1y6YMsWNpsvNhS5d4JVXoFcviIryujoJAIVoERERkcrauhWeegomTHDzns87z03duOACjamL%0AMArRIiIiIhVZtw5GjYLnn4fffnMrzkOGwCmneF2ZeEQhWkRERKQsmZnuBMF//9vtJnjDDZCaCgkJ%0AXlcmHlOIFhERETnY0qVu0sZbb0G9ejBgAAwcCPHxXlcmQUIhWkRERATcmLp581x4/ugjaNwYHnsM%0A7rkHGjXyujoJMgrRIiIiEtkKCly7xogR8O230LIljB/vdhisW9fr6iRIKUSLiIhIZNqzB557zp0w%0AuGEDdOwIL74I11zjtukWKYdCtIiIiESWn392I+rGj4dt26BHD5g4ES69VGPqpNIUokVERCQybNzo%0ANkeZMgV+/RX+/Gc3pu6MM7yuTEKQQrSIiIiEt1Wr3LbcL73kTh689loYPNi1b4hUk0K0iIiIhKfP%0AP3eTNtLToU4duPNOeOABaNXK68okDChEi4iISPiwFhYscOF58WI48kj429+gf39o0sTr6iSMKESL%0AiIhI6Nu3D157zY2py8hwm6KMHg233w7163tdnYQhhWgREREJXb/9BtOnQ1oafPed2477+efhuuvg%0A8MO9rk7CmEK0iIiIhJ5ffoHJk2HsWNi8GU45xQXpyy+HWrW8ri6kpGfkkDY/m9y8fOJiY0hNTiAl%0AUdubV0QhWkRERELHTz+54Dx5MuzcCRddBEOHwjnnaMZzNaRn5DBsbib5BYUA5OTlM2xuJoCCdAX0%0AVk1ERESC39q1brpGq1ZuxTk5GZYvh/nz4dxzFaCrKW1+9v4AXSy/oJC0+dkeVRQ6tBItIiIiwevL%0AL93JgnPmwGGHwU03waBB0Lat15WFhdy8/Codlz8oRIuIiEhwsRbef9+NqXv3XWjQAFJT4f774dhj%0Ava4urMTFxpBTSmCOi43xoJrQonaOEJWekUOP4YtoPfQtegxfRHpGjtcliYiIHJqiInj9dejWDc47%0AD1asgH/9CzZscIFaAbrGpSYnEBMddcCxmOgoUpMTPKoodGglOgTpJAAREQkre/fCzJmubSM7G447%0Azp04eOONEKMVUX8qzg2azlF1CtEhqLyTAPSXXkREQsauXTB1qtsUJScHOneGWbPgqqtc/7MEREpi%0AvPJDNehvaAjSSQAiIhLStm6F8eNhwgTYscONp3vuOTeuTlM2JEQoRIcgnQQgIiIhaf16ePJJePZZ%0AyM+HlBQYMsT1QIuEGJ1YGIJ0EoCIiISUb76BG26ANm1cr/M110BW1h8nEYqEIK1EhyCdBCAiIiHh%0Ao4/cyYJvvgn16sF998HAgdC8udeViRwyhegQpZMAREQkKFkL8+a58LxkCTRuDI8+Cvfc4y6LhAmF%0AaBERETl0+/bB7NkuPGdmutXmsWPhttvcKrQfpGfk6FNZ8YxCtIiIiFTfnj3wwgswahSsWwcdOsCM%0AGfCXv0B0tN8eVnsmiNd0YqGIiIhU3Y4d8Pjj0KoV3Huv203wjTfcKnTfvn4N0FD+ngkigaCVaBER%0AEam8nBwYMwaeeQZ274ZLLnFj6s48M6AznrVngnhNIVpEREQqlp0NaWmuVaOoyLVrDB4MJ53kSTna%0AM0G8pnYOERERKdsXX7htuNu3h5kzoV8/WLMGXnrJswAN2jNBvKeVaBERETmQtbBwITzxBCxaBLGx%0A8NBDbs7z0Ud7XR2gPRPEewrRIiIi4hQWwty5MHw4fPklxMW5qRv9+kGDBl5X9z+0Z4J4SSFaREQk%0A0v3+u+t1HjkS1q6FE06AZ5+F66+H2rW9rk4kKClEi4iIRKqdO+Hpp920jZ9+gqQkmDMHUlIgKqri%0A24tEMIWHObCMAAAgAElEQVRoERGRSLN5M4wbB5MmwS+/wIUXuhMFzzsvoGPqREKZQrSIiEik+P57%0A1+P8/POwdy9ceSUMHQpdu3pdmUjIUYgWEREJdytWwIgR8MorcNhhcOONMGiQ630WkWpRiBYREQlH%0A1sKHH7pJG++8A/Xrw4MPwoABbuqGiBwShWgREZFwUlQEb77pwvOnn0KTJvDPf8Jdd8GRR3pdnUjY%0AUIgWEREJB3v3wssvuzF1K1dC69buxMGbboIYbYUtUtMUokVERELZ7t1upvOTT8LGjW4r7pdfhquv%0Adv3PIuIX+r9LREQkFG3bBhMmwPjx8PPPcOaZMGUKXHyxxtSJBIBCtIiISCjZsAFGj4apU2HPHujZ%0AE4YMgdNP97oykYiiEC0iIhIKsrJcv/PMme7r666DwYOhQwdv6xKJUArRIiIiweyTT9ykjTfegLp1%0A4e673ai6Fi28rkwkoilEi4iIBBtr3Wzn4cPdrOdGjeDhh6F/f2jc2OvqRASFaBERkeCxbx+8+qoL%0Az19/Dc2awdixcNttUK+e19WJSAkK0SIiUqb0jBzS5meTm5dPXGwMqckJpCTGe11W+MnPh2nTIC0N%0AfvgB2rd3X/fpA4cf7nV1IlIKhWgRESlVekYOw+Zmkl9QCEBOXj7D5mYCKEjXlLw8tyHKuHGwZQt0%0A6wZjxsBll0GtWl5XJyLl0P+hIiJSqrT52fsDdLH8gkLS5md7VFEYyc11kzVatIC//hW6doX334eP%0AP4bLL1eAFgkBWokWEZFS5eblV+m4VMKaNa5lY/p01/98zTUuTHfu7HVlIlJFCtEiIlKquNgYckoJ%0AzHGxMR5UE+KWL4cRI2DOHNfjfOutMGgQHHec15WJSDXp8yIRESlVanICMdFRBxyLiY4iNTnBo4pC%0AjLWwcCFceCEkJcH8+W5nwfXrXR+0ArRISPNbiDbGPG+M2WKM+abEsUeMMTnGmBW+P5f46/FFROTQ%0ApCTG80SvTsTHxmCA+NgYnujVSScVVqSwEF57DU49FS64AL75xq1Cb9gATzwBTZt6XaGI1AB/tnNM%0AAyYAMw46PsZaO8qPjysiIjUkJTFeobmyfv8dXnzRbc29Zg0cfzxMmQJ9+0KdOl5XJyI1zG8h2lr7%0AoTGmlb/uX0REJCjs3AnPPONG023aBF26wOzZcOWVEBVV8e1FJCR5cWJhf2PMDcAy4EFr7Q4PahAR%0AETk0W7a4+c4TJ8Ivv8D558OMGe6/xnhdnYj4WaBPLJwMHAd0BjYBT5Z1RWNMP2PMMmPMsq1btwaq%0APhERkfL98APccw+0bOl6nC+4AD7/HN57z11WgBaJCAEN0dbazdbaQmttETAVOLWc606x1iZZa5Oa%0ANGkSuCJFRERK8/XXcN110LYtTJ3qLq9c6cbWnXKK19WJSIAFtJ3DGHOstXaT78srgG/Ku76ISCRK%0Az8ghbX42uXn5xMXGkJqcoJP7vGItLF0Kw4fDvHlQvz4MGAADB0K8fiYikcxvIdoYMws4BzjKGLMR%0AeBg4xxjTGbDAOuAOfz2+iEgoSs/IYdjczP3bbefk5TNsbiaAgnQgFRXBW2+58Pzxx3DUUfD443D3%0A3XDkkV5XJyJBwJ/TOfqUcvg5fz2eiEg4SJufvT9AF8svKCRtfrZCdCAUFMCsWW6uc1aW63ueMAFu%0Avhnq1vW6OhEJItr2W0QkiOSWss12ecelhvz6Kzz3HDz5pNsUpWNHeOkl6N0boqO9rk5EgpBCtIhI%0AEImLjSGnlMAcFxvjQTURYPt2N6Luqafc5R493Jbcl1yiKRsiUq5Aj7gTEZFypCYnEBN94AYdMdFR%0ApCYneFRRmPrxR3jgAdeu8fDD0L07LFniTiK89FIFaBGpkFaiRUSCSHHfs6Zz+MnKlW5b7pdecpM3%0Arr0WBg927RsiIlWgEC0iEmRSEuMVmmvaZ5+5SRvp6RATA3fd5VaiW7XyujIRCVEK0SIiEp6shfnz%0AXXj+4AM3mu7vf4f+/UGbeInIIVKIFhGR8LJvn9tFcPhw+OortynK6NFw++1usxQRkRqgEC0iIuEh%0APx+mT4e0NPj+e2jXDl54wfU9H36419WJSJhRiBYRkdCWlweTJ8PYsbBlC5x6KowaBZdfDrU0hEpE%0A/EMhWkREQtOmTS44T54Mu3ZBcjIMHQpnn60RdSLidwrRIiISWtaudS0b06a5/uerr4YhQyAx0evK%0ARCSCKESLiEho+PJLGDHCnTQYHQ233AKDBkGbNl5XJiIRSCFaxCc9I0cbXIgEG2vh/ffdpI1334Uj%0AjnCbo9x/PxxzjNfViUgEU4gWwQXoYXMzyS8oBCAnL59hczMBFKRFvFBU5DZGGTECPv8cmjZ1QfrO%0AO6FhQ6+rExFRiBYBt8VycYAull9QSNr8bIVoOWT6lKMK9u51W3KPHAnZ2XDccfD003DjjVCnjtfV%0AiYjspxAtAuTm5VfpuEhl6VOOStq1C6ZOdZui5ORA587w73/DlVfCYfpVJSLBRwM0RYC42JgqHRep%0ArPI+5RBg61a3FXeLFvDgg9C2LbzzjjuJ8JprFKBFJGgpRIsAqckJxERHHXAsJjqK1OQEjyqScKFP%0AOcqwbh307w8tW8I//wnnnguffgqLF7t5z5rzLCJBTm/xRfjjY3X1rUpNi4uNIaeUwByxn3JkZrp+%0A51mz3G6C118PqanQvr3XlYmIVIlCtIhPSmK8QrPUuNTkhAN6oiFCP+VYutRN13jrLahXz42oGzgQ%0AmjXzujIRkWpRiBYR8aOI/pSjqAjmzXPh+aOPoHFjeOwxuOceaNTI6+pERA6JQrSIiJ9F3KccBQUw%0Ae7ab8fzNN+6kwXHj4NZb3Sq0iEgYUIgWEZGasWcPPP88jBoF69fDiSfCjBnwl7+4bbpFRMKIQrSI%0AiByan3+GiRPhqadg2zY4/XSYMAEuucSdPCgiEoYUokVEpHo2boQxY+CZZ+DXX11oHjYMzjjD68pE%0ARPxOIVpERKpm1SpIS4MXX3QnD/bpA4MHQ6dOXlcmIhIwCtEiIlI5n3/uThZ8/XWoXRvuuMPtMtiq%0AldeViYgEnEK0iIiUzVp47z03pm7RIoiNhb/+1e02ePTRXlcnIuIZhWgREflfhYXw2msuPGdkQFyc%0Am7rRrx80aOB1dSIinlOIFhGRP/z2mxtLl5YGa9fCCSfAs8+67blr1/a6OhGRoKEQLSIisHMnPP20%0Am7bx00+QlARz5kBKCkRFeV2diEjQUYgWEYlkmze73QQnTYJffoELL4SZM+Hcc8EYr6sTEQlaCtEi%0AIpHo++9dj/Pzz7ttuq+8EoYMga5dva5MRCQkKESLiESSFSvcmLpXXoHDDoObboJBg6BtW68rExEJ%0AKQrRIgGWnpFD2vxscvPyiYuNITU5gZTEeK/LknBmLXz4oZu08c47brrGoEEwYAAce6zX1YmIhCSF%0AaJEASs/IYdjcTPILCgHIyctn2NxMAAVpqXlFRfDGG27l+dNP3Vznf/0L7rrLzXsOInpzKSKhRiFa%0A5CD+/GWeNj97f4Aull9QSNr8bAUGqTl798LLL7vwvGoVtG4NEyfCzTdDTIzX1f0PvbkUkVBUy+sC%0ARIJJ8S/znLx8LH/8Mk/PyKmR+8/Ny6/ScZEq2b0bxo6FNm1cYD78cBemV6+Gu+8OygAN5b+5FBEJ%0AVlqJlmoJ9Y9ey6rf3yvFcbEx5JQSmONigzPcSIjYtg0mTIDx4+Hnn+Hss2HKFLj44pAYU6c3lyIS%0AihSipcpC/aPX8ur39y/z1OSEAx4bICY6itTkhBq5f4kwGzbA6NEwdSrs2QOXX+7G1HXv7nVlVaI3%0AlyISitTOIVUW6h+9lld/Wb+0a+qXeUpiPE/06kR8bAwGiI+N4YlenULizYcEkawsN5quTRvX69y7%0AN3z7LaSnh1yABvfmMib6wF0R9eZSRIKdVqKlykL9o9fy6h9zTWe/rxSnJMYrNEv1fPKJG1P3xhtQ%0Aty7cey888AA0b+51ZYek+P+HUG4RE5HIoxAtVRbqH72WV79+mUvQsRbeftuF5yVLoHFjeOQRF6Ab%0AN/a6uhqjN5ciEmoUoqXKQr2vt6L69ctcgsK+fW5XweHDITPTrTaPGwe33gr16nldnYhIxFOIlioL%0A9dXaUK9fwtyePfDCCzBqFKxbBx06wPTp0KcPREd7XZ2IiPgYa63XNVQoKSnJLlu2zOsyRET8Z8cO%0AmDTJrTZv3QrdusHQoXDZZVBL54CLiASKMWa5tTapoutV6l9mY0yPyhwTEZEqys2F1FRo0QL+9jdI%0ASoIPPoCPP3Yj6xSgRUSCUmX/dR5fyWMiIlIZ2dlw221uS+7Ro6FnT1ixAubNg7POColNUkREIlm5%0APdHGmO7A6UATY8wDJb51BBBV+q1ERKRMX3wBI0bA3LlQu7YL0g8+CMcd53VlIiJSBRWdWHg4UN93%0AvQYlju8ErvJXUSIiYcVaWLjQTdpYuBAaNoRhw+C++6BpU6+rExGRaig3RFtrPwA+MMZMs9auD1BN%0AIiLhobAQXn/dhefly+GYY2DkSLjjDjjiCK+rExGRQ1BRO8dYa+0AYIIx5n/GeFhre/qtMhGRUPX7%0A7/Diiy4wr1kDbdvC1KnQt69r4RARkZBXUTvHDN9/R/m7EBGRkLdzJ0yZ4k4U3LQJunaFV1+FK66A%0AKJ1GIiISTioK0WnA+cAl1tohAahHRCT0bNni5jtPmgR5eXDeeTBjBpx/vqZsiIiEqYpC9LHGmNOB%0AnsaYfwMH/Daw1n7pt8pERILdDz+4nQWff961cPTqBUOGwCmneF2ZiIj4WUUh+v+AvwPNgNEHfc8C%0A5/mjKBGRoPb1125M3ezZbjOUG2+EQYMgIcHrykREJEAqms4xB5hjjPm7tfYfAapJRCT4WAtLl7pJ%0AG/PmQf36MGAADBwI8fFeVyciIgFW0Uo0ANbafxhjegJn+Q69b639r//KEhEJEkVF8N//uvD8ySfQ%0ApAk8/jjcfTcceaTX1YmIiEcqFaKNMU8ApwIzfYfuN8acbq19yG+ViYh4qaAAZs1ybRtZWdCqFUyY%0AALfcAjExXlcnIiIeq1SIBi4FOltriwCMMdOBDEAhWkTCy6+/wrPPwpNPwo8/wkknwcsvw9VXw2GV%0A/SdTRETCXVV+I8QCP/suN/RDLSIi3tm+3a00jx/vLp91FjzzDFx8scbUiYjI/6hsiH4CyDDGLMaN%0AuTsLGOq3qkREAuXHH93mKFOmwJ490LOnG1N3+uleVyYiIkGswhBtjDHAUqAbUDz8dIi19id/FiYi%0A4ldZWW5b7pm+Uz2uvRYGD4YTT/S2LhERCQkVhmhrrTXGzLPWdgLeCEBNIiL+8+mnbtLGf/4Ddeu6%0AKRsPPAAtW/rtIdMzckibn01uXj5xsTGkJieQkqixeCIioaxWJa/3pTGmSltwGWOeN8ZsMcZ8U+JY%0AI2PMAmPMGt9/NR9KRPzPWnjnHTjnHOjeHT78EB5+GNavd9t1+zlAD5ubSU5ePhbIyctn2NxM0jNy%0A/PaYIiLif5UN0acBnxpjvjPGfG2MyTTGfF3BbaYBFx90bCiw0FrbFliI+qpFxJ/27XNj6hIT4U9/%0Agu++c/3PGzbAI4/AUUf5vYS0+dnkFxQecCy/oJC0+dl+f2wREfGfyp5YmFzVO7bWfmiMaXXQ4cuB%0Ac3yXpwPvA0Oqet8iIuXKz4dp0yAtDX74Adq1gxdecH3Phx8e0FJy8/KrdFxEREJDuSHaGFMHuBM4%0AHsgEnrPW7juEx2tqrd3ku/wT0PQQ7ktE5EB5eTB5MowdC1u2wKmnupXnnj2hVmU/eKtZcbEx5JQS%0AmONitWGLiEgoq+i3ynQgCReg/wQ8WVMPbK21gC3r+8aYfsaYZcaYZVu3bq2phxWRcLRpkxtL16IF%0APPSQa99YvNidRJiS4lmABkhNTiAmOuqAYzHRUaQmJ3hUkYiI1ISK2jk6+KZyYIx5Dvj8EB9vszHm%0AWGvtJmPMscCWsq5orZ0CTAFISkoqM2yLSARbswZGjXKtG/v2Qe/ebkxdYqLXle1XPIVD0zlERMJL%0ARSG6oPiCtXafOfRdu94AbgSG+/77n0O9QxGJQMuXw4gRMGeO63G++WZITYU2bbyurFQpifEKzSIi%0AYaaiEH2yMWan77IBYnxfG1xHxhFl3dAYMwt3EuFRxpiNwMO48PyKMeZWYD3Q+xDrF5FIYa1r0Rg+%0AHBYsgCOOcC0c998PxxzjdXUiIhJhyg3R1tqo8r5fwW37lPGt86t7nyISgYqKID3dhecvvnCBefhw%0AuPNOaNjQ6+pERCRCVXbEnYhIYP3+u9uSe+RIyM52rRrPPAM33AB16nhdnYiIRDiFaBEJLrt2wdSp%0AbjRdTo47SXD2bLjySoiq9odjIiIiNUohWkSCw9at8NRTMGGCm/d87rnw/PNw4YVw6Cc1i4iI1CiF%0AaBHx1rp18OST8Nxz8NtvcMUV7oTBU0/1ujIREZEyKUSLiDcyM12/86xZbjOUvn3dmLp27byuTERE%0ApEIK0QGSnpGjzRZEAJYuddM13noL6tWDAQPcn2bNvK5MRESk0hSiAyA9I4dhczPJLygEICcvn2Fz%0AMwEUpCUyFBXBvHkuPH/0ERx1FDz2GNxzDzRq5HV1IUdvykVEvFfL6wIiQdr87P0Bulh+QSFp87M9%0AqkgkQAoK4MUX4aST4LLLYONGGD8e1q+Hv/9dAboait+U5+TlY/njTXl6Ro7XpYmIRBSF6ADIzcuv%0A0nGRkLdnjwvLxx/v5jobAy+9BGvWwL33Qt26XlcYsvSmXEQkOKidIwDiYmPIKSUwx8XGeFCNiB/9%0A/DNMnOhG1W3bBmec4b6+9FKNqashelMuIhIctBIdAKnJCcREH7hJREx0FKnJCR5VJFLDNm6EBx+E%0AFi3g//4PunWDJUvcnz//WQG6BpX15ltvykVEAkshOgBSEuN5olcn4mNjMEB8bAxP9OqkE4Ek9K1a%0ABbfcAscdB+PGuRnPX38Nb77pVqGlxulNuYhIcFA7R4CkJMYrNEv4+PxzN2kjPR1q14Y77nAr0a1a%0AeV1Z2Cv+d0TTOUREvKUQLSKVYy0sWODC8+LFEBsLf/0r9O8PRx/tdXURRW/KRUS8pxAtIuUrLIQ5%0Ac2DECMjIgLg4t0337bdDgwZeVyciIuIJhWgRKd1vv8H06ZCWBt99ByecAM89B9dd51o4REREIphC%0AtIgc6Jdf4OmnYcwY2LwZTjkFRo6Eyy+HqKiKby8iIhIBFKJFxPnpJzdhY9Ik2LkTLroIhgyBc8/V%0AiDoREZGDKESLRLq1a2HUKJg2zW3TfdVVLjx36eJ1ZSIiIkFLIVokUmVkuJMFX30VDjsMbroJBg2C%0Atm29rkxERCToKUSLRBJr4YMP3Ji6+fPddI3UVLj/fjj2WK+rExERCRkK0SKRoKgI3njDhefPPoOm%0ATeGJJ+DOO9285zCQnpGjDUhERCRgFKJFwtnevfDyy65tY9Uqtz335Mlw440QE+N1dTUmPSOHYXMz%0AyS8oBCAnL59hczMBFKRFRMQvanldgIj4we7dbkRdmzZw881Qpw7MmgXZ2W71OYwCNLgtsIsDdLH8%0AgkLS5md7VJGIiIQ7rUSLhJOtW2H8eJgwAXbsgHPOgWefdePqDhpTF07tD7l5+VU6LiIicqgUokXC%0Awfr1bivuZ5+F/HxISXFj6rp1K/Xq4db+EBcbQ04pgTkuNrxW3EVEJHionUMklH3zDfTt69o2Jk+G%0Aa66BrCx4/fUyAzSEX/tDanICMdEH7qYYEx1FanKCRxWJiEi400q0SCj66CM3aeO//4V69eC++2Dg%0AQGjevFI3D7f2h+LV83BpTxERkeCnEC0SKqyFefNceF66lN9jj+TFC25kYodk6h7dlNRttUipXIYO%0Ay/aHlMR4hWYREQkYhWiRYLdvH8ye7cbUZWZC8+Z8nfooN5mT+NlEA7Cjij3NqckJB/REg9ofRERE%0AqkI90SLBas8emDjRbcN9/fVQWAjTp8N333FXozP2B+hiVelpTkmM54lenYiPjcEA8bExPNGrk1Zy%0ARUREKkkr0SLBZscOmDQJxo1zI+u6d4ennoJLL4Va7n1vTfQ0q/1BRESk+hSiJWIF3ZzknBy3Qcoz%0Az7jNUi65xI2pO/PM/5nxHI49zSIiIqFEITpIBV3ACzNBNSc5OxvS0mDGDNey8Ze/wODBcPLJZd5E%0APc0iIiLeUk90ECoOeDl5+Vj+CHjpGTlelxY2gmJO8hdfwFVXQfv2MHMm3H47rFnjLpcToEE9zSIi%0AIl7TSnQQKi/gKSTVDM/mJFsLCxe6MXULF0LDhjBsmJvz3LRple4qFHqa9YmKiIiEK4XoIBRuG2EE%0Ao4D3FBcWwty5bkzd8uVw7LGuhaNfPzjiCP88pseCqmVGRESkhqmdIwiVFeR00ljNCdg20b//DlOn%0AQrt20Ls37Nzpvv7hBxg0KGwDNARJy4yIiIifKEQHodTkBKKjDpzGEB1ldNJYDfJ7T/HOnW6luXVr%0At9rcsCG8+iqsXAm33Qa1a9fM4wQxfaIiIiLhTO0cwcpW8HUY8apv1i89xZs3u5nOEyfCL7/ABRfA%0Aiy+SfmQCae+uJvev7wRdb7C/Xn+N4RMRkXCmEB2E0uZnU1B0YGouKLJheWJhVfpmg/okte+/h1Gj%0A4IUXXAvHlVfC0KHQtWtQ9QYf/Bqe264Jry3P8UttGsMnIiLhTO0cQSiSPgavbN9s0I79++oruPZa%0AtzX3c89B376wapVr3ejaFQie3uDSXsOZn27wW20awyciIuFMK9FByJ8fgwfbam5l3zBUd+yfX56v%0AtfDhh25M3TvvQP368OCDMGAAxMVV+FwqOu4vpb2GZXUJ1VRtoTCGT0REpDq0Eh2E/DU5IhhXcys7%0AiaQ6QbTGn29REfznP3D66XDOOW5U3eOPw4YNMHJkqQG6tOdS0XF/qUowVt+yiIhI+RSig5C/PgYP%0AlraCkir7hqE6QbTGnu/evTB9OnTsCCkp7uTBSZNg/Xr461/hyCPLvXnAxulVoKzXyhz0tfqWRURE%0AKqZ2jiDlj4/Bg6WtoKTi51hRy0V1TlI75Oe7ezc8+yw8+SRs3AgnnQQvvwxXXw2HVf5/nco+R38r%0A6zW8sms8i1dtDZoWHxERkVCgEB1BgnXkWGXeMFQniFb7+W7bBhMmwPjx8PPPcNZZ8Mwz8Kc/gTl4%0A3bZygqE3OFjCvIiISDhQiI4goT5yrKpBtMrPd8MGGD3a7Si4Zw/07AlDhrge6DARDGFeREQkHChE%0AR5BIW4ms9PPNynInBs6c6b6+7joYPBg6dAhwxSIiIhIqjLXBvxVeUlKSXbZsmddlSLj59FM3pu4/%0A/4G6deH22+GBB6BFC68rExEREY8YY5Zba5Mqup5WoiNYsM2MDghr3WznESPggw+gUSN4+GG49144%0A6iivqxMREZEQoRAdoYJpK+qA2LfP7SI4YoTbZbBZMxgzBm67zW2WIiIiIlIFmhMdoYJxZrRf5OfD%0A5Mlwwglue+69e+GFF+C779wOgwrQIiIiUg1aiY5QwTgzukbl5bnwPHYsbNkCp53mVp4vuwxq6b2j%0AiIiIHBqliQgVLFtR17jcXDdZo0ULeOghSEyE99+HTz4hvUUSPUa+T+uhb9Fj+CJPtzsXERGR0KaV%0A6EoIxxPwQn1m9P9YswbS0tz23Pv2Qe/ebsZz585ABPaAi4iIiF9pJboCxeErJy8fyx/hK9RXMVMS%0A43miVyfiY2MwQHxsDE/06hR6gXL5cheYExJgxgy49VZYvRpmzdofoCGCesBFREQkILQSXYHywlfI%0ABc6DhOzuddbCokVu0saCBdCwIQwdCvffD02blnqTsO8BFxERkYBSiK5AKIevsGtDKSyE9HS3Qcqy%0AZXDMMW6nwTvugCOOKPemcbEx5JTyMwv5HnARERHxhEJ0BUI1fAWqBzggQf333+Gll1xgXr0ajj8e%0ApkyBvn2hTp1K3UWo9ICH3RufANJrJyIigaQQXYFQCV8Hq6gHuCbCht+D+q5d8MwzbjRdbi506QKz%0AZ8OVV0JUVJXuqrieYA5ZOvmx+vTaiYhIoBlrrdc1VCgpKckuW7bMs8cPxRWuVkPfKvN7MdFR//Om%0AoDonFfYYvqjUVfr42Bg+Gnpele7rAFu2wFNPwcSJbt7z+ee7nufzzwdjqn+/Qc5vr2cE0GsnIiI1%0AxRiz3FqbVNH1tBJdCaF4Ap4x7vy70tTUiZI13i/+ww/w5JPw3HOuhaNXLzem7pRTqnd/fuSPN1ah%0A3H/vNb12IiISaArRlRRKq9HpGTllBuiyVCds1Fi/+Ndfu0kbs2e73QRvuAFSU93YuiDkr9aBUO2/%0ADwZ67UREJNA8mRNtjFlnjMk0xqwwxnjXp1FJoTYrurzZx1FltENUJ2ykJicQE31gb3Kl+8WthSVL%0A4NJL4eST4Y03YMAAtxr97LNBG6DBfzOnD+n1jHB67UREJNC83GzlXGtt58r0nHgt1DbqKG9Vuc9p%0AzWssbFRrw5aiInjzTTjjDDjrLPj8c/jHP2D9etKvG0iPF7ODfltuf7UOhM0GOB7QayciIoGmdo5K%0ACLV+y7I+2j6ybjSPp3QiqWWjGmtNqXS/eEGB20VwxAjIyoKWLd3Jg7feCnXrhtR0BX+2DoRi/32w%0A0GsnIiKB5FWItsB7xphC4Blr7RSP6qiUUOu3LGss38OXnQj4P2yU7B8/ri6M2b2ck2Y/Bxs2QMeO%0AbuZz794QHb3/NqG0M2Sojj0UERGRmuNViD7DWptjjDkaWGCMWWWt/bDkFYwx/YB+AC1atPCixv1C%0ALTR5ORO5eEW59s4d9P/yLW5a/iaN8neyrfOpHDVpElxySalj6kJptT8UZk6LiIiIf3k+J9oY8wiw%0A21o7qqzreD0nGkJrOoeXUobN5s/vzaLPV/OpV/Ab77U5hae7XcWmjknlzuvVnF8REREJBkE7J9oY%0AUw+oZa3d5bt8EfBYoOuoKvVbVmDVKhg5klemv0gtW8R/OpzNM6ddyeomrQAwFawoh9pqv4iIiEQ2%0AL7VrTW0AABfASURBVNo5mvL/7d17lJ11fe/x9zfJFAYKDChVMoLAkaYuBJNDFkQRC9KaoCIRu1ot%0Ay4K6jncUXYTLwXVE6pJoLBYVpeANjigUCFO0lKAFqqYnaG4kQQkQG5DhYsRcQKZmkvzOH3tP2DPZ%0At2ff9573a61Zs+fZz977yW/vPPnkN9/n+4PbIvcr/WnAd1NKd7bhONqqZ2a277svd7Hg0BDsvTf/%0AcsLpXPnqt/D4AS8Zt1ul+vGsJRI9M36SJKkrtTxEp5R+Bby61a/bSbqpE0VRKcFdd8HChXDvvXDg%0AgfDJT8K559L3+HaeWbwWaphRrna2v+vHT5Ikdb129ometLqt7/RuO3bkVhU87jiYNw8efji3TPej%0Aj8Jll8HBB7ekX2/Xjp8kSeoZ9olug27qRAHAf/83XHcdLFoEGzbAn/4pfOMbcNZZsNdee+xezYxy%0APeUYXTd+kiSp5xii26Br+k5v3QpXXw1f/CI8/TQcf3wuSJ9xBkyp7ZcYQ6uG+fT3H2Dz86O7txWW%0AY0DluuiuGT9JktSzDNEtMHHW9ZQ/O5hbVwx3bieKp56Cf/xH+NrXYNs2mDsXLrwQTj65aI/nak2s%0AZS40MrqTS29/gD/s2FWx1rlZnTy8WFGSJFXLmugmGwuOw1tGSOSC4a0rhnn7cYNNrRuuySOPwPvf%0AD4cfnptxnjcPVq6EO++EU06pK0BD8VrmQltGRquqdW5G3XWx9+nixWsZWjVc83NKkqTe5Ux0k5W6%0ACO6eBzd1ziIiK1fm2tTdcktuKe5zzoHzz4dXvKKhL1NrzXKxx5Wqu651Nrmblh2XJEntZ4huso69%0ACC4luOeeXHi+6y7Yf3+44AL42MfgpS9t6EuNBdtya2P2901l774p42qlx1Rb61xP67uOfZ8kSVJH%0AspyjyUoFwLZdBLdrFyxeDCecAKeeCvffD5dfDo89lvvehAA9ViZRykB/H5efeQyfOv1o+vumjrsv%0AS61zPa3v2vE+Da0a5sSFd3PERf/KiQvvtnREkqQu4kx0k3XMctbbt8N3vgOf/zysXw9HHpnrvHH2%0A2bD33mUfWs8Fd+XqoAfzzzW23xNbRjigv4+9+6aw5fnRlra+a/X75IIxkiR1N0N0FeoJkVmXs264%0AZ5+Fa6+FK66A4WGYORNuvBHe/naYVvntrzfslQqwASy96A17PP+WkVH6+6byxb+ZmXmM6ml91+r3%0AyRpsSZK6myG6gkbMGFa7nHVDbdoEX/4yfOUrsHlzrj3d17+ea1eXoctGvWGvUrBtZJisdza5le+T%0ANdiSJHU3a6Ir6Lolph99FD76UXj5y+Hv/z4Xnpcty11EOG9e5jZ19Ya9BXNnlK1zbmSYbMWS443S%0AcbXykiQpE2eiK+iaGcN163KdNr73vVxQfte7YMECeOUrgdpLUupdHbBSmUSjVx9sy6x/DTqmVl6S%0AJNXEEF1Bxy8xvXQpLFwIP/gB7Ltvbhb64x+HQw/dvUs9JSmNCHvlgu1kDZNtr5WXJEl1MURXUEvI%0Aa/ry0SnBHXfkwvNPfwovehFcdhl8+MNw0EF77F5P3XGzw95kDpPdMmsuSZL2ZIiuIGvIq2bWt+aQ%0AvWMH3HRTLjyvWweHHQZf+hK85z25WegS6i1JaXbYM0xKkqRuY4iuQpaQV2nWt6bSiuefh299C77w%0ABdi4EY4+Gq6/Ht7xjtwy3RW0oySl6bPxkiRJbWR3jgarNOtbKmSfd9PqPVet27wZPvMZOPxw+MhH%0AYPp0uP12WLMmd+FgFQEaKnfIaLTCVQoTL/xHwRX5JElSr3AmusEqzfqWK6EYC5t7/+ZJ5v3wRvin%0Af4LnnoPTToOLL4aTTqrpmFxIRJIkqbEM0Q1W6ULEUiEb4MhnHud9P1vMqZ+9GyLlyjUuuACOPbbs%0Aa1ZTOuFCIpIkSY1jiG6wcrO+Q6uG+f0fduzxmGOffIgPLLuFeQ/9P7ZP6+OGmfOYftklvPHNcyq+%0AXiNWVGy0jm8LKEmSVCdDdBMUm/WdGHZJiddtXM0H77uZEx9dw9a99uWq1/w13z7udJ7Zd4DBtc/z%0AxjdXfq1OLJ2YrL2fJUnS5GGIbpGxsDtl105OW/+ffPC+W3jV0xt46o8P4jOnvIfvvXoev99rn937%0AV1v60ImlE5O597MkSZocDNEt8tvfbuWd6+7mfT+7lSM2P8mGgwa5YN5HGTr6FLZP27PLRrWlD51a%0AOmHvZ0mS1MsM0VWoq+fx1q1w9dUsvebzvPjZ33H/S4/i/fP/Nz886gR2TZnKgfv0MXV0V82lD5ZO%0ASJIktZ4huoKaL9x76im48kr46ldh2zZ2zXk95/yP07h38FUQAeTC7qdOPxqovfTB0glJkqTWi5RS%0Au4+hotmzZ6fly5e35bVPXHh30XKJwYF+ll70hj0fsGFDbmXBb30Ltm+Hv/oruPBCOO44V/GTJEnq%0AcBGxIqU0u9J+zkRXUPWFe6tXw+c+B//8zzBtGpx9NixYAEcdtXsX64QlSZJ6gyG6grIX7qUEP/4x%0ALFwId94J++0H558P550HhxzShqOVJElSKxiiKyh24d4+04Ir/ui/4LWXwLJl8Cd/Ap/9LHzwgzAw%0AUPNrNaLcw5IRSZKk5jNEV1B44d6mZ7Zx9sb/5KPLb2O/jY/AEUfAVVfBu98N/fW1lGvEyoOduHqh%0AJElSL5rS7gPoBvOPOoCle6/hoRvP5ZJbFrHf/vvAd78LDz0EH/pQ3QEayq882MrnkCRJUmXORFfj%0A2mvhE5+AP/9zuOYamDdvd5u6RmnEyoOduHqhJElSLzJEV+O974U5c+A1r2naSzRi5cFOXb1QkiSp%0A11jOUY39929qgIbcBYz9fVPHbcu68mAjnkOSJEmVOROdQTM7XzRi5UFXL5QkSWoNVyys0sTOF5Cb%0A5b38zGOYP2vQ1nKSJEk9wBULG6xS5wtby0mSJE0ehugqlet8US5gVwrRE2ewT/mzg7nnwU08sWWE%0AgX36SAm2jow6uy1JktRBDNFVKtf5oth2oOT2McUWR/nOssd237/5+dFxz+XstiRJUmewO0eVynW+%0AmFqiZ3Sp7WOKzWCX48IpkiRJncEQXaX5swa5/MxjGBzoJ4DBgf7dFxXuLHFxZqntY2pZBMWFUyRJ%0AktrPco4M5s8aLFpKMViipGOwwiIn5UpByj1GkiRJ7eVMdAPUushJsceV48IpkiRJncGZ6AaodZGT%0AYo9rVHcO+1ZLkiQ1j4ut9KBKC8NIkiSpOBdb6UHVzi7X07dakiRJlRmiu0SxntKl+kaXWxhGkiRJ%0A9fPCwi5RadnxQqU6eNjZQ5IkqTEM0V0iy+xyrd1CJEmSVB3LOVpgaNUwn/7+A7uX8R7o7+PStx6d%0AqT653LLjE9XaLaRWdgKRJEmTjSG6yYZWDbPglvsZ3flCF5QtI6MsuPl+YM965lIWzJ3BgpvvZ3TX%0AC8/TNyVKzi6XWhim0bLUakuSJPUKyzmabNGS9eMC9JjRXaloPXNZUeHnNshSqy1JktQrDNFNVq4j%0ARpZuGcXC+OjOGoJ4g9kJRJIkTUaG6CYr1xFjSgRHXPSvnLjwboZWDZd9nk4Nq3YCkSRJk5EhuskW%0AzJ1B39TidRc7UyLxQh1xuSBdS1gdWjXMiQvvrjqo18JOIJIkaTIyRDfRWNeK0Z2JKQU5ulikrlRH%0AnDWsjl3wN7xlpOqgXov5swa5/MxjGBzoJ4DBgX6XF5ckST3P7hwZVdvO7ZNDa7lh2WOMVTHvSrnQ%0Ae/mZx/Dxm1YXfe5ypRlZ29a1cunvVnUCkSRJ6hSG6Ayqbec2tGp4XIAeMxZiS/V8TsCJC+8uGY6z%0AhNVOraGWJEnqBZZzZFBtO7dFS9bvEaDHPLFlpGhpxphGlV14wZ8kSVLzGKIzqHZ2t9xs7/SB/nF1%0AxMU0os9ypRrqVlx0KEmS1KsM0RlUO7tbar+A3SF2/qxBll70hpLrpdRbdlHugr9WXXQoSZLUqwzR%0AGZQqw3h++45xAbTYfgGcNeewPWqam1l2MRbU/2vhm1l60RvGXZzoKoOSJEm1M0RnMDa7O9DfN277%0A5udHx83kFpsFPmvOYdzz4KY9yifa0Wd5sl50aAmLJElqlLaE6IiYFxHrI+KRiLioHcdQq/mzBtl3%0Arz2bmkycyS2cBV4wdwa3rhguWj7Rjj7Lk/GiQ0tYJElSI7W8xV1ETAWuAv4SeBz4eUTcnlL6RauP%0ApVZZZ3Ir9WxudZ/lBXNnjGvVB72/ymAr+2ZLkqTe146Z6OOBR1JKv0opbQduBM5ow3HULOtMbqeV%0AT0zGVQY77T2QJEndrR2LrQwCvy74+XHghDYcR82yzuSWWlylneUTk22VwU58DyRJUvfq2AsLI+J9%0AEbE8IpZv2rSp3YczTtaZ3HZcPKjxfA8kSVIjtWMmehg4tODnl+W3jZNSuga4BmD27NmlFgBsmywz%0AuYWt5Z7YMsL0gf6SS3urOXwPJElSI0VKrc2nETENeAg4lVx4/jnwtymlB0o9Zvbs2Wn58uUtOkJJ%0AkiRNVhGxIqU0u9J+LZ+JTintiIiPAEuAqcA3ywVoSZIkqdO0o5yDlNIdwB3teG1JkiSpXh17YaEk%0ASZLUqQzRkiRJUkaGaEmSJCmjttRE94KhVcO2S5MkSZqkDNE1GFo1PG7FwuEtI1y8eC2AQVqSJGkS%0AsJyjBouWrB+35DfAyOhOFi1Z36YjkiRJUisZomvwxJaRTNslSZLUWwzRNZg+0J9puyRJknqLIboG%0AC+bOoL9v6rht/X1TWTB3RpuOSJIkSa3khYU1GLt40O4ckiRJk1OklNp9DBXNnj07LV++vN2HUZSt%0A7iRJknpHRKxIKc2utJ8z0XWw1Z0kSdLkZE10HWx1J0mSNDk5E12HTm91Z6mJJElSczgTXYdObnU3%0AVmoyvGWExAulJkOrhtt9aJIkSV3PEF2HTm51Z6mJJElS81jOUYdObnXX6aUmkiRJ3cwQXaf5swY7%0AIjRPNH2gn+EigbkTSk0kSZK6neUcPaqTS00kSZK6nTPRPaqTS00kSZK6nSG6h3VqqYkkSVK3s5xD%0AkiRJysgQLUmSJGVkiJYkSZIyMkRLkiRJGRmiJUmSpIwM0ZIkSVJGhmhJkiQpI0O0JEmSlJEhWpIk%0AScrIEC1JkiRl5LLfFQytGmbRkvU8sWWE6QP9LJg7w6W0JUmSJjlDdBlDq4a5ePFaRkZ3AjC8ZYSL%0AF68FMEhLkiRNYpZzlLFoyfrdAXrMyOhOFi1Z36YjkiRJUicwRJfxxJaRTNslSZI0ORiiy5g+0J9p%0AuyRJkiYHQ3QZC+bOoL9v6rht/X1TWTB3RpuOSJIkSZ3ACwvLGLt40O4ckiRJKmSIrmD+rEFDsyRJ%0AksaxnEOSJEnKyBAtSZIkZWSIliRJkjIyREuSJEkZGaIlSZKkjAzRkiRJUkaGaEmSJCkjQ7QkSZKU%0AkSFakiRJysgQLUmSJGVkiJYkSZIyMkRLkiRJGRmiJUmSpIwM0ZIkSVJGhmhJkiQpI0O0JEmSlJEh%0AWpIkScooUkrtPoaKImIT8GgbD+HFwG/b+Pq9zvFtLse3uRzf5nFsm8vxbS7Ht7maOb4vTykdXGmn%0ArgjR7RYRy1NKs9t9HL3K8W0ux7e5HN/mcWyby/FtLse3uTphfC3nkCRJkjIyREuSJEkZGaKrc027%0AD6DHOb7N5fg2l+PbPI5tczm+zeX4Nlfbx9eaaEmSJCkjZ6IlSZKkjAzRBSJiY0SsjYjVEbG8yP0R%0AEV+KiEciYk1E/M92HGc3iogZ+XEd+9oWEedN2OfkiNhasM//adfxdoOI+GZE/CYi1hVsOygifhgR%0AD+e/H1jisfMiYn3+s3xR6466e5QY30UR8WD+7/9tETFQ4rFlzyWTXYmxvTQihgv+/r+pxGP97FZQ%0AYnxvKhjbjRGxusRj/eyWERGHRsQ9EfGLiHggIj6W3+65twHKjG9Hnnst5ygQERuB2Smlon0H8yf1%0Ac4E3AScAV6aUTmjdEfaGiJgKDAMnpJQeLdh+MnB+Sukt7Tq2bhIRrweeA65PKb0qv+3zwO9SSgvz%0AJ+gDU0oXTnjcVOAh4C+Bx4GfA+9MKf2ipX+ADldifN8I3J1S2hERnwOYOL75/TZS5lwy2ZUY20uB%0A51JKXyjzOD+7VSg2vhPu/wdga0rpsiL3bcTPbkkRcQhwSEppZUTsB6wA5gPn4Lm3bmXG92V04LnX%0AmehsziB3UkoppWXAQP4NVzanAhsKA7SySyn9GPjdhM1nANflb19H7uQz0fHAIymlX6WUtgM35h+n%0AAsXGN6V0V0ppR/7HZeRO7MqoxGe3Gn52q1BufCMigL8GvtfSg+oRKaUnU0or87efBX4JDOK5tyFK%0AjW+nnnsN0eMl4EcRsSIi3lfk/kHg1wU/P57fpmzeQekT+Gvzv675t4g4upUH1SNeklJ6Mn/7KeAl%0ARfbxc9wY7wH+rcR9lc4lKu7c/N//b5b4dbif3fqdBDydUnq4xP1+dqsUEYcDs4D78NzbcBPGt1DH%0AnHsN0eO9LqU0EzgN+HD+V2JqoIj4I+CtwM1F7l4JHJZSOhb4MjDUymPrNSlXq2W9VhNExCXADuCG%0AErt4Lsnua8CRwEzgSeAf2ns4PeudlJ+F9rNbhYj4Y+BW4LyU0rbC+zz31q/U+HbaudcQXSClNJz/%0A/hvgNnK/eik0DBxa8PPL8ttUvdOAlSmlpyfekVLallJ6Ln/7DqAvIl7c6gPsck+PlRjlv/+myD5+%0AjusQEecAbwHOSiUuKqniXKIJUkpPp5R2ppR2AddSfMz87NYhIqYBZwI3ldrHz25lEdFHLuDdkFJa%0AnN/subdBSoxvR557DdF5EbFvvoidiNgXeCOwbsJutwN/FzlzyF2Y8STKouQsSES8NF+vR0QcT+7z%0A+UwLj60X3A6cnb99NvAvRfb5OXBURByR/83AO/KPUwURMQ+4AHhrSun5EvtUcy7RBBOuL3kbxcfM%0Az259/gJ4MKX0eLE7/exWlv836hvAL1NKVxTc5bm3AUqNb8eee1NKfuX+Q3MkcH/+6wHgkvz2DwAf%0AyN8O4CpgA7CW3BWgbT/2bvkC9iUXig8o2FY4vh/Jj/395C4ceG27j7mTv8j9Z+RJYJRcbd17gRcB%0A/w48DPwIOCi/73TgjoLHvoncVeIbxj7rflU1vo+Qq2lcnf+6euL4ljqX+FVxbP9v/ry6hlywOGTi%0A2OZ/9rNbw/jmt3977HxbsK+f3Wxj+zpypRprCs4Db/Lc2/Tx7chzry3uJEmSpIws55AkSZIyMkRL%0AkiRJGRmiJUmSpIwM0ZIkSVJGhmhJkiQpI0O0JLVYROyMiNURsS4ibo6IfRr8/OdExFcq7HNyRLy2%0A4OcPRMTfNfI4JKmXGaIlqfVGUkozU0qvAraT65feaicDu0N0SunqlNL1bTgOSepKhmhJaq+fAK8A%0AiIhP5Gen10XEeflth0fEgxFxQ0T8MiJuGZu5joiNEfHi/O3ZEXHvxCePiNMj4r6IWBURP4qIl0TE%0A4eSC+8fzM+InRcSlEXF+/jEzI2JZRKyJiNsi4sD89nsj4nMR8bOIeCgiTmr+8EhSZzJES1KbRMQ0%0A4DRgbUQcB7wbOAGYA/yviJiV33UG8NWU0iuBbcCHMrzMT4E5KaVZwI3ABSmljcDVwBfzM+I/mfCY%0A64ELU0rHkltF8FMF901LKR0PnDdhuyRNKoZoSWq9/ohYDSwHHgO+QW6529tSSr9PKT0HLAbGZnp/%0AnVJamr/9nfy+1XoZsCQi1gILgKPL7RwRBwADKaX/yG+6Dnh9wS6L899XAIdnOA5J6inT2n0AkjQJ%0AjaSUZhZuiIhy+6cSP+/ghcmQvUs89svAFSml2yPiZODSTEe6pz/kv+/Ef0MkTWLOREtSZ/gJMD8i%0A9omIfYG35bcBHBYRr8nf/ltyJRoAG4Hj8rffXuJ5DwCG87fPLtj+LLDfxJ1TSluBzQX1zu8C/mPi%0AfpI02RmiJakDpJRWAt8GfgbcB3w9pbQqf/d64MMR8UvgQOBr+e2fBq6MiOXkZoaLuRS4OSJWAL8t%0A2P594G1jFxZOeMzZwKKIWAPMBC6r588mSb0oUpr4W0JJUqfId9L4Qb4dniSpQzgTLUmSJGXkTLQk%0ASZKUkTPRkiRJUkaGaEmSJCkjQ7QkSZKUkSFakiRJysgQLUmSJGVkiJYkSZIy+v9JU5gv3mOwXwAA%0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661651" y="497512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615146" y="1134764"/>
                <a:ext cx="9340948" cy="57661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28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①</a:t>
                </a:r>
                <a:r>
                  <a:rPr lang="en-US" altLang="zh-CN" sz="20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转化为凸函数</a:t>
                </a:r>
                <a:r>
                  <a:rPr lang="en-US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endParaRPr lang="zh-CN" altLang="zh-CN" sz="20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20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先令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方便计算（参照衡量，不影响评价结果</a:t>
                </a:r>
                <a:r>
                  <a:rPr lang="en-US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zh-CN" altLang="zh-CN" sz="20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2000" i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lim>
                      </m:limLow>
                      <m:f>
                        <m:f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||</m:t>
                          </m:r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||</m:t>
                          </m:r>
                        </m:den>
                      </m:f>
                    </m:oMath>
                  </m:oMathPara>
                </a14:m>
                <a:endParaRPr lang="zh-CN" altLang="zh-CN" sz="20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. </m:t>
                      </m:r>
                      <m:sSub>
                        <m:sSub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sSub>
                        <m:sSub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)≥1, 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=1,2,..,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𝑚</m:t>
                      </m:r>
                    </m:oMath>
                  </m:oMathPara>
                </a14:m>
                <a:endParaRPr lang="zh-CN" altLang="zh-CN" sz="20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20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再将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ax</m:t>
                        </m:r>
                      </m:e>
                      <m:li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𝑏</m:t>
                        </m:r>
                      </m:lim>
                    </m:limLow>
                    <m:r>
                      <a:rPr lang="en-US" altLang="zh-CN" sz="16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 </m:t>
                    </m:r>
                    <m:f>
                      <m:f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||</m:t>
                        </m:r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𝑤</m:t>
                        </m:r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||</m:t>
                        </m:r>
                      </m:den>
                    </m:f>
                  </m:oMath>
                </a14:m>
                <a:r>
                  <a:rPr lang="en-US" altLang="zh-CN" sz="20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转化成</a:t>
                </a:r>
                <a:r>
                  <a:rPr lang="en-US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𝑏</m:t>
                        </m:r>
                      </m:lim>
                    </m:limLow>
                    <m:r>
                      <a:rPr lang="en-US" altLang="zh-CN" sz="16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 </m:t>
                    </m:r>
                    <m:f>
                      <m:f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||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sSup>
                      <m:sSup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0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求解凸函数，</a:t>
                </a:r>
                <a:r>
                  <a:rPr lang="en-US" altLang="zh-CN" sz="2000" dirty="0" err="1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000" dirty="0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en-US" altLang="zh-CN" sz="2000" dirty="0" err="1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0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是为了求导之后方便计算</a:t>
                </a:r>
                <a:r>
                  <a:rPr lang="en-US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zh-CN" altLang="zh-CN" sz="20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2000" i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lim>
                      </m:limLow>
                      <m:r>
                        <a:rPr lang="en-US" altLang="zh-CN" sz="16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 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 </m:t>
                      </m:r>
                      <m:f>
                        <m:f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||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|</m:t>
                      </m:r>
                      <m:sSup>
                        <m:sSup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zh-CN" sz="20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. </m:t>
                      </m:r>
                      <m:sSub>
                        <m:sSub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)≥1, 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=1,2,..,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𝑚</m:t>
                      </m:r>
                    </m:oMath>
                  </m:oMathPara>
                </a14:m>
                <a:endParaRPr lang="zh-CN" altLang="zh-CN" sz="20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46" y="1134764"/>
                <a:ext cx="9340948" cy="5766194"/>
              </a:xfrm>
              <a:prstGeom prst="rect">
                <a:avLst/>
              </a:prstGeom>
              <a:blipFill>
                <a:blip r:embed="rId2"/>
                <a:stretch>
                  <a:fillRect l="-13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22">
            <a:extLst>
              <a:ext uri="{FF2B5EF4-FFF2-40B4-BE49-F238E27FC236}">
                <a16:creationId xmlns:a16="http://schemas.microsoft.com/office/drawing/2014/main" id="{673DD574-C959-4363-9A4A-F34C2F926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146" y="208280"/>
            <a:ext cx="501662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3600" b="1">
                <a:latin typeface="+mj-lt"/>
                <a:ea typeface="+mj-ea"/>
                <a:cs typeface="+mj-cs"/>
              </a:defRPr>
            </a:lvl1pPr>
            <a:lvl2pPr algn="ctr">
              <a:defRPr sz="3600" b="1">
                <a:solidFill>
                  <a:schemeClr val="tx2"/>
                </a:solidFill>
              </a:defRPr>
            </a:lvl2pPr>
            <a:lvl3pPr algn="ctr">
              <a:defRPr sz="3600" b="1">
                <a:solidFill>
                  <a:schemeClr val="tx2"/>
                </a:solidFill>
              </a:defRPr>
            </a:lvl3pPr>
            <a:lvl4pPr algn="ctr">
              <a:defRPr sz="3600" b="1">
                <a:solidFill>
                  <a:schemeClr val="tx2"/>
                </a:solidFill>
              </a:defRPr>
            </a:lvl4pPr>
            <a:lvl5pPr algn="ctr">
              <a:defRPr sz="3600" b="1">
                <a:solidFill>
                  <a:schemeClr val="tx2"/>
                </a:solidFill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/>
              <a:t>支持向量机求解</a:t>
            </a:r>
          </a:p>
        </p:txBody>
      </p:sp>
    </p:spTree>
    <p:extLst>
      <p:ext uri="{BB962C8B-B14F-4D97-AF65-F5344CB8AC3E}">
        <p14:creationId xmlns:p14="http://schemas.microsoft.com/office/powerpoint/2010/main" val="3504861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5" descr="data:image/png;base64,iVBORw0KGgoAAAANSUhEUgAAAtEAAAHwCAYAAABg0TMJAAAABHNCSVQICAgIfAhkiAAAAAlwSFlz%0AAAALEgAACxIB0t1+/AAAIABJREFUeJzs3Xd4lFX6xvHvIUYIRSKIaEIVMYCgBKKC2FtcXTGi4qJi%0AFysKSiju7s+y7goEKdIULIAiiyJmdUURARXsYNBoIIAKSII0iYBECcn5/XEmGNh0MvNOuT/XxeXk%0AzZRnJkjuOfO8zzHWWkREREREpPJqeV2AiIiIiEioUYgWEREREakihWgRERERkSpSiBYRERERqSKF%0AaBERERGRKlKIFhERERGpIoVoEQlKxphWxhhrjDnM9/XbxpgbA/C4jxhjXvL34/geK8EYs8IYs8sY%0Ac58x5mljzN8D8djBxhizzhhzQTVve6YxJruma6rE40bsz0tEFKJF5BD4gk++MWa3MWazMWaaMaa+%0APx7LWvsna+30StZUrTBWifs+xxhT5Hu+u4wx2caYmw/hLgcDi621Day1T1lr77TW/qPEY22smcor%0Az/cmosD3HPOMMR8bY7oHuo7y+N5cHV/8tbV2ibU2wU+PdasxZpXv573ZGDPPGNPA97j7f14iEnkU%0AokXkUF1mra0PdAGSgL8dfAXjhMu/N7m+53sEMASYaozpcPCVilfQK9AS+LaG66sJs33PsQmwFJhr%0AjDEe1xRwxpizgX8Bfay1DYD2wGxvqxKRYBEuv9RExGPW2hzgbaAjgDHmfWPMP40xHwF7gOOMMQ2N%0AMc8ZYzYZY3KMMY8bY6J8148yxowyxmwzxnwPXFry/n33d1uJr283xqz0rRBmGWO6GGNeBFoAb/pW%0AUgf7rtvNt6KaZ4z5yhhzTon7aW2M+cB3PwuAoyr5fK21Nh3YAXQo0X5yqzFmA7DId/89jTHf+h77%0AfWNMe9/xRcC5wARfrSf4VvIfN8bU872Wcb7v7TbGxB30epxmjPmp+PXzHbvCGPO17/Kpxphlxpid%0AvhXU0ZV5Xgc9xwJgOnAM0NgYU8sY8zdjzHpjzBZjzAxjTEPf4xU//37GmFzfz3hQidqmGWMeL/F1%0AmSvtvto/8b1mm4wxE4wxh/u+96Hval/5XpdrDr4vY0x732ud53vtex5Ux0RjzFu+n/lnxpg2ZbwE%0ApwCfWGszfK/Hz9ba6dbaXQc/J2NM8d+54j9FxpibfN9rZ4xZYIz52bhPL3pX6QchIkFJIVpEaoQx%0ApjlwCZBR4nBfoB/QAFgPTAP2AccDicBFQHEwvh34s+94EnBVOY91NfAIcANuRbgnsN1a2xfYgG91%0A3Fo70hgTD7wFPA40AgYBrxljmvju7mVgOS48/wOoVN+1L1BeAcQCmSW+dTZuxTLZGHMCMAsYgFvV%0AnYcL+Idba88DlgD3+mpdXXwH1tpfgT/hW/X2/ckt+fjW2s+AX4HzShy+1vd8AMYB46y1RwBtgFcq%0A87wOeo61gZuAH62123yXb8KF/+OA+sCEg252LtAW97MdYqrXWlMIDMT9TLoD5wN3A1hrz/Jd52Tf%0A63LAyrAxJhp4E3gXOBroD8w0xpRs9/gL8ChwJLAW+GcZdXyG+zk+aozp4Xs9SmWtLf47Vx+4GvgJ%0AWOh7Q7QA93M52vfYk0wpn16ISGhRiBaRQ5VujMnDfez/Ae7j72LTrLXfWmv34QLsJcAAa+2v1tot%0AwBhcqADoDYy11v5orf0ZeKKcx7wNGGmt/cK3IrzWWru+jOteD8yz1s6z1hZZaxcAy4BLjDEtcKuN%0Af7fW/m6t/RAXwMoT53u+24CHgb7W2pIntT3ie375wDXAW9baBb5V3VFADHB6BY9RWbOAPgDG9ele%0A4jsGUAAcb4w5ylq721r7aRXut7fvOf4IdAWu8B2/Dhhtrf3eWrsbGAb8xRzYuvKo7/lnAi8U11cV%0A1trl1tpPrbX7rLXrgGdwb04qoxsu3A+31u611i4C/ntQHa9baz/3/b2cCXQuo44lQC9cq9JbwHZj%0AzOiSq/8H871xmg70ttb+iHtjuM5a+4Lv+WQAr+GCtoiEsMr07ImIlCfFWvteGd/7scTllkA0sMn8%0A0V5bq8R14g66flmhGKA58F0l62sJXG2MuazEsWhgse8xd/hWfks+bvNy7i/XWtusnO+XfA5xlHge%0A1toiY8yPQHwla6/Iy8DHxpi7cGHvyxJvJm4FHgNWGWN+wIXb/1byfl+x1l5fyvEDno/v8mFA0xLH%0ADv4ZdqrkY+7nC6KjcZ9I1PU9xvJK3jwOt3JedFAdJV/zn0pc3oML3aWy1r4NvG1cT/+5wKtANi7Y%0AH1x3Q+A/wN+stUt9h1sCp/nelBQ7DHixks9HRIKUQrSI+JMtcflH4HfgKN8K4ME2cWB4bVHO/f6I%0Aa1Go6DGLr/uitfb2g69ojGkJHGmMqVciSLco5T6qouRtcykRIo1799AcyKni/ZR+BWuzjDHrca0f%0AJVs5sNauAfr4wl8vYI4xpvFBbxiqKhcXCou1wLXnbAaK31g0B1aV+H5xG8qvuEBc7JhyHmcyri2o%0Aj7V2lzFmAOW095RSY3NjTK0SQboFsLqc21TId18Lfb3sHQ/+vu91fhk3bWVKiW/9CHxgrb3wUB5f%0ARIKP2jlEJCCstZtwfapPGmOO8PUUtzFuAgK4nt37jDHNjDFHAkPLubtngUHGmK7GOd4XiMEFuuNK%0AXPcl4DJjTLJxJy/W8Z2I1sy3arsMeNQYc7gx5gzgMmrOK8Clxpjzfb26D+LeSHxcidtuxp3M17CC%0A670M3A+chVslBcAYc70xpokv/BWvghaVcvuqmAUMNO5kzPq41p3ZB70p+rsxpq4x5kTgZv6YZrEC%0A10LTyBhzDK5PvCwNgJ3AbmNMO+Cug75/8M+4pM9wq8uDjTHRxp1Eehnw70o/Sx9jzOXGmL8YY470%0A/T07FddWUlprzD+BerifRUn/BU4wxvT11RNtjDnF+E4wFZHQpRAtIoF0A3A4kIWbajEHONb3vanA%0AfOAr4Etgbll3Yq19FRdaXgZ2Aem4nmtwvdR/801mGOTrS70ceAjYilsZTOWPf/+uBU4Dfsb1OM+o%0AiSfqqzMb15M9HtdDfRnupMe9lbjtKlxo/d73XOLKuOosXLBb5Dv5r9jFwLfGmN24kwz/4uvTxjc9%0A4sxqPKXncW0IHwI/AL/hTtwr6QPcyXoLgVHW2nd9x1/E/WzX4d5MlTcqbhDu57IL9/fi4Os+Akz3%0AvS4HTLrwvbaX4VbntwGTgBt8r2dV7cCd8LoGF+pfAtKstTNLuW4fXD/2jhITOq7zTfK4CNf7n4tr%0AJRkBlHmSooiEBmPtoXxqKSIi4kbc4YJ1dBntOiIiYUUr0SIiIiIiVaQQLSIiIiJSRWrnEBERERGp%0AIq1Ei4iIiIhUkUK0iIiIiEgVhcRmK0cddZRt1aqV12WIiIiISJhbvnz5Nmttk4quFxIhulWrVixb%0AtszrMkREREQkzPl2gq2Q2jlERERERKpIIVpEREREpIoUokVEREREqigkeqJLU1BQwMaNG/ntt9+8%0ALkWAOnXq0KxZM6Kjo70uRURERMTv/BaijTHNgRlAU8ACU6y144wxjwC3A1t9V33IWjuvqve/ceNG%0AGjRoQKtWrTDG1FTZUg3WWrZv387GjRtp3bq11+WIiIiI+J0/V6L3AQ9aa780xjQAlhtjFvi+N8Za%0AO+pQ7vy3335TgA4SxhgaN27M1q1bK76yiIiISBjwW4i21m4CNvku7zLGrATia/IxFKCDh34WIiIi%0AEkkCcmKhMaYVkAh85jvU3xjztTHmeWPMkWXcpp8xZpkxZlmwrnBGRUXRuXNnOnbsyNVXX82ePXuq%0AfV/vv/8+f/7znwF44403GD58eJnXzcvLY9KkSfu/zs3N5aqrrqr2Y4uIiIhI1fg9RBtj6gOvAQOs%0AtTuBycBxQGfcSvWTpd3OWjvFWptkrU1q0qTCTWM8ERMTw4oVK/jmm284/PDDefrppw/4vrWWoqKi%0AKt9vz549GTp0aJnfPzhEx8XFMWfOnCo/joiIiIhUj19DtDEmGhegZ1pr5wJYazdbawuttUXAVOBU%0Af9YQKGeeeSZr165l3bp1JCQkcMMNN9CxY0d+/PFH3n33Xbp3706XLl24+uqr2b17NwDvvPMO7dq1%0Ao0uXLsydO3f/fU2bNo17770XgM2bN3PFFVdw8sknc/LJJ/Pxxx8zdOhQvvvuOzp37kxqairr1q2j%0AY8eOgOsVv/nmm+nUqROJiYksXrx4/3326tWLiy++mLZt2zJ48OAAv0IiIiIi4cOf0zkM8Byw0lo7%0AusTxY3390gBXAN8c8oMNGAArVhzy3Rygc2cYO7ZSV923bx9vv/02F198MQBr1qxh+vTpdOvWjW3b%0AtvH444/z3nvvUa9ePUaMGMHo0aMZPHgwt99+O4sWLeL444/nmmuuKfW+77vvPs4++2xef/11CgsL%0A2b17N8OHD+ebb75hhe85r1u3bv/1J06ciDGGzMxMVq1axUUXXcTq1asBWLFiBRkZGdSuXZuEhAT6%0A9+9P8+bND+FFEhEREYlM/pzO0QPoC2QaY4oT7kNAH2NMZ9zYu3XAHX6swa/y8/Pp3Lkz4Faib731%0AVnJzc2nZsiXdunUD4NNPPyUrK4sePXoAsHfvXrp3786qVato3bo1bdu2BeD6669nypQp//MYixYt%0AYsaMGYDrwW7YsCE7duwos6alS5fSv39/ANq1a0fLli33h+jzzz+fhg0bAtChQwfWr1+vEC0iIiJS%0ADf6czrEUKG1kQ5VnQleokivGNa24J/pg9erV23/ZWsuFF17IrFmzDrhOabfzt9q1a++/HBUVxb59%0A+wJeg4iIiEg40LbfftatWzc++ugj1q5dC8Cvv/7K6tWradeuHevWreO7774D+J+QXez8889n8uTJ%0AABQWFvLLL7/QoEEDdu3aVer1zzzzTGbOnAnA6tWr2bBhAwkJCTX9tEREREQimkK0nzVp0oRp06bR%0Ap08fTjrppP2tHHXq1GHKlClceumldOnShaOPPrrU248bN47FixfTqVMnunbtSlZWFo0bN6ZHjx50%0A7NiR1NTUA65/9913U1RURKdOnbjmmmuYNm3aASvQIiIiInLojLXW6xoqlJSUZJctW3bAsZUrV9K+%0AfXuPKpLS6GciIiIioc4Ys9xam1TR9bQSLSIiIiJSRf6cziEiIiIiUq70jBzS5meTm5dPXGwMqckJ%0ApCTGe11WhRSiRURERMQT6Rk5DJubSX5BIQA5efkMm5sJEPRBWu0cIiIiIuKJtPnZ+wN0sfyCQtLm%0AZ3tUUeUpRIuIiIiIJ3Lz8qt0PJgoRIuIiIiIJ+JiY6p0PJgoRFfT9u3b6dy5M507d+aYY44hPj5+%0A/9d79+49pPt+/fXXSUtLq5E6r7/+elq3bs3JJ5/MCSecwI033khubm6Ftxs9ejS//fZbjdQgIiIi%0AUprU5ARioqMOOBYTHUVqcvBvFKcTC6upcePG+7fufuSRR6hfvz6DBg064DrWWqy11KpVtfcqV1xx%0ARY3VCTBmzBhSUlIoKipi9OjRnHfeeWRmZhIdHV3mbUaPHs0tt9xCnTp1arQWERERkWLFJw+G4nSO%0AiFmJTs/IocfwRbQe+hY9hi8iPSPHL4+zdu1aOnTowHXXXceJJ57Ipk2b6NevH0lJSZx44ok89thj%0A+6/brFkzHnnkERITEznppJNYvXo1AM8++ywDBgwA3Ery/fffz+mnn85xxx3H66+/DrgtwO+8807a%0AtWvHRRddxMUXX0x6enq5tdWqVYtBgwbRqFEj3n33XYBSaxszZgxbtmzhzDPP5IILLijzeiIiIiKH%0AKiUxno+GnscPwy/lo6HnhUSAhggJ0cXjU3Ly8rH8MT7FX0F61apVDBw4kKysLOLj4xk+fDjLli3j%0Aq6++YsGCBWRlZe2/btOmTcnIyOC2225j9OjRpd7fli1b+Oijj0hPT2fYsGEAvPrqq+Tk5JCVlcW0%0AadP45JNPKl1fly5dWLVqFUCptQ0cOJCjjz6aJUuW8N5775V5PREREZFIFREhOtDjU9q0aUNS0h+7%0ARc6aNYsuXbrQpUsXVq5ceUAA7dWrFwBdu3Zl3bp1pd5fSkoKxhhOOukkcnJc8F+6dCm9e/emVq1a%0AxMXFcfbZZ1e6vpJbvZdXW0mVvZ6IiIhIJIiInuhAj0+pV6/e/str1qxh3LhxfP7558TGxnL99dcf%0AcMJe7dq1AYiKimLfvn2l3l/xdeDAAFxdK1as4NJLL62wtso+BxEREZFIExEr0V6OT9m5cycNGjTg%0AiCOOYNOmTcyfP79G7rdHjx7MmTMHay2bNm3iww8/rPA21lrGjBnD9u3bufDCC8utrUGDBuzatcuv%0Az0FEREQkVEXESnRqcsIBW0pC4MandOnShQ4dOtCuXTtatmxJjx49auR+e/fuzaJFi2jfvj0tW7Yk%0AMTGRhg0blnrdgQMH8vDDD5Ofn0/37t1ZtGgR0dHR5dbWr18/LrjgApo3b86CBQv88hxEREREQpWp%0AifYAf0tKSrLLli074NjKlStp3759pe8jPSMnJMenlGf37t3Ur1+frVu3ctppp/HZZ5/RpEkTz+qp%0A6s9EREREJNgYY5Zba5Mqul5ErESDG58S6qH5YH/605/YuXMnBQUFPProo54GaBEREZFIEjEhOhwt%0AWbLE6xJEREREIlJEnFgoIiIiIlKTQjpEh0I/d6TQz0JEREQiSciG6Dp16rB9+3aFtyBgrWX79u3U%0AqVPH61JEREREAiJke6KbNWvGxo0b2bp1q9elCO5NTbNmzbwuQ0RERCQgQjZER0dH07p1a6/LEBER%0AEZEIFLLtHCIiIiIiXgnZlWgRERGJbOG4kZqEDoVoERERCTnpGTkMm5tJfkEhADl5+QybmwmgIC0B%0AoXYOERERCTlp87P3B+hi+QWFpM3P9qgiiTQK0SIiIhJycvPyq3RcpKYpRIuIiEjIiYuNqdJxkZqm%0AEC0iIiIhJzU5gZjoqAOOxURHkZqc4FFFEml0YqGIiIiEnOKTBzWdQ7yiEC0iIiIhKSUxXqFZPKN2%0ADhERERGRKlKIFhERERGpIoVoEREREZEqUogWEREREakihWgRERERkSrSdA4RERGRAErPyNFovjCg%0AlWgRERGRAEnPyGHY3Exy8vKxQE5ePsPmZpKekeN1ad4pKoL0dPjXv7yupEoUokVEREQCJG1+NvkF%0AhQccyy8oJG1+tkcVeWjvXnjhBTjxRLjiCpg+HX7/3euqKk0hWkRERCRAcvPyq3Q8LO3eDWPGQJs2%0AcMstULs2zJoF337rLocI9USLiIiIBEhcbAw5pQTmuNgYD6oJsG3bYPx4mDABfv4ZzjkHpk6F5GQw%0Axuvqqkwr0SIiIiIBkpqcQEx01AHHYqKjSE1O8KiiAFi/Hu6/H1q0gMcegzPPhE8+gcWL4eKLQzJA%0Ag1aiRURERAKmeApHREzn+OYbGDnStWoAXH89DB4M7dt7W1cNUYgWERERCaCUxPjwDM3FPv4Yhg+H%0AN9+EunXh3nvhgQegeXOvK6tRCtEiIiIicmishXnzYMQIWLIEGjWChx+G/v2hcWOvq/MLhWgRERER%0AqZ59+2D2bBeeMzPdavPYsXDbbVCvntfV+ZVCtIiIiIhUzZ49bsbzqFGwbh106ODmPPfpA9HRXlcX%0AEArRIiIiIh4JuS3Ad+yASZNg3DjYuhW6d3crz5ddBrUia+ibQrSIiIiIB4q3AC/ewbB4C3Ag+IJ0%0Abq7bIOXpp91mKZdcAkOHwhlnhOyIukMVWW8ZRERERIJESGwBnp3t+ptbtYLRo6FnT1ixAt56y817%0AjtAADVqJFhEREfFEUG8BvmyZG1M3d67bivv22+HBB+G447yuLGgoRIuIiIh4IOi2ALcWFi504Xnh%0AQmjYEIYNg/vug6ZNvakpiKmdQ0RERMQDQbMFeGEhzJkDp5wCF14IWVlup8ENG+Cf/1SALoNWokVE%0AREQ84PkW4L//Di++6ALzmjXQti1MnQp9+7oWDimXQrSIiIiIRzzZAnznTpgyxZ0ouGkTdO0Kr74K%0AV1wBUVEV314AhWgRERGRyLB5Mzz1FEycCL/8Ahdc4FaizzsvoqdsVJdCtIiIiEg4++EHt7Pg88+7%0AFo4rr4QhQyApyevKQppCtIiIiEg4+vprGDECZs92bRo33ACpqXDCCV5XFhYUokVERETChbWwZIkb%0AU/f221C/PjzwAAwYAHFxXlcXVhSiRUREREJdURG8+aYLz59+Ck2auPF0d90FRx7pdXVhSSFaRERE%0AJFTt3QuzZrkxdVlZbnvuiRPh5pshxqNNWyKE3zZbMcY0N8YsNsZkGWO+Ncbc7zveyBizwBizxvdf%0AvT0SERERqYpff4Vx4+D44+Gmm1zP88yZbt7z3XcrQAeAP3cs3Ac8aK3tAHQD7jHGdACGAguttW2B%0Ahb6vRURERKQi27fDo49Cixauz7l1a5g3D776Cq69Fg5Tk0Gg+O2VttZuAjb5Lu8yxqwE4oHLgXN8%0AV5sOvA8M8VcdIiIiIiHvxx/d5ihTpsCePdCzpxtTd/rpXlcWsQLydsUY0wpIBD4DmvoCNsBPQKkb%0Ashtj+gH9AFq0aOH/IkVERESCTVaW63eeOdN93aePC88nnuhtXeLXdg4AjDH1gdeAAdbanSW/Z621%0AgC3tdtbaKdbaJGttUpMmTfxdpoiIiEjw+PRTSElxYfnVV12f89q1MGOGAnSQ8OtKtDEmGhegZ1pr%0A5/oObzbGHGut3WSMORbY4s8aREREREKCtfDOO26DlA8+cKPpHn4Y7r0XjjrK6+rkIP6czmGA54CV%0A1trRJb71BnCj7/KNwH/8VYOIiIhI0Nu3z42pS0yESy6B775z/c8bNsAjjyhAByl/rkT3APoCmcaY%0AFb5jDwHDgVeMMbcC64HefqxBREREJDjl58O0aZCWBj/8AO3awQsvuCkbhx/udXVSAX9O51gKmDK+%0Afb6/HldEREQkqOXlweTJMHYsbNkCp53mVp579oRafj9dTWqIhgmKiIiIBMKmTS44T54Mu3ZBcjIM%0AHQpnnw2mrHVHCVYK0SIiIiL+tHata9mYNs31P/fuDYMHux5oCVkK0SIiIiL+sHy5m7Tx2msQHQ23%0A3AKDBkGbNl5XJjVAIVpERESkplgLixfD8OGwYAEccYRbdb7/fjjmGK+rkxqkEC0iIiJyqIqKID3d%0AhecvvnCBecQIuOMOaNjQ6+rEDxSiRURERKrr99/dltwjR0J2tmvVeOYZuOEGqFPH6+rEjxSiRURE%0ARKpq1y6YMsWNpsvNhS5d4JVXoFcviIryujoJAIVoERERkcrauhWeegomTHDzns87z03duOACjamL%0AMArRIiIiIhVZtw5GjYLnn4fffnMrzkOGwCmneF2ZeEQhWkRERKQsmZnuBMF//9vtJnjDDZCaCgkJ%0AXlcmHlOIFhERETnY0qVu0sZbb0G9ejBgAAwcCPHxXlcmQUIhWkRERATcmLp581x4/ugjaNwYHnsM%0A7rkHGjXyujoJMgrRIiIiEtkKCly7xogR8O230LIljB/vdhisW9fr6iRIKUSLiIhIZNqzB557zp0w%0AuGEDdOwIL74I11zjtukWKYdCtIiIiESWn392I+rGj4dt26BHD5g4ES69VGPqpNIUokVERCQybNzo%0ANkeZMgV+/RX+/Gc3pu6MM7yuTEKQQrSIiIiEt1Wr3LbcL73kTh689loYPNi1b4hUk0K0iIiIhKfP%0AP3eTNtLToU4duPNOeOABaNXK68okDChEi4iISPiwFhYscOF58WI48kj429+gf39o0sTr6iSMKESL%0AiIhI6Nu3D157zY2py8hwm6KMHg233w7163tdnYQhhWgREREJXb/9BtOnQ1oafPed2477+efhuuvg%0A8MO9rk7CmEK0iIiIhJ5ffoHJk2HsWNi8GU45xQXpyy+HWrW8ri6kpGfkkDY/m9y8fOJiY0hNTiAl%0AUdubV0QhWkRERELHTz+54Dx5MuzcCRddBEOHwjnnaMZzNaRn5DBsbib5BYUA5OTlM2xuJoCCdAX0%0AVk1ERESC39q1brpGq1ZuxTk5GZYvh/nz4dxzFaCrKW1+9v4AXSy/oJC0+dkeVRQ6tBItIiIiwevL%0AL93JgnPmwGGHwU03waBB0Lat15WFhdy8/Codlz8oRIuIiEhwsRbef9+NqXv3XWjQAFJT4f774dhj%0Ava4urMTFxpBTSmCOi43xoJrQonaOEJWekUOP4YtoPfQtegxfRHpGjtcliYiIHJqiInj9dejWDc47%0AD1asgH/9CzZscIFaAbrGpSYnEBMddcCxmOgoUpMTPKoodGglOgTpJAAREQkre/fCzJmubSM7G447%0Azp04eOONEKMVUX8qzg2azlF1CtEhqLyTAPSXXkREQsauXTB1qtsUJScHOneGWbPgqqtc/7MEREpi%0AvPJDNehvaAjSSQAiIhLStm6F8eNhwgTYscONp3vuOTeuTlM2JEQoRIcgnQQgIiIhaf16ePJJePZZ%0AyM+HlBQYMsT1QIuEGJ1YGIJ0EoCIiISUb76BG26ANm1cr/M110BW1h8nEYqEIK1EhyCdBCAiIiHh%0Ao4/cyYJvvgn16sF998HAgdC8udeViRwyhegQpZMAREQkKFkL8+a58LxkCTRuDI8+Cvfc4y6LhAmF%0AaBERETl0+/bB7NkuPGdmutXmsWPhttvcKrQfpGfk6FNZ8YxCtIiIiFTfnj3wwgswahSsWwcdOsCM%0AGfCXv0B0tN8eVnsmiNd0YqGIiIhU3Y4d8Pjj0KoV3Huv203wjTfcKnTfvn4N0FD+ngkigaCVaBER%0AEam8nBwYMwaeeQZ274ZLLnFj6s48M6AznrVngnhNIVpEREQqlp0NaWmuVaOoyLVrDB4MJ53kSTna%0AM0G8pnYOERERKdsXX7htuNu3h5kzoV8/WLMGXnrJswAN2jNBvKeVaBERETmQtbBwITzxBCxaBLGx%0A8NBDbs7z0Ud7XR2gPRPEewrRIiIi4hQWwty5MHw4fPklxMW5qRv9+kGDBl5X9z+0Z4J4SSFaREQk%0A0v3+u+t1HjkS1q6FE06AZ5+F66+H2rW9rk4kKClEi4iIRKqdO+Hpp920jZ9+gqQkmDMHUlIgKqri%0A24tEMIWHObCMAAAgAElEQVRoERGRSLN5M4wbB5MmwS+/wIUXuhMFzzsvoGPqREKZQrSIiEik+P57%0A1+P8/POwdy9ceSUMHQpdu3pdmUjIUYgWEREJdytWwIgR8MorcNhhcOONMGiQ630WkWpRiBYREQlH%0A1sKHH7pJG++8A/Xrw4MPwoABbuqGiBwShWgREZFwUlQEb77pwvOnn0KTJvDPf8Jdd8GRR3pdnUjY%0AUIgWEREJB3v3wssvuzF1K1dC69buxMGbboIYbYUtUtMUokVERELZ7t1upvOTT8LGjW4r7pdfhquv%0Adv3PIuIX+r9LREQkFG3bBhMmwPjx8PPPcOaZMGUKXHyxxtSJBIBCtIiISCjZsAFGj4apU2HPHujZ%0AE4YMgdNP97oykYiiEC0iIhIKsrJcv/PMme7r666DwYOhQwdv6xKJUArRIiIiweyTT9ykjTfegLp1%0A4e673ai6Fi28rkwkoilEi4iIBBtr3Wzn4cPdrOdGjeDhh6F/f2jc2OvqRASFaBERkeCxbx+8+qoL%0Az19/Dc2awdixcNttUK+e19WJSAkK0SIiUqb0jBzS5meTm5dPXGwMqckJpCTGe11W+MnPh2nTIC0N%0AfvgB2rd3X/fpA4cf7nV1IlIKhWgRESlVekYOw+Zmkl9QCEBOXj7D5mYCKEjXlLw8tyHKuHGwZQt0%0A6wZjxsBll0GtWl5XJyLl0P+hIiJSqrT52fsDdLH8gkLS5md7VFEYyc11kzVatIC//hW6doX334eP%0AP4bLL1eAFgkBWokWEZFS5eblV+m4VMKaNa5lY/p01/98zTUuTHfu7HVlIlJFCtEiIlKquNgYckoJ%0AzHGxMR5UE+KWL4cRI2DOHNfjfOutMGgQHHec15WJSDXp8yIRESlVanICMdFRBxyLiY4iNTnBo4pC%0AjLWwcCFceCEkJcH8+W5nwfXrXR+0ArRISPNbiDbGPG+M2WKM+abEsUeMMTnGmBW+P5f46/FFROTQ%0ApCTG80SvTsTHxmCA+NgYnujVSScVVqSwEF57DU49FS64AL75xq1Cb9gATzwBTZt6XaGI1AB/tnNM%0AAyYAMw46PsZaO8qPjysiIjUkJTFeobmyfv8dXnzRbc29Zg0cfzxMmQJ9+0KdOl5XJyI1zG8h2lr7%0AoTGmlb/uX0REJCjs3AnPPONG023aBF26wOzZcOWVEBVV8e1FJCR5cWJhf2PMDcAy4EFr7Q4PahAR%0AETk0W7a4+c4TJ8Ivv8D558OMGe6/xnhdnYj4WaBPLJwMHAd0BjYBT5Z1RWNMP2PMMmPMsq1btwaq%0APhERkfL98APccw+0bOl6nC+4AD7/HN57z11WgBaJCAEN0dbazdbaQmttETAVOLWc606x1iZZa5Oa%0ANGkSuCJFRERK8/XXcN110LYtTJ3qLq9c6cbWnXKK19WJSIAFtJ3DGHOstXaT78srgG/Ku76ISCRK%0Az8ghbX42uXn5xMXGkJqcoJP7vGItLF0Kw4fDvHlQvz4MGAADB0K8fiYikcxvIdoYMws4BzjKGLMR%0AeBg4xxjTGbDAOuAOfz2+iEgoSs/IYdjczP3bbefk5TNsbiaAgnQgFRXBW2+58Pzxx3DUUfD443D3%0A3XDkkV5XJyJBwJ/TOfqUcvg5fz2eiEg4SJufvT9AF8svKCRtfrZCdCAUFMCsWW6uc1aW63ueMAFu%0Avhnq1vW6OhEJItr2W0QkiOSWss12ecelhvz6Kzz3HDz5pNsUpWNHeOkl6N0boqO9rk5EgpBCtIhI%0AEImLjSGnlMAcFxvjQTURYPt2N6Luqafc5R493Jbcl1yiKRsiUq5Aj7gTEZFypCYnEBN94AYdMdFR%0ApCYneFRRmPrxR3jgAdeu8fDD0L07LFniTiK89FIFaBGpkFaiRUSCSHHfs6Zz+MnKlW5b7pdecpM3%0Arr0WBg927RsiIlWgEC0iEmRSEuMVmmvaZ5+5SRvp6RATA3fd5VaiW7XyujIRCVEK0SIiEp6shfnz%0AXXj+4AM3mu7vf4f+/UGbeInIIVKIFhGR8LJvn9tFcPhw+OortynK6NFw++1usxQRkRqgEC0iIuEh%0APx+mT4e0NPj+e2jXDl54wfU9H36419WJSJhRiBYRkdCWlweTJ8PYsbBlC5x6KowaBZdfDrU0hEpE%0A/EMhWkREQtOmTS44T54Mu3ZBcjIMHQpnn60RdSLidwrRIiISWtaudS0b06a5/uerr4YhQyAx0evK%0ARCSCKESLiEho+PJLGDHCnTQYHQ233AKDBkGbNl5XJiIRSCFaxCc9I0cbXIgEG2vh/ffdpI1334Uj%0AjnCbo9x/PxxzjNfViUgEU4gWwQXoYXMzyS8oBCAnL59hczMBFKRFvFBU5DZGGTECPv8cmjZ1QfrO%0AO6FhQ6+rExFRiBYBt8VycYAull9QSNr8bIVoOWT6lKMK9u51W3KPHAnZ2XDccfD003DjjVCnjtfV%0AiYjspxAtAuTm5VfpuEhl6VOOStq1C6ZOdZui5ORA587w73/DlVfCYfpVJSLBRwM0RYC42JgqHRep%0ArPI+5RBg61a3FXeLFvDgg9C2LbzzjjuJ8JprFKBFJGgpRIsAqckJxERHHXAsJjqK1OQEjyqScKFP%0AOcqwbh307w8tW8I//wnnnguffgqLF7t5z5rzLCJBTm/xRfjjY3X1rUpNi4uNIaeUwByxn3JkZrp+%0A51mz3G6C118PqanQvr3XlYmIVIlCtIhPSmK8QrPUuNTkhAN6oiFCP+VYutRN13jrLahXz42oGzgQ%0AmjXzujIRkWpRiBYR8aOI/pSjqAjmzXPh+aOPoHFjeOwxuOceaNTI6+pERA6JQrSIiJ9F3KccBQUw%0Ae7ab8fzNN+6kwXHj4NZb3Sq0iEgYUIgWEZGasWcPPP88jBoF69fDiSfCjBnwl7+4bbpFRMKIQrSI%0AiByan3+GiRPhqadg2zY4/XSYMAEuucSdPCgiEoYUokVEpHo2boQxY+CZZ+DXX11oHjYMzjjD68pE%0ARPxOIVpERKpm1SpIS4MXX3QnD/bpA4MHQ6dOXlcmIhIwCtEiIlI5n3/uThZ8/XWoXRvuuMPtMtiq%0AldeViYgEnEK0iIiUzVp47z03pm7RIoiNhb/+1e02ePTRXlcnIuIZhWgREflfhYXw2msuPGdkQFyc%0Am7rRrx80aOB1dSIinlOIFhGRP/z2mxtLl5YGa9fCCSfAs8+67blr1/a6OhGRoKEQLSIisHMnPP20%0Am7bx00+QlARz5kBKCkRFeV2diEjQUYgWEYlkmze73QQnTYJffoELL4SZM+Hcc8EYr6sTEQlaCtEi%0AIpHo++9dj/Pzz7ttuq+8EoYMga5dva5MRCQkKESLiESSFSvcmLpXXoHDDoObboJBg6BtW68rExEJ%0AKQrRIgGWnpFD2vxscvPyiYuNITU5gZTEeK/LknBmLXz4oZu08c47brrGoEEwYAAce6zX1YmIhCSF%0AaJEASs/IYdjcTPILCgHIyctn2NxMAAVpqXlFRfDGG27l+dNP3Vznf/0L7rrLzXsOInpzKSKhRiFa%0A5CD+/GWeNj97f4Aull9QSNr8bAUGqTl798LLL7vwvGoVtG4NEyfCzTdDTIzX1f0PvbkUkVBUy+sC%0ARIJJ8S/znLx8LH/8Mk/PyKmR+8/Ny6/ScZEq2b0bxo6FNm1cYD78cBemV6+Gu+8OygAN5b+5FBEJ%0AVlqJlmoJ9Y9ey6rf3yvFcbEx5JQSmONigzPcSIjYtg0mTIDx4+Hnn+Hss2HKFLj44pAYU6c3lyIS%0AihSipcpC/aPX8ur39y/z1OSEAx4bICY6itTkhBq5f4kwGzbA6NEwdSrs2QOXX+7G1HXv7nVlVaI3%0AlyISitTOIVUW6h+9lld/Wb+0a+qXeUpiPE/06kR8bAwGiI+N4YlenULizYcEkawsN5quTRvX69y7%0AN3z7LaSnh1yABvfmMib6wF0R9eZSRIKdVqKlykL9o9fy6h9zTWe/rxSnJMYrNEv1fPKJG1P3xhtQ%0Aty7cey888AA0b+51ZYek+P+HUG4RE5HIoxAtVRbqH72WV79+mUvQsRbeftuF5yVLoHFjeOQRF6Ab%0AN/a6uhqjN5ciEmoUoqXKQr2vt6L69ctcgsK+fW5XweHDITPTrTaPGwe33gr16nldnYhIxFOIlioL%0A9dXaUK9fwtyePfDCCzBqFKxbBx06wPTp0KcPREd7XZ2IiPgYa63XNVQoKSnJLlu2zOsyRET8Z8cO%0AmDTJrTZv3QrdusHQoXDZZVBL54CLiASKMWa5tTapoutV6l9mY0yPyhwTEZEqys2F1FRo0QL+9jdI%0ASoIPPoCPP3Yj6xSgRUSCUmX/dR5fyWMiIlIZ2dlw221uS+7Ro6FnT1ixAubNg7POColNUkREIlm5%0APdHGmO7A6UATY8wDJb51BBBV+q1ERKRMX3wBI0bA3LlQu7YL0g8+CMcd53VlIiJSBRWdWHg4UN93%0AvQYlju8ErvJXUSIiYcVaWLjQTdpYuBAaNoRhw+C++6BpU6+rExGRaig3RFtrPwA+MMZMs9auD1BN%0AIiLhobAQXn/dhefly+GYY2DkSLjjDjjiCK+rExGRQ1BRO8dYa+0AYIIx5n/GeFhre/qtMhGRUPX7%0A7/Diiy4wr1kDbdvC1KnQt69r4RARkZBXUTvHDN9/R/m7EBGRkLdzJ0yZ4k4U3LQJunaFV1+FK66A%0AKJ1GIiISTioK0WnA+cAl1tohAahHRCT0bNni5jtPmgR5eXDeeTBjBpx/vqZsiIiEqYpC9LHGmNOB%0AnsaYfwMH/Daw1n7pt8pERILdDz+4nQWff961cPTqBUOGwCmneF2ZiIj4WUUh+v+AvwPNgNEHfc8C%0A5/mjKBGRoPb1125M3ezZbjOUG2+EQYMgIcHrykREJEAqms4xB5hjjPm7tfYfAapJRCT4WAtLl7pJ%0AG/PmQf36MGAADBwI8fFeVyciIgFW0Uo0ANbafxhjegJn+Q69b639r//KEhEJEkVF8N//uvD8ySfQ%0ApAk8/jjcfTcceaTX1YmIiEcqFaKNMU8ApwIzfYfuN8acbq19yG+ViYh4qaAAZs1ybRtZWdCqFUyY%0AALfcAjExXlcnIiIeq1SIBi4FOltriwCMMdOBDEAhWkTCy6+/wrPPwpNPwo8/wkknwcsvw9VXw2GV%0A/SdTRETCXVV+I8QCP/suN/RDLSIi3tm+3a00jx/vLp91FjzzDFx8scbUiYjI/6hsiH4CyDDGLMaN%0AuTsLGOq3qkREAuXHH93mKFOmwJ490LOnG1N3+uleVyYiIkGswhBtjDHAUqAbUDz8dIi19id/FiYi%0A4ldZWW5b7pm+Uz2uvRYGD4YTT/S2LhERCQkVhmhrrTXGzLPWdgLeCEBNIiL+8+mnbtLGf/4Ddeu6%0AKRsPPAAtW/rtIdMzckibn01uXj5xsTGkJieQkqixeCIioaxWJa/3pTGmSltwGWOeN8ZsMcZ8U+JY%0AI2PMAmPMGt9/NR9KRPzPWnjnHTjnHOjeHT78EB5+GNavd9t1+zlAD5ubSU5ePhbIyctn2NxM0jNy%0A/PaYIiLif5UN0acBnxpjvjPGfG2MyTTGfF3BbaYBFx90bCiw0FrbFliI+qpFxJ/27XNj6hIT4U9/%0Agu++c/3PGzbAI4/AUUf5vYS0+dnkFxQecCy/oJC0+dl+f2wREfGfyp5YmFzVO7bWfmiMaXXQ4cuB%0Ac3yXpwPvA0Oqet8iIuXKz4dp0yAtDX74Adq1gxdecH3Phx8e0FJy8/KrdFxEREJDuSHaGFMHuBM4%0AHsgEnrPW7juEx2tqrd3ku/wT0PQQ7ktE5EB5eTB5MowdC1u2wKmnupXnnj2hVmU/eKtZcbEx5JQS%0AmONitWGLiEgoq+i3ynQgCReg/wQ8WVMPbK21gC3r+8aYfsaYZcaYZVu3bq2phxWRcLRpkxtL16IF%0APPSQa99YvNidRJiS4lmABkhNTiAmOuqAYzHRUaQmJ3hUkYiI1ISK2jk6+KZyYIx5Dvj8EB9vszHm%0AWGvtJmPMscCWsq5orZ0CTAFISkoqM2yLSARbswZGjXKtG/v2Qe/ebkxdYqLXle1XPIVD0zlERMJL%0ARSG6oPiCtXafOfRdu94AbgSG+/77n0O9QxGJQMuXw4gRMGeO63G++WZITYU2bbyurFQpifEKzSIi%0AYaaiEH2yMWan77IBYnxfG1xHxhFl3dAYMwt3EuFRxpiNwMO48PyKMeZWYD3Q+xDrF5FIYa1r0Rg+%0AHBYsgCOOcC0c998PxxzjdXUiIhJhyg3R1tqo8r5fwW37lPGt86t7nyISgYqKID3dhecvvnCBefhw%0AuPNOaNjQ6+pERCRCVXbEnYhIYP3+u9uSe+RIyM52rRrPPAM33AB16nhdnYiIRDiFaBEJLrt2wdSp%0AbjRdTo47SXD2bLjySoiq9odjIiIiNUohWkSCw9at8NRTMGGCm/d87rnw/PNw4YVw6Cc1i4iI1CiF%0AaBHx1rp18OST8Nxz8NtvcMUV7oTBU0/1ujIREZEyKUSLiDcyM12/86xZbjOUvn3dmLp27byuTERE%0ApEIK0QGSnpGjzRZEAJYuddM13noL6tWDAQPcn2bNvK5MRESk0hSiAyA9I4dhczPJLygEICcvn2Fz%0AMwEUpCUyFBXBvHkuPH/0ERx1FDz2GNxzDzRq5HV1IUdvykVEvFfL6wIiQdr87P0Bulh+QSFp87M9%0AqkgkQAoK4MUX4aST4LLLYONGGD8e1q+Hv/9dAboait+U5+TlY/njTXl6Ro7XpYmIRBSF6ADIzcuv%0A0nGRkLdnjwvLxx/v5jobAy+9BGvWwL33Qt26XlcYsvSmXEQkOKidIwDiYmPIKSUwx8XGeFCNiB/9%0A/DNMnOhG1W3bBmec4b6+9FKNqashelMuIhIctBIdAKnJCcREH7hJREx0FKnJCR5VJFLDNm6EBx+E%0AFi3g//4PunWDJUvcnz//WQG6BpX15ltvykVEAkshOgBSEuN5olcn4mNjMEB8bAxP9OqkE4Ek9K1a%0ABbfcAscdB+PGuRnPX38Nb77pVqGlxulNuYhIcFA7R4CkJMYrNEv4+PxzN2kjPR1q14Y77nAr0a1a%0AeV1Z2Cv+d0TTOUREvKUQLSKVYy0sWODC8+LFEBsLf/0r9O8PRx/tdXURRW/KRUS8pxAtIuUrLIQ5%0Ac2DECMjIgLg4t0337bdDgwZeVyciIuIJhWgRKd1vv8H06ZCWBt99ByecAM89B9dd51o4REREIphC%0AtIgc6Jdf4OmnYcwY2LwZTjkFRo6Eyy+HqKiKby8iIhIBFKJFxPnpJzdhY9Ik2LkTLroIhgyBc8/V%0AiDoREZGDKESLRLq1a2HUKJg2zW3TfdVVLjx36eJ1ZSIiIkFLIVokUmVkuJMFX30VDjsMbroJBg2C%0Atm29rkxERCToKUSLRBJr4YMP3Ji6+fPddI3UVLj/fjj2WK+rExERCRkK0SKRoKgI3njDhefPPoOm%0ATeGJJ+DOO9285zCQnpGjDUhERCRgFKJFwtnevfDyy65tY9Uqtz335Mlw440QE+N1dTUmPSOHYXMz%0AyS8oBCAnL59hczMBFKRFRMQvanldgIj4we7dbkRdmzZw881Qpw7MmgXZ2W71OYwCNLgtsIsDdLH8%0AgkLS5md7VJGIiIQ7rUSLhJOtW2H8eJgwAXbsgHPOgWefdePqDhpTF07tD7l5+VU6LiIicqgUokXC%0Awfr1bivuZ5+F/HxISXFj6rp1K/Xq4db+EBcbQ04pgTkuNrxW3EVEJHionUMklH3zDfTt69o2Jk+G%0Aa66BrCx4/fUyAzSEX/tDanICMdEH7qYYEx1FanKCRxWJiEi400q0SCj66CM3aeO//4V69eC++2Dg%0AQGjevFI3D7f2h+LV83BpTxERkeCnEC0SKqyFefNceF66lN9jj+TFC25kYodk6h7dlNRttUipXIYO%0Ay/aHlMR4hWYREQkYhWiRYLdvH8ye7cbUZWZC8+Z8nfooN5mT+NlEA7Cjij3NqckJB/REg9ofRERE%0AqkI90SLBas8emDjRbcN9/fVQWAjTp8N333FXozP2B+hiVelpTkmM54lenYiPjcEA8bExPNGrk1Zy%0ARUREKkkr0SLBZscOmDQJxo1zI+u6d4ennoJLL4Va7n1vTfQ0q/1BRESk+hSiJWIF3ZzknBy3Qcoz%0Az7jNUi65xI2pO/PM/5nxHI49zSIiIqFEITpIBV3ACzNBNSc5OxvS0mDGDNey8Ze/wODBcPLJZd5E%0APc0iIiLeUk90ECoOeDl5+Vj+CHjpGTlelxY2gmJO8hdfwFVXQfv2MHMm3H47rFnjLpcToEE9zSIi%0AIl7TSnQQKi/gKSTVDM/mJFsLCxe6MXULF0LDhjBsmJvz3LRple4qFHqa9YmKiIiEK4XoIBRuG2EE%0Ao4D3FBcWwty5bkzd8uVw7LGuhaNfPzjiCP88pseCqmVGRESkhqmdIwiVFeR00ljNCdg20b//DlOn%0AQrt20Ls37Nzpvv7hBxg0KGwDNARJy4yIiIifKEQHodTkBKKjDpzGEB1ldNJYDfJ7T/HOnW6luXVr%0At9rcsCG8+iqsXAm33Qa1a9fM4wQxfaIiIiLhTO0cwcpW8HUY8apv1i89xZs3u5nOEyfCL7/ABRfA%0Aiy+SfmQCae+uJvev7wRdb7C/Xn+N4RMRkXCmEB2E0uZnU1B0YGouKLJheWJhVfpmg/okte+/h1Gj%0A4IUXXAvHlVfC0KHQtWtQ9QYf/Bqe264Jry3P8UttGsMnIiLhTO0cQSiSPgavbN9s0I79++oruPZa%0AtzX3c89B376wapVr3ejaFQie3uDSXsOZn27wW20awyciIuFMK9FByJ8fgwfbam5l3zBUd+yfX56v%0AtfDhh25M3TvvQP368OCDMGAAxMVV+FwqOu4vpb2GZXUJ1VRtoTCGT0REpDq0Eh2E/DU5IhhXcys7%0AiaQ6QbTGn29REfznP3D66XDOOW5U3eOPw4YNMHJkqQG6tOdS0XF/qUowVt+yiIhI+RSig5C/PgYP%0AlraCkir7hqE6QbTGnu/evTB9OnTsCCkp7uTBSZNg/Xr461/hyCPLvXnAxulVoKzXyhz0tfqWRURE%0AKqZ2jiDlj4/Bg6WtoKTi51hRy0V1TlI75Oe7ezc8+yw8+SRs3AgnnQQvvwxXXw2HVf5/nco+R38r%0A6zW8sms8i1dtDZoWHxERkVCgEB1BgnXkWGXeMFQniFb7+W7bBhMmwPjx8PPPcNZZ8Mwz8Kc/gTl4%0A3bZygqE3OFjCvIiISDhQiI4goT5yrKpBtMrPd8MGGD3a7Si4Zw/07AlDhrge6DARDGFeREQkHChE%0AR5BIW4ms9PPNynInBs6c6b6+7joYPBg6dAhwxSIiIhIqjLXBvxVeUlKSXbZsmddlSLj59FM3pu4/%0A/4G6deH22+GBB6BFC68rExEREY8YY5Zba5Mqup5WoiNYsM2MDghr3WznESPggw+gUSN4+GG49144%0A6iivqxMREZEQoRAdoYJpK+qA2LfP7SI4YoTbZbBZMxgzBm67zW2WIiIiIlIFmhMdoYJxZrRf5OfD%0A5Mlwwglue+69e+GFF+C779wOgwrQIiIiUg1aiY5QwTgzukbl5bnwPHYsbNkCp53mVp4vuwxq6b2j%0AiIiIHBqliQgVLFtR17jcXDdZo0ULeOghSEyE99+HTz4hvUUSPUa+T+uhb9Fj+CJPtzsXERGR0KaV%0A6EoIxxPwQn1m9P9YswbS0tz23Pv2Qe/ebsZz585ABPaAi4iIiF9pJboCxeErJy8fyx/hK9RXMVMS%0A43miVyfiY2MwQHxsDE/06hR6gXL5cheYExJgxgy49VZYvRpmzdofoCGCesBFREQkILQSXYHywlfI%0ABc6DhOzuddbCokVu0saCBdCwIQwdCvffD02blnqTsO8BFxERkYBSiK5AKIevsGtDKSyE9HS3Qcqy%0AZXDMMW6nwTvugCOOKPemcbEx5JTyMwv5HnARERHxhEJ0BUI1fAWqBzggQf333+Gll1xgXr0ajj8e%0ApkyBvn2hTp1K3UWo9ICH3RufANJrJyIigaQQXYFQCV8Hq6gHuCbCht+D+q5d8MwzbjRdbi506QKz%0AZ8OVV0JUVJXuqrieYA5ZOvmx+vTaiYhIoBlrrdc1VCgpKckuW7bMs8cPxRWuVkPfKvN7MdFR//Om%0AoDonFfYYvqjUVfr42Bg+Gnpele7rAFu2wFNPwcSJbt7z+ee7nufzzwdjqn+/Qc5vr2cE0GsnIiI1%0AxRiz3FqbVNH1tBJdCaF4Ap4x7vy70tTUiZI13i/+ww/w5JPw3HOuhaNXLzem7pRTqnd/fuSPN1ah%0A3H/vNb12IiISaArRlRRKq9HpGTllBuiyVCds1Fi/+Ndfu0kbs2e73QRvuAFSU93YuiDkr9aBUO2/%0ADwZ67UREJNA8mRNtjFlnjMk0xqwwxnjXp1FJoTYrurzZx1FltENUJ2ykJicQE31gb3Kl+8WthSVL%0A4NJL4eST4Y03YMAAtxr97LNBG6DBfzOnD+n1jHB67UREJNC83GzlXGtt58r0nHgt1DbqKG9Vuc9p%0AzWssbFRrw5aiInjzTTjjDDjrLPj8c/jHP2D9etKvG0iPF7ODfltuf7UOhM0GOB7QayciIoGmdo5K%0ACLV+y7I+2j6ybjSPp3QiqWWjGmtNqXS/eEGB20VwxAjIyoKWLd3Jg7feCnXrhtR0BX+2DoRi/32w%0A0GsnIiKB5FWItsB7xphC4Blr7RSP6qiUUOu3LGss38OXnQj4P2yU7B8/ri6M2b2ck2Y/Bxs2QMeO%0AbuZz794QHb3/NqG0M2Sojj0UERGRmuNViD7DWptjjDkaWGCMWWWt/bDkFYwx/YB+AC1atPCixv1C%0ALTR5ORO5eEW59s4d9P/yLW5a/iaN8neyrfOpHDVpElxySalj6kJptT8UZk6LiIiIf3k+J9oY8wiw%0A21o7qqzreD0nGkJrOoeXUobN5s/vzaLPV/OpV/Ab77U5hae7XcWmjknlzuvVnF8REREJBkE7J9oY%0AUw+oZa3d5bt8EfBYoOuoKvVbVmDVKhg5klemv0gtW8R/OpzNM6ddyeomrQAwFawoh9pqv4iIiEQ2%0AL7VrTW0AABfASURBVNo5mvL/7d17lJ11fe/x9zfJFAYKDChVMoLAkaYuBJNDFkQRC9KaoCIRu1ot%0Ay4K6jncUXYTLwXVE6pJoLBYVpeANjigUCFO0lKAFqqYnaG4kQQkQG5DhYsRcQKZmkvzOH3tP2DPZ%0At2ff9573a61Zs+fZz977yW/vPPnkN9/n+4PbIvcr/WnAd1NKd7bhONqqZ2a277svd7Hg0BDsvTf/%0AcsLpXPnqt/D4AS8Zt1ul+vGsJRI9M36SJKkrtTxEp5R+Bby61a/bSbqpE0VRKcFdd8HChXDvvXDg%0AgfDJT8K559L3+HaeWbwWaphRrna2v+vHT5Ikdb129ometLqt7/RuO3bkVhU87jiYNw8efji3TPej%0Aj8Jll8HBB7ekX2/Xjp8kSeoZ9olug27qRAHAf/83XHcdLFoEGzbAn/4pfOMbcNZZsNdee+xezYxy%0APeUYXTd+kiSp5xii26Br+k5v3QpXXw1f/CI8/TQcf3wuSJ9xBkyp7ZcYQ6uG+fT3H2Dz86O7txWW%0AY0DluuiuGT9JktSzDNEtMHHW9ZQ/O5hbVwx3bieKp56Cf/xH+NrXYNs2mDsXLrwQTj65aI/nak2s%0AZS40MrqTS29/gD/s2FWx1rlZnTy8WFGSJFXLmugmGwuOw1tGSOSC4a0rhnn7cYNNrRuuySOPwPvf%0AD4cfnptxnjcPVq6EO++EU06pK0BD8VrmQltGRquqdW5G3XWx9+nixWsZWjVc83NKkqTe5Ux0k5W6%0ACO6eBzd1ziIiK1fm2tTdcktuKe5zzoHzz4dXvKKhL1NrzXKxx5Wqu651Nrmblh2XJEntZ4huso69%0ACC4luOeeXHi+6y7Yf3+44AL42MfgpS9t6EuNBdtya2P2901l774p42qlx1Rb61xP67uOfZ8kSVJH%0AspyjyUoFwLZdBLdrFyxeDCecAKeeCvffD5dfDo89lvvehAA9ViZRykB/H5efeQyfOv1o+vumjrsv%0AS61zPa3v2vE+Da0a5sSFd3PERf/KiQvvtnREkqQu4kx0k3XMctbbt8N3vgOf/zysXw9HHpnrvHH2%0A2bD33mUfWs8Fd+XqoAfzzzW23xNbRjigv4+9+6aw5fnRlra+a/X75IIxkiR1N0N0FeoJkVmXs264%0AZ5+Fa6+FK66A4WGYORNuvBHe/naYVvntrzfslQqwASy96A17PP+WkVH6+6byxb+ZmXmM6ml91+r3%0AyRpsSZK6myG6gkbMGFa7nHVDbdoEX/4yfOUrsHlzrj3d17+ea1eXoctGvWGvUrBtZJisdza5le+T%0ANdiSJHU3a6Ir6Lolph99FD76UXj5y+Hv/z4Xnpcty11EOG9e5jZ19Ya9BXNnlK1zbmSYbMWS443S%0AcbXykiQpE2eiK+iaGcN163KdNr73vVxQfte7YMECeOUrgdpLUupdHbBSmUSjVx9sy6x/DTqmVl6S%0AJNXEEF1Bxy8xvXQpLFwIP/gB7Ltvbhb64x+HQw/dvUs9JSmNCHvlgu1kDZNtr5WXJEl1MURXUEvI%0Aa/ry0SnBHXfkwvNPfwovehFcdhl8+MNw0EF77F5P3XGzw95kDpPdMmsuSZL2ZIiuIGvIq2bWt+aQ%0AvWMH3HRTLjyvWweHHQZf+hK85z25WegS6i1JaXbYM0xKkqRuY4iuQpaQV2nWt6bSiuefh299C77w%0ABdi4EY4+Gq6/Ht7xjtwy3RW0oySl6bPxkiRJbWR3jgarNOtbKmSfd9PqPVet27wZPvMZOPxw+MhH%0AYPp0uP12WLMmd+FgFQEaKnfIaLTCVQoTL/xHwRX5JElSr3AmusEqzfqWK6EYC5t7/+ZJ5v3wRvin%0Af4LnnoPTToOLL4aTTqrpmFxIRJIkqbEM0Q1W6ULEUiEb4MhnHud9P1vMqZ+9GyLlyjUuuACOPbbs%0Aa1ZTOuFCIpIkSY1jiG6wcrO+Q6uG+f0fduzxmGOffIgPLLuFeQ/9P7ZP6+OGmfOYftklvPHNcyq+%0AXiNWVGy0jm8LKEmSVCdDdBMUm/WdGHZJiddtXM0H77uZEx9dw9a99uWq1/w13z7udJ7Zd4DBtc/z%0AxjdXfq1OLJ2YrL2fJUnS5GGIbpGxsDtl105OW/+ffPC+W3jV0xt46o8P4jOnvIfvvXoev99rn937%0AV1v60ImlE5O597MkSZocDNEt8tvfbuWd6+7mfT+7lSM2P8mGgwa5YN5HGTr6FLZP27PLRrWlD51a%0AOmHvZ0mS1MsM0VWoq+fx1q1w9dUsvebzvPjZ33H/S4/i/fP/Nz886gR2TZnKgfv0MXV0V82lD5ZO%0ASJIktZ4huoKaL9x76im48kr46ldh2zZ2zXk95/yP07h38FUQAeTC7qdOPxqovfTB0glJkqTWi5RS%0Au4+hotmzZ6fly5e35bVPXHh30XKJwYF+ll70hj0fsGFDbmXBb30Ltm+Hv/oruPBCOO44V/GTJEnq%0AcBGxIqU0u9J+zkRXUPWFe6tXw+c+B//8zzBtGpx9NixYAEcdtXsX64QlSZJ6gyG6grIX7qUEP/4x%0ALFwId94J++0H558P550HhxzShqOVJElSKxiiKyh24d4+04Ir/ui/4LWXwLJl8Cd/Ap/9LHzwgzAw%0AUPNrNaLcw5IRSZKk5jNEV1B44d6mZ7Zx9sb/5KPLb2O/jY/AEUfAVVfBu98N/fW1lGvEyoOduHqh%0AJElSL5rS7gPoBvOPOoCle6/hoRvP5ZJbFrHf/vvAd78LDz0EH/pQ3QEayq882MrnkCRJUmXORFfj%0A2mvhE5+AP/9zuOYamDdvd5u6RmnEyoOduHqhJElSLzJEV+O974U5c+A1r2naSzRi5cFOXb1QkiSp%0A11jOUY39929qgIbcBYz9fVPHbcu68mAjnkOSJEmVOROdQTM7XzRi5UFXL5QkSWoNVyys0sTOF5Cb%0A5b38zGOYP2vQ1nKSJEk9wBULG6xS5wtby0mSJE0ehugqlet8US5gVwrRE2ewT/mzg7nnwU08sWWE%0AgX36SAm2jow6uy1JktRBDNFVKtf5oth2oOT2McUWR/nOssd237/5+dFxz+XstiRJUmewO0eVynW+%0AmFqiZ3Sp7WOKzWCX48IpkiRJncEQXaX5swa5/MxjGBzoJ4DBgf7dFxXuLHFxZqntY2pZBMWFUyRJ%0AktrPco4M5s8aLFpKMViipGOwwiIn5UpByj1GkiRJ7eVMdAPUushJsceV48IpkiRJncGZ6AaodZGT%0AYo9rVHcO+1ZLkiQ1j4ut9KBKC8NIkiSpOBdb6UHVzi7X07dakiRJlRmiu0SxntKl+kaXWxhGkiRJ%0A9fPCwi5RadnxQqU6eNjZQ5IkqTEM0V0iy+xyrd1CJEmSVB3LOVpgaNUwn/7+A7uX8R7o7+PStx6d%0AqT653LLjE9XaLaRWdgKRJEmTjSG6yYZWDbPglvsZ3flCF5QtI6MsuPl+YM965lIWzJ3BgpvvZ3TX%0AC8/TNyVKzi6XWhim0bLUakuSJPUKyzmabNGS9eMC9JjRXaloPXNZUeHnNshSqy1JktQrDNFNVq4j%0ARpZuGcXC+OjOGoJ4g9kJRJIkTUaG6CYr1xFjSgRHXPSvnLjwboZWDZd9nk4Nq3YCkSRJk5EhuskW%0AzJ1B39TidRc7UyLxQh1xuSBdS1gdWjXMiQvvrjqo18JOIJIkaTIyRDfRWNeK0Z2JKQU5ulikrlRH%0AnDWsjl3wN7xlpOqgXov5swa5/MxjGBzoJ4DBgX6XF5ckST3P7hwZVdvO7ZNDa7lh2WOMVTHvSrnQ%0Ae/mZx/Dxm1YXfe5ypRlZ29a1cunvVnUCkSRJ6hSG6Ayqbec2tGp4XIAeMxZiS/V8TsCJC+8uGY6z%0AhNVOraGWJEnqBZZzZFBtO7dFS9bvEaDHPLFlpGhpxphGlV14wZ8kSVLzGKIzqHZ2t9xs7/SB/nF1%0AxMU0os9ypRrqVlx0KEmS1KsM0RlUO7tbar+A3SF2/qxBll70hpLrpdRbdlHugr9WXXQoSZLUqwzR%0AGZQqw3h++45xAbTYfgGcNeewPWqam1l2MRbU/2vhm1l60RvGXZzoKoOSJEm1M0RnMDa7O9DfN277%0A5udHx83kFpsFPmvOYdzz4KY9yifa0Wd5sl50aAmLJElqlLaE6IiYFxHrI+KRiLioHcdQq/mzBtl3%0Arz2bmkycyS2cBV4wdwa3rhguWj7Rjj7Lk/GiQ0tYJElSI7W8xV1ETAWuAv4SeBz4eUTcnlL6RauP%0ApVZZZ3Ir9WxudZ/lBXNnjGvVB72/ymAr+2ZLkqTe146Z6OOBR1JKv0opbQduBM5ow3HULOtMbqeV%0AT0zGVQY77T2QJEndrR2LrQwCvy74+XHghDYcR82yzuSWWlylneUTk22VwU58DyRJUvfq2AsLI+J9%0AEbE8IpZv2rSp3YczTtaZ3HZcPKjxfA8kSVIjtWMmehg4tODnl+W3jZNSuga4BmD27NmlFgBsmywz%0AuYWt5Z7YMsL0gf6SS3urOXwPJElSI0VKrc2nETENeAg4lVx4/jnwtymlB0o9Zvbs2Wn58uUtOkJJ%0AkiRNVhGxIqU0u9J+LZ+JTintiIiPAEuAqcA3ywVoSZIkqdO0o5yDlNIdwB3teG1JkiSpXh17YaEk%0ASZLUqQzRkiRJUkaGaEmSJCmjttRE94KhVcO2S5MkSZqkDNE1GFo1PG7FwuEtI1y8eC2AQVqSJGkS%0AsJyjBouWrB+35DfAyOhOFi1Z36YjkiRJUisZomvwxJaRTNslSZLUWwzRNZg+0J9puyRJknqLIboG%0AC+bOoL9v6rht/X1TWTB3RpuOSJIkSa3khYU1GLt40O4ckiRJk1OklNp9DBXNnj07LV++vN2HUZSt%0A7iRJknpHRKxIKc2utJ8z0XWw1Z0kSdLkZE10HWx1J0mSNDk5E12HTm91Z6mJJElSczgTXYdObnU3%0AVmoyvGWExAulJkOrhtt9aJIkSV3PEF2HTm51Z6mJJElS81jOUYdObnXX6aUmkiRJ3cwQXaf5swY7%0AIjRPNH2gn+EigbkTSk0kSZK6neUcPaqTS00kSZK6nTPRPaqTS00kSZK6nSG6h3VqqYkkSVK3s5xD%0AkiRJysgQLUmSJGVkiJYkSZIyMkRLkiRJGRmiJUmSpIwM0ZIkSVJGhmhJkiQpI0O0JEmSlJEhWpIk%0AScrIEC1JkiRl5LLfFQytGmbRkvU8sWWE6QP9LJg7w6W0JUmSJjlDdBlDq4a5ePFaRkZ3AjC8ZYSL%0AF68FMEhLkiRNYpZzlLFoyfrdAXrMyOhOFi1Z36YjkiRJUicwRJfxxJaRTNslSZI0ORiiy5g+0J9p%0AuyRJkiYHQ3QZC+bOoL9v6rht/X1TWTB3RpuOSJIkSZ3ACwvLGLt40O4ckiRJKmSIrmD+rEFDsyRJ%0AksaxnEOSJEnKyBAtSZIkZWSIliRJkjIyREuSJEkZGaIlSZKkjAzRkiRJUkaGaEmSJCkjQ7QkSZKU%0AkSFakiRJysgQLUmSJGVkiJYkSZIyMkRLkiRJGRmiJUmSpIwM0ZIkSVJGhmhJkiQpI0O0JEmSlJEh%0AWpIkScooUkrtPoaKImIT8GgbD+HFwG/b+Pq9zvFtLse3uRzf5nFsm8vxbS7Ht7maOb4vTykdXGmn%0ArgjR7RYRy1NKs9t9HL3K8W0ux7e5HN/mcWyby/FtLse3uTphfC3nkCRJkjIyREuSJEkZGaKrc027%0AD6DHOb7N5fg2l+PbPI5tczm+zeX4Nlfbx9eaaEmSJCkjZ6IlSZKkjAzRBSJiY0SsjYjVEbG8yP0R%0AEV+KiEciYk1E/M92HGc3iogZ+XEd+9oWEedN2OfkiNhasM//adfxdoOI+GZE/CYi1hVsOygifhgR%0AD+e/H1jisfMiYn3+s3xR6466e5QY30UR8WD+7/9tETFQ4rFlzyWTXYmxvTQihgv+/r+pxGP97FZQ%0AYnxvKhjbjRGxusRj/eyWERGHRsQ9EfGLiHggIj6W3+65twHKjG9Hnnst5ygQERuB2Smlon0H8yf1%0Ac4E3AScAV6aUTmjdEfaGiJgKDAMnpJQeLdh+MnB+Sukt7Tq2bhIRrweeA65PKb0qv+3zwO9SSgvz%0AJ+gDU0oXTnjcVOAh4C+Bx4GfA+9MKf2ipX+ADldifN8I3J1S2hERnwOYOL75/TZS5lwy2ZUY20uB%0A51JKXyjzOD+7VSg2vhPu/wdga0rpsiL3bcTPbkkRcQhwSEppZUTsB6wA5gPn4Lm3bmXG92V04LnX%0AmehsziB3UkoppWXAQP4NVzanAhsKA7SySyn9GPjdhM1nANflb19H7uQz0fHAIymlX6WUtgM35h+n%0AAsXGN6V0V0ppR/7HZeRO7MqoxGe3Gn52q1BufCMigL8GvtfSg+oRKaUnU0or87efBX4JDOK5tyFK%0AjW+nnnsN0eMl4EcRsSIi3lfk/kHg1wU/P57fpmzeQekT+Gvzv675t4g4upUH1SNeklJ6Mn/7KeAl%0ARfbxc9wY7wH+rcR9lc4lKu7c/N//b5b4dbif3fqdBDydUnq4xP1+dqsUEYcDs4D78NzbcBPGt1DH%0AnHsN0eO9LqU0EzgN+HD+V2JqoIj4I+CtwM1F7l4JHJZSOhb4MjDUymPrNSlXq2W9VhNExCXADuCG%0AErt4Lsnua8CRwEzgSeAf2ns4PeudlJ+F9rNbhYj4Y+BW4LyU0rbC+zz31q/U+HbaudcQXSClNJz/%0A/hvgNnK/eik0DBxa8PPL8ttUvdOAlSmlpyfekVLallJ6Ln/7DqAvIl7c6gPsck+PlRjlv/+myD5+%0AjusQEecAbwHOSiUuKqniXKIJUkpPp5R2ppR2AddSfMz87NYhIqYBZwI3ldrHz25lEdFHLuDdkFJa%0AnN/subdBSoxvR557DdF5EbFvvoidiNgXeCOwbsJutwN/FzlzyF2Y8STKouQsSES8NF+vR0QcT+7z%0A+UwLj60X3A6cnb99NvAvRfb5OXBURByR/83AO/KPUwURMQ+4AHhrSun5EvtUcy7RBBOuL3kbxcfM%0Az259/gJ4MKX0eLE7/exWlv836hvAL1NKVxTc5bm3AUqNb8eee1NKfuX+Q3MkcH/+6wHgkvz2DwAf%0AyN8O4CpgA7CW3BWgbT/2bvkC9iUXig8o2FY4vh/Jj/395C4ceG27j7mTv8j9Z+RJYJRcbd17gRcB%0A/w48DPwIOCi/73TgjoLHvoncVeIbxj7rflU1vo+Qq2lcnf+6euL4ljqX+FVxbP9v/ry6hlywOGTi%0A2OZ/9rNbw/jmt3977HxbsK+f3Wxj+zpypRprCs4Db/Lc2/Tx7chzry3uJEmSpIws55AkSZIyMkRL%0AkiRJGRmiJUmSpIwM0ZIkSVJGhmhJkiQpI0O0JLVYROyMiNURsS4ibo6IfRr8/OdExFcq7HNyRLy2%0A4OcPRMTfNfI4JKmXGaIlqfVGUkozU0qvAraT65feaicDu0N0SunqlNL1bTgOSepKhmhJaq+fAK8A%0AiIhP5Gen10XEeflth0fEgxFxQ0T8MiJuGZu5joiNEfHi/O3ZEXHvxCePiNMj4r6IWBURP4qIl0TE%0A4eSC+8fzM+InRcSlEXF+/jEzI2JZRKyJiNsi4sD89nsj4nMR8bOIeCgiTmr+8EhSZzJES1KbRMQ0%0A4DRgbUQcB7wbOAGYA/yviJiV33UG8NWU0iuBbcCHMrzMT4E5KaVZwI3ABSmljcDVwBfzM+I/mfCY%0A64ELU0rHkltF8FMF901LKR0PnDdhuyRNKoZoSWq9/ohYDSwHHgO+QW6529tSSr9PKT0HLAbGZnp/%0AnVJamr/9nfy+1XoZsCQi1gILgKPL7RwRBwADKaX/yG+6Dnh9wS6L899XAIdnOA5J6inT2n0AkjQJ%0AjaSUZhZuiIhy+6cSP+/ghcmQvUs89svAFSml2yPiZODSTEe6pz/kv+/Ef0MkTWLOREtSZ/gJMD8i%0A9omIfYG35bcBHBYRr8nf/ltyJRoAG4Hj8rffXuJ5DwCG87fPLtj+LLDfxJ1TSluBzQX1zu8C/mPi%0AfpI02RmiJakDpJRWAt8GfgbcB3w9pbQqf/d64MMR8UvgQOBr+e2fBq6MiOXkZoaLuRS4OSJWAL8t%0A2P594G1jFxZOeMzZwKKIWAPMBC6r588mSb0oUpr4W0JJUqfId9L4Qb4dniSpQzgTLUmSJGXkTLQk%0ASZKUkTPRkiRJUkaGaEmSJCkjQ7QkSZKUkSFakiRJysgQLUmSJGVkiJYkSZIy+v9JU5gv3mOwXwAA%0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661651" y="497512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615146" y="1318935"/>
                <a:ext cx="7886004" cy="21613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②</a:t>
                </a: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用拉格朗日乘子法和</a:t>
                </a:r>
                <a:r>
                  <a:rPr lang="en-US" altLang="zh-CN" sz="1800" dirty="0" err="1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KKT</a:t>
                </a: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条件求解最优值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endParaRPr lang="zh-CN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𝑚𝑖𝑛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 </m:t>
                          </m:r>
                        </m:e>
                        <m:li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18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𝑏</m:t>
                          </m:r>
                        </m:lim>
                      </m:limLow>
                      <m:r>
                        <a:rPr lang="en-US" altLang="zh-CN" sz="1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 </m:t>
                      </m:r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||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|</m:t>
                      </m:r>
                      <m:sSup>
                        <m:sSup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. −</m:t>
                      </m:r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8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)+1≤0, 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=1,2,..,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𝑚</m:t>
                      </m:r>
                    </m:oMath>
                  </m:oMathPara>
                </a14:m>
                <a:endParaRPr lang="zh-CN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整合成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||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sSup>
                      <m:sSup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(−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)+1)</m:t>
                    </m:r>
                  </m:oMath>
                </a14:m>
                <a:endParaRPr lang="zh-CN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46" y="1318935"/>
                <a:ext cx="7886004" cy="2161361"/>
              </a:xfrm>
              <a:prstGeom prst="rect">
                <a:avLst/>
              </a:prstGeom>
              <a:blipFill>
                <a:blip r:embed="rId2"/>
                <a:stretch>
                  <a:fillRect l="-1236" t="-2254" b="-26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123456" y="3723255"/>
                <a:ext cx="6096000" cy="273587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推导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endParaRPr lang="zh-CN" altLang="zh-CN" sz="1800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1800" dirty="0" err="1"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根据Karush</a:t>
                </a:r>
                <a:r>
                  <a:rPr lang="en-US" altLang="zh-CN" sz="1800" dirty="0"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-Kuhn-Tucker</a:t>
                </a:r>
                <a:r>
                  <a:rPr lang="zh-CN" altLang="en-US" sz="1800" dirty="0"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1800" dirty="0"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KKT</a:t>
                </a:r>
                <a:r>
                  <a:rPr lang="zh-CN" altLang="en-US" sz="1800" dirty="0"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）条件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endParaRPr lang="zh-CN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CN" sz="1800" i="1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=0, 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zh-CN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456" y="3723255"/>
                <a:ext cx="6096000" cy="2735877"/>
              </a:xfrm>
              <a:prstGeom prst="rect">
                <a:avLst/>
              </a:prstGeom>
              <a:blipFill>
                <a:blip r:embed="rId3"/>
                <a:stretch>
                  <a:fillRect l="-800" t="-13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05A525A5-FA89-4AF5-9EA1-B178F3B7D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146" y="208280"/>
            <a:ext cx="501662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3600" b="1">
                <a:latin typeface="+mj-lt"/>
                <a:ea typeface="+mj-ea"/>
                <a:cs typeface="+mj-cs"/>
              </a:defRPr>
            </a:lvl1pPr>
            <a:lvl2pPr algn="ctr">
              <a:defRPr sz="3600" b="1">
                <a:solidFill>
                  <a:schemeClr val="tx2"/>
                </a:solidFill>
              </a:defRPr>
            </a:lvl2pPr>
            <a:lvl3pPr algn="ctr">
              <a:defRPr sz="3600" b="1">
                <a:solidFill>
                  <a:schemeClr val="tx2"/>
                </a:solidFill>
              </a:defRPr>
            </a:lvl3pPr>
            <a:lvl4pPr algn="ctr">
              <a:defRPr sz="3600" b="1">
                <a:solidFill>
                  <a:schemeClr val="tx2"/>
                </a:solidFill>
              </a:defRPr>
            </a:lvl4pPr>
            <a:lvl5pPr algn="ctr">
              <a:defRPr sz="3600" b="1">
                <a:solidFill>
                  <a:schemeClr val="tx2"/>
                </a:solidFill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/>
              <a:t>支持向量机求解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EA99B67-35AB-44D0-9B76-84F63039E1F6}"/>
                  </a:ext>
                </a:extLst>
              </p:cNvPr>
              <p:cNvSpPr txBox="1"/>
              <p:nvPr/>
            </p:nvSpPr>
            <p:spPr>
              <a:xfrm>
                <a:off x="6908435" y="2999170"/>
                <a:ext cx="46220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800" dirty="0"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1800" dirty="0"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拉格朗日乘子</a:t>
                </a:r>
                <a:endParaRPr lang="zh-CN" altLang="en-US" sz="18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EA99B67-35AB-44D0-9B76-84F63039E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435" y="2999170"/>
                <a:ext cx="4622042" cy="369332"/>
              </a:xfrm>
              <a:prstGeom prst="rect">
                <a:avLst/>
              </a:prstGeom>
              <a:blipFill>
                <a:blip r:embed="rId4"/>
                <a:stretch>
                  <a:fillRect l="-1055" t="-983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4134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05C64D2-CDBB-42D7-B4EC-1FC3AA42CBAA}"/>
              </a:ext>
            </a:extLst>
          </p:cNvPr>
          <p:cNvSpPr/>
          <p:nvPr/>
        </p:nvSpPr>
        <p:spPr>
          <a:xfrm>
            <a:off x="670562" y="1287472"/>
            <a:ext cx="4215616" cy="428786"/>
          </a:xfrm>
          <a:prstGeom prst="rect">
            <a:avLst/>
          </a:prstGeom>
          <a:ln>
            <a:solidFill>
              <a:srgbClr val="FF99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AutoShape 5" descr="data:image/png;base64,iVBORw0KGgoAAAANSUhEUgAAAtEAAAHwCAYAAABg0TMJAAAABHNCSVQICAgIfAhkiAAAAAlwSFlz%0AAAALEgAACxIB0t1+/AAAIABJREFUeJzs3Xd4lFX6xvHvIUYIRSKIaEIVMYCgBKKC2FtcXTGi4qJi%0AFysKSiju7s+y7goEKdIULIAiiyJmdUURARXsYNBoIIAKSII0iYBECcn5/XEmGNh0MvNOuT/XxeXk%0AzZRnJkjuOfO8zzHWWkREREREpPJqeV2AiIiIiEioUYgWEREREakihWgRERERkSpSiBYRERERqSKF%0AaBERERGRKlKIFhERERGpIoVoEQlKxphWxhhrjDnM9/XbxpgbA/C4jxhjXvL34/geK8EYs8IYs8sY%0Ac58x5mljzN8D8djBxhizzhhzQTVve6YxJruma6rE40bsz0tEFKJF5BD4gk++MWa3MWazMWaaMaa+%0APx7LWvsna+30StZUrTBWifs+xxhT5Hu+u4wx2caYmw/hLgcDi621Day1T1lr77TW/qPEY22smcor%0Az/cmosD3HPOMMR8bY7oHuo7y+N5cHV/8tbV2ibU2wU+PdasxZpXv573ZGDPPGNPA97j7f14iEnkU%0AokXkUF1mra0PdAGSgL8dfAXjhMu/N7m+53sEMASYaozpcPCVilfQK9AS+LaG66sJs33PsQmwFJhr%0AjDEe1xRwxpizgX8Bfay1DYD2wGxvqxKRYBEuv9RExGPW2hzgbaAjgDHmfWPMP40xHwF7gOOMMQ2N%0AMc8ZYzYZY3KMMY8bY6J8148yxowyxmwzxnwPXFry/n33d1uJr283xqz0rRBmGWO6GGNeBFoAb/pW%0AUgf7rtvNt6KaZ4z5yhhzTon7aW2M+cB3PwuAoyr5fK21Nh3YAXQo0X5yqzFmA7DId/89jTHf+h77%0AfWNMe9/xRcC5wARfrSf4VvIfN8bU872Wcb7v7TbGxB30epxmjPmp+PXzHbvCGPO17/Kpxphlxpid%0AvhXU0ZV5Xgc9xwJgOnAM0NgYU8sY8zdjzHpjzBZjzAxjTEPf4xU//37GmFzfz3hQidqmGWMeL/F1%0AmSvtvto/8b1mm4wxE4wxh/u+96Hval/5XpdrDr4vY0x732ud53vtex5Ux0RjzFu+n/lnxpg2ZbwE%0ApwCfWGszfK/Hz9ba6dbaXQc/J2NM8d+54j9FxpibfN9rZ4xZYIz52bhPL3pX6QchIkFJIVpEaoQx%0ApjlwCZBR4nBfoB/QAFgPTAP2AccDicBFQHEwvh34s+94EnBVOY91NfAIcANuRbgnsN1a2xfYgG91%0A3Fo70hgTD7wFPA40AgYBrxljmvju7mVgOS48/wOoVN+1L1BeAcQCmSW+dTZuxTLZGHMCMAsYgFvV%0AnYcL+Idba88DlgD3+mpdXXwH1tpfgT/hW/X2/ckt+fjW2s+AX4HzShy+1vd8AMYB46y1RwBtgFcq%0A87wOeo61gZuAH62123yXb8KF/+OA+sCEg252LtAW97MdYqrXWlMIDMT9TLoD5wN3A1hrz/Jd52Tf%0A63LAyrAxJhp4E3gXOBroD8w0xpRs9/gL8ChwJLAW+GcZdXyG+zk+aozp4Xs9SmWtLf47Vx+4GvgJ%0AWOh7Q7QA93M52vfYk0wpn16ISGhRiBaRQ5VujMnDfez/Ae7j72LTrLXfWmv34QLsJcAAa+2v1tot%0AwBhcqADoDYy11v5orf0ZeKKcx7wNGGmt/cK3IrzWWru+jOteD8yz1s6z1hZZaxcAy4BLjDEtcKuN%0Af7fW/m6t/RAXwMoT53u+24CHgb7W2pIntT3ie375wDXAW9baBb5V3VFADHB6BY9RWbOAPgDG9ele%0A4jsGUAAcb4w5ylq721r7aRXut7fvOf4IdAWu8B2/Dhhtrf3eWrsbGAb8xRzYuvKo7/lnAi8U11cV%0A1trl1tpPrbX7rLXrgGdwb04qoxsu3A+31u611i4C/ntQHa9baz/3/b2cCXQuo44lQC9cq9JbwHZj%0AzOiSq/8H871xmg70ttb+iHtjuM5a+4Lv+WQAr+GCtoiEsMr07ImIlCfFWvteGd/7scTllkA0sMn8%0A0V5bq8R14g66flmhGKA58F0l62sJXG2MuazEsWhgse8xd/hWfks+bvNy7i/XWtusnO+XfA5xlHge%0A1toiY8yPQHwla6/Iy8DHxpi7cGHvyxJvJm4FHgNWGWN+wIXb/1byfl+x1l5fyvEDno/v8mFA0xLH%0ADv4ZdqrkY+7nC6KjcZ9I1PU9xvJK3jwOt3JedFAdJV/zn0pc3oML3aWy1r4NvG1cT/+5wKtANi7Y%0AH1x3Q+A/wN+stUt9h1sCp/nelBQ7DHixks9HRIKUQrSI+JMtcflH4HfgKN8K4ME2cWB4bVHO/f6I%0Aa1Go6DGLr/uitfb2g69ojGkJHGmMqVciSLco5T6qouRtcykRIo1799AcyKni/ZR+BWuzjDHrca0f%0AJVs5sNauAfr4wl8vYI4xpvFBbxiqKhcXCou1wLXnbAaK31g0B1aV+H5xG8qvuEBc7JhyHmcyri2o%0Aj7V2lzFmAOW095RSY3NjTK0SQboFsLqc21TId18Lfb3sHQ/+vu91fhk3bWVKiW/9CHxgrb3wUB5f%0ARIKP2jlEJCCstZtwfapPGmOO8PUUtzFuAgK4nt37jDHNjDFHAkPLubtngUHGmK7GOd4XiMEFuuNK%0AXPcl4DJjTLJxJy/W8Z2I1sy3arsMeNQYc7gx5gzgMmrOK8Clxpjzfb26D+LeSHxcidtuxp3M17CC%0A670M3A+chVslBcAYc70xpokv/BWvghaVcvuqmAUMNO5kzPq41p3ZB70p+rsxpq4x5kTgZv6YZrEC%0A10LTyBhzDK5PvCwNgJ3AbmNMO+Cug75/8M+4pM9wq8uDjTHRxp1Eehnw70o/Sx9jzOXGmL8YY470%0A/T07FddWUlprzD+BerifRUn/BU4wxvT11RNtjDnF+E4wFZHQpRAtIoF0A3A4kIWbajEHONb3vanA%0AfOAr4Etgbll3Yq19FRdaXgZ2Aem4nmtwvdR/801mGOTrS70ceAjYilsZTOWPf/+uBU4Dfsb1OM+o%0AiSfqqzMb15M9HtdDfRnupMe9lbjtKlxo/d73XOLKuOosXLBb5Dv5r9jFwLfGmN24kwz/4uvTxjc9%0A4sxqPKXncW0IHwI/AL/hTtwr6QPcyXoLgVHW2nd9x1/E/WzX4d5MlTcqbhDu57IL9/fi4Os+Akz3%0AvS4HTLrwvbaX4VbntwGTgBt8r2dV7cCd8LoGF+pfAtKstTNLuW4fXD/2jhITOq7zTfK4CNf7n4tr%0AJRkBlHmSooiEBmPtoXxqKSIi4kbc4YJ1dBntOiIiYUUr0SIiIiIiVaQQLSIiIiJSRWrnEBERERGp%0AIq1Ei4iIiIhUkUK0iIiIiEgVhcRmK0cddZRt1aqV12WIiIiISJhbvnz5Nmttk4quFxIhulWrVixb%0AtszrMkREREQkzPl2gq2Q2jlERERERKpIIVpEREREpIoUokVEREREqigkeqJLU1BQwMaNG/ntt9+8%0ALkWAOnXq0KxZM6Kjo70uRURERMTv/BaijTHNgRlAU8ACU6y144wxjwC3A1t9V33IWjuvqve/ceNG%0AGjRoQKtWrTDG1FTZUg3WWrZv387GjRtp3bq11+WIiIiI+J0/V6L3AQ9aa780xjQAlhtjFvi+N8Za%0AO+pQ7vy3335TgA4SxhgaN27M1q1bK76yiIiISBjwW4i21m4CNvku7zLGrATia/IxFKCDh34WIiIi%0AEkkCcmKhMaYVkAh85jvU3xjztTHmeWPMkWXcpp8xZpkxZlmwrnBGRUXRuXNnOnbsyNVXX82ePXuq%0AfV/vv/8+f/7znwF44403GD58eJnXzcvLY9KkSfu/zs3N5aqrrqr2Y4uIiIhI1fg9RBtj6gOvAQOs%0AtTuBycBxQGfcSvWTpd3OWjvFWptkrU1q0qTCTWM8ERMTw4oVK/jmm284/PDDefrppw/4vrWWoqKi%0AKt9vz549GTp0aJnfPzhEx8XFMWfOnCo/joiIiIhUj19DtDEmGhegZ1pr5wJYazdbawuttUXAVOBU%0Af9YQKGeeeSZr165l3bp1JCQkcMMNN9CxY0d+/PFH3n33Xbp3706XLl24+uqr2b17NwDvvPMO7dq1%0Ao0uXLsydO3f/fU2bNo17770XgM2bN3PFFVdw8sknc/LJJ/Pxxx8zdOhQvvvuOzp37kxqairr1q2j%0AY8eOgOsVv/nmm+nUqROJiYksXrx4/3326tWLiy++mLZt2zJ48OAAv0IiIiIi4cOf0zkM8Byw0lo7%0AusTxY3390gBXAN8c8oMNGAArVhzy3Rygc2cYO7ZSV923bx9vv/02F198MQBr1qxh+vTpdOvWjW3b%0AtvH444/z3nvvUa9ePUaMGMHo0aMZPHgwt99+O4sWLeL444/nmmuuKfW+77vvPs4++2xef/11CgsL%0A2b17N8OHD+ebb75hhe85r1u3bv/1J06ciDGGzMxMVq1axUUXXcTq1asBWLFiBRkZGdSuXZuEhAT6%0A9+9P8+bND+FFEhEREYlM/pzO0QPoC2QaY4oT7kNAH2NMZ9zYu3XAHX6swa/y8/Pp3Lkz4Faib731%0AVnJzc2nZsiXdunUD4NNPPyUrK4sePXoAsHfvXrp3786qVato3bo1bdu2BeD6669nypQp//MYixYt%0AYsaMGYDrwW7YsCE7duwos6alS5fSv39/ANq1a0fLli33h+jzzz+fhg0bAtChQwfWr1+vEC0iIiJS%0ADf6czrEUKG1kQ5VnQleokivGNa24J/pg9erV23/ZWsuFF17IrFmzDrhOabfzt9q1a++/HBUVxb59%0A+wJeg4iIiEg40LbfftatWzc++ugj1q5dC8Cvv/7K6tWradeuHevWreO7774D+J+QXez8889n8uTJ%0AABQWFvLLL7/QoEEDdu3aVer1zzzzTGbOnAnA6tWr2bBhAwkJCTX9tEREREQimkK0nzVp0oRp06bR%0Ap08fTjrppP2tHHXq1GHKlClceumldOnShaOPPrrU248bN47FixfTqVMnunbtSlZWFo0bN6ZHjx50%0A7NiR1NTUA65/9913U1RURKdOnbjmmmuYNm3aASvQIiIiInLojLXW6xoqlJSUZJctW3bAsZUrV9K+%0AfXuPKpLS6GciIiIioc4Ys9xam1TR9bQSLSIiIiJSRf6cziEiIiIiUq70jBzS5meTm5dPXGwMqckJ%0ApCTGe11WhRSiRURERMQT6Rk5DJubSX5BIQA5efkMm5sJEPRBWu0cIiIiIuKJtPnZ+wN0sfyCQtLm%0AZ3tUUeUpRIuIiIiIJ3Lz8qt0PJgoRIuIiIiIJ+JiY6p0PJgoRFfT9u3b6dy5M507d+aYY44hPj5+%0A/9d79+49pPt+/fXXSUtLq5E6r7/+elq3bs3JJ5/MCSecwI033khubm6Ftxs9ejS//fZbjdQgIiIi%0AUprU5ARioqMOOBYTHUVqcvBvFKcTC6upcePG+7fufuSRR6hfvz6DBg064DrWWqy11KpVtfcqV1xx%0ARY3VCTBmzBhSUlIoKipi9OjRnHfeeWRmZhIdHV3mbUaPHs0tt9xCnTp1arQWERERkWLFJw+G4nSO%0AiFmJTs/IocfwRbQe+hY9hi8iPSPHL4+zdu1aOnTowHXXXceJJ57Ipk2b6NevH0lJSZx44ok89thj%0A+6/brFkzHnnkERITEznppJNYvXo1AM8++ywDBgwA3Ery/fffz+mnn85xxx3H66+/DrgtwO+8807a%0AtWvHRRddxMUXX0x6enq5tdWqVYtBgwbRqFEj3n33XYBSaxszZgxbtmzhzDPP5IILLijzeiIiIiKH%0AKiUxno+GnscPwy/lo6HnhUSAhggJ0cXjU3Ly8rH8MT7FX0F61apVDBw4kKysLOLj4xk+fDjLli3j%0Aq6++YsGCBWRlZe2/btOmTcnIyOC2225j9OjRpd7fli1b+Oijj0hPT2fYsGEAvPrqq+Tk5JCVlcW0%0AadP45JNPKl1fly5dWLVqFUCptQ0cOJCjjz6aJUuW8N5775V5PREREZFIFREhOtDjU9q0aUNS0h+7%0ARc6aNYsuXbrQpUsXVq5ceUAA7dWrFwBdu3Zl3bp1pd5fSkoKxhhOOukkcnJc8F+6dCm9e/emVq1a%0AxMXFcfbZZ1e6vpJbvZdXW0mVvZ6IiIhIJIiInuhAj0+pV6/e/str1qxh3LhxfP7558TGxnL99dcf%0AcMJe7dq1AYiKimLfvn2l3l/xdeDAAFxdK1as4NJLL62wtso+BxEREZFIExEr0V6OT9m5cycNGjTg%0AiCOOYNOmTcyfP79G7rdHjx7MmTMHay2bNm3iww8/rPA21lrGjBnD9u3bufDCC8utrUGDBuzatcuv%0Az0FEREQkVEXESnRqcsIBW0pC4MandOnShQ4dOtCuXTtatmxJjx49auR+e/fuzaJFi2jfvj0tW7Yk%0AMTGRhg0blnrdgQMH8vDDD5Ofn0/37t1ZtGgR0dHR5dbWr18/LrjgApo3b86CBQv88hxEREREQpWp%0AifYAf0tKSrLLli074NjKlStp3759pe8jPSMnJMenlGf37t3Ur1+frVu3ctppp/HZZ5/RpEkTz+qp%0A6s9EREREJNgYY5Zba5Mqul5ErESDG58S6qH5YH/605/YuXMnBQUFPProo54GaBEREZFIEjEhOhwt%0AWbLE6xJEREREIlJEnFgoIiIiIlKTQjpEh0I/d6TQz0JEREQiSciG6Dp16rB9+3aFtyBgrWX79u3U%0AqVPH61JEREREAiJke6KbNWvGxo0b2bp1q9elCO5NTbNmzbwuQ0RERCQgQjZER0dH07p1a6/LEBER%0AEZEIFLLtHCIiIiIiXgnZlWgRERGJbOG4kZqEDoVoERERCTnpGTkMm5tJfkEhADl5+QybmwmgIC0B%0AoXYOERERCTlp87P3B+hi+QWFpM3P9qgiiTQK0SIiIhJycvPyq3RcpKYpRIuIiEjIiYuNqdJxkZqm%0AEC0iIiIhJzU5gZjoqAOOxURHkZqc4FFFEml0YqGIiIiEnOKTBzWdQ7yiEC0iIiIhKSUxXqFZPKN2%0ADhERERGRKlKIFhERERGpIoVoEREREZEqUogWEREREakihWgRERERkSrSdA4RERGRAErPyNFovjCg%0AlWgRERGRAEnPyGHY3Exy8vKxQE5ePsPmZpKekeN1ad4pKoL0dPjXv7yupEoUokVEREQCJG1+NvkF%0AhQccyy8oJG1+tkcVeWjvXnjhBTjxRLjiCpg+HX7/3euqKk0hWkRERCRAcvPyq3Q8LO3eDWPGQJs2%0AcMstULs2zJoF337rLocI9USLiIiIBEhcbAw5pQTmuNgYD6oJsG3bYPx4mDABfv4ZzjkHpk6F5GQw%0Axuvqqkwr0SIiIiIBkpqcQEx01AHHYqKjSE1O8KiiAFi/Hu6/H1q0gMcegzPPhE8+gcWL4eKLQzJA%0Ag1aiRURERAKmeApHREzn+OYbGDnStWoAXH89DB4M7dt7W1cNUYgWERERCaCUxPjwDM3FPv4Yhg+H%0AN9+EunXh3nvhgQegeXOvK6tRCtEiIiIicmishXnzYMQIWLIEGjWChx+G/v2hcWOvq/MLhWgRERER%0AqZ59+2D2bBeeMzPdavPYsXDbbVCvntfV+ZVCtIiIiIhUzZ49bsbzqFGwbh106ODmPPfpA9HRXlcX%0AEArRIiIiIh4JuS3Ad+yASZNg3DjYuhW6d3crz5ddBrUia+ibQrSIiIiIB4q3AC/ewbB4C3Ag+IJ0%0Abq7bIOXpp91mKZdcAkOHwhlnhOyIukMVWW8ZRERERIJESGwBnp3t+ptbtYLRo6FnT1ixAt56y817%0AjtAADVqJFhEREfFEUG8BvmyZG1M3d67bivv22+HBB+G447yuLGgoRIuIiIh4IOi2ALcWFi504Xnh%0AQmjYEIYNg/vug6ZNvakpiKmdQ0RERMQDQbMFeGEhzJkDp5wCF14IWVlup8ENG+Cf/1SALoNWokVE%0AREQ84PkW4L//Di++6ALzmjXQti1MnQp9+7oWDimXQrSIiIiIRzzZAnznTpgyxZ0ouGkTdO0Kr74K%0AV1wBUVEV314AhWgRERGRyLB5Mzz1FEycCL/8Ahdc4FaizzsvoqdsVJdCtIiIiEg4++EHt7Pg88+7%0AFo4rr4QhQyApyevKQppCtIiIiEg4+vprGDECZs92bRo33ACpqXDCCV5XFhYUokVERETChbWwZIkb%0AU/f221C/PjzwAAwYAHFxXlcXVhSiRUREREJdURG8+aYLz59+Ck2auPF0d90FRx7pdXVhSSFaRERE%0AJFTt3QuzZrkxdVlZbnvuiRPh5pshxqNNWyKE3zZbMcY0N8YsNsZkGWO+Ncbc7zveyBizwBizxvdf%0AvT0SERERqYpff4Vx4+D44+Gmm1zP88yZbt7z3XcrQAeAP3cs3Ac8aK3tAHQD7jHGdACGAguttW2B%0Ahb6vRURERKQi27fDo49Cixauz7l1a5g3D776Cq69Fg5Tk0Gg+O2VttZuAjb5Lu8yxqwE4oHLgXN8%0AV5sOvA8M8VcdIiIiIiHvxx/d5ihTpsCePdCzpxtTd/rpXlcWsQLydsUY0wpIBD4DmvoCNsBPQKkb%0Ashtj+gH9AFq0aOH/IkVERESCTVaW63eeOdN93aePC88nnuhtXeLXdg4AjDH1gdeAAdbanSW/Z621%0AgC3tdtbaKdbaJGttUpMmTfxdpoiIiEjw+PRTSElxYfnVV12f89q1MGOGAnSQ8OtKtDEmGhegZ1pr%0A5/oObzbGHGut3WSMORbY4s8aREREREKCtfDOO26DlA8+cKPpHn4Y7r0XjjrK6+rkIP6czmGA54CV%0A1trRJb71BnCj7/KNwH/8VYOIiIhI0Nu3z42pS0yESy6B775z/c8bNsAjjyhAByl/rkT3APoCmcaY%0AFb5jDwHDgVeMMbcC64HefqxBREREJDjl58O0aZCWBj/8AO3awQsvuCkbhx/udXVSAX9O51gKmDK+%0Afb6/HldEREQkqOXlweTJMHYsbNkCp53mVp579oRafj9dTWqIhgmKiIiIBMKmTS44T54Mu3ZBcjIM%0AHQpnnw2mrHVHCVYK0SIiIiL+tHata9mYNs31P/fuDYMHux5oCVkK0SIiIiL+sHy5m7Tx2msQHQ23%0A3AKDBkGbNl5XJjVAIVpERESkplgLixfD8OGwYAEccYRbdb7/fjjmGK+rkxqkEC0iIiJyqIqKID3d%0AhecvvnCBecQIuOMOaNjQ6+rEDxSiRURERKrr99/dltwjR0J2tmvVeOYZuOEGqFPH6+rEjxSiRURE%0ARKpq1y6YMsWNpsvNhS5d4JVXoFcviIryujoJAIVoERERkcrauhWeegomTHDzns87z03duOACjamL%0AMArRIiIiIhVZtw5GjYLnn4fffnMrzkOGwCmneF2ZeEQhWkRERKQsmZnuBMF//9vtJnjDDZCaCgkJ%0AXlcmHlOIFhERETnY0qVu0sZbb0G9ejBgAAwcCPHxXlcmQUIhWkRERATcmLp581x4/ugjaNwYHnsM%0A7rkHGjXyujoJMgrRIiIiEtkKCly7xogR8O230LIljB/vdhisW9fr6iRIKUSLiIhIZNqzB557zp0w%0AuGEDdOwIL74I11zjtukWKYdCtIiIiESWn392I+rGj4dt26BHD5g4ES69VGPqpNIUokVERCQybNzo%0ANkeZMgV+/RX+/Gc3pu6MM7yuTEKQQrSIiIiEt1Wr3LbcL73kTh689loYPNi1b4hUk0K0iIiIhKfP%0AP3eTNtLToU4duPNOeOABaNXK68okDChEi4iISPiwFhYscOF58WI48kj429+gf39o0sTr6iSMKESL%0AiIhI6Nu3D157zY2py8hwm6KMHg233w7163tdnYQhhWgREREJXb/9BtOnQ1oafPed2477+efhuuvg%0A8MO9rk7CmEK0iIiIhJ5ffoHJk2HsWNi8GU45xQXpyy+HWrW8ri6kpGfkkDY/m9y8fOJiY0hNTiAl%0AUdubV0QhWkRERELHTz+54Dx5MuzcCRddBEOHwjnnaMZzNaRn5DBsbib5BYUA5OTlM2xuJoCCdAX0%0AVk1ERESC39q1brpGq1ZuxTk5GZYvh/nz4dxzFaCrKW1+9v4AXSy/oJC0+dkeVRQ6tBItIiIiwevL%0AL93JgnPmwGGHwU03waBB0Lat15WFhdy8/Codlz8oRIuIiEhwsRbef9+NqXv3XWjQAFJT4f774dhj%0Ava4urMTFxpBTSmCOi43xoJrQonaOEJWekUOP4YtoPfQtegxfRHpGjtcliYiIHJqiInj9dejWDc47%0AD1asgH/9CzZscIFaAbrGpSYnEBMddcCxmOgoUpMTPKoodGglOgTpJAAREQkre/fCzJmubSM7G447%0Azp04eOONEKMVUX8qzg2azlF1CtEhqLyTAPSXXkREQsauXTB1qtsUJScHOneGWbPgqqtc/7MEREpi%0AvPJDNehvaAjSSQAiIhLStm6F8eNhwgTYscONp3vuOTeuTlM2JEQoRIcgnQQgIiIhaf16ePJJePZZ%0AyM+HlBQYMsT1QIuEGJ1YGIJ0EoCIiISUb76BG26ANm1cr/M110BW1h8nEYqEIK1EhyCdBCAiIiHh%0Ao4/cyYJvvgn16sF998HAgdC8udeViRwyhegQpZMAREQkKFkL8+a58LxkCTRuDI8+Cvfc4y6LhAmF%0AaBERETl0+/bB7NkuPGdmutXmsWPhttvcKrQfpGfk6FNZ8YxCtIiIiFTfnj3wwgswahSsWwcdOsCM%0AGfCXv0B0tN8eVnsmiNd0YqGIiIhU3Y4d8Pjj0KoV3Huv203wjTfcKnTfvn4N0FD+ngkigaCVaBER%0AEam8nBwYMwaeeQZ274ZLLnFj6s48M6AznrVngnhNIVpEREQqlp0NaWmuVaOoyLVrDB4MJ53kSTna%0AM0G8pnYOERERKdsXX7htuNu3h5kzoV8/WLMGXnrJswAN2jNBvKeVaBERETmQtbBwITzxBCxaBLGx%0A8NBDbs7z0Ud7XR2gPRPEewrRIiIi4hQWwty5MHw4fPklxMW5qRv9+kGDBl5X9z+0Z4J4SSFaREQk%0A0v3+u+t1HjkS1q6FE06AZ5+F66+H2rW9rk4kKClEi4iIRKqdO+Hpp920jZ9+gqQkmDMHUlIgKqri%0A24tEMIWHObCMAAAgAElEQVRoERGRSLN5M4wbB5MmwS+/wIUXuhMFzzsvoGPqREKZQrSIiEik+P57%0A1+P8/POwdy9ceSUMHQpdu3pdmUjIUYgWEREJdytWwIgR8MorcNhhcOONMGiQ630WkWpRiBYREQlH%0A1sKHH7pJG++8A/Xrw4MPwoABbuqGiBwShWgREZFwUlQEb77pwvOnn0KTJvDPf8Jdd8GRR3pdnUjY%0AUIgWEREJB3v3wssvuzF1K1dC69buxMGbboIYbYUtUtMUokVERELZ7t1upvOTT8LGjW4r7pdfhquv%0Adv3PIuIX+r9LREQkFG3bBhMmwPjx8PPPcOaZMGUKXHyxxtSJBIBCtIiISCjZsAFGj4apU2HPHujZ%0AE4YMgdNP97oykYiiEC0iIhIKsrJcv/PMme7r666DwYOhQwdv6xKJUArRIiIiweyTT9ykjTfegLp1%0A4e673ai6Fi28rkwkoilEi4iIBBtr3Wzn4cPdrOdGjeDhh6F/f2jc2OvqRASFaBERkeCxbx+8+qoL%0Az19/Dc2awdixcNttUK+e19WJSAkK0SIiUqb0jBzS5meTm5dPXGwMqckJpCTGe11W+MnPh2nTIC0N%0AfvgB2rd3X/fpA4cf7nV1IlIKhWgRESlVekYOw+Zmkl9QCEBOXj7D5mYCKEjXlLw8tyHKuHGwZQt0%0A6wZjxsBll0GtWl5XJyLl0P+hIiJSqrT52fsDdLH8gkLS5md7VFEYyc11kzVatIC//hW6doX334eP%0AP4bLL1eAFgkBWokWEZFS5eblV+m4VMKaNa5lY/p01/98zTUuTHfu7HVlIlJFCtEiIlKquNgYckoJ%0AzHGxMR5UE+KWL4cRI2DOHNfjfOutMGgQHHec15WJSDXp8yIRESlVanICMdFRBxyLiY4iNTnBo4pC%0AjLWwcCFceCEkJcH8+W5nwfXrXR+0ArRISPNbiDbGPG+M2WKM+abEsUeMMTnGmBW+P5f46/FFROTQ%0ApCTG80SvTsTHxmCA+NgYnujVSScVVqSwEF57DU49FS64AL75xq1Cb9gATzwBTZt6XaGI1AB/tnNM%0AAyYAMw46PsZaO8qPjysiIjUkJTFeobmyfv8dXnzRbc29Zg0cfzxMmQJ9+0KdOl5XJyI1zG8h2lr7%0AoTGmlb/uX0REJCjs3AnPPONG023aBF26wOzZcOWVEBVV8e1FJCR5cWJhf2PMDcAy4EFr7Q4PahAR%0AETk0W7a4+c4TJ8Ivv8D558OMGe6/xnhdnYj4WaBPLJwMHAd0BjYBT5Z1RWNMP2PMMmPMsq1btwaq%0APhERkfL98APccw+0bOl6nC+4AD7/HN57z11WgBaJCAEN0dbazdbaQmttETAVOLWc606x1iZZa5Oa%0ANGkSuCJFRERK8/XXcN110LYtTJ3qLq9c6cbWnXKK19WJSIAFtJ3DGHOstXaT78srgG/Ku76ISCRK%0Az8ghbX42uXn5xMXGkJqcoJP7vGItLF0Kw4fDvHlQvz4MGAADB0K8fiYikcxvIdoYMws4BzjKGLMR%0AeBg4xxjTGbDAOuAOfz2+iEgoSs/IYdjczP3bbefk5TNsbiaAgnQgFRXBW2+58Pzxx3DUUfD443D3%0A3XDkkV5XJyJBwJ/TOfqUcvg5fz2eiEg4SJufvT9AF8svKCRtfrZCdCAUFMCsWW6uc1aW63ueMAFu%0Avhnq1vW6OhEJItr2W0QkiOSWss12ecelhvz6Kzz3HDz5pNsUpWNHeOkl6N0boqO9rk5EgpBCtIhI%0AEImLjSGnlMAcFxvjQTURYPt2N6Luqafc5R493Jbcl1yiKRsiUq5Aj7gTEZFypCYnEBN94AYdMdFR%0ApCYneFRRmPrxR3jgAdeu8fDD0L07LFniTiK89FIFaBGpkFaiRUSCSHHfs6Zz+MnKlW5b7pdecpM3%0Arr0WBg927RsiIlWgEC0iEmRSEuMVmmvaZ5+5SRvp6RATA3fd5VaiW7XyujIRCVEK0SIiEp6shfnz%0AXXj+4AM3mu7vf4f+/UGbeInIIVKIFhGR8LJvn9tFcPhw+OortynK6NFw++1usxQRkRqgEC0iIuEh%0APx+mT4e0NPj+e2jXDl54wfU9H36419WJSJhRiBYRkdCWlweTJ8PYsbBlC5x6KowaBZdfDrU0hEpE%0A/EMhWkREQtOmTS44T54Mu3ZBcjIMHQpnn60RdSLidwrRIiISWtaudS0b06a5/uerr4YhQyAx0evK%0ARCSCKESLiEho+PJLGDHCnTQYHQ233AKDBkGbNl5XJiIRSCFaxCc9I0cbXIgEG2vh/ffdpI1334Uj%0AjnCbo9x/PxxzjNfViUgEU4gWwQXoYXMzyS8oBCAnL59hczMBFKRFvFBU5DZGGTECPv8cmjZ1QfrO%0AO6FhQ6+rExFRiBYBt8VycYAull9QSNr8bIVoOWT6lKMK9u51W3KPHAnZ2XDccfD003DjjVCnjtfV%0AiYjspxAtAuTm5VfpuEhl6VOOStq1C6ZOdZui5ORA587w73/DlVfCYfpVJSLBRwM0RYC42JgqHRep%0ArPI+5RBg61a3FXeLFvDgg9C2LbzzjjuJ8JprFKBFJGgpRIsAqckJxERHHXAsJjqK1OQEjyqScKFP%0AOcqwbh307w8tW8I//wnnnguffgqLF7t5z5rzLCJBTm/xRfjjY3X1rUpNi4uNIaeUwByxn3JkZrp+%0A51mz3G6C118PqanQvr3XlYmIVIlCtIhPSmK8QrPUuNTkhAN6oiFCP+VYutRN13jrLahXz42oGzgQ%0AmjXzujIRkWpRiBYR8aOI/pSjqAjmzXPh+aOPoHFjeOwxuOceaNTI6+pERA6JQrSIiJ9F3KccBQUw%0Ae7ab8fzNN+6kwXHj4NZb3Sq0iEgYUIgWEZGasWcPPP88jBoF69fDiSfCjBnwl7+4bbpFRMKIQrSI%0AiByan3+GiRPhqadg2zY4/XSYMAEuucSdPCgiEoYUokVEpHo2boQxY+CZZ+DXX11oHjYMzjjD68pE%0ARPxOIVpERKpm1SpIS4MXX3QnD/bpA4MHQ6dOXlcmIhIwCtEiIlI5n3/uThZ8/XWoXRvuuMPtMtiq%0AldeViYgEnEK0iIiUzVp47z03pm7RIoiNhb/+1e02ePTRXlcnIuIZhWgREflfhYXw2msuPGdkQFyc%0Am7rRrx80aOB1dSIinlOIFhGRP/z2mxtLl5YGa9fCCSfAs8+67blr1/a6OhGRoKEQLSIisHMnPP20%0Am7bx00+QlARz5kBKCkRFeV2diEjQUYgWEYlkmze73QQnTYJffoELL4SZM+Hcc8EYr6sTEQlaCtEi%0AIpHo++9dj/Pzz7ttuq+8EoYMga5dva5MRCQkKESLiESSFSvcmLpXXoHDDoObboJBg6BtW68rExEJ%0AKQrRIgGWnpFD2vxscvPyiYuNITU5gZTEeK/LknBmLXz4oZu08c47brrGoEEwYAAce6zX1YmIhCSF%0AaJEASs/IYdjcTPILCgHIyctn2NxMAAVpqXlFRfDGG27l+dNP3Vznf/0L7rrLzXsOInpzKSKhRiFa%0A5CD+/GWeNj97f4Aull9QSNr8bAUGqTl798LLL7vwvGoVtG4NEyfCzTdDTIzX1f0PvbkUkVBUy+sC%0ARIJJ8S/znLx8LH/8Mk/PyKmR+8/Ny6/ScZEq2b0bxo6FNm1cYD78cBemV6+Gu+8OygAN5b+5FBEJ%0AVlqJlmoJ9Y9ey6rf3yvFcbEx5JQSmONigzPcSIjYtg0mTIDx4+Hnn+Hss2HKFLj44pAYU6c3lyIS%0AihSipcpC/aPX8ur39y/z1OSEAx4bICY6itTkhBq5f4kwGzbA6NEwdSrs2QOXX+7G1HXv7nVlVaI3%0AlyISitTOIVUW6h+9lld/Wb+0a+qXeUpiPE/06kR8bAwGiI+N4YlenULizYcEkawsN5quTRvX69y7%0AN3z7LaSnh1yABvfmMib6wF0R9eZSRIKdVqKlykL9o9fy6h9zTWe/rxSnJMYrNEv1fPKJG1P3xhtQ%0Aty7cey888AA0b+51ZYek+P+HUG4RE5HIoxAtVRbqH72WV79+mUvQsRbeftuF5yVLoHFjeOQRF6Ab%0AN/a6uhqjN5ciEmoUoqXKQr2vt6L69ctcgsK+fW5XweHDITPTrTaPGwe33gr16nldnYhIxFOIlioL%0A9dXaUK9fwtyePfDCCzBqFKxbBx06wPTp0KcPREd7XZ2IiPgYa63XNVQoKSnJLlu2zOsyRET8Z8cO%0AmDTJrTZv3QrdusHQoXDZZVBL54CLiASKMWa5tTapoutV6l9mY0yPyhwTEZEqys2F1FRo0QL+9jdI%0ASoIPPoCPP3Yj6xSgRUSCUmX/dR5fyWMiIlIZ2dlw221uS+7Ro6FnT1ixAubNg7POColNUkREIlm5%0APdHGmO7A6UATY8wDJb51BBBV+q1ERKRMX3wBI0bA3LlQu7YL0g8+CMcd53VlIiJSBRWdWHg4UN93%0AvQYlju8ErvJXUSIiYcVaWLjQTdpYuBAaNoRhw+C++6BpU6+rExGRaig3RFtrPwA+MMZMs9auD1BN%0AIiLhobAQXn/dhefly+GYY2DkSLjjDjjiCK+rExGRQ1BRO8dYa+0AYIIx5n/GeFhre/qtMhGRUPX7%0A7/Diiy4wr1kDbdvC1KnQt69r4RARkZBXUTvHDN9/R/m7EBGRkLdzJ0yZ4k4U3LQJunaFV1+FK66A%0AKJ1GIiISTioK0WnA+cAl1tohAahHRCT0bNni5jtPmgR5eXDeeTBjBpx/vqZsiIiEqYpC9LHGmNOB%0AnsaYfwMH/Daw1n7pt8pERILdDz+4nQWff961cPTqBUOGwCmneF2ZiIj4WUUh+v+AvwPNgNEHfc8C%0A5/mjKBGRoPb1125M3ezZbjOUG2+EQYMgIcHrykREJEAqms4xB5hjjPm7tfYfAapJRCT4WAtLl7pJ%0AG/PmQf36MGAADBwI8fFeVyciIgFW0Uo0ANbafxhjegJn+Q69b639r//KEhEJEkVF8N//uvD8ySfQ%0ApAk8/jjcfTcceaTX1YmIiEcqFaKNMU8ApwIzfYfuN8acbq19yG+ViYh4qaAAZs1ybRtZWdCqFUyY%0AALfcAjExXlcnIiIeq1SIBi4FOltriwCMMdOBDEAhWkTCy6+/wrPPwpNPwo8/wkknwcsvw9VXw2GV%0A/SdTRETCXVV+I8QCP/suN/RDLSIi3tm+3a00jx/vLp91FjzzDFx8scbUiYjI/6hsiH4CyDDGLMaN%0AuTsLGOq3qkREAuXHH93mKFOmwJ490LOnG1N3+uleVyYiIkGswhBtjDHAUqAbUDz8dIi19id/FiYi%0A4ldZWW5b7pm+Uz2uvRYGD4YTT/S2LhERCQkVhmhrrTXGzLPWdgLeCEBNIiL+8+mnbtLGf/4Ddeu6%0AKRsPPAAtW/rtIdMzckibn01uXj5xsTGkJieQkqixeCIioaxWJa/3pTGmSltwGWOeN8ZsMcZ8U+JY%0AI2PMAmPMGt9/NR9KRPzPWnjnHTjnHOjeHT78EB5+GNavd9t1+zlAD5ubSU5ePhbIyctn2NxM0jNy%0A/PaYIiLif5UN0acBnxpjvjPGfG2MyTTGfF3BbaYBFx90bCiw0FrbFliI+qpFxJ/27XNj6hIT4U9/%0Agu++c/3PGzbAI4/AUUf5vYS0+dnkFxQecCy/oJC0+dl+f2wREfGfyp5YmFzVO7bWfmiMaXXQ4cuB%0Ac3yXpwPvA0Oqet8iIuXKz4dp0yAtDX74Adq1gxdecH3Phx8e0FJy8/KrdFxEREJDuSHaGFMHuBM4%0AHsgEnrPW7juEx2tqrd3ku/wT0PQQ7ktE5EB5eTB5MowdC1u2wKmnupXnnj2hVmU/eKtZcbEx5JQS%0AmONitWGLiEgoq+i3ynQgCReg/wQ8WVMPbK21gC3r+8aYfsaYZcaYZVu3bq2phxWRcLRpkxtL16IF%0APPSQa99YvNidRJiS4lmABkhNTiAmOuqAYzHRUaQmJ3hUkYiI1ISK2jk6+KZyYIx5Dvj8EB9vszHm%0AWGvtJmPMscCWsq5orZ0CTAFISkoqM2yLSARbswZGjXKtG/v2Qe/ebkxdYqLXle1XPIVD0zlERMJL%0ARSG6oPiCtXafOfRdu94AbgSG+/77n0O9QxGJQMuXw4gRMGeO63G++WZITYU2bbyurFQpifEKzSIi%0AYaaiEH2yMWan77IBYnxfG1xHxhFl3dAYMwt3EuFRxpiNwMO48PyKMeZWYD3Q+xDrF5FIYa1r0Rg+%0AHBYsgCOOcC0c998PxxzjdXUiIhJhyg3R1tqo8r5fwW37lPGt86t7nyISgYqKID3dhecvvnCBefhw%0AuPNOaNjQ6+pERCRCVXbEnYhIYP3+u9uSe+RIyM52rRrPPAM33AB16nhdnYiIRDiFaBEJLrt2wdSp%0AbjRdTo47SXD2bLjySoiq9odjIiIiNUohWkSCw9at8NRTMGGCm/d87rnw/PNw4YVw6Cc1i4iI1CiF%0AaBHx1rp18OST8Nxz8NtvcMUV7oTBU0/1ujIREZEyKUSLiDcyM12/86xZbjOUvn3dmLp27byuTERE%0ApEIK0QGSnpGjzRZEAJYuddM13noL6tWDAQPcn2bNvK5MRESk0hSiAyA9I4dhczPJLygEICcvn2Fz%0AMwEUpCUyFBXBvHkuPH/0ERx1FDz2GNxzDzRq5HV1IUdvykVEvFfL6wIiQdr87P0Bulh+QSFp87M9%0AqkgkQAoK4MUX4aST4LLLYONGGD8e1q+Hv/9dAboait+U5+TlY/njTXl6Ro7XpYmIRBSF6ADIzcuv%0A0nGRkLdnjwvLxx/v5jobAy+9BGvWwL33Qt26XlcYsvSmXEQkOKidIwDiYmPIKSUwx8XGeFCNiB/9%0A/DNMnOhG1W3bBmec4b6+9FKNqashelMuIhIctBIdAKnJCcREH7hJREx0FKnJCR5VJFLDNm6EBx+E%0AFi3g//4PunWDJUvcnz//WQG6BpX15ltvykVEAkshOgBSEuN5olcn4mNjMEB8bAxP9OqkE4Ek9K1a%0ABbfcAscdB+PGuRnPX38Nb77pVqGlxulNuYhIcFA7R4CkJMYrNEv4+PxzN2kjPR1q14Y77nAr0a1a%0AeV1Z2Cv+d0TTOUREvKUQLSKVYy0sWODC8+LFEBsLf/0r9O8PRx/tdXURRW/KRUS8pxAtIuUrLIQ5%0Ac2DECMjIgLg4t0337bdDgwZeVyciIuIJhWgRKd1vv8H06ZCWBt99ByecAM89B9dd51o4REREIphC%0AtIgc6Jdf4OmnYcwY2LwZTjkFRo6Eyy+HqKiKby8iIhIBFKJFxPnpJzdhY9Ik2LkTLroIhgyBc8/V%0AiDoREZGDKESLRLq1a2HUKJg2zW3TfdVVLjx36eJ1ZSIiIkFLIVokUmVkuJMFX30VDjsMbroJBg2C%0Atm29rkxERCToKUSLRBJr4YMP3Ji6+fPddI3UVLj/fjj2WK+rExERCRkK0SKRoKgI3njDhefPPoOm%0ATeGJJ+DOO9285zCQnpGjDUhERCRgFKJFwtnevfDyy65tY9Uqtz335Mlw440QE+N1dTUmPSOHYXMz%0AyS8oBCAnL59hczMBFKRFRMQvanldgIj4we7dbkRdmzZw881Qpw7MmgXZ2W71OYwCNLgtsIsDdLH8%0AgkLS5md7VJGIiIQ7rUSLhJOtW2H8eJgwAXbsgHPOgWefdePqDhpTF07tD7l5+VU6LiIicqgUokXC%0Awfr1bivuZ5+F/HxISXFj6rp1K/Xq4db+EBcbQ04pgTkuNrxW3EVEJHionUMklH3zDfTt69o2Jk+G%0Aa66BrCx4/fUyAzSEX/tDanICMdEH7qYYEx1FanKCRxWJiEi400q0SCj66CM3aeO//4V69eC++2Dg%0AQGjevFI3D7f2h+LV83BpTxERkeCnEC0SKqyFefNceF66lN9jj+TFC25kYodk6h7dlNRttUipXIYO%0Ay/aHlMR4hWYREQkYhWiRYLdvH8ye7cbUZWZC8+Z8nfooN5mT+NlEA7Cjij3NqckJB/REg9ofRERE%0AqkI90SLBas8emDjRbcN9/fVQWAjTp8N333FXozP2B+hiVelpTkmM54lenYiPjcEA8bExPNGrk1Zy%0ARUREKkkr0SLBZscOmDQJxo1zI+u6d4ennoJLL4Va7n1vTfQ0q/1BRESk+hSiJWIF3ZzknBy3Qcoz%0Az7jNUi65xI2pO/PM/5nxHI49zSIiIqFEITpIBV3ACzNBNSc5OxvS0mDGDNey8Ze/wODBcPLJZd5E%0APc0iIiLeUk90ECoOeDl5+Vj+CHjpGTlelxY2gmJO8hdfwFVXQfv2MHMm3H47rFnjLpcToEE9zSIi%0AIl7TSnQQKi/gKSTVDM/mJFsLCxe6MXULF0LDhjBsmJvz3LRple4qFHqa9YmKiIiEK4XoIBRuG2EE%0Ao4D3FBcWwty5bkzd8uVw7LGuhaNfPzjiCP88pseCqmVGRESkhqmdIwiVFeR00ljNCdg20b//DlOn%0AQrt20Ls37Nzpvv7hBxg0KGwDNARJy4yIiIifKEQHodTkBKKjDpzGEB1ldNJYDfJ7T/HOnW6luXVr%0At9rcsCG8+iqsXAm33Qa1a9fM4wQxfaIiIiLhTO0cwcpW8HUY8apv1i89xZs3u5nOEyfCL7/ABRfA%0Aiy+SfmQCae+uJvev7wRdb7C/Xn+N4RMRkXCmEB2E0uZnU1B0YGouKLJheWJhVfpmg/okte+/h1Gj%0A4IUXXAvHlVfC0KHQtWtQ9QYf/Bqe264Jry3P8UttGsMnIiLhTO0cQSiSPgavbN9s0I79++oruPZa%0AtzX3c89B376wapVr3ejaFQie3uDSXsOZn27wW20awyciIuFMK9FByJ8fgwfbam5l3zBUd+yfX56v%0AtfDhh25M3TvvQP368OCDMGAAxMVV+FwqOu4vpb2GZXUJ1VRtoTCGT0REpDq0Eh2E/DU5IhhXcys7%0AiaQ6QbTGn29REfznP3D66XDOOW5U3eOPw4YNMHJkqQG6tOdS0XF/qUowVt+yiIhI+RSig5C/PgYP%0AlraCkir7hqE6QbTGnu/evTB9OnTsCCkp7uTBSZNg/Xr461/hyCPLvXnAxulVoKzXyhz0tfqWRURE%0AKqZ2jiDlj4/Bg6WtoKTi51hRy0V1TlI75Oe7ezc8+yw8+SRs3AgnnQQvvwxXXw2HVf5/nco+R38r%0A6zW8sms8i1dtDZoWHxERkVCgEB1BgnXkWGXeMFQniFb7+W7bBhMmwPjx8PPPcNZZ8Mwz8Kc/gTl4%0A3bZygqE3OFjCvIiISDhQiI4goT5yrKpBtMrPd8MGGD3a7Si4Zw/07AlDhrge6DARDGFeREQkHChE%0AR5BIW4ms9PPNynInBs6c6b6+7joYPBg6dAhwxSIiIhIqjLXBvxVeUlKSXbZsmddlSLj59FM3pu4/%0A/4G6deH22+GBB6BFC68rExEREY8YY5Zba5Mqup5WoiNYsM2MDghr3WznESPggw+gUSN4+GG49144%0A6iivqxMREZEQoRAdoYJpK+qA2LfP7SI4YoTbZbBZMxgzBm67zW2WIiIiIlIFmhMdoYJxZrRf5OfD%0A5Mlwwglue+69e+GFF+C779wOgwrQIiIiUg1aiY5QwTgzukbl5bnwPHYsbNkCp53mVp4vuwxq6b2j%0AiIiIHBqliQgVLFtR17jcXDdZo0ULeOghSEyE99+HTz4hvUUSPUa+T+uhb9Fj+CJPtzsXERGR0KaV%0A6EoIxxPwQn1m9P9YswbS0tz23Pv2Qe/ebsZz585ABPaAi4iIiF9pJboCxeErJy8fyx/hK9RXMVMS%0A43miVyfiY2MwQHxsDE/06hR6gXL5cheYExJgxgy49VZYvRpmzdofoCGCesBFREQkILQSXYHywlfI%0ABc6DhOzuddbCokVu0saCBdCwIQwdCvffD02blnqTsO8BFxERkYBSiK5AKIevsGtDKSyE9HS3Qcqy%0AZXDMMW6nwTvugCOOKPemcbEx5JTyMwv5HnARERHxhEJ0BUI1fAWqBzggQf333+Gll1xgXr0ajj8e%0ApkyBvn2hTp1K3UWo9ICH3RufANJrJyIigaQQXYFQCV8Hq6gHuCbCht+D+q5d8MwzbjRdbi506QKz%0AZ8OVV0JUVJXuqrieYA5ZOvmx+vTaiYhIoBlrrdc1VCgpKckuW7bMs8cPxRWuVkPfKvN7MdFR//Om%0AoDonFfYYvqjUVfr42Bg+Gnpele7rAFu2wFNPwcSJbt7z+ee7nufzzwdjqn+/Qc5vr2cE0GsnIiI1%0AxRiz3FqbVNH1tBJdCaF4Ap4x7vy70tTUiZI13i/+ww/w5JPw3HOuhaNXLzem7pRTqnd/fuSPN1ah%0A3H/vNb12IiISaArRlRRKq9HpGTllBuiyVCds1Fi/+Ndfu0kbs2e73QRvuAFSU93YuiDkr9aBUO2/%0ADwZ67UREJNA8mRNtjFlnjMk0xqwwxnjXp1FJoTYrurzZx1FltENUJ2ykJicQE31gb3Kl+8WthSVL%0A4NJL4eST4Y03YMAAtxr97LNBG6DBfzOnD+n1jHB67UREJNC83GzlXGtt58r0nHgt1DbqKG9Vuc9p%0AzWssbFRrw5aiInjzTTjjDDjrLPj8c/jHP2D9etKvG0iPF7ODfltuf7UOhM0GOB7QayciIoGmdo5K%0ACLV+y7I+2j6ybjSPp3QiqWWjGmtNqXS/eEGB20VwxAjIyoKWLd3Jg7feCnXrhtR0BX+2DoRi/32w%0A0GsnIiKB5FWItsB7xphC4Blr7RSP6qiUUOu3LGss38OXnQj4P2yU7B8/ri6M2b2ck2Y/Bxs2QMeO%0AbuZz794QHb3/NqG0M2Sojj0UERGRmuNViD7DWptjjDkaWGCMWWWt/bDkFYwx/YB+AC1atPCixv1C%0ALTR5ORO5eEW59s4d9P/yLW5a/iaN8neyrfOpHDVpElxySalj6kJptT8UZk6LiIiIf3k+J9oY8wiw%0A21o7qqzreD0nGkJrOoeXUobN5s/vzaLPV/OpV/Ab77U5hae7XcWmjknlzuvVnF8REREJBkE7J9oY%0AUw+oZa3d5bt8EfBYoOuoKvVbVmDVKhg5klemv0gtW8R/OpzNM6ddyeomrQAwFawoh9pqv4iIiEQ2%0AL7VrTW0AABfASURBVNo5mvL/7d17lJ11fe/x9zfJFAYKDChVMoLAkaYuBJNDFkQRC9KaoCIRu1ot%0Ay4K6jncUXYTLwXVE6pJoLBYVpeANjigUCFO0lKAFqqYnaG4kQQkQG5DhYsRcQKZmkvzOH3tP2DPZ%0At2ff9573a61Zs+fZz977yW/vPPnkN9/n+4PbIvcr/WnAd1NKd7bhONqqZ2a277svd7Hg0BDsvTf/%0AcsLpXPnqt/D4AS8Zt1ul+vGsJRI9M36SJKkrtTxEp5R+Bby61a/bSbqpE0VRKcFdd8HChXDvvXDg%0AgfDJT8K559L3+HaeWbwWaphRrna2v+vHT5Ikdb129ometLqt7/RuO3bkVhU87jiYNw8efji3TPej%0Aj8Jll8HBB7ekX2/Xjp8kSeoZ9olug27qRAHAf/83XHcdLFoEGzbAn/4pfOMbcNZZsNdee+xezYxy%0APeUYXTd+kiSp5xii26Br+k5v3QpXXw1f/CI8/TQcf3wuSJ9xBkyp7ZcYQ6uG+fT3H2Dz86O7txWW%0AY0DluuiuGT9JktSzDNEtMHHW9ZQ/O5hbVwx3bieKp56Cf/xH+NrXYNs2mDsXLrwQTj65aI/nak2s%0AZS40MrqTS29/gD/s2FWx1rlZnTy8WFGSJFXLmugmGwuOw1tGSOSC4a0rhnn7cYNNrRuuySOPwPvf%0AD4cfnptxnjcPVq6EO++EU06pK0BD8VrmQltGRquqdW5G3XWx9+nixWsZWjVc83NKkqTe5Ux0k5W6%0ACO6eBzd1ziIiK1fm2tTdcktuKe5zzoHzz4dXvKKhL1NrzXKxx5Wqu651Nrmblh2XJEntZ4huso69%0ACC4luOeeXHi+6y7Yf3+44AL42MfgpS9t6EuNBdtya2P2901l774p42qlx1Rb61xP67uOfZ8kSVJH%0AspyjyUoFwLZdBLdrFyxeDCecAKeeCvffD5dfDo89lvvehAA9ViZRykB/H5efeQyfOv1o+vumjrsv%0AS61zPa3v2vE+Da0a5sSFd3PERf/KiQvvtnREkqQu4kx0k3XMctbbt8N3vgOf/zysXw9HHpnrvHH2%0A2bD33mUfWs8Fd+XqoAfzzzW23xNbRjigv4+9+6aw5fnRlra+a/X75IIxkiR1N0N0FeoJkVmXs264%0AZ5+Fa6+FK66A4WGYORNuvBHe/naYVvntrzfslQqwASy96A17PP+WkVH6+6byxb+ZmXmM6ml91+r3%0AyRpsSZK6myG6gkbMGFa7nHVDbdoEX/4yfOUrsHlzrj3d17+ea1eXoctGvWGvUrBtZJisdza5le+T%0ANdiSJHU3a6Ir6Lolph99FD76UXj5y+Hv/z4Xnpcty11EOG9e5jZ19Ya9BXNnlK1zbmSYbMWS443S%0AcbXykiQpE2eiK+iaGcN163KdNr73vVxQfte7YMECeOUrgdpLUupdHbBSmUSjVx9sy6x/DTqmVl6S%0AJNXEEF1Bxy8xvXQpLFwIP/gB7Ltvbhb64x+HQw/dvUs9JSmNCHvlgu1kDZNtr5WXJEl1MURXUEvI%0Aa/ry0SnBHXfkwvNPfwovehFcdhl8+MNw0EF77F5P3XGzw95kDpPdMmsuSZL2ZIiuIGvIq2bWt+aQ%0AvWMH3HRTLjyvWweHHQZf+hK85z25WegS6i1JaXbYM0xKkqRuY4iuQpaQV2nWt6bSiuefh299C77w%0ABdi4EY4+Gq6/Ht7xjtwy3RW0oySl6bPxkiRJbWR3jgarNOtbKmSfd9PqPVet27wZPvMZOPxw+MhH%0AYPp0uP12WLMmd+FgFQEaKnfIaLTCVQoTL/xHwRX5JElSr3AmusEqzfqWK6EYC5t7/+ZJ5v3wRvin%0Af4LnnoPTToOLL4aTTqrpmFxIRJIkqbEM0Q1W6ULEUiEb4MhnHud9P1vMqZ+9GyLlyjUuuACOPbbs%0Aa1ZTOuFCIpIkSY1jiG6wcrO+Q6uG+f0fduzxmGOffIgPLLuFeQ/9P7ZP6+OGmfOYftklvPHNcyq+%0AXiNWVGy0jm8LKEmSVCdDdBMUm/WdGHZJiddtXM0H77uZEx9dw9a99uWq1/w13z7udJ7Zd4DBtc/z%0AxjdXfq1OLJ2YrL2fJUnS5GGIbpGxsDtl105OW/+ffPC+W3jV0xt46o8P4jOnvIfvvXoev99rn937%0AV1v60ImlE5O597MkSZocDNEt8tvfbuWd6+7mfT+7lSM2P8mGgwa5YN5HGTr6FLZP27PLRrWlD51a%0AOmHvZ0mS1MsM0VWoq+fx1q1w9dUsvebzvPjZ33H/S4/i/fP/Nz886gR2TZnKgfv0MXV0V82lD5ZO%0ASJIktZ4huoKaL9x76im48kr46ldh2zZ2zXk95/yP07h38FUQAeTC7qdOPxqovfTB0glJkqTWi5RS%0Au4+hotmzZ6fly5e35bVPXHh30XKJwYF+ll70hj0fsGFDbmXBb30Ltm+Hv/oruPBCOO44V/GTJEnq%0AcBGxIqU0u9J+zkRXUPWFe6tXw+c+B//8zzBtGpx9NixYAEcdtXsX64QlSZJ6gyG6grIX7qUEP/4x%0ALFwId94J++0H558P550HhxzShqOVJElSKxiiKyh24d4+04Ir/ui/4LWXwLJl8Cd/Ap/9LHzwgzAw%0AUPNrNaLcw5IRSZKk5jNEV1B44d6mZ7Zx9sb/5KPLb2O/jY/AEUfAVVfBu98N/fW1lGvEyoOduHqh%0AJElSL5rS7gPoBvOPOoCle6/hoRvP5ZJbFrHf/vvAd78LDz0EH/pQ3QEayq882MrnkCRJUmXORFfj%0A2mvhE5+AP/9zuOYamDdvd5u6RmnEyoOduHqhJElSLzJEV+O974U5c+A1r2naSzRi5cFOXb1QkiSp%0A11jOUY39929qgIbcBYz9fVPHbcu68mAjnkOSJEmVOROdQTM7XzRi5UFXL5QkSWoNVyys0sTOF5Cb%0A5b38zGOYP2vQ1nKSJEk9wBULG6xS5wtby0mSJE0ehugqlet8US5gVwrRE2ewT/mzg7nnwU08sWWE%0AgX36SAm2jow6uy1JktRBDNFVKtf5oth2oOT2McUWR/nOssd237/5+dFxz+XstiRJUmewO0eVynW+%0AmFqiZ3Sp7WOKzWCX48IpkiRJncEQXaX5swa5/MxjGBzoJ4DBgf7dFxXuLHFxZqntY2pZBMWFUyRJ%0AktrPco4M5s8aLFpKMViipGOwwiIn5UpByj1GkiRJ7eVMdAPUushJsceV48IpkiRJncGZ6AaodZGT%0AYo9rVHcO+1ZLkiQ1j4ut9KBKC8NIkiSpOBdb6UHVzi7X07dakiRJlRmiu0SxntKl+kaXWxhGkiRJ%0A9fPCwi5RadnxQqU6eNjZQ5IkqTEM0V0iy+xyrd1CJEmSVB3LOVpgaNUwn/7+A7uX8R7o7+PStx6d%0AqT653LLjE9XaLaRWdgKRJEmTjSG6yYZWDbPglvsZ3flCF5QtI6MsuPl+YM965lIWzJ3BgpvvZ3TX%0AC8/TNyVKzi6XWhim0bLUakuSJPUKyzmabNGS9eMC9JjRXaloPXNZUeHnNshSqy1JktQrDNFNVq4j%0ARpZuGcXC+OjOGoJ4g9kJRJIkTUaG6CYr1xFjSgRHXPSvnLjwboZWDZd9nk4Nq3YCkSRJk5EhuskW%0AzJ1B39TidRc7UyLxQh1xuSBdS1gdWjXMiQvvrjqo18JOIJIkaTIyRDfRWNeK0Z2JKQU5ulikrlRH%0AnDWsjl3wN7xlpOqgXov5swa5/MxjGBzoJ4DBgX6XF5ckST3P7hwZVdvO7ZNDa7lh2WOMVTHvSrnQ%0Ae/mZx/Dxm1YXfe5ypRlZ29a1cunvVnUCkSRJ6hSG6Ayqbec2tGp4XIAeMxZiS/V8TsCJC+8uGY6z%0AhNVOraGWJEnqBZZzZFBtO7dFS9bvEaDHPLFlpGhpxphGlV14wZ8kSVLzGKIzqHZ2t9xs7/SB/nF1%0AxMU0os9ypRrqVlx0KEmS1KsM0RlUO7tbar+A3SF2/qxBll70hpLrpdRbdlHugr9WXXQoSZLUqwzR%0AGZQqw3h++45xAbTYfgGcNeewPWqam1l2MRbU/2vhm1l60RvGXZzoKoOSJEm1M0RnMDa7O9DfN277%0A5udHx83kFpsFPmvOYdzz4KY9yifa0Wd5sl50aAmLJElqlLaE6IiYFxHrI+KRiLioHcdQq/mzBtl3%0Arz2bmkycyS2cBV4wdwa3rhguWj7Rjj7Lk/GiQ0tYJElSI7W8xV1ETAWuAv4SeBz4eUTcnlL6RauP%0ApVZZZ3Ir9WxudZ/lBXNnjGvVB72/ymAr+2ZLkqTe146Z6OOBR1JKv0opbQduBM5ow3HULOtMbqeV%0AT0zGVQY77T2QJEndrR2LrQwCvy74+XHghDYcR82yzuSWWlylneUTk22VwU58DyRJUvfq2AsLI+J9%0AEbE8IpZv2rSp3YczTtaZ3HZcPKjxfA8kSVIjtWMmehg4tODnl+W3jZNSuga4BmD27NmlFgBsmywz%0AuYWt5Z7YMsL0gf6SS3urOXwPJElSI0VKrc2nETENeAg4lVx4/jnwtymlB0o9Zvbs2Wn58uUtOkJJ%0AkiRNVhGxIqU0u9J+LZ+JTintiIiPAEuAqcA3ywVoSZIkqdO0o5yDlNIdwB3teG1JkiSpXh17YaEk%0ASZLUqQzRkiRJUkaGaEmSJCmjttRE94KhVcO2S5MkSZqkDNE1GFo1PG7FwuEtI1y8eC2AQVqSJGkS%0AsJyjBouWrB+35DfAyOhOFi1Z36YjkiRJUisZomvwxJaRTNslSZLUWwzRNZg+0J9puyRJknqLIboG%0AC+bOoL9v6rht/X1TWTB3RpuOSJIkSa3khYU1GLt40O4ckiRJk1OklNp9DBXNnj07LV++vN2HUZSt%0A7iRJknpHRKxIKc2utJ8z0XWw1Z0kSdLkZE10HWx1J0mSNDk5E12HTm91Z6mJJElSczgTXYdObnU3%0AVmoyvGWExAulJkOrhtt9aJIkSV3PEF2HTm51Z6mJJElS81jOUYdObnXX6aUmkiRJ3cwQXaf5swY7%0AIjRPNH2gn+EigbkTSk0kSZK6neUcPaqTS00kSZK6nTPRPaqTS00kSZK6nSG6h3VqqYkkSVK3s5xD%0AkiRJysgQLUmSJGVkiJYkSZIyMkRLkiRJGRmiJUmSpIwM0ZIkSVJGhmhJkiQpI0O0JEmSlJEhWpIk%0AScrIEC1JkiRl5LLfFQytGmbRkvU8sWWE6QP9LJg7w6W0JUmSJjlDdBlDq4a5ePFaRkZ3AjC8ZYSL%0AF68FMEhLkiRNYpZzlLFoyfrdAXrMyOhOFi1Z36YjkiRJUicwRJfxxJaRTNslSZI0ORiiy5g+0J9p%0AuyRJkiYHQ3QZC+bOoL9v6rht/X1TWTB3RpuOSJIkSZ3ACwvLGLt40O4ckiRJKmSIrmD+rEFDsyRJ%0AksaxnEOSJEnKyBAtSZIkZWSIliRJkjIyREuSJEkZGaIlSZKkjAzRkiRJUkaGaEmSJCkjQ7QkSZKU%0AkSFakiRJysgQLUmSJGVkiJYkSZIyMkRLkiRJGRmiJUmSpIwM0ZIkSVJGhmhJkiQpI0O0JEmSlJEh%0AWpIkScooUkrtPoaKImIT8GgbD+HFwG/b+Pq9zvFtLse3uRzf5nFsm8vxbS7Ht7maOb4vTykdXGmn%0ArgjR7RYRy1NKs9t9HL3K8W0ux7e5HN/mcWyby/FtLse3uTphfC3nkCRJkjIyREuSJEkZGaKrc027%0AD6DHOb7N5fg2l+PbPI5tczm+zeX4Nlfbx9eaaEmSJCkjZ6IlSZKkjAzRBSJiY0SsjYjVEbG8yP0R%0AEV+KiEciYk1E/M92HGc3iogZ+XEd+9oWEedN2OfkiNhasM//adfxdoOI+GZE/CYi1hVsOygifhgR%0AD+e/H1jisfMiYn3+s3xR6466e5QY30UR8WD+7/9tETFQ4rFlzyWTXYmxvTQihgv+/r+pxGP97FZQ%0AYnxvKhjbjRGxusRj/eyWERGHRsQ9EfGLiHggIj6W3+65twHKjG9Hnnst5ygQERuB2Smlon0H8yf1%0Ac4E3AScAV6aUTmjdEfaGiJgKDAMnpJQeLdh+MnB+Sukt7Tq2bhIRrweeA65PKb0qv+3zwO9SSgvz%0AJ+gDU0oXTnjcVOAh4C+Bx4GfA+9MKf2ipX+ADldifN8I3J1S2hERnwOYOL75/TZS5lwy2ZUY20uB%0A51JKXyjzOD+7VSg2vhPu/wdga0rpsiL3bcTPbkkRcQhwSEppZUTsB6wA5gPn4Lm3bmXG92V04LnX%0AmehsziB3UkoppWXAQP4NVzanAhsKA7SySyn9GPjdhM1nANflb19H7uQz0fHAIymlX6WUtgM35h+n%0AAsXGN6V0V0ppR/7HZeRO7MqoxGe3Gn52q1BufCMigL8GvtfSg+oRKaUnU0or87efBX4JDOK5tyFK%0AjW+nnnsN0eMl4EcRsSIi3lfk/kHg1wU/P57fpmzeQekT+Gvzv675t4g4upUH1SNeklJ6Mn/7KeAl%0ARfbxc9wY7wH+rcR9lc4lKu7c/N//b5b4dbif3fqdBDydUnq4xP1+dqsUEYcDs4D78NzbcBPGt1DH%0AnHsN0eO9LqU0EzgN+HD+V2JqoIj4I+CtwM1F7l4JHJZSOhb4MjDUymPrNSlXq2W9VhNExCXADuCG%0AErt4Lsnua8CRwEzgSeAf2ns4PeudlJ+F9rNbhYj4Y+BW4LyU0rbC+zz31q/U+HbaudcQXSClNJz/%0A/hvgNnK/eik0DBxa8PPL8ttUvdOAlSmlpyfekVLallJ6Ln/7DqAvIl7c6gPsck+PlRjlv/+myD5+%0AjusQEecAbwHOSiUuKqniXKIJUkpPp5R2ppR2AddSfMz87NYhIqYBZwI3ldrHz25lEdFHLuDdkFJa%0AnN/subdBSoxvR557DdF5EbFvvoidiNgXeCOwbsJutwN/FzlzyF2Y8STKouQsSES8NF+vR0QcT+7z%0A+UwLj60X3A6cnb99NvAvRfb5OXBURByR/83AO/KPUwURMQ+4AHhrSun5EvtUcy7RBBOuL3kbxcfM%0Az259/gJ4MKX0eLE7/exWlv836hvAL1NKVxTc5bm3AUqNb8eee1NKfuX+Q3MkcH/+6wHgkvz2DwAf%0AyN8O4CpgA7CW3BWgbT/2bvkC9iUXig8o2FY4vh/Jj/395C4ceG27j7mTv8j9Z+RJYJRcbd17gRcB%0A/w48DPwIOCi/73TgjoLHvoncVeIbxj7rflU1vo+Qq2lcnf+6euL4ljqX+FVxbP9v/ry6hlywOGTi%0A2OZ/9rNbw/jmt3977HxbsK+f3Wxj+zpypRprCs4Db/Lc2/Tx7chzry3uJEmSpIws55AkSZIyMkRL%0AkiRJGRmiJUmSpIwM0ZIkSVJGhmhJkiQpI0O0JLVYROyMiNURsS4ibo6IfRr8/OdExFcq7HNyRLy2%0A4OcPRMTfNfI4JKmXGaIlqfVGUkozU0qvAraT65feaicDu0N0SunqlNL1bTgOSepKhmhJaq+fAK8A%0AiIhP5Gen10XEeflth0fEgxFxQ0T8MiJuGZu5joiNEfHi/O3ZEXHvxCePiNMj4r6IWBURP4qIl0TE%0A4eSC+8fzM+InRcSlEXF+/jEzI2JZRKyJiNsi4sD89nsj4nMR8bOIeCgiTmr+8EhSZzJES1KbRMQ0%0A4DRgbUQcB7wbOAGYA/yviJiV33UG8NWU0iuBbcCHMrzMT4E5KaVZwI3ABSmljcDVwBfzM+I/mfCY%0A64ELU0rHkltF8FMF901LKR0PnDdhuyRNKoZoSWq9/ohYDSwHHgO+QW6529tSSr9PKT0HLAbGZnp/%0AnVJamr/9nfy+1XoZsCQi1gILgKPL7RwRBwADKaX/yG+6Dnh9wS6L899XAIdnOA5J6inT2n0AkjQJ%0AjaSUZhZuiIhy+6cSP+/ghcmQvUs89svAFSml2yPiZODSTEe6pz/kv+/Ef0MkTWLOREtSZ/gJMD8i%0A9omIfYG35bcBHBYRr8nf/ltyJRoAG4Hj8rffXuJ5DwCG87fPLtj+LLDfxJ1TSluBzQX1zu8C/mPi%0AfpI02RmiJakDpJRWAt8GfgbcB3w9pbQqf/d64MMR8UvgQOBr+e2fBq6MiOXkZoaLuRS4OSJWAL8t%0A2P594G1jFxZOeMzZwKKIWAPMBC6r588mSb0oUpr4W0JJUqfId9L4Qb4dniSpQzgTLUmSJGXkTLQk%0ASZKUkTPRkiRJUkaGaEmSJCkjQ7QkSZKUkSFakiRJysgQLUmSJGVkiJYkSZIy+v9JU5gv3mOwXwAA%0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661651" y="497512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70562" y="1939632"/>
                <a:ext cx="6096000" cy="496661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sz="1800" dirty="0"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代</a:t>
                </a:r>
                <a:r>
                  <a:rPr lang="en-US" altLang="zh-CN" sz="1800" dirty="0" err="1"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入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1800" i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en-US" altLang="zh-CN" sz="18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e>
                        <m:li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18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𝑏</m:t>
                          </m:r>
                        </m:lim>
                      </m:limLow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 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||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|</m:t>
                      </m:r>
                      <m:sSup>
                        <m:sSup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(−</m:t>
                      </m:r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8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)+1)</m:t>
                      </m:r>
                    </m:oMath>
                  </m:oMathPara>
                </a14:m>
                <a:endParaRPr lang="zh-CN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      =</m:t>
                      </m:r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800" i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8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      =</m:t>
                      </m:r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800" i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8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      =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8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      =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18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2" y="1939632"/>
                <a:ext cx="6096000" cy="4966616"/>
              </a:xfrm>
              <a:prstGeom prst="rect">
                <a:avLst/>
              </a:prstGeom>
              <a:blipFill>
                <a:blip r:embed="rId2"/>
                <a:stretch>
                  <a:fillRect l="-800" t="-6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51C71016-BD78-4E1C-AB34-3558DE765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146" y="208280"/>
            <a:ext cx="501662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3600" b="1">
                <a:latin typeface="+mj-lt"/>
                <a:ea typeface="+mj-ea"/>
                <a:cs typeface="+mj-cs"/>
              </a:defRPr>
            </a:lvl1pPr>
            <a:lvl2pPr algn="ctr">
              <a:defRPr sz="3600" b="1">
                <a:solidFill>
                  <a:schemeClr val="tx2"/>
                </a:solidFill>
              </a:defRPr>
            </a:lvl2pPr>
            <a:lvl3pPr algn="ctr">
              <a:defRPr sz="3600" b="1">
                <a:solidFill>
                  <a:schemeClr val="tx2"/>
                </a:solidFill>
              </a:defRPr>
            </a:lvl3pPr>
            <a:lvl4pPr algn="ctr">
              <a:defRPr sz="3600" b="1">
                <a:solidFill>
                  <a:schemeClr val="tx2"/>
                </a:solidFill>
              </a:defRPr>
            </a:lvl4pPr>
            <a:lvl5pPr algn="ctr">
              <a:defRPr sz="3600" b="1">
                <a:solidFill>
                  <a:schemeClr val="tx2"/>
                </a:solidFill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/>
              <a:t>支持向量机求解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0F5CDF7-323F-4694-BA11-AEE1302A6A95}"/>
                  </a:ext>
                </a:extLst>
              </p:cNvPr>
              <p:cNvSpPr txBox="1"/>
              <p:nvPr/>
            </p:nvSpPr>
            <p:spPr>
              <a:xfrm>
                <a:off x="703814" y="1328074"/>
                <a:ext cx="4839284" cy="3703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800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altLang="zh-CN" sz="1800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 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0F5CDF7-323F-4694-BA11-AEE1302A6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14" y="1328074"/>
                <a:ext cx="4839284" cy="370358"/>
              </a:xfrm>
              <a:prstGeom prst="rect">
                <a:avLst/>
              </a:prstGeom>
              <a:blipFill>
                <a:blip r:embed="rId3"/>
                <a:stretch>
                  <a:fillRect t="-118033" b="-1852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2453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05C64D2-CDBB-42D7-B4EC-1FC3AA42CBAA}"/>
              </a:ext>
            </a:extLst>
          </p:cNvPr>
          <p:cNvSpPr/>
          <p:nvPr/>
        </p:nvSpPr>
        <p:spPr>
          <a:xfrm>
            <a:off x="670562" y="1287472"/>
            <a:ext cx="4215616" cy="428786"/>
          </a:xfrm>
          <a:prstGeom prst="rect">
            <a:avLst/>
          </a:prstGeom>
          <a:ln>
            <a:solidFill>
              <a:srgbClr val="FF99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AutoShape 5" descr="data:image/png;base64,iVBORw0KGgoAAAANSUhEUgAAAtEAAAHwCAYAAABg0TMJAAAABHNCSVQICAgIfAhkiAAAAAlwSFlz%0AAAALEgAACxIB0t1+/AAAIABJREFUeJzs3Xd4lFX6xvHvIUYIRSKIaEIVMYCgBKKC2FtcXTGi4qJi%0AFysKSiju7s+y7goEKdIULIAiiyJmdUURARXsYNBoIIAKSII0iYBECcn5/XEmGNh0MvNOuT/XxeXk%0AzZRnJkjuOfO8zzHWWkREREREpPJqeV2AiIiIiEioUYgWEREREakihWgRERERkSpSiBYRERERqSKF%0AaBERERGRKlKIFhERERGpIoVoEQlKxphWxhhrjDnM9/XbxpgbA/C4jxhjXvL34/geK8EYs8IYs8sY%0Ac58x5mljzN8D8djBxhizzhhzQTVve6YxJruma6rE40bsz0tEFKJF5BD4gk++MWa3MWazMWaaMaa+%0APx7LWvsna+30StZUrTBWifs+xxhT5Hu+u4wx2caYmw/hLgcDi621Day1T1lr77TW/qPEY22smcor%0Az/cmosD3HPOMMR8bY7oHuo7y+N5cHV/8tbV2ibU2wU+PdasxZpXv573ZGDPPGNPA97j7f14iEnkU%0AokXkUF1mra0PdAGSgL8dfAXjhMu/N7m+53sEMASYaozpcPCVilfQK9AS+LaG66sJs33PsQmwFJhr%0AjDEe1xRwxpizgX8Bfay1DYD2wGxvqxKRYBEuv9RExGPW2hzgbaAjgDHmfWPMP40xHwF7gOOMMQ2N%0AMc8ZYzYZY3KMMY8bY6J8148yxowyxmwzxnwPXFry/n33d1uJr283xqz0rRBmGWO6GGNeBFoAb/pW%0AUgf7rtvNt6KaZ4z5yhhzTon7aW2M+cB3PwuAoyr5fK21Nh3YAXQo0X5yqzFmA7DId/89jTHf+h77%0AfWNMe9/xRcC5wARfrSf4VvIfN8bU872Wcb7v7TbGxB30epxmjPmp+PXzHbvCGPO17/Kpxphlxpid%0AvhXU0ZV5Xgc9xwJgOnAM0NgYU8sY8zdjzHpjzBZjzAxjTEPf4xU//37GmFzfz3hQidqmGWMeL/F1%0AmSvtvto/8b1mm4wxE4wxh/u+96Hval/5XpdrDr4vY0x732ud53vtex5Ux0RjzFu+n/lnxpg2ZbwE%0ApwCfWGszfK/Hz9ba6dbaXQc/J2NM8d+54j9FxpibfN9rZ4xZYIz52bhPL3pX6QchIkFJIVpEaoQx%0ApjlwCZBR4nBfoB/QAFgPTAP2AccDicBFQHEwvh34s+94EnBVOY91NfAIcANuRbgnsN1a2xfYgG91%0A3Fo70hgTD7wFPA40AgYBrxljmvju7mVgOS48/wOoVN+1L1BeAcQCmSW+dTZuxTLZGHMCMAsYgFvV%0AnYcL+Idba88DlgD3+mpdXXwH1tpfgT/hW/X2/ckt+fjW2s+AX4HzShy+1vd8AMYB46y1RwBtgFcq%0A87wOeo61gZuAH62123yXb8KF/+OA+sCEg252LtAW97MdYqrXWlMIDMT9TLoD5wN3A1hrz/Jd52Tf%0A63LAyrAxJhp4E3gXOBroD8w0xpRs9/gL8ChwJLAW+GcZdXyG+zk+aozp4Xs9SmWtLf47Vx+4GvgJ%0AWOh7Q7QA93M52vfYk0wpn16ISGhRiBaRQ5VujMnDfez/Ae7j72LTrLXfWmv34QLsJcAAa+2v1tot%0AwBhcqADoDYy11v5orf0ZeKKcx7wNGGmt/cK3IrzWWru+jOteD8yz1s6z1hZZaxcAy4BLjDEtcKuN%0Af7fW/m6t/RAXwMoT53u+24CHgb7W2pIntT3ie375wDXAW9baBb5V3VFADHB6BY9RWbOAPgDG9ele%0A4jsGUAAcb4w5ylq721r7aRXut7fvOf4IdAWu8B2/Dhhtrf3eWrsbGAb8xRzYuvKo7/lnAi8U11cV%0A1trl1tpPrbX7rLXrgGdwb04qoxsu3A+31u611i4C/ntQHa9baz/3/b2cCXQuo44lQC9cq9JbwHZj%0AzOiSq/8H871xmg70ttb+iHtjuM5a+4Lv+WQAr+GCtoiEsMr07ImIlCfFWvteGd/7scTllkA0sMn8%0A0V5bq8R14g66flmhGKA58F0l62sJXG2MuazEsWhgse8xd/hWfks+bvNy7i/XWtusnO+XfA5xlHge%0A1toiY8yPQHwla6/Iy8DHxpi7cGHvyxJvJm4FHgNWGWN+wIXb/1byfl+x1l5fyvEDno/v8mFA0xLH%0ADv4ZdqrkY+7nC6KjcZ9I1PU9xvJK3jwOt3JedFAdJV/zn0pc3oML3aWy1r4NvG1cT/+5wKtANi7Y%0AH1x3Q+A/wN+stUt9h1sCp/nelBQ7DHixks9HRIKUQrSI+JMtcflH4HfgKN8K4ME2cWB4bVHO/f6I%0Aa1Go6DGLr/uitfb2g69ojGkJHGmMqVciSLco5T6qouRtcykRIo1799AcyKni/ZR+BWuzjDHrca0f%0AJVs5sNauAfr4wl8vYI4xpvFBbxiqKhcXCou1wLXnbAaK31g0B1aV+H5xG8qvuEBc7JhyHmcyri2o%0Aj7V2lzFmAOW095RSY3NjTK0SQboFsLqc21TId18Lfb3sHQ/+vu91fhk3bWVKiW/9CHxgrb3wUB5f%0ARIKP2jlEJCCstZtwfapPGmOO8PUUtzFuAgK4nt37jDHNjDFHAkPLubtngUHGmK7GOd4XiMEFuuNK%0AXPcl4DJjTLJxJy/W8Z2I1sy3arsMeNQYc7gx5gzgMmrOK8Clxpjzfb26D+LeSHxcidtuxp3M17CC%0A670M3A+chVslBcAYc70xpokv/BWvghaVcvuqmAUMNO5kzPq41p3ZB70p+rsxpq4x5kTgZv6YZrEC%0A10LTyBhzDK5PvCwNgJ3AbmNMO+Cug75/8M+4pM9wq8uDjTHRxp1Eehnw70o/Sx9jzOXGmL8YY470%0A/T07FddWUlprzD+BerifRUn/BU4wxvT11RNtjDnF+E4wFZHQpRAtIoF0A3A4kIWbajEHONb3vanA%0AfOAr4Etgbll3Yq19FRdaXgZ2Aem4nmtwvdR/801mGOTrS70ceAjYilsZTOWPf/+uBU4Dfsb1OM+o%0AiSfqqzMb15M9HtdDfRnupMe9lbjtKlxo/d73XOLKuOosXLBb5Dv5r9jFwLfGmN24kwz/4uvTxjc9%0A4sxqPKXncW0IHwI/AL/hTtwr6QPcyXoLgVHW2nd9x1/E/WzX4d5MlTcqbhDu57IL9/fi4Os+Akz3%0AvS4HTLrwvbaX4VbntwGTgBt8r2dV7cCd8LoGF+pfAtKstTNLuW4fXD/2jhITOq7zTfK4CNf7n4tr%0AJRkBlHmSooiEBmPtoXxqKSIi4kbc4YJ1dBntOiIiYUUr0SIiIiIiVaQQLSIiIiJSRWrnEBERERGp%0AIq1Ei4iIiIhUkUK0iIiIiEgVhcRmK0cddZRt1aqV12WIiIiISJhbvnz5Nmttk4quFxIhulWrVixb%0AtszrMkREREQkzPl2gq2Q2jlERERERKpIIVpEREREpIoUokVEREREqigkeqJLU1BQwMaNG/ntt9+8%0ALkWAOnXq0KxZM6Kjo70uRURERMTv/BaijTHNgRlAU8ACU6y144wxjwC3A1t9V33IWjuvqve/ceNG%0AGjRoQKtWrTDG1FTZUg3WWrZv387GjRtp3bq11+WIiIiI+J0/V6L3AQ9aa780xjQAlhtjFvi+N8Za%0AO+pQ7vy3335TgA4SxhgaN27M1q1bK76yiIiISBjwW4i21m4CNvku7zLGrATia/IxFKCDh34WIiIi%0AEkkCcmKhMaYVkAh85jvU3xjztTHmeWPMkWXcpp8xZpkxZlmwrnBGRUXRuXNnOnbsyNVXX82ePXuq%0AfV/vv/8+f/7znwF44403GD58eJnXzcvLY9KkSfu/zs3N5aqrrqr2Y4uIiIhI1fg9RBtj6gOvAQOs%0AtTuBycBxQGfcSvWTpd3OWjvFWptkrU1q0qTCTWM8ERMTw4oVK/jmm284/PDDefrppw/4vrWWoqKi%0AKt9vz549GTp0aJnfPzhEx8XFMWfOnCo/joiIiIhUj19DtDEmGhegZ1pr5wJYazdbawuttUXAVOBU%0Af9YQKGeeeSZr165l3bp1JCQkcMMNN9CxY0d+/PFH3n33Xbp3706XLl24+uqr2b17NwDvvPMO7dq1%0Ao0uXLsydO3f/fU2bNo17770XgM2bN3PFFVdw8sknc/LJJ/Pxxx8zdOhQvvvuOzp37kxqairr1q2j%0AY8eOgOsVv/nmm+nUqROJiYksXrx4/3326tWLiy++mLZt2zJ48OAAv0IiIiIi4cOf0zkM8Byw0lo7%0AusTxY3390gBXAN8c8oMNGAArVhzy3Rygc2cYO7ZSV923bx9vv/02F198MQBr1qxh+vTpdOvWjW3b%0AtvH444/z3nvvUa9ePUaMGMHo0aMZPHgwt99+O4sWLeL444/nmmuuKfW+77vvPs4++2xef/11CgsL%0A2b17N8OHD+ebb75hhe85r1u3bv/1J06ciDGGzMxMVq1axUUXXcTq1asBWLFiBRkZGdSuXZuEhAT6%0A9+9P8+bND+FFEhEREYlM/pzO0QPoC2QaY4oT7kNAH2NMZ9zYu3XAHX6swa/y8/Pp3Lkz4Faib731%0AVnJzc2nZsiXdunUD4NNPPyUrK4sePXoAsHfvXrp3786qVato3bo1bdu2BeD6669nypQp//MYixYt%0AYsaMGYDrwW7YsCE7duwos6alS5fSv39/ANq1a0fLli33h+jzzz+fhg0bAtChQwfWr1+vEC0iIiJS%0ADf6czrEUKG1kQ5VnQleokivGNa24J/pg9erV23/ZWsuFF17IrFmzDrhOabfzt9q1a++/HBUVxb59%0A+wJeg4iIiEg40LbfftatWzc++ugj1q5dC8Cvv/7K6tWradeuHevWreO7774D+J+QXez8889n8uTJ%0AABQWFvLLL7/QoEEDdu3aVer1zzzzTGbOnAnA6tWr2bBhAwkJCTX9tEREREQimkK0nzVp0oRp06bR%0Ap08fTjrppP2tHHXq1GHKlClceumldOnShaOPPrrU248bN47FixfTqVMnunbtSlZWFo0bN6ZHjx50%0A7NiR1NTUA65/9913U1RURKdOnbjmmmuYNm3aASvQIiIiInLojLXW6xoqlJSUZJctW3bAsZUrV9K+%0AfXuPKpLS6GciIiIioc4Ys9xam1TR9bQSLSIiIiJSRf6cziEiIiIiUq70jBzS5meTm5dPXGwMqckJ%0ApCTGe11WhRSiRURERMQT6Rk5DJubSX5BIQA5efkMm5sJEPRBWu0cIiIiIuKJtPnZ+wN0sfyCQtLm%0AZ3tUUeUpRIuIiIiIJ3Lz8qt0PJgoRIuIiIiIJ+JiY6p0PJgoRFfT9u3b6dy5M507d+aYY44hPj5+%0A/9d79+49pPt+/fXXSUtLq5E6r7/+elq3bs3JJ5/MCSecwI033khubm6Ftxs9ejS//fZbjdQgIiIi%0AUprU5ARioqMOOBYTHUVqcvBvFKcTC6upcePG+7fufuSRR6hfvz6DBg064DrWWqy11KpVtfcqV1xx%0ARY3VCTBmzBhSUlIoKipi9OjRnHfeeWRmZhIdHV3mbUaPHs0tt9xCnTp1arQWERERkWLFJw+G4nSO%0AiFmJTs/IocfwRbQe+hY9hi8iPSPHL4+zdu1aOnTowHXXXceJJ57Ipk2b6NevH0lJSZx44ok89thj%0A+6/brFkzHnnkERITEznppJNYvXo1AM8++ywDBgwA3Ery/fffz+mnn85xxx3H66+/DrgtwO+8807a%0AtWvHRRddxMUXX0x6enq5tdWqVYtBgwbRqFEj3n33XYBSaxszZgxbtmzhzDPP5IILLijzeiIiIiKH%0AKiUxno+GnscPwy/lo6HnhUSAhggJ0cXjU3Ly8rH8MT7FX0F61apVDBw4kKysLOLj4xk+fDjLli3j%0Aq6++YsGCBWRlZe2/btOmTcnIyOC2225j9OjRpd7fli1b+Oijj0hPT2fYsGEAvPrqq+Tk5JCVlcW0%0AadP45JNPKl1fly5dWLVqFUCptQ0cOJCjjz6aJUuW8N5775V5PREREZFIFREhOtDjU9q0aUNS0h+7%0ARc6aNYsuXbrQpUsXVq5ceUAA7dWrFwBdu3Zl3bp1pd5fSkoKxhhOOukkcnJc8F+6dCm9e/emVq1a%0AxMXFcfbZZ1e6vpJbvZdXW0mVvZ6IiIhIJIiInuhAj0+pV6/e/str1qxh3LhxfP7558TGxnL99dcf%0AcMJe7dq1AYiKimLfvn2l3l/xdeDAAFxdK1as4NJLL62wtso+BxEREZFIExEr0V6OT9m5cycNGjTg%0AiCOOYNOmTcyfP79G7rdHjx7MmTMHay2bNm3iww8/rPA21lrGjBnD9u3bufDCC8utrUGDBuzatcuv%0Az0FEREQkVEXESnRqcsIBW0pC4MandOnShQ4dOtCuXTtatmxJjx49auR+e/fuzaJFi2jfvj0tW7Yk%0AMTGRhg0blnrdgQMH8vDDD5Ofn0/37t1ZtGgR0dHR5dbWr18/LrjgApo3b86CBQv88hxEREREQpWp%0AifYAf0tKSrLLli074NjKlStp3759pe8jPSMnJMenlGf37t3Ur1+frVu3ctppp/HZZ5/RpEkTz+qp%0A6s9EREREJNgYY5Zba5Mqul5ErESDG58S6qH5YH/605/YuXMnBQUFPProo54GaBEREZFIEjEhOhwt%0AWbLE6xJEREREIlJEnFgoIiIiIlKTQjpEh0I/d6TQz0JEREQiSciG6Dp16rB9+3aFtyBgrWX79u3U%0AqVPH61JEREREAiJke6KbNWvGxo0b2bp1q9elCO5NTbNmzbwuQ0RERCQgQjZER0dH07p1a6/LEBER%0AEZEIFLLtHCIiIiIiXgnZlWgRERGJbOG4kZqEDoVoERERCTnpGTkMm5tJfkEhADl5+QybmwmgIC0B%0AoXYOERERCTlp87P3B+hi+QWFpM3P9qgiiTQK0SIiIhJycvPyq3RcpKYpRIuIiEjIiYuNqdJxkZqm%0AEC0iIiIhJzU5gZjoqAOOxURHkZqc4FFFEml0YqGIiIiEnOKTBzWdQ7yiEC0iIiIhKSUxXqFZPKN2%0ADhERERGRKlKIFhERERGpIoVoEREREZEqUogWEREREakihWgRERERkSrSdA4RERGRAErPyNFovjCg%0AlWgRERGRAEnPyGHY3Exy8vKxQE5ePsPmZpKekeN1ad4pKoL0dPjXv7yupEoUokVEREQCJG1+NvkF%0AhQccyy8oJG1+tkcVeWjvXnjhBTjxRLjiCpg+HX7/3euqKk0hWkRERCRAcvPyq3Q8LO3eDWPGQJs2%0AcMstULs2zJoF337rLocI9USLiIiIBEhcbAw5pQTmuNgYD6oJsG3bYPx4mDABfv4ZzjkHpk6F5GQw%0Axuvqqkwr0SIiIiIBkpqcQEx01AHHYqKjSE1O8KiiAFi/Hu6/H1q0gMcegzPPhE8+gcWL4eKLQzJA%0Ag1aiRURERAKmeApHREzn+OYbGDnStWoAXH89DB4M7dt7W1cNUYgWERERCaCUxPjwDM3FPv4Yhg+H%0AN9+EunXh3nvhgQegeXOvK6tRCtEiIiIicmishXnzYMQIWLIEGjWChx+G/v2hcWOvq/MLhWgRERER%0AqZ59+2D2bBeeMzPdavPYsXDbbVCvntfV+ZVCtIiIiIhUzZ49bsbzqFGwbh106ODmPPfpA9HRXlcX%0AEArRIiIiIh4JuS3Ad+yASZNg3DjYuhW6d3crz5ddBrUia+ibQrSIiIiIB4q3AC/ewbB4C3Ag+IJ0%0Abq7bIOXpp91mKZdcAkOHwhlnhOyIukMVWW8ZRERERIJESGwBnp3t+ptbtYLRo6FnT1ixAt56y817%0AjtAADVqJFhEREfFEUG8BvmyZG1M3d67bivv22+HBB+G447yuLGgoRIuIiIh4IOi2ALcWFi504Xnh%0AQmjYEIYNg/vug6ZNvakpiKmdQ0RERMQDQbMFeGEhzJkDp5wCF14IWVlup8ENG+Cf/1SALoNWokVE%0AREQ84PkW4L//Di++6ALzmjXQti1MnQp9+7oWDimXQrSIiIiIRzzZAnznTpgyxZ0ouGkTdO0Kr74K%0AV1wBUVEV314AhWgRERGRyLB5Mzz1FEycCL/8Ahdc4FaizzsvoqdsVJdCtIiIiEg4++EHt7Pg88+7%0AFo4rr4QhQyApyevKQppCtIiIiEg4+vprGDECZs92bRo33ACpqXDCCV5XFhYUokVERETChbWwZIkb%0AU/f221C/PjzwAAwYAHFxXlcXVhSiRUREREJdURG8+aYLz59+Ck2auPF0d90FRx7pdXVhSSFaRERE%0AJFTt3QuzZrkxdVlZbnvuiRPh5pshxqNNWyKE3zZbMcY0N8YsNsZkGWO+Ncbc7zveyBizwBizxvdf%0AvT0SERERqYpff4Vx4+D44+Gmm1zP88yZbt7z3XcrQAeAP3cs3Ac8aK3tAHQD7jHGdACGAguttW2B%0Ahb6vRURERKQi27fDo49Cixauz7l1a5g3D776Cq69Fg5Tk0Gg+O2VttZuAjb5Lu8yxqwE4oHLgXN8%0AV5sOvA8M8VcdIiIiIiHvxx/d5ihTpsCePdCzpxtTd/rpXlcWsQLydsUY0wpIBD4DmvoCNsBPQKkb%0Ashtj+gH9AFq0aOH/IkVERESCTVaW63eeOdN93aePC88nnuhtXeLXdg4AjDH1gdeAAdbanSW/Z621%0AgC3tdtbaKdbaJGttUpMmTfxdpoiIiEjw+PRTSElxYfnVV12f89q1MGOGAnSQ8OtKtDEmGhegZ1pr%0A5/oObzbGHGut3WSMORbY4s8aREREREKCtfDOO26DlA8+cKPpHn4Y7r0XjjrK6+rkIP6czmGA54CV%0A1trRJb71BnCj7/KNwH/8VYOIiIhI0Nu3z42pS0yESy6B775z/c8bNsAjjyhAByl/rkT3APoCmcaY%0AFb5jDwHDgVeMMbcC64HefqxBREREJDjl58O0aZCWBj/8AO3awQsvuCkbhx/udXVSAX9O51gKmDK+%0Afb6/HldEREQkqOXlweTJMHYsbNkCp53mVp579oRafj9dTWqIhgmKiIiIBMKmTS44T54Mu3ZBcjIM%0AHQpnnw2mrHVHCVYK0SIiIiL+tHata9mYNs31P/fuDYMHux5oCVkK0SIiIiL+sHy5m7Tx2msQHQ23%0A3AKDBkGbNl5XJjVAIVpERESkplgLixfD8OGwYAEccYRbdb7/fjjmGK+rkxqkEC0iIiJyqIqKID3d%0AhecvvnCBecQIuOMOaNjQ6+rEDxSiRURERKrr99/dltwjR0J2tmvVeOYZuOEGqFPH6+rEjxSiRURE%0ARKpq1y6YMsWNpsvNhS5d4JVXoFcviIryujoJAIVoERERkcrauhWeegomTHDzns87z03duOACjamL%0AMArRIiIiIhVZtw5GjYLnn4fffnMrzkOGwCmneF2ZeEQhWkRERKQsmZnuBMF//9vtJnjDDZCaCgkJ%0AXlcmHlOIFhERETnY0qVu0sZbb0G9ejBgAAwcCPHxXlcmQUIhWkRERATcmLp581x4/ugjaNwYHnsM%0A7rkHGjXyujoJMgrRIiIiEtkKCly7xogR8O230LIljB/vdhisW9fr6iRIKUSLiIhIZNqzB557zp0w%0AuGEDdOwIL74I11zjtukWKYdCtIiIiESWn392I+rGj4dt26BHD5g4ES69VGPqpNIUokVERCQybNzo%0ANkeZMgV+/RX+/Gc3pu6MM7yuTEKQQrSIiIiEt1Wr3LbcL73kTh689loYPNi1b4hUk0K0iIiIhKfP%0AP3eTNtLToU4duPNOeOABaNXK68okDChEi4iISPiwFhYscOF58WI48kj429+gf39o0sTr6iSMKESL%0AiIhI6Nu3D157zY2py8hwm6KMHg233w7163tdnYQhhWgREREJXb/9BtOnQ1oafPed2477+efhuuvg%0A8MO9rk7CmEK0iIiIhJ5ffoHJk2HsWNi8GU45xQXpyy+HWrW8ri6kpGfkkDY/m9y8fOJiY0hNTiAl%0AUdubV0QhWkRERELHTz+54Dx5MuzcCRddBEOHwjnnaMZzNaRn5DBsbib5BYUA5OTlM2xuJoCCdAX0%0AVk1ERESC39q1brpGq1ZuxTk5GZYvh/nz4dxzFaCrKW1+9v4AXSy/oJC0+dkeVRQ6tBItIiIiwevL%0AL93JgnPmwGGHwU03waBB0Lat15WFhdy8/Codlz8oRIuIiEhwsRbef9+NqXv3XWjQAFJT4f774dhj%0Ava4urMTFxpBTSmCOi43xoJrQonaOEJWekUOP4YtoPfQtegxfRHpGjtcliYiIHJqiInj9dejWDc47%0AD1asgH/9CzZscIFaAbrGpSYnEBMddcCxmOgoUpMTPKoodGglOgTpJAAREQkre/fCzJmubSM7G447%0Azp04eOONEKMVUX8qzg2azlF1CtEhqLyTAPSXXkREQsauXTB1qtsUJScHOneGWbPgqqtc/7MEREpi%0AvPJDNehvaAjSSQAiIhLStm6F8eNhwgTYscONp3vuOTeuTlM2JEQoRIcgnQQgIiIhaf16ePJJePZZ%0AyM+HlBQYMsT1QIuEGJ1YGIJ0EoCIiISUb76BG26ANm1cr/M110BW1h8nEYqEIK1EhyCdBCAiIiHh%0Ao4/cyYJvvgn16sF998HAgdC8udeViRwyhegQpZMAREQkKFkL8+a58LxkCTRuDI8+Cvfc4y6LhAmF%0AaBERETl0+/bB7NkuPGdmutXmsWPhttvcKrQfpGfk6FNZ8YxCtIiIiFTfnj3wwgswahSsWwcdOsCM%0AGfCXv0B0tN8eVnsmiNd0YqGIiIhU3Y4d8Pjj0KoV3Huv203wjTfcKnTfvn4N0FD+ngkigaCVaBER%0AEam8nBwYMwaeeQZ274ZLLnFj6s48M6AznrVngnhNIVpEREQqlp0NaWmuVaOoyLVrDB4MJ53kSTna%0AM0G8pnYOERERKdsXX7htuNu3h5kzoV8/WLMGXnrJswAN2jNBvKeVaBERETmQtbBwITzxBCxaBLGx%0A8NBDbs7z0Ud7XR2gPRPEewrRIiIi4hQWwty5MHw4fPklxMW5qRv9+kGDBl5X9z+0Z4J4SSFaREQk%0A0v3+u+t1HjkS1q6FE06AZ5+F66+H2rW9rk4kKClEi4iIRKqdO+Hpp920jZ9+gqQkmDMHUlIgKqri%0A24tEMIWHObCMAAAgAElEQVRoERGRSLN5M4wbB5MmwS+/wIUXuhMFzzsvoGPqREKZQrSIiEik+P57%0A1+P8/POwdy9ceSUMHQpdu3pdmUjIUYgWEREJdytWwIgR8MorcNhhcOONMGiQ630WkWpRiBYREQlH%0A1sKHH7pJG++8A/Xrw4MPwoABbuqGiBwShWgREZFwUlQEb77pwvOnn0KTJvDPf8Jdd8GRR3pdnUjY%0AUIgWEREJB3v3wssvuzF1K1dC69buxMGbboIYbYUtUtMUokVERELZ7t1upvOTT8LGjW4r7pdfhquv%0Adv3PIuIX+r9LREQkFG3bBhMmwPjx8PPPcOaZMGUKXHyxxtSJBIBCtIiISCjZsAFGj4apU2HPHujZ%0AE4YMgdNP97oykYiiEC0iIhIKsrJcv/PMme7r666DwYOhQwdv6xKJUArRIiIiweyTT9ykjTfegLp1%0A4e673ai6Fi28rkwkoilEi4iIBBtr3Wzn4cPdrOdGjeDhh6F/f2jc2OvqRASFaBERkeCxbx+8+qoL%0Az19/Dc2awdixcNttUK+e19WJSAkK0SIiUqb0jBzS5meTm5dPXGwMqckJpCTGe11W+MnPh2nTIC0N%0AfvgB2rd3X/fpA4cf7nV1IlIKhWgRESlVekYOw+Zmkl9QCEBOXj7D5mYCKEjXlLw8tyHKuHGwZQt0%0A6wZjxsBll0GtWl5XJyLl0P+hIiJSqrT52fsDdLH8gkLS5md7VFEYyc11kzVatIC//hW6doX334eP%0AP4bLL1eAFgkBWokWEZFS5eblV+m4VMKaNa5lY/p01/98zTUuTHfu7HVlIlJFCtEiIlKquNgYckoJ%0AzHGxMR5UE+KWL4cRI2DOHNfjfOutMGgQHHec15WJSDXp8yIRESlVanICMdFRBxyLiY4iNTnBo4pC%0AjLWwcCFceCEkJcH8+W5nwfXrXR+0ArRISPNbiDbGPG+M2WKM+abEsUeMMTnGmBW+P5f46/FFROTQ%0ApCTG80SvTsTHxmCA+NgYnujVSScVVqSwEF57DU49FS64AL75xq1Cb9gATzwBTZt6XaGI1AB/tnNM%0AAyYAMw46PsZaO8qPjysiIjUkJTFeobmyfv8dXnzRbc29Zg0cfzxMmQJ9+0KdOl5XJyI1zG8h2lr7%0AoTGmlb/uX0REJCjs3AnPPONG023aBF26wOzZcOWVEBVV8e1FJCR5cWJhf2PMDcAy4EFr7Q4PahAR%0AETk0W7a4+c4TJ8Ivv8D558OMGe6/xnhdnYj4WaBPLJwMHAd0BjYBT5Z1RWNMP2PMMmPMsq1btwaq%0APhERkfL98APccw+0bOl6nC+4AD7/HN57z11WgBaJCAEN0dbazdbaQmttETAVOLWc606x1iZZa5Oa%0ANGkSuCJFRERK8/XXcN110LYtTJ3qLq9c6cbWnXKK19WJSIAFtJ3DGHOstXaT78srgG/Ku76ISCRK%0Az8ghbX42uXn5xMXGkJqcoJP7vGItLF0Kw4fDvHlQvz4MGAADB0K8fiYikcxvIdoYMws4BzjKGLMR%0AeBg4xxjTGbDAOuAOfz2+iEgoSs/IYdjczP3bbefk5TNsbiaAgnQgFRXBW2+58Pzxx3DUUfD443D3%0A3XDkkV5XJyJBwJ/TOfqUcvg5fz2eiEg4SJufvT9AF8svKCRtfrZCdCAUFMCsWW6uc1aW63ueMAFu%0Avhnq1vW6OhEJItr2W0QkiOSWss12ecelhvz6Kzz3HDz5pNsUpWNHeOkl6N0boqO9rk5EgpBCtIhI%0AEImLjSGnlMAcFxvjQTURYPt2N6Luqafc5R493Jbcl1yiKRsiUq5Aj7gTEZFypCYnEBN94AYdMdFR%0ApCYneFRRmPrxR3jgAdeu8fDD0L07LFniTiK89FIFaBGpkFaiRUSCSHHfs6Zz+MnKlW5b7pdecpM3%0Arr0WBg927RsiIlWgEC0iEmRSEuMVmmvaZ5+5SRvp6RATA3fd5VaiW7XyujIRCVEK0SIiEp6shfnz%0AXXj+4AM3mu7vf4f+/UGbeInIIVKIFhGR8LJvn9tFcPhw+OortynK6NFw++1usxQRkRqgEC0iIuEh%0APx+mT4e0NPj+e2jXDl54wfU9H36419WJSJhRiBYRkdCWlweTJ8PYsbBlC5x6KowaBZdfDrU0hEpE%0A/EMhWkREQtOmTS44T54Mu3ZBcjIMHQpnn60RdSLidwrRIiISWtaudS0b06a5/uerr4YhQyAx0evK%0ARCSCKESLiEho+PJLGDHCnTQYHQ233AKDBkGbNl5XJiIRSCFaxCc9I0cbXIgEG2vh/ffdpI1334Uj%0AjnCbo9x/PxxzjNfViUgEU4gWwQXoYXMzyS8oBCAnL59hczMBFKRFvFBU5DZGGTECPv8cmjZ1QfrO%0AO6FhQ6+rExFRiBYBt8VycYAull9QSNr8bIVoOWT6lKMK9u51W3KPHAnZ2XDccfD003DjjVCnjtfV%0AiYjspxAtAuTm5VfpuEhl6VOOStq1C6ZOdZui5ORA587w73/DlVfCYfpVJSLBRwM0RYC42JgqHRep%0ArPI+5RBg61a3FXeLFvDgg9C2LbzzjjuJ8JprFKBFJGgpRIsAqckJxERHHXAsJjqK1OQEjyqScKFP%0AOcqwbh307w8tW8I//wnnnguffgqLF7t5z5rzLCJBTm/xRfjjY3X1rUpNi4uNIaeUwByxn3JkZrp+%0A51mz3G6C118PqanQvr3XlYmIVIlCtIhPSmK8QrPUuNTkhAN6oiFCP+VYutRN13jrLahXz42oGzgQ%0AmjXzujIRkWpRiBYR8aOI/pSjqAjmzXPh+aOPoHFjeOwxuOceaNTI6+pERA6JQrSIiJ9F3KccBQUw%0Ae7ab8fzNN+6kwXHj4NZb3Sq0iEgYUIgWEZGasWcPPP88jBoF69fDiSfCjBnwl7+4bbpFRMKIQrSI%0AiByan3+GiRPhqadg2zY4/XSYMAEuucSdPCgiEoYUokVEpHo2boQxY+CZZ+DXX11oHjYMzjjD68pE%0ARPxOIVpERKpm1SpIS4MXX3QnD/bpA4MHQ6dOXlcmIhIwCtEiIlI5n3/uThZ8/XWoXRvuuMPtMtiq%0AldeViYgEnEK0iIiUzVp47z03pm7RIoiNhb/+1e02ePTRXlcnIuIZhWgREflfhYXw2msuPGdkQFyc%0Am7rRrx80aOB1dSIinlOIFhGRP/z2mxtLl5YGa9fCCSfAs8+67blr1/a6OhGRoKEQLSIisHMnPP20%0Am7bx00+QlARz5kBKCkRFeV2diEjQUYgWEYlkmze73QQnTYJffoELL4SZM+Hcc8EYr6sTEQlaCtEi%0AIpHo++9dj/Pzz7ttuq+8EoYMga5dva5MRCQkKESLiESSFSvcmLpXXoHDDoObboJBg6BtW68rExEJ%0AKQrRIgGWnpFD2vxscvPyiYuNITU5gZTEeK/LknBmLXz4oZu08c47brrGoEEwYAAce6zX1YmIhCSF%0AaJEASs/IYdjcTPILCgHIyctn2NxMAAVpqXlFRfDGG27l+dNP3Vznf/0L7rrLzXsOInpzKSKhRiFa%0A5CD+/GWeNj97f4Aull9QSNr8bAUGqTl798LLL7vwvGoVtG4NEyfCzTdDTIzX1f0PvbkUkVBUy+sC%0ARIJJ8S/znLx8LH/8Mk/PyKmR+8/Ny6/ScZEq2b0bxo6FNm1cYD78cBemV6+Gu+8OygAN5b+5FBEJ%0AVlqJlmoJ9Y9ey6rf3yvFcbEx5JQSmONigzPcSIjYtg0mTIDx4+Hnn+Hss2HKFLj44pAYU6c3lyIS%0AihSipcpC/aPX8ur39y/z1OSEAx4bICY6itTkhBq5f4kwGzbA6NEwdSrs2QOXX+7G1HXv7nVlVaI3%0AlyISitTOIVUW6h+9lld/Wb+0a+qXeUpiPE/06kR8bAwGiI+N4YlenULizYcEkawsN5quTRvX69y7%0AN3z7LaSnh1yABvfmMib6wF0R9eZSRIKdVqKlykL9o9fy6h9zTWe/rxSnJMYrNEv1fPKJG1P3xhtQ%0Aty7cey888AA0b+51ZYek+P+HUG4RE5HIoxAtVRbqH72WV79+mUvQsRbeftuF5yVLoHFjeOQRF6Ab%0AN/a6uhqjN5ciEmoUoqXKQr2vt6L69ctcgsK+fW5XweHDITPTrTaPGwe33gr16nldnYhIxFOIlioL%0A9dXaUK9fwtyePfDCCzBqFKxbBx06wPTp0KcPREd7XZ2IiPgYa63XNVQoKSnJLlu2zOsyRET8Z8cO%0AmDTJrTZv3QrdusHQoXDZZVBL54CLiASKMWa5tTapoutV6l9mY0yPyhwTEZEqys2F1FRo0QL+9jdI%0ASoIPPoCPP3Yj6xSgRUSCUmX/dR5fyWMiIlIZ2dlw221uS+7Ro6FnT1ixAubNg7POColNUkREIlm5%0APdHGmO7A6UATY8wDJb51BBBV+q1ERKRMX3wBI0bA3LlQu7YL0g8+CMcd53VlIiJSBRWdWHg4UN93%0AvQYlju8ErvJXUSIiYcVaWLjQTdpYuBAaNoRhw+C++6BpU6+rExGRaig3RFtrPwA+MMZMs9auD1BN%0AIiLhobAQXn/dhefly+GYY2DkSLjjDjjiCK+rExGRQ1BRO8dYa+0AYIIx5n/GeFhre/qtMhGRUPX7%0A7/Diiy4wr1kDbdvC1KnQt69r4RARkZBXUTvHDN9/R/m7EBGRkLdzJ0yZ4k4U3LQJunaFV1+FK66A%0AKJ1GIiISTioK0WnA+cAl1tohAahHRCT0bNni5jtPmgR5eXDeeTBjBpx/vqZsiIiEqYpC9LHGmNOB%0AnsaYfwMH/Daw1n7pt8pERILdDz+4nQWff961cPTqBUOGwCmneF2ZiIj4WUUh+v+AvwPNgNEHfc8C%0A5/mjKBGRoPb1125M3ezZbjOUG2+EQYMgIcHrykREJEAqms4xB5hjjPm7tfYfAapJRCT4WAtLl7pJ%0AG/PmQf36MGAADBwI8fFeVyciIgFW0Uo0ANbafxhjegJn+Q69b639r//KEhEJEkVF8N//uvD8ySfQ%0ApAk8/jjcfTcceaTX1YmIiEcqFaKNMU8ApwIzfYfuN8acbq19yG+ViYh4qaAAZs1ybRtZWdCqFUyY%0AALfcAjExXlcnIiIeq1SIBi4FOltriwCMMdOBDEAhWkTCy6+/wrPPwpNPwo8/wkknwcsvw9VXw2GV%0A/SdTRETCXVV+I8QCP/suN/RDLSIi3tm+3a00jx/vLp91FjzzDFx8scbUiYjI/6hsiH4CyDDGLMaN%0AuTsLGOq3qkREAuXHH93mKFOmwJ490LOnG1N3+uleVyYiIkGswhBtjDHAUqAbUDz8dIi19id/FiYi%0A4ldZWW5b7pm+Uz2uvRYGD4YTT/S2LhERCQkVhmhrrTXGzLPWdgLeCEBNIiL+8+mnbtLGf/4Ddeu6%0AKRsPPAAtW/rtIdMzckibn01uXj5xsTGkJieQkqixeCIioaxWJa/3pTGmSltwGWOeN8ZsMcZ8U+JY%0AI2PMAmPMGt9/NR9KRPzPWnjnHTjnHOjeHT78EB5+GNavd9t1+zlAD5ubSU5ePhbIyctn2NxM0jNy%0A/PaYIiLif5UN0acBnxpjvjPGfG2MyTTGfF3BbaYBFx90bCiw0FrbFliI+qpFxJ/27XNj6hIT4U9/%0Agu++c/3PGzbAI4/AUUf5vYS0+dnkFxQecCy/oJC0+dl+f2wREfGfyp5YmFzVO7bWfmiMaXXQ4cuB%0Ac3yXpwPvA0Oqet8iIuXKz4dp0yAtDX74Adq1gxdecH3Phx8e0FJy8/KrdFxEREJDuSHaGFMHuBM4%0AHsgEnrPW7juEx2tqrd3ku/wT0PQQ7ktE5EB5eTB5MowdC1u2wKmnupXnnj2hVmU/eKtZcbEx5JQS%0AmONitWGLiEgoq+i3ynQgCReg/wQ8WVMPbK21gC3r+8aYfsaYZcaYZVu3bq2phxWRcLRpkxtL16IF%0APPSQa99YvNidRJiS4lmABkhNTiAmOuqAYzHRUaQmJ3hUkYiI1ISK2jk6+KZyYIx5Dvj8EB9vszHm%0AWGvtJmPMscCWsq5orZ0CTAFISkoqM2yLSARbswZGjXKtG/v2Qe/ebkxdYqLXle1XPIVD0zlERMJL%0ARSG6oPiCtXafOfRdu94AbgSG+/77n0O9QxGJQMuXw4gRMGeO63G++WZITYU2bbyurFQpifEKzSIi%0AYaaiEH2yMWan77IBYnxfG1xHxhFl3dAYMwt3EuFRxpiNwMO48PyKMeZWYD3Q+xDrF5FIYa1r0Rg+%0AHBYsgCOOcC0c998PxxzjdXUiIhJhyg3R1tqo8r5fwW37lPGt86t7nyISgYqKID3dhecvvnCBefhw%0AuPNOaNjQ6+pERCRCVXbEnYhIYP3+u9uSe+RIyM52rRrPPAM33AB16nhdnYiIRDiFaBEJLrt2wdSp%0AbjRdTo47SXD2bLjySoiq9odjIiIiNUohWkSCw9at8NRTMGGCm/d87rnw/PNw4YVw6Cc1i4iI1CiF%0AaBHx1rp18OST8Nxz8NtvcMUV7oTBU0/1ujIREZEyKUSLiDcyM12/86xZbjOUvn3dmLp27byuTERE%0ApEIK0QGSnpGjzRZEAJYuddM13noL6tWDAQPcn2bNvK5MRESk0hSiAyA9I4dhczPJLygEICcvn2Fz%0AMwEUpCUyFBXBvHkuPH/0ERx1FDz2GNxzDzRq5HV1IUdvykVEvFfL6wIiQdr87P0Bulh+QSFp87M9%0AqkgkQAoK4MUX4aST4LLLYONGGD8e1q+Hv/9dAboait+U5+TlY/njTXl6Ro7XpYmIRBSF6ADIzcuv%0A0nGRkLdnjwvLxx/v5jobAy+9BGvWwL33Qt26XlcYsvSmXEQkOKidIwDiYmPIKSUwx8XGeFCNiB/9%0A/DNMnOhG1W3bBmec4b6+9FKNqashelMuIhIctBIdAKnJCcREH7hJREx0FKnJCR5VJFLDNm6EBx+E%0AFi3g//4PunWDJUvcnz//WQG6BpX15ltvykVEAkshOgBSEuN5olcn4mNjMEB8bAxP9OqkE4Ek9K1a%0ABbfcAscdB+PGuRnPX38Nb77pVqGlxulNuYhIcFA7R4CkJMYrNEv4+PxzN2kjPR1q14Y77nAr0a1a%0AeV1Z2Cv+d0TTOUREvKUQLSKVYy0sWODC8+LFEBsLf/0r9O8PRx/tdXURRW/KRUS8pxAtIuUrLIQ5%0Ac2DECMjIgLg4t0337bdDgwZeVyciIuIJhWgRKd1vv8H06ZCWBt99ByecAM89B9dd51o4REREIphC%0AtIgc6Jdf4OmnYcwY2LwZTjkFRo6Eyy+HqKiKby8iIhIBFKJFxPnpJzdhY9Ik2LkTLroIhgyBc8/V%0AiDoREZGDKESLRLq1a2HUKJg2zW3TfdVVLjx36eJ1ZSIiIkFLIVokUmVkuJMFX30VDjsMbroJBg2C%0Atm29rkxERCToKUSLRBJr4YMP3Ji6+fPddI3UVLj/fjj2WK+rExERCRkK0SKRoKgI3njDhefPPoOm%0ATeGJJ+DOO9285zCQnpGjDUhERCRgFKJFwtnevfDyy65tY9Uqtz335Mlw440QE+N1dTUmPSOHYXMz%0AyS8oBCAnL59hczMBFKRFRMQvanldgIj4we7dbkRdmzZw881Qpw7MmgXZ2W71OYwCNLgtsIsDdLH8%0AgkLS5md7VJGIiIQ7rUSLhJOtW2H8eJgwAXbsgHPOgWefdePqDhpTF07tD7l5+VU6LiIicqgUokXC%0Awfr1bivuZ5+F/HxISXFj6rp1K/Xq4db+EBcbQ04pgTkuNrxW3EVEJHionUMklH3zDfTt69o2Jk+G%0Aa66BrCx4/fUyAzSEX/tDanICMdEH7qYYEx1FanKCRxWJiEi400q0SCj66CM3aeO//4V69eC++2Dg%0AQGjevFI3D7f2h+LV83BpTxERkeCnEC0SKqyFefNceF66lN9jj+TFC25kYodk6h7dlNRttUipXIYO%0Ay/aHlMR4hWYREQkYhWiRYLdvH8ye7cbUZWZC8+Z8nfooN5mT+NlEA7Cjij3NqckJB/REg9ofRERE%0AqkI90SLBas8emDjRbcN9/fVQWAjTp8N333FXozP2B+hiVelpTkmM54lenYiPjcEA8bExPNGrk1Zy%0ARUREKkkr0SLBZscOmDQJxo1zI+u6d4ennoJLL4Va7n1vTfQ0q/1BRESk+hSiJWIF3ZzknBy3Qcoz%0Az7jNUi65xI2pO/PM/5nxHI49zSIiIqFEITpIBV3ACzNBNSc5OxvS0mDGDNey8Ze/wODBcPLJZd5E%0APc0iIiLeUk90ECoOeDl5+Vj+CHjpGTlelxY2gmJO8hdfwFVXQfv2MHMm3H47rFnjLpcToEE9zSIi%0AIl7TSnQQKi/gKSTVDM/mJFsLCxe6MXULF0LDhjBsmJvz3LRple4qFHqa9YmKiIiEK4XoIBRuG2EE%0Ao4D3FBcWwty5bkzd8uVw7LGuhaNfPzjiCP88pseCqmVGRESkhqmdIwiVFeR00ljNCdg20b//DlOn%0AQrt20Ls37Nzpvv7hBxg0KGwDNARJy4yIiIifKEQHodTkBKKjDpzGEB1ldNJYDfJ7T/HOnW6luXVr%0At9rcsCG8+iqsXAm33Qa1a9fM4wQxfaIiIiLhTO0cwcpW8HUY8apv1i89xZs3u5nOEyfCL7/ABRfA%0Aiy+SfmQCae+uJvev7wRdb7C/Xn+N4RMRkXCmEB2E0uZnU1B0YGouKLJheWJhVfpmg/okte+/h1Gj%0A4IUXXAvHlVfC0KHQtWtQ9QYf/Bqe264Jry3P8UttGsMnIiLhTO0cQSiSPgavbN9s0I79++oruPZa%0AtzX3c89B376wapVr3ejaFQie3uDSXsOZn27wW20awyciIuFMK9FByJ8fgwfbam5l3zBUd+yfX56v%0AtfDhh25M3TvvQP368OCDMGAAxMVV+FwqOu4vpb2GZXUJ1VRtoTCGT0REpDq0Eh2E/DU5IhhXcys7%0AiaQ6QbTGn29REfznP3D66XDOOW5U3eOPw4YNMHJkqQG6tOdS0XF/qUowVt+yiIhI+RSig5C/PgYP%0AlraCkir7hqE6QbTGnu/evTB9OnTsCCkp7uTBSZNg/Xr461/hyCPLvXnAxulVoKzXyhz0tfqWRURE%0AKqZ2jiDlj4/Bg6WtoKTi51hRy0V1TlI75Oe7ezc8+yw8+SRs3AgnnQQvvwxXXw2HVf5/nco+R38r%0A6zW8sms8i1dtDZoWHxERkVCgEB1BgnXkWGXeMFQniFb7+W7bBhMmwPjx8PPPcNZZ8Mwz8Kc/gTl4%0A3bZygqE3OFjCvIiISDhQiI4goT5yrKpBtMrPd8MGGD3a7Si4Zw/07AlDhrge6DARDGFeREQkHChE%0AR5BIW4ms9PPNynInBs6c6b6+7joYPBg6dAhwxSIiIhIqjLXBvxVeUlKSXbZsmddlSLj59FM3pu4/%0A/4G6deH22+GBB6BFC68rExEREY8YY5Zba5Mqup5WoiNYsM2MDghr3WznESPggw+gUSN4+GG49144%0A6iivqxMREZEQoRAdoYJpK+qA2LfP7SI4YoTbZbBZMxgzBm67zW2WIiIiIlIFmhMdoYJxZrRf5OfD%0A5Mlwwglue+69e+GFF+C779wOgwrQIiIiUg1aiY5QwTgzukbl5bnwPHYsbNkCp53mVp4vuwxq6b2j%0AiIiIHBqliQgVLFtR17jcXDdZo0ULeOghSEyE99+HTz4hvUUSPUa+T+uhb9Fj+CJPtzsXERGR0KaV%0A6EoIxxPwQn1m9P9YswbS0tz23Pv2Qe/ebsZz585ABPaAi4iIiF9pJboCxeErJy8fyx/hK9RXMVMS%0A43miVyfiY2MwQHxsDE/06hR6gXL5cheYExJgxgy49VZYvRpmzdofoCGCesBFREQkILQSXYHywlfI%0ABc6DhOzuddbCokVu0saCBdCwIQwdCvffD02blnqTsO8BFxERkYBSiK5AKIevsGtDKSyE9HS3Qcqy%0AZXDMMW6nwTvugCOOKPemcbEx5JTyMwv5HnARERHxhEJ0BUI1fAWqBzggQf333+Gll1xgXr0ajj8e%0ApkyBvn2hTp1K3UWo9ICH3RufANJrJyIigaQQXYFQCV8Hq6gHuCbCht+D+q5d8MwzbjRdbi506QKz%0AZ8OVV0JUVJXuqrieYA5ZOvmx+vTaiYhIoBlrrdc1VCgpKckuW7bMs8cPxRWuVkPfKvN7MdFR//Om%0AoDonFfYYvqjUVfr42Bg+Gnpele7rAFu2wFNPwcSJbt7z+ee7nufzzwdjqn+/Qc5vr2cE0GsnIiI1%0AxRiz3FqbVNH1tBJdCaF4Ap4x7vy70tTUiZI13i/+ww/w5JPw3HOuhaNXLzem7pRTqnd/fuSPN1ah%0A3H/vNb12IiISaArRlRRKq9HpGTllBuiyVCds1Fi/+Ndfu0kbs2e73QRvuAFSU93YuiDkr9aBUO2/%0ADwZ67UREJNA8mRNtjFlnjMk0xqwwxnjXp1FJoTYrurzZx1FltENUJ2ykJicQE31gb3Kl+8WthSVL%0A4NJL4eST4Y03YMAAtxr97LNBG6DBfzOnD+n1jHB67UREJNC83GzlXGtt58r0nHgt1DbqKG9Vuc9p%0AzWssbFRrw5aiInjzTTjjDDjrLPj8c/jHP2D9etKvG0iPF7ODfltuf7UOhM0GOB7QayciIoGmdo5K%0ACLV+y7I+2j6ybjSPp3QiqWWjGmtNqXS/eEGB20VwxAjIyoKWLd3Jg7feCnXrhtR0BX+2DoRi/32w%0A0GsnIiKB5FWItsB7xphC4Blr7RSP6qiUUOu3LGss38OXnQj4P2yU7B8/ri6M2b2ck2Y/Bxs2QMeO%0AbuZz794QHb3/NqG0M2Sojj0UERGRmuNViD7DWptjjDkaWGCMWWWt/bDkFYwx/YB+AC1atPCixv1C%0ALTR5ORO5eEW59s4d9P/yLW5a/iaN8neyrfOpHDVpElxySalj6kJptT8UZk6LiIiIf3k+J9oY8wiw%0A21o7qqzreD0nGkJrOoeXUobN5s/vzaLPV/OpV/Ab77U5hae7XcWmjknlzuvVnF8REREJBkE7J9oY%0AUw+oZa3d5bt8EfBYoOuoKvVbVmDVKhg5klemv0gtW8R/OpzNM6ddyeomrQAwFawoh9pqv4iIiEQ2%0AL7VrTW0AABfASURBVNo5mvL/7d17lJ11fe/x9zfJFAYKDChVMoLAkaYuBJNDFkQRC9KaoCIRu1ot%0Ay4K6jncUXYTLwXVE6pJoLBYVpeANjigUCFO0lKAFqqYnaG4kQQkQG5DhYsRcQKZmkvzOH3tP2DPZ%0At2ff9573a61Zs+fZz977yW/vPPnkN9/n+4PbIvcr/WnAd1NKd7bhONqqZ2a277svd7Hg0BDsvTf/%0AcsLpXPnqt/D4AS8Zt1ul+vGsJRI9M36SJKkrtTxEp5R+Bby61a/bSbqpE0VRKcFdd8HChXDvvXDg%0AgfDJT8K559L3+HaeWbwWaphRrna2v+vHT5Ikdb129ometLqt7/RuO3bkVhU87jiYNw8efji3TPej%0Aj8Jll8HBB7ekX2/Xjp8kSeoZ9olug27qRAHAf/83XHcdLFoEGzbAn/4pfOMbcNZZsNdee+xezYxy%0APeUYXTd+kiSp5xii26Br+k5v3QpXXw1f/CI8/TQcf3wuSJ9xBkyp7ZcYQ6uG+fT3H2Dz86O7txWW%0AY0DluuiuGT9JktSzDNEtMHHW9ZQ/O5hbVwx3bieKp56Cf/xH+NrXYNs2mDsXLrwQTj65aI/nak2s%0AZS40MrqTS29/gD/s2FWx1rlZnTy8WFGSJFXLmugmGwuOw1tGSOSC4a0rhnn7cYNNrRuuySOPwPvf%0AD4cfnptxnjcPVq6EO++EU06pK0BD8VrmQltGRquqdW5G3XWx9+nixWsZWjVc83NKkqTe5Ux0k5W6%0ACO6eBzd1ziIiK1fm2tTdcktuKe5zzoHzz4dXvKKhL1NrzXKxx5Wqu651Nrmblh2XJEntZ4huso69%0ACC4luOeeXHi+6y7Yf3+44AL42MfgpS9t6EuNBdtya2P2901l774p42qlx1Rb61xP67uOfZ8kSVJH%0AspyjyUoFwLZdBLdrFyxeDCecAKeeCvffD5dfDo89lvvehAA9ViZRykB/H5efeQyfOv1o+vumjrsv%0AS61zPa3v2vE+Da0a5sSFd3PERf/KiQvvtnREkqQu4kx0k3XMctbbt8N3vgOf/zysXw9HHpnrvHH2%0A2bD33mUfWs8Fd+XqoAfzzzW23xNbRjigv4+9+6aw5fnRlra+a/X75IIxkiR1N0N0FeoJkVmXs264%0AZ5+Fa6+FK66A4WGYORNuvBHe/naYVvntrzfslQqwASy96A17PP+WkVH6+6byxb+ZmXmM6ml91+r3%0AyRpsSZK6myG6gkbMGFa7nHVDbdoEX/4yfOUrsHlzrj3d17+ea1eXoctGvWGvUrBtZJisdza5le+T%0ANdiSJHU3a6Ir6Lolph99FD76UXj5y+Hv/z4Xnpcty11EOG9e5jZ19Ya9BXNnlK1zbmSYbMWS443S%0AcbXykiQpE2eiK+iaGcN163KdNr73vVxQfte7YMECeOUrgdpLUupdHbBSmUSjVx9sy6x/DTqmVl6S%0AJNXEEF1Bxy8xvXQpLFwIP/gB7Ltvbhb64x+HQw/dvUs9JSmNCHvlgu1kDZNtr5WXJEl1MURXUEvI%0Aa/ry0SnBHXfkwvNPfwovehFcdhl8+MNw0EF77F5P3XGzw95kDpPdMmsuSZL2ZIiuIGvIq2bWt+aQ%0AvWMH3HRTLjyvWweHHQZf+hK85z25WegS6i1JaXbYM0xKkqRuY4iuQpaQV2nWt6bSiuefh299C77w%0ABdi4EY4+Gq6/Ht7xjtwy3RW0oySl6bPxkiRJbWR3jgarNOtbKmSfd9PqPVet27wZPvMZOPxw+MhH%0AYPp0uP12WLMmd+FgFQEaKnfIaLTCVQoTL/xHwRX5JElSr3AmusEqzfqWK6EYC5t7/+ZJ5v3wRvin%0Af4LnnoPTToOLL4aTTqrpmFxIRJIkqbEM0Q1W6ULEUiEb4MhnHud9P1vMqZ+9GyLlyjUuuACOPbbs%0Aa1ZTOuFCIpIkSY1jiG6wcrO+Q6uG+f0fduzxmGOffIgPLLuFeQ/9P7ZP6+OGmfOYftklvPHNcyq+%0AXiNWVGy0jm8LKEmSVCdDdBMUm/WdGHZJiddtXM0H77uZEx9dw9a99uWq1/w13z7udJ7Zd4DBtc/z%0AxjdXfq1OLJ2YrL2fJUnS5GGIbpGxsDtl105OW/+ffPC+W3jV0xt46o8P4jOnvIfvvXoev99rn937%0AV1v60ImlE5O597MkSZocDNEt8tvfbuWd6+7mfT+7lSM2P8mGgwa5YN5HGTr6FLZP27PLRrWlD51a%0AOmHvZ0mS1MsM0VWoq+fx1q1w9dUsvebzvPjZ33H/S4/i/fP/Nz886gR2TZnKgfv0MXV0V82lD5ZO%0ASJIktZ4huoKaL9x76im48kr46ldh2zZ2zXk95/yP07h38FUQAeTC7qdOPxqovfTB0glJkqTWi5RS%0Au4+hotmzZ6fly5e35bVPXHh30XKJwYF+ll70hj0fsGFDbmXBb30Ltm+Hv/oruPBCOO44V/GTJEnq%0AcBGxIqU0u9J+zkRXUPWFe6tXw+c+B//8zzBtGpx9NixYAEcdtXsX64QlSZJ6gyG6grIX7qUEP/4x%0ALFwId94J++0H558P550HhxzShqOVJElSKxiiKyh24d4+04Ir/ui/4LWXwLJl8Cd/Ap/9LHzwgzAw%0AUPNrNaLcw5IRSZKk5jNEV1B44d6mZ7Zx9sb/5KPLb2O/jY/AEUfAVVfBu98N/fW1lGvEyoOduHqh%0AJElSL5rS7gPoBvOPOoCle6/hoRvP5ZJbFrHf/vvAd78LDz0EH/pQ3QEayq882MrnkCRJUmXORFfj%0A2mvhE5+AP/9zuOYamDdvd5u6RmnEyoOduHqhJElSLzJEV+O974U5c+A1r2naSzRi5cFOXb1QkiSp%0A11jOUY39929qgIbcBYz9fVPHbcu68mAjnkOSJEmVOROdQTM7XzRi5UFXL5QkSWoNVyys0sTOF5Cb%0A5b38zGOYP2vQ1nKSJEk9wBULG6xS5wtby0mSJE0ehugqlet8US5gVwrRE2ewT/mzg7nnwU08sWWE%0AgX36SAm2jow6uy1JktRBDNFVKtf5oth2oOT2McUWR/nOssd237/5+dFxz+XstiRJUmewO0eVynW+%0AmFqiZ3Sp7WOKzWCX48IpkiRJncEQXaX5swa5/MxjGBzoJ4DBgf7dFxXuLHFxZqntY2pZBMWFUyRJ%0AktrPco4M5s8aLFpKMViipGOwwiIn5UpByj1GkiRJ7eVMdAPUushJsceV48IpkiRJncGZ6AaodZGT%0AYo9rVHcO+1ZLkiQ1j4ut9KBKC8NIkiSpOBdb6UHVzi7X07dakiRJlRmiu0SxntKl+kaXWxhGkiRJ%0A9fPCwi5RadnxQqU6eNjZQ5IkqTEM0V0iy+xyrd1CJEmSVB3LOVpgaNUwn/7+A7uX8R7o7+PStx6d%0AqT653LLjE9XaLaRWdgKRJEmTjSG6yYZWDbPglvsZ3flCF5QtI6MsuPl+YM965lIWzJ3BgpvvZ3TX%0AC8/TNyVKzi6XWhim0bLUakuSJPUKyzmabNGS9eMC9JjRXaloPXNZUeHnNshSqy1JktQrDNFNVq4j%0ARpZuGcXC+OjOGoJ4g9kJRJIkTUaG6CYr1xFjSgRHXPSvnLjwboZWDZd9nk4Nq3YCkSRJk5EhuskW%0AzJ1B39TidRc7UyLxQh1xuSBdS1gdWjXMiQvvrjqo18JOIJIkaTIyRDfRWNeK0Z2JKQU5ulikrlRH%0AnDWsjl3wN7xlpOqgXov5swa5/MxjGBzoJ4DBgX6XF5ckST3P7hwZVdvO7ZNDa7lh2WOMVTHvSrnQ%0Ae/mZx/Dxm1YXfe5ypRlZ29a1cunvVnUCkSRJ6hSG6Ayqbec2tGp4XIAeMxZiS/V8TsCJC+8uGY6z%0AhNVOraGWJEnqBZZzZFBtO7dFS9bvEaDHPLFlpGhpxphGlV14wZ8kSVLzGKIzqHZ2t9xs7/SB/nF1%0AxMU0os9ypRrqVlx0KEmS1KsM0RlUO7tbar+A3SF2/qxBll70hpLrpdRbdlHugr9WXXQoSZLUqwzR%0AGZQqw3h++45xAbTYfgGcNeewPWqam1l2MRbU/2vhm1l60RvGXZzoKoOSJEm1M0RnMDa7O9DfN277%0A5udHx83kFpsFPmvOYdzz4KY9yifa0Wd5sl50aAmLJElqlLaE6IiYFxHrI+KRiLioHcdQq/mzBtl3%0Arz2bmkycyS2cBV4wdwa3rhguWj7Rjj7Lk/GiQ0tYJElSI7W8xV1ETAWuAv4SeBz4eUTcnlL6RauP%0ApVZZZ3Ir9WxudZ/lBXNnjGvVB72/ymAr+2ZLkqTe146Z6OOBR1JKv0opbQduBM5ow3HULOtMbqeV%0AT0zGVQY77T2QJEndrR2LrQwCvy74+XHghDYcR82yzuSWWlylneUTk22VwU58DyRJUvfq2AsLI+J9%0AEbE8IpZv2rSp3YczTtaZ3HZcPKjxfA8kSVIjtWMmehg4tODnl+W3jZNSuga4BmD27NmlFgBsmywz%0AuYWt5Z7YMsL0gf6SS3urOXwPJElSI0VKrc2nETENeAg4lVx4/jnwtymlB0o9Zvbs2Wn58uUtOkJJ%0AkiRNVhGxIqU0u9J+LZ+JTintiIiPAEuAqcA3ywVoSZIkqdO0o5yDlNIdwB3teG1JkiSpXh17YaEk%0ASZLUqQzRkiRJUkaGaEmSJCmjttRE94KhVcO2S5MkSZqkDNE1GFo1PG7FwuEtI1y8eC2AQVqSJGkS%0AsJyjBouWrB+35DfAyOhOFi1Z36YjkiRJUisZomvwxJaRTNslSZLUWwzRNZg+0J9puyRJknqLIboG%0AC+bOoL9v6rht/X1TWTB3RpuOSJIkSa3khYU1GLt40O4ckiRJk1OklNp9DBXNnj07LV++vN2HUZSt%0A7iRJknpHRKxIKc2utJ8z0XWw1Z0kSdLkZE10HWx1J0mSNDk5E12HTm91Z6mJJElSczgTXYdObnU3%0AVmoyvGWExAulJkOrhtt9aJIkSV3PEF2HTm51Z6mJJElS81jOUYdObnXX6aUmkiRJ3cwQXaf5swY7%0AIjRPNH2gn+EigbkTSk0kSZK6neUcPaqTS00kSZK6nTPRPaqTS00kSZK6nSG6h3VqqYkkSVK3s5xD%0AkiRJysgQLUmSJGVkiJYkSZIyMkRLkiRJGRmiJUmSpIwM0ZIkSVJGhmhJkiQpI0O0JEmSlJEhWpIk%0AScrIEC1JkiRl5LLfFQytGmbRkvU8sWWE6QP9LJg7w6W0JUmSJjlDdBlDq4a5ePFaRkZ3AjC8ZYSL%0AF68FMEhLkiRNYpZzlLFoyfrdAXrMyOhOFi1Z36YjkiRJUicwRJfxxJaRTNslSZI0ORiiy5g+0J9p%0AuyRJkiYHQ3QZC+bOoL9v6rht/X1TWTB3RpuOSJIkSZ3ACwvLGLt40O4ckiRJKmSIrmD+rEFDsyRJ%0AksaxnEOSJEnKyBAtSZIkZWSIliRJkjIyREuSJEkZGaIlSZKkjAzRkiRJUkaGaEmSJCkjQ7QkSZKU%0AkSFakiRJysgQLUmSJGVkiJYkSZIyMkRLkiRJGRmiJUmSpIwM0ZIkSVJGhmhJkiQpI0O0JEmSlJEh%0AWpIkScooUkrtPoaKImIT8GgbD+HFwG/b+Pq9zvFtLse3uRzf5nFsm8vxbS7Ht7maOb4vTykdXGmn%0ArgjR7RYRy1NKs9t9HL3K8W0ux7e5HN/mcWyby/FtLse3uTphfC3nkCRJkjIyREuSJEkZGaKrc027%0AD6DHOb7N5fg2l+PbPI5tczm+zeX4Nlfbx9eaaEmSJCkjZ6IlSZKkjAzRBSJiY0SsjYjVEbG8yP0R%0AEV+KiEciYk1E/M92HGc3iogZ+XEd+9oWEedN2OfkiNhasM//adfxdoOI+GZE/CYi1hVsOygifhgR%0AD+e/H1jisfMiYn3+s3xR6466e5QY30UR8WD+7/9tETFQ4rFlzyWTXYmxvTQihgv+/r+pxGP97FZQ%0AYnxvKhjbjRGxusRj/eyWERGHRsQ9EfGLiHggIj6W3+65twHKjG9Hnnst5ygQERuB2Smlon0H8yf1%0Ac4E3AScAV6aUTmjdEfaGiJgKDAMnpJQeLdh+MnB+Sukt7Tq2bhIRrweeA65PKb0qv+3zwO9SSgvz%0AJ+gDU0oXTnjcVOAh4C+Bx4GfA+9MKf2ipX+ADldifN8I3J1S2hERnwOYOL75/TZS5lwy2ZUY20uB%0A51JKXyjzOD+7VSg2vhPu/wdga0rpsiL3bcTPbkkRcQhwSEppZUTsB6wA5gPn4Lm3bmXG92V04LnX%0AmehsziB3UkoppWXAQP4NVzanAhsKA7SySyn9GPjdhM1nANflb19H7uQz0fHAIymlX6WUtgM35h+n%0AAsXGN6V0V0ppR/7HZeRO7MqoxGe3Gn52q1BufCMigL8GvtfSg+oRKaUnU0or87efBX4JDOK5tyFK%0AjW+nnnsN0eMl4EcRsSIi3lfk/kHg1wU/P57fpmzeQekT+Gvzv675t4g4upUH1SNeklJ6Mn/7KeAl%0ARfbxc9wY7wH+rcR9lc4lKu7c/N//b5b4dbif3fqdBDydUnq4xP1+dqsUEYcDs4D78NzbcBPGt1DH%0AnHsN0eO9LqU0EzgN+HD+V2JqoIj4I+CtwM1F7l4JHJZSOhb4MjDUymPrNSlXq2W9VhNExCXADuCG%0AErt4Lsnua8CRwEzgSeAf2ns4PeudlJ+F9rNbhYj4Y+BW4LyU0rbC+zz31q/U+HbaudcQXSClNJz/%0A/hvgNnK/eik0DBxa8PPL8ttUvdOAlSmlpyfekVLallJ6Ln/7DqAvIl7c6gPsck+PlRjlv/+myD5+%0AjusQEecAbwHOSiUuKqniXKIJUkpPp5R2ppR2AddSfMz87NYhIqYBZwI3ldrHz25lEdFHLuDdkFJa%0AnN/subdBSoxvR557DdF5EbFvvoidiNgXeCOwbsJutwN/FzlzyF2Y8STKouQsSES8NF+vR0QcT+7z%0A+UwLj60X3A6cnb99NvAvRfb5OXBURByR/83AO/KPUwURMQ+4AHhrSun5EvtUcy7RBBOuL3kbxcfM%0Az259/gJ4MKX0eLE7/exWlv836hvAL1NKVxTc5bm3AUqNb8eee1NKfuX+Q3MkcH/+6wHgkvz2DwAf%0AyN8O4CpgA7CW3BWgbT/2bvkC9iUXig8o2FY4vh/Jj/395C4ceG27j7mTv8j9Z+RJYJRcbd17gRcB%0A/w48DPwIOCi/73TgjoLHvoncVeIbxj7rflU1vo+Qq2lcnf+6euL4ljqX+FVxbP9v/ry6hlywOGTi%0A2OZ/9rNbw/jmt3977HxbsK+f3Wxj+zpypRprCs4Db/Lc2/Tx7chzry3uJEmSpIws55AkSZIyMkRL%0AkiRJGRmiJUmSpIwM0ZIkSVJGhmhJkiQpI0O0JLVYROyMiNURsS4ibo6IfRr8/OdExFcq7HNyRLy2%0A4OcPRMTfNfI4JKmXGaIlqfVGUkozU0qvAraT65feaicDu0N0SunqlNL1bTgOSepKhmhJaq+fAK8A%0AiIhP5Gen10XEeflth0fEgxFxQ0T8MiJuGZu5joiNEfHi/O3ZEXHvxCePiNMj4r6IWBURP4qIl0TE%0A4eSC+8fzM+InRcSlEXF+/jEzI2JZRKyJiNsi4sD89nsj4nMR8bOIeCgiTmr+8EhSZzJES1KbRMQ0%0A4DRgbUQcB7wbOAGYA/yviJiV33UG8NWU0iuBbcCHMrzMT4E5KaVZwI3ABSmljcDVwBfzM+I/mfCY%0A64ELU0rHkltF8FMF901LKR0PnDdhuyRNKoZoSWq9/ohYDSwHHgO+QW6529tSSr9PKT0HLAbGZnp/%0AnVJamr/9nfy+1XoZsCQi1gILgKPL7RwRBwADKaX/yG+6Dnh9wS6L899XAIdnOA5J6inT2n0AkjQJ%0AjaSUZhZuiIhy+6cSP+/ghcmQvUs89svAFSml2yPiZODSTEe6pz/kv+/Ef0MkTWLOREtSZ/gJMD8i%0A9omIfYG35bcBHBYRr8nf/ltyJRoAG4Hj8rffXuJ5DwCG87fPLtj+LLDfxJ1TSluBzQX1zu8C/mPi%0AfpI02RmiJakDpJRWAt8GfgbcB3w9pbQqf/d64MMR8UvgQOBr+e2fBq6MiOXkZoaLuRS4OSJWAL8t%0A2P594G1jFxZOeMzZwKKIWAPMBC6r588mSb0oUpr4W0JJUqfId9L4Qb4dniSpQzgTLUmSJGXkTLQk%0ASZKUkTPRkiRJUkaGaEmSJCkjQ7QkSZKUkSFakiRJysgQLUmSJGVkiJYkSZIy+v9JU5gv3mOwXwAA%0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661651" y="497512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845081" y="2065884"/>
                <a:ext cx="10854550" cy="4622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1800" dirty="0"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再把</a:t>
                </a: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max问题转成min问题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endParaRPr lang="zh-CN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1800" i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𝛼</m:t>
                          </m:r>
                        </m:lim>
                      </m:limLow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 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18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1800" i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𝛼</m:t>
                          </m:r>
                        </m:lim>
                      </m:limLow>
                      <m:r>
                        <a:rPr lang="en-US" altLang="zh-CN" sz="18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 </m:t>
                      </m:r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18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. 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=0,</m:t>
                      </m:r>
                    </m:oMath>
                  </m:oMathPara>
                </a14:m>
                <a:endParaRPr lang="zh-CN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≥0,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=1,2,...,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得到最优解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=(</m:t>
                    </m:r>
                    <m:sSubSup>
                      <m:sSubSup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Sup>
                      <m:sSubSup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,…,</m:t>
                    </m:r>
                    <m:sSubSup>
                      <m:sSubSup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sSup>
                      <m:sSup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800" i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</m:oMath>
                </a14:m>
                <a:endParaRPr lang="zh-CN" altLang="zh-CN" sz="1800" dirty="0">
                  <a:effectLst/>
                  <a:latin typeface="Cambria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sz="1800" b="0" i="0" dirty="0">
                    <a:solidFill>
                      <a:srgbClr val="333333"/>
                    </a:solidFill>
                    <a:effectLst/>
                    <a:latin typeface="-apple-system"/>
                  </a:rPr>
                  <a:t> 解出后，代入超平面模型也就是：</a:t>
                </a:r>
                <a:endParaRPr lang="en-US" altLang="zh-CN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r>
                      <a:rPr lang="en-US" altLang="zh-CN" sz="1800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</m:e>
                      <m:sup>
                        <m:r>
                          <m:rPr>
                            <m:sty m:val="p"/>
                          </m:rPr>
                          <a:rPr lang="en-US" altLang="zh-CN" sz="1800" i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bSup>
                      </m:e>
                    </m:nary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rgbClr val="333333"/>
                    </a:solidFill>
                    <a:latin typeface="-apple-system"/>
                  </a:rPr>
                  <a:t>，可得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8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180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bSup>
                      </m:e>
                    </m:nary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>
                    <a:latin typeface="Cambria" panose="020405030504060302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8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bSup>
                      </m:e>
                    </m:nary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zh-CN" sz="1800" dirty="0">
                  <a:latin typeface="Cambria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以上为</a:t>
                </a:r>
                <a:r>
                  <a:rPr lang="en-US" altLang="zh-CN" sz="1800" dirty="0" err="1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SVM</a:t>
                </a: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对偶问题的对偶形式</a:t>
                </a:r>
                <a:endParaRPr lang="zh-CN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081" y="2065884"/>
                <a:ext cx="10854550" cy="4622997"/>
              </a:xfrm>
              <a:prstGeom prst="rect">
                <a:avLst/>
              </a:prstGeom>
              <a:blipFill>
                <a:blip r:embed="rId3"/>
                <a:stretch>
                  <a:fillRect l="-506" t="-792" b="-29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51C71016-BD78-4E1C-AB34-3558DE765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146" y="208280"/>
            <a:ext cx="501662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3600" b="1">
                <a:latin typeface="+mj-lt"/>
                <a:ea typeface="+mj-ea"/>
                <a:cs typeface="+mj-cs"/>
              </a:defRPr>
            </a:lvl1pPr>
            <a:lvl2pPr algn="ctr">
              <a:defRPr sz="3600" b="1">
                <a:solidFill>
                  <a:schemeClr val="tx2"/>
                </a:solidFill>
              </a:defRPr>
            </a:lvl2pPr>
            <a:lvl3pPr algn="ctr">
              <a:defRPr sz="3600" b="1">
                <a:solidFill>
                  <a:schemeClr val="tx2"/>
                </a:solidFill>
              </a:defRPr>
            </a:lvl3pPr>
            <a:lvl4pPr algn="ctr">
              <a:defRPr sz="3600" b="1">
                <a:solidFill>
                  <a:schemeClr val="tx2"/>
                </a:solidFill>
              </a:defRPr>
            </a:lvl4pPr>
            <a:lvl5pPr algn="ctr">
              <a:defRPr sz="3600" b="1">
                <a:solidFill>
                  <a:schemeClr val="tx2"/>
                </a:solidFill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/>
              <a:t>支持向量机求解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0F5CDF7-323F-4694-BA11-AEE1302A6A95}"/>
                  </a:ext>
                </a:extLst>
              </p:cNvPr>
              <p:cNvSpPr txBox="1"/>
              <p:nvPr/>
            </p:nvSpPr>
            <p:spPr>
              <a:xfrm>
                <a:off x="703814" y="1328074"/>
                <a:ext cx="4839284" cy="3703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800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altLang="zh-CN" sz="1800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 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0F5CDF7-323F-4694-BA11-AEE1302A6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14" y="1328074"/>
                <a:ext cx="4839284" cy="370358"/>
              </a:xfrm>
              <a:prstGeom prst="rect">
                <a:avLst/>
              </a:prstGeom>
              <a:blipFill>
                <a:blip r:embed="rId4"/>
                <a:stretch>
                  <a:fillRect t="-118033" b="-1852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E4385BEE-E082-498D-A2F7-2E9FA3F38E99}"/>
              </a:ext>
            </a:extLst>
          </p:cNvPr>
          <p:cNvSpPr txBox="1"/>
          <p:nvPr/>
        </p:nvSpPr>
        <p:spPr>
          <a:xfrm>
            <a:off x="5383237" y="2002618"/>
            <a:ext cx="14255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zh-CN" altLang="en-US" sz="1600" dirty="0">
                <a:solidFill>
                  <a:srgbClr val="FF0000"/>
                </a:solidFill>
                <a:effectLst/>
              </a:rPr>
              <a:t>添加负号</a:t>
            </a:r>
          </a:p>
        </p:txBody>
      </p:sp>
    </p:spTree>
    <p:extLst>
      <p:ext uri="{BB962C8B-B14F-4D97-AF65-F5344CB8AC3E}">
        <p14:creationId xmlns:p14="http://schemas.microsoft.com/office/powerpoint/2010/main" val="3168265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对角圆角矩形 8">
            <a:extLst>
              <a:ext uri="{FF2B5EF4-FFF2-40B4-BE49-F238E27FC236}">
                <a16:creationId xmlns:a16="http://schemas.microsoft.com/office/drawing/2014/main" id="{CAE08E35-DEC9-4689-915B-1B27E7F9279D}"/>
              </a:ext>
            </a:extLst>
          </p:cNvPr>
          <p:cNvSpPr/>
          <p:nvPr/>
        </p:nvSpPr>
        <p:spPr>
          <a:xfrm>
            <a:off x="2415827" y="3518043"/>
            <a:ext cx="6278833" cy="647700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1353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</a:t>
            </a:r>
            <a:r>
              <a:rPr lang="zh-CN" altLang="en-US" dirty="0">
                <a:solidFill>
                  <a:schemeClr val="tx1"/>
                </a:solidFill>
              </a:rPr>
              <a:t>线性支持向量机</a:t>
            </a:r>
          </a:p>
        </p:txBody>
      </p:sp>
      <p:sp>
        <p:nvSpPr>
          <p:cNvPr id="44" name="TextBox 6"/>
          <p:cNvSpPr txBox="1">
            <a:spLocks noChangeArrowheads="1"/>
          </p:cNvSpPr>
          <p:nvPr/>
        </p:nvSpPr>
        <p:spPr bwMode="auto">
          <a:xfrm>
            <a:off x="3002507" y="1872975"/>
            <a:ext cx="5105475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01 </a:t>
            </a:r>
            <a:r>
              <a:rPr lang="en-US" altLang="zh-CN" sz="4000" dirty="0">
                <a:latin typeface="Impact" pitchFamily="34" charset="0"/>
                <a:ea typeface="微软雅黑" pitchFamily="34" charset="-122"/>
              </a:rPr>
              <a:t> </a:t>
            </a:r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  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支持向量机概述</a:t>
            </a:r>
            <a:endParaRPr lang="en-US" altLang="zh-CN" sz="3600" dirty="0"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CE822752-ED3E-40A5-A413-EA904066F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2508" y="2749712"/>
            <a:ext cx="507241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02    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线性可分支持向量机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DE451D03-4E2B-4B55-B1F5-AAA25318C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2507" y="3564894"/>
            <a:ext cx="629759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03    </a:t>
            </a:r>
            <a:r>
              <a:rPr lang="zh-CN" altLang="en-US" sz="36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线性支持向量机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9D5D64A-90E0-4181-9705-14943FB68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9495" y="4380075"/>
            <a:ext cx="57460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04    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线性不可分支持向量机</a:t>
            </a:r>
          </a:p>
        </p:txBody>
      </p:sp>
    </p:spTree>
    <p:extLst>
      <p:ext uri="{BB962C8B-B14F-4D97-AF65-F5344CB8AC3E}">
        <p14:creationId xmlns:p14="http://schemas.microsoft.com/office/powerpoint/2010/main" val="885012616"/>
      </p:ext>
    </p:extLst>
  </p:cSld>
  <p:clrMapOvr>
    <a:masterClrMapping/>
  </p:clrMapOvr>
  <p:transition advTm="8005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</a:t>
            </a:r>
            <a:r>
              <a:rPr lang="zh-CN" altLang="en-US" dirty="0">
                <a:solidFill>
                  <a:schemeClr val="tx1"/>
                </a:solidFill>
              </a:rPr>
              <a:t>线性支持向量机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A80EEEA-35DB-4F69-BE24-853FF935D9D5}"/>
              </a:ext>
            </a:extLst>
          </p:cNvPr>
          <p:cNvGrpSpPr/>
          <p:nvPr/>
        </p:nvGrpSpPr>
        <p:grpSpPr>
          <a:xfrm>
            <a:off x="9075907" y="1863082"/>
            <a:ext cx="2735966" cy="2277119"/>
            <a:chOff x="7097732" y="2057115"/>
            <a:chExt cx="3255062" cy="2291705"/>
          </a:xfrm>
        </p:grpSpPr>
        <p:sp>
          <p:nvSpPr>
            <p:cNvPr id="12" name="Google Shape;3708;p62">
              <a:extLst>
                <a:ext uri="{FF2B5EF4-FFF2-40B4-BE49-F238E27FC236}">
                  <a16:creationId xmlns:a16="http://schemas.microsoft.com/office/drawing/2014/main" id="{C77F296D-708D-482C-B74C-ED93B74FB4A3}"/>
                </a:ext>
              </a:extLst>
            </p:cNvPr>
            <p:cNvSpPr/>
            <p:nvPr/>
          </p:nvSpPr>
          <p:spPr>
            <a:xfrm rot="8931971">
              <a:off x="8864387" y="4001639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709;p62">
              <a:extLst>
                <a:ext uri="{FF2B5EF4-FFF2-40B4-BE49-F238E27FC236}">
                  <a16:creationId xmlns:a16="http://schemas.microsoft.com/office/drawing/2014/main" id="{0012D789-02CC-4B2A-BF06-F62AEEA07B30}"/>
                </a:ext>
              </a:extLst>
            </p:cNvPr>
            <p:cNvSpPr/>
            <p:nvPr/>
          </p:nvSpPr>
          <p:spPr>
            <a:xfrm rot="8931971">
              <a:off x="8435296" y="4148656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710;p62">
              <a:extLst>
                <a:ext uri="{FF2B5EF4-FFF2-40B4-BE49-F238E27FC236}">
                  <a16:creationId xmlns:a16="http://schemas.microsoft.com/office/drawing/2014/main" id="{8FBA5DDA-120F-42E7-90D5-D3F9B8B3733E}"/>
                </a:ext>
              </a:extLst>
            </p:cNvPr>
            <p:cNvSpPr/>
            <p:nvPr/>
          </p:nvSpPr>
          <p:spPr>
            <a:xfrm rot="8931971">
              <a:off x="8691079" y="4225273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711;p62">
              <a:extLst>
                <a:ext uri="{FF2B5EF4-FFF2-40B4-BE49-F238E27FC236}">
                  <a16:creationId xmlns:a16="http://schemas.microsoft.com/office/drawing/2014/main" id="{CDBCE1C4-BDFE-47B7-92F2-0E291BE6CE4D}"/>
                </a:ext>
              </a:extLst>
            </p:cNvPr>
            <p:cNvSpPr/>
            <p:nvPr/>
          </p:nvSpPr>
          <p:spPr>
            <a:xfrm rot="8931971">
              <a:off x="9393141" y="3110972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712;p62">
              <a:extLst>
                <a:ext uri="{FF2B5EF4-FFF2-40B4-BE49-F238E27FC236}">
                  <a16:creationId xmlns:a16="http://schemas.microsoft.com/office/drawing/2014/main" id="{2F4047D5-729D-4004-8620-0DE302ECC987}"/>
                </a:ext>
              </a:extLst>
            </p:cNvPr>
            <p:cNvSpPr/>
            <p:nvPr/>
          </p:nvSpPr>
          <p:spPr>
            <a:xfrm rot="8931971">
              <a:off x="8620632" y="3622743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713;p62">
              <a:extLst>
                <a:ext uri="{FF2B5EF4-FFF2-40B4-BE49-F238E27FC236}">
                  <a16:creationId xmlns:a16="http://schemas.microsoft.com/office/drawing/2014/main" id="{23AED774-049E-4BE6-AF95-8A666E0836F9}"/>
                </a:ext>
              </a:extLst>
            </p:cNvPr>
            <p:cNvSpPr/>
            <p:nvPr/>
          </p:nvSpPr>
          <p:spPr>
            <a:xfrm rot="8931971">
              <a:off x="9676459" y="3009211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714;p62">
              <a:extLst>
                <a:ext uri="{FF2B5EF4-FFF2-40B4-BE49-F238E27FC236}">
                  <a16:creationId xmlns:a16="http://schemas.microsoft.com/office/drawing/2014/main" id="{3157B0B5-7CE3-4499-B6BF-3B14437DB3F8}"/>
                </a:ext>
              </a:extLst>
            </p:cNvPr>
            <p:cNvSpPr/>
            <p:nvPr/>
          </p:nvSpPr>
          <p:spPr>
            <a:xfrm rot="8931971">
              <a:off x="9932843" y="3860371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715;p62">
              <a:extLst>
                <a:ext uri="{FF2B5EF4-FFF2-40B4-BE49-F238E27FC236}">
                  <a16:creationId xmlns:a16="http://schemas.microsoft.com/office/drawing/2014/main" id="{0A6F3CF8-D96E-4C8F-B950-52DBE6FA3E5D}"/>
                </a:ext>
              </a:extLst>
            </p:cNvPr>
            <p:cNvSpPr/>
            <p:nvPr/>
          </p:nvSpPr>
          <p:spPr>
            <a:xfrm rot="8931971">
              <a:off x="10058301" y="3116034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720;p62">
              <a:extLst>
                <a:ext uri="{FF2B5EF4-FFF2-40B4-BE49-F238E27FC236}">
                  <a16:creationId xmlns:a16="http://schemas.microsoft.com/office/drawing/2014/main" id="{CD46A40A-2CC9-4E74-B999-CF2B29998C9F}"/>
                </a:ext>
              </a:extLst>
            </p:cNvPr>
            <p:cNvSpPr/>
            <p:nvPr/>
          </p:nvSpPr>
          <p:spPr>
            <a:xfrm rot="8931971">
              <a:off x="9533020" y="356739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722;p62">
              <a:extLst>
                <a:ext uri="{FF2B5EF4-FFF2-40B4-BE49-F238E27FC236}">
                  <a16:creationId xmlns:a16="http://schemas.microsoft.com/office/drawing/2014/main" id="{F487FD57-FC54-4529-BA86-6BF7438E6091}"/>
                </a:ext>
              </a:extLst>
            </p:cNvPr>
            <p:cNvSpPr/>
            <p:nvPr/>
          </p:nvSpPr>
          <p:spPr>
            <a:xfrm rot="8931971">
              <a:off x="9542065" y="4028166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728;p62">
              <a:extLst>
                <a:ext uri="{FF2B5EF4-FFF2-40B4-BE49-F238E27FC236}">
                  <a16:creationId xmlns:a16="http://schemas.microsoft.com/office/drawing/2014/main" id="{61E4B2FA-2B0A-4287-A680-50E015C2B891}"/>
                </a:ext>
              </a:extLst>
            </p:cNvPr>
            <p:cNvSpPr/>
            <p:nvPr/>
          </p:nvSpPr>
          <p:spPr>
            <a:xfrm rot="8931971">
              <a:off x="9260362" y="3422659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3735;p62">
              <a:extLst>
                <a:ext uri="{FF2B5EF4-FFF2-40B4-BE49-F238E27FC236}">
                  <a16:creationId xmlns:a16="http://schemas.microsoft.com/office/drawing/2014/main" id="{51D5B3E4-60BC-4FE9-8A2D-BCB3035E2CFE}"/>
                </a:ext>
              </a:extLst>
            </p:cNvPr>
            <p:cNvSpPr/>
            <p:nvPr/>
          </p:nvSpPr>
          <p:spPr>
            <a:xfrm rot="8931971">
              <a:off x="9705069" y="3326753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746;p62">
              <a:extLst>
                <a:ext uri="{FF2B5EF4-FFF2-40B4-BE49-F238E27FC236}">
                  <a16:creationId xmlns:a16="http://schemas.microsoft.com/office/drawing/2014/main" id="{B405FE8B-DECD-4BED-8AD4-F7C87AD4833B}"/>
                </a:ext>
              </a:extLst>
            </p:cNvPr>
            <p:cNvSpPr/>
            <p:nvPr/>
          </p:nvSpPr>
          <p:spPr>
            <a:xfrm rot="8931971">
              <a:off x="9059668" y="4214293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749;p62">
              <a:extLst>
                <a:ext uri="{FF2B5EF4-FFF2-40B4-BE49-F238E27FC236}">
                  <a16:creationId xmlns:a16="http://schemas.microsoft.com/office/drawing/2014/main" id="{6C1860F9-3789-4306-B5AE-6B5A604A494C}"/>
                </a:ext>
              </a:extLst>
            </p:cNvPr>
            <p:cNvSpPr/>
            <p:nvPr/>
          </p:nvSpPr>
          <p:spPr>
            <a:xfrm rot="8931971">
              <a:off x="9886576" y="3641429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761;p62">
              <a:extLst>
                <a:ext uri="{FF2B5EF4-FFF2-40B4-BE49-F238E27FC236}">
                  <a16:creationId xmlns:a16="http://schemas.microsoft.com/office/drawing/2014/main" id="{A3091BCA-6D5D-4FB3-9B1D-45F96CF2BD76}"/>
                </a:ext>
              </a:extLst>
            </p:cNvPr>
            <p:cNvSpPr/>
            <p:nvPr/>
          </p:nvSpPr>
          <p:spPr>
            <a:xfrm rot="8931971">
              <a:off x="8169949" y="404400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762;p62">
              <a:extLst>
                <a:ext uri="{FF2B5EF4-FFF2-40B4-BE49-F238E27FC236}">
                  <a16:creationId xmlns:a16="http://schemas.microsoft.com/office/drawing/2014/main" id="{6676623C-6FB7-4FAC-853D-31637D2059E6}"/>
                </a:ext>
              </a:extLst>
            </p:cNvPr>
            <p:cNvSpPr/>
            <p:nvPr/>
          </p:nvSpPr>
          <p:spPr>
            <a:xfrm rot="8931971">
              <a:off x="8473611" y="3860371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764;p62">
              <a:extLst>
                <a:ext uri="{FF2B5EF4-FFF2-40B4-BE49-F238E27FC236}">
                  <a16:creationId xmlns:a16="http://schemas.microsoft.com/office/drawing/2014/main" id="{8CBEA467-A4A3-40C8-A279-F7295AD0E2F9}"/>
                </a:ext>
              </a:extLst>
            </p:cNvPr>
            <p:cNvSpPr/>
            <p:nvPr/>
          </p:nvSpPr>
          <p:spPr>
            <a:xfrm rot="8931971">
              <a:off x="10240132" y="345441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765;p62">
              <a:extLst>
                <a:ext uri="{FF2B5EF4-FFF2-40B4-BE49-F238E27FC236}">
                  <a16:creationId xmlns:a16="http://schemas.microsoft.com/office/drawing/2014/main" id="{31D2D25A-E0B3-40CF-9D3E-60E95ECE1FB1}"/>
                </a:ext>
              </a:extLst>
            </p:cNvPr>
            <p:cNvSpPr/>
            <p:nvPr/>
          </p:nvSpPr>
          <p:spPr>
            <a:xfrm rot="8931971">
              <a:off x="8849918" y="3479507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等腰三角形 32">
              <a:extLst>
                <a:ext uri="{FF2B5EF4-FFF2-40B4-BE49-F238E27FC236}">
                  <a16:creationId xmlns:a16="http://schemas.microsoft.com/office/drawing/2014/main" id="{02407E13-7170-468F-8BEE-4D82E9CBEA3D}"/>
                </a:ext>
              </a:extLst>
            </p:cNvPr>
            <p:cNvSpPr/>
            <p:nvPr/>
          </p:nvSpPr>
          <p:spPr>
            <a:xfrm>
              <a:off x="8265751" y="2752182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>
              <a:extLst>
                <a:ext uri="{FF2B5EF4-FFF2-40B4-BE49-F238E27FC236}">
                  <a16:creationId xmlns:a16="http://schemas.microsoft.com/office/drawing/2014/main" id="{80017FFD-30E9-45B4-B69C-454CB9EB0DA8}"/>
                </a:ext>
              </a:extLst>
            </p:cNvPr>
            <p:cNvSpPr/>
            <p:nvPr/>
          </p:nvSpPr>
          <p:spPr>
            <a:xfrm>
              <a:off x="8867556" y="2666006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等腰三角形 34">
              <a:extLst>
                <a:ext uri="{FF2B5EF4-FFF2-40B4-BE49-F238E27FC236}">
                  <a16:creationId xmlns:a16="http://schemas.microsoft.com/office/drawing/2014/main" id="{C588731C-D86A-4049-A7CE-1A43EBC7AC1D}"/>
                </a:ext>
              </a:extLst>
            </p:cNvPr>
            <p:cNvSpPr/>
            <p:nvPr/>
          </p:nvSpPr>
          <p:spPr>
            <a:xfrm>
              <a:off x="8606134" y="2598701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等腰三角形 35">
              <a:extLst>
                <a:ext uri="{FF2B5EF4-FFF2-40B4-BE49-F238E27FC236}">
                  <a16:creationId xmlns:a16="http://schemas.microsoft.com/office/drawing/2014/main" id="{AD881964-EF46-4C78-AB51-C76F54A2537C}"/>
                </a:ext>
              </a:extLst>
            </p:cNvPr>
            <p:cNvSpPr/>
            <p:nvPr/>
          </p:nvSpPr>
          <p:spPr>
            <a:xfrm>
              <a:off x="7948840" y="3244771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等腰三角形 36">
              <a:extLst>
                <a:ext uri="{FF2B5EF4-FFF2-40B4-BE49-F238E27FC236}">
                  <a16:creationId xmlns:a16="http://schemas.microsoft.com/office/drawing/2014/main" id="{F5138F28-7F93-45CB-B07F-5C944F6C4558}"/>
                </a:ext>
              </a:extLst>
            </p:cNvPr>
            <p:cNvSpPr/>
            <p:nvPr/>
          </p:nvSpPr>
          <p:spPr>
            <a:xfrm>
              <a:off x="8161951" y="2096076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等腰三角形 37">
              <a:extLst>
                <a:ext uri="{FF2B5EF4-FFF2-40B4-BE49-F238E27FC236}">
                  <a16:creationId xmlns:a16="http://schemas.microsoft.com/office/drawing/2014/main" id="{F3D1FDBD-5E6C-4F76-BC95-157D58B0C9AC}"/>
                </a:ext>
              </a:extLst>
            </p:cNvPr>
            <p:cNvSpPr/>
            <p:nvPr/>
          </p:nvSpPr>
          <p:spPr>
            <a:xfrm>
              <a:off x="8675787" y="2845287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等腰三角形 38">
              <a:extLst>
                <a:ext uri="{FF2B5EF4-FFF2-40B4-BE49-F238E27FC236}">
                  <a16:creationId xmlns:a16="http://schemas.microsoft.com/office/drawing/2014/main" id="{ABCA55E4-EAC9-4920-BB05-5E25A899ABF6}"/>
                </a:ext>
              </a:extLst>
            </p:cNvPr>
            <p:cNvSpPr/>
            <p:nvPr/>
          </p:nvSpPr>
          <p:spPr>
            <a:xfrm>
              <a:off x="8965694" y="2346515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等腰三角形 39">
              <a:extLst>
                <a:ext uri="{FF2B5EF4-FFF2-40B4-BE49-F238E27FC236}">
                  <a16:creationId xmlns:a16="http://schemas.microsoft.com/office/drawing/2014/main" id="{0511F403-DC9F-45BF-9FBD-E9A07D5D36BF}"/>
                </a:ext>
              </a:extLst>
            </p:cNvPr>
            <p:cNvSpPr/>
            <p:nvPr/>
          </p:nvSpPr>
          <p:spPr>
            <a:xfrm>
              <a:off x="8698609" y="2298541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等腰三角形 40">
              <a:extLst>
                <a:ext uri="{FF2B5EF4-FFF2-40B4-BE49-F238E27FC236}">
                  <a16:creationId xmlns:a16="http://schemas.microsoft.com/office/drawing/2014/main" id="{81C5727B-1009-4410-BB44-2B826E1F7CCB}"/>
                </a:ext>
              </a:extLst>
            </p:cNvPr>
            <p:cNvSpPr/>
            <p:nvPr/>
          </p:nvSpPr>
          <p:spPr>
            <a:xfrm>
              <a:off x="8933436" y="2944836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等腰三角形 41">
              <a:extLst>
                <a:ext uri="{FF2B5EF4-FFF2-40B4-BE49-F238E27FC236}">
                  <a16:creationId xmlns:a16="http://schemas.microsoft.com/office/drawing/2014/main" id="{E598C7F8-8395-4289-B4AC-DE79E60D21D1}"/>
                </a:ext>
              </a:extLst>
            </p:cNvPr>
            <p:cNvSpPr/>
            <p:nvPr/>
          </p:nvSpPr>
          <p:spPr>
            <a:xfrm>
              <a:off x="7474897" y="2296672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等腰三角形 42">
              <a:extLst>
                <a:ext uri="{FF2B5EF4-FFF2-40B4-BE49-F238E27FC236}">
                  <a16:creationId xmlns:a16="http://schemas.microsoft.com/office/drawing/2014/main" id="{03D5B503-A170-40E6-8FCF-B00B6B2B9E52}"/>
                </a:ext>
              </a:extLst>
            </p:cNvPr>
            <p:cNvSpPr/>
            <p:nvPr/>
          </p:nvSpPr>
          <p:spPr>
            <a:xfrm>
              <a:off x="9157463" y="2791565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等腰三角形 44">
              <a:extLst>
                <a:ext uri="{FF2B5EF4-FFF2-40B4-BE49-F238E27FC236}">
                  <a16:creationId xmlns:a16="http://schemas.microsoft.com/office/drawing/2014/main" id="{5F118BC5-9CB1-44FF-94F5-93868E1260A9}"/>
                </a:ext>
              </a:extLst>
            </p:cNvPr>
            <p:cNvSpPr/>
            <p:nvPr/>
          </p:nvSpPr>
          <p:spPr>
            <a:xfrm>
              <a:off x="7490973" y="2592620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等腰三角形 45">
              <a:extLst>
                <a:ext uri="{FF2B5EF4-FFF2-40B4-BE49-F238E27FC236}">
                  <a16:creationId xmlns:a16="http://schemas.microsoft.com/office/drawing/2014/main" id="{0341ADEE-46B2-417D-A286-8641EC0FD4C9}"/>
                </a:ext>
              </a:extLst>
            </p:cNvPr>
            <p:cNvSpPr/>
            <p:nvPr/>
          </p:nvSpPr>
          <p:spPr>
            <a:xfrm>
              <a:off x="7878510" y="2185459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等腰三角形 46">
              <a:extLst>
                <a:ext uri="{FF2B5EF4-FFF2-40B4-BE49-F238E27FC236}">
                  <a16:creationId xmlns:a16="http://schemas.microsoft.com/office/drawing/2014/main" id="{05A6F5EA-51CA-469D-A410-35A8A8F59088}"/>
                </a:ext>
              </a:extLst>
            </p:cNvPr>
            <p:cNvSpPr/>
            <p:nvPr/>
          </p:nvSpPr>
          <p:spPr>
            <a:xfrm>
              <a:off x="7097732" y="2773544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等腰三角形 47">
              <a:extLst>
                <a:ext uri="{FF2B5EF4-FFF2-40B4-BE49-F238E27FC236}">
                  <a16:creationId xmlns:a16="http://schemas.microsoft.com/office/drawing/2014/main" id="{6A9DB14B-3FDA-49F7-BA37-ACB9C04A69C3}"/>
                </a:ext>
              </a:extLst>
            </p:cNvPr>
            <p:cNvSpPr/>
            <p:nvPr/>
          </p:nvSpPr>
          <p:spPr>
            <a:xfrm>
              <a:off x="8183310" y="2490259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等腰三角形 48">
              <a:extLst>
                <a:ext uri="{FF2B5EF4-FFF2-40B4-BE49-F238E27FC236}">
                  <a16:creationId xmlns:a16="http://schemas.microsoft.com/office/drawing/2014/main" id="{C5310782-0339-4020-B266-59E53F7803BD}"/>
                </a:ext>
              </a:extLst>
            </p:cNvPr>
            <p:cNvSpPr/>
            <p:nvPr/>
          </p:nvSpPr>
          <p:spPr>
            <a:xfrm>
              <a:off x="7298753" y="3089543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等腰三角形 49">
              <a:extLst>
                <a:ext uri="{FF2B5EF4-FFF2-40B4-BE49-F238E27FC236}">
                  <a16:creationId xmlns:a16="http://schemas.microsoft.com/office/drawing/2014/main" id="{6FAF0E29-3531-4260-81D8-585E113702E5}"/>
                </a:ext>
              </a:extLst>
            </p:cNvPr>
            <p:cNvSpPr/>
            <p:nvPr/>
          </p:nvSpPr>
          <p:spPr>
            <a:xfrm>
              <a:off x="7667881" y="3035848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等腰三角形 50">
              <a:extLst>
                <a:ext uri="{FF2B5EF4-FFF2-40B4-BE49-F238E27FC236}">
                  <a16:creationId xmlns:a16="http://schemas.microsoft.com/office/drawing/2014/main" id="{C91400AF-8B84-46A2-AE28-F939F7748844}"/>
                </a:ext>
              </a:extLst>
            </p:cNvPr>
            <p:cNvSpPr/>
            <p:nvPr/>
          </p:nvSpPr>
          <p:spPr>
            <a:xfrm>
              <a:off x="8252602" y="2954132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等腰三角形 51">
              <a:extLst>
                <a:ext uri="{FF2B5EF4-FFF2-40B4-BE49-F238E27FC236}">
                  <a16:creationId xmlns:a16="http://schemas.microsoft.com/office/drawing/2014/main" id="{B30975F0-43C6-45CE-9809-88EED0251E0E}"/>
                </a:ext>
              </a:extLst>
            </p:cNvPr>
            <p:cNvSpPr/>
            <p:nvPr/>
          </p:nvSpPr>
          <p:spPr>
            <a:xfrm>
              <a:off x="8337357" y="3308685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等腰三角形 52">
              <a:extLst>
                <a:ext uri="{FF2B5EF4-FFF2-40B4-BE49-F238E27FC236}">
                  <a16:creationId xmlns:a16="http://schemas.microsoft.com/office/drawing/2014/main" id="{6C4825D9-3C8E-4DCA-8116-C9D5FA7764CE}"/>
                </a:ext>
              </a:extLst>
            </p:cNvPr>
            <p:cNvSpPr/>
            <p:nvPr/>
          </p:nvSpPr>
          <p:spPr>
            <a:xfrm>
              <a:off x="8600125" y="2057115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等腰三角形 53">
              <a:extLst>
                <a:ext uri="{FF2B5EF4-FFF2-40B4-BE49-F238E27FC236}">
                  <a16:creationId xmlns:a16="http://schemas.microsoft.com/office/drawing/2014/main" id="{06E79874-D430-4A16-BA98-5AA556F95304}"/>
                </a:ext>
              </a:extLst>
            </p:cNvPr>
            <p:cNvSpPr/>
            <p:nvPr/>
          </p:nvSpPr>
          <p:spPr>
            <a:xfrm>
              <a:off x="7814182" y="2653494"/>
              <a:ext cx="128656" cy="120050"/>
            </a:xfrm>
            <a:prstGeom prst="triangl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Google Shape;3714;p62">
              <a:extLst>
                <a:ext uri="{FF2B5EF4-FFF2-40B4-BE49-F238E27FC236}">
                  <a16:creationId xmlns:a16="http://schemas.microsoft.com/office/drawing/2014/main" id="{B2378BA1-C284-4C01-B2C5-25C6C14F0936}"/>
                </a:ext>
              </a:extLst>
            </p:cNvPr>
            <p:cNvSpPr/>
            <p:nvPr/>
          </p:nvSpPr>
          <p:spPr>
            <a:xfrm rot="8931971">
              <a:off x="8508258" y="3069235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720;p62">
              <a:extLst>
                <a:ext uri="{FF2B5EF4-FFF2-40B4-BE49-F238E27FC236}">
                  <a16:creationId xmlns:a16="http://schemas.microsoft.com/office/drawing/2014/main" id="{907F3628-6D51-4F72-B9E0-88A7CA155248}"/>
                </a:ext>
              </a:extLst>
            </p:cNvPr>
            <p:cNvSpPr/>
            <p:nvPr/>
          </p:nvSpPr>
          <p:spPr>
            <a:xfrm rot="8931971">
              <a:off x="8944544" y="3774514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734;p62">
              <a:extLst>
                <a:ext uri="{FF2B5EF4-FFF2-40B4-BE49-F238E27FC236}">
                  <a16:creationId xmlns:a16="http://schemas.microsoft.com/office/drawing/2014/main" id="{719B3262-4AD1-4AB1-9A59-8FE5DA6C644D}"/>
                </a:ext>
              </a:extLst>
            </p:cNvPr>
            <p:cNvSpPr/>
            <p:nvPr/>
          </p:nvSpPr>
          <p:spPr>
            <a:xfrm rot="8931971">
              <a:off x="9255164" y="3837636"/>
              <a:ext cx="112662" cy="12354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C5A9F75D-4FBE-417A-A2AD-8ECA6A9C5948}"/>
              </a:ext>
            </a:extLst>
          </p:cNvPr>
          <p:cNvSpPr txBox="1"/>
          <p:nvPr/>
        </p:nvSpPr>
        <p:spPr>
          <a:xfrm>
            <a:off x="9763828" y="4335647"/>
            <a:ext cx="15254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333333"/>
                </a:solidFill>
                <a:effectLst/>
                <a:latin typeface="PingFang SC"/>
              </a:rPr>
              <a:t>软间隔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49107394-D9B9-487D-9D4F-AA8198054CAF}"/>
                  </a:ext>
                </a:extLst>
              </p:cNvPr>
              <p:cNvSpPr txBox="1"/>
              <p:nvPr/>
            </p:nvSpPr>
            <p:spPr>
              <a:xfrm>
                <a:off x="622577" y="1452558"/>
                <a:ext cx="8241143" cy="32835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sz="1800" dirty="0"/>
                  <a:t>若数据线性不可分，则可以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引入松弛变量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𝜉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en-US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800" dirty="0"/>
                  <a:t>使函数间隔加上松弛变量大于等于1 ，</a:t>
                </a:r>
                <a:r>
                  <a:rPr lang="zh-CN" altLang="en-US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目标函数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endParaRPr lang="en-US" altLang="zh-CN" sz="1800" dirty="0">
                  <a:effectLst/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1800" i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𝜉</m:t>
                        </m:r>
                      </m:lim>
                    </m:limLow>
                    <m:r>
                      <a:rPr lang="en-US" altLang="zh-CN" sz="1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 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  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||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sSup>
                      <m:sSup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 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. 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800" i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)≥1−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zh-CN" sz="18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对偶问题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endParaRPr lang="en-US" altLang="zh-CN" sz="1800" dirty="0">
                  <a:effectLst/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1800" i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𝛼</m:t>
                        </m:r>
                      </m:lim>
                    </m:limLow>
                    <m:r>
                      <a:rPr lang="en-US" altLang="zh-CN" sz="18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  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8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1800" i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altLang="zh-CN" sz="1800" b="0" i="0" smtClean="0">
                            <a:latin typeface="Cambria Math" panose="02040503050406030204" pitchFamily="18" charset="0"/>
                          </a:rPr>
                          <m:t>in</m:t>
                        </m:r>
                      </m:e>
                      <m:lim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𝛼</m:t>
                        </m:r>
                      </m:lim>
                    </m:limLow>
                    <m:r>
                      <a:rPr lang="en-US" altLang="zh-CN" sz="18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 </m:t>
                    </m:r>
                    <m:f>
                      <m:f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)−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49107394-D9B9-487D-9D4F-AA8198054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577" y="1452558"/>
                <a:ext cx="8241143" cy="3283591"/>
              </a:xfrm>
              <a:prstGeom prst="rect">
                <a:avLst/>
              </a:prstGeom>
              <a:blipFill>
                <a:blip r:embed="rId3"/>
                <a:stretch>
                  <a:fillRect l="-592" r="-1775" b="-174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E2BF2BE2-EB32-4D22-B4F9-98A3F2FA559A}"/>
                  </a:ext>
                </a:extLst>
              </p:cNvPr>
              <p:cNvSpPr/>
              <p:nvPr/>
            </p:nvSpPr>
            <p:spPr>
              <a:xfrm>
                <a:off x="-108931" y="4735757"/>
                <a:ext cx="7345487" cy="8485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sz="18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1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1800" i="0">
                          <a:latin typeface="Cambria Math" panose="02040503050406030204" pitchFamily="18" charset="0"/>
                        </a:rPr>
                        <m:t>. </m:t>
                      </m:r>
                      <m:r>
                        <a:rPr lang="zh-CN" altLang="en-US" sz="18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1800" i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1800" i="0">
                          <a:latin typeface="Cambria Math" panose="02040503050406030204" pitchFamily="18" charset="0"/>
                        </a:rPr>
                        <m:t>≥0,</m:t>
                      </m:r>
                      <m:r>
                        <a:rPr lang="zh-CN" altLang="en-US" sz="18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1800" i="0">
                          <a:latin typeface="Cambria Math" panose="02040503050406030204" pitchFamily="18" charset="0"/>
                        </a:rPr>
                        <m:t>=1,2,...,</m:t>
                      </m:r>
                      <m:r>
                        <a:rPr lang="zh-CN" altLang="en-US" sz="18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                      </m:t>
                      </m:r>
                      <m:r>
                        <a:rPr lang="zh-CN" altLang="en-US" sz="1800" i="0">
                          <a:latin typeface="Cambria Math" panose="02040503050406030204" pitchFamily="18" charset="0"/>
                        </a:rPr>
                        <m:t> 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18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18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E2BF2BE2-EB32-4D22-B4F9-98A3F2FA55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8931" y="4735757"/>
                <a:ext cx="7345487" cy="8485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Google Shape;3718;p62">
            <a:extLst>
              <a:ext uri="{FF2B5EF4-FFF2-40B4-BE49-F238E27FC236}">
                <a16:creationId xmlns:a16="http://schemas.microsoft.com/office/drawing/2014/main" id="{A5200E7B-0A29-444C-BE30-97F0A31EE2D6}"/>
              </a:ext>
            </a:extLst>
          </p:cNvPr>
          <p:cNvCxnSpPr>
            <a:cxnSpLocks/>
          </p:cNvCxnSpPr>
          <p:nvPr/>
        </p:nvCxnSpPr>
        <p:spPr>
          <a:xfrm flipV="1">
            <a:off x="9169440" y="2161017"/>
            <a:ext cx="2642433" cy="204297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27F34E0-6EB9-4B1D-9E04-2E3DCB39DBED}"/>
                  </a:ext>
                </a:extLst>
              </p:cNvPr>
              <p:cNvSpPr txBox="1"/>
              <p:nvPr/>
            </p:nvSpPr>
            <p:spPr>
              <a:xfrm>
                <a:off x="581123" y="5717226"/>
                <a:ext cx="8983123" cy="87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为惩罚参数，</a:t>
                </a:r>
                <a:r>
                  <a:rPr lang="en-US" altLang="zh-CN" sz="18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1800" dirty="0" err="1"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值越大</a:t>
                </a:r>
                <a:r>
                  <a:rPr lang="en-US" altLang="zh-CN" sz="1800" dirty="0"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 ，</a:t>
                </a:r>
                <a:r>
                  <a:rPr lang="en-US" altLang="zh-CN" sz="1800" dirty="0" err="1"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对分类的惩罚越大。跟线性可分求解的思路一致，同样这里先用拉格朗日乘子法得到拉格朗日函数，再求其对偶问题</a:t>
                </a:r>
                <a:r>
                  <a:rPr lang="zh-CN" altLang="en-US" sz="18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zh-CN" altLang="en-US" sz="1800" dirty="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27F34E0-6EB9-4B1D-9E04-2E3DCB39D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23" y="5717226"/>
                <a:ext cx="8983123" cy="873957"/>
              </a:xfrm>
              <a:prstGeom prst="rect">
                <a:avLst/>
              </a:prstGeom>
              <a:blipFill>
                <a:blip r:embed="rId5"/>
                <a:stretch>
                  <a:fillRect l="-543" b="-104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4456970"/>
      </p:ext>
    </p:extLst>
  </p:cSld>
  <p:clrMapOvr>
    <a:masterClrMapping/>
  </p:clrMapOvr>
  <p:transition advTm="8005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</a:t>
            </a:r>
            <a:r>
              <a:rPr lang="zh-CN" altLang="en-US" dirty="0">
                <a:solidFill>
                  <a:schemeClr val="tx1"/>
                </a:solidFill>
              </a:rPr>
              <a:t>线性支持向量机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FCCAE72A-910A-4B39-AB00-30D747ED061E}"/>
                  </a:ext>
                </a:extLst>
              </p:cNvPr>
              <p:cNvSpPr txBox="1"/>
              <p:nvPr/>
            </p:nvSpPr>
            <p:spPr>
              <a:xfrm>
                <a:off x="754933" y="1347059"/>
                <a:ext cx="5339036" cy="23545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𝜉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0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为"松弛变量</a:t>
                </a:r>
                <a:r>
                  <a:rPr lang="en-US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"</a:t>
                </a:r>
              </a:p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2000">
                        <a:effectLst/>
                        <a:latin typeface="微软雅黑" panose="020B0503020204020204" pitchFamily="34" charset="-122"/>
                        <a:cs typeface="Times New Roman" panose="02020603050405020304" pitchFamily="18" charset="0"/>
                      </a:rPr>
                      <m:t>max</m:t>
                    </m:r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1−</m:t>
                    </m:r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r>
                  <a:rPr lang="en-US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20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即</a:t>
                </a:r>
                <a:r>
                  <a:rPr lang="en-US" altLang="zh-CN" sz="2000" dirty="0" err="1">
                    <a:solidFill>
                      <a:srgbClr val="FF0000"/>
                    </a:solidFill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hinge损失函数</a:t>
                </a:r>
                <a:r>
                  <a:rPr lang="en-US" altLang="zh-CN" sz="20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。每一个样本都有一个对应的松弛变量，表征该样本不满足约束的程度</a:t>
                </a:r>
                <a:r>
                  <a:rPr lang="en-US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FCCAE72A-910A-4B39-AB00-30D747ED0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933" y="1347059"/>
                <a:ext cx="5339036" cy="2354555"/>
              </a:xfrm>
              <a:prstGeom prst="rect">
                <a:avLst/>
              </a:prstGeom>
              <a:blipFill>
                <a:blip r:embed="rId3"/>
                <a:stretch>
                  <a:fillRect l="-1256" b="-38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矩形 60">
            <a:extLst>
              <a:ext uri="{FF2B5EF4-FFF2-40B4-BE49-F238E27FC236}">
                <a16:creationId xmlns:a16="http://schemas.microsoft.com/office/drawing/2014/main" id="{9D14AC55-B2D1-406A-BA3F-4810884FF284}"/>
              </a:ext>
            </a:extLst>
          </p:cNvPr>
          <p:cNvSpPr/>
          <p:nvPr/>
        </p:nvSpPr>
        <p:spPr>
          <a:xfrm>
            <a:off x="7727895" y="5209104"/>
            <a:ext cx="308308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损失函数</a:t>
            </a:r>
            <a:r>
              <a:rPr lang="en-US" altLang="zh-CN" sz="2000" dirty="0">
                <a:solidFill>
                  <a:srgbClr val="FF0000"/>
                </a:solidFill>
                <a:latin typeface="Verdana" panose="020B0604030504040204" pitchFamily="34" charset="0"/>
              </a:rPr>
              <a:t>hinge loss</a:t>
            </a:r>
            <a:endParaRPr lang="zh-CN" altLang="en-US" sz="20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6FBD879-01CB-41DE-8259-055EE2CE8CC5}"/>
              </a:ext>
            </a:extLst>
          </p:cNvPr>
          <p:cNvGrpSpPr/>
          <p:nvPr/>
        </p:nvGrpSpPr>
        <p:grpSpPr>
          <a:xfrm>
            <a:off x="6064301" y="1732919"/>
            <a:ext cx="6075842" cy="3392162"/>
            <a:chOff x="1687132" y="1622738"/>
            <a:chExt cx="6259133" cy="3392162"/>
          </a:xfrm>
        </p:grpSpPr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012E7496-52D0-4D7C-A524-A80129B25786}"/>
                </a:ext>
              </a:extLst>
            </p:cNvPr>
            <p:cNvCxnSpPr>
              <a:cxnSpLocks/>
            </p:cNvCxnSpPr>
            <p:nvPr/>
          </p:nvCxnSpPr>
          <p:spPr>
            <a:xfrm>
              <a:off x="1958476" y="4647779"/>
              <a:ext cx="5510728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805CE3BA-CB95-44EF-AF2D-BC930A342D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10918" y="1622738"/>
              <a:ext cx="0" cy="302504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268ECB70-EF6A-4258-956C-7F55F271D279}"/>
                </a:ext>
              </a:extLst>
            </p:cNvPr>
            <p:cNvSpPr/>
            <p:nvPr/>
          </p:nvSpPr>
          <p:spPr>
            <a:xfrm>
              <a:off x="4388058" y="4608823"/>
              <a:ext cx="45719" cy="5042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90A67A52-7A0C-4315-B70E-8F606EBAA7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57057" y="4636881"/>
              <a:ext cx="21240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0B5B7E74-2FF4-45F3-B36E-7928A7BC0E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53425" y="1770845"/>
              <a:ext cx="2808000" cy="28800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C9EA047-7EF6-4E68-BF83-251483112EFB}"/>
                </a:ext>
              </a:extLst>
            </p:cNvPr>
            <p:cNvSpPr txBox="1"/>
            <p:nvPr/>
          </p:nvSpPr>
          <p:spPr>
            <a:xfrm>
              <a:off x="4530584" y="3552234"/>
              <a:ext cx="66890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(0,1)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DE1E701-50A9-4341-9DF2-6A9F3BE66336}"/>
                </a:ext>
              </a:extLst>
            </p:cNvPr>
            <p:cNvSpPr txBox="1"/>
            <p:nvPr/>
          </p:nvSpPr>
          <p:spPr>
            <a:xfrm>
              <a:off x="5024890" y="4648080"/>
              <a:ext cx="66890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,</a:t>
              </a:r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r>
                <a: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9CAA4E4-FF3E-43A8-BFC4-23DA0B813E15}"/>
                </a:ext>
              </a:extLst>
            </p:cNvPr>
            <p:cNvSpPr/>
            <p:nvPr/>
          </p:nvSpPr>
          <p:spPr>
            <a:xfrm>
              <a:off x="4388057" y="3745112"/>
              <a:ext cx="45719" cy="5042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DE057721-E4D4-4AD3-96FB-592B3BBF2F83}"/>
                </a:ext>
              </a:extLst>
            </p:cNvPr>
            <p:cNvSpPr/>
            <p:nvPr/>
          </p:nvSpPr>
          <p:spPr>
            <a:xfrm>
              <a:off x="5234199" y="4612182"/>
              <a:ext cx="45719" cy="5042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8B47601-7624-48EF-8659-32FD124108D1}"/>
                </a:ext>
              </a:extLst>
            </p:cNvPr>
            <p:cNvSpPr txBox="1"/>
            <p:nvPr/>
          </p:nvSpPr>
          <p:spPr>
            <a:xfrm>
              <a:off x="4099325" y="4659248"/>
              <a:ext cx="66890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(0,</a:t>
              </a:r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r>
                <a: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CE85CCC8-37A5-4501-9B39-69863857E11C}"/>
                </a:ext>
              </a:extLst>
            </p:cNvPr>
            <p:cNvCxnSpPr>
              <a:cxnSpLocks/>
            </p:cNvCxnSpPr>
            <p:nvPr/>
          </p:nvCxnSpPr>
          <p:spPr>
            <a:xfrm>
              <a:off x="1958476" y="3770324"/>
              <a:ext cx="2466524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670C1DFC-825F-4E25-9D9F-43663690E5AB}"/>
                </a:ext>
              </a:extLst>
            </p:cNvPr>
            <p:cNvCxnSpPr>
              <a:cxnSpLocks/>
              <a:endCxn id="16" idx="6"/>
            </p:cNvCxnSpPr>
            <p:nvPr/>
          </p:nvCxnSpPr>
          <p:spPr>
            <a:xfrm>
              <a:off x="4410916" y="4634035"/>
              <a:ext cx="869002" cy="336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968638B-8827-4CE7-9103-5CE68BCC000C}"/>
                </a:ext>
              </a:extLst>
            </p:cNvPr>
            <p:cNvCxnSpPr>
              <a:cxnSpLocks/>
              <a:stCxn id="10" idx="4"/>
            </p:cNvCxnSpPr>
            <p:nvPr/>
          </p:nvCxnSpPr>
          <p:spPr>
            <a:xfrm flipV="1">
              <a:off x="4410918" y="3759761"/>
              <a:ext cx="1308" cy="88200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0DF46FFD-A077-4E5C-A38A-E4BD7502BF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87132" y="1885664"/>
              <a:ext cx="2735262" cy="2736000"/>
            </a:xfrm>
            <a:prstGeom prst="line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50159E5-DEA0-47E1-970C-6E4F189CC7FE}"/>
                </a:ext>
              </a:extLst>
            </p:cNvPr>
            <p:cNvSpPr txBox="1"/>
            <p:nvPr/>
          </p:nvSpPr>
          <p:spPr>
            <a:xfrm>
              <a:off x="2701120" y="1770845"/>
              <a:ext cx="152343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/>
                <a:t>合页损失函数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2FF9F1D7-34AC-4135-8435-059B096D0E83}"/>
                </a:ext>
              </a:extLst>
            </p:cNvPr>
            <p:cNvSpPr txBox="1"/>
            <p:nvPr/>
          </p:nvSpPr>
          <p:spPr>
            <a:xfrm>
              <a:off x="1817620" y="3840302"/>
              <a:ext cx="152343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/>
                <a:t>0-1</a:t>
              </a:r>
              <a:r>
                <a:rPr lang="zh-CN" altLang="en-US" sz="1600" dirty="0"/>
                <a:t>损失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CC3A4331-1505-443C-A70A-E02A87D159A2}"/>
                    </a:ext>
                  </a:extLst>
                </p:cNvPr>
                <p:cNvSpPr txBox="1"/>
                <p:nvPr/>
              </p:nvSpPr>
              <p:spPr>
                <a:xfrm>
                  <a:off x="5645125" y="4676346"/>
                  <a:ext cx="230114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1600" dirty="0"/>
                    <a:t>函数间隔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i="1" dirty="0" err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CN" sz="1600" b="0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1600" i="1" dirty="0" err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600" i="1" dirty="0" err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 dirty="0" err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CC3A4331-1505-443C-A70A-E02A87D159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5125" y="4676346"/>
                  <a:ext cx="2301140" cy="338554"/>
                </a:xfrm>
                <a:prstGeom prst="rect">
                  <a:avLst/>
                </a:prstGeom>
                <a:blipFill>
                  <a:blip r:embed="rId4"/>
                  <a:stretch>
                    <a:fillRect l="-1366" t="-5357" b="-2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0AE14C29-9F66-449E-9C26-898A9414ED1A}"/>
                </a:ext>
              </a:extLst>
            </p:cNvPr>
            <p:cNvSpPr txBox="1"/>
            <p:nvPr/>
          </p:nvSpPr>
          <p:spPr>
            <a:xfrm>
              <a:off x="4495342" y="1782178"/>
              <a:ext cx="152343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/>
                <a:t>损失</a:t>
              </a: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B63DC084-3AD1-49D2-AB99-102C081F5E26}"/>
              </a:ext>
            </a:extLst>
          </p:cNvPr>
          <p:cNvSpPr txBox="1"/>
          <p:nvPr/>
        </p:nvSpPr>
        <p:spPr>
          <a:xfrm>
            <a:off x="774559" y="3757519"/>
            <a:ext cx="5236115" cy="1884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蓝色线代表</a:t>
            </a:r>
            <a:r>
              <a:rPr lang="en-US" altLang="zh-CN" sz="20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hinge</a:t>
            </a:r>
            <a:r>
              <a:rPr lang="zh-CN" altLang="en-US" sz="20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损失函数，黄</a:t>
            </a:r>
            <a:r>
              <a:rPr lang="zh-CN" altLang="zh-CN" sz="20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色线</a:t>
            </a:r>
            <a:r>
              <a:rPr lang="zh-CN" altLang="en-US" sz="20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代表</a:t>
            </a:r>
            <a:r>
              <a:rPr lang="en-US" altLang="zh-CN" sz="2000" kern="100" dirty="0">
                <a:effectLst/>
                <a:latin typeface="+mj-ea"/>
                <a:ea typeface="+mj-ea"/>
              </a:rPr>
              <a:t>0-1</a:t>
            </a:r>
            <a:r>
              <a:rPr lang="zh-CN" altLang="zh-CN" sz="20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损失函数，可以认为它是二类分类问题的真正的损失函数，而合页损失函数是</a:t>
            </a:r>
            <a:r>
              <a:rPr lang="en-US" altLang="zh-CN" sz="2000" kern="100" dirty="0">
                <a:effectLst/>
                <a:latin typeface="+mj-ea"/>
                <a:ea typeface="+mj-ea"/>
              </a:rPr>
              <a:t>0-1</a:t>
            </a:r>
            <a:r>
              <a:rPr lang="zh-CN" altLang="zh-CN" sz="20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损失函数的上界。</a:t>
            </a:r>
            <a:endParaRPr lang="en-US" altLang="zh-CN" sz="2000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488876"/>
      </p:ext>
    </p:extLst>
  </p:cSld>
  <p:clrMapOvr>
    <a:masterClrMapping/>
  </p:clrMapOvr>
  <p:transition advTm="8005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</a:t>
            </a:r>
            <a:r>
              <a:rPr lang="zh-CN" altLang="en-US" dirty="0">
                <a:solidFill>
                  <a:schemeClr val="tx1"/>
                </a:solidFill>
              </a:rPr>
              <a:t>线性支持向量机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D6315507-E9F7-43CB-A874-E468B0CFBB47}"/>
                  </a:ext>
                </a:extLst>
              </p:cNvPr>
              <p:cNvSpPr txBox="1"/>
              <p:nvPr/>
            </p:nvSpPr>
            <p:spPr>
              <a:xfrm>
                <a:off x="807973" y="1379065"/>
                <a:ext cx="10258612" cy="1911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20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求解原始最优化问题的解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得到线性支持向量机，其分离超平面为</a:t>
                </a:r>
                <a:endParaRPr lang="zh-CN" altLang="zh-CN" sz="2000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zh-CN" altLang="zh-CN" sz="2000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20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分类决策函数为</a:t>
                </a:r>
                <a:r>
                  <a:rPr lang="zh-CN" altLang="en-US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sz="20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sign</m:t>
                    </m:r>
                    <m:d>
                      <m:d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sz="20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zh-CN" altLang="zh-CN" sz="2000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D6315507-E9F7-43CB-A874-E468B0CFB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973" y="1379065"/>
                <a:ext cx="10258612" cy="1911998"/>
              </a:xfrm>
              <a:prstGeom prst="rect">
                <a:avLst/>
              </a:prstGeom>
              <a:blipFill>
                <a:blip r:embed="rId3"/>
                <a:stretch>
                  <a:fillRect l="-654" b="-35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77797B2-88FD-4666-8F8F-C85EEBC0E1C6}"/>
                  </a:ext>
                </a:extLst>
              </p:cNvPr>
              <p:cNvSpPr txBox="1"/>
              <p:nvPr/>
            </p:nvSpPr>
            <p:spPr>
              <a:xfrm>
                <a:off x="757434" y="3323360"/>
                <a:ext cx="9275298" cy="2505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线性可分支持向量机的解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唯一</a:t>
                </a:r>
                <a:r>
                  <a:rPr lang="zh-CN" altLang="en-US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0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不唯一。对偶问题是</a:t>
                </a:r>
                <a:endParaRPr lang="zh-CN" altLang="zh-CN" sz="2000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zh-CN" sz="16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1600" i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e>
                        <m:lim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𝛼</m:t>
                          </m:r>
                        </m:lim>
                      </m:limLow>
                      <m:r>
                        <a:rPr lang="en-US" altLang="zh-CN" sz="16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 </m:t>
                      </m:r>
                      <m:f>
                        <m:fPr>
                          <m:ctrlPr>
                            <a:rPr lang="zh-CN" altLang="zh-CN" sz="16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zh-CN" sz="16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16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6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sz="16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sSub>
                        <m:sSubPr>
                          <m:ctrlPr>
                            <a:rPr lang="zh-CN" altLang="zh-CN" sz="16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zh-CN" altLang="zh-CN" sz="16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zh-CN" altLang="zh-CN" sz="16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zh-CN" altLang="zh-CN" sz="16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6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zh-CN" altLang="zh-CN" sz="16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6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6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6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zh-CN" sz="1600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zh-CN" sz="16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CN" sz="16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sz="16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. 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6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6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6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zh-CN" altLang="zh-CN" sz="16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6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zh-CN" altLang="zh-CN" sz="1600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0≤</m:t>
                      </m:r>
                      <m:sSub>
                        <m:sSubPr>
                          <m:ctrlPr>
                            <a:rPr lang="zh-CN" altLang="zh-CN" sz="16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6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CN" sz="16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zh-CN" sz="16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, </m:t>
                      </m:r>
                      <m:r>
                        <a:rPr lang="en-US" altLang="zh-CN" sz="16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CN" sz="16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=1,2,⋯,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𝑚</m:t>
                      </m:r>
                    </m:oMath>
                  </m:oMathPara>
                </a14:m>
                <a:endParaRPr lang="zh-CN" altLang="zh-CN" sz="2000" i="1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77797B2-88FD-4666-8F8F-C85EEBC0E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34" y="3323360"/>
                <a:ext cx="9275298" cy="2505751"/>
              </a:xfrm>
              <a:prstGeom prst="rect">
                <a:avLst/>
              </a:prstGeom>
              <a:blipFill>
                <a:blip r:embed="rId4"/>
                <a:stretch>
                  <a:fillRect l="-657" t="-1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2293374"/>
      </p:ext>
    </p:extLst>
  </p:cSld>
  <p:clrMapOvr>
    <a:masterClrMapping/>
  </p:clrMapOvr>
  <p:transition advTm="8005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</a:t>
            </a:r>
            <a:r>
              <a:rPr lang="zh-CN" altLang="en-US" dirty="0">
                <a:solidFill>
                  <a:schemeClr val="tx1"/>
                </a:solidFill>
              </a:rPr>
              <a:t>线性支持向量机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2AF8F7C-3BAF-4DD0-9CD1-36DC3D3B645E}"/>
                  </a:ext>
                </a:extLst>
              </p:cNvPr>
              <p:cNvSpPr txBox="1"/>
              <p:nvPr/>
            </p:nvSpPr>
            <p:spPr>
              <a:xfrm>
                <a:off x="842950" y="1354000"/>
                <a:ext cx="10506099" cy="39149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sz="2400" b="0" i="0" dirty="0">
                    <a:solidFill>
                      <a:srgbClr val="333333"/>
                    </a:solidFill>
                    <a:effectLst/>
                    <a:latin typeface="-apple-system"/>
                  </a:rPr>
                  <a:t> 解出后，代入超平面</a:t>
                </a:r>
                <a:r>
                  <a:rPr lang="zh-CN" altLang="en-US" dirty="0">
                    <a:solidFill>
                      <a:srgbClr val="333333"/>
                    </a:solidFill>
                    <a:latin typeface="-apple-system"/>
                  </a:rPr>
                  <a:t>模型</a:t>
                </a:r>
                <a:r>
                  <a:rPr lang="zh-CN" altLang="en-US" sz="2400" b="0" i="0" dirty="0">
                    <a:solidFill>
                      <a:srgbClr val="333333"/>
                    </a:solidFill>
                    <a:effectLst/>
                    <a:latin typeface="-apple-system"/>
                  </a:rPr>
                  <a:t>：</a:t>
                </a:r>
                <a:endParaRPr lang="en-US" altLang="zh-CN" sz="2400" b="0" i="0" dirty="0">
                  <a:solidFill>
                    <a:srgbClr val="333333"/>
                  </a:solidFill>
                  <a:effectLst/>
                  <a:latin typeface="-apple-system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zh-CN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zh-CN" altLang="zh-CN" sz="2400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endParaRPr lang="en-US" altLang="zh-CN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sz="2400" dirty="0">
                    <a:solidFill>
                      <a:srgbClr val="333333"/>
                    </a:solidFill>
                    <a:latin typeface="-apple-system"/>
                  </a:rPr>
                  <a:t> 可得</a:t>
                </a:r>
                <a:endParaRPr lang="en-US" altLang="zh-CN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40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nary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algn="ctr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bSup>
                      </m:e>
                    </m:nary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zh-CN" sz="2400" dirty="0">
                  <a:latin typeface="Cambria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2AF8F7C-3BAF-4DD0-9CD1-36DC3D3B6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950" y="1354000"/>
                <a:ext cx="10506099" cy="3914918"/>
              </a:xfrm>
              <a:prstGeom prst="rect">
                <a:avLst/>
              </a:prstGeom>
              <a:blipFill>
                <a:blip r:embed="rId3"/>
                <a:stretch>
                  <a:fillRect l="-232" t="-1402" b="-224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596B7B-2611-480A-A415-E6E96AE1D2C0}"/>
                  </a:ext>
                </a:extLst>
              </p:cNvPr>
              <p:cNvSpPr txBox="1"/>
              <p:nvPr/>
            </p:nvSpPr>
            <p:spPr>
              <a:xfrm>
                <a:off x="3098291" y="5504000"/>
                <a:ext cx="6096000" cy="4670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zh-CN" sz="2400" i="1" smtClean="0"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其中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：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0&lt;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596B7B-2611-480A-A415-E6E96AE1D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291" y="5504000"/>
                <a:ext cx="6096000" cy="467051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9206483"/>
      </p:ext>
    </p:extLst>
  </p:cSld>
  <p:clrMapOvr>
    <a:masterClrMapping/>
  </p:clrMapOvr>
  <p:transition advTm="8005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对角圆角矩形 8">
            <a:extLst>
              <a:ext uri="{FF2B5EF4-FFF2-40B4-BE49-F238E27FC236}">
                <a16:creationId xmlns:a16="http://schemas.microsoft.com/office/drawing/2014/main" id="{CAE08E35-DEC9-4689-915B-1B27E7F9279D}"/>
              </a:ext>
            </a:extLst>
          </p:cNvPr>
          <p:cNvSpPr/>
          <p:nvPr/>
        </p:nvSpPr>
        <p:spPr>
          <a:xfrm>
            <a:off x="2453341" y="4333224"/>
            <a:ext cx="6278833" cy="647700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1353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4.</a:t>
            </a:r>
            <a:r>
              <a:rPr lang="zh-CN" altLang="en-US" dirty="0">
                <a:solidFill>
                  <a:schemeClr val="tx1"/>
                </a:solidFill>
              </a:rPr>
              <a:t>线性不可分支持向量机</a:t>
            </a:r>
          </a:p>
        </p:txBody>
      </p:sp>
      <p:sp>
        <p:nvSpPr>
          <p:cNvPr id="44" name="TextBox 6"/>
          <p:cNvSpPr txBox="1">
            <a:spLocks noChangeArrowheads="1"/>
          </p:cNvSpPr>
          <p:nvPr/>
        </p:nvSpPr>
        <p:spPr bwMode="auto">
          <a:xfrm>
            <a:off x="3002507" y="1872975"/>
            <a:ext cx="5105475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01 </a:t>
            </a:r>
            <a:r>
              <a:rPr lang="en-US" altLang="zh-CN" sz="4000" dirty="0">
                <a:latin typeface="Impact" pitchFamily="34" charset="0"/>
                <a:ea typeface="微软雅黑" pitchFamily="34" charset="-122"/>
              </a:rPr>
              <a:t> </a:t>
            </a:r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  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支持向量机概述</a:t>
            </a:r>
            <a:endParaRPr lang="en-US" altLang="zh-CN" sz="3600" dirty="0"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CE822752-ED3E-40A5-A413-EA904066F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2508" y="2749712"/>
            <a:ext cx="507241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02    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线性可分支持向量机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DE451D03-4E2B-4B55-B1F5-AAA25318C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2507" y="3564894"/>
            <a:ext cx="629759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03    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线性支持向量机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9D5D64A-90E0-4181-9705-14943FB68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9495" y="4380075"/>
            <a:ext cx="57460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04    </a:t>
            </a:r>
            <a:r>
              <a:rPr lang="zh-CN" altLang="en-US" sz="36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线性不可分支持向量机</a:t>
            </a:r>
          </a:p>
        </p:txBody>
      </p:sp>
    </p:spTree>
    <p:extLst>
      <p:ext uri="{BB962C8B-B14F-4D97-AF65-F5344CB8AC3E}">
        <p14:creationId xmlns:p14="http://schemas.microsoft.com/office/powerpoint/2010/main" val="3214817663"/>
      </p:ext>
    </p:extLst>
  </p:cSld>
  <p:clrMapOvr>
    <a:masterClrMapping/>
  </p:clrMapOvr>
  <p:transition advTm="8005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5" descr="data:image/png;base64,iVBORw0KGgoAAAANSUhEUgAAAtEAAAHwCAYAAABg0TMJAAAABHNCSVQICAgIfAhkiAAAAAlwSFlz%0AAAALEgAACxIB0t1+/AAAIABJREFUeJzs3Xd4lFX6xvHvIUYIRSKIaEIVMYCgBKKC2FtcXTGi4qJi%0AFysKSiju7s+y7goEKdIULIAiiyJmdUURARXsYNBoIIAKSII0iYBECcn5/XEmGNh0MvNOuT/XxeXk%0AzZRnJkjuOfO8zzHWWkREREREpPJqeV2AiIiIiEioUYgWEREREakihWgRERERkSpSiBYRERERqSKF%0AaBERERGRKlKIFhERERGpIoVoEQlKxphWxhhrjDnM9/XbxpgbA/C4jxhjXvL34/geK8EYs8IYs8sY%0Ac58x5mljzN8D8djBxhizzhhzQTVve6YxJruma6rE40bsz0tEFKJF5BD4gk++MWa3MWazMWaaMaa+%0APx7LWvsna+30StZUrTBWifs+xxhT5Hu+u4wx2caYmw/hLgcDi621Day1T1lr77TW/qPEY22smcor%0Az/cmosD3HPOMMR8bY7oHuo7y+N5cHV/8tbV2ibU2wU+PdasxZpXv573ZGDPPGNPA97j7f14iEnkU%0AokXkUF1mra0PdAGSgL8dfAXjhMu/N7m+53sEMASYaozpcPCVilfQK9AS+LaG66sJs33PsQmwFJhr%0AjDEe1xRwxpizgX8Bfay1DYD2wGxvqxKRYBEuv9RExGPW2hzgbaAjgDHmfWPMP40xHwF7gOOMMQ2N%0AMc8ZYzYZY3KMMY8bY6J8148yxowyxmwzxnwPXFry/n33d1uJr283xqz0rRBmGWO6GGNeBFoAb/pW%0AUgf7rtvNt6KaZ4z5yhhzTon7aW2M+cB3PwuAoyr5fK21Nh3YAXQo0X5yqzFmA7DId/89jTHf+h77%0AfWNMe9/xRcC5wARfrSf4VvIfN8bU872Wcb7v7TbGxB30epxmjPmp+PXzHbvCGPO17/Kpxphlxpid%0AvhXU0ZV5Xgc9xwJgOnAM0NgYU8sY8zdjzHpjzBZjzAxjTEPf4xU//37GmFzfz3hQidqmGWMeL/F1%0AmSvtvto/8b1mm4wxE4wxh/u+96Hval/5XpdrDr4vY0x732ud53vtex5Ux0RjzFu+n/lnxpg2ZbwE%0ApwCfWGszfK/Hz9ba6dbaXQc/J2NM8d+54j9FxpibfN9rZ4xZYIz52bhPL3pX6QchIkFJIVpEaoQx%0ApjlwCZBR4nBfoB/QAFgPTAP2AccDicBFQHEwvh34s+94EnBVOY91NfAIcANuRbgnsN1a2xfYgG91%0A3Fo70hgTD7wFPA40AgYBrxljmvju7mVgOS48/wOoVN+1L1BeAcQCmSW+dTZuxTLZGHMCMAsYgFvV%0AnYcL+Idba88DlgD3+mpdXXwH1tpfgT/hW/X2/ckt+fjW2s+AX4HzShy+1vd8AMYB46y1RwBtgFcq%0A87wOeo61gZuAH62123yXb8KF/+OA+sCEg252LtAW97MdYqrXWlMIDMT9TLoD5wN3A1hrz/Jd52Tf%0A63LAyrAxJhp4E3gXOBroD8w0xpRs9/gL8ChwJLAW+GcZdXyG+zk+aozp4Xs9SmWtLf47Vx+4GvgJ%0AWOh7Q7QA93M52vfYk0wpn16ISGhRiBaRQ5VujMnDfez/Ae7j72LTrLXfWmv34QLsJcAAa+2v1tot%0AwBhcqADoDYy11v5orf0ZeKKcx7wNGGmt/cK3IrzWWru+jOteD8yz1s6z1hZZaxcAy4BLjDEtcKuN%0Af7fW/m6t/RAXwMoT53u+24CHgb7W2pIntT3ie375wDXAW9baBb5V3VFADHB6BY9RWbOAPgDG9ele%0A4jsGUAAcb4w5ylq721r7aRXut7fvOf4IdAWu8B2/Dhhtrf3eWrsbGAb8xRzYuvKo7/lnAi8U11cV%0A1trl1tpPrbX7rLXrgGdwb04qoxsu3A+31u611i4C/ntQHa9baz/3/b2cCXQuo44lQC9cq9JbwHZj%0AzOiSq/8H871xmg70ttb+iHtjuM5a+4Lv+WQAr+GCtoiEsMr07ImIlCfFWvteGd/7scTllkA0sMn8%0A0V5bq8R14g66flmhGKA58F0l62sJXG2MuazEsWhgse8xd/hWfks+bvNy7i/XWtusnO+XfA5xlHge%0A1toiY8yPQHwla6/Iy8DHxpi7cGHvyxJvJm4FHgNWGWN+wIXb/1byfl+x1l5fyvEDno/v8mFA0xLH%0ADv4ZdqrkY+7nC6KjcZ9I1PU9xvJK3jwOt3JedFAdJV/zn0pc3oML3aWy1r4NvG1cT/+5wKtANi7Y%0AH1x3Q+A/wN+stUt9h1sCp/nelBQ7DHixks9HRIKUQrSI+JMtcflH4HfgKN8K4ME2cWB4bVHO/f6I%0Aa1Go6DGLr/uitfb2g69ojGkJHGmMqVciSLco5T6qouRtcykRIo1799AcyKni/ZR+BWuzjDHrca0f%0AJVs5sNauAfr4wl8vYI4xpvFBbxiqKhcXCou1wLXnbAaK31g0B1aV+H5xG8qvuEBc7JhyHmcyri2o%0Aj7V2lzFmAOW095RSY3NjTK0SQboFsLqc21TId18Lfb3sHQ/+vu91fhk3bWVKiW/9CHxgrb3wUB5f%0ARIKP2jlEJCCstZtwfapPGmOO8PUUtzFuAgK4nt37jDHNjDFHAkPLubtngUHGmK7GOd4XiMEFuuNK%0AXPcl4DJjTLJxJy/W8Z2I1sy3arsMeNQYc7gx5gzgMmrOK8Clxpjzfb26D+LeSHxcidtuxp3M17CC%0A670M3A+chVslBcAYc70xpokv/BWvghaVcvuqmAUMNO5kzPq41p3ZB70p+rsxpq4x5kTgZv6YZrEC%0A10LTyBhzDK5PvCwNgJ3AbmNMO+Cug75/8M+4pM9wq8uDjTHRxp1Eehnw70o/Sx9jzOXGmL8YY470%0A/T07FddWUlprzD+BerifRUn/BU4wxvT11RNtjDnF+E4wFZHQpRAtIoF0A3A4kIWbajEHONb3vanA%0AfOAr4Etgbll3Yq19FRdaXgZ2Aem4nmtwvdR/801mGOTrS70ceAjYilsZTOWPf/+uBU4Dfsb1OM+o%0AiSfqqzMb15M9HtdDfRnupMe9lbjtKlxo/d73XOLKuOosXLBb5Dv5r9jFwLfGmN24kwz/4uvTxjc9%0A4sxqPKXncW0IHwI/AL/hTtwr6QPcyXoLgVHW2nd9x1/E/WzX4d5MlTcqbhDu57IL9/fi4Os+Akz3%0AvS4HTLrwvbaX4VbntwGTgBt8r2dV7cCd8LoGF+pfAtKstTNLuW4fXD/2jhITOq7zTfK4CNf7n4tr%0AJRkBlHmSooiEBmPtoXxqKSIi4kbc4YJ1dBntOiIiYUUr0SIiIiIiVaQQLSIiIiJSRWrnEBERERGp%0AIq1Ei4iIiIhUkUK0iIiIiEgVhcRmK0cddZRt1aqV12WIiIiISJhbvnz5Nmttk4quFxIhulWrVixb%0AtszrMkREREQkzPl2gq2Q2jlERERERKpIIVpEREREpIoUokVEREREqigkeqJLU1BQwMaNG/ntt9+8%0ALkWAOnXq0KxZM6Kjo70uRURERMTv/BaijTHNgRlAU8ACU6y144wxjwC3A1t9V33IWjuvqve/ceNG%0AGjRoQKtWrTDG1FTZUg3WWrZv387GjRtp3bq11+WIiIiI+J0/V6L3AQ9aa780xjQAlhtjFvi+N8Za%0AO+pQ7vy3335TgA4SxhgaN27M1q1bK76yiIiISBjwW4i21m4CNvku7zLGrATia/IxFKCDh34WIiIi%0AEkkCcmKhMaYVkAh85jvU3xjztTHmeWPMkWXcpp8xZpkxZlmwrnBGRUXRuXNnOnbsyNVXX82ePXuq%0AfV/vv/8+f/7znwF44403GD58eJnXzcvLY9KkSfu/zs3N5aqrrqr2Y4uIiIhI1fg9RBtj6gOvAQOs%0AtTuBycBxQGfcSvWTpd3OWjvFWptkrU1q0qTCTWM8ERMTw4oVK/jmm284/PDDefrppw/4vrWWoqKi%0AKt9vz549GTp0aJnfPzhEx8XFMWfOnCo/joiIiIhUj19DtDEmGhegZ1pr5wJYazdbawuttUXAVOBU%0Af9YQKGeeeSZr165l3bp1JCQkcMMNN9CxY0d+/PFH3n33Xbp3706XLl24+uqr2b17NwDvvPMO7dq1%0Ao0uXLsydO3f/fU2bNo17770XgM2bN3PFFVdw8sknc/LJJ/Pxxx8zdOhQvvvuOzp37kxqairr1q2j%0AY8eOgOsVv/nmm+nUqROJiYksXrx4/3326tWLiy++mLZt2zJ48OAAv0IiIiIi4cOf0zkM8Byw0lo7%0AusTxY3390gBXAN8c8oMNGAArVhzy3Rygc2cYO7ZSV923bx9vv/02F198MQBr1qxh+vTpdOvWjW3b%0AtvH444/z3nvvUa9ePUaMGMHo0aMZPHgwt99+O4sWLeL444/nmmuuKfW+77vvPs4++2xef/11CgsL%0A2b17N8OHD+ebb75hhe85r1u3bv/1J06ciDGGzMxMVq1axUUXXcTq1asBWLFiBRkZGdSuXZuEhAT6%0A9+9P8+bND+FFEhEREYlM/pzO0QPoC2QaY4oT7kNAH2NMZ9zYu3XAHX6swa/y8/Pp3Lkz4Faib731%0AVnJzc2nZsiXdunUD4NNPPyUrK4sePXoAsHfvXrp3786qVato3bo1bdu2BeD6669nypQp//MYixYt%0AYsaMGYDrwW7YsCE7duwos6alS5fSv39/ANq1a0fLli33h+jzzz+fhg0bAtChQwfWr1+vEC0iIiJS%0ADf6czrEUKG1kQ5VnQleokivGNa24J/pg9erV23/ZWsuFF17IrFmzDrhOabfzt9q1a++/HBUVxb59%0A+wJeg4iIiEg40LbfftatWzc++ugj1q5dC8Cvv/7K6tWradeuHevWreO7774D+J+QXez8889n8uTJ%0AABQWFvLLL7/QoEEDdu3aVer1zzzzTGbOnAnA6tWr2bBhAwkJCTX9tEREREQimkK0nzVp0oRp06bR%0Ap08fTjrppP2tHHXq1GHKlClceumldOnShaOPPrrU248bN47FixfTqVMnunbtSlZWFo0bN6ZHjx50%0A7NiR1NTUA65/9913U1RURKdOnbjmmmuYNm3aASvQIiIiInLojLXW6xoqlJSUZJctW3bAsZUrV9K+%0AfXuPKpLS6GciIiIioc4Ys9xam1TR9bQSLSIiIiJSRf6cziEiIiIiUq70jBzS5meTm5dPXGwMqckJ%0ApCTGe11WhRSiRURERMQT6Rk5DJubSX5BIQA5efkMm5sJEPRBWu0cIiIiIuKJtPnZ+wN0sfyCQtLm%0AZ3tUUeUpRIuIiIiIJ3Lz8qt0PJgoRIuIiIiIJ+JiY6p0PJgoRFfT9u3b6dy5M507d+aYY44hPj5+%0A/9d79+49pPt+/fXXSUtLq5E6r7/+elq3bs3JJ5/MCSecwI033khubm6Ftxs9ejS//fZbjdQgIiIi%0AUprU5ARioqMOOBYTHUVqcvBvFKcTC6upcePG+7fufuSRR6hfvz6DBg064DrWWqy11KpVtfcqV1xx%0ARY3VCTBmzBhSUlIoKipi9OjRnHfeeWRmZhIdHV3mbUaPHs0tt9xCnTp1arQWERERkWLFJw+G4nSO%0AiFmJTs/IocfwRbQe+hY9hi8iPSPHL4+zdu1aOnTowHXXXceJJ57Ipk2b6NevH0lJSZx44ok89thj%0A+6/brFkzHnnkERITEznppJNYvXo1AM8++ywDBgwA3Ery/fffz+mnn85xxx3H66+/DrgtwO+8807a%0AtWvHRRddxMUXX0x6enq5tdWqVYtBgwbRqFEj3n33XYBSaxszZgxbtmzhzDPP5IILLijzeiIiIiKH%0AKiUxno+GnscPwy/lo6HnhUSAhggJ0cXjU3Ly8rH8MT7FX0F61apVDBw4kKysLOLj4xk+fDjLli3j%0Aq6++YsGCBWRlZe2/btOmTcnIyOC2225j9OjRpd7fli1b+Oijj0hPT2fYsGEAvPrqq+Tk5JCVlcW0%0AadP45JNPKl1fly5dWLVqFUCptQ0cOJCjjz6aJUuW8N5775V5PREREZFIFREhOtDjU9q0aUNS0h+7%0ARc6aNYsuXbrQpUsXVq5ceUAA7dWrFwBdu3Zl3bp1pd5fSkoKxhhOOukkcnJc8F+6dCm9e/emVq1a%0AxMXFcfbZZ1e6vpJbvZdXW0mVvZ6IiIhIJIiInuhAj0+pV6/e/str1qxh3LhxfP7558TGxnL99dcf%0AcMJe7dq1AYiKimLfvn2l3l/xdeDAAFxdK1as4NJLL62wtso+BxEREZFIExEr0V6OT9m5cycNGjTg%0AiCOOYNOmTcyfP79G7rdHjx7MmTMHay2bNm3iww8/rPA21lrGjBnD9u3bufDCC8utrUGDBuzatcuv%0Az0FEREQkVEXESnRqcsIBW0pC4MandOnShQ4dOtCuXTtatmxJjx49auR+e/fuzaJFi2jfvj0tW7Yk%0AMTGRhg0blnrdgQMH8vDDD5Ofn0/37t1ZtGgR0dHR5dbWr18/LrjgApo3b86CBQv88hxEREREQpWp%0AifYAf0tKSrLLli074NjKlStp3759pe8jPSMnJMenlGf37t3Ur1+frVu3ctppp/HZZ5/RpEkTz+qp%0A6s9EREREJNgYY5Zba5Mqul5ErESDG58S6qH5YH/605/YuXMnBQUFPProo54GaBEREZFIEjEhOhwt%0AWbLE6xJEREREIlJEnFgoIiIiIlKTQjpEh0I/d6TQz0JEREQiSciG6Dp16rB9+3aFtyBgrWX79u3U%0AqVPH61JEREREAiJke6KbNWvGxo0b2bp1q9elCO5NTbNmzbwuQ0RERCQgQjZER0dH07p1a6/LEBER%0AEZEIFLLtHCIiIiIiXgnZlWgRERGJbOG4kZqEDoVoERERCTnpGTkMm5tJfkEhADl5+QybmwmgIC0B%0AoXYOERERCTlp87P3B+hi+QWFpM3P9qgiiTQK0SIiIhJycvPyq3RcpKYpRIuIiEjIiYuNqdJxkZqm%0AEC0iIiIhJzU5gZjoqAOOxURHkZqc4FFFEml0YqGIiIiEnOKTBzWdQ7yiEC0iIiIhKSUxXqFZPKN2%0ADhERERGRKlKIFhERERGpIoVoEREREZEqUogWEREREakihWgRERERkSrSdA4RERGRAErPyNFovjCg%0AlWgRERGRAEnPyGHY3Exy8vKxQE5ePsPmZpKekeN1ad4pKoL0dPjXv7yupEoUokVEREQCJG1+NvkF%0AhQccyy8oJG1+tkcVeWjvXnjhBTjxRLjiCpg+HX7/3euqKk0hWkRERCRAcvPyq3Q8LO3eDWPGQJs2%0AcMstULs2zJoF337rLocI9USLiIiIBEhcbAw5pQTmuNgYD6oJsG3bYPx4mDABfv4ZzjkHpk6F5GQw%0Axuvqqkwr0SIiIiIBkpqcQEx01AHHYqKjSE1O8KiiAFi/Hu6/H1q0gMcegzPPhE8+gcWL4eKLQzJA%0Ag1aiRURERAKmeApHREzn+OYbGDnStWoAXH89DB4M7dt7W1cNUYgWERERCaCUxPjwDM3FPv4Yhg+H%0AN9+EunXh3nvhgQegeXOvK6tRCtEiIiIicmishXnzYMQIWLIEGjWChx+G/v2hcWOvq/MLhWgRERER%0AqZ59+2D2bBeeMzPdavPYsXDbbVCvntfV+ZVCtIiIiIhUzZ49bsbzqFGwbh106ODmPPfpA9HRXlcX%0AEArRIiIiIh4JuS3Ad+yASZNg3DjYuhW6d3crz5ddBrUia+ibQrSIiIiIB4q3AC/ewbB4C3Ag+IJ0%0Abq7bIOXpp91mKZdcAkOHwhlnhOyIukMVWW8ZRERERIJESGwBnp3t+ptbtYLRo6FnT1ixAt56y817%0AjtAADVqJFhEREfFEUG8BvmyZG1M3d67bivv22+HBB+G447yuLGgoRIuIiIh4IOi2ALcWFi504Xnh%0AQmjYEIYNg/vug6ZNvakpiKmdQ0RERMQDQbMFeGEhzJkDp5wCF14IWVlup8ENG+Cf/1SALoNWokVE%0AREQ84PkW4L//Di++6ALzmjXQti1MnQp9+7oWDimXQrSIiIiIRzzZAnznTpgyxZ0ouGkTdO0Kr74K%0AV1wBUVEV314AhWgRERGRyLB5Mzz1FEycCL/8Ahdc4FaizzsvoqdsVJdCtIiIiEg4++EHt7Pg88+7%0AFo4rr4QhQyApyevKQppCtIiIiEg4+vprGDECZs92bRo33ACpqXDCCV5XFhYUokVERETChbWwZIkb%0AU/f221C/PjzwAAwYAHFxXlcXVhSiRUREREJdURG8+aYLz59+Ck2auPF0d90FRx7pdXVhSSFaRERE%0AJFTt3QuzZrkxdVlZbnvuiRPh5pshxqNNWyKE3zZbMcY0N8YsNsZkGWO+Ncbc7zveyBizwBizxvdf%0AvT0SERERqYpff4Vx4+D44+Gmm1zP88yZbt7z3XcrQAeAP3cs3Ac8aK3tAHQD7jHGdACGAguttW2B%0Ahb6vRURERKQi27fDo49Cixauz7l1a5g3D776Cq69Fg5Tk0Gg+O2VttZuAjb5Lu8yxqwE4oHLgXN8%0AV5sOvA8M8VcdIiIiIiHvxx/d5ihTpsCePdCzpxtTd/rpXlcWsQLydsUY0wpIBD4DmvoCNsBPQKkb%0Ashtj+gH9AFq0aOH/IkVERESCTVaW63eeOdN93aePC88nnuhtXeLXdg4AjDH1gdeAAdbanSW/Z621%0AgC3tdtbaKdbaJGttUpMmTfxdpoiIiEjw+PRTSElxYfnVV12f89q1MGOGAnSQ8OtKtDEmGhegZ1pr%0A5/oObzbGHGut3WSMORbY4s8aREREREKCtfDOO26DlA8+cKPpHn4Y7r0XjjrK6+rkIP6czmGA54CV%0A1trRJb71BnCj7/KNwH/8VYOIiIhI0Nu3z42pS0yESy6B775z/c8bNsAjjyhAByl/rkT3APoCmcaY%0AFb5jDwHDgVeMMbcC64HefqxBREREJDjl58O0aZCWBj/8AO3awQsvuCkbhx/udXVSAX9O51gKmDK+%0Afb6/HldEREQkqOXlweTJMHYsbNkCp53mVp579oRafj9dTWqIhgmKiIiIBMKmTS44T54Mu3ZBcjIM%0AHQpnnw2mrHVHCVYK0SIiIiL+tHata9mYNs31P/fuDYMHux5oCVkK0SIiIiL+sHy5m7Tx2msQHQ23%0A3AKDBkGbNl5XJjVAIVpERESkplgLixfD8OGwYAEccYRbdb7/fjjmGK+rkxqkEC0iIiJyqIqKID3d%0AhecvvnCBecQIuOMOaNjQ6+rEDxSiRURERKrr99/dltwjR0J2tmvVeOYZuOEGqFPH6+rEjxSiRURE%0ARKpq1y6YMsWNpsvNhS5d4JVXoFcviIryujoJAIVoERERkcrauhWeegomTHDzns87z03duOACjamL%0AMArRIiIiIhVZtw5GjYLnn4fffnMrzkOGwCmneF2ZeEQhWkRERKQsmZnuBMF//9vtJnjDDZCaCgkJ%0AXlcmHlOIFhERETnY0qVu0sZbb0G9ejBgAAwcCPHxXlcmQUIhWkRERATcmLp581x4/ugjaNwYHnsM%0A7rkHGjXyujoJMgrRIiIiEtkKCly7xogR8O230LIljB/vdhisW9fr6iRIKUSLiIhIZNqzB557zp0w%0AuGEDdOwIL74I11zjtukWKYdCtIiIiESWn392I+rGj4dt26BHD5g4ES69VGPqpNIUokVERCQybNzo%0ANkeZMgV+/RX+/Gc3pu6MM7yuTEKQQrSIiIiEt1Wr3LbcL73kTh689loYPNi1b4hUk0K0iIiIhKfP%0AP3eTNtLToU4duPNOeOABaNXK68okDChEi4iISPiwFhYscOF58WI48kj429+gf39o0sTr6iSMKESL%0AiIhI6Nu3D157zY2py8hwm6KMHg233w7163tdnYQhhWgREREJXb/9BtOnQ1oafPed2477+efhuuvg%0A8MO9rk7CmEK0iIiIhJ5ffoHJk2HsWNi8GU45xQXpyy+HWrW8ri6kpGfkkDY/m9y8fOJiY0hNTiAl%0AUdubV0QhWkRERELHTz+54Dx5MuzcCRddBEOHwjnnaMZzNaRn5DBsbib5BYUA5OTlM2xuJoCCdAX0%0AVk1ERESC39q1brpGq1ZuxTk5GZYvh/nz4dxzFaCrKW1+9v4AXSy/oJC0+dkeVRQ6tBItIiIiwevL%0AL93JgnPmwGGHwU03waBB0Lat15WFhdy8/Codlz8oRIuIiEhwsRbef9+NqXv3XWjQAFJT4f774dhj%0Ava4urMTFxpBTSmCOi43xoJrQonaOEJWekUOP4YtoPfQtegxfRHpGjtcliYiIHJqiInj9dejWDc47%0AD1asgH/9CzZscIFaAbrGpSYnEBMddcCxmOgoUpMTPKoodGglOgTpJAAREQkre/fCzJmubSM7G447%0Azp04eOONEKMVUX8qzg2azlF1CtEhqLyTAPSXXkREQsauXTB1qtsUJScHOneGWbPgqqtc/7MEREpi%0AvPJDNehvaAjSSQAiIhLStm6F8eNhwgTYscONp3vuOTeuTlM2JEQoRIcgnQQgIiIhaf16ePJJePZZ%0AyM+HlBQYMsT1QIuEGJ1YGIJ0EoCIiISUb76BG26ANm1cr/M110BW1h8nEYqEIK1EhyCdBCAiIiHh%0Ao4/cyYJvvgn16sF998HAgdC8udeViRwyhegQpZMAREQkKFkL8+a58LxkCTRuDI8+Cvfc4y6LhAmF%0AaBERETl0+/bB7NkuPGdmutXmsWPhttvcKrQfpGfk6FNZ8YxCtIiIiFTfnj3wwgswahSsWwcdOsCM%0AGfCXv0B0tN8eVnsmiNd0YqGIiIhU3Y4d8Pjj0KoV3Huv203wjTfcKnTfvn4N0FD+ngkigaCVaBER%0AEam8nBwYMwaeeQZ274ZLLnFj6s48M6AznrVngnhNIVpEREQqlp0NaWmuVaOoyLVrDB4MJ53kSTna%0AM0G8pnYOERERKdsXX7htuNu3h5kzoV8/WLMGXnrJswAN2jNBvKeVaBERETmQtbBwITzxBCxaBLGx%0A8NBDbs7z0Ud7XR2gPRPEewrRIiIi4hQWwty5MHw4fPklxMW5qRv9+kGDBl5X9z+0Z4J4SSFaREQk%0A0v3+u+t1HjkS1q6FE06AZ5+F66+H2rW9rk4kKClEi4iIRKqdO+Hpp920jZ9+gqQkmDMHUlIgKqri%0A24tEMIWHObCMAAAgAElEQVRoERGRSLN5M4wbB5MmwS+/wIUXuhMFzzsvoGPqREKZQrSIiEik+P57%0A1+P8/POwdy9ceSUMHQpdu3pdmUjIUYgWEREJdytWwIgR8MorcNhhcOONMGiQ630WkWpRiBYREQlH%0A1sKHH7pJG++8A/Xrw4MPwoABbuqGiBwShWgREZFwUlQEb77pwvOnn0KTJvDPf8Jdd8GRR3pdnUjY%0AUIgWEREJB3v3wssvuzF1K1dC69buxMGbboIYbYUtUtMUokVERELZ7t1upvOTT8LGjW4r7pdfhquv%0Adv3PIuIX+r9LREQkFG3bBhMmwPjx8PPPcOaZMGUKXHyxxtSJBIBCtIiISCjZsAFGj4apU2HPHujZ%0AE4YMgdNP97oykYiiEC0iIhIKsrJcv/PMme7r666DwYOhQwdv6xKJUArRIiIiweyTT9ykjTfegLp1%0A4e673ai6Fi28rkwkoilEi4iIBBtr3Wzn4cPdrOdGjeDhh6F/f2jc2OvqRASFaBERkeCxbx+8+qoL%0Az19/Dc2awdixcNttUK+e19WJSAkK0SIiUqb0jBzS5meTm5dPXGwMqckJpCTGe11W+MnPh2nTIC0N%0AfvgB2rd3X/fpA4cf7nV1IlIKhWgRESlVekYOw+Zmkl9QCEBOXj7D5mYCKEjXlLw8tyHKuHGwZQt0%0A6wZjxsBll0GtWl5XJyLl0P+hIiJSqrT52fsDdLH8gkLS5md7VFEYyc11kzVatIC//hW6doX334eP%0AP4bLL1eAFgkBWokWEZFS5eblV+m4VMKaNa5lY/p01/98zTUuTHfu7HVlIlJFCtEiIlKquNgYckoJ%0AzHGxMR5UE+KWL4cRI2DOHNfjfOutMGgQHHec15WJSDXp8yIRESlVanICMdFRBxyLiY4iNTnBo4pC%0AjLWwcCFceCEkJcH8+W5nwfXrXR+0ArRISPNbiDbGPG+M2WKM+abEsUeMMTnGmBW+P5f46/FFROTQ%0ApCTG80SvTsTHxmCA+NgYnujVSScVVqSwEF57DU49FS64AL75xq1Cb9gATzwBTZt6XaGI1AB/tnNM%0AAyYAMw46PsZaO8qPjysiIjUkJTFeobmyfv8dXnzRbc29Zg0cfzxMmQJ9+0KdOl5XJyI1zG8h2lr7%0AoTGmlb/uX0REJCjs3AnPPONG023aBF26wOzZcOWVEBVV8e1FJCR5cWJhf2PMDcAy4EFr7Q4PahAR%0AETk0W7a4+c4TJ8Ivv8D558OMGe6/xnhdnYj4WaBPLJwMHAd0BjYBT5Z1RWNMP2PMMmPMsq1btwaq%0APhERkfL98APccw+0bOl6nC+4AD7/HN57z11WgBaJCAEN0dbazdbaQmttETAVOLWc606x1iZZa5Oa%0ANGkSuCJFRERK8/XXcN110LYtTJ3qLq9c6cbWnXKK19WJSIAFtJ3DGHOstXaT78srgG/Ku76ISCRK%0Az8ghbX42uXn5xMXGkJqcoJP7vGItLF0Kw4fDvHlQvz4MGAADB0K8fiYikcxvIdoYMws4BzjKGLMR%0AeBg4xxjTGbDAOuAOfz2+iEgoSs/IYdjczP3bbefk5TNsbiaAgnQgFRXBW2+58Pzxx3DUUfD443D3%0A3XDkkV5XJyJBwJ/TOfqUcvg5fz2eiEg4SJufvT9AF8svKCRtfrZCdCAUFMCsWW6uc1aW63ueMAFu%0Avhnq1vW6OhEJItr2W0QkiOSWss12ecelhvz6Kzz3HDz5pNsUpWNHeOkl6N0boqO9rk5EgpBCtIhI%0AEImLjSGnlMAcFxvjQTURYPt2N6Luqafc5R493Jbcl1yiKRsiUq5Aj7gTEZFypCYnEBN94AYdMdFR%0ApCYneFRRmPrxR3jgAdeu8fDD0L07LFniTiK89FIFaBGpkFaiRUSCSHHfs6Zz+MnKlW5b7pdecpM3%0Arr0WBg927RsiIlWgEC0iEmRSEuMVmmvaZ5+5SRvp6RATA3fd5VaiW7XyujIRCVEK0SIiEp6shfnz%0AXXj+4AM3mu7vf4f+/UGbeInIIVKIFhGR8LJvn9tFcPhw+OortynK6NFw++1usxQRkRqgEC0iIuEh%0APx+mT4e0NPj+e2jXDl54wfU9H36419WJSJhRiBYRkdCWlweTJ8PYsbBlC5x6KowaBZdfDrU0hEpE%0A/EMhWkREQtOmTS44T54Mu3ZBcjIMHQpnn60RdSLidwrRIiISWtaudS0b06a5/uerr4YhQyAx0evK%0ARCSCKESLiEho+PJLGDHCnTQYHQ233AKDBkGbNl5XJiIRSCFaxCc9I0cbXIgEG2vh/ffdpI1334Uj%0AjnCbo9x/PxxzjNfViUgEU4gWwQXoYXMzyS8oBCAnL59hczMBFKRFvFBU5DZGGTECPv8cmjZ1QfrO%0AO6FhQ6+rExFRiBYBt8VycYAull9QSNr8bIVoOWT6lKMK9u51W3KPHAnZ2XDccfD003DjjVCnjtfV%0AiYjspxAtAuTm5VfpuEhl6VOOStq1C6ZOdZui5ORA587w73/DlVfCYfpVJSLBRwM0RYC42JgqHRep%0ArPI+5RBg61a3FXeLFvDgg9C2LbzzjjuJ8JprFKBFJGgpRIsAqckJxERHHXAsJjqK1OQEjyqScKFP%0AOcqwbh307w8tW8I//wnnnguffgqLF7t5z5rzLCJBTm/xRfjjY3X1rUpNi4uNIaeUwByxn3JkZrp+%0A51mz3G6C118PqanQvr3XlYmIVIlCtIhPSmK8QrPUuNTkhAN6oiFCP+VYutRN13jrLahXz42oGzgQ%0AmjXzujIRkWpRiBYR8aOI/pSjqAjmzXPh+aOPoHFjeOwxuOceaNTI6+pERA6JQrSIiJ9F3KccBQUw%0Ae7ab8fzNN+6kwXHj4NZb3Sq0iEgYUIgWEZGasWcPPP88jBoF69fDiSfCjBnwl7+4bbpFRMKIQrSI%0AiByan3+GiRPhqadg2zY4/XSYMAEuucSdPCgiEoYUokVEpHo2boQxY+CZZ+DXX11oHjYMzjjD68pE%0ARPxOIVpERKpm1SpIS4MXX3QnD/bpA4MHQ6dOXlcmIhIwCtEiIlI5n3/uThZ8/XWoXRvuuMPtMtiq%0AldeViYgEnEK0iIiUzVp47z03pm7RIoiNhb/+1e02ePTRXlcnIuIZhWgREflfhYXw2msuPGdkQFyc%0Am7rRrx80aOB1dSIinlOIFhGRP/z2mxtLl5YGa9fCCSfAs8+67blr1/a6OhGRoKEQLSIisHMnPP20%0Am7bx00+QlARz5kBKCkRFeV2diEjQUYgWEYlkmze73QQnTYJffoELL4SZM+Hcc8EYr6sTEQlaCtEi%0AIpHo++9dj/Pzz7ttuq+8EoYMga5dva5MRCQkKESLiESSFSvcmLpXXoHDDoObboJBg6BtW68rExEJ%0AKQrRIgGWnpFD2vxscvPyiYuNITU5gZTEeK/LknBmLXz4oZu08c47brrGoEEwYAAce6zX1YmIhCSF%0AaJEASs/IYdjcTPILCgHIyctn2NxMAAVpqXlFRfDGG27l+dNP3Vznf/0L7rrLzXsOInpzKSKhRiFa%0A5CD+/GWeNj97f4Aull9QSNr8bAUGqTl798LLL7vwvGoVtG4NEyfCzTdDTIzX1f0PvbkUkVBUy+sC%0ARIJJ8S/znLx8LH/8Mk/PyKmR+8/Ny6/ScZEq2b0bxo6FNm1cYD78cBemV6+Gu+8OygAN5b+5FBEJ%0AVlqJlmoJ9Y9ey6rf3yvFcbEx5JQSmONigzPcSIjYtg0mTIDx4+Hnn+Hss2HKFLj44pAYU6c3lyIS%0AihSipcpC/aPX8ur39y/z1OSEAx4bICY6itTkhBq5f4kwGzbA6NEwdSrs2QOXX+7G1HXv7nVlVaI3%0AlyISitTOIVUW6h+9lld/Wb+0a+qXeUpiPE/06kR8bAwGiI+N4YlenULizYcEkawsN5quTRvX69y7%0AN3z7LaSnh1yABvfmMib6wF0R9eZSRIKdVqKlykL9o9fy6h9zTWe/rxSnJMYrNEv1fPKJG1P3xhtQ%0Aty7cey888AA0b+51ZYek+P+HUG4RE5HIoxAtVRbqH72WV79+mUvQsRbeftuF5yVLoHFjeOQRF6Ab%0AN/a6uhqjN5ciEmoUoqXKQr2vt6L69ctcgsK+fW5XweHDITPTrTaPGwe33gr16nldnYhIxFOIlioL%0A9dXaUK9fwtyePfDCCzBqFKxbBx06wPTp0KcPREd7XZ2IiPgYa63XNVQoKSnJLlu2zOsyRET8Z8cO%0AmDTJrTZv3QrdusHQoXDZZVBL54CLiASKMWa5tTapoutV6l9mY0yPyhwTEZEqys2F1FRo0QL+9jdI%0ASoIPPoCPP3Yj6xSgRUSCUmX/dR5fyWMiIlIZ2dlw221uS+7Ro6FnT1ixAubNg7POColNUkREIlm5%0APdHGmO7A6UATY8wDJb51BBBV+q1ERKRMX3wBI0bA3LlQu7YL0g8+CMcd53VlIiJSBRWdWHg4UN93%0AvQYlju8ErvJXUSIiYcVaWLjQTdpYuBAaNoRhw+C++6BpU6+rExGRaig3RFtrPwA+MMZMs9auD1BN%0AIiLhobAQXn/dhefly+GYY2DkSLjjDjjiCK+rExGRQ1BRO8dYa+0AYIIx5n/GeFhre/qtMhGRUPX7%0A7/Diiy4wr1kDbdvC1KnQt69r4RARkZBXUTvHDN9/R/m7EBGRkLdzJ0yZ4k4U3LQJunaFV1+FK66A%0AKJ1GIiISTioK0WnA+cAl1tohAahHRCT0bNni5jtPmgR5eXDeeTBjBpx/vqZsiIiEqYpC9LHGmNOB%0AnsaYfwMH/Daw1n7pt8pERILdDz+4nQWff961cPTqBUOGwCmneF2ZiIj4WUUh+v+AvwPNgNEHfc8C%0A5/mjKBGRoPb1125M3ezZbjOUG2+EQYMgIcHrykREJEAqms4xB5hjjPm7tfYfAapJRCT4WAtLl7pJ%0AG/PmQf36MGAADBwI8fFeVyciIgFW0Uo0ANbafxhjegJn+Q69b639r//KEhEJEkVF8N//uvD8ySfQ%0ApAk8/jjcfTcceaTX1YmIiEcqFaKNMU8ApwIzfYfuN8acbq19yG+ViYh4qaAAZs1ybRtZWdCqFUyY%0AALfcAjExXlcnIiIeq1SIBi4FOltriwCMMdOBDEAhWkTCy6+/wrPPwpNPwo8/wkknwcsvw9VXw2GV%0A/SdTRETCXVV+I8QCP/suN/RDLSIi3tm+3a00jx/vLp91FjzzDFx8scbUiYjI/6hsiH4CyDDGLMaN%0AuTsLGOq3qkREAuXHH93mKFOmwJ490LOnG1N3+uleVyYiIkGswhBtjDHAUqAbUDz8dIi19id/FiYi%0A4ldZWW5b7pm+Uz2uvRYGD4YTT/S2LhERCQkVhmhrrTXGzLPWdgLeCEBNIiL+8+mnbtLGf/4Ddeu6%0AKRsPPAAtW/rtIdMzckibn01uXj5xsTGkJieQkqixeCIioaxWJa/3pTGmSltwGWOeN8ZsMcZ8U+JY%0AI2PMAmPMGt9/NR9KRPzPWnjnHTjnHOjeHT78EB5+GNavd9t1+zlAD5ubSU5ePhbIyctn2NxM0jNy%0A/PaYIiLif5UN0acBnxpjvjPGfG2MyTTGfF3BbaYBFx90bCiw0FrbFliI+qpFxJ/27XNj6hIT4U9/%0Agu++c/3PGzbAI4/AUUf5vYS0+dnkFxQecCy/oJC0+dl+f2wREfGfyp5YmFzVO7bWfmiMaXXQ4cuB%0Ac3yXpwPvA0Oqet8iIuXKz4dp0yAtDX74Adq1gxdecH3Phx8e0FJy8/KrdFxEREJDuSHaGFMHuBM4%0AHsgEnrPW7juEx2tqrd3ku/wT0PQQ7ktE5EB5eTB5MowdC1u2wKmnupXnnj2hVmU/eKtZcbEx5JQS%0AmONitWGLiEgoq+i3ynQgCReg/wQ8WVMPbK21gC3r+8aYfsaYZcaYZVu3bq2phxWRcLRpkxtL16IF%0APPSQa99YvNidRJiS4lmABkhNTiAmOuqAYzHRUaQmJ3hUkYiI1ISK2jk6+KZyYIx5Dvj8EB9vszHm%0AWGvtJmPMscCWsq5orZ0CTAFISkoqM2yLSARbswZGjXKtG/v2Qe/ebkxdYqLXle1XPIVD0zlERMJL%0ARSG6oPiCtXafOfRdu94AbgSG+/77n0O9QxGJQMuXw4gRMGeO63G++WZITYU2bbyurFQpifEKzSIi%0AYaaiEH2yMWan77IBYnxfG1xHxhFl3dAYMwt3EuFRxpiNwMO48PyKMeZWYD3Q+xDrF5FIYa1r0Rg+%0AHBYsgCOOcC0c998PxxzjdXUiIhJhyg3R1tqo8r5fwW37lPGt86t7nyISgYqKID3dhecvvnCBefhw%0AuPNOaNjQ6+pERCRCVXbEnYhIYP3+u9uSe+RIyM52rRrPPAM33AB16nhdnYiIRDiFaBEJLrt2wdSp%0AbjRdTo47SXD2bLjySoiq9odjIiIiNUohWkSCw9at8NRTMGGCm/d87rnw/PNw4YVw6Cc1i4iI1CiF%0AaBHx1rp18OST8Nxz8NtvcMUV7oTBU0/1ujIREZEyKUSLiDcyM12/86xZbjOUvn3dmLp27byuTERE%0ApEIK0QGSnpGjzRZEAJYuddM13noL6tWDAQPcn2bNvK5MRESk0hSiAyA9I4dhczPJLygEICcvn2Fz%0AMwEUpCUyFBXBvHkuPH/0ERx1FDz2GNxzDzRq5HV1IUdvykVEvFfL6wIiQdr87P0Bulh+QSFp87M9%0AqkgkQAoK4MUX4aST4LLLYONGGD8e1q+Hv/9dAboait+U5+TlY/njTXl6Ro7XpYmIRBSF6ADIzcuv%0A0nGRkLdnjwvLxx/v5jobAy+9BGvWwL33Qt26XlcYsvSmXEQkOKidIwDiYmPIKSUwx8XGeFCNiB/9%0A/DNMnOhG1W3bBmec4b6+9FKNqashelMuIhIctBIdAKnJCcREH7hJREx0FKnJCR5VJFLDNm6EBx+E%0AFi3g//4PunWDJUvcnz//WQG6BpX15ltvykVEAkshOgBSEuN5olcn4mNjMEB8bAxP9OqkE4Ek9K1a%0ABbfcAscdB+PGuRnPX38Nb77pVqGlxulNuYhIcFA7R4CkJMYrNEv4+PxzN2kjPR1q14Y77nAr0a1a%0AeV1Z2Cv+d0TTOUREvKUQLSKVYy0sWODC8+LFEBsLf/0r9O8PRx/tdXURRW/KRUS8pxAtIuUrLIQ5%0Ac2DECMjIgLg4t0337bdDgwZeVyciIuIJhWgRKd1vv8H06ZCWBt99ByecAM89B9dd51o4REREIphC%0AtIgc6Jdf4OmnYcwY2LwZTjkFRo6Eyy+HqKiKby8iIhIBFKJFxPnpJzdhY9Ik2LkTLroIhgyBc8/V%0AiDoREZGDKESLRLq1a2HUKJg2zW3TfdVVLjx36eJ1ZSIiIkFLIVokUmVkuJMFX30VDjsMbroJBg2C%0Atm29rkxERCToKUSLRBJr4YMP3Ji6+fPddI3UVLj/fjj2WK+rExERCRkK0SKRoKgI3njDhefPPoOm%0ATeGJJ+DOO9285zCQnpGjDUhERCRgFKJFwtnevfDyy65tY9Uqtz335Mlw440QE+N1dTUmPSOHYXMz%0AyS8oBCAnL59hczMBFKRFRMQvanldgIj4we7dbkRdmzZw881Qpw7MmgXZ2W71OYwCNLgtsIsDdLH8%0AgkLS5md7VJGIiIQ7rUSLhJOtW2H8eJgwAXbsgHPOgWefdePqDhpTF07tD7l5+VU6LiIicqgUokXC%0Awfr1bivuZ5+F/HxISXFj6rp1K/Xq4db+EBcbQ04pgTkuNrxW3EVEJHionUMklH3zDfTt69o2Jk+G%0Aa66BrCx4/fUyAzSEX/tDanICMdEH7qYYEx1FanKCRxWJiEi400q0SCj66CM3aeO//4V69eC++2Dg%0AQGjevFI3D7f2h+LV83BpTxERkeCnEC0SKqyFefNceF66lN9jj+TFC25kYodk6h7dlNRttUipXIYO%0Ay/aHlMR4hWYREQkYhWiRYLdvH8ye7cbUZWZC8+Z8nfooN5mT+NlEA7Cjij3NqckJB/REg9ofRERE%0AqkI90SLBas8emDjRbcN9/fVQWAjTp8N333FXozP2B+hiVelpTkmM54lenYiPjcEA8bExPNGrk1Zy%0ARUREKkkr0SLBZscOmDQJxo1zI+u6d4ennoJLL4Va7n1vTfQ0q/1BRESk+hSiJWIF3ZzknBy3Qcoz%0Az7jNUi65xI2pO/PM/5nxHI49zSIiIqFEITpIBV3ACzNBNSc5OxvS0mDGDNey8Ze/wODBcPLJZd5E%0APc0iIiLeUk90ECoOeDl5+Vj+CHjpGTlelxY2gmJO8hdfwFVXQfv2MHMm3H47rFnjLpcToEE9zSIi%0AIl7TSnQQKi/gKSTVDM/mJFsLCxe6MXULF0LDhjBsmJvz3LRple4qFHqa9YmKiIiEK4XoIBRuG2EE%0Ao4D3FBcWwty5bkzd8uVw7LGuhaNfPzjiCP88pseCqmVGRESkhqmdIwiVFeR00ljNCdg20b//DlOn%0AQrt20Ls37Nzpvv7hBxg0KGwDNARJy4yIiIifKEQHodTkBKKjDpzGEB1ldNJYDfJ7T/HOnW6luXVr%0At9rcsCG8+iqsXAm33Qa1a9fM4wQxfaIiIiLhTO0cwcpW8HUY8apv1i89xZs3u5nOEyfCL7/ABRfA%0Aiy+SfmQCae+uJvev7wRdb7C/Xn+N4RMRkXCmEB2E0uZnU1B0YGouKLJheWJhVfpmg/okte+/h1Gj%0A4IUXXAvHlVfC0KHQtWtQ9QYf/Bqe264Jry3P8UttGsMnIiLhTO0cQSiSPgavbN9s0I79++oruPZa%0AtzX3c89B376wapVr3ejaFQie3uDSXsOZn27wW20awyciIuFMK9FByJ8fgwfbam5l3zBUd+yfX56v%0AtfDhh25M3TvvQP368OCDMGAAxMVV+FwqOu4vpb2GZXUJ1VRtoTCGT0REpDq0Eh2E/DU5IhhXcys7%0AiaQ6QbTGn29REfznP3D66XDOOW5U3eOPw4YNMHJkqQG6tOdS0XF/qUowVt+yiIhI+RSig5C/PgYP%0AlraCkir7hqE6QbTGnu/evTB9OnTsCCkp7uTBSZNg/Xr461/hyCPLvXnAxulVoKzXyhz0tfqWRURE%0AKqZ2jiDlj4/Bg6WtoKTi51hRy0V1TlI75Oe7ezc8+yw8+SRs3AgnnQQvvwxXXw2HVf5/nco+R38r%0A6zW8sms8i1dtDZoWHxERkVCgEB1BgnXkWGXeMFQniFb7+W7bBhMmwPjx8PPPcNZZ8Mwz8Kc/gTl4%0A3bZygqE3OFjCvIiISDhQiI4goT5yrKpBtMrPd8MGGD3a7Si4Zw/07AlDhrge6DARDGFeREQkHChE%0AR5BIW4ms9PPNynInBs6c6b6+7joYPBg6dAhwxSIiIhIqjLXBvxVeUlKSXbZsmddlSLj59FM3pu4/%0A/4G6deH22+GBB6BFC68rExEREY8YY5Zba5Mqup5WoiNYsM2MDghr3WznESPggw+gUSN4+GG49144%0A6iivqxMREZEQoRAdoYJpK+qA2LfP7SI4YoTbZbBZMxgzBm67zW2WIiIiIlIFmhMdoYJxZrRf5OfD%0A5Mlwwglue+69e+GFF+C779wOgwrQIiIiUg1aiY5QwTgzukbl5bnwPHYsbNkCp53mVp4vuwxq6b2j%0AiIiIHBqliQgVLFtR17jcXDdZo0ULeOghSEyE99+HTz4hvUUSPUa+T+uhb9Fj+CJPtzsXERGR0KaV%0A6EoIxxPwQn1m9P9YswbS0tz23Pv2Qe/ebsZz585ABPaAi4iIiF9pJboCxeErJy8fyx/hK9RXMVMS%0A43miVyfiY2MwQHxsDE/06hR6gXL5cheYExJgxgy49VZYvRpmzdofoCGCesBFREQkILQSXYHywlfI%0ABc6DhOzuddbCokVu0saCBdCwIQwdCvffD02blnqTsO8BFxERkYBSiK5AKIevsGtDKSyE9HS3Qcqy%0AZXDMMW6nwTvugCOOKPemcbEx5JTyMwv5HnARERHxhEJ0BUI1fAWqBzggQf333+Gll1xgXr0ajj8e%0ApkyBvn2hTp1K3UWo9ICH3RufANJrJyIigaQQXYFQCV8Hq6gHuCbCht+D+q5d8MwzbjRdbi506QKz%0AZ8OVV0JUVJXuqrieYA5ZOvmx+vTaiYhIoBlrrdc1VCgpKckuW7bMs8cPxRWuVkPfKvN7MdFR//Om%0AoDonFfYYvqjUVfr42Bg+Gnpele7rAFu2wFNPwcSJbt7z+ee7nufzzwdjqn+/Qc5vr2cE0GsnIiI1%0AxRiz3FqbVNH1tBJdCaF4Ap4x7vy70tTUiZI13i/+ww/w5JPw3HOuhaNXLzem7pRTqnd/fuSPN1ah%0A3H/vNb12IiISaArRlRRKq9HpGTllBuiyVCds1Fi/+Ndfu0kbs2e73QRvuAFSU93YuiDkr9aBUO2/%0ADwZ67UREJNA8mRNtjFlnjMk0xqwwxnjXp1FJoTYrurzZx1FltENUJ2ykJicQE31gb3Kl+8WthSVL%0A4NJL4eST4Y03YMAAtxr97LNBG6DBfzOnD+n1jHB67UREJNC83GzlXGtt58r0nHgt1DbqKG9Vuc9p%0AzWssbFRrw5aiInjzTTjjDDjrLPj8c/jHP2D9etKvG0iPF7ODfltuf7UOhM0GOB7QayciIoGmdo5K%0ACLV+y7I+2j6ybjSPp3QiqWWjGmtNqXS/eEGB20VwxAjIyoKWLd3Jg7feCnXrhtR0BX+2DoRi/32w%0A0GsnIiKB5FWItsB7xphC4Blr7RSP6qiUUOu3LGss38OXnQj4P2yU7B8/ri6M2b2ck2Y/Bxs2QMeO%0AbuZz794QHb3/NqG0M2Sojj0UERGRmuNViD7DWptjjDkaWGCMWWWt/bDkFYwx/YB+AC1atPCixv1C%0ALTR5ORO5eEW59s4d9P/yLW5a/iaN8neyrfOpHDVpElxySalj6kJptT8UZk6LiIiIf3k+J9oY8wiw%0A21o7qqzreD0nGkJrOoeXUobN5s/vzaLPV/OpV/Ab77U5hae7XcWmjknlzuvVnF8REREJBkE7J9oY%0AUw+oZa3d5bt8EfBYoOuoKvVbVmDVKhg5klemv0gtW8R/OpzNM6ddyeomrQAwFawoh9pqv4iIiEQ2%0AL7VrTW0AABfASURBVNo5mvL/7d17lJ11fe/x9zfJFAYKDChVMoLAkaYuBJNDFkQRC9KaoCIRu1ot%0Ay4K6jncUXYTLwXVE6pJoLBYVpeANjigUCFO0lKAFqqYnaG4kQQkQG5DhYsRcQKZmkvzOH3tP2DPZ%0At2ff9573a61Zs+fZz977yW/vPPnkN9/n+4PbIvcr/WnAd1NKd7bhONqqZ2a277svd7Hg0BDsvTf/%0AcsLpXPnqt/D4AS8Zt1ul+vGsJRI9M36SJKkrtTxEp5R+Bby61a/bSbqpE0VRKcFdd8HChXDvvXDg%0AgfDJT8K559L3+HaeWbwWaphRrna2v+vHT5Ikdb129ometLqt7/RuO3bkVhU87jiYNw8efji3TPej%0Aj8Jll8HBB7ekX2/Xjp8kSeoZ9olug27qRAHAf/83XHcdLFoEGzbAn/4pfOMbcNZZsNdee+xezYxy%0APeUYXTd+kiSp5xii26Br+k5v3QpXXw1f/CI8/TQcf3wuSJ9xBkyp7ZcYQ6uG+fT3H2Dz86O7txWW%0AY0DluuiuGT9JktSzDNEtMHHW9ZQ/O5hbVwx3bieKp56Cf/xH+NrXYNs2mDsXLrwQTj65aI/nak2s%0AZS40MrqTS29/gD/s2FWx1rlZnTy8WFGSJFXLmugmGwuOw1tGSOSC4a0rhnn7cYNNrRuuySOPwPvf%0AD4cfnptxnjcPVq6EO++EU06pK0BD8VrmQltGRquqdW5G3XWx9+nixWsZWjVc83NKkqTe5Ux0k5W6%0ACO6eBzd1ziIiK1fm2tTdcktuKe5zzoHzz4dXvKKhL1NrzXKxx5Wqu651Nrmblh2XJEntZ4huso69%0ACC4luOeeXHi+6y7Yf3+44AL42MfgpS9t6EuNBdtya2P2901l774p42qlx1Rb61xP67uOfZ8kSVJH%0AspyjyUoFwLZdBLdrFyxeDCecAKeeCvffD5dfDo89lvvehAA9ViZRykB/H5efeQyfOv1o+vumjrsv%0AS61zPa3v2vE+Da0a5sSFd3PERf/KiQvvtnREkqQu4kx0k3XMctbbt8N3vgOf/zysXw9HHpnrvHH2%0A2bD33mUfWs8Fd+XqoAfzzzW23xNbRjigv4+9+6aw5fnRlra+a/X75IIxkiR1N0N0FeoJkVmXs264%0AZ5+Fa6+FK66A4WGYORNuvBHe/naYVvntrzfslQqwASy96A17PP+WkVH6+6byxb+ZmXmM6ml91+r3%0AyRpsSZK6myG6gkbMGFa7nHVDbdoEX/4yfOUrsHlzrj3d17+ea1eXoctGvWGvUrBtZJisdza5le+T%0ANdiSJHU3a6Ir6Lolph99FD76UXj5y+Hv/z4Xnpcty11EOG9e5jZ19Ya9BXNnlK1zbmSYbMWS443S%0AcbXykiQpE2eiK+iaGcN163KdNr73vVxQfte7YMECeOUrgdpLUupdHbBSmUSjVx9sy6x/DTqmVl6S%0AJNXEEF1Bxy8xvXQpLFwIP/gB7Ltvbhb64x+HQw/dvUs9JSmNCHvlgu1kDZNtr5WXJEl1MURXUEvI%0Aa/ry0SnBHXfkwvNPfwovehFcdhl8+MNw0EF77F5P3XGzw95kDpPdMmsuSZL2ZIiuIGvIq2bWt+aQ%0AvWMH3HRTLjyvWweHHQZf+hK85z25WegS6i1JaXbYM0xKkqRuY4iuQpaQV2nWt6bSiuefh299C77w%0ABdi4EY4+Gq6/Ht7xjtwy3RW0oySl6bPxkiRJbWR3jgarNOtbKmSfd9PqPVet27wZPvMZOPxw+MhH%0AYPp0uP12WLMmd+FgFQEaKnfIaLTCVQoTL/xHwRX5JElSr3AmusEqzfqWK6EYC5t7/+ZJ5v3wRvin%0Af4LnnoPTToOLL4aTTqrpmFxIRJIkqbEM0Q1W6ULEUiEb4MhnHud9P1vMqZ+9GyLlyjUuuACOPbbs%0Aa1ZTOuFCIpIkSY1jiG6wcrO+Q6uG+f0fduzxmGOffIgPLLuFeQ/9P7ZP6+OGmfOYftklvPHNcyq+%0AXiNWVGy0jm8LKEmSVCdDdBMUm/WdGHZJiddtXM0H77uZEx9dw9a99uWq1/w13z7udJ7Zd4DBtc/z%0AxjdXfq1OLJ2YrL2fJUnS5GGIbpGxsDtl105OW/+ffPC+W3jV0xt46o8P4jOnvIfvvXoev99rn937%0AV1v60ImlE5O597MkSZocDNEt8tvfbuWd6+7mfT+7lSM2P8mGgwa5YN5HGTr6FLZP27PLRrWlD51a%0AOmHvZ0mS1MsM0VWoq+fx1q1w9dUsvebzvPjZ33H/S4/i/fP/Nz886gR2TZnKgfv0MXV0V82lD5ZO%0ASJIktZ4huoKaL9x76im48kr46ldh2zZ2zXk95/yP07h38FUQAeTC7qdOPxqovfTB0glJkqTWi5RS%0Au4+hotmzZ6fly5e35bVPXHh30XKJwYF+ll70hj0fsGFDbmXBb30Ltm+Hv/oruPBCOO44V/GTJEnq%0AcBGxIqU0u9J+zkRXUPWFe6tXw+c+B//8zzBtGpx9NixYAEcdtXsX64QlSZJ6gyG6grIX7qUEP/4x%0ALFwId94J++0H558P550HhxzShqOVJElSKxiiKyh24d4+04Ir/ui/4LWXwLJl8Cd/Ap/9LHzwgzAw%0AUPNrNaLcw5IRSZKk5jNEV1B44d6mZ7Zx9sb/5KPLb2O/jY/AEUfAVVfBu98N/fW1lGvEyoOduHqh%0AJElSL5rS7gPoBvOPOoCle6/hoRvP5ZJbFrHf/vvAd78LDz0EH/pQ3QEayq882MrnkCRJUmXORFfj%0A2mvhE5+AP/9zuOYamDdvd5u6RmnEyoOduHqhJElSLzJEV+O974U5c+A1r2naSzRi5cFOXb1QkiSp%0A11jOUY39929qgIbcBYz9fVPHbcu68mAjnkOSJEmVOROdQTM7XzRi5UFXL5QkSWoNVyys0sTOF5Cb%0A5b38zGOYP2vQ1nKSJEk9wBULG6xS5wtby0mSJE0ehugqlet8US5gVwrRE2ewT/mzg7nnwU08sWWE%0AgX36SAm2jow6uy1JktRBDNFVKtf5oth2oOT2McUWR/nOssd237/5+dFxz+XstiRJUmewO0eVynW+%0AmFqiZ3Sp7WOKzWCX48IpkiRJncEQXaX5swa5/MxjGBzoJ4DBgf7dFxXuLHFxZqntY2pZBMWFUyRJ%0AktrPco4M5s8aLFpKMViipGOwwiIn5UpByj1GkiRJ7eVMdAPUushJsceV48IpkiRJncGZ6AaodZGT%0AYo9rVHcO+1ZLkiQ1j4ut9KBKC8NIkiSpOBdb6UHVzi7X07dakiRJlRmiu0SxntKl+kaXWxhGkiRJ%0A9fPCwi5RadnxQqU6eNjZQ5IkqTEM0V0iy+xyrd1CJEmSVB3LOVpgaNUwn/7+A7uX8R7o7+PStx6d%0AqT653LLjE9XaLaRWdgKRJEmTjSG6yYZWDbPglvsZ3flCF5QtI6MsuPl+YM965lIWzJ3BgpvvZ3TX%0AC8/TNyVKzi6XWhim0bLUakuSJPUKyzmabNGS9eMC9JjRXaloPXNZUeHnNshSqy1JktQrDNFNVq4j%0ARpZuGcXC+OjOGoJ4g9kJRJIkTUaG6CYr1xFjSgRHXPSvnLjwboZWDZd9nk4Nq3YCkSRJk5EhuskW%0AzJ1B39TidRc7UyLxQh1xuSBdS1gdWjXMiQvvrjqo18JOIJIkaTIyRDfRWNeK0Z2JKQU5ulikrlRH%0AnDWsjl3wN7xlpOqgXov5swa5/MxjGBzoJ4DBgX6XF5ckST3P7hwZVdvO7ZNDa7lh2WOMVTHvSrnQ%0Ae/mZx/Dxm1YXfe5ypRlZ29a1cunvVnUCkSRJ6hSG6Ayqbec2tGp4XIAeMxZiS/V8TsCJC+8uGY6z%0AhNVOraGWJEnqBZZzZFBtO7dFS9bvEaDHPLFlpGhpxphGlV14wZ8kSVLzGKIzqHZ2t9xs7/SB/nF1%0AxMU0os9ypRrqVlx0KEmS1KsM0RlUO7tbar+A3SF2/qxBll70hpLrpdRbdlHugr9WXXQoSZLUqwzR%0AGZQqw3h++45xAbTYfgGcNeewPWqam1l2MRbU/2vhm1l60RvGXZzoKoOSJEm1M0RnMDa7O9DfN277%0A5udHx83kFpsFPmvOYdzz4KY9yifa0Wd5sl50aAmLJElqlLaE6IiYFxHrI+KRiLioHcdQq/mzBtl3%0Arz2bmkycyS2cBV4wdwa3rhguWj7Rjj7Lk/GiQ0tYJElSI7W8xV1ETAWuAv4SeBz4eUTcnlL6RauP%0ApVZZZ3Ir9WxudZ/lBXNnjGvVB72/ymAr+2ZLkqTe146Z6OOBR1JKv0opbQduBM5ow3HULOtMbqeV%0AT0zGVQY77T2QJEndrR2LrQwCvy74+XHghDYcR82yzuSWWlylneUTk22VwU58DyRJUvfq2AsLI+J9%0AEbE8IpZv2rSp3YczTtaZ3HZcPKjxfA8kSVIjtWMmehg4tODnl+W3jZNSuga4BmD27NmlFgBsmywz%0AuYWt5Z7YMsL0gf6SS3urOXwPJElSI0VKrc2nETENeAg4lVx4/jnwtymlB0o9Zvbs2Wn58uUtOkJJ%0AkiRNVhGxIqU0u9J+LZ+JTintiIiPAEuAqcA3ywVoSZIkqdO0o5yDlNIdwB3teG1JkiSpXh17YaEk%0ASZLUqQzRkiRJUkaGaEmSJCmjttRE94KhVcO2S5MkSZqkDNE1GFo1PG7FwuEtI1y8eC2AQVqSJGkS%0AsJyjBouWrB+35DfAyOhOFi1Z36YjkiRJUisZomvwxJaRTNslSZLUWwzRNZg+0J9puyRJknqLIboG%0AC+bOoL9v6rht/X1TWTB3RpuOSJIkSa3khYU1GLt40O4ckiRJk1OklNp9DBXNnj07LV++vN2HUZSt%0A7iRJknpHRKxIKc2utJ8z0XWw1Z0kSdLkZE10HWx1J0mSNDk5E12HTm91Z6mJJElSczgTXYdObnU3%0AVmoyvGWExAulJkOrhtt9aJIkSV3PEF2HTm51Z6mJJElS81jOUYdObnXX6aUmkiRJ3cwQXaf5swY7%0AIjRPNH2gn+EigbkTSk0kSZK6neUcPaqTS00kSZK6nTPRPaqTS00kSZK6nSG6h3VqqYkkSVK3s5xD%0AkiRJysgQLUmSJGVkiJYkSZIyMkRLkiRJGRmiJUmSpIwM0ZIkSVJGhmhJkiQpI0O0JEmSlJEhWpIk%0AScrIEC1JkiRl5LLfFQytGmbRkvU8sWWE6QP9LJg7w6W0JUmSJjlDdBlDq4a5ePFaRkZ3AjC8ZYSL%0AF68FMEhLkiRNYpZzlLFoyfrdAXrMyOhOFi1Z36YjkiRJUicwRJfxxJaRTNslSZI0ORiiy5g+0J9p%0AuyRJkiYHQ3QZC+bOoL9v6rht/X1TWTB3RpuOSJIkSZ3ACwvLGLt40O4ckiRJKmSIrmD+rEFDsyRJ%0AksaxnEOSJEnKyBAtSZIkZWSIliRJkjIyREuSJEkZGaIlSZKkjAzRkiRJUkaGaEmSJCkjQ7QkSZKU%0AkSFakiRJysgQLUmSJGVkiJYkSZIyMkRLkiRJGRmiJUmSpIwM0ZIkSVJGhmhJkiQpI0O0JEmSlJEh%0AWpIkScooUkrtPoaKImIT8GgbD+HFwG/b+Pq9zvFtLse3uRzf5nFsm8vxbS7Ht7maOb4vTykdXGmn%0ArgjR7RYRy1NKs9t9HL3K8W0ux7e5HN/mcWyby/FtLse3uTphfC3nkCRJkjIyREuSJEkZGaKrc027%0AD6DHOb7N5fg2l+PbPI5tczm+zeX4Nlfbx9eaaEmSJCkjZ6IlSZKkjAzRBSJiY0SsjYjVEbG8yP0R%0AEV+KiEciYk1E/M92HGc3iogZ+XEd+9oWEedN2OfkiNhasM//adfxdoOI+GZE/CYi1hVsOygifhgR%0AD+e/H1jisfMiYn3+s3xR6466e5QY30UR8WD+7/9tETFQ4rFlzyWTXYmxvTQihgv+/r+pxGP97FZQ%0AYnxvKhjbjRGxusRj/eyWERGHRsQ9EfGLiHggIj6W3+65twHKjG9Hnnst5ygQERuB2Smlon0H8yf1%0Ac4E3AScAV6aUTmjdEfaGiJgKDAMnpJQeLdh+MnB+Sukt7Tq2bhIRrweeA65PKb0qv+3zwO9SSgvz%0AJ+gDU0oXTnjcVOAh4C+Bx4GfA+9MKf2ipX+ADldifN8I3J1S2hERnwOYOL75/TZS5lwy2ZUY20uB%0A51JKXyjzOD+7VSg2vhPu/wdga0rpsiL3bcTPbkkRcQhwSEppZUTsB6wA5gPn4Lm3bmXG92V04LnX%0AmehsziB3UkoppWXAQP4NVzanAhsKA7SySyn9GPjdhM1nANflb19H7uQz0fHAIymlX6WUtgM35h+n%0AAsXGN6V0V0ppR/7HZeRO7MqoxGe3Gn52q1BufCMigL8GvtfSg+oRKaUnU0or87efBX4JDOK5tyFK%0AjW+nnnsN0eMl4EcRsSIi3lfk/kHg1wU/P57fpmzeQekT+Gvzv675t4g4upUH1SNeklJ6Mn/7KeAl%0ARfbxc9wY7wH+rcR9lc4lKu7c/N//b5b4dbif3fqdBDydUnq4xP1+dqsUEYcDs4D78NzbcBPGt1DH%0AnHsN0eO9LqU0EzgN+HD+V2JqoIj4I+CtwM1F7l4JHJZSOhb4MjDUymPrNSlXq2W9VhNExCXADuCG%0AErt4Lsnua8CRwEzgSeAf2ns4PeudlJ+F9rNbhYj4Y+BW4LyU0rbC+zz31q/U+HbaudcQXSClNJz/%0A/hvgNnK/eik0DBxa8PPL8ttUvdOAlSmlpyfekVLallJ6Ln/7DqAvIl7c6gPsck+PlRjlv/+myD5+%0AjusQEecAbwHOSiUuKqniXKIJUkpPp5R2ppR2AddSfMz87NYhIqYBZwI3ldrHz25lEdFHLuDdkFJa%0AnN/subdBSoxvR557DdF5EbFvvoidiNgXeCOwbsJutwN/FzlzyF2Y8STKouQsSES8NF+vR0QcT+7z%0A+UwLj60X3A6cnb99NvAvRfb5OXBURByR/83AO/KPUwURMQ+4AHhrSun5EvtUcy7RBBOuL3kbxcfM%0Az259/gJ4MKX0eLE7/exWlv836hvAL1NKVxTc5bm3AUqNb8eee1NKfuX+Q3MkcH/+6wHgkvz2DwAf%0AyN8O4CpgA7CW3BWgbT/2bvkC9iUXig8o2FY4vh/Jj/395C4ceG27j7mTv8j9Z+RJYJRcbd17gRcB%0A/w48DPwIOCi/73TgjoLHvoncVeIbxj7rflU1vo+Qq2lcnf+6euL4ljqX+FVxbP9v/ry6hlywOGTi%0A2OZ/9rNbw/jmt3977HxbsK+f3Wxj+zpypRprCs4Db/Lc2/Tx7chzry3uJEmSpIws55AkSZIyMkRL%0AkiRJGRmiJUmSpIwM0ZIkSVJGhmhJkiQpI0O0JLVYROyMiNURsS4ibo6IfRr8/OdExFcq7HNyRLy2%0A4OcPRMTfNfI4JKmXGaIlqfVGUkozU0qvAraT65feaicDu0N0SunqlNL1bTgOSepKhmhJaq+fAK8A%0AiIhP5Gen10XEeflth0fEgxFxQ0T8MiJuGZu5joiNEfHi/O3ZEXHvxCePiNMj4r6IWBURP4qIl0TE%0A4eSC+8fzM+InRcSlEXF+/jEzI2JZRKyJiNsi4sD89nsj4nMR8bOIeCgiTmr+8EhSZzJES1KbRMQ0%0A4DRgbUQcB7wbOAGYA/yviJiV33UG8NWU0iuBbcCHMrzMT4E5KaVZwI3ABSmljcDVwBfzM+I/mfCY%0A64ELU0rHkltF8FMF901LKR0PnDdhuyRNKoZoSWq9/ohYDSwHHgO+QW6529tSSr9PKT0HLAbGZnp/%0AnVJamr/9nfy+1XoZsCQi1gILgKPL7RwRBwADKaX/yG+6Dnh9wS6L899XAIdnOA5J6inT2n0AkjQJ%0AjaSUZhZuiIhy+6cSP+/ghcmQvUs89svAFSml2yPiZODSTEe6pz/kv+/Ef0MkTWLOREtSZ/gJMD8i%0A9omIfYG35bcBHBYRr8nf/ltyJRoAG4Hj8rffXuJ5DwCG87fPLtj+LLDfxJ1TSluBzQX1zu8C/mPi%0AfpI02RmiJakDpJRWAt8GfgbcB3w9pbQqf/d64MMR8UvgQOBr+e2fBq6MiOXkZoaLuRS4OSJWAL8t%0A2P594G1jFxZOeMzZwKKIWAPMBC6r588mSb0oUpr4W0JJUqfId9L4Qb4dniSpQzgTLUmSJGXkTLQk%0ASZKUkTPRkiRJUkaGaEmSJCkjQ7QkSZKUkSFakiRJysgQLUmSJGVkiJYkSZIy+v9JU5gv3mOwXwAA%0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661651" y="497512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668339" y="1187243"/>
            <a:ext cx="10923440" cy="303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b="1" dirty="0">
                <a:latin typeface="微软雅黑" panose="020B0503020204020204" pitchFamily="34" charset="-122"/>
                <a:cs typeface="Times New Roman" panose="02020603050405020304" pitchFamily="18" charset="0"/>
              </a:rPr>
              <a:t>核技巧</a:t>
            </a:r>
            <a:endParaRPr lang="en-US" altLang="zh-CN" b="1" dirty="0">
              <a:latin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zh-CN" sz="1800" dirty="0" err="1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在低维空间计算获得高维空间的计算结果，满足高维，才能</a:t>
            </a:r>
            <a:r>
              <a:rPr lang="zh-CN" altLang="en-US" sz="1800" dirty="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高维下线性可分</a:t>
            </a:r>
            <a:r>
              <a:rPr lang="en-US" altLang="zh-CN" sz="1800" dirty="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。 我们需要引入一个新的概念：</a:t>
            </a:r>
            <a:r>
              <a:rPr lang="en-US" altLang="zh-CN" sz="1800" b="1" dirty="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核函数。它可以将样本从原始空间映射到一个更高维的特质空间中，使得样本在新的空间中线性可分</a:t>
            </a:r>
            <a:r>
              <a:rPr lang="en-US" altLang="zh-CN" sz="1800" dirty="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。这样我们就可以使用原来的推导来进行计算，只是所有的推导是在新的空间，而不是在原来的空间中进行，即用核函数来替换当中的内积。</a:t>
            </a:r>
            <a:endParaRPr lang="zh-CN" altLang="zh-CN" sz="1800" dirty="0">
              <a:effectLst/>
              <a:latin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</a:pPr>
            <a:endParaRPr lang="zh-CN" altLang="zh-CN" sz="1800" dirty="0">
              <a:effectLst/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0F15834-D865-4F6D-829D-B8A5140FAF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4.</a:t>
            </a:r>
            <a:r>
              <a:rPr lang="zh-CN" altLang="en-US" dirty="0">
                <a:solidFill>
                  <a:schemeClr val="tx1"/>
                </a:solidFill>
              </a:rPr>
              <a:t>线性不可分支持向量机</a:t>
            </a: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82739551-7EF8-4A2D-BFFD-FAD8327D47A9}"/>
              </a:ext>
            </a:extLst>
          </p:cNvPr>
          <p:cNvSpPr txBox="1"/>
          <p:nvPr/>
        </p:nvSpPr>
        <p:spPr>
          <a:xfrm>
            <a:off x="2312184" y="6199351"/>
            <a:ext cx="1949361" cy="46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333333"/>
                </a:solidFill>
                <a:latin typeface="PingFang SC"/>
              </a:rPr>
              <a:t>线性不可分</a:t>
            </a:r>
            <a:endParaRPr lang="zh-CN" altLang="en-US" sz="2000" dirty="0"/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F0FFE442-3268-4FB2-8C2F-A2E378DE4D06}"/>
              </a:ext>
            </a:extLst>
          </p:cNvPr>
          <p:cNvSpPr txBox="1"/>
          <p:nvPr/>
        </p:nvSpPr>
        <p:spPr>
          <a:xfrm>
            <a:off x="7195881" y="6207964"/>
            <a:ext cx="27097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333333"/>
                </a:solidFill>
                <a:latin typeface="PingFang SC"/>
              </a:rPr>
              <a:t>高维下线性可分</a:t>
            </a:r>
            <a:endParaRPr lang="zh-CN" altLang="en-US" sz="2000" dirty="0"/>
          </a:p>
        </p:txBody>
      </p:sp>
      <p:pic>
        <p:nvPicPr>
          <p:cNvPr id="67" name="图片 2">
            <a:extLst>
              <a:ext uri="{FF2B5EF4-FFF2-40B4-BE49-F238E27FC236}">
                <a16:creationId xmlns:a16="http://schemas.microsoft.com/office/drawing/2014/main" id="{169C7678-D221-4D99-A2A9-E0D0C518687F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3546" y="3403419"/>
            <a:ext cx="3382962" cy="2713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8" name="图片 1">
            <a:extLst>
              <a:ext uri="{FF2B5EF4-FFF2-40B4-BE49-F238E27FC236}">
                <a16:creationId xmlns:a16="http://schemas.microsoft.com/office/drawing/2014/main" id="{19B62CB3-4CE7-4209-B3CD-4774C7C693F2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422" y="3662306"/>
            <a:ext cx="2598853" cy="2336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7179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5" descr="data:image/png;base64,iVBORw0KGgoAAAANSUhEUgAAAtEAAAHwCAYAAABg0TMJAAAABHNCSVQICAgIfAhkiAAAAAlwSFlz%0AAAALEgAACxIB0t1+/AAAIABJREFUeJzs3Xd4lFX6xvHvIUYIRSKIaEIVMYCgBKKC2FtcXTGi4qJi%0AFysKSiju7s+y7goEKdIULIAiiyJmdUURARXsYNBoIIAKSII0iYBECcn5/XEmGNh0MvNOuT/XxeXk%0AzZRnJkjuOfO8zzHWWkREREREpPJqeV2AiIiIiEioUYgWEREREakihWgRERERkSpSiBYRERERqSKF%0AaBERERGRKlKIFhERERGpIoVoEQlKxphWxhhrjDnM9/XbxpgbA/C4jxhjXvL34/geK8EYs8IYs8sY%0Ac58x5mljzN8D8djBxhizzhhzQTVve6YxJruma6rE40bsz0tEFKJF5BD4gk++MWa3MWazMWaaMaa+%0APx7LWvsna+30StZUrTBWifs+xxhT5Hu+u4wx2caYmw/hLgcDi621Day1T1lr77TW/qPEY22smcor%0Az/cmosD3HPOMMR8bY7oHuo7y+N5cHV/8tbV2ibU2wU+PdasxZpXv573ZGDPPGNPA97j7f14iEnkU%0AokXkUF1mra0PdAGSgL8dfAXjhMu/N7m+53sEMASYaozpcPCVilfQK9AS+LaG66sJs33PsQmwFJhr%0AjDEe1xRwxpizgX8Bfay1DYD2wGxvqxKRYBEuv9RExGPW2hzgbaAjgDHmfWPMP40xHwF7gOOMMQ2N%0AMc8ZYzYZY3KMMY8bY6J8148yxowyxmwzxnwPXFry/n33d1uJr283xqz0rRBmGWO6GGNeBFoAb/pW%0AUgf7rtvNt6KaZ4z5yhhzTon7aW2M+cB3PwuAoyr5fK21Nh3YAXQo0X5yqzFmA7DId/89jTHf+h77%0AfWNMe9/xRcC5wARfrSf4VvIfN8bU872Wcb7v7TbGxB30epxmjPmp+PXzHbvCGPO17/Kpxphlxpid%0AvhXU0ZV5Xgc9xwJgOnAM0NgYU8sY8zdjzHpjzBZjzAxjTEPf4xU//37GmFzfz3hQidqmGWMeL/F1%0AmSvtvto/8b1mm4wxE4wxh/u+96Hval/5XpdrDr4vY0x732ud53vtex5Ux0RjzFu+n/lnxpg2ZbwE%0ApwCfWGszfK/Hz9ba6dbaXQc/J2NM8d+54j9FxpibfN9rZ4xZYIz52bhPL3pX6QchIkFJIVpEaoQx%0ApjlwCZBR4nBfoB/QAFgPTAP2AccDicBFQHEwvh34s+94EnBVOY91NfAIcANuRbgnsN1a2xfYgG91%0A3Fo70hgTD7wFPA40AgYBrxljmvju7mVgOS48/wOoVN+1L1BeAcQCmSW+dTZuxTLZGHMCMAsYgFvV%0AnYcL+Idba88DlgD3+mpdXXwH1tpfgT/hW/X2/ckt+fjW2s+AX4HzShy+1vd8AMYB46y1RwBtgFcq%0A87wOeo61gZuAH62123yXb8KF/+OA+sCEg252LtAW97MdYqrXWlMIDMT9TLoD5wN3A1hrz/Jd52Tf%0A63LAyrAxJhp4E3gXOBroD8w0xpRs9/gL8ChwJLAW+GcZdXyG+zk+aozp4Xs9SmWtLf47Vx+4GvgJ%0AWOh7Q7QA93M52vfYk0wpn16ISGhRiBaRQ5VujMnDfez/Ae7j72LTrLXfWmv34QLsJcAAa+2v1tot%0AwBhcqADoDYy11v5orf0ZeKKcx7wNGGmt/cK3IrzWWru+jOteD8yz1s6z1hZZaxcAy4BLjDEtcKuN%0Af7fW/m6t/RAXwMoT53u+24CHgb7W2pIntT3ie375wDXAW9baBb5V3VFADHB6BY9RWbOAPgDG9ele%0A4jsGUAAcb4w5ylq721r7aRXut7fvOf4IdAWu8B2/Dhhtrf3eWrsbGAb8xRzYuvKo7/lnAi8U11cV%0A1trl1tpPrbX7rLXrgGdwb04qoxsu3A+31u611i4C/ntQHa9baz/3/b2cCXQuo44lQC9cq9JbwHZj%0AzOiSq/8H871xmg70ttb+iHtjuM5a+4Lv+WQAr+GCtoiEsMr07ImIlCfFWvteGd/7scTllkA0sMn8%0A0V5bq8R14g66flmhGKA58F0l62sJXG2MuazEsWhgse8xd/hWfks+bvNy7i/XWtusnO+XfA5xlHge%0A1toiY8yPQHwla6/Iy8DHxpi7cGHvyxJvJm4FHgNWGWN+wIXb/1byfl+x1l5fyvEDno/v8mFA0xLH%0ADv4ZdqrkY+7nC6KjcZ9I1PU9xvJK3jwOt3JedFAdJV/zn0pc3oML3aWy1r4NvG1cT/+5wKtANi7Y%0AH1x3Q+A/wN+stUt9h1sCp/nelBQ7DHixks9HRIKUQrSI+JMtcflH4HfgKN8K4ME2cWB4bVHO/f6I%0Aa1Go6DGLr/uitfb2g69ojGkJHGmMqVciSLco5T6qouRtcykRIo1799AcyKni/ZR+BWuzjDHrca0f%0AJVs5sNauAfr4wl8vYI4xpvFBbxiqKhcXCou1wLXnbAaK31g0B1aV+H5xG8qvuEBc7JhyHmcyri2o%0Aj7V2lzFmAOW095RSY3NjTK0SQboFsLqc21TId18Lfb3sHQ/+vu91fhk3bWVKiW/9CHxgrb3wUB5f%0ARIKP2jlEJCCstZtwfapPGmOO8PUUtzFuAgK4nt37jDHNjDFHAkPLubtngUHGmK7GOd4XiMEFuuNK%0AXPcl4DJjTLJxJy/W8Z2I1sy3arsMeNQYc7gx5gzgMmrOK8Clxpjzfb26D+LeSHxcidtuxp3M17CC%0A670M3A+chVslBcAYc70xpokv/BWvghaVcvuqmAUMNO5kzPq41p3ZB70p+rsxpq4x5kTgZv6YZrEC%0A10LTyBhzDK5PvCwNgJ3AbmNMO+Cug75/8M+4pM9wq8uDjTHRxp1Eehnw70o/Sx9jzOXGmL8YY470%0A/T07FddWUlprzD+BerifRUn/BU4wxvT11RNtjDnF+E4wFZHQpRAtIoF0A3A4kIWbajEHONb3vanA%0AfOAr4Etgbll3Yq19FRdaXgZ2Aem4nmtwvdR/801mGOTrS70ceAjYilsZTOWPf/+uBU4Dfsb1OM+o%0AiSfqqzMb15M9HtdDfRnupMe9lbjtKlxo/d73XOLKuOosXLBb5Dv5r9jFwLfGmN24kwz/4uvTxjc9%0A4sxqPKXncW0IHwI/AL/hTtwr6QPcyXoLgVHW2nd9x1/E/WzX4d5MlTcqbhDu57IL9/fi4Os+Akz3%0AvS4HTLrwvbaX4VbntwGTgBt8r2dV7cCd8LoGF+pfAtKstTNLuW4fXD/2jhITOq7zTfK4CNf7n4tr%0AJRkBlHmSooiEBmPtoXxqKSIi4kbc4YJ1dBntOiIiYUUr0SIiIiIiVaQQLSIiIiJSRWrnEBERERGp%0AIq1Ei4iIiIhUkUK0iIiIiEgVhcRmK0cddZRt1aqV12WIiIiISJhbvnz5Nmttk4quFxIhulWrVixb%0AtszrMkREREQkzPl2gq2Q2jlERERERKpIIVpEREREpIoUokVEREREqigkeqJLU1BQwMaNG/ntt9+8%0ALkWAOnXq0KxZM6Kjo70uRURERMTv/BaijTHNgRlAU8ACU6y144wxjwC3A1t9V33IWjuvqve/ceNG%0AGjRoQKtWrTDG1FTZUg3WWrZv387GjRtp3bq11+WIiIiI+J0/V6L3AQ9aa780xjQAlhtjFvi+N8Za%0AO+pQ7vy3335TgA4SxhgaN27M1q1bK76yiIiISBjwW4i21m4CNvku7zLGrATia/IxFKCDh34WIiIi%0AEkkCcmKhMaYVkAh85jvU3xjztTHmeWPMkWXcpp8xZpkxZlmwrnBGRUXRuXNnOnbsyNVXX82ePXuq%0AfV/vv/8+f/7znwF44403GD58eJnXzcvLY9KkSfu/zs3N5aqrrqr2Y4uIiIhI1fg9RBtj6gOvAQOs%0AtTuBycBxQGfcSvWTpd3OWjvFWptkrU1q0qTCTWM8ERMTw4oVK/jmm284/PDDefrppw/4vrWWoqKi%0AKt9vz549GTp0aJnfPzhEx8XFMWfOnCo/joiIiIhUj19DtDEmGhegZ1pr5wJYazdbawuttUXAVOBU%0Af9YQKGeeeSZr165l3bp1JCQkcMMNN9CxY0d+/PFH3n33Xbp3706XLl24+uqr2b17NwDvvPMO7dq1%0Ao0uXLsydO3f/fU2bNo17770XgM2bN3PFFVdw8sknc/LJJ/Pxxx8zdOhQvvvuOzp37kxqairr1q2j%0AY8eOgOsVv/nmm+nUqROJiYksXrx4/3326tWLiy++mLZt2zJ48OAAv0IiIiIi4cOf0zkM8Byw0lo7%0AusTxY3390gBXAN8c8oMNGAArVhzy3Rygc2cYO7ZSV923bx9vv/02F198MQBr1qxh+vTpdOvWjW3b%0AtvH444/z3nvvUa9ePUaMGMHo0aMZPHgwt99+O4sWLeL444/nmmuuKfW+77vvPs4++2xef/11CgsL%0A2b17N8OHD+ebb75hhe85r1u3bv/1J06ciDGGzMxMVq1axUUXXcTq1asBWLFiBRkZGdSuXZuEhAT6%0A9+9P8+bND+FFEhEREYlM/pzO0QPoC2QaY4oT7kNAH2NMZ9zYu3XAHX6swa/y8/Pp3Lkz4Faib731%0AVnJzc2nZsiXdunUD4NNPPyUrK4sePXoAsHfvXrp3786qVato3bo1bdu2BeD6669nypQp//MYixYt%0AYsaMGYDrwW7YsCE7duwos6alS5fSv39/ANq1a0fLli33h+jzzz+fhg0bAtChQwfWr1+vEC0iIiJS%0ADf6czrEUKG1kQ5VnQleokivGNa24J/pg9erV23/ZWsuFF17IrFmzDrhOabfzt9q1a++/HBUVxb59%0A+wJeg4iIiEg40LbfftatWzc++ugj1q5dC8Cvv/7K6tWradeuHevWreO7774D+J+QXez8889n8uTJ%0AABQWFvLLL7/QoEEDdu3aVer1zzzzTGbOnAnA6tWr2bBhAwkJCTX9tEREREQimkK0nzVp0oRp06bR%0Ap08fTjrppP2tHHXq1GHKlClceumldOnShaOPPrrU248bN47FixfTqVMnunbtSlZWFo0bN6ZHjx50%0A7NiR1NTUA65/9913U1RURKdOnbjmmmuYNm3aASvQIiIiInLojLXW6xoqlJSUZJctW3bAsZUrV9K+%0AfXuPKpLS6GciIiIioc4Ys9xam1TR9bQSLSIiIiJSRf6cziEiIiIiUq70jBzS5meTm5dPXGwMqckJ%0ApCTGe11WhRSiRURERMQT6Rk5DJubSX5BIQA5efkMm5sJEPRBWu0cIiIiIuKJtPnZ+wN0sfyCQtLm%0AZ3tUUeUpRIuIiIiIJ3Lz8qt0PJgoRIuIiIiIJ+JiY6p0PJgoRFfT9u3b6dy5M507d+aYY44hPj5+%0A/9d79+49pPt+/fXXSUtLq5E6r7/+elq3bs3JJ5/MCSecwI033khubm6Ftxs9ejS//fZbjdQgIiIi%0AUprU5ARioqMOOBYTHUVqcvBvFKcTC6upcePG+7fufuSRR6hfvz6DBg064DrWWqy11KpVtfcqV1xx%0ARY3VCTBmzBhSUlIoKipi9OjRnHfeeWRmZhIdHV3mbUaPHs0tt9xCnTp1arQWERERkWLFJw+G4nSO%0AiFmJTs/IocfwRbQe+hY9hi8iPSPHL4+zdu1aOnTowHXXXceJJ57Ipk2b6NevH0lJSZx44ok89thj%0A+6/brFkzHnnkERITEznppJNYvXo1AM8++ywDBgwA3Ery/fffz+mnn85xxx3H66+/DrgtwO+8807a%0AtWvHRRddxMUXX0x6enq5tdWqVYtBgwbRqFEj3n33XYBSaxszZgxbtmzhzDPP5IILLijzeiIiIiKH%0AKiUxno+GnscPwy/lo6HnhUSAhggJ0cXjU3Ly8rH8MT7FX0F61apVDBw4kKysLOLj4xk+fDjLli3j%0Aq6++YsGCBWRlZe2/btOmTcnIyOC2225j9OjRpd7fli1b+Oijj0hPT2fYsGEAvPrqq+Tk5JCVlcW0%0AadP45JNPKl1fly5dWLVqFUCptQ0cOJCjjz6aJUuW8N5775V5PREREZFIFREhOtDjU9q0aUNS0h+7%0ARc6aNYsuXbrQpUsXVq5ceUAA7dWrFwBdu3Zl3bp1pd5fSkoKxhhOOukkcnJc8F+6dCm9e/emVq1a%0AxMXFcfbZZ1e6vpJbvZdXW0mVvZ6IiIhIJIiInuhAj0+pV6/e/str1qxh3LhxfP7558TGxnL99dcf%0AcMJe7dq1AYiKimLfvn2l3l/xdeDAAFxdK1as4NJLL62wtso+BxEREZFIExEr0V6OT9m5cycNGjTg%0AiCOOYNOmTcyfP79G7rdHjx7MmTMHay2bNm3iww8/rPA21lrGjBnD9u3bufDCC8utrUGDBuzatcuv%0Az0FEREQkVEXESnRqcsIBW0pC4MandOnShQ4dOtCuXTtatmxJjx49auR+e/fuzaJFi2jfvj0tW7Yk%0AMTGRhg0blnrdgQMH8vDDD5Ofn0/37t1ZtGgR0dHR5dbWr18/LrjgApo3b86CBQv88hxEREREQpWp%0AifYAf0tKSrLLli074NjKlStp3759pe8jPSMnJMenlGf37t3Ur1+frVu3ctppp/HZZ5/RpEkTz+qp%0A6s9EREREJNgYY5Zba5Mqul5ErESDG58S6qH5YH/605/YuXMnBQUFPProo54GaBEREZFIEjEhOhwt%0AWbLE6xJEREREIlJEnFgoIiIiIlKTQjpEh0I/d6TQz0JEREQiSciG6Dp16rB9+3aFtyBgrWX79u3U%0AqVPH61JEREREAiJke6KbNWvGxo0b2bp1q9elCO5NTbNmzbwuQ0RERCQgQjZER0dH07p1a6/LEBER%0AEZEIFLLtHCIiIiIiXgnZlWgRERGJbOG4kZqEDoVoERERCTnpGTkMm5tJfkEhADl5+QybmwmgIC0B%0AoXYOERERCTlp87P3B+hi+QWFpM3P9qgiiTQK0SIiIhJycvPyq3RcpKYpRIuIiEjIiYuNqdJxkZqm%0AEC0iIiIhJzU5gZjoqAOOxURHkZqc4FFFEml0YqGIiIiEnOKTBzWdQ7yiEC0iIiIhKSUxXqFZPKN2%0ADhERERGRKlKIFhERERGpIoVoEREREZEqUogWEREREakihWgRERERkSrSdA4RERGRAErPyNFovjCg%0AlWgRERGRAEnPyGHY3Exy8vKxQE5ePsPmZpKekeN1ad4pKoL0dPjXv7yupEoUokVEREQCJG1+NvkF%0AhQccyy8oJG1+tkcVeWjvXnjhBTjxRLjiCpg+HX7/3euqKk0hWkRERCRAcvPyq3Q8LO3eDWPGQJs2%0AcMstULs2zJoF337rLocI9USLiIiIBEhcbAw5pQTmuNgYD6oJsG3bYPx4mDABfv4ZzjkHpk6F5GQw%0Axuvqqkwr0SIiIiIBkpqcQEx01AHHYqKjSE1O8KiiAFi/Hu6/H1q0gMcegzPPhE8+gcWL4eKLQzJA%0Ag1aiRURERAKmeApHREzn+OYbGDnStWoAXH89DB4M7dt7W1cNUYgWERERCaCUxPjwDM3FPv4Yhg+H%0AN9+EunXh3nvhgQegeXOvK6tRCtEiIiIicmishXnzYMQIWLIEGjWChx+G/v2hcWOvq/MLhWgRERER%0AqZ59+2D2bBeeMzPdavPYsXDbbVCvntfV+ZVCtIiIiIhUzZ49bsbzqFGwbh106ODmPPfpA9HRXlcX%0AEArRIiIiIh4JuS3Ad+yASZNg3DjYuhW6d3crz5ddBrUia+ibQrSIiIiIB4q3AC/ewbB4C3Ag+IJ0%0Abq7bIOXpp91mKZdcAkOHwhlnhOyIukMVWW8ZRERERIJESGwBnp3t+ptbtYLRo6FnT1ixAt56y817%0AjtAADVqJFhEREfFEUG8BvmyZG1M3d67bivv22+HBB+G447yuLGgoRIuIiIh4IOi2ALcWFi504Xnh%0AQmjYEIYNg/vug6ZNvakpiKmdQ0RERMQDQbMFeGEhzJkDp5wCF14IWVlup8ENG+Cf/1SALoNWokVE%0AREQ84PkW4L//Di++6ALzmjXQti1MnQp9+7oWDimXQrSIiIiIRzzZAnznTpgyxZ0ouGkTdO0Kr74K%0AV1wBUVEV314AhWgRERGRyLB5Mzz1FEycCL/8Ahdc4FaizzsvoqdsVJdCtIiIiEg4++EHt7Pg88+7%0AFo4rr4QhQyApyevKQppCtIiIiEg4+vprGDECZs92bRo33ACpqXDCCV5XFhYUokVERETChbWwZIkb%0AU/f221C/PjzwAAwYAHFxXlcXVhSiRUREREJdURG8+aYLz59+Ck2auPF0d90FRx7pdXVhSSFaRERE%0AJFTt3QuzZrkxdVlZbnvuiRPh5pshxqNNWyKE3zZbMcY0N8YsNsZkGWO+Ncbc7zveyBizwBizxvdf%0AvT0SERERqYpff4Vx4+D44+Gmm1zP88yZbt7z3XcrQAeAP3cs3Ac8aK3tAHQD7jHGdACGAguttW2B%0Ahb6vRURERKQi27fDo49Cixauz7l1a5g3D776Cq69Fg5Tk0Gg+O2VttZuAjb5Lu8yxqwE4oHLgXN8%0AV5sOvA8M8VcdIiIiIiHvxx/d5ihTpsCePdCzpxtTd/rpXlcWsQLydsUY0wpIBD4DmvoCNsBPQKkb%0Ashtj+gH9AFq0aOH/IkVERESCTVaW63eeOdN93aePC88nnuhtXeLXdg4AjDH1gdeAAdbanSW/Z621%0AgC3tdtbaKdbaJGttUpMmTfxdpoiIiEjw+PRTSElxYfnVV12f89q1MGOGAnSQ8OtKtDEmGhegZ1pr%0A5/oObzbGHGut3WSMORbY4s8aREREREKCtfDOO26DlA8+cKPpHn4Y7r0XjjrK6+rkIP6czmGA54CV%0A1trRJb71BnCj7/KNwH/8VYOIiIhI0Nu3z42pS0yESy6B775z/c8bNsAjjyhAByl/rkT3APoCmcaY%0AFb5jDwHDgVeMMbcC64HefqxBREREJDjl58O0aZCWBj/8AO3awQsvuCkbhx/udXVSAX9O51gKmDK+%0Afb6/HldEREQkqOXlweTJMHYsbNkCp53mVp579oRafj9dTWqIhgmKiIiIBMKmTS44T54Mu3ZBcjIM%0AHQpnnw2mrHVHCVYK0SIiIiL+tHata9mYNs31P/fuDYMHux5oCVkK0SIiIiL+sHy5m7Tx2msQHQ23%0A3AKDBkGbNl5XJjVAIVpERESkplgLixfD8OGwYAEccYRbdb7/fjjmGK+rkxqkEC0iIiJyqIqKID3d%0AhecvvnCBecQIuOMOaNjQ6+rEDxSiRURERKrr99/dltwjR0J2tmvVeOYZuOEGqFPH6+rEjxSiRURE%0ARKpq1y6YMsWNpsvNhS5d4JVXoFcviIryujoJAIVoERERkcrauhWeegomTHDzns87z03duOACjamL%0AMArRIiIiIhVZtw5GjYLnn4fffnMrzkOGwCmneF2ZeEQhWkRERKQsmZnuBMF//9vtJnjDDZCaCgkJ%0AXlcmHlOIFhERETnY0qVu0sZbb0G9ejBgAAwcCPHxXlcmQUIhWkRERATcmLp581x4/ugjaNwYHnsM%0A7rkHGjXyujoJMgrRIiIiEtkKCly7xogR8O230LIljB/vdhisW9fr6iRIKUSLiIhIZNqzB557zp0w%0AuGEDdOwIL74I11zjtukWKYdCtIiIiESWn392I+rGj4dt26BHD5g4ES69VGPqpNIUokVERCQybNzo%0ANkeZMgV+/RX+/Gc3pu6MM7yuTEKQQrSIiIiEt1Wr3LbcL73kTh689loYPNi1b4hUk0K0iIiIhKfP%0AP3eTNtLToU4duPNOeOABaNXK68okDChEi4iISPiwFhYscOF58WI48kj429+gf39o0sTr6iSMKESL%0AiIhI6Nu3D157zY2py8hwm6KMHg233w7163tdnYQhhWgREREJXb/9BtOnQ1oafPed2477+efhuuvg%0A8MO9rk7CmEK0iIiIhJ5ffoHJk2HsWNi8GU45xQXpyy+HWrW8ri6kpGfkkDY/m9y8fOJiY0hNTiAl%0AUdubV0QhWkRERELHTz+54Dx5MuzcCRddBEOHwjnnaMZzNaRn5DBsbib5BYUA5OTlM2xuJoCCdAX0%0AVk1ERESC39q1brpGq1ZuxTk5GZYvh/nz4dxzFaCrKW1+9v4AXSy/oJC0+dkeVRQ6tBItIiIiwevL%0AL93JgnPmwGGHwU03waBB0Lat15WFhdy8/Codlz8oRIuIiEhwsRbef9+NqXv3XWjQAFJT4f774dhj%0Ava4urMTFxpBTSmCOi43xoJrQonaOEJWekUOP4YtoPfQtegxfRHpGjtcliYiIHJqiInj9dejWDc47%0AD1asgH/9CzZscIFaAbrGpSYnEBMddcCxmOgoUpMTPKoodGglOgTpJAAREQkre/fCzJmubSM7G447%0Azp04eOONEKMVUX8qzg2azlF1CtEhqLyTAPSXXkREQsauXTB1qtsUJScHOneGWbPgqqtc/7MEREpi%0AvPJDNehvaAjSSQAiIhLStm6F8eNhwgTYscONp3vuOTeuTlM2JEQoRIcgnQQgIiIhaf16ePJJePZZ%0AyM+HlBQYMsT1QIuEGJ1YGIJ0EoCIiISUb76BG26ANm1cr/M110BW1h8nEYqEIK1EhyCdBCAiIiHh%0Ao4/cyYJvvgn16sF998HAgdC8udeViRwyhegQpZMAREQkKFkL8+a58LxkCTRuDI8+Cvfc4y6LhAmF%0AaBERETl0+/bB7NkuPGdmutXmsWPhttvcKrQfpGfk6FNZ8YxCtIiIiFTfnj3wwgswahSsWwcdOsCM%0AGfCXv0B0tN8eVnsmiNd0YqGIiIhU3Y4d8Pjj0KoV3Huv203wjTfcKnTfvn4N0FD+ngkigaCVaBER%0AEam8nBwYMwaeeQZ274ZLLnFj6s48M6AznrVngnhNIVpEREQqlp0NaWmuVaOoyLVrDB4MJ53kSTna%0AM0G8pnYOERERKdsXX7htuNu3h5kzoV8/WLMGXnrJswAN2jNBvKeVaBERETmQtbBwITzxBCxaBLGx%0A8NBDbs7z0Ud7XR2gPRPEewrRIiIi4hQWwty5MHw4fPklxMW5qRv9+kGDBl5X9z+0Z4J4SSFaREQk%0A0v3+u+t1HjkS1q6FE06AZ5+F66+H2rW9rk4kKClEi4iIRKqdO+Hpp920jZ9+gqQkmDMHUlIgKqri%0A24tEMIWHObCMAAAgAElEQVRoERGRSLN5M4wbB5MmwS+/wIUXuhMFzzsvoGPqREKZQrSIiEik+P57%0A1+P8/POwdy9ceSUMHQpdu3pdmUjIUYgWEREJdytWwIgR8MorcNhhcOONMGiQ630WkWpRiBYREQlH%0A1sKHH7pJG++8A/Xrw4MPwoABbuqGiBwShWgREZFwUlQEb77pwvOnn0KTJvDPf8Jdd8GRR3pdnUjY%0AUIgWEREJB3v3wssvuzF1K1dC69buxMGbboIYbYUtUtMUokVERELZ7t1upvOTT8LGjW4r7pdfhquv%0Adv3PIuIX+r9LREQkFG3bBhMmwPjx8PPPcOaZMGUKXHyxxtSJBIBCtIiISCjZsAFGj4apU2HPHujZ%0AE4YMgdNP97oykYiiEC0iIhIKsrJcv/PMme7r666DwYOhQwdv6xKJUArRIiIiweyTT9ykjTfegLp1%0A4e673ai6Fi28rkwkoilEi4iIBBtr3Wzn4cPdrOdGjeDhh6F/f2jc2OvqRASFaBERkeCxbx+8+qoL%0Az19/Dc2awdixcNttUK+e19WJSAkK0SIiUqb0jBzS5meTm5dPXGwMqckJpCTGe11W+MnPh2nTIC0N%0AfvgB2rd3X/fpA4cf7nV1IlIKhWgRESlVekYOw+Zmkl9QCEBOXj7D5mYCKEjXlLw8tyHKuHGwZQt0%0A6wZjxsBll0GtWl5XJyLl0P+hIiJSqrT52fsDdLH8gkLS5md7VFEYyc11kzVatIC//hW6doX334eP%0AP4bLL1eAFgkBWokWEZFS5eblV+m4VMKaNa5lY/p01/98zTUuTHfu7HVlIlJFCtEiIlKquNgYckoJ%0AzHGxMR5UE+KWL4cRI2DOHNfjfOutMGgQHHec15WJSDXp8yIRESlVanICMdFRBxyLiY4iNTnBo4pC%0AjLWwcCFceCEkJcH8+W5nwfXrXR+0ArRISPNbiDbGPG+M2WKM+abEsUeMMTnGmBW+P5f46/FFROTQ%0ApCTG80SvTsTHxmCA+NgYnujVSScVVqSwEF57DU49FS64AL75xq1Cb9gATzwBTZt6XaGI1AB/tnNM%0AAyYAMw46PsZaO8qPjysiIjUkJTFeobmyfv8dXnzRbc29Zg0cfzxMmQJ9+0KdOl5XJyI1zG8h2lr7%0AoTGmlb/uX0REJCjs3AnPPONG023aBF26wOzZcOWVEBVV8e1FJCR5cWJhf2PMDcAy4EFr7Q4PahAR%0AETk0W7a4+c4TJ8Ivv8D558OMGe6/xnhdnYj4WaBPLJwMHAd0BjYBT5Z1RWNMP2PMMmPMsq1btwaq%0APhERkfL98APccw+0bOl6nC+4AD7/HN57z11WgBaJCAEN0dbazdbaQmttETAVOLWc606x1iZZa5Oa%0ANGkSuCJFRERK8/XXcN110LYtTJ3qLq9c6cbWnXKK19WJSIAFtJ3DGHOstXaT78srgG/Ku76ISCRK%0Az8ghbX42uXn5xMXGkJqcoJP7vGItLF0Kw4fDvHlQvz4MGAADB0K8fiYikcxvIdoYMws4BzjKGLMR%0AeBg4xxjTGbDAOuAOfz2+iEgoSs/IYdjczP3bbefk5TNsbiaAgnQgFRXBW2+58Pzxx3DUUfD443D3%0A3XDkkV5XJyJBwJ/TOfqUcvg5fz2eiEg4SJufvT9AF8svKCRtfrZCdCAUFMCsWW6uc1aW63ueMAFu%0Avhnq1vW6OhEJItr2W0QkiOSWss12ecelhvz6Kzz3HDz5pNsUpWNHeOkl6N0boqO9rk5EgpBCtIhI%0AEImLjSGnlMAcFxvjQTURYPt2N6Luqafc5R493Jbcl1yiKRsiUq5Aj7gTEZFypCYnEBN94AYdMdFR%0ApCYneFRRmPrxR3jgAdeu8fDD0L07LFniTiK89FIFaBGpkFaiRUSCSHHfs6Zz+MnKlW5b7pdecpM3%0Arr0WBg927RsiIlWgEC0iEmRSEuMVmmvaZ5+5SRvp6RATA3fd5VaiW7XyujIRCVEK0SIiEp6shfnz%0AXXj+4AM3mu7vf4f+/UGbeInIIVKIFhGR8LJvn9tFcPhw+OortynK6NFw++1usxQRkRqgEC0iIuEh%0APx+mT4e0NPj+e2jXDl54wfU9H36419WJSJhRiBYRkdCWlweTJ8PYsbBlC5x6KowaBZdfDrU0hEpE%0A/EMhWkREQtOmTS44T54Mu3ZBcjIMHQpnn60RdSLidwrRIiISWtaudS0b06a5/uerr4YhQyAx0evK%0ARCSCKESLiEho+PJLGDHCnTQYHQ233AKDBkGbNl5XJiIRSCFaxCc9I0cbXIgEG2vh/ffdpI1334Uj%0AjnCbo9x/PxxzjNfViUgEU4gWwQXoYXMzyS8oBCAnL59hczMBFKRFvFBU5DZGGTECPv8cmjZ1QfrO%0AO6FhQ6+rExFRiBYBt8VycYAull9QSNr8bIVoOWT6lKMK9u51W3KPHAnZ2XDccfD003DjjVCnjtfV%0AiYjspxAtAuTm5VfpuEhl6VOOStq1C6ZOdZui5ORA587w73/DlVfCYfpVJSLBRwM0RYC42JgqHRep%0ArPI+5RBg61a3FXeLFvDgg9C2LbzzjjuJ8JprFKBFJGgpRIsAqckJxERHHXAsJjqK1OQEjyqScKFP%0AOcqwbh307w8tW8I//wnnnguffgqLF7t5z5rzLCJBTm/xRfjjY3X1rUpNi4uNIaeUwByxn3JkZrp+%0A51mz3G6C118PqanQvr3XlYmIVIlCtIhPSmK8QrPUuNTkhAN6oiFCP+VYutRN13jrLahXz42oGzgQ%0AmjXzujIRkWpRiBYR8aOI/pSjqAjmzXPh+aOPoHFjeOwxuOceaNTI6+pERA6JQrSIiJ9F3KccBQUw%0Ae7ab8fzNN+6kwXHj4NZb3Sq0iEgYUIgWEZGasWcPPP88jBoF69fDiSfCjBnwl7+4bbpFRMKIQrSI%0AiByan3+GiRPhqadg2zY4/XSYMAEuucSdPCgiEoYUokVEpHo2boQxY+CZZ+DXX11oHjYMzjjD68pE%0ARPxOIVpERKpm1SpIS4MXX3QnD/bpA4MHQ6dOXlcmIhIwCtEiIlI5n3/uThZ8/XWoXRvuuMPtMtiq%0AldeViYgEnEK0iIiUzVp47z03pm7RIoiNhb/+1e02ePTRXlcnIuIZhWgREflfhYXw2msuPGdkQFyc%0Am7rRrx80aOB1dSIinlOIFhGRP/z2mxtLl5YGa9fCCSfAs8+67blr1/a6OhGRoKEQLSIisHMnPP20%0Am7bx00+QlARz5kBKCkRFeV2diEjQUYgWEYlkmze73QQnTYJffoELL4SZM+Hcc8EYr6sTEQlaCtEi%0AIpHo++9dj/Pzz7ttuq+8EoYMga5dva5MRCQkKESLiESSFSvcmLpXXoHDDoObboJBg6BtW68rExEJ%0AKQrRIgGWnpFD2vxscvPyiYuNITU5gZTEeK/LknBmLXz4oZu08c47brrGoEEwYAAce6zX1YmIhCSF%0AaJEASs/IYdjcTPILCgHIyctn2NxMAAVpqXlFRfDGG27l+dNP3Vznf/0L7rrLzXsOInpzKSKhRiFa%0A5CD+/GWeNj97f4Aull9QSNr8bAUGqTl798LLL7vwvGoVtG4NEyfCzTdDTIzX1f0PvbkUkVBUy+sC%0ARIJJ8S/znLx8LH/8Mk/PyKmR+8/Ny6/ScZEq2b0bxo6FNm1cYD78cBemV6+Gu+8OygAN5b+5FBEJ%0AVlqJlmoJ9Y9ey6rf3yvFcbEx5JQSmONigzPcSIjYtg0mTIDx4+Hnn+Hss2HKFLj44pAYU6c3lyIS%0AihSipcpC/aPX8ur39y/z1OSEAx4bICY6itTkhBq5f4kwGzbA6NEwdSrs2QOXX+7G1HXv7nVlVaI3%0AlyISitTOIVUW6h+9lld/Wb+0a+qXeUpiPE/06kR8bAwGiI+N4YlenULizYcEkawsN5quTRvX69y7%0AN3z7LaSnh1yABvfmMib6wF0R9eZSRIKdVqKlykL9o9fy6h9zTWe/rxSnJMYrNEv1fPKJG1P3xhtQ%0Aty7cey888AA0b+51ZYek+P+HUG4RE5HIoxAtVRbqH72WV79+mUvQsRbeftuF5yVLoHFjeOQRF6Ab%0AN/a6uhqjN5ciEmoUoqXKQr2vt6L69ctcgsK+fW5XweHDITPTrTaPGwe33gr16nldnYhIxFOIlioL%0A9dXaUK9fwtyePfDCCzBqFKxbBx06wPTp0KcPREd7XZ2IiPgYa63XNVQoKSnJLlu2zOsyRET8Z8cO%0AmDTJrTZv3QrdusHQoXDZZVBL54CLiASKMWa5tTapoutV6l9mY0yPyhwTEZEqys2F1FRo0QL+9jdI%0ASoIPPoCPP3Yj6xSgRUSCUmX/dR5fyWMiIlIZ2dlw221uS+7Ro6FnT1ixAubNg7POColNUkREIlm5%0APdHGmO7A6UATY8wDJb51BBBV+q1ERKRMX3wBI0bA3LlQu7YL0g8+CMcd53VlIiJSBRWdWHg4UN93%0AvQYlju8ErvJXUSIiYcVaWLjQTdpYuBAaNoRhw+C++6BpU6+rExGRaig3RFtrPwA+MMZMs9auD1BN%0AIiLhobAQXn/dhefly+GYY2DkSLjjDjjiCK+rExGRQ1BRO8dYa+0AYIIx5n/GeFhre/qtMhGRUPX7%0A7/Diiy4wr1kDbdvC1KnQt69r4RARkZBXUTvHDN9/R/m7EBGRkLdzJ0yZ4k4U3LQJunaFV1+FK66A%0AKJ1GIiISTioK0WnA+cAl1tohAahHRCT0bNni5jtPmgR5eXDeeTBjBpx/vqZsiIiEqYpC9LHGmNOB%0AnsaYfwMH/Daw1n7pt8pERILdDz+4nQWff961cPTqBUOGwCmneF2ZiIj4WUUh+v+AvwPNgNEHfc8C%0A5/mjKBGRoPb1125M3ezZbjOUG2+EQYMgIcHrykREJEAqms4xB5hjjPm7tfYfAapJRCT4WAtLl7pJ%0AG/PmQf36MGAADBwI8fFeVyciIgFW0Uo0ANbafxhjegJn+Q69b639r//KEhEJEkVF8N//uvD8ySfQ%0ApAk8/jjcfTcceaTX1YmIiEcqFaKNMU8ApwIzfYfuN8acbq19yG+ViYh4qaAAZs1ybRtZWdCqFUyY%0AALfcAjExXlcnIiIeq1SIBi4FOltriwCMMdOBDEAhWkTCy6+/wrPPwpNPwo8/wkknwcsvw9VXw2GV%0A/SdTRETCXVV+I8QCP/suN/RDLSIi3tm+3a00jx/vLp91FjzzDFx8scbUiYjI/6hsiH4CyDDGLMaN%0AuTsLGOq3qkREAuXHH93mKFOmwJ490LOnG1N3+uleVyYiIkGswhBtjDHAUqAbUDz8dIi19id/FiYi%0A4ldZWW5b7pm+Uz2uvRYGD4YTT/S2LhERCQkVhmhrrTXGzLPWdgLeCEBNIiL+8+mnbtLGf/4Ddeu6%0AKRsPPAAtW/rtIdMzckibn01uXj5xsTGkJieQkqixeCIioaxWJa/3pTGmSltwGWOeN8ZsMcZ8U+JY%0AI2PMAmPMGt9/NR9KRPzPWnjnHTjnHOjeHT78EB5+GNavd9t1+zlAD5ubSU5ePhbIyctn2NxM0jNy%0A/PaYIiLif5UN0acBnxpjvjPGfG2MyTTGfF3BbaYBFx90bCiw0FrbFliI+qpFxJ/27XNj6hIT4U9/%0Agu++c/3PGzbAI4/AUUf5vYS0+dnkFxQecCy/oJC0+dl+f2wREfGfyp5YmFzVO7bWfmiMaXXQ4cuB%0Ac3yXpwPvA0Oqet8iIuXKz4dp0yAtDX74Adq1gxdecH3Phx8e0FJy8/KrdFxEREJDuSHaGFMHuBM4%0AHsgEnrPW7juEx2tqrd3ku/wT0PQQ7ktE5EB5eTB5MowdC1u2wKmnupXnnj2hVmU/eKtZcbEx5JQS%0AmONitWGLiEgoq+i3ynQgCReg/wQ8WVMPbK21gC3r+8aYfsaYZcaYZVu3bq2phxWRcLRpkxtL16IF%0APPSQa99YvNidRJiS4lmABkhNTiAmOuqAYzHRUaQmJ3hUkYiI1ISK2jk6+KZyYIx5Dvj8EB9vszHm%0AWGvtJmPMscCWsq5orZ0CTAFISkoqM2yLSARbswZGjXKtG/v2Qe/ebkxdYqLXle1XPIVD0zlERMJL%0ARSG6oPiCtXafOfRdu94AbgSG+/77n0O9QxGJQMuXw4gRMGeO63G++WZITYU2bbyurFQpifEKzSIi%0AYaaiEH2yMWan77IBYnxfG1xHxhFl3dAYMwt3EuFRxpiNwMO48PyKMeZWYD3Q+xDrF5FIYa1r0Rg+%0AHBYsgCOOcC0c998PxxzjdXUiIhJhyg3R1tqo8r5fwW37lPGt86t7nyISgYqKID3dhecvvnCBefhw%0AuPNOaNjQ6+pERCRCVXbEnYhIYP3+u9uSe+RIyM52rRrPPAM33AB16nhdnYiIRDiFaBEJLrt2wdSp%0AbjRdTo47SXD2bLjySoiq9odjIiIiNUohWkSCw9at8NRTMGGCm/d87rnw/PNw4YVw6Cc1i4iI1CiF%0AaBHx1rp18OST8Nxz8NtvcMUV7oTBU0/1ujIREZEyKUSLiDcyM12/86xZbjOUvn3dmLp27byuTERE%0ApEIK0QGSnpGjzRZEAJYuddM13noL6tWDAQPcn2bNvK5MRESk0hSiAyA9I4dhczPJLygEICcvn2Fz%0AMwEUpCUyFBXBvHkuPH/0ERx1FDz2GNxzDzRq5HV1IUdvykVEvFfL6wIiQdr87P0Bulh+QSFp87M9%0AqkgkQAoK4MUX4aST4LLLYONGGD8e1q+Hv/9dAboait+U5+TlY/njTXl6Ro7XpYmIRBSF6ADIzcuv%0A0nGRkLdnjwvLxx/v5jobAy+9BGvWwL33Qt26XlcYsvSmXEQkOKidIwDiYmPIKSUwx8XGeFCNiB/9%0A/DNMnOhG1W3bBmec4b6+9FKNqashelMuIhIctBIdAKnJCcREH7hJREx0FKnJCR5VJFLDNm6EBx+E%0AFi3g//4PunWDJUvcnz//WQG6BpX15ltvykVEAkshOgBSEuN5olcn4mNjMEB8bAxP9OqkE4Ek9K1a%0ABbfcAscdB+PGuRnPX38Nb77pVqGlxulNuYhIcFA7R4CkJMYrNEv4+PxzN2kjPR1q14Y77nAr0a1a%0AeV1Z2Cv+d0TTOUREvKUQLSKVYy0sWODC8+LFEBsLf/0r9O8PRx/tdXURRW/KRUS8pxAtIuUrLIQ5%0Ac2DECMjIgLg4t0337bdDgwZeVyciIuIJhWgRKd1vv8H06ZCWBt99ByecAM89B9dd51o4REREIphC%0AtIgc6Jdf4OmnYcwY2LwZTjkFRo6Eyy+HqKiKby8iIhIBFKJFxPnpJzdhY9Ik2LkTLroIhgyBc8/V%0AiDoREZGDKESLRLq1a2HUKJg2zW3TfdVVLjx36eJ1ZSIiIkFLIVokUmVkuJMFX30VDjsMbroJBg2C%0Atm29rkxERCToKUSLRBJr4YMP3Ji6+fPddI3UVLj/fjj2WK+rExERCRkK0SKRoKgI3njDhefPPoOm%0ATeGJJ+DOO9285zCQnpGjDUhERCRgFKJFwtnevfDyy65tY9Uqtz335Mlw440QE+N1dTUmPSOHYXMz%0AyS8oBCAnL59hczMBFKRFRMQvanldgIj4we7dbkRdmzZw881Qpw7MmgXZ2W71OYwCNLgtsIsDdLH8%0AgkLS5md7VJGIiIQ7rUSLhJOtW2H8eJgwAXbsgHPOgWefdePqDhpTF07tD7l5+VU6LiIicqgUokXC%0Awfr1bivuZ5+F/HxISXFj6rp1K/Xq4db+EBcbQ04pgTkuNrxW3EVEJHionUMklH3zDfTt69o2Jk+G%0Aa66BrCx4/fUyAzSEX/tDanICMdEH7qYYEx1FanKCRxWJiEi400q0SCj66CM3aeO//4V69eC++2Dg%0AQGjevFI3D7f2h+LV83BpTxERkeCnEC0SKqyFefNceF66lN9jj+TFC25kYodk6h7dlNRttUipXIYO%0Ay/aHlMR4hWYREQkYhWiRYLdvH8ye7cbUZWZC8+Z8nfooN5mT+NlEA7Cjij3NqckJB/REg9ofRERE%0AqkI90SLBas8emDjRbcN9/fVQWAjTp8N333FXozP2B+hiVelpTkmM54lenYiPjcEA8bExPNGrk1Zy%0ARUREKkkr0SLBZscOmDQJxo1zI+u6d4ennoJLL4Va7n1vTfQ0q/1BRESk+hSiJWIF3ZzknBy3Qcoz%0Az7jNUi65xI2pO/PM/5nxHI49zSIiIqFEITpIBV3ACzNBNSc5OxvS0mDGDNey8Ze/wODBcPLJZd5E%0APc0iIiLeUk90ECoOeDl5+Vj+CHjpGTlelxY2gmJO8hdfwFVXQfv2MHMm3H47rFnjLpcToEE9zSIi%0AIl7TSnQQKi/gKSTVDM/mJFsLCxe6MXULF0LDhjBsmJvz3LRple4qFHqa9YmKiIiEK4XoIBRuG2EE%0Ao4D3FBcWwty5bkzd8uVw7LGuhaNfPzjiCP88pseCqmVGRESkhqmdIwiVFeR00ljNCdg20b//DlOn%0AQrt20Ls37Nzpvv7hBxg0KGwDNARJy4yIiIifKEQHodTkBKKjDpzGEB1ldNJYDfJ7T/HOnW6luXVr%0At9rcsCG8+iqsXAm33Qa1a9fM4wQxfaIiIiLhTO0cwcpW8HUY8apv1i89xZs3u5nOEyfCL7/ABRfA%0Aiy+SfmQCae+uJvev7wRdb7C/Xn+N4RMRkXCmEB2E0uZnU1B0YGouKLJheWJhVfpmg/okte+/h1Gj%0A4IUXXAvHlVfC0KHQtWtQ9QYf/Bqe264Jry3P8UttGsMnIiLhTO0cQSiSPgavbN9s0I79++oruPZa%0AtzX3c89B376wapVr3ejaFQie3uDSXsOZn27wW20awyciIuFMK9FByJ8fgwfbam5l3zBUd+yfX56v%0AtfDhh25M3TvvQP368OCDMGAAxMVV+FwqOu4vpb2GZXUJ1VRtoTCGT0REpDq0Eh2E/DU5IhhXcys7%0AiaQ6QbTGn29REfznP3D66XDOOW5U3eOPw4YNMHJkqQG6tOdS0XF/qUowVt+yiIhI+RSig5C/PgYP%0AlraCkir7hqE6QbTGnu/evTB9OnTsCCkp7uTBSZNg/Xr461/hyCPLvXnAxulVoKzXyhz0tfqWRURE%0AKqZ2jiDlj4/Bg6WtoKTi51hRy0V1TlI75Oe7ezc8+yw8+SRs3AgnnQQvvwxXXw2HVf5/nco+R38r%0A6zW8sms8i1dtDZoWHxERkVCgEB1BgnXkWGXeMFQniFb7+W7bBhMmwPjx8PPPcNZZ8Mwz8Kc/gTl4%0A3bZygqE3OFjCvIiISDhQiI4goT5yrKpBtMrPd8MGGD3a7Si4Zw/07AlDhrge6DARDGFeREQkHChE%0AR5BIW4ms9PPNynInBs6c6b6+7joYPBg6dAhwxSIiIhIqjLXBvxVeUlKSXbZsmddlSLj59FM3pu4/%0A/4G6deH22+GBB6BFC68rExEREY8YY5Zba5Mqup5WoiNYsM2MDghr3WznESPggw+gUSN4+GG49144%0A6iivqxMREZEQoRAdoYJpK+qA2LfP7SI4YoTbZbBZMxgzBm67zW2WIiIiIlIFmhMdoYJxZrRf5OfD%0A5Mlwwglue+69e+GFF+C779wOgwrQIiIiUg1aiY5QwTgzukbl5bnwPHYsbNkCp53mVp4vuwxq6b2j%0AiIiIHBqliQgVLFtR17jcXDdZo0ULeOghSEyE99+HTz4hvUUSPUa+T+uhb9Fj+CJPtzsXERGR0KaV%0A6EoIxxPwQn1m9P9YswbS0tz23Pv2Qe/ebsZz585ABPaAi4iIiF9pJboCxeErJy8fyx/hK9RXMVMS%0A43miVyfiY2MwQHxsDE/06hR6gXL5cheYExJgxgy49VZYvRpmzdofoCGCesBFREQkILQSXYHywlfI%0ABc6DhOzuddbCokVu0saCBdCwIQwdCvffD02blnqTsO8BFxERkYBSiK5AKIevsGtDKSyE9HS3Qcqy%0AZXDMMW6nwTvugCOOKPemcbEx5JTyMwv5HnARERHxhEJ0BUI1fAWqBzggQf333+Gll1xgXr0ajj8e%0ApkyBvn2hTp1K3UWo9ICH3RufANJrJyIigaQQXYFQCV8Hq6gHuCbCht+D+q5d8MwzbjRdbi506QKz%0AZ8OVV0JUVJXuqrieYA5ZOvmx+vTaiYhIoBlrrdc1VCgpKckuW7bMs8cPxRWuVkPfKvN7MdFR//Om%0AoDonFfYYvqjUVfr42Bg+Gnpele7rAFu2wFNPwcSJbt7z+ee7nufzzwdjqn+/Qc5vr2cE0GsnIiI1%0AxRiz3FqbVNH1tBJdCaF4Ap4x7vy70tTUiZI13i/+ww/w5JPw3HOuhaNXLzem7pRTqnd/fuSPN1ah%0A3H/vNb12IiISaArRlRRKq9HpGTllBuiyVCds1Fi/+Ndfu0kbs2e73QRvuAFSU93YuiDkr9aBUO2/%0ADwZ67UREJNA8mRNtjFlnjMk0xqwwxnjXp1FJoTYrurzZx1FltENUJ2ykJicQE31gb3Kl+8WthSVL%0A4NJL4eST4Y03YMAAtxr97LNBG6DBfzOnD+n1jHB67UREJNC83GzlXGtt58r0nHgt1DbqKG9Vuc9p%0AzWssbFRrw5aiInjzTTjjDDjrLPj8c/jHP2D9etKvG0iPF7ODfltuf7UOhM0GOB7QayciIoGmdo5K%0ACLV+y7I+2j6ybjSPp3QiqWWjGmtNqXS/eEGB20VwxAjIyoKWLd3Jg7feCnXrhtR0BX+2DoRi/32w%0A0GsnIiKB5FWItsB7xphC4Blr7RSP6qiUUOu3LGss38OXnQj4P2yU7B8/ri6M2b2ck2Y/Bxs2QMeO%0AbuZz794QHb3/NqG0M2Sojj0UERGRmuNViD7DWptjjDkaWGCMWWWt/bDkFYwx/YB+AC1atPCixv1C%0ALTR5ORO5eEW59s4d9P/yLW5a/iaN8neyrfOpHDVpElxySalj6kJptT8UZk6LiIiIf3k+J9oY8wiw%0A21o7qqzreD0nGkJrOoeXUobN5s/vzaLPV/OpV/Ab77U5hae7XcWmjknlzuvVnF8REREJBkE7J9oY%0AUw+oZa3d5bt8EfBYoOuoKvVbVmDVKhg5klemv0gtW8R/OpzNM6ddyeomrQAwFawoh9pqv4iIiEQ2%0AL7VrTW0AABfASURBVNo5mvL/7d17lJ11fe/x9zfJFAYKDChVMoLAkaYuBJNDFkQRC9KaoCIRu1ot%0Ay4K6jncUXYTLwXVE6pJoLBYVpeANjigUCFO0lKAFqqYnaG4kQQkQG5DhYsRcQKZmkvzOH3tP2DPZ%0At2ff9573a61Zs+fZz977yW/vPPnkN9/n+4PbIvcr/WnAd1NKd7bhONqqZ2a277svd7Hg0BDsvTf/%0AcsLpXPnqt/D4AS8Zt1ul+vGsJRI9M36SJKkrtTxEp5R+Bby61a/bSbqpE0VRKcFdd8HChXDvvXDg%0AgfDJT8K559L3+HaeWbwWaphRrna2v+vHT5Ikdb129ometLqt7/RuO3bkVhU87jiYNw8efji3TPej%0Aj8Jll8HBB7ekX2/Xjp8kSeoZ9olug27qRAHAf/83XHcdLFoEGzbAn/4pfOMbcNZZsNdee+xezYxy%0APeUYXTd+kiSp5xii26Br+k5v3QpXXw1f/CI8/TQcf3wuSJ9xBkyp7ZcYQ6uG+fT3H2Dz86O7txWW%0AY0DluuiuGT9JktSzDNEtMHHW9ZQ/O5hbVwx3bieKp56Cf/xH+NrXYNs2mDsXLrwQTj65aI/nak2s%0AZS40MrqTS29/gD/s2FWx1rlZnTy8WFGSJFXLmugmGwuOw1tGSOSC4a0rhnn7cYNNrRuuySOPwPvf%0AD4cfnptxnjcPVq6EO++EU06pK0BD8VrmQltGRquqdW5G3XWx9+nixWsZWjVc83NKkqTe5Ux0k5W6%0ACO6eBzd1ziIiK1fm2tTdcktuKe5zzoHzz4dXvKKhL1NrzXKxx5Wqu651Nrmblh2XJEntZ4huso69%0ACC4luOeeXHi+6y7Yf3+44AL42MfgpS9t6EuNBdtya2P2901l774p42qlx1Rb61xP67uOfZ8kSVJH%0AspyjyUoFwLZdBLdrFyxeDCecAKeeCvffD5dfDo89lvvehAA9ViZRykB/H5efeQyfOv1o+vumjrsv%0AS61zPa3v2vE+Da0a5sSFd3PERf/KiQvvtnREkqQu4kx0k3XMctbbt8N3vgOf/zysXw9HHpnrvHH2%0A2bD33mUfWs8Fd+XqoAfzzzW23xNbRjigv4+9+6aw5fnRlra+a/X75IIxkiR1N0N0FeoJkVmXs264%0AZ5+Fa6+FK66A4WGYORNuvBHe/naYVvntrzfslQqwASy96A17PP+WkVH6+6byxb+ZmXmM6ml91+r3%0AyRpsSZK6myG6gkbMGFa7nHVDbdoEX/4yfOUrsHlzrj3d17+ea1eXoctGvWGvUrBtZJisdza5le+T%0ANdiSJHU3a6Ir6Lolph99FD76UXj5y+Hv/z4Xnpcty11EOG9e5jZ19Ya9BXNnlK1zbmSYbMWS443S%0AcbXykiQpE2eiK+iaGcN163KdNr73vVxQfte7YMECeOUrgdpLUupdHbBSmUSjVx9sy6x/DTqmVl6S%0AJNXEEF1Bxy8xvXQpLFwIP/gB7Ltvbhb64x+HQw/dvUs9JSmNCHvlgu1kDZNtr5WXJEl1MURXUEvI%0Aa/ry0SnBHXfkwvNPfwovehFcdhl8+MNw0EF77F5P3XGzw95kDpPdMmsuSZL2ZIiuIGvIq2bWt+aQ%0AvWMH3HRTLjyvWweHHQZf+hK85z25WegS6i1JaXbYM0xKkqRuY4iuQpaQV2nWt6bSiuefh299C77w%0ABdi4EY4+Gq6/Ht7xjtwy3RW0oySl6bPxkiRJbWR3jgarNOtbKmSfd9PqPVet27wZPvMZOPxw+MhH%0AYPp0uP12WLMmd+FgFQEaKnfIaLTCVQoTL/xHwRX5JElSr3AmusEqzfqWK6EYC5t7/+ZJ5v3wRvin%0Af4LnnoPTToOLL4aTTqrpmFxIRJIkqbEM0Q1W6ULEUiEb4MhnHud9P1vMqZ+9GyLlyjUuuACOPbbs%0Aa1ZTOuFCIpIkSY1jiG6wcrO+Q6uG+f0fduzxmGOffIgPLLuFeQ/9P7ZP6+OGmfOYftklvPHNcyq+%0AXiNWVGy0jm8LKEmSVCdDdBMUm/WdGHZJiddtXM0H77uZEx9dw9a99uWq1/w13z7udJ7Zd4DBtc/z%0AxjdXfq1OLJ2YrL2fJUnS5GGIbpGxsDtl105OW/+ffPC+W3jV0xt46o8P4jOnvIfvvXoev99rn937%0AV1v60ImlE5O597MkSZocDNEt8tvfbuWd6+7mfT+7lSM2P8mGgwa5YN5HGTr6FLZP27PLRrWlD51a%0AOmHvZ0mS1MsM0VWoq+fx1q1w9dUsvebzvPjZ33H/S4/i/fP/Nz886gR2TZnKgfv0MXV0V82lD5ZO%0ASJIktZ4huoKaL9x76im48kr46ldh2zZ2zXk95/yP07h38FUQAeTC7qdOPxqovfTB0glJkqTWi5RS%0Au4+hotmzZ6fly5e35bVPXHh30XKJwYF+ll70hj0fsGFDbmXBb30Ltm+Hv/oruPBCOO44V/GTJEnq%0AcBGxIqU0u9J+zkRXUPWFe6tXw+c+B//8zzBtGpx9NixYAEcdtXsX64QlSZJ6gyG6grIX7qUEP/4x%0ALFwId94J++0H558P550HhxzShqOVJElSKxiiKyh24d4+04Ir/ui/4LWXwLJl8Cd/Ap/9LHzwgzAw%0AUPNrNaLcw5IRSZKk5jNEV1B44d6mZ7Zx9sb/5KPLb2O/jY/AEUfAVVfBu98N/fW1lGvEyoOduHqh%0AJElSL5rS7gPoBvOPOoCle6/hoRvP5ZJbFrHf/vvAd78LDz0EH/pQ3QEayq882MrnkCRJUmXORFfj%0A2mvhE5+AP/9zuOYamDdvd5u6RmnEyoOduHqhJElSLzJEV+O974U5c+A1r2naSzRi5cFOXb1QkiSp%0A11jOUY39929qgIbcBYz9fVPHbcu68mAjnkOSJEmVOROdQTM7XzRi5UFXL5QkSWoNVyys0sTOF5Cb%0A5b38zGOYP2vQ1nKSJEk9wBULG6xS5wtby0mSJE0ehugqlet8US5gVwrRE2ewT/mzg7nnwU08sWWE%0AgX36SAm2jow6uy1JktRBDNFVKtf5oth2oOT2McUWR/nOssd237/5+dFxz+XstiRJUmewO0eVynW+%0AmFqiZ3Sp7WOKzWCX48IpkiRJncEQXaX5swa5/MxjGBzoJ4DBgf7dFxXuLHFxZqntY2pZBMWFUyRJ%0AktrPco4M5s8aLFpKMViipGOwwiIn5UpByj1GkiRJ7eVMdAPUushJsceV48IpkiRJncGZ6AaodZGT%0AYo9rVHcO+1ZLkiQ1j4ut9KBKC8NIkiSpOBdb6UHVzi7X07dakiRJlRmiu0SxntKl+kaXWxhGkiRJ%0A9fPCwi5RadnxQqU6eNjZQ5IkqTEM0V0iy+xyrd1CJEmSVB3LOVpgaNUwn/7+A7uX8R7o7+PStx6d%0AqT653LLjE9XaLaRWdgKRJEmTjSG6yYZWDbPglvsZ3flCF5QtI6MsuPl+YM965lIWzJ3BgpvvZ3TX%0AC8/TNyVKzi6XWhim0bLUakuSJPUKyzmabNGS9eMC9JjRXaloPXNZUeHnNshSqy1JktQrDNFNVq4j%0ARpZuGcXC+OjOGoJ4g9kJRJIkTUaG6CYr1xFjSgRHXPSvnLjwboZWDZd9nk4Nq3YCkSRJk5EhuskW%0AzJ1B39TidRc7UyLxQh1xuSBdS1gdWjXMiQvvrjqo18JOIJIkaTIyRDfRWNeK0Z2JKQU5ulikrlRH%0AnDWsjl3wN7xlpOqgXov5swa5/MxjGBzoJ4DBgX6XF5ckST3P7hwZVdvO7ZNDa7lh2WOMVTHvSrnQ%0Ae/mZx/Dxm1YXfe5ypRlZ29a1cunvVnUCkSRJ6hSG6Ayqbec2tGp4XIAeMxZiS/V8TsCJC+8uGY6z%0AhNVOraGWJEnqBZZzZFBtO7dFS9bvEaDHPLFlpGhpxphGlV14wZ8kSVLzGKIzqHZ2t9xs7/SB/nF1%0AxMU0os9ypRrqVlx0KEmS1KsM0RlUO7tbar+A3SF2/qxBll70hpLrpdRbdlHugr9WXXQoSZLUqwzR%0AGZQqw3h++45xAbTYfgGcNeewPWqam1l2MRbU/2vhm1l60RvGXZzoKoOSJEm1M0RnMDa7O9DfN277%0A5udHx83kFpsFPmvOYdzz4KY9yifa0Wd5sl50aAmLJElqlLaE6IiYFxHrI+KRiLioHcdQq/mzBtl3%0Arz2bmkycyS2cBV4wdwa3rhguWj7Rjj7Lk/GiQ0tYJElSI7W8xV1ETAWuAv4SeBz4eUTcnlL6RauP%0ApVZZZ3Ir9WxudZ/lBXNnjGvVB72/ymAr+2ZLkqTe146Z6OOBR1JKv0opbQduBM5ow3HULOtMbqeV%0AT0zGVQY77T2QJEndrR2LrQwCvy74+XHghDYcR82yzuSWWlylneUTk22VwU58DyRJUvfq2AsLI+J9%0AEbE8IpZv2rSp3YczTtaZ3HZcPKjxfA8kSVIjtWMmehg4tODnl+W3jZNSuga4BmD27NmlFgBsmywz%0AuYWt5Z7YMsL0gf6SS3urOXwPJElSI0VKrc2nETENeAg4lVx4/jnwtymlB0o9Zvbs2Wn58uUtOkJJ%0AkiRNVhGxIqU0u9J+LZ+JTintiIiPAEuAqcA3ywVoSZIkqdO0o5yDlNIdwB3teG1JkiSpXh17YaEk%0ASZLUqQzRkiRJUkaGaEmSJCmjttRE94KhVcO2S5MkSZqkDNE1GFo1PG7FwuEtI1y8eC2AQVqSJGkS%0AsJyjBouWrB+35DfAyOhOFi1Z36YjkiRJUisZomvwxJaRTNslSZLUWwzRNZg+0J9puyRJknqLIboG%0AC+bOoL9v6rht/X1TWTB3RpuOSJIkSa3khYU1GLt40O4ckiRJk1OklNp9DBXNnj07LV++vN2HUZSt%0A7iRJknpHRKxIKc2utJ8z0XWw1Z0kSdLkZE10HWx1J0mSNDk5E12HTm91Z6mJJElSczgTXYdObnU3%0AVmoyvGWExAulJkOrhtt9aJIkSV3PEF2HTm51Z6mJJElS81jOUYdObnXX6aUmkiRJ3cwQXaf5swY7%0AIjRPNH2gn+EigbkTSk0kSZK6neUcPaqTS00kSZK6nTPRPaqTS00kSZK6nSG6h3VqqYkkSVK3s5xD%0AkiRJysgQLUmSJGVkiJYkSZIyMkRLkiRJGRmiJUmSpIwM0ZIkSVJGhmhJkiQpI0O0JEmSlJEhWpIk%0AScrIEC1JkiRl5LLfFQytGmbRkvU8sWWE6QP9LJg7w6W0JUmSJjlDdBlDq4a5ePFaRkZ3AjC8ZYSL%0AF68FMEhLkiRNYpZzlLFoyfrdAXrMyOhOFi1Z36YjkiRJUicwRJfxxJaRTNslSZI0ORiiy5g+0J9p%0AuyRJkiYHQ3QZC+bOoL9v6rht/X1TWTB3RpuOSJIkSZ3ACwvLGLt40O4ckiRJKmSIrmD+rEFDsyRJ%0AksaxnEOSJEnKyBAtSZIkZWSIliRJkjIyREuSJEkZGaIlSZKkjAzRkiRJUkaGaEmSJCkjQ7QkSZKU%0AkSFakiRJysgQLUmSJGVkiJYkSZIyMkRLkiRJGRmiJUmSpIwM0ZIkSVJGhmhJkiQpI0O0JEmSlJEh%0AWpIkScooUkrtPoaKImIT8GgbD+HFwG/b+Pq9zvFtLse3uRzf5nFsm8vxbS7Ht7maOb4vTykdXGmn%0ArgjR7RYRy1NKs9t9HL3K8W0ux7e5HN/mcWyby/FtLse3uTphfC3nkCRJkjIyREuSJEkZGaKrc027%0AD6DHOb7N5fg2l+PbPI5tczm+zeX4Nlfbx9eaaEmSJCkjZ6IlSZKkjAzRBSJiY0SsjYjVEbG8yP0R%0AEV+KiEciYk1E/M92HGc3iogZ+XEd+9oWEedN2OfkiNhasM//adfxdoOI+GZE/CYi1hVsOygifhgR%0AD+e/H1jisfMiYn3+s3xR6466e5QY30UR8WD+7/9tETFQ4rFlzyWTXYmxvTQihgv+/r+pxGP97FZQ%0AYnxvKhjbjRGxusRj/eyWERGHRsQ9EfGLiHggIj6W3+65twHKjG9Hnnst5ygQERuB2Smlon0H8yf1%0Ac4E3AScAV6aUTmjdEfaGiJgKDAMnpJQeLdh+MnB+Sukt7Tq2bhIRrweeA65PKb0qv+3zwO9SSgvz%0AJ+gDU0oXTnjcVOAh4C+Bx4GfA+9MKf2ipX+ADldifN8I3J1S2hERnwOYOL75/TZS5lwy2ZUY20uB%0A51JKXyjzOD+7VSg2vhPu/wdga0rpsiL3bcTPbkkRcQhwSEppZUTsB6wA5gPn4Lm3bmXG92V04LnX%0AmehsziB3UkoppWXAQP4NVzanAhsKA7SySyn9GPjdhM1nANflb19H7uQz0fHAIymlX6WUtgM35h+n%0AAsXGN6V0V0ppR/7HZeRO7MqoxGe3Gn52q1BufCMigL8GvtfSg+oRKaUnU0or87efBX4JDOK5tyFK%0AjW+nnnsN0eMl4EcRsSIi3lfk/kHg1wU/P57fpmzeQekT+Gvzv675t4g4upUH1SNeklJ6Mn/7KeAl%0ARfbxc9wY7wH+rcR9lc4lKu7c/N//b5b4dbif3fqdBDydUnq4xP1+dqsUEYcDs4D78NzbcBPGt1DH%0AnHsN0eO9LqU0EzgN+HD+V2JqoIj4I+CtwM1F7l4JHJZSOhb4MjDUymPrNSlXq2W9VhNExCXADuCG%0AErt4Lsnua8CRwEzgSeAf2ns4PeudlJ+F9rNbhYj4Y+BW4LyU0rbC+zz31q/U+HbaudcQXSClNJz/%0A/hvgNnK/eik0DBxa8PPL8ttUvdOAlSmlpyfekVLallJ6Ln/7DqAvIl7c6gPsck+PlRjlv/+myD5+%0AjusQEecAbwHOSiUuKqniXKIJUkpPp5R2ppR2AddSfMz87NYhIqYBZwI3ldrHz25lEdFHLuDdkFJa%0AnN/subdBSoxvR557DdF5EbFvvoidiNgXeCOwbsJutwN/FzlzyF2Y8STKouQsSES8NF+vR0QcT+7z%0A+UwLj60X3A6cnb99NvAvRfb5OXBURByR/83AO/KPUwURMQ+4AHhrSun5EvtUcy7RBBOuL3kbxcfM%0Az259/gJ4MKX0eLE7/exWlv836hvAL1NKVxTc5bm3AUqNb8eee1NKfuX+Q3MkcH/+6wHgkvz2DwAf%0AyN8O4CpgA7CW3BWgbT/2bvkC9iUXig8o2FY4vh/Jj/395C4ceG27j7mTv8j9Z+RJYJRcbd17gRcB%0A/w48DPwIOCi/73TgjoLHvoncVeIbxj7rflU1vo+Qq2lcnf+6euL4ljqX+FVxbP9v/ry6hlywOGTi%0A2OZ/9rNbw/jmt3977HxbsK+f3Wxj+zpypRprCs4Db/Lc2/Tx7chzry3uJEmSpIws55AkSZIyMkRL%0AkiRJGRmiJUmSpIwM0ZIkSVJGhmhJkiQpI0O0JLVYROyMiNURsS4ibo6IfRr8/OdExFcq7HNyRLy2%0A4OcPRMTfNfI4JKmXGaIlqfVGUkozU0qvAraT65feaicDu0N0SunqlNL1bTgOSepKhmhJaq+fAK8A%0AiIhP5Gen10XEeflth0fEgxFxQ0T8MiJuGZu5joiNEfHi/O3ZEXHvxCePiNMj4r6IWBURP4qIl0TE%0A4eSC+8fzM+InRcSlEXF+/jEzI2JZRKyJiNsi4sD89nsj4nMR8bOIeCgiTmr+8EhSZzJES1KbRMQ0%0A4DRgbUQcB7wbOAGYA/yviJiV33UG8NWU0iuBbcCHMrzMT4E5KaVZwI3ABSmljcDVwBfzM+I/mfCY%0A64ELU0rHkltF8FMF901LKR0PnDdhuyRNKoZoSWq9/ohYDSwHHgO+QW6529tSSr9PKT0HLAbGZnp/%0AnVJamr/9nfy+1XoZsCQi1gILgKPL7RwRBwADKaX/yG+6Dnh9wS6L899XAIdnOA5J6inT2n0AkjQJ%0AjaSUZhZuiIhy+6cSP+/ghcmQvUs89svAFSml2yPiZODSTEe6pz/kv+/Ef0MkTWLOREtSZ/gJMD8i%0A9omIfYG35bcBHBYRr8nf/ltyJRoAG4Hj8rffXuJ5DwCG87fPLtj+LLDfxJ1TSluBzQX1zu8C/mPi%0AfpI02RmiJakDpJRWAt8GfgbcB3w9pbQqf/d64MMR8UvgQOBr+e2fBq6MiOXkZoaLuRS4OSJWAL8t%0A2P594G1jFxZOeMzZwKKIWAPMBC6r588mSb0oUpr4W0JJUqfId9L4Qb4dniSpQzgTLUmSJGXkTLQk%0ASZKUkTPRkiRJUkaGaEmSJCkjQ7QkSZKUkSFakiRJysgQLUmSJGVkiJYkSZIy+v9JU5gv3mOwXwAA%0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661651" y="497512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668338" y="1187243"/>
            <a:ext cx="11092253" cy="1832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b="1" dirty="0">
                <a:latin typeface="微软雅黑" panose="020B0503020204020204" pitchFamily="34" charset="-122"/>
                <a:cs typeface="Times New Roman" panose="02020603050405020304" pitchFamily="18" charset="0"/>
              </a:rPr>
              <a:t>核技巧</a:t>
            </a:r>
            <a:endParaRPr lang="en-US" altLang="zh-CN" b="1" dirty="0">
              <a:latin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zh-CN" sz="2000" dirty="0" err="1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用核函数来替换</a:t>
            </a:r>
            <a:r>
              <a:rPr lang="zh-CN" altLang="en-US" sz="2000" dirty="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原来</a:t>
            </a:r>
            <a:r>
              <a:rPr lang="en-US" altLang="zh-CN" sz="2000" dirty="0" err="1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的内积</a:t>
            </a:r>
            <a:r>
              <a:rPr lang="en-US" altLang="zh-CN" sz="2000" dirty="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000" dirty="0">
              <a:effectLst/>
              <a:latin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</a:pPr>
            <a:endParaRPr lang="zh-CN" altLang="zh-CN" sz="1800" dirty="0">
              <a:effectLst/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0F15834-D865-4F6D-829D-B8A5140FAF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4.</a:t>
            </a:r>
            <a:r>
              <a:rPr lang="zh-CN" altLang="en-US" dirty="0">
                <a:solidFill>
                  <a:schemeClr val="tx1"/>
                </a:solidFill>
              </a:rPr>
              <a:t>线性不可分支持向量机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521C4B97-383F-4437-916F-83E1BAA37061}"/>
                  </a:ext>
                </a:extLst>
              </p:cNvPr>
              <p:cNvSpPr txBox="1"/>
              <p:nvPr/>
            </p:nvSpPr>
            <p:spPr>
              <a:xfrm>
                <a:off x="829354" y="4556394"/>
                <a:ext cx="10471052" cy="2015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即</a:t>
                </a:r>
                <a:r>
                  <a:rPr lang="en-US" altLang="zh-CN" sz="20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通过一个非线性转换后的两个</a:t>
                </a:r>
                <a:r>
                  <a:rPr lang="zh-CN" altLang="en-US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样本</a:t>
                </a:r>
                <a:r>
                  <a:rPr lang="en-US" altLang="zh-CN" sz="20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间的内积。具体地</a:t>
                </a:r>
                <a:r>
                  <a:rPr lang="en-US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000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是一个核函数，或正定核</a:t>
                </a:r>
                <a:r>
                  <a:rPr lang="en-US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000" dirty="0">
                    <a:latin typeface="微软雅黑" panose="020B0503020204020204" pitchFamily="34" charset="-122"/>
                  </a:rPr>
                  <a:t>意味着存在一个从输入空间到特征空间的映射，对于任意空间输入的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有:</a:t>
                </a:r>
                <a:endParaRPr lang="zh-CN" altLang="zh-CN" sz="2000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𝜙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)⋅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𝜙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000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endParaRPr lang="zh-CN" altLang="zh-CN" sz="2000" dirty="0"/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521C4B97-383F-4437-916F-83E1BAA37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354" y="4556394"/>
                <a:ext cx="10471052" cy="2015936"/>
              </a:xfrm>
              <a:prstGeom prst="rect">
                <a:avLst/>
              </a:prstGeom>
              <a:blipFill>
                <a:blip r:embed="rId2"/>
                <a:stretch>
                  <a:fillRect l="-5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6DC1B90E-6E15-4944-A77B-84A5A67C06F0}"/>
              </a:ext>
            </a:extLst>
          </p:cNvPr>
          <p:cNvGrpSpPr/>
          <p:nvPr/>
        </p:nvGrpSpPr>
        <p:grpSpPr>
          <a:xfrm>
            <a:off x="6757030" y="2388358"/>
            <a:ext cx="990600" cy="966787"/>
            <a:chOff x="3103407" y="4040434"/>
            <a:chExt cx="990600" cy="966787"/>
          </a:xfrm>
        </p:grpSpPr>
        <p:sp>
          <p:nvSpPr>
            <p:cNvPr id="172" name="AutoShape 52">
              <a:extLst>
                <a:ext uri="{FF2B5EF4-FFF2-40B4-BE49-F238E27FC236}">
                  <a16:creationId xmlns:a16="http://schemas.microsoft.com/office/drawing/2014/main" id="{F5A3D6E2-E789-4008-A43B-5EA4476DE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3407" y="4626221"/>
              <a:ext cx="990600" cy="381000"/>
            </a:xfrm>
            <a:prstGeom prst="rightArrow">
              <a:avLst>
                <a:gd name="adj1" fmla="val 50000"/>
                <a:gd name="adj2" fmla="val 63206"/>
              </a:avLst>
            </a:prstGeom>
            <a:solidFill>
              <a:srgbClr val="FFFF00"/>
            </a:solidFill>
            <a:ln w="9525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>
                <a:buSzPct val="100000"/>
              </a:pPr>
              <a:endParaRPr kumimoji="1" lang="zh-CN" altLang="zh-CN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3" name="Text Box 53">
              <a:extLst>
                <a:ext uri="{FF2B5EF4-FFF2-40B4-BE49-F238E27FC236}">
                  <a16:creationId xmlns:a16="http://schemas.microsoft.com/office/drawing/2014/main" id="{5A662E75-8F95-418E-9D5D-FEA5D3E9C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8020" y="4040434"/>
              <a:ext cx="766762" cy="579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>
                <a:spcBef>
                  <a:spcPct val="20000"/>
                </a:spcBef>
              </a:pPr>
              <a:r>
                <a:rPr lang="en-US" altLang="zh-CN" sz="3200" dirty="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f</a:t>
              </a:r>
              <a:r>
                <a:rPr lang="en-US" altLang="zh-CN" sz="32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3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·</a:t>
              </a:r>
              <a:r>
                <a:rPr lang="en-US" altLang="zh-CN" sz="32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</p:grp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2FDD37DE-BC77-4153-865F-6EC86F96FBF5}"/>
              </a:ext>
            </a:extLst>
          </p:cNvPr>
          <p:cNvGrpSpPr/>
          <p:nvPr/>
        </p:nvGrpSpPr>
        <p:grpSpPr>
          <a:xfrm>
            <a:off x="8281030" y="2059745"/>
            <a:ext cx="2438400" cy="2330450"/>
            <a:chOff x="4627407" y="3711821"/>
            <a:chExt cx="2438400" cy="2330450"/>
          </a:xfrm>
        </p:grpSpPr>
        <p:sp>
          <p:nvSpPr>
            <p:cNvPr id="175" name="Line 26">
              <a:extLst>
                <a:ext uri="{FF2B5EF4-FFF2-40B4-BE49-F238E27FC236}">
                  <a16:creationId xmlns:a16="http://schemas.microsoft.com/office/drawing/2014/main" id="{7B5E452B-DCDA-46EB-B3C8-84043FED4E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607" y="5616821"/>
              <a:ext cx="2057400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6" name="Line 27">
              <a:extLst>
                <a:ext uri="{FF2B5EF4-FFF2-40B4-BE49-F238E27FC236}">
                  <a16:creationId xmlns:a16="http://schemas.microsoft.com/office/drawing/2014/main" id="{6C6737DA-8E28-4B95-A01D-7C47C95DB3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4607" y="3711821"/>
              <a:ext cx="1447800" cy="182880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77" name="Group 216">
              <a:extLst>
                <a:ext uri="{FF2B5EF4-FFF2-40B4-BE49-F238E27FC236}">
                  <a16:creationId xmlns:a16="http://schemas.microsoft.com/office/drawing/2014/main" id="{6AEA3613-CD30-4B66-980B-E1356D9C66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79807" y="3788021"/>
              <a:ext cx="528638" cy="336550"/>
              <a:chOff x="3001" y="2496"/>
              <a:chExt cx="333" cy="212"/>
            </a:xfrm>
          </p:grpSpPr>
          <p:sp>
            <p:nvSpPr>
              <p:cNvPr id="227" name="Rectangle 29">
                <a:extLst>
                  <a:ext uri="{FF2B5EF4-FFF2-40B4-BE49-F238E27FC236}">
                    <a16:creationId xmlns:a16="http://schemas.microsoft.com/office/drawing/2014/main" id="{527A249C-EF91-4070-912B-D9B0AA57A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592"/>
                <a:ext cx="48" cy="48"/>
              </a:xfrm>
              <a:prstGeom prst="rect">
                <a:avLst/>
              </a:prstGeom>
              <a:solidFill>
                <a:srgbClr val="0000FF"/>
              </a:solidFill>
              <a:ln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>
                  <a:buSzPct val="100000"/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8" name="Text Box 30">
                <a:extLst>
                  <a:ext uri="{FF2B5EF4-FFF2-40B4-BE49-F238E27FC236}">
                    <a16:creationId xmlns:a16="http://schemas.microsoft.com/office/drawing/2014/main" id="{0A9FC52F-3C84-435E-9123-C79E3B3DE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1" y="2496"/>
                <a:ext cx="33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  <a:buSzPct val="100000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f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  )</a:t>
                </a:r>
              </a:p>
            </p:txBody>
          </p:sp>
        </p:grpSp>
        <p:grpSp>
          <p:nvGrpSpPr>
            <p:cNvPr id="178" name="Group 219">
              <a:extLst>
                <a:ext uri="{FF2B5EF4-FFF2-40B4-BE49-F238E27FC236}">
                  <a16:creationId xmlns:a16="http://schemas.microsoft.com/office/drawing/2014/main" id="{595C2FD9-F44F-4180-B701-24F60D193C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13170" y="4213471"/>
              <a:ext cx="528637" cy="336550"/>
              <a:chOff x="3001" y="2496"/>
              <a:chExt cx="333" cy="212"/>
            </a:xfrm>
          </p:grpSpPr>
          <p:sp>
            <p:nvSpPr>
              <p:cNvPr id="225" name="Rectangle 32">
                <a:extLst>
                  <a:ext uri="{FF2B5EF4-FFF2-40B4-BE49-F238E27FC236}">
                    <a16:creationId xmlns:a16="http://schemas.microsoft.com/office/drawing/2014/main" id="{76448F0F-65D7-4444-85DD-DBC37EA482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592"/>
                <a:ext cx="48" cy="48"/>
              </a:xfrm>
              <a:prstGeom prst="rect">
                <a:avLst/>
              </a:prstGeom>
              <a:solidFill>
                <a:srgbClr val="0000FF"/>
              </a:solidFill>
              <a:ln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>
                  <a:buSzPct val="100000"/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6" name="Text Box 33">
                <a:extLst>
                  <a:ext uri="{FF2B5EF4-FFF2-40B4-BE49-F238E27FC236}">
                    <a16:creationId xmlns:a16="http://schemas.microsoft.com/office/drawing/2014/main" id="{15B507B2-3FDD-4265-8D83-11C0A25A0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1" y="2496"/>
                <a:ext cx="33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  <a:buSzPct val="100000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f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  )</a:t>
                </a:r>
              </a:p>
            </p:txBody>
          </p:sp>
        </p:grpSp>
        <p:grpSp>
          <p:nvGrpSpPr>
            <p:cNvPr id="179" name="Group 222">
              <a:extLst>
                <a:ext uri="{FF2B5EF4-FFF2-40B4-BE49-F238E27FC236}">
                  <a16:creationId xmlns:a16="http://schemas.microsoft.com/office/drawing/2014/main" id="{B7A61445-ED9D-4204-B1DB-D2B0E33AE2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19570" y="4669084"/>
              <a:ext cx="528637" cy="336550"/>
              <a:chOff x="3001" y="2496"/>
              <a:chExt cx="333" cy="212"/>
            </a:xfrm>
          </p:grpSpPr>
          <p:sp>
            <p:nvSpPr>
              <p:cNvPr id="223" name="Rectangle 35">
                <a:extLst>
                  <a:ext uri="{FF2B5EF4-FFF2-40B4-BE49-F238E27FC236}">
                    <a16:creationId xmlns:a16="http://schemas.microsoft.com/office/drawing/2014/main" id="{C371B72E-588D-44D9-97D4-DDA436EE05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592"/>
                <a:ext cx="48" cy="48"/>
              </a:xfrm>
              <a:prstGeom prst="rect">
                <a:avLst/>
              </a:prstGeom>
              <a:solidFill>
                <a:srgbClr val="0000FF"/>
              </a:solidFill>
              <a:ln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>
                  <a:buSzPct val="100000"/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4" name="Text Box 36">
                <a:extLst>
                  <a:ext uri="{FF2B5EF4-FFF2-40B4-BE49-F238E27FC236}">
                    <a16:creationId xmlns:a16="http://schemas.microsoft.com/office/drawing/2014/main" id="{EA7C035C-0CDF-44E0-92BA-88F4B206FC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1" y="2496"/>
                <a:ext cx="33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  <a:buSzPct val="100000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f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  )</a:t>
                </a:r>
              </a:p>
            </p:txBody>
          </p:sp>
        </p:grpSp>
        <p:grpSp>
          <p:nvGrpSpPr>
            <p:cNvPr id="180" name="Group 225">
              <a:extLst>
                <a:ext uri="{FF2B5EF4-FFF2-40B4-BE49-F238E27FC236}">
                  <a16:creationId xmlns:a16="http://schemas.microsoft.com/office/drawing/2014/main" id="{77CC7073-B5EC-4D47-A7B6-69D97AF672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46570" y="4899271"/>
              <a:ext cx="528637" cy="336550"/>
              <a:chOff x="3001" y="2496"/>
              <a:chExt cx="333" cy="212"/>
            </a:xfrm>
          </p:grpSpPr>
          <p:sp>
            <p:nvSpPr>
              <p:cNvPr id="221" name="Rectangle 38">
                <a:extLst>
                  <a:ext uri="{FF2B5EF4-FFF2-40B4-BE49-F238E27FC236}">
                    <a16:creationId xmlns:a16="http://schemas.microsoft.com/office/drawing/2014/main" id="{593FD969-3A51-43F2-9464-C895BF0D31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592"/>
                <a:ext cx="48" cy="48"/>
              </a:xfrm>
              <a:prstGeom prst="rect">
                <a:avLst/>
              </a:prstGeom>
              <a:solidFill>
                <a:srgbClr val="0000FF"/>
              </a:solidFill>
              <a:ln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>
                  <a:buSzPct val="100000"/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2" name="Text Box 39">
                <a:extLst>
                  <a:ext uri="{FF2B5EF4-FFF2-40B4-BE49-F238E27FC236}">
                    <a16:creationId xmlns:a16="http://schemas.microsoft.com/office/drawing/2014/main" id="{0B32BAC2-2C21-4891-97C9-8F9666B8D6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1" y="2496"/>
                <a:ext cx="33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  <a:buSzPct val="100000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f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  )</a:t>
                </a:r>
              </a:p>
            </p:txBody>
          </p:sp>
        </p:grpSp>
        <p:grpSp>
          <p:nvGrpSpPr>
            <p:cNvPr id="181" name="Group 228">
              <a:extLst>
                <a:ext uri="{FF2B5EF4-FFF2-40B4-BE49-F238E27FC236}">
                  <a16:creationId xmlns:a16="http://schemas.microsoft.com/office/drawing/2014/main" id="{ECAF6A12-9864-449C-A4CB-B152714E3B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56007" y="4854821"/>
              <a:ext cx="528638" cy="336550"/>
              <a:chOff x="3001" y="2496"/>
              <a:chExt cx="333" cy="212"/>
            </a:xfrm>
          </p:grpSpPr>
          <p:sp>
            <p:nvSpPr>
              <p:cNvPr id="219" name="Rectangle 41">
                <a:extLst>
                  <a:ext uri="{FF2B5EF4-FFF2-40B4-BE49-F238E27FC236}">
                    <a16:creationId xmlns:a16="http://schemas.microsoft.com/office/drawing/2014/main" id="{BCCA3D38-AD2A-46F5-8A3D-007CC14F06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592"/>
                <a:ext cx="48" cy="48"/>
              </a:xfrm>
              <a:prstGeom prst="rect">
                <a:avLst/>
              </a:prstGeom>
              <a:solidFill>
                <a:srgbClr val="0000FF"/>
              </a:solidFill>
              <a:ln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>
                  <a:buSzPct val="100000"/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0" name="Text Box 42">
                <a:extLst>
                  <a:ext uri="{FF2B5EF4-FFF2-40B4-BE49-F238E27FC236}">
                    <a16:creationId xmlns:a16="http://schemas.microsoft.com/office/drawing/2014/main" id="{1C7D0CF3-71B5-4923-8470-23FFA295D4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1" y="2496"/>
                <a:ext cx="33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  <a:buSzPct val="100000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f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  )</a:t>
                </a:r>
              </a:p>
            </p:txBody>
          </p:sp>
        </p:grpSp>
        <p:grpSp>
          <p:nvGrpSpPr>
            <p:cNvPr id="182" name="Group 231">
              <a:extLst>
                <a:ext uri="{FF2B5EF4-FFF2-40B4-BE49-F238E27FC236}">
                  <a16:creationId xmlns:a16="http://schemas.microsoft.com/office/drawing/2014/main" id="{AFB237B7-A574-4E1B-85D4-A9B3F972F0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27407" y="4321421"/>
              <a:ext cx="528638" cy="336550"/>
              <a:chOff x="3001" y="2496"/>
              <a:chExt cx="333" cy="212"/>
            </a:xfrm>
          </p:grpSpPr>
          <p:sp>
            <p:nvSpPr>
              <p:cNvPr id="217" name="Rectangle 44">
                <a:extLst>
                  <a:ext uri="{FF2B5EF4-FFF2-40B4-BE49-F238E27FC236}">
                    <a16:creationId xmlns:a16="http://schemas.microsoft.com/office/drawing/2014/main" id="{17A859A0-601E-49F5-85D8-53F91D000E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592"/>
                <a:ext cx="48" cy="48"/>
              </a:xfrm>
              <a:prstGeom prst="rect">
                <a:avLst/>
              </a:prstGeom>
              <a:solidFill>
                <a:srgbClr val="0000FF"/>
              </a:solidFill>
              <a:ln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>
                  <a:buSzPct val="100000"/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8" name="Text Box 45">
                <a:extLst>
                  <a:ext uri="{FF2B5EF4-FFF2-40B4-BE49-F238E27FC236}">
                    <a16:creationId xmlns:a16="http://schemas.microsoft.com/office/drawing/2014/main" id="{693F60E3-7494-4C0B-80C4-1FCCE63CD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1" y="2496"/>
                <a:ext cx="33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  <a:buSzPct val="100000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f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  )</a:t>
                </a:r>
              </a:p>
            </p:txBody>
          </p:sp>
        </p:grpSp>
        <p:grpSp>
          <p:nvGrpSpPr>
            <p:cNvPr id="183" name="Group 234">
              <a:extLst>
                <a:ext uri="{FF2B5EF4-FFF2-40B4-BE49-F238E27FC236}">
                  <a16:creationId xmlns:a16="http://schemas.microsoft.com/office/drawing/2014/main" id="{94AC3D6D-54B1-4E56-AC2D-46A904AD8E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51370" y="5280271"/>
              <a:ext cx="528637" cy="336550"/>
              <a:chOff x="3001" y="2496"/>
              <a:chExt cx="333" cy="212"/>
            </a:xfrm>
          </p:grpSpPr>
          <p:sp>
            <p:nvSpPr>
              <p:cNvPr id="215" name="Rectangle 47">
                <a:extLst>
                  <a:ext uri="{FF2B5EF4-FFF2-40B4-BE49-F238E27FC236}">
                    <a16:creationId xmlns:a16="http://schemas.microsoft.com/office/drawing/2014/main" id="{0E484972-3840-42AC-8504-AED6FE8AD3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592"/>
                <a:ext cx="48" cy="48"/>
              </a:xfrm>
              <a:prstGeom prst="rect">
                <a:avLst/>
              </a:prstGeom>
              <a:solidFill>
                <a:srgbClr val="0000FF"/>
              </a:solidFill>
              <a:ln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>
                  <a:buSzPct val="100000"/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6" name="Text Box 48">
                <a:extLst>
                  <a:ext uri="{FF2B5EF4-FFF2-40B4-BE49-F238E27FC236}">
                    <a16:creationId xmlns:a16="http://schemas.microsoft.com/office/drawing/2014/main" id="{575588AE-E7E1-4E57-9D63-103027E3A9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1" y="2496"/>
                <a:ext cx="33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  <a:buSzPct val="100000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f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  )</a:t>
                </a:r>
              </a:p>
            </p:txBody>
          </p:sp>
        </p:grpSp>
        <p:grpSp>
          <p:nvGrpSpPr>
            <p:cNvPr id="184" name="Group 237">
              <a:extLst>
                <a:ext uri="{FF2B5EF4-FFF2-40B4-BE49-F238E27FC236}">
                  <a16:creationId xmlns:a16="http://schemas.microsoft.com/office/drawing/2014/main" id="{BD9FD6A5-1E20-46D3-9A7A-444440D452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08407" y="5159621"/>
              <a:ext cx="528638" cy="336550"/>
              <a:chOff x="3001" y="2496"/>
              <a:chExt cx="333" cy="212"/>
            </a:xfrm>
          </p:grpSpPr>
          <p:sp>
            <p:nvSpPr>
              <p:cNvPr id="213" name="Rectangle 50">
                <a:extLst>
                  <a:ext uri="{FF2B5EF4-FFF2-40B4-BE49-F238E27FC236}">
                    <a16:creationId xmlns:a16="http://schemas.microsoft.com/office/drawing/2014/main" id="{4B73B2B4-D394-413B-8C8C-2FE68F7F6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592"/>
                <a:ext cx="48" cy="48"/>
              </a:xfrm>
              <a:prstGeom prst="rect">
                <a:avLst/>
              </a:prstGeom>
              <a:solidFill>
                <a:srgbClr val="0000FF"/>
              </a:solidFill>
              <a:ln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>
                  <a:buSzPct val="100000"/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4" name="Text Box 51">
                <a:extLst>
                  <a:ext uri="{FF2B5EF4-FFF2-40B4-BE49-F238E27FC236}">
                    <a16:creationId xmlns:a16="http://schemas.microsoft.com/office/drawing/2014/main" id="{D23F4D60-8D68-4A5E-81B2-6C7A42DD47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1" y="2496"/>
                <a:ext cx="33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  <a:buSzPct val="100000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f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  )</a:t>
                </a:r>
              </a:p>
            </p:txBody>
          </p:sp>
        </p:grpSp>
        <p:grpSp>
          <p:nvGrpSpPr>
            <p:cNvPr id="185" name="Group 242">
              <a:extLst>
                <a:ext uri="{FF2B5EF4-FFF2-40B4-BE49-F238E27FC236}">
                  <a16:creationId xmlns:a16="http://schemas.microsoft.com/office/drawing/2014/main" id="{D075F6B7-0A4E-4B11-850E-C5CC0D79BE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22807" y="4016621"/>
              <a:ext cx="528638" cy="336550"/>
              <a:chOff x="4307" y="2352"/>
              <a:chExt cx="333" cy="212"/>
            </a:xfrm>
          </p:grpSpPr>
          <p:sp>
            <p:nvSpPr>
              <p:cNvPr id="211" name="Oval 55">
                <a:extLst>
                  <a:ext uri="{FF2B5EF4-FFF2-40B4-BE49-F238E27FC236}">
                    <a16:creationId xmlns:a16="http://schemas.microsoft.com/office/drawing/2014/main" id="{EE108782-E495-4C53-A2C7-CE58932F7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2448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>
                  <a:buSzPct val="100000"/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2" name="Text Box 56">
                <a:extLst>
                  <a:ext uri="{FF2B5EF4-FFF2-40B4-BE49-F238E27FC236}">
                    <a16:creationId xmlns:a16="http://schemas.microsoft.com/office/drawing/2014/main" id="{1A997DC1-792D-452E-9628-002B511E21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52"/>
                <a:ext cx="33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  <a:buSzPct val="100000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f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  )</a:t>
                </a:r>
              </a:p>
            </p:txBody>
          </p:sp>
        </p:grpSp>
        <p:grpSp>
          <p:nvGrpSpPr>
            <p:cNvPr id="186" name="Group 245">
              <a:extLst>
                <a:ext uri="{FF2B5EF4-FFF2-40B4-BE49-F238E27FC236}">
                  <a16:creationId xmlns:a16="http://schemas.microsoft.com/office/drawing/2014/main" id="{DBC79E86-2AB3-4BDB-8395-F65B3AD831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94207" y="4245221"/>
              <a:ext cx="528638" cy="336550"/>
              <a:chOff x="4307" y="2352"/>
              <a:chExt cx="333" cy="212"/>
            </a:xfrm>
          </p:grpSpPr>
          <p:sp>
            <p:nvSpPr>
              <p:cNvPr id="209" name="Oval 61">
                <a:extLst>
                  <a:ext uri="{FF2B5EF4-FFF2-40B4-BE49-F238E27FC236}">
                    <a16:creationId xmlns:a16="http://schemas.microsoft.com/office/drawing/2014/main" id="{792BFE8C-595C-4055-BD63-CD03F083CE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2448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>
                  <a:buSzPct val="100000"/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" name="Text Box 62">
                <a:extLst>
                  <a:ext uri="{FF2B5EF4-FFF2-40B4-BE49-F238E27FC236}">
                    <a16:creationId xmlns:a16="http://schemas.microsoft.com/office/drawing/2014/main" id="{B4512D12-7A9A-4BAB-AF14-698792518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52"/>
                <a:ext cx="33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  <a:buSzPct val="100000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f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  )</a:t>
                </a:r>
              </a:p>
            </p:txBody>
          </p:sp>
        </p:grpSp>
        <p:grpSp>
          <p:nvGrpSpPr>
            <p:cNvPr id="187" name="Group 248">
              <a:extLst>
                <a:ext uri="{FF2B5EF4-FFF2-40B4-BE49-F238E27FC236}">
                  <a16:creationId xmlns:a16="http://schemas.microsoft.com/office/drawing/2014/main" id="{7F989776-0CF3-4370-A0FC-07C7BED9FB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65607" y="3940421"/>
              <a:ext cx="528638" cy="336550"/>
              <a:chOff x="4307" y="2352"/>
              <a:chExt cx="333" cy="212"/>
            </a:xfrm>
          </p:grpSpPr>
          <p:sp>
            <p:nvSpPr>
              <p:cNvPr id="207" name="Oval 64">
                <a:extLst>
                  <a:ext uri="{FF2B5EF4-FFF2-40B4-BE49-F238E27FC236}">
                    <a16:creationId xmlns:a16="http://schemas.microsoft.com/office/drawing/2014/main" id="{0C63A277-E1EC-480C-B23C-C44C2B4AA7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2448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>
                  <a:buSzPct val="100000"/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" name="Text Box 65">
                <a:extLst>
                  <a:ext uri="{FF2B5EF4-FFF2-40B4-BE49-F238E27FC236}">
                    <a16:creationId xmlns:a16="http://schemas.microsoft.com/office/drawing/2014/main" id="{6A605FDD-53DE-461C-82C8-D08DF9E8EE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52"/>
                <a:ext cx="33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  <a:buSzPct val="100000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f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  )</a:t>
                </a:r>
              </a:p>
            </p:txBody>
          </p:sp>
        </p:grpSp>
        <p:grpSp>
          <p:nvGrpSpPr>
            <p:cNvPr id="188" name="Group 251">
              <a:extLst>
                <a:ext uri="{FF2B5EF4-FFF2-40B4-BE49-F238E27FC236}">
                  <a16:creationId xmlns:a16="http://schemas.microsoft.com/office/drawing/2014/main" id="{FC7EF7EC-DCDE-4DFA-8090-F8E64AF6B0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8007" y="3711821"/>
              <a:ext cx="528638" cy="336550"/>
              <a:chOff x="4307" y="2352"/>
              <a:chExt cx="333" cy="212"/>
            </a:xfrm>
          </p:grpSpPr>
          <p:sp>
            <p:nvSpPr>
              <p:cNvPr id="205" name="Oval 67">
                <a:extLst>
                  <a:ext uri="{FF2B5EF4-FFF2-40B4-BE49-F238E27FC236}">
                    <a16:creationId xmlns:a16="http://schemas.microsoft.com/office/drawing/2014/main" id="{4E1F0539-6BED-456B-8B59-CD2A853D5F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2448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>
                  <a:buSzPct val="100000"/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" name="Text Box 68">
                <a:extLst>
                  <a:ext uri="{FF2B5EF4-FFF2-40B4-BE49-F238E27FC236}">
                    <a16:creationId xmlns:a16="http://schemas.microsoft.com/office/drawing/2014/main" id="{5198C0D2-468E-41C8-8EFD-7F112D4994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52"/>
                <a:ext cx="33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  <a:buSzPct val="100000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f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  )</a:t>
                </a:r>
              </a:p>
            </p:txBody>
          </p:sp>
        </p:grpSp>
        <p:grpSp>
          <p:nvGrpSpPr>
            <p:cNvPr id="189" name="Group 254">
              <a:extLst>
                <a:ext uri="{FF2B5EF4-FFF2-40B4-BE49-F238E27FC236}">
                  <a16:creationId xmlns:a16="http://schemas.microsoft.com/office/drawing/2014/main" id="{530C0A9C-E8AB-4375-8CA2-EBA1A5025E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51407" y="4823071"/>
              <a:ext cx="528638" cy="336550"/>
              <a:chOff x="4307" y="2352"/>
              <a:chExt cx="333" cy="212"/>
            </a:xfrm>
          </p:grpSpPr>
          <p:sp>
            <p:nvSpPr>
              <p:cNvPr id="203" name="Oval 70">
                <a:extLst>
                  <a:ext uri="{FF2B5EF4-FFF2-40B4-BE49-F238E27FC236}">
                    <a16:creationId xmlns:a16="http://schemas.microsoft.com/office/drawing/2014/main" id="{318E4A58-D68E-4AFF-9F39-AD064C97EB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2448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>
                  <a:buSzPct val="100000"/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" name="Text Box 71">
                <a:extLst>
                  <a:ext uri="{FF2B5EF4-FFF2-40B4-BE49-F238E27FC236}">
                    <a16:creationId xmlns:a16="http://schemas.microsoft.com/office/drawing/2014/main" id="{73BE8943-718F-4ACF-A964-1977FE1B4F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52"/>
                <a:ext cx="33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  <a:buSzPct val="100000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f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  )</a:t>
                </a:r>
              </a:p>
            </p:txBody>
          </p:sp>
        </p:grpSp>
        <p:grpSp>
          <p:nvGrpSpPr>
            <p:cNvPr id="190" name="Group 257">
              <a:extLst>
                <a:ext uri="{FF2B5EF4-FFF2-40B4-BE49-F238E27FC236}">
                  <a16:creationId xmlns:a16="http://schemas.microsoft.com/office/drawing/2014/main" id="{BB60A188-445C-4C7A-8ED2-916BD618B8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80007" y="3864221"/>
              <a:ext cx="528638" cy="336550"/>
              <a:chOff x="4307" y="2352"/>
              <a:chExt cx="333" cy="212"/>
            </a:xfrm>
          </p:grpSpPr>
          <p:sp>
            <p:nvSpPr>
              <p:cNvPr id="201" name="Oval 73">
                <a:extLst>
                  <a:ext uri="{FF2B5EF4-FFF2-40B4-BE49-F238E27FC236}">
                    <a16:creationId xmlns:a16="http://schemas.microsoft.com/office/drawing/2014/main" id="{DBF59F19-F7A5-479A-85B9-30F6E10899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2448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>
                  <a:buSzPct val="100000"/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2" name="Text Box 74">
                <a:extLst>
                  <a:ext uri="{FF2B5EF4-FFF2-40B4-BE49-F238E27FC236}">
                    <a16:creationId xmlns:a16="http://schemas.microsoft.com/office/drawing/2014/main" id="{4CE79E16-CD3B-482F-B536-D9D6CE4BC8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52"/>
                <a:ext cx="33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  <a:buSzPct val="100000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f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  )</a:t>
                </a:r>
              </a:p>
            </p:txBody>
          </p:sp>
        </p:grpSp>
        <p:grpSp>
          <p:nvGrpSpPr>
            <p:cNvPr id="191" name="Group 260">
              <a:extLst>
                <a:ext uri="{FF2B5EF4-FFF2-40B4-BE49-F238E27FC236}">
                  <a16:creationId xmlns:a16="http://schemas.microsoft.com/office/drawing/2014/main" id="{83E1E05B-1BF4-4305-B705-2918C4CAAB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51407" y="4397621"/>
              <a:ext cx="528638" cy="336550"/>
              <a:chOff x="4307" y="2352"/>
              <a:chExt cx="333" cy="212"/>
            </a:xfrm>
          </p:grpSpPr>
          <p:sp>
            <p:nvSpPr>
              <p:cNvPr id="199" name="Oval 76">
                <a:extLst>
                  <a:ext uri="{FF2B5EF4-FFF2-40B4-BE49-F238E27FC236}">
                    <a16:creationId xmlns:a16="http://schemas.microsoft.com/office/drawing/2014/main" id="{5FB4576F-E0D0-427E-B24B-EC3234559A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2448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>
                  <a:buSzPct val="100000"/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0" name="Text Box 77">
                <a:extLst>
                  <a:ext uri="{FF2B5EF4-FFF2-40B4-BE49-F238E27FC236}">
                    <a16:creationId xmlns:a16="http://schemas.microsoft.com/office/drawing/2014/main" id="{1D199F45-7A5B-4151-932E-38227BB8A0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52"/>
                <a:ext cx="33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  <a:buSzPct val="100000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f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  )</a:t>
                </a:r>
              </a:p>
            </p:txBody>
          </p:sp>
        </p:grpSp>
        <p:grpSp>
          <p:nvGrpSpPr>
            <p:cNvPr id="192" name="Group 263">
              <a:extLst>
                <a:ext uri="{FF2B5EF4-FFF2-40B4-BE49-F238E27FC236}">
                  <a16:creationId xmlns:a16="http://schemas.microsoft.com/office/drawing/2014/main" id="{0C804AB0-6F11-40C8-A83B-26B51BF42D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99007" y="4594471"/>
              <a:ext cx="528638" cy="336550"/>
              <a:chOff x="4307" y="2352"/>
              <a:chExt cx="333" cy="212"/>
            </a:xfrm>
          </p:grpSpPr>
          <p:sp>
            <p:nvSpPr>
              <p:cNvPr id="197" name="Oval 79">
                <a:extLst>
                  <a:ext uri="{FF2B5EF4-FFF2-40B4-BE49-F238E27FC236}">
                    <a16:creationId xmlns:a16="http://schemas.microsoft.com/office/drawing/2014/main" id="{9479E4D9-7C0C-4440-B2D5-801163B598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2448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>
                  <a:buSzPct val="100000"/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8" name="Text Box 80">
                <a:extLst>
                  <a:ext uri="{FF2B5EF4-FFF2-40B4-BE49-F238E27FC236}">
                    <a16:creationId xmlns:a16="http://schemas.microsoft.com/office/drawing/2014/main" id="{A3529071-779C-4C10-861C-A82D98B612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52"/>
                <a:ext cx="33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  <a:buSzPct val="100000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f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  )</a:t>
                </a:r>
              </a:p>
            </p:txBody>
          </p:sp>
        </p:grpSp>
        <p:grpSp>
          <p:nvGrpSpPr>
            <p:cNvPr id="193" name="Group 266">
              <a:extLst>
                <a:ext uri="{FF2B5EF4-FFF2-40B4-BE49-F238E27FC236}">
                  <a16:creationId xmlns:a16="http://schemas.microsoft.com/office/drawing/2014/main" id="{D1FD5EB4-818D-4C9C-93BF-1E24AB7EAC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37170" y="4473821"/>
              <a:ext cx="528637" cy="336550"/>
              <a:chOff x="4307" y="2352"/>
              <a:chExt cx="333" cy="212"/>
            </a:xfrm>
          </p:grpSpPr>
          <p:sp>
            <p:nvSpPr>
              <p:cNvPr id="195" name="Oval 82">
                <a:extLst>
                  <a:ext uri="{FF2B5EF4-FFF2-40B4-BE49-F238E27FC236}">
                    <a16:creationId xmlns:a16="http://schemas.microsoft.com/office/drawing/2014/main" id="{3794082C-1A9D-4C1C-82DB-63B6B82DCA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2448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>
                  <a:buSzPct val="100000"/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6" name="Text Box 83">
                <a:extLst>
                  <a:ext uri="{FF2B5EF4-FFF2-40B4-BE49-F238E27FC236}">
                    <a16:creationId xmlns:a16="http://schemas.microsoft.com/office/drawing/2014/main" id="{B733048D-9879-4B92-A0CE-B23D8E0E7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52"/>
                <a:ext cx="33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  <a:buSzPct val="100000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f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  )</a:t>
                </a:r>
              </a:p>
            </p:txBody>
          </p:sp>
        </p:grpSp>
        <p:sp>
          <p:nvSpPr>
            <p:cNvPr id="194" name="Text Box 84">
              <a:extLst>
                <a:ext uri="{FF2B5EF4-FFF2-40B4-BE49-F238E27FC236}">
                  <a16:creationId xmlns:a16="http://schemas.microsoft.com/office/drawing/2014/main" id="{997B1FE7-D0EB-4085-87ED-9859BC40C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207" y="5585071"/>
              <a:ext cx="1403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>
                <a:spcBef>
                  <a:spcPct val="20000"/>
                </a:spcBef>
              </a:pPr>
              <a:r>
                <a:rPr kumimoji="1"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思源黑体 CN Normal" panose="020B0400000000000000" pitchFamily="34" charset="-122"/>
                  <a:cs typeface="Times New Roman" panose="02020603050405020304" pitchFamily="18" charset="0"/>
                </a:rPr>
                <a:t>特征空间</a:t>
              </a:r>
            </a:p>
          </p:txBody>
        </p:sp>
      </p:grpSp>
      <p:grpSp>
        <p:nvGrpSpPr>
          <p:cNvPr id="229" name="组合 228">
            <a:extLst>
              <a:ext uri="{FF2B5EF4-FFF2-40B4-BE49-F238E27FC236}">
                <a16:creationId xmlns:a16="http://schemas.microsoft.com/office/drawing/2014/main" id="{F16AEA89-E2C0-4082-9F99-A1C592B00B15}"/>
              </a:ext>
            </a:extLst>
          </p:cNvPr>
          <p:cNvGrpSpPr/>
          <p:nvPr/>
        </p:nvGrpSpPr>
        <p:grpSpPr>
          <a:xfrm>
            <a:off x="4394830" y="2059745"/>
            <a:ext cx="2057400" cy="2330450"/>
            <a:chOff x="741207" y="3711821"/>
            <a:chExt cx="2057400" cy="2330450"/>
          </a:xfrm>
        </p:grpSpPr>
        <p:sp>
          <p:nvSpPr>
            <p:cNvPr id="230" name="Freeform 4">
              <a:extLst>
                <a:ext uri="{FF2B5EF4-FFF2-40B4-BE49-F238E27FC236}">
                  <a16:creationId xmlns:a16="http://schemas.microsoft.com/office/drawing/2014/main" id="{0BED4394-DA2F-4F16-B491-FB22615E92A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9807" y="3711821"/>
              <a:ext cx="1600200" cy="1524000"/>
            </a:xfrm>
            <a:custGeom>
              <a:avLst/>
              <a:gdLst>
                <a:gd name="T0" fmla="*/ 0 w 1008"/>
                <a:gd name="T1" fmla="*/ 0 h 960"/>
                <a:gd name="T2" fmla="*/ 96 w 1008"/>
                <a:gd name="T3" fmla="*/ 432 h 960"/>
                <a:gd name="T4" fmla="*/ 384 w 1008"/>
                <a:gd name="T5" fmla="*/ 624 h 960"/>
                <a:gd name="T6" fmla="*/ 768 w 1008"/>
                <a:gd name="T7" fmla="*/ 672 h 960"/>
                <a:gd name="T8" fmla="*/ 1008 w 1008"/>
                <a:gd name="T9" fmla="*/ 960 h 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8" h="960">
                  <a:moveTo>
                    <a:pt x="0" y="0"/>
                  </a:moveTo>
                  <a:cubicBezTo>
                    <a:pt x="16" y="164"/>
                    <a:pt x="32" y="328"/>
                    <a:pt x="96" y="432"/>
                  </a:cubicBezTo>
                  <a:cubicBezTo>
                    <a:pt x="160" y="536"/>
                    <a:pt x="272" y="584"/>
                    <a:pt x="384" y="624"/>
                  </a:cubicBezTo>
                  <a:cubicBezTo>
                    <a:pt x="496" y="664"/>
                    <a:pt x="664" y="616"/>
                    <a:pt x="768" y="672"/>
                  </a:cubicBezTo>
                  <a:cubicBezTo>
                    <a:pt x="872" y="728"/>
                    <a:pt x="940" y="844"/>
                    <a:pt x="1008" y="960"/>
                  </a:cubicBezTo>
                </a:path>
              </a:pathLst>
            </a:custGeom>
            <a:noFill/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>
                <a:buSzPct val="100000"/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1" name="Line 6">
              <a:extLst>
                <a:ext uri="{FF2B5EF4-FFF2-40B4-BE49-F238E27FC236}">
                  <a16:creationId xmlns:a16="http://schemas.microsoft.com/office/drawing/2014/main" id="{EACC14F7-164D-4F47-A694-7C23B3BC2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1207" y="5616821"/>
              <a:ext cx="2057400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2" name="Oval 7">
              <a:extLst>
                <a:ext uri="{FF2B5EF4-FFF2-40B4-BE49-F238E27FC236}">
                  <a16:creationId xmlns:a16="http://schemas.microsoft.com/office/drawing/2014/main" id="{E0B8AB40-90A2-4681-8FC3-DBF18AA46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207" y="3711821"/>
              <a:ext cx="76200" cy="76200"/>
            </a:xfrm>
            <a:prstGeom prst="ellipse">
              <a:avLst/>
            </a:prstGeom>
            <a:solidFill>
              <a:srgbClr val="FF0000"/>
            </a:solidFill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>
                <a:buSzPct val="100000"/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3" name="Rectangle 8">
              <a:extLst>
                <a:ext uri="{FF2B5EF4-FFF2-40B4-BE49-F238E27FC236}">
                  <a16:creationId xmlns:a16="http://schemas.microsoft.com/office/drawing/2014/main" id="{BD9B4D42-5F74-4F91-A324-5623568B2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607" y="4092821"/>
              <a:ext cx="76200" cy="76200"/>
            </a:xfrm>
            <a:prstGeom prst="rect">
              <a:avLst/>
            </a:prstGeom>
            <a:solidFill>
              <a:srgbClr val="0000FF"/>
            </a:solidFill>
            <a:ln w="9525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>
                <a:buSzPct val="100000"/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4" name="Oval 9">
              <a:extLst>
                <a:ext uri="{FF2B5EF4-FFF2-40B4-BE49-F238E27FC236}">
                  <a16:creationId xmlns:a16="http://schemas.microsoft.com/office/drawing/2014/main" id="{16D3F299-0E2B-4678-A40E-72F97C4DA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7007" y="3940421"/>
              <a:ext cx="76200" cy="76200"/>
            </a:xfrm>
            <a:prstGeom prst="ellipse">
              <a:avLst/>
            </a:prstGeom>
            <a:solidFill>
              <a:srgbClr val="FF0000"/>
            </a:solidFill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>
                <a:buSzPct val="100000"/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5" name="Oval 10">
              <a:extLst>
                <a:ext uri="{FF2B5EF4-FFF2-40B4-BE49-F238E27FC236}">
                  <a16:creationId xmlns:a16="http://schemas.microsoft.com/office/drawing/2014/main" id="{FFD22F87-B4B6-4F33-B28D-57B600555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1807" y="4245221"/>
              <a:ext cx="76200" cy="76200"/>
            </a:xfrm>
            <a:prstGeom prst="ellipse">
              <a:avLst/>
            </a:prstGeom>
            <a:solidFill>
              <a:srgbClr val="FF0000"/>
            </a:solidFill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>
                <a:buSzPct val="100000"/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6" name="Oval 11">
              <a:extLst>
                <a:ext uri="{FF2B5EF4-FFF2-40B4-BE49-F238E27FC236}">
                  <a16:creationId xmlns:a16="http://schemas.microsoft.com/office/drawing/2014/main" id="{BA8F3C60-08C8-4D63-BED9-7214FC142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407" y="3864221"/>
              <a:ext cx="76200" cy="76200"/>
            </a:xfrm>
            <a:prstGeom prst="ellipse">
              <a:avLst/>
            </a:prstGeom>
            <a:solidFill>
              <a:srgbClr val="FF0000"/>
            </a:solidFill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>
                <a:buSzPct val="100000"/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7" name="Oval 12">
              <a:extLst>
                <a:ext uri="{FF2B5EF4-FFF2-40B4-BE49-F238E27FC236}">
                  <a16:creationId xmlns:a16="http://schemas.microsoft.com/office/drawing/2014/main" id="{72724770-64E3-49FE-9971-9E22A0E0B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1407" y="4245221"/>
              <a:ext cx="76200" cy="76200"/>
            </a:xfrm>
            <a:prstGeom prst="ellipse">
              <a:avLst/>
            </a:prstGeom>
            <a:solidFill>
              <a:srgbClr val="FF0000"/>
            </a:solidFill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>
                <a:buSzPct val="100000"/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8" name="Rectangle 13">
              <a:extLst>
                <a:ext uri="{FF2B5EF4-FFF2-40B4-BE49-F238E27FC236}">
                  <a16:creationId xmlns:a16="http://schemas.microsoft.com/office/drawing/2014/main" id="{E5EE453F-DEEA-4B1B-BA51-524DCA451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607" y="4397621"/>
              <a:ext cx="76200" cy="76200"/>
            </a:xfrm>
            <a:prstGeom prst="rect">
              <a:avLst/>
            </a:prstGeom>
            <a:solidFill>
              <a:srgbClr val="0000FF"/>
            </a:solidFill>
            <a:ln w="9525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>
                <a:buSzPct val="100000"/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9" name="Rectangle 14">
              <a:extLst>
                <a:ext uri="{FF2B5EF4-FFF2-40B4-BE49-F238E27FC236}">
                  <a16:creationId xmlns:a16="http://schemas.microsoft.com/office/drawing/2014/main" id="{088000E6-07BB-44AB-A60D-F0A6382072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207" y="4626221"/>
              <a:ext cx="76200" cy="76200"/>
            </a:xfrm>
            <a:prstGeom prst="rect">
              <a:avLst/>
            </a:prstGeom>
            <a:solidFill>
              <a:srgbClr val="0000FF"/>
            </a:solidFill>
            <a:ln w="9525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>
                <a:buSzPct val="100000"/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0" name="Rectangle 15">
              <a:extLst>
                <a:ext uri="{FF2B5EF4-FFF2-40B4-BE49-F238E27FC236}">
                  <a16:creationId xmlns:a16="http://schemas.microsoft.com/office/drawing/2014/main" id="{C9BC7548-EA19-468B-99AE-D23DF7854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807" y="4854821"/>
              <a:ext cx="76200" cy="76200"/>
            </a:xfrm>
            <a:prstGeom prst="rect">
              <a:avLst/>
            </a:prstGeom>
            <a:solidFill>
              <a:srgbClr val="0000FF"/>
            </a:solidFill>
            <a:ln w="9525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>
                <a:buSzPct val="100000"/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1" name="Rectangle 16">
              <a:extLst>
                <a:ext uri="{FF2B5EF4-FFF2-40B4-BE49-F238E27FC236}">
                  <a16:creationId xmlns:a16="http://schemas.microsoft.com/office/drawing/2014/main" id="{899CEBFE-9D89-41CF-97A8-BB99713AF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207" y="4854821"/>
              <a:ext cx="76200" cy="76200"/>
            </a:xfrm>
            <a:prstGeom prst="rect">
              <a:avLst/>
            </a:prstGeom>
            <a:solidFill>
              <a:srgbClr val="0000FF"/>
            </a:solidFill>
            <a:ln w="9525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>
                <a:buSzPct val="100000"/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2" name="Rectangle 17">
              <a:extLst>
                <a:ext uri="{FF2B5EF4-FFF2-40B4-BE49-F238E27FC236}">
                  <a16:creationId xmlns:a16="http://schemas.microsoft.com/office/drawing/2014/main" id="{DE366797-B2D7-4F6E-AA5B-1645A6822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4207" y="4931021"/>
              <a:ext cx="76200" cy="76200"/>
            </a:xfrm>
            <a:prstGeom prst="rect">
              <a:avLst/>
            </a:prstGeom>
            <a:solidFill>
              <a:srgbClr val="0000FF"/>
            </a:solidFill>
            <a:ln w="9525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>
                <a:buSzPct val="100000"/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3" name="Rectangle 18">
              <a:extLst>
                <a:ext uri="{FF2B5EF4-FFF2-40B4-BE49-F238E27FC236}">
                  <a16:creationId xmlns:a16="http://schemas.microsoft.com/office/drawing/2014/main" id="{A9C9EDE7-4850-47DC-9C1E-F6A84B2C7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9007" y="5159621"/>
              <a:ext cx="76200" cy="76200"/>
            </a:xfrm>
            <a:prstGeom prst="rect">
              <a:avLst/>
            </a:prstGeom>
            <a:solidFill>
              <a:srgbClr val="0000FF"/>
            </a:solidFill>
            <a:ln w="9525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>
                <a:buSzPct val="100000"/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4" name="Rectangle 19">
              <a:extLst>
                <a:ext uri="{FF2B5EF4-FFF2-40B4-BE49-F238E27FC236}">
                  <a16:creationId xmlns:a16="http://schemas.microsoft.com/office/drawing/2014/main" id="{E7C122FC-DB5F-481F-9C67-AB383D0EA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9407" y="5312021"/>
              <a:ext cx="76200" cy="76200"/>
            </a:xfrm>
            <a:prstGeom prst="rect">
              <a:avLst/>
            </a:prstGeom>
            <a:solidFill>
              <a:srgbClr val="0000FF"/>
            </a:solidFill>
            <a:ln w="9525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>
                <a:buSzPct val="100000"/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5" name="Oval 20">
              <a:extLst>
                <a:ext uri="{FF2B5EF4-FFF2-40B4-BE49-F238E27FC236}">
                  <a16:creationId xmlns:a16="http://schemas.microsoft.com/office/drawing/2014/main" id="{8E6580F5-52EE-4123-A4DD-A927929E6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8407" y="4169021"/>
              <a:ext cx="76200" cy="76200"/>
            </a:xfrm>
            <a:prstGeom prst="ellipse">
              <a:avLst/>
            </a:prstGeom>
            <a:solidFill>
              <a:srgbClr val="FF0000"/>
            </a:solidFill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>
                <a:buSzPct val="100000"/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" name="Oval 21">
              <a:extLst>
                <a:ext uri="{FF2B5EF4-FFF2-40B4-BE49-F238E27FC236}">
                  <a16:creationId xmlns:a16="http://schemas.microsoft.com/office/drawing/2014/main" id="{F1927B2A-6190-46D9-ADC1-6925451D9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207" y="4473821"/>
              <a:ext cx="76200" cy="76200"/>
            </a:xfrm>
            <a:prstGeom prst="ellipse">
              <a:avLst/>
            </a:prstGeom>
            <a:solidFill>
              <a:srgbClr val="FF0000"/>
            </a:solidFill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>
                <a:buSzPct val="100000"/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7" name="Oval 22">
              <a:extLst>
                <a:ext uri="{FF2B5EF4-FFF2-40B4-BE49-F238E27FC236}">
                  <a16:creationId xmlns:a16="http://schemas.microsoft.com/office/drawing/2014/main" id="{EB2868D2-7EBF-4B54-A462-72C7AB030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807" y="4626221"/>
              <a:ext cx="76200" cy="76200"/>
            </a:xfrm>
            <a:prstGeom prst="ellipse">
              <a:avLst/>
            </a:prstGeom>
            <a:solidFill>
              <a:srgbClr val="FF0000"/>
            </a:solidFill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>
                <a:buSzPct val="100000"/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8" name="Oval 23">
              <a:extLst>
                <a:ext uri="{FF2B5EF4-FFF2-40B4-BE49-F238E27FC236}">
                  <a16:creationId xmlns:a16="http://schemas.microsoft.com/office/drawing/2014/main" id="{A6682D2A-0057-4864-A8CC-AB2DD5A66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7607" y="4778621"/>
              <a:ext cx="76200" cy="76200"/>
            </a:xfrm>
            <a:prstGeom prst="ellipse">
              <a:avLst/>
            </a:prstGeom>
            <a:solidFill>
              <a:srgbClr val="FF0000"/>
            </a:solidFill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>
                <a:buSzPct val="100000"/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9" name="Oval 24">
              <a:extLst>
                <a:ext uri="{FF2B5EF4-FFF2-40B4-BE49-F238E27FC236}">
                  <a16:creationId xmlns:a16="http://schemas.microsoft.com/office/drawing/2014/main" id="{B14FC8E7-0411-4050-9B2B-16E162E45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07" y="5083421"/>
              <a:ext cx="76200" cy="76200"/>
            </a:xfrm>
            <a:prstGeom prst="ellipse">
              <a:avLst/>
            </a:prstGeom>
            <a:solidFill>
              <a:srgbClr val="FF0000"/>
            </a:solidFill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>
                <a:buSzPct val="100000"/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0" name="Text Box 85">
              <a:extLst>
                <a:ext uri="{FF2B5EF4-FFF2-40B4-BE49-F238E27FC236}">
                  <a16:creationId xmlns:a16="http://schemas.microsoft.com/office/drawing/2014/main" id="{BA6B1EEB-AD51-4942-963E-29B2BD9CB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907" y="5585071"/>
              <a:ext cx="1403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>
                <a:spcBef>
                  <a:spcPct val="20000"/>
                </a:spcBef>
              </a:pPr>
              <a:r>
                <a:rPr kumimoji="1"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思源黑体 CN Normal" panose="020B0400000000000000" pitchFamily="34" charset="-122"/>
                  <a:cs typeface="Times New Roman" panose="02020603050405020304" pitchFamily="18" charset="0"/>
                </a:rPr>
                <a:t>输入空间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0989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E5AC0ABF-C49D-41B3-8209-F5E187BF26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4.</a:t>
            </a:r>
            <a:r>
              <a:rPr lang="zh-CN" altLang="en-US" dirty="0">
                <a:solidFill>
                  <a:schemeClr val="tx1"/>
                </a:solidFill>
              </a:rPr>
              <a:t>线性不可分支持向量机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751ED35-0523-46DF-A577-F03DFDC9E37B}"/>
                  </a:ext>
                </a:extLst>
              </p:cNvPr>
              <p:cNvSpPr txBox="1"/>
              <p:nvPr/>
            </p:nvSpPr>
            <p:spPr>
              <a:xfrm>
                <a:off x="1373945" y="1833489"/>
                <a:ext cx="7770055" cy="29838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/>
                  <a:t>在线性支持向量机学习的对偶问题中，用核函数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 err="1"/>
                  <a:t>替代内积，求解得到的就是非线性支持向量机</a:t>
                </a:r>
                <a:endParaRPr lang="zh-CN" altLang="zh-CN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altLang="zh-CN" sz="2400">
                          <a:latin typeface="Cambria Math" panose="02040503050406030204" pitchFamily="18" charset="0"/>
                        </a:rPr>
                        <m:t>sign</m:t>
                      </m:r>
                      <m:d>
                        <m:d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nary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751ED35-0523-46DF-A577-F03DFDC9E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945" y="1833489"/>
                <a:ext cx="7770055" cy="2983894"/>
              </a:xfrm>
              <a:prstGeom prst="rect">
                <a:avLst/>
              </a:prstGeom>
              <a:blipFill>
                <a:blip r:embed="rId2"/>
                <a:stretch>
                  <a:fillRect l="-1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5419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8BAD684-E75C-47D7-913F-F5653319562A}"/>
                  </a:ext>
                </a:extLst>
              </p:cNvPr>
              <p:cNvSpPr txBox="1"/>
              <p:nvPr/>
            </p:nvSpPr>
            <p:spPr>
              <a:xfrm>
                <a:off x="618979" y="1447985"/>
                <a:ext cx="6096000" cy="38890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常用核函数有</a:t>
                </a:r>
                <a:r>
                  <a:rPr lang="en-US" altLang="zh-CN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endParaRPr lang="zh-CN" altLang="zh-CN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2000" b="1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线性核函数</a:t>
                </a:r>
                <a:endParaRPr lang="zh-CN" altLang="zh-CN" sz="2000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sSubSup>
                        <m:sSubSup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CN" altLang="zh-CN" sz="2000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2000" b="1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多项式核函数</a:t>
                </a:r>
                <a:endParaRPr lang="zh-CN" altLang="zh-CN" sz="2000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)=(</m:t>
                      </m:r>
                      <m:sSubSup>
                        <m:sSubSup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zh-CN" altLang="zh-CN" sz="2000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2000" b="1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高斯核函数</a:t>
                </a:r>
                <a:endParaRPr lang="zh-CN" altLang="zh-CN" sz="2000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𝑒𝑥𝑝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(−</m:t>
                      </m:r>
                      <m:f>
                        <m:f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zh-CN" altLang="zh-CN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||</m:t>
                          </m:r>
                        </m:num>
                        <m:den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zh-CN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000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8BAD684-E75C-47D7-913F-F56533195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79" y="1447985"/>
                <a:ext cx="6096000" cy="3889078"/>
              </a:xfrm>
              <a:prstGeom prst="rect">
                <a:avLst/>
              </a:prstGeom>
              <a:blipFill>
                <a:blip r:embed="rId2"/>
                <a:stretch>
                  <a:fillRect l="-1600" t="-12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2">
            <a:extLst>
              <a:ext uri="{FF2B5EF4-FFF2-40B4-BE49-F238E27FC236}">
                <a16:creationId xmlns:a16="http://schemas.microsoft.com/office/drawing/2014/main" id="{E5AC0ABF-C49D-41B3-8209-F5E187BF26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4.</a:t>
            </a:r>
            <a:r>
              <a:rPr lang="zh-CN" altLang="en-US" dirty="0">
                <a:solidFill>
                  <a:schemeClr val="tx1"/>
                </a:solidFill>
              </a:rPr>
              <a:t>线性不可分支持向量机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22DB75-173B-4D12-8F8D-F1B93FE45CEA}"/>
              </a:ext>
            </a:extLst>
          </p:cNvPr>
          <p:cNvSpPr txBox="1"/>
          <p:nvPr/>
        </p:nvSpPr>
        <p:spPr>
          <a:xfrm>
            <a:off x="609601" y="5713064"/>
            <a:ext cx="102600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altLang="zh-CN" sz="2400" dirty="0" err="1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这三个常用的核函数中,只有高斯核函数是需要调参的</a:t>
            </a:r>
            <a:r>
              <a:rPr lang="en-US" altLang="zh-CN" sz="2400" dirty="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effectLst/>
              <a:latin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1258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5" descr="data:image/png;base64,iVBORw0KGgoAAAANSUhEUgAAAtEAAAHwCAYAAABg0TMJAAAABHNCSVQICAgIfAhkiAAAAAlwSFlz%0AAAALEgAACxIB0t1+/AAAIABJREFUeJzs3Xd4lFX6xvHvIUYIRSKIaEIVMYCgBKKC2FtcXTGi4qJi%0AFysKSiju7s+y7goEKdIULIAiiyJmdUURARXsYNBoIIAKSII0iYBECcn5/XEmGNh0MvNOuT/XxeXk%0AzZRnJkjuOfO8zzHWWkREREREpPJqeV2AiIiIiEioUYgWEREREakihWgRERERkSpSiBYRERERqSKF%0AaBERERGRKlKIFhERERGpIoVoEQlKxphWxhhrjDnM9/XbxpgbA/C4jxhjXvL34/geK8EYs8IYs8sY%0Ac58x5mljzN8D8djBxhizzhhzQTVve6YxJruma6rE40bsz0tEFKJF5BD4gk++MWa3MWazMWaaMaa+%0APx7LWvsna+30StZUrTBWifs+xxhT5Hu+u4wx2caYmw/hLgcDi621Day1T1lr77TW/qPEY22smcor%0Az/cmosD3HPOMMR8bY7oHuo7y+N5cHV/8tbV2ibU2wU+PdasxZpXv573ZGDPPGNPA97j7f14iEnkU%0AokXkUF1mra0PdAGSgL8dfAXjhMu/N7m+53sEMASYaozpcPCVilfQK9AS+LaG66sJs33PsQmwFJhr%0AjDEe1xRwxpizgX8Bfay1DYD2wGxvqxKRYBEuv9RExGPW2hzgbaAjgDHmfWPMP40xHwF7gOOMMQ2N%0AMc8ZYzYZY3KMMY8bY6J8148yxowyxmwzxnwPXFry/n33d1uJr283xqz0rRBmGWO6GGNeBFoAb/pW%0AUgf7rtvNt6KaZ4z5yhhzTon7aW2M+cB3PwuAoyr5fK21Nh3YAXQo0X5yqzFmA7DId/89jTHf+h77%0AfWNMe9/xRcC5wARfrSf4VvIfN8bU872Wcb7v7TbGxB30epxmjPmp+PXzHbvCGPO17/Kpxphlxpid%0AvhXU0ZV5Xgc9xwJgOnAM0NgYU8sY8zdjzHpjzBZjzAxjTEPf4xU//37GmFzfz3hQidqmGWMeL/F1%0AmSvtvto/8b1mm4wxE4wxh/u+96Hval/5XpdrDr4vY0x732ud53vtex5Ux0RjzFu+n/lnxpg2ZbwE%0ApwCfWGszfK/Hz9ba6dbaXQc/J2NM8d+54j9FxpibfN9rZ4xZYIz52bhPL3pX6QchIkFJIVpEaoQx%0ApjlwCZBR4nBfoB/QAFgPTAP2AccDicBFQHEwvh34s+94EnBVOY91NfAIcANuRbgnsN1a2xfYgG91%0A3Fo70hgTD7wFPA40AgYBrxljmvju7mVgOS48/wOoVN+1L1BeAcQCmSW+dTZuxTLZGHMCMAsYgFvV%0AnYcL+Idba88DlgD3+mpdXXwH1tpfgT/hW/X2/ckt+fjW2s+AX4HzShy+1vd8AMYB46y1RwBtgFcq%0A87wOeo61gZuAH62123yXb8KF/+OA+sCEg252LtAW97MdYqrXWlMIDMT9TLoD5wN3A1hrz/Jd52Tf%0A63LAyrAxJhp4E3gXOBroD8w0xpRs9/gL8ChwJLAW+GcZdXyG+zk+aozp4Xs9SmWtLf47Vx+4GvgJ%0AWOh7Q7QA93M52vfYk0wpn16ISGhRiBaRQ5VujMnDfez/Ae7j72LTrLXfWmv34QLsJcAAa+2v1tot%0AwBhcqADoDYy11v5orf0ZeKKcx7wNGGmt/cK3IrzWWru+jOteD8yz1s6z1hZZaxcAy4BLjDEtcKuN%0Af7fW/m6t/RAXwMoT53u+24CHgb7W2pIntT3ie375wDXAW9baBb5V3VFADHB6BY9RWbOAPgDG9ele%0A4jsGUAAcb4w5ylq721r7aRXut7fvOf4IdAWu8B2/Dhhtrf3eWrsbGAb8xRzYuvKo7/lnAi8U11cV%0A1trl1tpPrbX7rLXrgGdwb04qoxsu3A+31u611i4C/ntQHa9baz/3/b2cCXQuo44lQC9cq9JbwHZj%0AzOiSq/8H871xmg70ttb+iHtjuM5a+4Lv+WQAr+GCtoiEsMr07ImIlCfFWvteGd/7scTllkA0sMn8%0A0V5bq8R14g66flmhGKA58F0l62sJXG2MuazEsWhgse8xd/hWfks+bvNy7i/XWtusnO+XfA5xlHge%0A1toiY8yPQHwla6/Iy8DHxpi7cGHvyxJvJm4FHgNWGWN+wIXb/1byfl+x1l5fyvEDno/v8mFA0xLH%0ADv4ZdqrkY+7nC6KjcZ9I1PU9xvJK3jwOt3JedFAdJV/zn0pc3oML3aWy1r4NvG1cT/+5wKtANi7Y%0AH1x3Q+A/wN+stUt9h1sCp/nelBQ7DHixks9HRIKUQrSI+JMtcflH4HfgKN8K4ME2cWB4bVHO/f6I%0Aa1Go6DGLr/uitfb2g69ojGkJHGmMqVciSLco5T6qouRtcykRIo1799AcyKni/ZR+BWuzjDHrca0f%0AJVs5sNauAfr4wl8vYI4xpvFBbxiqKhcXCou1wLXnbAaK31g0B1aV+H5xG8qvuEBc7JhyHmcyri2o%0Aj7V2lzFmAOW095RSY3NjTK0SQboFsLqc21TId18Lfb3sHQ/+vu91fhk3bWVKiW/9CHxgrb3wUB5f%0ARIKP2jlEJCCstZtwfapPGmOO8PUUtzFuAgK4nt37jDHNjDFHAkPLubtngUHGmK7GOd4XiMEFuuNK%0AXPcl4DJjTLJxJy/W8Z2I1sy3arsMeNQYc7gx5gzgMmrOK8Clxpjzfb26D+LeSHxcidtuxp3M17CC%0A670M3A+chVslBcAYc70xpokv/BWvghaVcvuqmAUMNO5kzPq41p3ZB70p+rsxpq4x5kTgZv6YZrEC%0A10LTyBhzDK5PvCwNgJ3AbmNMO+Cug75/8M+4pM9wq8uDjTHRxp1Eehnw70o/Sx9jzOXGmL8YY470%0A/T07FddWUlprzD+BerifRUn/BU4wxvT11RNtjDnF+E4wFZHQpRAtIoF0A3A4kIWbajEHONb3vanA%0AfOAr4Etgbll3Yq19FRdaXgZ2Aem4nmtwvdR/801mGOTrS70ceAjYilsZTOWPf/+uBU4Dfsb1OM+o%0AiSfqqzMb15M9HtdDfRnupMe9lbjtKlxo/d73XOLKuOosXLBb5Dv5r9jFwLfGmN24kwz/4uvTxjc9%0A4sxqPKXncW0IHwI/AL/hTtwr6QPcyXoLgVHW2nd9x1/E/WzX4d5MlTcqbhDu57IL9/fi4Os+Akz3%0AvS4HTLrwvbaX4VbntwGTgBt8r2dV7cCd8LoGF+pfAtKstTNLuW4fXD/2jhITOq7zTfK4CNf7n4tr%0AJRkBlHmSooiEBmPtoXxqKSIi4kbc4YJ1dBntOiIiYUUr0SIiIiIiVaQQLSIiIiJSRWrnEBERERGp%0AIq1Ei4iIiIhUkUK0iIiIiEgVhcRmK0cddZRt1aqV12WIiIiISJhbvnz5Nmttk4quFxIhulWrVixb%0AtszrMkREREQkzPl2gq2Q2jlERERERKpIIVpEREREpIoUokVEREREqigkeqJLU1BQwMaNG/ntt9+8%0ALkWAOnXq0KxZM6Kjo70uRURERMTv/BaijTHNgRlAU8ACU6y144wxjwC3A1t9V33IWjuvqve/ceNG%0AGjRoQKtWrTDG1FTZUg3WWrZv387GjRtp3bq11+WIiIiI+J0/V6L3AQ9aa780xjQAlhtjFvi+N8Za%0AO+pQ7vy3335TgA4SxhgaN27M1q1bK76yiIiISBjwW4i21m4CNvku7zLGrATia/IxFKCDh34WIiIi%0AEkkCcmKhMaYVkAh85jvU3xjztTHmeWPMkWXcpp8xZpkxZlmwrnBGRUXRuXNnOnbsyNVXX82ePXuq%0AfV/vv/8+f/7znwF44403GD58eJnXzcvLY9KkSfu/zs3N5aqrrqr2Y4uIiIhI1fg9RBtj6gOvAQOs%0AtTuBycBxQGfcSvWTpd3OWjvFWptkrU1q0qTCTWM8ERMTw4oVK/jmm284/PDDefrppw/4vrWWoqKi%0AKt9vz549GTp0aJnfPzhEx8XFMWfOnCo/joiIiIhUj19DtDEmGhegZ1pr5wJYazdbawuttUXAVOBU%0Af9YQKGeeeSZr165l3bp1JCQkcMMNN9CxY0d+/PFH3n33Xbp3706XLl24+uqr2b17NwDvvPMO7dq1%0Ao0uXLsydO3f/fU2bNo17770XgM2bN3PFFVdw8sknc/LJJ/Pxxx8zdOhQvvvuOzp37kxqairr1q2j%0AY8eOgOsVv/nmm+nUqROJiYksXrx4/3326tWLiy++mLZt2zJ48OAAv0IiIiIi4cOf0zkM8Byw0lo7%0AusTxY3390gBXAN8c8oMNGAArVhzy3Rygc2cYO7ZSV923bx9vv/02F198MQBr1qxh+vTpdOvWjW3b%0AtvH444/z3nvvUa9ePUaMGMHo0aMZPHgwt99+O4sWLeL444/nmmuuKfW+77vvPs4++2xef/11CgsL%0A2b17N8OHD+ebb75hhe85r1u3bv/1J06ciDGGzMxMVq1axUUXXcTq1asBWLFiBRkZGdSuXZuEhAT6%0A9+9P8+bND+FFEhEREYlM/pzO0QPoC2QaY4oT7kNAH2NMZ9zYu3XAHX6swa/y8/Pp3Lkz4Faib731%0AVnJzc2nZsiXdunUD4NNPPyUrK4sePXoAsHfvXrp3786qVato3bo1bdu2BeD6669nypQp//MYixYt%0AYsaMGYDrwW7YsCE7duwos6alS5fSv39/ANq1a0fLli33h+jzzz+fhg0bAtChQwfWr1+vEC0iIiJS%0ADf6czrEUKG1kQ5VnQleokivGNa24J/pg9erV23/ZWsuFF17IrFmzDrhOabfzt9q1a++/HBUVxb59%0A+wJeg4iIiEg40LbfftatWzc++ugj1q5dC8Cvv/7K6tWradeuHevWreO7774D+J+QXez8889n8uTJ%0AABQWFvLLL7/QoEEDdu3aVer1zzzzTGbOnAnA6tWr2bBhAwkJCTX9tEREREQimkK0nzVp0oRp06bR%0Ap08fTjrppP2tHHXq1GHKlClceumldOnShaOPPrrU248bN47FixfTqVMnunbtSlZWFo0bN6ZHjx50%0A7NiR1NTUA65/9913U1RURKdOnbjmmmuYNm3aASvQIiIiInLojLXW6xoqlJSUZJctW3bAsZUrV9K+%0AfXuPKpLS6GciIiIioc4Ys9xam1TR9bQSLSIiIiJSRf6cziEiIiIiUq70jBzS5meTm5dPXGwMqckJ%0ApCTGe11WhRSiRURERMQT6Rk5DJubSX5BIQA5efkMm5sJEPRBWu0cIiIiIuKJtPnZ+wN0sfyCQtLm%0AZ3tUUeUpRIuIiIiIJ3Lz8qt0PJgoRIuIiIiIJ+JiY6p0PJgoRFfT9u3b6dy5M507d+aYY44hPj5+%0A/9d79+49pPt+/fXXSUtLq5E6r7/+elq3bs3JJ5/MCSecwI033khubm6Ftxs9ejS//fZbjdQgIiIi%0AUprU5ARioqMOOBYTHUVqcvBvFKcTC6upcePG+7fufuSRR6hfvz6DBg064DrWWqy11KpVtfcqV1xx%0ARY3VCTBmzBhSUlIoKipi9OjRnHfeeWRmZhIdHV3mbUaPHs0tt9xCnTp1arQWERERkWLFJw+G4nSO%0AiFmJTs/IocfwRbQe+hY9hi8iPSPHL4+zdu1aOnTowHXXXceJJ57Ipk2b6NevH0lJSZx44ok89thj%0A+6/brFkzHnnkERITEznppJNYvXo1AM8++ywDBgwA3Ery/fffz+mnn85xxx3H66+/DrgtwO+8807a%0AtWvHRRddxMUXX0x6enq5tdWqVYtBgwbRqFEj3n33XYBSaxszZgxbtmzhzDPP5IILLijzeiIiIiKH%0AKiUxno+GnscPwy/lo6HnhUSAhggJ0cXjU3Ly8rH8MT7FX0F61apVDBw4kKysLOLj4xk+fDjLli3j%0Aq6++YsGCBWRlZe2/btOmTcnIyOC2225j9OjRpd7fli1b+Oijj0hPT2fYsGEAvPrqq+Tk5JCVlcW0%0AadP45JNPKl1fly5dWLVqFUCptQ0cOJCjjz6aJUuW8N5775V5PREREZFIFREhOtDjU9q0aUNS0h+7%0ARc6aNYsuXbrQpUsXVq5ceUAA7dWrFwBdu3Zl3bp1pd5fSkoKxhhOOukkcnJc8F+6dCm9e/emVq1a%0AxMXFcfbZZ1e6vpJbvZdXW0mVvZ6IiIhIJIiInuhAj0+pV6/e/str1qxh3LhxfP7558TGxnL99dcf%0AcMJe7dq1AYiKimLfvn2l3l/xdeDAAFxdK1as4NJLL62wtso+BxEREZFIExEr0V6OT9m5cycNGjTg%0AiCOOYNOmTcyfP79G7rdHjx7MmTMHay2bNm3iww8/rPA21lrGjBnD9u3bufDCC8utrUGDBuzatcuv%0Az0FEREQkVEXESnRqcsIBW0pC4MandOnShQ4dOtCuXTtatmxJjx49auR+e/fuzaJFi2jfvj0tW7Yk%0AMTGRhg0blnrdgQMH8vDDD5Ofn0/37t1ZtGgR0dHR5dbWr18/LrjgApo3b86CBQv88hxEREREQpWp%0AifYAf0tKSrLLli074NjKlStp3759pe8jPSMnJMenlGf37t3Ur1+frVu3ctppp/HZZ5/RpEkTz+qp%0A6s9EREREJNgYY5Zba5Mqul5ErESDG58S6qH5YH/605/YuXMnBQUFPProo54GaBEREZFIEjEhOhwt%0AWbLE6xJEREREIlJEnFgoIiIiIlKTQjpEh0I/d6TQz0JEREQiSciG6Dp16rB9+3aFtyBgrWX79u3U%0AqVPH61JEREREAiJke6KbNWvGxo0b2bp1q9elCO5NTbNmzbwuQ0RERCQgQjZER0dH07p1a6/LEBER%0AEZEIFLLtHCIiIiIiXgnZlWgRERGJbOG4kZqEDoVoERERCTnpGTkMm5tJfkEhADl5+QybmwmgIC0B%0AoXYOERERCTlp87P3B+hi+QWFpM3P9qgiiTQK0SIiIhJycvPyq3RcpKYpRIuIiEjIiYuNqdJxkZqm%0AEC0iIiIhJzU5gZjoqAOOxURHkZqc4FFFEml0YqGIiIiEnOKTBzWdQ7yiEC0iIiIhKSUxXqFZPKN2%0ADhERERGRKlKIFhERERGpIoVoEREREZEqUogWEREREakihWgRERERkSrSdA4RERGRAErPyNFovjCg%0AlWgRERGRAEnPyGHY3Exy8vKxQE5ePsPmZpKekeN1ad4pKoL0dPjXv7yupEoUokVEREQCJG1+NvkF%0AhQccyy8oJG1+tkcVeWjvXnjhBTjxRLjiCpg+HX7/3euqKk0hWkRERCRAcvPyq3Q8LO3eDWPGQJs2%0AcMstULs2zJoF337rLocI9USLiIiIBEhcbAw5pQTmuNgYD6oJsG3bYPx4mDABfv4ZzjkHpk6F5GQw%0Axuvqqkwr0SIiIiIBkpqcQEx01AHHYqKjSE1O8KiiAFi/Hu6/H1q0gMcegzPPhE8+gcWL4eKLQzJA%0Ag1aiRURERAKmeApHREzn+OYbGDnStWoAXH89DB4M7dt7W1cNUYgWERERCaCUxPjwDM3FPv4Yhg+H%0AN9+EunXh3nvhgQegeXOvK6tRCtEiIiIicmishXnzYMQIWLIEGjWChx+G/v2hcWOvq/MLhWgRERER%0AqZ59+2D2bBeeMzPdavPYsXDbbVCvntfV+ZVCtIiIiIhUzZ49bsbzqFGwbh106ODmPPfpA9HRXlcX%0AEArRIiIiIh4JuS3Ad+yASZNg3DjYuhW6d3crz5ddBrUia+ibQrSIiIiIB4q3AC/ewbB4C3Ag+IJ0%0Abq7bIOXpp91mKZdcAkOHwhlnhOyIukMVWW8ZRERERIJESGwBnp3t+ptbtYLRo6FnT1ixAt56y817%0AjtAADVqJFhEREfFEUG8BvmyZG1M3d67bivv22+HBB+G447yuLGgoRIuIiIh4IOi2ALcWFi504Xnh%0AQmjYEIYNg/vug6ZNvakpiKmdQ0RERMQDQbMFeGEhzJkDp5wCF14IWVlup8ENG+Cf/1SALoNWokVE%0AREQ84PkW4L//Di++6ALzmjXQti1MnQp9+7oWDimXQrSIiIiIRzzZAnznTpgyxZ0ouGkTdO0Kr74K%0AV1wBUVEV314AhWgRERGRyLB5Mzz1FEycCL/8Ahdc4FaizzsvoqdsVJdCtIiIiEg4++EHt7Pg88+7%0AFo4rr4QhQyApyevKQppCtIiIiEg4+vprGDECZs92bRo33ACpqXDCCV5XFhYUokVERETChbWwZIkb%0AU/f221C/PjzwAAwYAHFxXlcXVhSiRUREREJdURG8+aYLz59+Ck2auPF0d90FRx7pdXVhSSFaRERE%0AJFTt3QuzZrkxdVlZbnvuiRPh5pshxqNNWyKE3zZbMcY0N8YsNsZkGWO+Ncbc7zveyBizwBizxvdf%0AvT0SERERqYpff4Vx4+D44+Gmm1zP88yZbt7z3XcrQAeAP3cs3Ac8aK3tAHQD7jHGdACGAguttW2B%0Ahb6vRURERKQi27fDo49Cixauz7l1a5g3D776Cq69Fg5Tk0Gg+O2VttZuAjb5Lu8yxqwE4oHLgXN8%0AV5sOvA8M8VcdIiIiIiHvxx/d5ihTpsCePdCzpxtTd/rpXlcWsQLydsUY0wpIBD4DmvoCNsBPQKkb%0Ashtj+gH9AFq0aOH/IkVERESCTVaW63eeOdN93aePC88nnuhtXeLXdg4AjDH1gdeAAdbanSW/Z621%0AgC3tdtbaKdbaJGttUpMmTfxdpoiIiEjw+PRTSElxYfnVV12f89q1MGOGAnSQ8OtKtDEmGhegZ1pr%0A5/oObzbGHGut3WSMORbY4s8aREREREKCtfDOO26DlA8+cKPpHn4Y7r0XjjrK6+rkIP6czmGA54CV%0A1trRJb71BnCj7/KNwH/8VYOIiIhI0Nu3z42pS0yESy6B775z/c8bNsAjjyhAByl/rkT3APoCmcaY%0AFb5jDwHDgVeMMbcC64HefqxBREREJDjl58O0aZCWBj/8AO3awQsvuCkbhx/udXVSAX9O51gKmDK+%0Afb6/HldEREQkqOXlweTJMHYsbNkCp53mVp579oRafj9dTWqIhgmKiIiIBMKmTS44T54Mu3ZBcjIM%0AHQpnnw2mrHVHCVYK0SIiIiL+tHata9mYNs31P/fuDYMHux5oCVkK0SIiIiL+sHy5m7Tx2msQHQ23%0A3AKDBkGbNl5XJjVAIVpERESkplgLixfD8OGwYAEccYRbdb7/fjjmGK+rkxqkEC0iIiJyqIqKID3d%0AhecvvnCBecQIuOMOaNjQ6+rEDxSiRURERKrr99/dltwjR0J2tmvVeOYZuOEGqFPH6+rEjxSiRURE%0ARKpq1y6YMsWNpsvNhS5d4JVXoFcviIryujoJAIVoERERkcrauhWeegomTHDzns87z03duOACjamL%0AMArRIiIiIhVZtw5GjYLnn4fffnMrzkOGwCmneF2ZeEQhWkRERKQsmZnuBMF//9vtJnjDDZCaCgkJ%0AXlcmHlOIFhERETnY0qVu0sZbb0G9ejBgAAwcCPHxXlcmQUIhWkRERATcmLp581x4/ugjaNwYHnsM%0A7rkHGjXyujoJMgrRIiIiEtkKCly7xogR8O230LIljB/vdhisW9fr6iRIKUSLiIhIZNqzB557zp0w%0AuGEDdOwIL74I11zjtukWKYdCtIiIiESWn392I+rGj4dt26BHD5g4ES69VGPqpNIUokVERCQybNzo%0ANkeZMgV+/RX+/Gc3pu6MM7yuTEKQQrSIiIiEt1Wr3LbcL73kTh689loYPNi1b4hUk0K0iIiIhKfP%0AP3eTNtLToU4duPNOeOABaNXK68okDChEi4iISPiwFhYscOF58WI48kj429+gf39o0sTr6iSMKESL%0AiIhI6Nu3D157zY2py8hwm6KMHg233w7163tdnYQhhWgREREJXb/9BtOnQ1oafPed2477+efhuuvg%0A8MO9rk7CmEK0iIiIhJ5ffoHJk2HsWNi8GU45xQXpyy+HWrW8ri6kpGfkkDY/m9y8fOJiY0hNTiAl%0AUdubV0QhWkRERELHTz+54Dx5MuzcCRddBEOHwjnnaMZzNaRn5DBsbib5BYUA5OTlM2xuJoCCdAX0%0AVk1ERESC39q1brpGq1ZuxTk5GZYvh/nz4dxzFaCrKW1+9v4AXSy/oJC0+dkeVRQ6tBItIiIiwevL%0AL93JgnPmwGGHwU03waBB0Lat15WFhdy8/Codlz8oRIuIiEhwsRbef9+NqXv3XWjQAFJT4f774dhj%0Ava4urMTFxpBTSmCOi43xoJrQonaOEJWekUOP4YtoPfQtegxfRHpGjtcliYiIHJqiInj9dejWDc47%0AD1asgH/9CzZscIFaAbrGpSYnEBMddcCxmOgoUpMTPKoodGglOgTpJAAREQkre/fCzJmubSM7G447%0Azp04eOONEKMVUX8qzg2azlF1CtEhqLyTAPSXXkREQsauXTB1qtsUJScHOneGWbPgqqtc/7MEREpi%0AvPJDNehvaAjSSQAiIhLStm6F8eNhwgTYscONp3vuOTeuTlM2JEQoRIcgnQQgIiIhaf16ePJJePZZ%0AyM+HlBQYMsT1QIuEGJ1YGIJ0EoCIiISUb76BG26ANm1cr/M110BW1h8nEYqEIK1EhyCdBCAiIiHh%0Ao4/cyYJvvgn16sF998HAgdC8udeViRwyhegQpZMAREQkKFkL8+a58LxkCTRuDI8+Cvfc4y6LhAmF%0AaBERETl0+/bB7NkuPGdmutXmsWPhttvcKrQfpGfk6FNZ8YxCtIiIiFTfnj3wwgswahSsWwcdOsCM%0AGfCXv0B0tN8eVnsmiNd0YqGIiIhU3Y4d8Pjj0KoV3Huv203wjTfcKnTfvn4N0FD+ngkigaCVaBER%0AEam8nBwYMwaeeQZ274ZLLnFj6s48M6AznrVngnhNIVpEREQqlp0NaWmuVaOoyLVrDB4MJ53kSTna%0AM0G8pnYOERERKdsXX7htuNu3h5kzoV8/WLMGXnrJswAN2jNBvKeVaBERETmQtbBwITzxBCxaBLGx%0A8NBDbs7z0Ud7XR2gPRPEewrRIiIi4hQWwty5MHw4fPklxMW5qRv9+kGDBl5X9z+0Z4J4SSFaREQk%0A0v3+u+t1HjkS1q6FE06AZ5+F66+H2rW9rk4kKClEi4iIRKqdO+Hpp920jZ9+gqQkmDMHUlIgKqri%0A24tEMIWHObCMAAAgAElEQVRoERGRSLN5M4wbB5MmwS+/wIUXuhMFzzsvoGPqREKZQrSIiEik+P57%0A1+P8/POwdy9ceSUMHQpdu3pdmUjIUYgWEREJdytWwIgR8MorcNhhcOONMGiQ630WkWpRiBYREQlH%0A1sKHH7pJG++8A/Xrw4MPwoABbuqGiBwShWgREZFwUlQEb77pwvOnn0KTJvDPf8Jdd8GRR3pdnUjY%0AUIgWEREJB3v3wssvuzF1K1dC69buxMGbboIYbYUtUtMUokVERELZ7t1upvOTT8LGjW4r7pdfhquv%0Adv3PIuIX+r9LREQkFG3bBhMmwPjx8PPPcOaZMGUKXHyxxtSJBIBCtIiISCjZsAFGj4apU2HPHujZ%0AE4YMgdNP97oykYiiEC0iIhIKsrJcv/PMme7r666DwYOhQwdv6xKJUArRIiIiweyTT9ykjTfegLp1%0A4e673ai6Fi28rkwkoilEi4iIBBtr3Wzn4cPdrOdGjeDhh6F/f2jc2OvqRASFaBERkeCxbx+8+qoL%0Az19/Dc2awdixcNttUK+e19WJSAkK0SIiUqb0jBzS5meTm5dPXGwMqckJpCTGe11W+MnPh2nTIC0N%0AfvgB2rd3X/fpA4cf7nV1IlIKhWgRESlVekYOw+Zmkl9QCEBOXj7D5mYCKEjXlLw8tyHKuHGwZQt0%0A6wZjxsBll0GtWl5XJyLl0P+hIiJSqrT52fsDdLH8gkLS5md7VFEYyc11kzVatIC//hW6doX334eP%0AP4bLL1eAFgkBWokWEZFS5eblV+m4VMKaNa5lY/p01/98zTUuTHfu7HVlIlJFCtEiIlKquNgYckoJ%0AzHGxMR5UE+KWL4cRI2DOHNfjfOutMGgQHHec15WJSDXp8yIRESlVanICMdFRBxyLiY4iNTnBo4pC%0AjLWwcCFceCEkJcH8+W5nwfXrXR+0ArRISPNbiDbGPG+M2WKM+abEsUeMMTnGmBW+P5f46/FFROTQ%0ApCTG80SvTsTHxmCA+NgYnujVSScVVqSwEF57DU49FS64AL75xq1Cb9gATzwBTZt6XaGI1AB/tnNM%0AAyYAMw46PsZaO8qPjysiIjUkJTFeobmyfv8dXnzRbc29Zg0cfzxMmQJ9+0KdOl5XJyI1zG8h2lr7%0AoTGmlb/uX0REJCjs3AnPPONG023aBF26wOzZcOWVEBVV8e1FJCR5cWJhf2PMDcAy4EFr7Q4PahAR%0AETk0W7a4+c4TJ8Ivv8D558OMGe6/xnhdnYj4WaBPLJwMHAd0BjYBT5Z1RWNMP2PMMmPMsq1btwaq%0APhERkfL98APccw+0bOl6nC+4AD7/HN57z11WgBaJCAEN0dbazdbaQmttETAVOLWc606x1iZZa5Oa%0ANGkSuCJFRERK8/XXcN110LYtTJ3qLq9c6cbWnXKK19WJSIAFtJ3DGHOstXaT78srgG/Ku76ISCRK%0Az8ghbX42uXn5xMXGkJqcoJP7vGItLF0Kw4fDvHlQvz4MGAADB0K8fiYikcxvIdoYMws4BzjKGLMR%0AeBg4xxjTGbDAOuAOfz2+iEgoSs/IYdjczP3bbefk5TNsbiaAgnQgFRXBW2+58Pzxx3DUUfD443D3%0A3XDkkV5XJyJBwJ/TOfqUcvg5fz2eiEg4SJufvT9AF8svKCRtfrZCdCAUFMCsWW6uc1aW63ueMAFu%0Avhnq1vW6OhEJItr2W0QkiOSWss12ecelhvz6Kzz3HDz5pNsUpWNHeOkl6N0boqO9rk5EgpBCtIhI%0AEImLjSGnlMAcFxvjQTURYPt2N6Luqafc5R493Jbcl1yiKRsiUq5Aj7gTEZFypCYnEBN94AYdMdFR%0ApCYneFRRmPrxR3jgAdeu8fDD0L07LFniTiK89FIFaBGpkFaiRUSCSHHfs6Zz+MnKlW5b7pdecpM3%0Arr0WBg927RsiIlWgEC0iEmRSEuMVmmvaZ5+5SRvp6RATA3fd5VaiW7XyujIRCVEK0SIiEp6shfnz%0AXXj+4AM3mu7vf4f+/UGbeInIIVKIFhGR8LJvn9tFcPhw+OortynK6NFw++1usxQRkRqgEC0iIuEh%0APx+mT4e0NPj+e2jXDl54wfU9H36419WJSJhRiBYRkdCWlweTJ8PYsbBlC5x6KowaBZdfDrU0hEpE%0A/EMhWkREQtOmTS44T54Mu3ZBcjIMHQpnn60RdSLidwrRIiISWtaudS0b06a5/uerr4YhQyAx0evK%0ARCSCKESLiEho+PJLGDHCnTQYHQ233AKDBkGbNl5XJiIRSCFaxCc9I0cbXIgEG2vh/ffdpI1334Uj%0AjnCbo9x/PxxzjNfViUgEU4gWwQXoYXMzyS8oBCAnL59hczMBFKRFvFBU5DZGGTECPv8cmjZ1QfrO%0AO6FhQ6+rExFRiBYBt8VycYAull9QSNr8bIVoOWT6lKMK9u51W3KPHAnZ2XDccfD003DjjVCnjtfV%0AiYjspxAtAuTm5VfpuEhl6VOOStq1C6ZOdZui5ORA587w73/DlVfCYfpVJSLBRwM0RYC42JgqHRep%0ArPI+5RBg61a3FXeLFvDgg9C2LbzzjjuJ8JprFKBFJGgpRIsAqckJxERHHXAsJjqK1OQEjyqScKFP%0AOcqwbh307w8tW8I//wnnnguffgqLF7t5z5rzLCJBTm/xRfjjY3X1rUpNi4uNIaeUwByxn3JkZrp+%0A51mz3G6C118PqanQvr3XlYmIVIlCtIhPSmK8QrPUuNTkhAN6oiFCP+VYutRN13jrLahXz42oGzgQ%0AmjXzujIRkWpRiBYR8aOI/pSjqAjmzXPh+aOPoHFjeOwxuOceaNTI6+pERA6JQrSIiJ9F3KccBQUw%0Ae7ab8fzNN+6kwXHj4NZb3Sq0iEgYUIgWEZGasWcPPP88jBoF69fDiSfCjBnwl7+4bbpFRMKIQrSI%0AiByan3+GiRPhqadg2zY4/XSYMAEuucSdPCgiEoYUokVEpHo2boQxY+CZZ+DXX11oHjYMzjjD68pE%0ARPxOIVpERKpm1SpIS4MXX3QnD/bpA4MHQ6dOXlcmIhIwCtEiIlI5n3/uThZ8/XWoXRvuuMPtMtiq%0AldeViYgEnEK0iIiUzVp47z03pm7RIoiNhb/+1e02ePTRXlcnIuIZhWgREflfhYXw2msuPGdkQFyc%0Am7rRrx80aOB1dSIinlOIFhGRP/z2mxtLl5YGa9fCCSfAs8+67blr1/a6OhGRoKEQLSIisHMnPP20%0Am7bx00+QlARz5kBKCkRFeV2diEjQUYgWEYlkmze73QQnTYJffoELL4SZM+Hcc8EYr6sTEQlaCtEi%0AIpHo++9dj/Pzz7ttuq+8EoYMga5dva5MRCQkKESLiESSFSvcmLpXXoHDDoObboJBg6BtW68rExEJ%0AKQrRIgGWnpFD2vxscvPyiYuNITU5gZTEeK/LknBmLXz4oZu08c47brrGoEEwYAAce6zX1YmIhCSF%0AaJEASs/IYdjcTPILCgHIyctn2NxMAAVpqXlFRfDGG27l+dNP3Vznf/0L7rrLzXsOInpzKSKhRiFa%0A5CD+/GWeNj97f4Aull9QSNr8bAUGqTl798LLL7vwvGoVtG4NEyfCzTdDTIzX1f0PvbkUkVBUy+sC%0ARIJJ8S/znLx8LH/8Mk/PyKmR+8/Ny6/ScZEq2b0bxo6FNm1cYD78cBemV6+Gu+8OygAN5b+5FBEJ%0AVlqJlmoJ9Y9ey6rf3yvFcbEx5JQSmONigzPcSIjYtg0mTIDx4+Hnn+Hss2HKFLj44pAYU6c3lyIS%0AihSipcpC/aPX8ur39y/z1OSEAx4bICY6itTkhBq5f4kwGzbA6NEwdSrs2QOXX+7G1HXv7nVlVaI3%0AlyISitTOIVUW6h+9lld/Wb+0a+qXeUpiPE/06kR8bAwGiI+N4YlenULizYcEkawsN5quTRvX69y7%0AN3z7LaSnh1yABvfmMib6wF0R9eZSRIKdVqKlykL9o9fy6h9zTWe/rxSnJMYrNEv1fPKJG1P3xhtQ%0Aty7cey888AA0b+51ZYek+P+HUG4RE5HIoxAtVRbqH72WV79+mUvQsRbeftuF5yVLoHFjeOQRF6Ab%0AN/a6uhqjN5ciEmoUoqXKQr2vt6L69ctcgsK+fW5XweHDITPTrTaPGwe33gr16nldnYhIxFOIlioL%0A9dXaUK9fwtyePfDCCzBqFKxbBx06wPTp0KcPREd7XZ2IiPgYa63XNVQoKSnJLlu2zOsyRET8Z8cO%0AmDTJrTZv3QrdusHQoXDZZVBL54CLiASKMWa5tTapoutV6l9mY0yPyhwTEZEqys2F1FRo0QL+9jdI%0ASoIPPoCPP3Yj6xSgRUSCUmX/dR5fyWMiIlIZ2dlw221uS+7Ro6FnT1ixAubNg7POColNUkREIlm5%0APdHGmO7A6UATY8wDJb51BBBV+q1ERKRMX3wBI0bA3LlQu7YL0g8+CMcd53VlIiJSBRWdWHg4UN93%0AvQYlju8ErvJXUSIiYcVaWLjQTdpYuBAaNoRhw+C++6BpU6+rExGRaig3RFtrPwA+MMZMs9auD1BN%0AIiLhobAQXn/dhefly+GYY2DkSLjjDjjiCK+rExGRQ1BRO8dYa+0AYIIx5n/GeFhre/qtMhGRUPX7%0A7/Diiy4wr1kDbdvC1KnQt69r4RARkZBXUTvHDN9/R/m7EBGRkLdzJ0yZ4k4U3LQJunaFV1+FK66A%0AKJ1GIiISTioK0WnA+cAl1tohAahHRCT0bNni5jtPmgR5eXDeeTBjBpx/vqZsiIiEqYpC9LHGmNOB%0AnsaYfwMH/Daw1n7pt8pERILdDz+4nQWff961cPTqBUOGwCmneF2ZiIj4WUUh+v+AvwPNgNEHfc8C%0A5/mjKBGRoPb1125M3ezZbjOUG2+EQYMgIcHrykREJEAqms4xB5hjjPm7tfYfAapJRCT4WAtLl7pJ%0AG/PmQf36MGAADBwI8fFeVyciIgFW0Uo0ANbafxhjegJn+Q69b639r//KEhEJEkVF8N//uvD8ySfQ%0ApAk8/jjcfTcceaTX1YmIiEcqFaKNMU8ApwIzfYfuN8acbq19yG+ViYh4qaAAZs1ybRtZWdCqFUyY%0AALfcAjExXlcnIiIeq1SIBi4FOltriwCMMdOBDEAhWkTCy6+/wrPPwpNPwo8/wkknwcsvw9VXw2GV%0A/SdTRETCXVV+I8QCP/suN/RDLSIi3tm+3a00jx/vLp91FjzzDFx8scbUiYjI/6hsiH4CyDDGLMaN%0AuTsLGOq3qkREAuXHH93mKFOmwJ490LOnG1N3+uleVyYiIkGswhBtjDHAUqAbUDz8dIi19id/FiYi%0A4ldZWW5b7pm+Uz2uvRYGD4YTT/S2LhERCQkVhmhrrTXGzLPWdgLeCEBNIiL+8+mnbtLGf/4Ddeu6%0AKRsPPAAtW/rtIdMzckibn01uXj5xsTGkJieQkqixeCIioaxWJa/3pTGmSltwGWOeN8ZsMcZ8U+JY%0AI2PMAmPMGt9/NR9KRPzPWnjnHTjnHOjeHT78EB5+GNavd9t1+zlAD5ubSU5ePhbIyctn2NxM0jNy%0A/PaYIiLif5UN0acBnxpjvjPGfG2MyTTGfF3BbaYBFx90bCiw0FrbFliI+qpFxJ/27XNj6hIT4U9/%0Agu++c/3PGzbAI4/AUUf5vYS0+dnkFxQecCy/oJC0+dl+f2wREfGfyp5YmFzVO7bWfmiMaXXQ4cuB%0Ac3yXpwPvA0Oqet8iIuXKz4dp0yAtDX74Adq1gxdecH3Phx8e0FJy8/KrdFxEREJDuSHaGFMHuBM4%0AHsgEnrPW7juEx2tqrd3ku/wT0PQQ7ktE5EB5eTB5MowdC1u2wKmnupXnnj2hVmU/eKtZcbEx5JQS%0AmONitWGLiEgoq+i3ynQgCReg/wQ8WVMPbK21gC3r+8aYfsaYZcaYZVu3bq2phxWRcLRpkxtL16IF%0APPSQa99YvNidRJiS4lmABkhNTiAmOuqAYzHRUaQmJ3hUkYiI1ISK2jk6+KZyYIx5Dvj8EB9vszHm%0AWGvtJmPMscCWsq5orZ0CTAFISkoqM2yLSARbswZGjXKtG/v2Qe/ebkxdYqLXle1XPIVD0zlERMJL%0ARSG6oPiCtXafOfRdu94AbgSG+/77n0O9QxGJQMuXw4gRMGeO63G++WZITYU2bbyurFQpifEKzSIi%0AYaaiEH2yMWan77IBYnxfG1xHxhFl3dAYMwt3EuFRxpiNwMO48PyKMeZWYD3Q+xDrF5FIYa1r0Rg+%0AHBYsgCOOcC0c998PxxzjdXUiIhJhyg3R1tqo8r5fwW37lPGt86t7nyISgYqKID3dhecvvnCBefhw%0AuPNOaNjQ6+pERCRCVXbEnYhIYP3+u9uSe+RIyM52rRrPPAM33AB16nhdnYiIRDiFaBEJLrt2wdSp%0AbjRdTo47SXD2bLjySoiq9odjIiIiNUohWkSCw9at8NRTMGGCm/d87rnw/PNw4YVw6Cc1i4iI1CiF%0AaBHx1rp18OST8Nxz8NtvcMUV7oTBU0/1ujIREZEyKUSLiDcyM12/86xZbjOUvn3dmLp27byuTERE%0ApEIK0QGSnpGjzRZEAJYuddM13noL6tWDAQPcn2bNvK5MRESk0hSiAyA9I4dhczPJLygEICcvn2Fz%0AMwEUpCUyFBXBvHkuPH/0ERx1FDz2GNxzDzRq5HV1IUdvykVEvFfL6wIiQdr87P0Bulh+QSFp87M9%0AqkgkQAoK4MUX4aST4LLLYONGGD8e1q+Hv/9dAboait+U5+TlY/njTXl6Ro7XpYmIRBSF6ADIzcuv%0A0nGRkLdnjwvLxx/v5jobAy+9BGvWwL33Qt26XlcYsvSmXEQkOKidIwDiYmPIKSUwx8XGeFCNiB/9%0A/DNMnOhG1W3bBmec4b6+9FKNqashelMuIhIctBIdAKnJCcREH7hJREx0FKnJCR5VJFLDNm6EBx+E%0AFi3g//4PunWDJUvcnz//WQG6BpX15ltvykVEAkshOgBSEuN5olcn4mNjMEB8bAxP9OqkE4Ek9K1a%0ABbfcAscdB+PGuRnPX38Nb77pVqGlxulNuYhIcFA7R4CkJMYrNEv4+PxzN2kjPR1q14Y77nAr0a1a%0AeV1Z2Cv+d0TTOUREvKUQLSKVYy0sWODC8+LFEBsLf/0r9O8PRx/tdXURRW/KRUS8pxAtIuUrLIQ5%0Ac2DECMjIgLg4t0337bdDgwZeVyciIuIJhWgRKd1vv8H06ZCWBt99ByecAM89B9dd51o4REREIphC%0AtIgc6Jdf4OmnYcwY2LwZTjkFRo6Eyy+HqKiKby8iIhIBFKJFxPnpJzdhY9Ik2LkTLroIhgyBc8/V%0AiDoREZGDKESLRLq1a2HUKJg2zW3TfdVVLjx36eJ1ZSIiIkFLIVokUmVkuJMFX30VDjsMbroJBg2C%0Atm29rkxERCToKUSLRBJr4YMP3Ji6+fPddI3UVLj/fjj2WK+rExERCRkK0SKRoKgI3njDhefPPoOm%0ATeGJJ+DOO9285zCQnpGjDUhERCRgFKJFwtnevfDyy65tY9Uqtz335Mlw440QE+N1dTUmPSOHYXMz%0AyS8oBCAnL59hczMBFKRFRMQvanldgIj4we7dbkRdmzZw881Qpw7MmgXZ2W71OYwCNLgtsIsDdLH8%0AgkLS5md7VJGIiIQ7rUSLhJOtW2H8eJgwAXbsgHPOgWefdePqDhpTF07tD7l5+VU6LiIicqgUokXC%0Awfr1bivuZ5+F/HxISXFj6rp1K/Xq4db+EBcbQ04pgTkuNrxW3EVEJHionUMklH3zDfTt69o2Jk+G%0Aa66BrCx4/fUyAzSEX/tDanICMdEH7qYYEx1FanKCRxWJiEi400q0SCj66CM3aeO//4V69eC++2Dg%0AQGjevFI3D7f2h+LV83BpTxERkeCnEC0SKqyFefNceF66lN9jj+TFC25kYodk6h7dlNRttUipXIYO%0Ay/aHlMR4hWYREQkYhWiRYLdvH8ye7cbUZWZC8+Z8nfooN5mT+NlEA7Cjij3NqckJB/REg9ofRERE%0AqkI90SLBas8emDjRbcN9/fVQWAjTp8N333FXozP2B+hiVelpTkmM54lenYiPjcEA8bExPNGrk1Zy%0ARUREKkkr0SLBZscOmDQJxo1zI+u6d4ennoJLL4Va7n1vTfQ0q/1BRESk+hSiJWIF3ZzknBy3Qcoz%0Az7jNUi65xI2pO/PM/5nxHI49zSIiIqFEITpIBV3ACzNBNSc5OxvS0mDGDNey8Ze/wODBcPLJZd5E%0APc0iIiLeUk90ECoOeDl5+Vj+CHjpGTlelxY2gmJO8hdfwFVXQfv2MHMm3H47rFnjLpcToEE9zSIi%0AIl7TSnQQKi/gKSTVDM/mJFsLCxe6MXULF0LDhjBsmJvz3LRple4qFHqa9YmKiIiEK4XoIBRuG2EE%0Ao4D3FBcWwty5bkzd8uVw7LGuhaNfPzjiCP88pseCqmVGRESkhqmdIwiVFeR00ljNCdg20b//DlOn%0AQrt20Ls37Nzpvv7hBxg0KGwDNARJy4yIiIifKEQHodTkBKKjDpzGEB1ldNJYDfJ7T/HOnW6luXVr%0At9rcsCG8+iqsXAm33Qa1a9fM4wQxfaIiIiLhTO0cwcpW8HUY8apv1i89xZs3u5nOEyfCL7/ABRfA%0Aiy+SfmQCae+uJvev7wRdb7C/Xn+N4RMRkXCmEB2E0uZnU1B0YGouKLJheWJhVfpmg/okte+/h1Gj%0A4IUXXAvHlVfC0KHQtWtQ9QYf/Bqe264Jry3P8UttGsMnIiLhTO0cQSiSPgavbN9s0I79++oruPZa%0AtzX3c89B376wapVr3ejaFQie3uDSXsOZn27wW20awyciIuFMK9FByJ8fgwfbam5l3zBUd+yfX56v%0AtfDhh25M3TvvQP368OCDMGAAxMVV+FwqOu4vpb2GZXUJ1VRtoTCGT0REpDq0Eh2E/DU5IhhXcys7%0AiaQ6QbTGn29REfznP3D66XDOOW5U3eOPw4YNMHJkqQG6tOdS0XF/qUowVt+yiIhI+RSig5C/PgYP%0AlraCkir7hqE6QbTGnu/evTB9OnTsCCkp7uTBSZNg/Xr461/hyCPLvXnAxulVoKzXyhz0tfqWRURE%0AKqZ2jiDlj4/Bg6WtoKTi51hRy0V1TlI75Oe7ezc8+yw8+SRs3AgnnQQvvwxXXw2HVf5/nco+R38r%0A6zW8sms8i1dtDZoWHxERkVCgEB1BgnXkWGXeMFQniFb7+W7bBhMmwPjx8PPPcNZZ8Mwz8Kc/gTl4%0A3bZygqE3OFjCvIiISDhQiI4goT5yrKpBtMrPd8MGGD3a7Si4Zw/07AlDhrge6DARDGFeREQkHChE%0AR5BIW4ms9PPNynInBs6c6b6+7joYPBg6dAhwxSIiIhIqjLXBvxVeUlKSXbZsmddlSLj59FM3pu4/%0A/4G6deH22+GBB6BFC68rExEREY8YY5Zba5Mqup5WoiNYsM2MDghr3WznESPggw+gUSN4+GG49144%0A6iivqxMREZEQoRAdoYJpK+qA2LfP7SI4YoTbZbBZMxgzBm67zW2WIiIiIlIFmhMdoYJxZrRf5OfD%0A5Mlwwglue+69e+GFF+C779wOgwrQIiIiUg1aiY5QwTgzukbl5bnwPHYsbNkCp53mVp4vuwxq6b2j%0AiIiIHBqliQgVLFtR17jcXDdZo0ULeOghSEyE99+HTz4hvUUSPUa+T+uhb9Fj+CJPtzsXERGR0KaV%0A6EoIxxPwQn1m9P9YswbS0tz23Pv2Qe/ebsZz585ABPaAi4iIiF9pJboCxeErJy8fyx/hK9RXMVMS%0A43miVyfiY2MwQHxsDE/06hR6gXL5cheYExJgxgy49VZYvRpmzdofoCGCesBFREQkILQSXYHywlfI%0ABc6DhOzuddbCokVu0saCBdCwIQwdCvffD02blnqTsO8BFxERkYBSiK5AKIevsGtDKSyE9HS3Qcqy%0AZXDMMW6nwTvugCOOKPemcbEx5JTyMwv5HnARERHxhEJ0BUI1fAWqBzggQf333+Gll1xgXr0ajj8e%0ApkyBvn2hTp1K3UWo9ICH3RufANJrJyIigaQQXYFQCV8Hq6gHuCbCht+D+q5d8MwzbjRdbi506QKz%0AZ8OVV0JUVJXuqrieYA5ZOvmx+vTaiYhIoBlrrdc1VCgpKckuW7bMs8cPxRWuVkPfKvN7MdFR//Om%0AoDonFfYYvqjUVfr42Bg+Gnpele7rAFu2wFNPwcSJbt7z+ee7nufzzwdjqn+/Qc5vr2cE0GsnIiI1%0AxRiz3FqbVNH1tBJdCaF4Ap4x7vy70tTUiZI13i/+ww/w5JPw3HOuhaNXLzem7pRTqnd/fuSPN1ah%0A3H/vNb12IiISaArRlRRKq9HpGTllBuiyVCds1Fi/+Ndfu0kbs2e73QRvuAFSU93YuiDkr9aBUO2/%0ADwZ67UREJNA8mRNtjFlnjMk0xqwwxnjXp1FJoTYrurzZx1FltENUJ2ykJicQE31gb3Kl+8WthSVL%0A4NJL4eST4Y03YMAAtxr97LNBG6DBfzOnD+n1jHB67UREJNC83GzlXGtt58r0nHgt1DbqKG9Vuc9p%0AzWssbFRrw5aiInjzTTjjDDjrLPj8c/jHP2D9etKvG0iPF7ODfltuf7UOhM0GOB7QayciIoGmdo5K%0ACLV+y7I+2j6ybjSPp3QiqWWjGmtNqXS/eEGB20VwxAjIyoKWLd3Jg7feCnXrhtR0BX+2DoRi/32w%0A0GsnIiKB5FWItsB7xphC4Blr7RSP6qiUUOu3LGss38OXnQj4P2yU7B8/ri6M2b2ck2Y/Bxs2QMeO%0AbuZz794QHb3/NqG0M2Sojj0UERGRmuNViD7DWptjjDkaWGCMWWWt/bDkFYwx/YB+AC1atPCixv1C%0ALTR5ORO5eEW59s4d9P/yLW5a/iaN8neyrfOpHDVpElxySalj6kJptT8UZk6LiIiIf3k+J9oY8wiw%0A21o7qqzreD0nGkJrOoeXUobN5s/vzaLPV/OpV/Ab77U5hae7XcWmjknlzuvVnF8REREJBkE7J9oY%0AUw+oZa3d5bt8EfBYoOuoKvVbVmDVKhg5klemv0gtW8R/OpzNM6ddyeomrQAwFawoh9pqv4iIiEQ2%0AL7VrTW0AABfASURBVNo5mvL/7d17lJ11fe/x9zfJFAYKDChVMoLAkaYuBJNDFkQRC9KaoCIRu1ot%0Ay4K6jncUXYTLwXVE6pJoLBYVpeANjigUCFO0lKAFqqYnaG4kQQkQG5DhYsRcQKZmkvzOH3tP2DPZ%0At2ff9573a61Zs+fZz977yW/vPPnkN9/n+4PbIvcr/WnAd1NKd7bhONqqZ2a277svd7Hg0BDsvTf/%0AcsLpXPnqt/D4AS8Zt1ul+vGsJRI9M36SJKkrtTxEp5R+Bby61a/bSbqpE0VRKcFdd8HChXDvvXDg%0AgfDJT8K559L3+HaeWbwWaphRrna2v+vHT5Ikdb129ometLqt7/RuO3bkVhU87jiYNw8efji3TPej%0Aj8Jll8HBB7ekX2/Xjp8kSeoZ9olug27qRAHAf/83XHcdLFoEGzbAn/4pfOMbcNZZsNdee+xezYxy%0APeUYXTd+kiSp5xii26Br+k5v3QpXXw1f/CI8/TQcf3wuSJ9xBkyp7ZcYQ6uG+fT3H2Dz86O7txWW%0AY0DluuiuGT9JktSzDNEtMHHW9ZQ/O5hbVwx3bieKp56Cf/xH+NrXYNs2mDsXLrwQTj65aI/nak2s%0AZS40MrqTS29/gD/s2FWx1rlZnTy8WFGSJFXLmugmGwuOw1tGSOSC4a0rhnn7cYNNrRuuySOPwPvf%0AD4cfnptxnjcPVq6EO++EU06pK0BD8VrmQltGRquqdW5G3XWx9+nixWsZWjVc83NKkqTe5Ux0k5W6%0ACO6eBzd1ziIiK1fm2tTdcktuKe5zzoHzz4dXvKKhL1NrzXKxx5Wqu651Nrmblh2XJEntZ4huso69%0ACC4luOeeXHi+6y7Yf3+44AL42MfgpS9t6EuNBdtya2P2901l774p42qlx1Rb61xP67uOfZ8kSVJH%0AspyjyUoFwLZdBLdrFyxeDCecAKeeCvffD5dfDo89lvvehAA9ViZRykB/H5efeQyfOv1o+vumjrsv%0AS61zPa3v2vE+Da0a5sSFd3PERf/KiQvvtnREkqQu4kx0k3XMctbbt8N3vgOf/zysXw9HHpnrvHH2%0A2bD33mUfWs8Fd+XqoAfzzzW23xNbRjigv4+9+6aw5fnRlra+a/X75IIxkiR1N0N0FeoJkVmXs264%0AZ5+Fa6+FK66A4WGYORNuvBHe/naYVvntrzfslQqwASy96A17PP+WkVH6+6byxb+ZmXmM6ml91+r3%0AyRpsSZK6myG6gkbMGFa7nHVDbdoEX/4yfOUrsHlzrj3d17+ea1eXoctGvWGvUrBtZJisdza5le+T%0ANdiSJHU3a6Ir6Lolph99FD76UXj5y+Hv/z4Xnpcty11EOG9e5jZ19Ya9BXNnlK1zbmSYbMWS443S%0AcbXykiQpE2eiK+iaGcN163KdNr73vVxQfte7YMECeOUrgdpLUupdHbBSmUSjVx9sy6x/DTqmVl6S%0AJNXEEF1Bxy8xvXQpLFwIP/gB7Ltvbhb64x+HQw/dvUs9JSmNCHvlgu1kDZNtr5WXJEl1MURXUEvI%0Aa/ry0SnBHXfkwvNPfwovehFcdhl8+MNw0EF77F5P3XGzw95kDpPdMmsuSZL2ZIiuIGvIq2bWt+aQ%0AvWMH3HRTLjyvWweHHQZf+hK85z25WegS6i1JaXbYM0xKkqRuY4iuQpaQV2nWt6bSiuefh299C77w%0ABdi4EY4+Gq6/Ht7xjtwy3RW0oySl6bPxkiRJbWR3jgarNOtbKmSfd9PqPVet27wZPvMZOPxw+MhH%0AYPp0uP12WLMmd+FgFQEaKnfIaLTCVQoTL/xHwRX5JElSr3AmusEqzfqWK6EYC5t7/+ZJ5v3wRvin%0Af4LnnoPTToOLL4aTTqrpmFxIRJIkqbEM0Q1W6ULEUiEb4MhnHud9P1vMqZ+9GyLlyjUuuACOPbbs%0Aa1ZTOuFCIpIkSY1jiG6wcrO+Q6uG+f0fduzxmGOffIgPLLuFeQ/9P7ZP6+OGmfOYftklvPHNcyq+%0AXiNWVGy0jm8LKEmSVCdDdBMUm/WdGHZJiddtXM0H77uZEx9dw9a99uWq1/w13z7udJ7Zd4DBtc/z%0AxjdXfq1OLJ2YrL2fJUnS5GGIbpGxsDtl105OW/+ffPC+W3jV0xt46o8P4jOnvIfvvXoev99rn937%0AV1v60ImlE5O597MkSZocDNEt8tvfbuWd6+7mfT+7lSM2P8mGgwa5YN5HGTr6FLZP27PLRrWlD51a%0AOmHvZ0mS1MsM0VWoq+fx1q1w9dUsvebzvPjZ33H/S4/i/fP/Nz886gR2TZnKgfv0MXV0V82lD5ZO%0ASJIktZ4huoKaL9x76im48kr46ldh2zZ2zXk95/yP07h38FUQAeTC7qdOPxqovfTB0glJkqTWi5RS%0Au4+hotmzZ6fly5e35bVPXHh30XKJwYF+ll70hj0fsGFDbmXBb30Ltm+Hv/oruPBCOO44V/GTJEnq%0AcBGxIqU0u9J+zkRXUPWFe6tXw+c+B//8zzBtGpx9NixYAEcdtXsX64QlSZJ6gyG6grIX7qUEP/4x%0ALFwId94J++0H558P550HhxzShqOVJElSKxiiKyh24d4+04Ir/ui/4LWXwLJl8Cd/Ap/9LHzwgzAw%0AUPNrNaLcw5IRSZKk5jNEV1B44d6mZ7Zx9sb/5KPLb2O/jY/AEUfAVVfBu98N/fW1lGvEyoOduHqh%0AJElSL5rS7gPoBvOPOoCle6/hoRvP5ZJbFrHf/vvAd78LDz0EH/pQ3QEayq882MrnkCRJUmXORFfj%0A2mvhE5+AP/9zuOYamDdvd5u6RmnEyoOduHqhJElSLzJEV+O974U5c+A1r2naSzRi5cFOXb1QkiSp%0A11jOUY39929qgIbcBYz9fVPHbcu68mAjnkOSJEmVOROdQTM7XzRi5UFXL5QkSWoNVyys0sTOF5Cb%0A5b38zGOYP2vQ1nKSJEk9wBULG6xS5wtby0mSJE0ehugqlet8US5gVwrRE2ewT/mzg7nnwU08sWWE%0AgX36SAm2jow6uy1JktRBDNFVKtf5oth2oOT2McUWR/nOssd237/5+dFxz+XstiRJUmewO0eVynW+%0AmFqiZ3Sp7WOKzWCX48IpkiRJncEQXaX5swa5/MxjGBzoJ4DBgf7dFxXuLHFxZqntY2pZBMWFUyRJ%0AktrPco4M5s8aLFpKMViipGOwwiIn5UpByj1GkiRJ7eVMdAPUushJsceV48IpkiRJncGZ6AaodZGT%0AYo9rVHcO+1ZLkiQ1j4ut9KBKC8NIkiSpOBdb6UHVzi7X07dakiRJlRmiu0SxntKl+kaXWxhGkiRJ%0A9fPCwi5RadnxQqU6eNjZQ5IkqTEM0V0iy+xyrd1CJEmSVB3LOVpgaNUwn/7+A7uX8R7o7+PStx6d%0AqT653LLjE9XaLaRWdgKRJEmTjSG6yYZWDbPglvsZ3flCF5QtI6MsuPl+YM965lIWzJ3BgpvvZ3TX%0AC8/TNyVKzi6XWhim0bLUakuSJPUKyzmabNGS9eMC9JjRXaloPXNZUeHnNshSqy1JktQrDNFNVq4j%0ARpZuGcXC+OjOGoJ4g9kJRJIkTUaG6CYr1xFjSgRHXPSvnLjwboZWDZd9nk4Nq3YCkSRJk5EhuskW%0AzJ1B39TidRc7UyLxQh1xuSBdS1gdWjXMiQvvrjqo18JOIJIkaTIyRDfRWNeK0Z2JKQU5ulikrlRH%0AnDWsjl3wN7xlpOqgXov5swa5/MxjGBzoJ4DBgX6XF5ckST3P7hwZVdvO7ZNDa7lh2WOMVTHvSrnQ%0Ae/mZx/Dxm1YXfe5ypRlZ29a1cunvVnUCkSRJ6hSG6Ayqbec2tGp4XIAeMxZiS/V8TsCJC+8uGY6z%0AhNVOraGWJEnqBZZzZFBtO7dFS9bvEaDHPLFlpGhpxphGlV14wZ8kSVLzGKIzqHZ2t9xs7/SB/nF1%0AxMU0os9ypRrqVlx0KEmS1KsM0RlUO7tbar+A3SF2/qxBll70hpLrpdRbdlHugr9WXXQoSZLUqwzR%0AGZQqw3h++45xAbTYfgGcNeewPWqam1l2MRbU/2vhm1l60RvGXZzoKoOSJEm1M0RnMDa7O9DfN277%0A5udHx83kFpsFPmvOYdzz4KY9yifa0Wd5sl50aAmLJElqlLaE6IiYFxHrI+KRiLioHcdQq/mzBtl3%0Arz2bmkycyS2cBV4wdwa3rhguWj7Rjj7Lk/GiQ0tYJElSI7W8xV1ETAWuAv4SeBz4eUTcnlL6RauP%0ApVZZZ3Ir9WxudZ/lBXNnjGvVB72/ymAr+2ZLkqTe146Z6OOBR1JKv0opbQduBM5ow3HULOtMbqeV%0AT0zGVQY77T2QJEndrR2LrQwCvy74+XHghDYcR82yzuSWWlylneUTk22VwU58DyRJUvfq2AsLI+J9%0AEbE8IpZv2rSp3YczTtaZ3HZcPKjxfA8kSVIjtWMmehg4tODnl+W3jZNSuga4BmD27NmlFgBsmywz%0AuYWt5Z7YMsL0gf6SS3urOXwPJElSI0VKrc2nETENeAg4lVx4/jnwtymlB0o9Zvbs2Wn58uUtOkJJ%0AkiRNVhGxIqU0u9J+LZ+JTintiIiPAEuAqcA3ywVoSZIkqdO0o5yDlNIdwB3teG1JkiSpXh17YaEk%0ASZLUqQzRkiRJUkaGaEmSJCmjttRE94KhVcO2S5MkSZqkDNE1GFo1PG7FwuEtI1y8eC2AQVqSJGkS%0AsJyjBouWrB+35DfAyOhOFi1Z36YjkiRJUisZomvwxJaRTNslSZLUWwzRNZg+0J9puyRJknqLIboG%0AC+bOoL9v6rht/X1TWTB3RpuOSJIkSa3khYU1GLt40O4ckiRJk1OklNp9DBXNnj07LV++vN2HUZSt%0A7iRJknpHRKxIKc2utJ8z0XWw1Z0kSdLkZE10HWx1J0mSNDk5E12HTm91Z6mJJElSczgTXYdObnU3%0AVmoyvGWExAulJkOrhtt9aJIkSV3PEF2HTm51Z6mJJElS81jOUYdObnXX6aUmkiRJ3cwQXaf5swY7%0AIjRPNH2gn+EigbkTSk0kSZK6neUcPaqTS00kSZK6nTPRPaqTS00kSZK6nSG6h3VqqYkkSVK3s5xD%0AkiRJysgQLUmSJGVkiJYkSZIyMkRLkiRJGRmiJUmSpIwM0ZIkSVJGhmhJkiQpI0O0JEmSlJEhWpIk%0AScrIEC1JkiRl5LLfFQytGmbRkvU8sWWE6QP9LJg7w6W0JUmSJjlDdBlDq4a5ePFaRkZ3AjC8ZYSL%0AF68FMEhLkiRNYpZzlLFoyfrdAXrMyOhOFi1Z36YjkiRJUicwRJfxxJaRTNslSZI0ORiiy5g+0J9p%0AuyRJkiYHQ3QZC+bOoL9v6rht/X1TWTB3RpuOSJIkSZ3ACwvLGLt40O4ckiRJKmSIrmD+rEFDsyRJ%0AksaxnEOSJEnKyBAtSZIkZWSIliRJkjIyREuSJEkZGaIlSZKkjAzRkiRJUkaGaEmSJCkjQ7QkSZKU%0AkSFakiRJysgQLUmSJGVkiJYkSZIyMkRLkiRJGRmiJUmSpIwM0ZIkSVJGhmhJkiQpI0O0JEmSlJEh%0AWpIkScooUkrtPoaKImIT8GgbD+HFwG/b+Pq9zvFtLse3uRzf5nFsm8vxbS7Ht7maOb4vTykdXGmn%0ArgjR7RYRy1NKs9t9HL3K8W0ux7e5HN/mcWyby/FtLse3uTphfC3nkCRJkjIyREuSJEkZGaKrc027%0AD6DHOb7N5fg2l+PbPI5tczm+zeX4Nlfbx9eaaEmSJCkjZ6IlSZKkjAzRBSJiY0SsjYjVEbG8yP0R%0AEV+KiEciYk1E/M92HGc3iogZ+XEd+9oWEedN2OfkiNhasM//adfxdoOI+GZE/CYi1hVsOygifhgR%0AD+e/H1jisfMiYn3+s3xR6466e5QY30UR8WD+7/9tETFQ4rFlzyWTXYmxvTQihgv+/r+pxGP97FZQ%0AYnxvKhjbjRGxusRj/eyWERGHRsQ9EfGLiHggIj6W3+65twHKjG9Hnnst5ygQERuB2Smlon0H8yf1%0Ac4E3AScAV6aUTmjdEfaGiJgKDAMnpJQeLdh+MnB+Sukt7Tq2bhIRrweeA65PKb0qv+3zwO9SSgvz%0AJ+gDU0oXTnjcVOAh4C+Bx4GfA+9MKf2ipX+ADldifN8I3J1S2hERnwOYOL75/TZS5lwy2ZUY20uB%0A51JKXyjzOD+7VSg2vhPu/wdga0rpsiL3bcTPbkkRcQhwSEppZUTsB6wA5gPn4Lm3bmXG92V04LnX%0AmehsziB3UkoppWXAQP4NVzanAhsKA7SySyn9GPjdhM1nANflb19H7uQz0fHAIymlX6WUtgM35h+n%0AAsXGN6V0V0ppR/7HZeRO7MqoxGe3Gn52q1BufCMigL8GvtfSg+oRKaUnU0or87efBX4JDOK5tyFK%0AjW+nnnsN0eMl4EcRsSIi3lfk/kHg1wU/P57fpmzeQekT+Gvzv675t4g4upUH1SNeklJ6Mn/7KeAl%0ARfbxc9wY7wH+rcR9lc4lKu7c/N//b5b4dbif3fqdBDydUnq4xP1+dqsUEYcDs4D78NzbcBPGt1DH%0AnHsN0eO9LqU0EzgN+HD+V2JqoIj4I+CtwM1F7l4JHJZSOhb4MjDUymPrNSlXq2W9VhNExCXADuCG%0AErt4Lsnua8CRwEzgSeAf2ns4PeudlJ+F9rNbhYj4Y+BW4LyU0rbC+zz31q/U+HbaudcQXSClNJz/%0A/hvgNnK/eik0DBxa8PPL8ttUvdOAlSmlpyfekVLallJ6Ln/7DqAvIl7c6gPsck+PlRjlv/+myD5+%0AjusQEecAbwHOSiUuKqniXKIJUkpPp5R2ppR2AddSfMz87NYhIqYBZwI3ldrHz25lEdFHLuDdkFJa%0AnN/subdBSoxvR557DdF5EbFvvoidiNgXeCOwbsJutwN/FzlzyF2Y8STKouQsSES8NF+vR0QcT+7z%0A+UwLj60X3A6cnb99NvAvRfb5OXBURByR/83AO/KPUwURMQ+4AHhrSun5EvtUcy7RBBOuL3kbxcfM%0Az259/gJ4MKX0eLE7/exWlv836hvAL1NKVxTc5bm3AUqNb8eee1NKfuX+Q3MkcH/+6wHgkvz2DwAf%0AyN8O4CpgA7CW3BWgbT/2bvkC9iUXig8o2FY4vh/Jj/395C4ceG27j7mTv8j9Z+RJYJRcbd17gRcB%0A/w48DPwIOCi/73TgjoLHvoncVeIbxj7rflU1vo+Qq2lcnf+6euL4ljqX+FVxbP9v/ry6hlywOGTi%0A2OZ/9rNbw/jmt3977HxbsK+f3Wxj+zpypRprCs4Db/Lc2/Tx7chzry3uJEmSpIws55AkSZIyMkRL%0AkiRJGRmiJUmSpIwM0ZIkSVJGhmhJkiQpI0O0JLVYROyMiNURsS4ibo6IfRr8/OdExFcq7HNyRLy2%0A4OcPRMTfNfI4JKmXGaIlqfVGUkozU0qvAraT65feaicDu0N0SunqlNL1bTgOSepKhmhJaq+fAK8A%0AiIhP5Gen10XEeflth0fEgxFxQ0T8MiJuGZu5joiNEfHi/O3ZEXHvxCePiNMj4r6IWBURP4qIl0TE%0A4eSC+8fzM+InRcSlEXF+/jEzI2JZRKyJiNsi4sD89nsj4nMR8bOIeCgiTmr+8EhSZzJES1KbRMQ0%0A4DRgbUQcB7wbOAGYA/yviJiV33UG8NWU0iuBbcCHMrzMT4E5KaVZwI3ABSmljcDVwBfzM+I/mfCY%0A64ELU0rHkltF8FMF901LKR0PnDdhuyRNKoZoSWq9/ohYDSwHHgO+QW6529tSSr9PKT0HLAbGZnp/%0AnVJamr/9nfy+1XoZsCQi1gILgKPL7RwRBwADKaX/yG+6Dnh9wS6L899XAIdnOA5J6inT2n0AkjQJ%0AjaSUZhZuiIhy+6cSP+/ghcmQvUs89svAFSml2yPiZODSTEe6pz/kv+/Ef0MkTWLOREtSZ/gJMD8i%0A9omIfYG35bcBHBYRr8nf/ltyJRoAG4Hj8rffXuJ5DwCG87fPLtj+LLDfxJ1TSluBzQX1zu8C/mPi%0AfpI02RmiJakDpJRWAt8GfgbcB3w9pbQqf/d64MMR8UvgQOBr+e2fBq6MiOXkZoaLuRS4OSJWAL8t%0A2P594G1jFxZOeMzZwKKIWAPMBC6r588mSb0oUpr4W0JJUqfId9L4Qb4dniSpQzgTLUmSJGXkTLQk%0ASZKUkTPRkiRJUkaGaEmSJCkjQ7QkSZKUkSFakiRJysgQLUmSJGVkiJYkSZIy+v9JU5gv3mOwXwAA%0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661651" y="497512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615570" y="1619498"/>
                <a:ext cx="3670387" cy="4458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b="1" dirty="0"/>
                  <a:t>SVM</a:t>
                </a:r>
                <a:r>
                  <a:rPr lang="zh-CN" altLang="en-US" b="1" dirty="0"/>
                  <a:t>的超参数</a:t>
                </a:r>
                <a:endParaRPr lang="en-US" altLang="zh-CN" b="1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CN" altLang="en-US" dirty="0"/>
                  <a:t>越大，支持向量越少，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CN" altLang="en-US" dirty="0"/>
                  <a:t>值越小，支持向量越多。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其中 </a:t>
                </a:r>
                <a:r>
                  <a:rPr lang="en-US" altLang="zh-CN" dirty="0"/>
                  <a:t>C</a:t>
                </a:r>
                <a:r>
                  <a:rPr lang="zh-CN" altLang="en-US" dirty="0"/>
                  <a:t>是惩罚系数，即对误差的宽容度。</a:t>
                </a:r>
                <a:r>
                  <a:rPr lang="en-US" altLang="zh-CN" dirty="0"/>
                  <a:t> C</a:t>
                </a:r>
                <a:r>
                  <a:rPr lang="zh-CN" altLang="en-US" dirty="0"/>
                  <a:t>越高，说明越不能容忍出现误差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容易过拟合。</a:t>
                </a:r>
                <a:r>
                  <a:rPr lang="en-US" altLang="zh-CN" dirty="0"/>
                  <a:t>C</a:t>
                </a:r>
                <a:r>
                  <a:rPr lang="zh-CN" altLang="en-US" dirty="0"/>
                  <a:t>越小，容易欠拟合。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570" y="1619498"/>
                <a:ext cx="3670387" cy="4458400"/>
              </a:xfrm>
              <a:prstGeom prst="rect">
                <a:avLst/>
              </a:prstGeom>
              <a:blipFill>
                <a:blip r:embed="rId3"/>
                <a:stretch>
                  <a:fillRect l="-2658" r="-1163" b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2">
            <a:extLst>
              <a:ext uri="{FF2B5EF4-FFF2-40B4-BE49-F238E27FC236}">
                <a16:creationId xmlns:a16="http://schemas.microsoft.com/office/drawing/2014/main" id="{2E8DAF99-F39C-43DA-B624-9F90BE6C5A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4.</a:t>
            </a:r>
            <a:r>
              <a:rPr lang="zh-CN" altLang="en-US" dirty="0">
                <a:solidFill>
                  <a:schemeClr val="tx1"/>
                </a:solidFill>
              </a:rPr>
              <a:t>线性不可分支持向量机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D426020-27F6-49AA-ABBD-C76BEC3DF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1422" y="1882878"/>
            <a:ext cx="7685265" cy="445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4989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5" descr="data:image/png;base64,iVBORw0KGgoAAAANSUhEUgAAAtEAAAHwCAYAAABg0TMJAAAABHNCSVQICAgIfAhkiAAAAAlwSFlz%0AAAALEgAACxIB0t1+/AAAIABJREFUeJzs3Xd4lFX6xvHvIUYIRSKIaEIVMYCgBKKC2FtcXTGi4qJi%0AFysKSiju7s+y7goEKdIULIAiiyJmdUURARXsYNBoIIAKSII0iYBECcn5/XEmGNh0MvNOuT/XxeXk%0AzZRnJkjuOfO8zzHWWkREREREpPJqeV2AiIiIiEioUYgWEREREakihWgRERERkSpSiBYRERERqSKF%0AaBERERGRKlKIFhERERGpIoVoEQlKxphWxhhrjDnM9/XbxpgbA/C4jxhjXvL34/geK8EYs8IYs8sY%0Ac58x5mljzN8D8djBxhizzhhzQTVve6YxJruma6rE40bsz0tEFKJF5BD4gk++MWa3MWazMWaaMaa+%0APx7LWvsna+30StZUrTBWifs+xxhT5Hu+u4wx2caYmw/hLgcDi621Day1T1lr77TW/qPEY22smcor%0Az/cmosD3HPOMMR8bY7oHuo7y+N5cHV/8tbV2ibU2wU+PdasxZpXv573ZGDPPGNPA97j7f14iEnkU%0AokXkUF1mra0PdAGSgL8dfAXjhMu/N7m+53sEMASYaozpcPCVilfQK9AS+LaG66sJs33PsQmwFJhr%0AjDEe1xRwxpizgX8Bfay1DYD2wGxvqxKRYBEuv9RExGPW2hzgbaAjgDHmfWPMP40xHwF7gOOMMQ2N%0AMc8ZYzYZY3KMMY8bY6J8148yxowyxmwzxnwPXFry/n33d1uJr283xqz0rRBmGWO6GGNeBFoAb/pW%0AUgf7rtvNt6KaZ4z5yhhzTon7aW2M+cB3PwuAoyr5fK21Nh3YAXQo0X5yqzFmA7DId/89jTHf+h77%0AfWNMe9/xRcC5wARfrSf4VvIfN8bU872Wcb7v7TbGxB30epxmjPmp+PXzHbvCGPO17/Kpxphlxpid%0AvhXU0ZV5Xgc9xwJgOnAM0NgYU8sY8zdjzHpjzBZjzAxjTEPf4xU//37GmFzfz3hQidqmGWMeL/F1%0AmSvtvto/8b1mm4wxE4wxh/u+96Hval/5XpdrDr4vY0x732ud53vtex5Ux0RjzFu+n/lnxpg2ZbwE%0ApwCfWGszfK/Hz9ba6dbaXQc/J2NM8d+54j9FxpibfN9rZ4xZYIz52bhPL3pX6QchIkFJIVpEaoQx%0ApjlwCZBR4nBfoB/QAFgPTAP2AccDicBFQHEwvh34s+94EnBVOY91NfAIcANuRbgnsN1a2xfYgG91%0A3Fo70hgTD7wFPA40AgYBrxljmvju7mVgOS48/wOoVN+1L1BeAcQCmSW+dTZuxTLZGHMCMAsYgFvV%0AnYcL+Idba88DlgD3+mpdXXwH1tpfgT/hW/X2/ckt+fjW2s+AX4HzShy+1vd8AMYB46y1RwBtgFcq%0A87wOeo61gZuAH62123yXb8KF/+OA+sCEg252LtAW97MdYqrXWlMIDMT9TLoD5wN3A1hrz/Jd52Tf%0A63LAyrAxJhp4E3gXOBroD8w0xpRs9/gL8ChwJLAW+GcZdXyG+zk+aozp4Xs9SmWtLf47Vx+4GvgJ%0AWOh7Q7QA93M52vfYk0wpn16ISGhRiBaRQ5VujMnDfez/Ae7j72LTrLXfWmv34QLsJcAAa+2v1tot%0AwBhcqADoDYy11v5orf0ZeKKcx7wNGGmt/cK3IrzWWru+jOteD8yz1s6z1hZZaxcAy4BLjDEtcKuN%0Af7fW/m6t/RAXwMoT53u+24CHgb7W2pIntT3ie375wDXAW9baBb5V3VFADHB6BY9RWbOAPgDG9ele%0A4jsGUAAcb4w5ylq721r7aRXut7fvOf4IdAWu8B2/Dhhtrf3eWrsbGAb8xRzYuvKo7/lnAi8U11cV%0A1trl1tpPrbX7rLXrgGdwb04qoxsu3A+31u611i4C/ntQHa9baz/3/b2cCXQuo44lQC9cq9JbwHZj%0AzOiSq/8H871xmg70ttb+iHtjuM5a+4Lv+WQAr+GCtoiEsMr07ImIlCfFWvteGd/7scTllkA0sMn8%0A0V5bq8R14g66flmhGKA58F0l62sJXG2MuazEsWhgse8xd/hWfks+bvNy7i/XWtusnO+XfA5xlHge%0A1toiY8yPQHwla6/Iy8DHxpi7cGHvyxJvJm4FHgNWGWN+wIXb/1byfl+x1l5fyvEDno/v8mFA0xLH%0ADv4ZdqrkY+7nC6KjcZ9I1PU9xvJK3jwOt3JedFAdJV/zn0pc3oML3aWy1r4NvG1cT/+5wKtANi7Y%0AH1x3Q+A/wN+stUt9h1sCp/nelBQ7DHixks9HRIKUQrSI+JMtcflH4HfgKN8K4ME2cWB4bVHO/f6I%0Aa1Go6DGLr/uitfb2g69ojGkJHGmMqVciSLco5T6qouRtcykRIo1799AcyKni/ZR+BWuzjDHrca0f%0AJVs5sNauAfr4wl8vYI4xpvFBbxiqKhcXCou1wLXnbAaK31g0B1aV+H5xG8qvuEBc7JhyHmcyri2o%0Aj7V2lzFmAOW095RSY3NjTK0SQboFsLqc21TId18Lfb3sHQ/+vu91fhk3bWVKiW/9CHxgrb3wUB5f%0ARIKP2jlEJCCstZtwfapPGmOO8PUUtzFuAgK4nt37jDHNjDFHAkPLubtngUHGmK7GOd4XiMEFuuNK%0AXPcl4DJjTLJxJy/W8Z2I1sy3arsMeNQYc7gx5gzgMmrOK8Clxpjzfb26D+LeSHxcidtuxp3M17CC%0A670M3A+chVslBcAYc70xpokv/BWvghaVcvuqmAUMNO5kzPq41p3ZB70p+rsxpq4x5kTgZv6YZrEC%0A10LTyBhzDK5PvCwNgJ3AbmNMO+Cug75/8M+4pM9wq8uDjTHRxp1Eehnw70o/Sx9jzOXGmL8YY470%0A/T07FddWUlprzD+BerifRUn/BU4wxvT11RNtjDnF+E4wFZHQpRAtIoF0A3A4kIWbajEHONb3vanA%0AfOAr4Etgbll3Yq19FRdaXgZ2Aem4nmtwvdR/801mGOTrS70ceAjYilsZTOWPf/+uBU4Dfsb1OM+o%0AiSfqqzMb15M9HtdDfRnupMe9lbjtKlxo/d73XOLKuOosXLBb5Dv5r9jFwLfGmN24kwz/4uvTxjc9%0A4sxqPKXncW0IHwI/AL/hTtwr6QPcyXoLgVHW2nd9x1/E/WzX4d5MlTcqbhDu57IL9/fi4Os+Akz3%0AvS4HTLrwvbaX4VbntwGTgBt8r2dV7cCd8LoGF+pfAtKstTNLuW4fXD/2jhITOq7zTfK4CNf7n4tr%0AJRkBlHmSooiEBmPtoXxqKSIi4kbc4YJ1dBntOiIiYUUr0SIiIiIiVaQQLSIiIiJSRWrnEBERERGp%0AIq1Ei4iIiIhUkUK0iIiIiEgVhcRmK0cddZRt1aqV12WIiIiISJhbvnz5Nmttk4quFxIhulWrVixb%0AtszrMkREREQkzPl2gq2Q2jlERERERKpIIVpEREREpIoUokVEREREqigkeqJLU1BQwMaNG/ntt9+8%0ALkWAOnXq0KxZM6Kjo70uRURERMTv/BaijTHNgRlAU8ACU6y144wxjwC3A1t9V33IWjuvqve/ceNG%0AGjRoQKtWrTDG1FTZUg3WWrZv387GjRtp3bq11+WIiIiI+J0/V6L3AQ9aa780xjQAlhtjFvi+N8Za%0AO+pQ7vy3335TgA4SxhgaN27M1q1bK76yiIiISBjwW4i21m4CNvku7zLGrATia/IxFKCDh34WIiIi%0AEkkCcmKhMaYVkAh85jvU3xjztTHmeWPMkWXcpp8xZpkxZlmwrnBGRUXRuXNnOnbsyNVXX82ePXuq%0AfV/vv/8+f/7znwF44403GD58eJnXzcvLY9KkSfu/zs3N5aqrrqr2Y4uIiIhI1fg9RBtj6gOvAQOs%0AtTuBycBxQGfcSvWTpd3OWjvFWptkrU1q0qTCTWM8ERMTw4oVK/jmm284/PDDefrppw/4vrWWoqKi%0AKt9vz549GTp0aJnfPzhEx8XFMWfOnCo/joiIiIhUj19DtDEmGhegZ1pr5wJYazdbawuttUXAVOBU%0Af9YQKGeeeSZr165l3bp1JCQkcMMNN9CxY0d+/PFH3n33Xbp3706XLl24+uqr2b17NwDvvPMO7dq1%0Ao0uXLsydO3f/fU2bNo17770XgM2bN3PFFVdw8sknc/LJJ/Pxxx8zdOhQvvvuOzp37kxqairr1q2j%0AY8eOgOsVv/nmm+nUqROJiYksXrx4/3326tWLiy++mLZt2zJ48OAAv0IiIiIi4cOf0zkM8Byw0lo7%0AusTxY3390gBXAN8c8oMNGAArVhzy3Rygc2cYO7ZSV923bx9vv/02F198MQBr1qxh+vTpdOvWjW3b%0AtvH444/z3nvvUa9ePUaMGMHo0aMZPHgwt99+O4sWLeL444/nmmuuKfW+77vvPs4++2xef/11CgsL%0A2b17N8OHD+ebb75hhe85r1u3bv/1J06ciDGGzMxMVq1axUUXXcTq1asBWLFiBRkZGdSuXZuEhAT6%0A9+9P8+bND+FFEhEREYlM/pzO0QPoC2QaY4oT7kNAH2NMZ9zYu3XAHX6swa/y8/Pp3Lkz4Faib731%0AVnJzc2nZsiXdunUD4NNPPyUrK4sePXoAsHfvXrp3786qVato3bo1bdu2BeD6669nypQp//MYixYt%0AYsaMGYDrwW7YsCE7duwos6alS5fSv39/ANq1a0fLli33h+jzzz+fhg0bAtChQwfWr1+vEC0iIiJS%0ADf6czrEUKG1kQ5VnQleokivGNa24J/pg9erV23/ZWsuFF17IrFmzDrhOabfzt9q1a++/HBUVxb59%0A+wJeg4iIiEg40LbfftatWzc++ugj1q5dC8Cvv/7K6tWradeuHevWreO7774D+J+QXez8889n8uTJ%0AABQWFvLLL7/QoEEDdu3aVer1zzzzTGbOnAnA6tWr2bBhAwkJCTX9tEREREQimkK0nzVp0oRp06bR%0Ap08fTjrppP2tHHXq1GHKlClceumldOnShaOPPrrU248bN47FixfTqVMnunbtSlZWFo0bN6ZHjx50%0A7NiR1NTUA65/9913U1RURKdOnbjmmmuYNm3aASvQIiIiInLojLXW6xoqlJSUZJctW3bAsZUrV9K+%0AfXuPKpLS6GciIiIioc4Ys9xam1TR9bQSLSIiIiJSRf6cziEiIiIiUq70jBzS5meTm5dPXGwMqckJ%0ApCTGe11WhRSiRURERMQT6Rk5DJubSX5BIQA5efkMm5sJEPRBWu0cIiIiIuKJtPnZ+wN0sfyCQtLm%0AZ3tUUeUpRIuIiIiIJ3Lz8qt0PJgoRIuIiIiIJ+JiY6p0PJgoRFfT9u3b6dy5M507d+aYY44hPj5+%0A/9d79+49pPt+/fXXSUtLq5E6r7/+elq3bs3JJ5/MCSecwI033khubm6Ftxs9ejS//fZbjdQgIiIi%0AUprU5ARioqMOOBYTHUVqcvBvFKcTC6upcePG+7fufuSRR6hfvz6DBg064DrWWqy11KpVtfcqV1xx%0ARY3VCTBmzBhSUlIoKipi9OjRnHfeeWRmZhIdHV3mbUaPHs0tt9xCnTp1arQWERERkWLFJw+G4nSO%0AiFmJTs/IocfwRbQe+hY9hi8iPSPHL4+zdu1aOnTowHXXXceJJ57Ipk2b6NevH0lJSZx44ok89thj%0A+6/brFkzHnnkERITEznppJNYvXo1AM8++ywDBgwA3Ery/fffz+mnn85xxx3H66+/DrgtwO+8807a%0AtWvHRRddxMUXX0x6enq5tdWqVYtBgwbRqFEj3n33XYBSaxszZgxbtmzhzDPP5IILLijzeiIiIiKH%0AKiUxno+GnscPwy/lo6HnhUSAhggJ0cXjU3Ly8rH8MT7FX0F61apVDBw4kKysLOLj4xk+fDjLli3j%0Aq6++YsGCBWRlZe2/btOmTcnIyOC2225j9OjRpd7fli1b+Oijj0hPT2fYsGEAvPrqq+Tk5JCVlcW0%0AadP45JNPKl1fly5dWLVqFUCptQ0cOJCjjz6aJUuW8N5775V5PREREZFIFREhOtDjU9q0aUNS0h+7%0ARc6aNYsuXbrQpUsXVq5ceUAA7dWrFwBdu3Zl3bp1pd5fSkoKxhhOOukkcnJc8F+6dCm9e/emVq1a%0AxMXFcfbZZ1e6vpJbvZdXW0mVvZ6IiIhIJIiInuhAj0+pV6/e/str1qxh3LhxfP7558TGxnL99dcf%0AcMJe7dq1AYiKimLfvn2l3l/xdeDAAFxdK1as4NJLL62wtso+BxEREZFIExEr0V6OT9m5cycNGjTg%0AiCOOYNOmTcyfP79G7rdHjx7MmTMHay2bNm3iww8/rPA21lrGjBnD9u3bufDCC8utrUGDBuzatcuv%0Az0FEREQkVEXESnRqcsIBW0pC4MandOnShQ4dOtCuXTtatmxJjx49auR+e/fuzaJFi2jfvj0tW7Yk%0AMTGRhg0blnrdgQMH8vDDD5Ofn0/37t1ZtGgR0dHR5dbWr18/LrjgApo3b86CBQv88hxEREREQpWp%0AifYAf0tKSrLLli074NjKlStp3759pe8jPSMnJMenlGf37t3Ur1+frVu3ctppp/HZZ5/RpEkTz+qp%0A6s9EREREJNgYY5Zba5Mqul5ErESDG58S6qH5YH/605/YuXMnBQUFPProo54GaBEREZFIEjEhOhwt%0AWbLE6xJEREREIlJEnFgoIiIiIlKTQjpEh0I/d6TQz0JEREQiSciG6Dp16rB9+3aFtyBgrWX79u3U%0AqVPH61JEREREAiJke6KbNWvGxo0b2bp1q9elCO5NTbNmzbwuQ0RERCQgQjZER0dH07p1a6/LEBER%0AEZEIFLLtHCIiIiIiXgnZlWgRERGJbOG4kZqEDoVoERERCTnpGTkMm5tJfkEhADl5+QybmwmgIC0B%0AoXYOERERCTlp87P3B+hi+QWFpM3P9qgiiTQK0SIiIhJycvPyq3RcpKYpRIuIiEjIiYuNqdJxkZqm%0AEC0iIiIhJzU5gZjoqAOOxURHkZqc4FFFEml0YqGIiIiEnOKTBzWdQ7yiEC0iIiIhKSUxXqFZPKN2%0ADhERERGRKlKIFhERERGpIoVoEREREZEqUogWEREREakihWgRERERkSrSdA4RERGRAErPyNFovjCg%0AlWgRERGRAEnPyGHY3Exy8vKxQE5ePsPmZpKekeN1ad4pKoL0dPjXv7yupEoUokVEREQCJG1+NvkF%0AhQccyy8oJG1+tkcVeWjvXnjhBTjxRLjiCpg+HX7/3euqKk0hWkRERCRAcvPyq3Q8LO3eDWPGQJs2%0AcMstULs2zJoF337rLocI9USLiIiIBEhcbAw5pQTmuNgYD6oJsG3bYPx4mDABfv4ZzjkHpk6F5GQw%0Axuvqqkwr0SIiIiIBkpqcQEx01AHHYqKjSE1O8KiiAFi/Hu6/H1q0gMcegzPPhE8+gcWL4eKLQzJA%0Ag1aiRURERAKmeApHREzn+OYbGDnStWoAXH89DB4M7dt7W1cNUYgWERERCaCUxPjwDM3FPv4Yhg+H%0AN9+EunXh3nvhgQegeXOvK6tRCtEiIiIicmishXnzYMQIWLIEGjWChx+G/v2hcWOvq/MLhWgRERER%0AqZ59+2D2bBeeMzPdavPYsXDbbVCvntfV+ZVCtIiIiIhUzZ49bsbzqFGwbh106ODmPPfpA9HRXlcX%0AEArRIiIiIh4JuS3Ad+yASZNg3DjYuhW6d3crz5ddBrUia+ibQrSIiIiIB4q3AC/ewbB4C3Ag+IJ0%0Abq7bIOXpp91mKZdcAkOHwhlnhOyIukMVWW8ZRERERIJESGwBnp3t+ptbtYLRo6FnT1ixAt56y817%0AjtAADVqJFhEREfFEUG8BvmyZG1M3d67bivv22+HBB+G447yuLGgoRIuIiIh4IOi2ALcWFi504Xnh%0AQmjYEIYNg/vug6ZNvakpiKmdQ0RERMQDQbMFeGEhzJkDp5wCF14IWVlup8ENG+Cf/1SALoNWokVE%0AREQ84PkW4L//Di++6ALzmjXQti1MnQp9+7oWDimXQrSIiIiIRzzZAnznTpgyxZ0ouGkTdO0Kr74K%0AV1wBUVEV314AhWgRERGRyLB5Mzz1FEycCL/8Ahdc4FaizzsvoqdsVJdCtIiIiEg4++EHt7Pg88+7%0AFo4rr4QhQyApyevKQppCtIiIiEg4+vprGDECZs92bRo33ACpqXDCCV5XFhYUokVERETChbWwZIkb%0AU/f221C/PjzwAAwYAHFxXlcXVhSiRUREREJdURG8+aYLz59+Ck2auPF0d90FRx7pdXVhSSFaRERE%0AJFTt3QuzZrkxdVlZbnvuiRPh5pshxqNNWyKE3zZbMcY0N8YsNsZkGWO+Ncbc7zveyBizwBizxvdf%0AvT0SERERqYpff4Vx4+D44+Gmm1zP88yZbt7z3XcrQAeAP3cs3Ac8aK3tAHQD7jHGdACGAguttW2B%0Ahb6vRURERKQi27fDo49Cixauz7l1a5g3D776Cq69Fg5Tk0Gg+O2VttZuAjb5Lu8yxqwE4oHLgXN8%0AV5sOvA8M8VcdIiIiIiHvxx/d5ihTpsCePdCzpxtTd/rpXlcWsQLydsUY0wpIBD4DmvoCNsBPQKkb%0Ashtj+gH9AFq0aOH/IkVERESCTVaW63eeOdN93aePC88nnuhtXeLXdg4AjDH1gdeAAdbanSW/Z621%0AgC3tdtbaKdbaJGttUpMmTfxdpoiIiEjw+PRTSElxYfnVV12f89q1MGOGAnSQ8OtKtDEmGhegZ1pr%0A5/oObzbGHGut3WSMORbY4s8aREREREKCtfDOO26DlA8+cKPpHn4Y7r0XjjrK6+rkIP6czmGA54CV%0A1trRJb71BnCj7/KNwH/8VYOIiIhI0Nu3z42pS0yESy6B775z/c8bNsAjjyhAByl/rkT3APoCmcaY%0AFb5jDwHDgVeMMbcC64HefqxBREREJDjl58O0aZCWBj/8AO3awQsvuCkbhx/udXVSAX9O51gKmDK+%0Afb6/HldEREQkqOXlweTJMHYsbNkCp53mVp579oRafj9dTWqIhgmKiIiIBMKmTS44T54Mu3ZBcjIM%0AHQpnnw2mrHVHCVYK0SIiIiL+tHata9mYNs31P/fuDYMHux5oCVkK0SIiIiL+sHy5m7Tx2msQHQ23%0A3AKDBkGbNl5XJjVAIVpERESkplgLixfD8OGwYAEccYRbdb7/fjjmGK+rkxqkEC0iIiJyqIqKID3d%0AhecvvnCBecQIuOMOaNjQ6+rEDxSiRURERKrr99/dltwjR0J2tmvVeOYZuOEGqFPH6+rEjxSiRURE%0ARKpq1y6YMsWNpsvNhS5d4JVXoFcviIryujoJAIVoERERkcrauhWeegomTHDzns87z03duOACjamL%0AMArRIiIiIhVZtw5GjYLnn4fffnMrzkOGwCmneF2ZeEQhWkRERKQsmZnuBMF//9vtJnjDDZCaCgkJ%0AXlcmHlOIFhERETnY0qVu0sZbb0G9ejBgAAwcCPHxXlcmQUIhWkRERATcmLp581x4/ugjaNwYHnsM%0A7rkHGjXyujoJMgrRIiIiEtkKCly7xogR8O230LIljB/vdhisW9fr6iRIKUSLiIhIZNqzB557zp0w%0AuGEDdOwIL74I11zjtukWKYdCtIiIiESWn392I+rGj4dt26BHD5g4ES69VGPqpNIUokVERCQybNzo%0ANkeZMgV+/RX+/Gc3pu6MM7yuTEKQQrSIiIiEt1Wr3LbcL73kTh689loYPNi1b4hUk0K0iIiIhKfP%0AP3eTNtLToU4duPNOeOABaNXK68okDChEi4iISPiwFhYscOF58WI48kj429+gf39o0sTr6iSMKESL%0AiIhI6Nu3D157zY2py8hwm6KMHg233w7163tdnYQhhWgREREJXb/9BtOnQ1oafPed2477+efhuuvg%0A8MO9rk7CmEK0iIiIhJ5ffoHJk2HsWNi8GU45xQXpyy+HWrW8ri6kpGfkkDY/m9y8fOJiY0hNTiAl%0AUdubV0QhWkRERELHTz+54Dx5MuzcCRddBEOHwjnnaMZzNaRn5DBsbib5BYUA5OTlM2xuJoCCdAX0%0AVk1ERESC39q1brpGq1ZuxTk5GZYvh/nz4dxzFaCrKW1+9v4AXSy/oJC0+dkeVRQ6tBItIiIiwevL%0AL93JgnPmwGGHwU03waBB0Lat15WFhdy8/Codlz8oRIuIiEhwsRbef9+NqXv3XWjQAFJT4f774dhj%0Ava4urMTFxpBTSmCOi43xoJrQonaOEJWekUOP4YtoPfQtegxfRHpGjtcliYiIHJqiInj9dejWDc47%0AD1asgH/9CzZscIFaAbrGpSYnEBMddcCxmOgoUpMTPKoodGglOgTpJAAREQkre/fCzJmubSM7G447%0Azp04eOONEKMVUX8qzg2azlF1CtEhqLyTAPSXXkREQsauXTB1qtsUJScHOneGWbPgqqtc/7MEREpi%0AvPJDNehvaAjSSQAiIhLStm6F8eNhwgTYscONp3vuOTeuTlM2JEQoRIcgnQQgIiIhaf16ePJJePZZ%0AyM+HlBQYMsT1QIuEGJ1YGIJ0EoCIiISUb76BG26ANm1cr/M110BW1h8nEYqEIK1EhyCdBCAiIiHh%0Ao4/cyYJvvgn16sF998HAgdC8udeViRwyhegQpZMAREQkKFkL8+a58LxkCTRuDI8+Cvfc4y6LhAmF%0AaBERETl0+/bB7NkuPGdmutXmsWPhttvcKrQfpGfk6FNZ8YxCtIiIiFTfnj3wwgswahSsWwcdOsCM%0AGfCXv0B0tN8eVnsmiNd0YqGIiIhU3Y4d8Pjj0KoV3Huv203wjTfcKnTfvn4N0FD+ngkigaCVaBER%0AEam8nBwYMwaeeQZ274ZLLnFj6s48M6AznrVngnhNIVpEREQqlp0NaWmuVaOoyLVrDB4MJ53kSTna%0AM0G8pnYOERERKdsXX7htuNu3h5kzoV8/WLMGXnrJswAN2jNBvKeVaBERETmQtbBwITzxBCxaBLGx%0A8NBDbs7z0Ud7XR2gPRPEewrRIiIi4hQWwty5MHw4fPklxMW5qRv9+kGDBl5X9z+0Z4J4SSFaREQk%0A0v3+u+t1HjkS1q6FE06AZ5+F66+H2rW9rk4kKClEi4iIRKqdO+Hpp920jZ9+gqQkmDMHUlIgKqri%0A24tEMIWHObCMAAAgAElEQVRoERGRSLN5M4wbB5MmwS+/wIUXuhMFzzsvoGPqREKZQrSIiEik+P57%0A1+P8/POwdy9ceSUMHQpdu3pdmUjIUYgWEREJdytWwIgR8MorcNhhcOONMGiQ630WkWpRiBYREQlH%0A1sKHH7pJG++8A/Xrw4MPwoABbuqGiBwShWgREZFwUlQEb77pwvOnn0KTJvDPf8Jdd8GRR3pdnUjY%0AUIgWEREJB3v3wssvuzF1K1dC69buxMGbboIYbYUtUtMUokVERELZ7t1upvOTT8LGjW4r7pdfhquv%0Adv3PIuIX+r9LREQkFG3bBhMmwPjx8PPPcOaZMGUKXHyxxtSJBIBCtIiISCjZsAFGj4apU2HPHujZ%0AE4YMgdNP97oykYiiEC0iIhIKsrJcv/PMme7r666DwYOhQwdv6xKJUArRIiIiweyTT9ykjTfegLp1%0A4e673ai6Fi28rkwkoilEi4iIBBtr3Wzn4cPdrOdGjeDhh6F/f2jc2OvqRASFaBERkeCxbx+8+qoL%0Az19/Dc2awdixcNttUK+e19WJSAkK0SIiUqb0jBzS5meTm5dPXGwMqckJpCTGe11W+MnPh2nTIC0N%0AfvgB2rd3X/fpA4cf7nV1IlIKhWgRESlVekYOw+Zmkl9QCEBOXj7D5mYCKEjXlLw8tyHKuHGwZQt0%0A6wZjxsBll0GtWl5XJyLl0P+hIiJSqrT52fsDdLH8gkLS5md7VFEYyc11kzVatIC//hW6doX334eP%0AP4bLL1eAFgkBWokWEZFS5eblV+m4VMKaNa5lY/p01/98zTUuTHfu7HVlIlJFCtEiIlKquNgYckoJ%0AzHGxMR5UE+KWL4cRI2DOHNfjfOutMGgQHHec15WJSDXp8yIRESlVanICMdFRBxyLiY4iNTnBo4pC%0AjLWwcCFceCEkJcH8+W5nwfXrXR+0ArRISPNbiDbGPG+M2WKM+abEsUeMMTnGmBW+P5f46/FFROTQ%0ApCTG80SvTsTHxmCA+NgYnujVSScVVqSwEF57DU49FS64AL75xq1Cb9gATzwBTZt6XaGI1AB/tnNM%0AAyYAMw46PsZaO8qPjysiIjUkJTFeobmyfv8dXnzRbc29Zg0cfzxMmQJ9+0KdOl5XJyI1zG8h2lr7%0AoTGmlb/uX0REJCjs3AnPPONG023aBF26wOzZcOWVEBVV8e1FJCR5cWJhf2PMDcAy4EFr7Q4PahAR%0AETk0W7a4+c4TJ8Ivv8D558OMGe6/xnhdnYj4WaBPLJwMHAd0BjYBT5Z1RWNMP2PMMmPMsq1btwaq%0APhERkfL98APccw+0bOl6nC+4AD7/HN57z11WgBaJCAEN0dbazdbaQmttETAVOLWc606x1iZZa5Oa%0ANGkSuCJFRERK8/XXcN110LYtTJ3qLq9c6cbWnXKK19WJSIAFtJ3DGHOstXaT78srgG/Ku76ISCRK%0Az8ghbX42uXn5xMXGkJqcoJP7vGItLF0Kw4fDvHlQvz4MGAADB0K8fiYikcxvIdoYMws4BzjKGLMR%0AeBg4xxjTGbDAOuAOfz2+iEgoSs/IYdjczP3bbefk5TNsbiaAgnQgFRXBW2+58Pzxx3DUUfD443D3%0A3XDkkV5XJyJBwJ/TOfqUcvg5fz2eiEg4SJufvT9AF8svKCRtfrZCdCAUFMCsWW6uc1aW63ueMAFu%0Avhnq1vW6OhEJItr2W0QkiOSWss12ecelhvz6Kzz3HDz5pNsUpWNHeOkl6N0boqO9rk5EgpBCtIhI%0AEImLjSGnlMAcFxvjQTURYPt2N6Luqafc5R493Jbcl1yiKRsiUq5Aj7gTEZFypCYnEBN94AYdMdFR%0ApCYneFRRmPrxR3jgAdeu8fDD0L07LFniTiK89FIFaBGpkFaiRUSCSHHfs6Zz+MnKlW5b7pdecpM3%0Arr0WBg927RsiIlWgEC0iEmRSEuMVmmvaZ5+5SRvp6RATA3fd5VaiW7XyujIRCVEK0SIiEp6shfnz%0AXXj+4AM3mu7vf4f+/UGbeInIIVKIFhGR8LJvn9tFcPhw+OortynK6NFw++1usxQRkRqgEC0iIuEh%0APx+mT4e0NPj+e2jXDl54wfU9H36419WJSJhRiBYRkdCWlweTJ8PYsbBlC5x6KowaBZdfDrU0hEpE%0A/EMhWkREQtOmTS44T54Mu3ZBcjIMHQpnn60RdSLidwrRIiISWtaudS0b06a5/uerr4YhQyAx0evK%0ARCSCKESLiEho+PJLGDHCnTQYHQ233AKDBkGbNl5XJiIRSCFaxCc9I0cbXIgEG2vh/ffdpI1334Uj%0AjnCbo9x/PxxzjNfViUgEU4gWwQXoYXMzyS8oBCAnL59hczMBFKRFvFBU5DZGGTECPv8cmjZ1QfrO%0AO6FhQ6+rExFRiBYBt8VycYAull9QSNr8bIVoOWT6lKMK9u51W3KPHAnZ2XDccfD003DjjVCnjtfV%0AiYjspxAtAuTm5VfpuEhl6VOOStq1C6ZOdZui5ORA587w73/DlVfCYfpVJSLBRwM0RYC42JgqHRep%0ArPI+5RBg61a3FXeLFvDgg9C2LbzzjjuJ8JprFKBFJGgpRIsAqckJxERHHXAsJjqK1OQEjyqScKFP%0AOcqwbh307w8tW8I//wnnnguffgqLF7t5z5rzLCJBTm/xRfjjY3X1rUpNi4uNIaeUwByxn3JkZrp+%0A51mz3G6C118PqanQvr3XlYmIVIlCtIhPSmK8QrPUuNTkhAN6oiFCP+VYutRN13jrLahXz42oGzgQ%0AmjXzujIRkWpRiBYR8aOI/pSjqAjmzXPh+aOPoHFjeOwxuOceaNTI6+pERA6JQrSIiJ9F3KccBQUw%0Ae7ab8fzNN+6kwXHj4NZb3Sq0iEgYUIgWEZGasWcPPP88jBoF69fDiSfCjBnwl7+4bbpFRMKIQrSI%0AiByan3+GiRPhqadg2zY4/XSYMAEuucSdPCgiEoYUokVEpHo2boQxY+CZZ+DXX11oHjYMzjjD68pE%0ARPxOIVpERKpm1SpIS4MXX3QnD/bpA4MHQ6dOXlcmIhIwCtEiIlI5n3/uThZ8/XWoXRvuuMPtMtiq%0AldeViYgEnEK0iIiUzVp47z03pm7RIoiNhb/+1e02ePTRXlcnIuIZhWgREflfhYXw2msuPGdkQFyc%0Am7rRrx80aOB1dSIinlOIFhGRP/z2mxtLl5YGa9fCCSfAs8+67blr1/a6OhGRoKEQLSIisHMnPP20%0Am7bx00+QlARz5kBKCkRFeV2diEjQUYgWEYlkmze73QQnTYJffoELL4SZM+Hcc8EYr6sTEQlaCtEi%0AIpHo++9dj/Pzz7ttuq+8EoYMga5dva5MRCQkKESLiESSFSvcmLpXXoHDDoObboJBg6BtW68rExEJ%0AKQrRIgGWnpFD2vxscvPyiYuNITU5gZTEeK/LknBmLXz4oZu08c47brrGoEEwYAAce6zX1YmIhCSF%0AaJEASs/IYdjcTPILCgHIyctn2NxMAAVpqXlFRfDGG27l+dNP3Vznf/0L7rrLzXsOInpzKSKhRiFa%0A5CD+/GWeNj97f4Aull9QSNr8bAUGqTl798LLL7vwvGoVtG4NEyfCzTdDTIzX1f0PvbkUkVBUy+sC%0ARIJJ8S/znLx8LH/8Mk/PyKmR+8/Ny6/ScZEq2b0bxo6FNm1cYD78cBemV6+Gu+8OygAN5b+5FBEJ%0AVlqJlmoJ9Y9ey6rf3yvFcbEx5JQSmONigzPcSIjYtg0mTIDx4+Hnn+Hss2HKFLj44pAYU6c3lyIS%0AihSipcpC/aPX8ur39y/z1OSEAx4bICY6itTkhBq5f4kwGzbA6NEwdSrs2QOXX+7G1HXv7nVlVaI3%0AlyISitTOIVUW6h+9lld/Wb+0a+qXeUpiPE/06kR8bAwGiI+N4YlenULizYcEkawsN5quTRvX69y7%0AN3z7LaSnh1yABvfmMib6wF0R9eZSRIKdVqKlykL9o9fy6h9zTWe/rxSnJMYrNEv1fPKJG1P3xhtQ%0Aty7cey888AA0b+51ZYek+P+HUG4RE5HIoxAtVRbqH72WV79+mUvQsRbeftuF5yVLoHFjeOQRF6Ab%0AN/a6uhqjN5ciEmoUoqXKQr2vt6L69ctcgsK+fW5XweHDITPTrTaPGwe33gr16nldnYhIxFOIlioL%0A9dXaUK9fwtyePfDCCzBqFKxbBx06wPTp0KcPREd7XZ2IiPgYa63XNVQoKSnJLlu2zOsyRET8Z8cO%0AmDTJrTZv3QrdusHQoXDZZVBL54CLiASKMWa5tTapoutV6l9mY0yPyhwTEZEqys2F1FRo0QL+9jdI%0ASoIPPoCPP3Yj6xSgRUSCUmX/dR5fyWMiIlIZ2dlw221uS+7Ro6FnT1ixAubNg7POColNUkREIlm5%0APdHGmO7A6UATY8wDJb51BBBV+q1ERKRMX3wBI0bA3LlQu7YL0g8+CMcd53VlIiJSBRWdWHg4UN93%0AvQYlju8ErvJXUSIiYcVaWLjQTdpYuBAaNoRhw+C++6BpU6+rExGRaig3RFtrPwA+MMZMs9auD1BN%0AIiLhobAQXn/dhefly+GYY2DkSLjjDjjiCK+rExGRQ1BRO8dYa+0AYIIx5n/GeFhre/qtMhGRUPX7%0A7/Diiy4wr1kDbdvC1KnQt69r4RARkZBXUTvHDN9/R/m7EBGRkLdzJ0yZ4k4U3LQJunaFV1+FK66A%0AKJ1GIiISTioK0WnA+cAl1tohAahHRCT0bNni5jtPmgR5eXDeeTBjBpx/vqZsiIiEqYpC9LHGmNOB%0AnsaYfwMH/Daw1n7pt8pERILdDz+4nQWff961cPTqBUOGwCmneF2ZiIj4WUUh+v+AvwPNgNEHfc8C%0A5/mjKBGRoPb1125M3ezZbjOUG2+EQYMgIcHrykREJEAqms4xB5hjjPm7tfYfAapJRCT4WAtLl7pJ%0AG/PmQf36MGAADBwI8fFeVyciIgFW0Uo0ANbafxhjegJn+Q69b639r//KEhEJEkVF8N//uvD8ySfQ%0ApAk8/jjcfTcceaTX1YmIiEcqFaKNMU8ApwIzfYfuN8acbq19yG+ViYh4qaAAZs1ybRtZWdCqFUyY%0AALfcAjExXlcnIiIeq1SIBi4FOltriwCMMdOBDEAhWkTCy6+/wrPPwpNPwo8/wkknwcsvw9VXw2GV%0A/SdTRETCXVV+I8QCP/suN/RDLSIi3tm+3a00jx/vLp91FjzzDFx8scbUiYjI/6hsiH4CyDDGLMaN%0AuTsLGOq3qkREAuXHH93mKFOmwJ490LOnG1N3+uleVyYiIkGswhBtjDHAUqAbUDz8dIi19id/FiYi%0A4ldZWW5b7pm+Uz2uvRYGD4YTT/S2LhERCQkVhmhrrTXGzLPWdgLeCEBNIiL+8+mnbtLGf/4Ddeu6%0AKRsPPAAtW/rtIdMzckibn01uXj5xsTGkJieQkqixeCIioaxWJa/3pTGmSltwGWOeN8ZsMcZ8U+JY%0AI2PMAmPMGt9/NR9KRPzPWnjnHTjnHOjeHT78EB5+GNavd9t1+zlAD5ubSU5ePhbIyctn2NxM0jNy%0A/PaYIiLif5UN0acBnxpjvjPGfG2MyTTGfF3BbaYBFx90bCiw0FrbFliI+qpFxJ/27XNj6hIT4U9/%0Agu++c/3PGzbAI4/AUUf5vYS0+dnkFxQecCy/oJC0+dl+f2wREfGfyp5YmFzVO7bWfmiMaXXQ4cuB%0Ac3yXpwPvA0Oqet8iIuXKz4dp0yAtDX74Adq1gxdecH3Phx8e0FJy8/KrdFxEREJDuSHaGFMHuBM4%0AHsgEnrPW7juEx2tqrd3ku/wT0PQQ7ktE5EB5eTB5MowdC1u2wKmnupXnnj2hVmU/eKtZcbEx5JQS%0AmONitWGLiEgoq+i3ynQgCReg/wQ8WVMPbK21gC3r+8aYfsaYZcaYZVu3bq2phxWRcLRpkxtL16IF%0APPSQa99YvNidRJiS4lmABkhNTiAmOuqAYzHRUaQmJ3hUkYiI1ISK2jk6+KZyYIx5Dvj8EB9vszHm%0AWGvtJmPMscCWsq5orZ0CTAFISkoqM2yLSARbswZGjXKtG/v2Qe/ebkxdYqLXle1XPIVD0zlERMJL%0ARSG6oPiCtXafOfRdu94AbgSG+/77n0O9QxGJQMuXw4gRMGeO63G++WZITYU2bbyurFQpifEKzSIi%0AYaaiEH2yMWan77IBYnxfG1xHxhFl3dAYMwt3EuFRxpiNwMO48PyKMeZWYD3Q+xDrF5FIYa1r0Rg+%0AHBYsgCOOcC0c998PxxzjdXUiIhJhyg3R1tqo8r5fwW37lPGt86t7nyISgYqKID3dhecvvnCBefhw%0AuPNOaNjQ6+pERCRCVXbEnYhIYP3+u9uSe+RIyM52rRrPPAM33AB16nhdnYiIRDiFaBEJLrt2wdSp%0AbjRdTo47SXD2bLjySoiq9odjIiIiNUohWkSCw9at8NRTMGGCm/d87rnw/PNw4YVw6Cc1i4iI1CiF%0AaBHx1rp18OST8Nxz8NtvcMUV7oTBU0/1ujIREZEyKUSLiDcyM12/86xZbjOUvn3dmLp27byuTERE%0ApEIK0QGSnpGjzRZEAJYuddM13noL6tWDAQPcn2bNvK5MRESk0hSiAyA9I4dhczPJLygEICcvn2Fz%0AMwEUpCUyFBXBvHkuPH/0ERx1FDz2GNxzDzRq5HV1IUdvykVEvFfL6wIiQdr87P0Bulh+QSFp87M9%0AqkgkQAoK4MUX4aST4LLLYONGGD8e1q+Hv/9dAboait+U5+TlY/njTXl6Ro7XpYmIRBSF6ADIzcuv%0A0nGRkLdnjwvLxx/v5jobAy+9BGvWwL33Qt26XlcYsvSmXEQkOKidIwDiYmPIKSUwx8XGeFCNiB/9%0A/DNMnOhG1W3bBmec4b6+9FKNqashelMuIhIctBIdAKnJCcREH7hJREx0FKnJCR5VJFLDNm6EBx+E%0AFi3g//4PunWDJUvcnz//WQG6BpX15ltvykVEAkshOgBSEuN5olcn4mNjMEB8bAxP9OqkE4Ek9K1a%0ABbfcAscdB+PGuRnPX38Nb77pVqGlxulNuYhIcFA7R4CkJMYrNEv4+PxzN2kjPR1q14Y77nAr0a1a%0AeV1Z2Cv+d0TTOUREvKUQLSKVYy0sWODC8+LFEBsLf/0r9O8PRx/tdXURRW/KRUS8pxAtIuUrLIQ5%0Ac2DECMjIgLg4t0337bdDgwZeVyciIuIJhWgRKd1vv8H06ZCWBt99ByecAM89B9dd51o4REREIphC%0AtIgc6Jdf4OmnYcwY2LwZTjkFRo6Eyy+HqKiKby8iIhIBFKJFxPnpJzdhY9Ik2LkTLroIhgyBc8/V%0AiDoREZGDKESLRLq1a2HUKJg2zW3TfdVVLjx36eJ1ZSIiIkFLIVokUmVkuJMFX30VDjsMbroJBg2C%0Atm29rkxERCToKUSLRBJr4YMP3Ji6+fPddI3UVLj/fjj2WK+rExERCRkK0SKRoKgI3njDhefPPoOm%0ATeGJJ+DOO9285zCQnpGjDUhERCRgFKJFwtnevfDyy65tY9Uqtz335Mlw440QE+N1dTUmPSOHYXMz%0AyS8oBCAnL59hczMBFKRFRMQvanldgIj4we7dbkRdmzZw881Qpw7MmgXZ2W71OYwCNLgtsIsDdLH8%0AgkLS5md7VJGIiIQ7rUSLhJOtW2H8eJgwAXbsgHPOgWefdePqDhpTF07tD7l5+VU6LiIicqgUokXC%0Awfr1bivuZ5+F/HxISXFj6rp1K/Xq4db+EBcbQ04pgTkuNrxW3EVEJHionUMklH3zDfTt69o2Jk+G%0Aa66BrCx4/fUyAzSEX/tDanICMdEH7qYYEx1FanKCRxWJiEi400q0SCj66CM3aeO//4V69eC++2Dg%0AQGjevFI3D7f2h+LV83BpTxERkeCnEC0SKqyFefNceF66lN9jj+TFC25kYodk6h7dlNRttUipXIYO%0Ay/aHlMR4hWYREQkYhWiRYLdvH8ye7cbUZWZC8+Z8nfooN5mT+NlEA7Cjij3NqckJB/REg9ofRERE%0AqkI90SLBas8emDjRbcN9/fVQWAjTp8N333FXozP2B+hiVelpTkmM54lenYiPjcEA8bExPNGrk1Zy%0ARUREKkkr0SLBZscOmDQJxo1zI+u6d4ennoJLL4Va7n1vTfQ0q/1BRESk+hSiJWIF3ZzknBy3Qcoz%0Az7jNUi65xI2pO/PM/5nxHI49zSIiIqFEITpIBV3ACzNBNSc5OxvS0mDGDNey8Ze/wODBcPLJZd5E%0APc0iIiLeUk90ECoOeDl5+Vj+CHjpGTlelxY2gmJO8hdfwFVXQfv2MHMm3H47rFnjLpcToEE9zSIi%0AIl7TSnQQKi/gKSTVDM/mJFsLCxe6MXULF0LDhjBsmJvz3LRple4qFHqa9YmKiIiEK4XoIBRuG2EE%0Ao4D3FBcWwty5bkzd8uVw7LGuhaNfPzjiCP88pseCqmVGRESkhqmdIwiVFeR00ljNCdg20b//DlOn%0AQrt20Ls37Nzpvv7hBxg0KGwDNARJy4yIiIifKEQHodTkBKKjDpzGEB1ldNJYDfJ7T/HOnW6luXVr%0At9rcsCG8+iqsXAm33Qa1a9fM4wQxfaIiIiLhTO0cwcpW8HUY8apv1i89xZs3u5nOEyfCL7/ABRfA%0Aiy+SfmQCae+uJvev7wRdb7C/Xn+N4RMRkXCmEB2E0uZnU1B0YGouKLJheWJhVfpmg/okte+/h1Gj%0A4IUXXAvHlVfC0KHQtWtQ9QYf/Bqe264Jry3P8UttGsMnIiLhTO0cQSiSPgavbN9s0I79++oruPZa%0AtzX3c89B376wapVr3ejaFQie3uDSXsOZn27wW20awyciIuFMK9FByJ8fgwfbam5l3zBUd+yfX56v%0AtfDhh25M3TvvQP368OCDMGAAxMVV+FwqOu4vpb2GZXUJ1VRtoTCGT0REpDq0Eh2E/DU5IhhXcys7%0AiaQ6QbTGn29REfznP3D66XDOOW5U3eOPw4YNMHJkqQG6tOdS0XF/qUowVt+yiIhI+RSig5C/PgYP%0AlraCkir7hqE6QbTGnu/evTB9OnTsCCkp7uTBSZNg/Xr461/hyCPLvXnAxulVoKzXyhz0tfqWRURE%0AKqZ2jiDlj4/Bg6WtoKTi51hRy0V1TlI75Oe7ezc8+yw8+SRs3AgnnQQvvwxXXw2HVf5/nco+R38r%0A6zW8sms8i1dtDZoWHxERkVCgEB1BgnXkWGXeMFQniFb7+W7bBhMmwPjx8PPPcNZZ8Mwz8Kc/gTl4%0A3bZygqE3OFjCvIiISDhQiI4goT5yrKpBtMrPd8MGGD3a7Si4Zw/07AlDhrge6DARDGFeREQkHChE%0AR5BIW4ms9PPNynInBs6c6b6+7joYPBg6dAhwxSIiIhIqjLXBvxVeUlKSXbZsmddlSLj59FM3pu4/%0A/4G6deH22+GBB6BFC68rExEREY8YY5Zba5Mqup5WoiNYsM2MDghr3WznESPggw+gUSN4+GG49144%0A6iivqxMREZEQoRAdoYJpK+qA2LfP7SI4YoTbZbBZMxgzBm67zW2WIiIiIlIFmhMdoYJxZrRf5OfD%0A5Mlwwglue+69e+GFF+C779wOgwrQIiIiUg1aiY5QwTgzukbl5bnwPHYsbNkCp53mVp4vuwxq6b2j%0AiIiIHBqliQgVLFtR17jcXDdZo0ULeOghSEyE99+HTz4hvUUSPUa+T+uhb9Fj+CJPtzsXERGR0KaV%0A6EoIxxPwQn1m9P9YswbS0tz23Pv2Qe/ebsZz585ABPaAi4iIiF9pJboCxeErJy8fyx/hK9RXMVMS%0A43miVyfiY2MwQHxsDE/06hR6gXL5cheYExJgxgy49VZYvRpmzdofoCGCesBFREQkILQSXYHywlfI%0ABc6DhOzuddbCokVu0saCBdCwIQwdCvffD02blnqTsO8BFxERkYBSiK5AKIevsGtDKSyE9HS3Qcqy%0AZXDMMW6nwTvugCOOKPemcbEx5JTyMwv5HnARERHxhEJ0BUI1fAWqBzggQf333+Gll1xgXr0ajj8e%0ApkyBvn2hTp1K3UWo9ICH3RufANJrJyIigaQQXYFQCV8Hq6gHuCbCht+D+q5d8MwzbjRdbi506QKz%0AZ8OVV0JUVJXuqrieYA5ZOvmx+vTaiYhIoBlrrdc1VCgpKckuW7bMs8cPxRWuVkPfKvN7MdFR//Om%0AoDonFfYYvqjUVfr42Bg+Gnpele7rAFu2wFNPwcSJbt7z+ee7nufzzwdjqn+/Qc5vr2cE0GsnIiI1%0AxRiz3FqbVNH1tBJdCaF4Ap4x7vy70tTUiZI13i/+ww/w5JPw3HOuhaNXLzem7pRTqnd/fuSPN1ah%0A3H/vNb12IiISaArRlRRKq9HpGTllBuiyVCds1Fi/+Ndfu0kbs2e73QRvuAFSU93YuiDkr9aBUO2/%0ADwZ67UREJNA8mRNtjFlnjMk0xqwwxnjXp1FJoTYrurzZx1FltENUJ2ykJicQE31gb3Kl+8WthSVL%0A4NJL4eST4Y03YMAAtxr97LNBG6DBfzOnD+n1jHB67UREJNC83GzlXGtt58r0nHgt1DbqKG9Vuc9p%0AzWssbFRrw5aiInjzTTjjDDjrLPj8c/jHP2D9etKvG0iPF7ODfltuf7UOhM0GOB7QayciIoGmdo5K%0ACLV+y7I+2j6ybjSPp3QiqWWjGmtNqXS/eEGB20VwxAjIyoKWLd3Jg7feCnXrhtR0BX+2DoRi/32w%0A0GsnIiKB5FWItsB7xphC4Blr7RSP6qiUUOu3LGss38OXnQj4P2yU7B8/ri6M2b2ck2Y/Bxs2QMeO%0AbuZz794QHb3/NqG0M2Sojj0UERGRmuNViD7DWptjjDkaWGCMWWWt/bDkFYwx/YB+AC1atPCixv1C%0ALTR5ORO5eEW59s4d9P/yLW5a/iaN8neyrfOpHDVpElxySalj6kJptT8UZk6LiIiIf3k+J9oY8wiw%0A21o7qqzreD0nGkJrOoeXUobN5s/vzaLPV/OpV/Ab77U5hae7XcWmjknlzuvVnF8REREJBkE7J9oY%0AUw+oZa3d5bt8EfBYoOuoKvVbVmDVKhg5klemv0gtW8R/OpzNM6ddyeomrQAwFawoh9pqv4iIiEQ2%0AL7VrTW0AABfASURBVNo5mvL/7d17lJ11fe/x9zfJFAYKDChVMoLAkaYuBJNDFkQRC9KaoCIRu1ot%0Ay4K6jncUXYTLwXVE6pJoLBYVpeANjigUCFO0lKAFqqYnaG4kQQkQG5DhYsRcQKZmkvzOH3tP2DPZ%0At2ff9573a61Zs+fZz977yW/vPPnkN9/n+4PbIvcr/WnAd1NKd7bhONqqZ2a277svd7Hg0BDsvTf/%0AcsLpXPnqt/D4AS8Zt1ul+vGsJRI9M36SJKkrtTxEp5R+Bby61a/bSbqpE0VRKcFdd8HChXDvvXDg%0AgfDJT8K559L3+HaeWbwWaphRrna2v+vHT5Ikdb129ometLqt7/RuO3bkVhU87jiYNw8efji3TPej%0Aj8Jll8HBB7ekX2/Xjp8kSeoZ9olug27qRAHAf/83XHcdLFoEGzbAn/4pfOMbcNZZsNdee+xezYxy%0APeUYXTd+kiSp5xii26Br+k5v3QpXXw1f/CI8/TQcf3wuSJ9xBkyp7ZcYQ6uG+fT3H2Dz86O7txWW%0AY0DluuiuGT9JktSzDNEtMHHW9ZQ/O5hbVwx3bieKp56Cf/xH+NrXYNs2mDsXLrwQTj65aI/nak2s%0AZS40MrqTS29/gD/s2FWx1rlZnTy8WFGSJFXLmugmGwuOw1tGSOSC4a0rhnn7cYNNrRuuySOPwPvf%0AD4cfnptxnjcPVq6EO++EU06pK0BD8VrmQltGRquqdW5G3XWx9+nixWsZWjVc83NKkqTe5Ux0k5W6%0ACO6eBzd1ziIiK1fm2tTdcktuKe5zzoHzz4dXvKKhL1NrzXKxx5Wqu651Nrmblh2XJEntZ4huso69%0ACC4luOeeXHi+6y7Yf3+44AL42MfgpS9t6EuNBdtya2P2901l774p42qlx1Rb61xP67uOfZ8kSVJH%0AspyjyUoFwLZdBLdrFyxeDCecAKeeCvffD5dfDo89lvvehAA9ViZRykB/H5efeQyfOv1o+vumjrsv%0AS61zPa3v2vE+Da0a5sSFd3PERf/KiQvvtnREkqQu4kx0k3XMctbbt8N3vgOf/zysXw9HHpnrvHH2%0A2bD33mUfWs8Fd+XqoAfzzzW23xNbRjigv4+9+6aw5fnRlra+a/X75IIxkiR1N0N0FeoJkVmXs264%0AZ5+Fa6+FK66A4WGYORNuvBHe/naYVvntrzfslQqwASy96A17PP+WkVH6+6byxb+ZmXmM6ml91+r3%0AyRpsSZK6myG6gkbMGFa7nHVDbdoEX/4yfOUrsHlzrj3d17+ea1eXoctGvWGvUrBtZJisdza5le+T%0ANdiSJHU3a6Ir6Lolph99FD76UXj5y+Hv/z4Xnpcty11EOG9e5jZ19Ya9BXNnlK1zbmSYbMWS443S%0AcbXykiQpE2eiK+iaGcN163KdNr73vVxQfte7YMECeOUrgdpLUupdHbBSmUSjVx9sy6x/DTqmVl6S%0AJNXEEF1Bxy8xvXQpLFwIP/gB7Ltvbhb64x+HQw/dvUs9JSmNCHvlgu1kDZNtr5WXJEl1MURXUEvI%0Aa/ry0SnBHXfkwvNPfwovehFcdhl8+MNw0EF77F5P3XGzw95kDpPdMmsuSZL2ZIiuIGvIq2bWt+aQ%0AvWMH3HRTLjyvWweHHQZf+hK85z25WegS6i1JaXbYM0xKkqRuY4iuQpaQV2nWt6bSiuefh299C77w%0ABdi4EY4+Gq6/Ht7xjtwy3RW0oySl6bPxkiRJbWR3jgarNOtbKmSfd9PqPVet27wZPvMZOPxw+MhH%0AYPp0uP12WLMmd+FgFQEaKnfIaLTCVQoTL/xHwRX5JElSr3AmusEqzfqWK6EYC5t7/+ZJ5v3wRvin%0Af4LnnoPTToOLL4aTTqrpmFxIRJIkqbEM0Q1W6ULEUiEb4MhnHud9P1vMqZ+9GyLlyjUuuACOPbbs%0Aa1ZTOuFCIpIkSY1jiG6wcrO+Q6uG+f0fduzxmGOffIgPLLuFeQ/9P7ZP6+OGmfOYftklvPHNcyq+%0AXiNWVGy0jm8LKEmSVCdDdBMUm/WdGHZJiddtXM0H77uZEx9dw9a99uWq1/w13z7udJ7Zd4DBtc/z%0AxjdXfq1OLJ2YrL2fJUnS5GGIbpGxsDtl105OW/+ffPC+W3jV0xt46o8P4jOnvIfvvXoev99rn937%0AV1v60ImlE5O597MkSZocDNEt8tvfbuWd6+7mfT+7lSM2P8mGgwa5YN5HGTr6FLZP27PLRrWlD51a%0AOmHvZ0mS1MsM0VWoq+fx1q1w9dUsvebzvPjZ33H/S4/i/fP/Nz886gR2TZnKgfv0MXV0V82lD5ZO%0ASJIktZ4huoKaL9x76im48kr46ldh2zZ2zXk95/yP07h38FUQAeTC7qdOPxqovfTB0glJkqTWi5RS%0Au4+hotmzZ6fly5e35bVPXHh30XKJwYF+ll70hj0fsGFDbmXBb30Ltm+Hv/oruPBCOO44V/GTJEnq%0AcBGxIqU0u9J+zkRXUPWFe6tXw+c+B//8zzBtGpx9NixYAEcdtXsX64QlSZJ6gyG6grIX7qUEP/4x%0ALFwId94J++0H558P550HhxzShqOVJElSKxiiKyh24d4+04Ir/ui/4LWXwLJl8Cd/Ap/9LHzwgzAw%0AUPNrNaLcw5IRSZKk5jNEV1B44d6mZ7Zx9sb/5KPLb2O/jY/AEUfAVVfBu98N/fW1lGvEyoOduHqh%0AJElSL5rS7gPoBvOPOoCle6/hoRvP5ZJbFrHf/vvAd78LDz0EH/pQ3QEayq882MrnkCRJUmXORFfj%0A2mvhE5+AP/9zuOYamDdvd5u6RmnEyoOduHqhJElSLzJEV+O974U5c+A1r2naSzRi5cFOXb1QkiSp%0A11jOUY39929qgIbcBYz9fVPHbcu68mAjnkOSJEmVOROdQTM7XzRi5UFXL5QkSWoNVyys0sTOF5Cb%0A5b38zGOYP2vQ1nKSJEk9wBULG6xS5wtby0mSJE0ehugqlet8US5gVwrRE2ewT/mzg7nnwU08sWWE%0AgX36SAm2jow6uy1JktRBDNFVKtf5oth2oOT2McUWR/nOssd237/5+dFxz+XstiRJUmewO0eVynW+%0AmFqiZ3Sp7WOKzWCX48IpkiRJncEQXaX5swa5/MxjGBzoJ4DBgf7dFxXuLHFxZqntY2pZBMWFUyRJ%0AktrPco4M5s8aLFpKMViipGOwwiIn5UpByj1GkiRJ7eVMdAPUushJsceV48IpkiRJncGZ6AaodZGT%0AYo9rVHcO+1ZLkiQ1j4ut9KBKC8NIkiSpOBdb6UHVzi7X07dakiRJlRmiu0SxntKl+kaXWxhGkiRJ%0A9fPCwi5RadnxQqU6eNjZQ5IkqTEM0V0iy+xyrd1CJEmSVB3LOVpgaNUwn/7+A7uX8R7o7+PStx6d%0AqT653LLjE9XaLaRWdgKRJEmTjSG6yYZWDbPglvsZ3flCF5QtI6MsuPl+YM965lIWzJ3BgpvvZ3TX%0AC8/TNyVKzi6XWhim0bLUakuSJPUKyzmabNGS9eMC9JjRXaloPXNZUeHnNshSqy1JktQrDNFNVq4j%0ARpZuGcXC+OjOGoJ4g9kJRJIkTUaG6CYr1xFjSgRHXPSvnLjwboZWDZd9nk4Nq3YCkSRJk5EhuskW%0AzJ1B39TidRc7UyLxQh1xuSBdS1gdWjXMiQvvrjqo18JOIJIkaTIyRDfRWNeK0Z2JKQU5ulikrlRH%0AnDWsjl3wN7xlpOqgXov5swa5/MxjGBzoJ4DBgX6XF5ckST3P7hwZVdvO7ZNDa7lh2WOMVTHvSrnQ%0Ae/mZx/Dxm1YXfe5ypRlZ29a1cunvVnUCkSRJ6hSG6Ayqbec2tGp4XIAeMxZiS/V8TsCJC+8uGY6z%0AhNVOraGWJEnqBZZzZFBtO7dFS9bvEaDHPLFlpGhpxphGlV14wZ8kSVLzGKIzqHZ2t9xs7/SB/nF1%0AxMU0os9ypRrqVlx0KEmS1KsM0RlUO7tbar+A3SF2/qxBll70hpLrpdRbdlHugr9WXXQoSZLUqwzR%0AGZQqw3h++45xAbTYfgGcNeewPWqam1l2MRbU/2vhm1l60RvGXZzoKoOSJEm1M0RnMDa7O9DfN277%0A5udHx83kFpsFPmvOYdzz4KY9yifa0Wd5sl50aAmLJElqlLaE6IiYFxHrI+KRiLioHcdQq/mzBtl3%0Arz2bmkycyS2cBV4wdwa3rhguWj7Rjj7Lk/GiQ0tYJElSI7W8xV1ETAWuAv4SeBz4eUTcnlL6RauP%0ApVZZZ3Ir9WxudZ/lBXNnjGvVB72/ymAr+2ZLkqTe146Z6OOBR1JKv0opbQduBM5ow3HULOtMbqeV%0AT0zGVQY77T2QJEndrR2LrQwCvy74+XHghDYcR82yzuSWWlylneUTk22VwU58DyRJUvfq2AsLI+J9%0AEbE8IpZv2rSp3YczTtaZ3HZcPKjxfA8kSVIjtWMmehg4tODnl+W3jZNSuga4BmD27NmlFgBsmywz%0AuYWt5Z7YMsL0gf6SS3urOXwPJElSI0VKrc2nETENeAg4lVx4/jnwtymlB0o9Zvbs2Wn58uUtOkJJ%0AkiRNVhGxIqU0u9J+LZ+JTintiIiPAEuAqcA3ywVoSZIkqdO0o5yDlNIdwB3teG1JkiSpXh17YaEk%0ASZLUqQzRkiRJUkaGaEmSJCmjttRE94KhVcO2S5MkSZqkDNE1GFo1PG7FwuEtI1y8eC2AQVqSJGkS%0AsJyjBouWrB+35DfAyOhOFi1Z36YjkiRJUisZomvwxJaRTNslSZLUWwzRNZg+0J9puyRJknqLIboG%0AC+bOoL9v6rht/X1TWTB3RpuOSJIkSa3khYU1GLt40O4ckiRJk1OklNp9DBXNnj07LV++vN2HUZSt%0A7iRJknpHRKxIKc2utJ8z0XWw1Z0kSdLkZE10HWx1J0mSNDk5E12HTm91Z6mJJElSczgTXYdObnU3%0AVmoyvGWExAulJkOrhtt9aJIkSV3PEF2HTm51Z6mJJElS81jOUYdObnXX6aUmkiRJ3cwQXaf5swY7%0AIjRPNH2gn+EigbkTSk0kSZK6neUcPaqTS00kSZK6nTPRPaqTS00kSZK6nSG6h3VqqYkkSVK3s5xD%0AkiRJysgQLUmSJGVkiJYkSZIyMkRLkiRJGRmiJUmSpIwM0ZIkSVJGhmhJkiQpI0O0JEmSlJEhWpIk%0AScrIEC1JkiRl5LLfFQytGmbRkvU8sWWE6QP9LJg7w6W0JUmSJjlDdBlDq4a5ePFaRkZ3AjC8ZYSL%0AF68FMEhLkiRNYpZzlLFoyfrdAXrMyOhOFi1Z36YjkiRJUicwRJfxxJaRTNslSZI0ORiiy5g+0J9p%0AuyRJkiYHQ3QZC+bOoL9v6rht/X1TWTB3RpuOSJIkSZ3ACwvLGLt40O4ckiRJKmSIrmD+rEFDsyRJ%0AksaxnEOSJEnKyBAtSZIkZWSIliRJkjIyREuSJEkZGaIlSZKkjAzRkiRJUkaGaEmSJCkjQ7QkSZKU%0AkSFakiRJysgQLUmSJGVkiJYkSZIyMkRLkiRJGRmiJUmSpIwM0ZIkSVJGhmhJkiQpI0O0JEmSlJEh%0AWpIkScooUkrtPoaKImIT8GgbD+HFwG/b+Pq9zvFtLse3uRzf5nFsm8vxbS7Ht7maOb4vTykdXGmn%0ArgjR7RYRy1NKs9t9HL3K8W0ux7e5HN/mcWyby/FtLse3uTphfC3nkCRJkjIyREuSJEkZGaKrc027%0AD6DHOb7N5fg2l+PbPI5tczm+zeX4Nlfbx9eaaEmSJCkjZ6IlSZKkjAzRBSJiY0SsjYjVEbG8yP0R%0AEV+KiEciYk1E/M92HGc3iogZ+XEd+9oWEedN2OfkiNhasM//adfxdoOI+GZE/CYi1hVsOygifhgR%0AD+e/H1jisfMiYn3+s3xR6466e5QY30UR8WD+7/9tETFQ4rFlzyWTXYmxvTQihgv+/r+pxGP97FZQ%0AYnxvKhjbjRGxusRj/eyWERGHRsQ9EfGLiHggIj6W3+65twHKjG9Hnnst5ygQERuB2Smlon0H8yf1%0Ac4E3AScAV6aUTmjdEfaGiJgKDAMnpJQeLdh+MnB+Sukt7Tq2bhIRrweeA65PKb0qv+3zwO9SSgvz%0AJ+gDU0oXTnjcVOAh4C+Bx4GfA+9MKf2ipX+ADldifN8I3J1S2hERnwOYOL75/TZS5lwy2ZUY20uB%0A51JKXyjzOD+7VSg2vhPu/wdga0rpsiL3bcTPbkkRcQhwSEppZUTsB6wA5gPn4Lm3bmXG92V04LnX%0AmehsziB3UkoppWXAQP4NVzanAhsKA7SySyn9GPjdhM1nANflb19H7uQz0fHAIymlX6WUtgM35h+n%0AAsXGN6V0V0ppR/7HZeRO7MqoxGe3Gn52q1BufCMigL8GvtfSg+oRKaUnU0or87efBX4JDOK5tyFK%0AjW+nnnsN0eMl4EcRsSIi3lfk/kHg1wU/P57fpmzeQekT+Gvzv675t4g4upUH1SNeklJ6Mn/7KeAl%0ARfbxc9wY7wH+rcR9lc4lKu7c/N//b5b4dbif3fqdBDydUnq4xP1+dqsUEYcDs4D78NzbcBPGt1DH%0AnHsN0eO9LqU0EzgN+HD+V2JqoIj4I+CtwM1F7l4JHJZSOhb4MjDUymPrNSlXq2W9VhNExCXADuCG%0AErt4Lsnua8CRwEzgSeAf2ns4PeudlJ+F9rNbhYj4Y+BW4LyU0rbC+zz31q/U+HbaudcQXSClNJz/%0A/hvgNnK/eik0DBxa8PPL8ttUvdOAlSmlpyfekVLallJ6Ln/7DqAvIl7c6gPsck+PlRjlv/+myD5+%0AjusQEecAbwHOSiUuKqniXKIJUkpPp5R2ppR2AddSfMz87NYhIqYBZwI3ldrHz25lEdFHLuDdkFJa%0AnN/subdBSoxvR557DdF5EbFvvoidiNgXeCOwbsJutwN/FzlzyF2Y8STKouQsSES8NF+vR0QcT+7z%0A+UwLj60X3A6cnb99NvAvRfb5OXBURByR/83AO/KPUwURMQ+4AHhrSun5EvtUcy7RBBOuL3kbxcfM%0Az259/gJ4MKX0eLE7/exWlv836hvAL1NKVxTc5bm3AUqNb8eee1NKfuX+Q3MkcH/+6wHgkvz2DwAf%0AyN8O4CpgA7CW3BWgbT/2bvkC9iUXig8o2FY4vh/Jj/395C4ceG27j7mTv8j9Z+RJYJRcbd17gRcB%0A/w48DPwIOCi/73TgjoLHvoncVeIbxj7rflU1vo+Qq2lcnf+6euL4ljqX+FVxbP9v/ry6hlywOGTi%0A2OZ/9rNbw/jmt3977HxbsK+f3Wxj+zpypRprCs4Db/Lc2/Tx7chzry3uJEmSpIws55AkSZIyMkRL%0AkiRJGRmiJUmSpIwM0ZIkSVJGhmhJkiQpI0O0JLVYROyMiNURsS4ibo6IfRr8/OdExFcq7HNyRLy2%0A4OcPRMTfNfI4JKmXGaIlqfVGUkozU0qvAraT65feaicDu0N0SunqlNL1bTgOSepKhmhJaq+fAK8A%0AiIhP5Gen10XEeflth0fEgxFxQ0T8MiJuGZu5joiNEfHi/O3ZEXHvxCePiNMj4r6IWBURP4qIl0TE%0A4eSC+8fzM+InRcSlEXF+/jEzI2JZRKyJiNsi4sD89nsj4nMR8bOIeCgiTmr+8EhSZzJES1KbRMQ0%0A4DRgbUQcB7wbOAGYA/yviJiV33UG8NWU0iuBbcCHMrzMT4E5KaVZwI3ABSmljcDVwBfzM+I/mfCY%0A64ELU0rHkltF8FMF901LKR0PnDdhuyRNKoZoSWq9/ohYDSwHHgO+QW6529tSSr9PKT0HLAbGZnp/%0AnVJamr/9nfy+1XoZsCQi1gILgKPL7RwRBwADKaX/yG+6Dnh9wS6L899XAIdnOA5J6inT2n0AkjQJ%0AjaSUZhZuiIhy+6cSP+/ghcmQvUs89svAFSml2yPiZODSTEe6pz/kv+/Ef0MkTWLOREtSZ/gJMD8i%0A9omIfYG35bcBHBYRr8nf/ltyJRoAG4Hj8rffXuJ5DwCG87fPLtj+LLDfxJ1TSluBzQX1zu8C/mPi%0AfpI02RmiJakDpJRWAt8GfgbcB3w9pbQqf/d64MMR8UvgQOBr+e2fBq6MiOXkZoaLuRS4OSJWAL8t%0A2P594G1jFxZOeMzZwKKIWAPMBC6r588mSb0oUpr4W0JJUqfId9L4Qb4dniSpQzgTLUmSJGXkTLQk%0ASZKUkTPRkiRJUkaGaEmSJCkjQ7QkSZKUkSFakiRJysgQLUmSJGVkiJYkSZIy+v9JU5gv3mOwXwAA%0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661651" y="497512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E8DAF99-F39C-43DA-B624-9F90BE6C5A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zh-CN" altLang="en-US" dirty="0">
                <a:solidFill>
                  <a:schemeClr val="tx1"/>
                </a:solidFill>
              </a:rPr>
              <a:t>总结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F7694E1-9202-4486-8394-443303C53250}"/>
                  </a:ext>
                </a:extLst>
              </p:cNvPr>
              <p:cNvSpPr txBox="1"/>
              <p:nvPr/>
            </p:nvSpPr>
            <p:spPr>
              <a:xfrm>
                <a:off x="548639" y="1290963"/>
                <a:ext cx="10541392" cy="50130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zh-CN" sz="2400" b="1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下面是一些</a:t>
                </a:r>
                <a:r>
                  <a:rPr lang="en-US" altLang="zh-CN" sz="2400" b="1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SVM</a:t>
                </a:r>
                <a:r>
                  <a:rPr lang="zh-CN" altLang="zh-CN" sz="2400" b="1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普遍使用的准则：</a:t>
                </a:r>
                <a:endParaRPr lang="zh-CN" altLang="zh-CN" sz="2400" kern="100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为特征数，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为训练样本数。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(1)</a:t>
                </a:r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如果相较于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而言，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要大许多，即训练集数据量不够支持我们训练一个复杂的非线性模型，我们选用逻辑回归模型或者不带核函数的支持向量机。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(2)</a:t>
                </a:r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较小，而且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大小中等，例如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在</a:t>
                </a:r>
                <a:r>
                  <a:rPr lang="en-US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 1-1000 </a:t>
                </a:r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之间，而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在</a:t>
                </a:r>
                <a:r>
                  <a:rPr lang="en-US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10-10000</a:t>
                </a:r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之间，使用高斯核函数的支持向量机。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(3)</a:t>
                </a:r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较小，而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较大，例如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在</a:t>
                </a:r>
                <a:r>
                  <a:rPr lang="en-US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1-1000</a:t>
                </a:r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之间，而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大于</a:t>
                </a:r>
                <a:r>
                  <a:rPr lang="en-US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50000</a:t>
                </a:r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，则使用支持向量机会非常慢，解决方案是创造、增加更多的特征，然后使用逻辑回归或不带核函数的支持向量机。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F7694E1-9202-4486-8394-443303C53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39" y="1290963"/>
                <a:ext cx="10541392" cy="5013039"/>
              </a:xfrm>
              <a:prstGeom prst="rect">
                <a:avLst/>
              </a:prstGeom>
              <a:blipFill>
                <a:blip r:embed="rId3"/>
                <a:stretch>
                  <a:fillRect l="-868" r="-868" b="-19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50132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22">
            <a:extLst>
              <a:ext uri="{FF2B5EF4-FFF2-40B4-BE49-F238E27FC236}">
                <a16:creationId xmlns:a16="http://schemas.microsoft.com/office/drawing/2014/main" id="{4CDD033A-9BDC-462A-93B9-D2A3289CB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328" y="266545"/>
            <a:ext cx="709834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eaLnBrk="1" hangingPunct="1">
              <a:defRPr sz="3600" b="1">
                <a:latin typeface="+mj-lt"/>
                <a:ea typeface="+mj-ea"/>
                <a:cs typeface="+mj-cs"/>
              </a:defRPr>
            </a:lvl1pPr>
            <a:lvl2pPr algn="ctr">
              <a:defRPr sz="3600" b="1">
                <a:solidFill>
                  <a:schemeClr val="tx2"/>
                </a:solidFill>
              </a:defRPr>
            </a:lvl2pPr>
            <a:lvl3pPr algn="ctr">
              <a:defRPr sz="3600" b="1">
                <a:solidFill>
                  <a:schemeClr val="tx2"/>
                </a:solidFill>
              </a:defRPr>
            </a:lvl3pPr>
            <a:lvl4pPr algn="ctr">
              <a:defRPr sz="3600" b="1">
                <a:solidFill>
                  <a:schemeClr val="tx2"/>
                </a:solidFill>
              </a:defRPr>
            </a:lvl4pPr>
            <a:lvl5pPr algn="ctr">
              <a:defRPr sz="3600" b="1">
                <a:solidFill>
                  <a:schemeClr val="tx2"/>
                </a:solidFill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9pPr>
          </a:lstStyle>
          <a:p>
            <a:r>
              <a:rPr lang="zh-CN" altLang="en-US" dirty="0"/>
              <a:t>参考文献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34328" y="1466874"/>
            <a:ext cx="10652371" cy="4840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800" kern="100" dirty="0">
                <a:effectLst/>
                <a:latin typeface="+mj-ea"/>
                <a:ea typeface="+mj-ea"/>
              </a:rPr>
              <a:t>[1] CORTES C, VAPNIK V. Support-vector networks[J]. Machine learning, 1995, 20(3): 273–297.</a:t>
            </a: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800" kern="100" dirty="0">
                <a:effectLst/>
                <a:latin typeface="+mj-ea"/>
                <a:ea typeface="+mj-ea"/>
              </a:rPr>
              <a:t>[2] Andrew Ng. Machine Learning[EB/OL]. StanfordUniversity,2014.https://www.coursera.org/course/ml</a:t>
            </a: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800" kern="100" dirty="0">
                <a:effectLst/>
                <a:latin typeface="+mj-ea"/>
                <a:ea typeface="+mj-ea"/>
              </a:rPr>
              <a:t>[3] </a:t>
            </a:r>
            <a:r>
              <a:rPr lang="zh-CN" altLang="en-US" sz="1800" kern="100" dirty="0">
                <a:effectLst/>
                <a:latin typeface="+mj-ea"/>
                <a:ea typeface="+mj-ea"/>
              </a:rPr>
              <a:t>李航</a:t>
            </a:r>
            <a:r>
              <a:rPr lang="en-US" altLang="zh-CN" sz="1800" kern="100" dirty="0">
                <a:effectLst/>
                <a:latin typeface="+mj-ea"/>
                <a:ea typeface="+mj-ea"/>
              </a:rPr>
              <a:t>. </a:t>
            </a:r>
            <a:r>
              <a:rPr lang="zh-CN" altLang="en-US" sz="1800" kern="100" dirty="0">
                <a:effectLst/>
                <a:latin typeface="+mj-ea"/>
                <a:ea typeface="+mj-ea"/>
              </a:rPr>
              <a:t>统计学习方法</a:t>
            </a:r>
            <a:r>
              <a:rPr lang="en-US" altLang="zh-CN" sz="1800" kern="100" dirty="0">
                <a:effectLst/>
                <a:latin typeface="+mj-ea"/>
                <a:ea typeface="+mj-ea"/>
              </a:rPr>
              <a:t>[M]. </a:t>
            </a:r>
            <a:r>
              <a:rPr lang="zh-CN" altLang="en-US" sz="1800" kern="100" dirty="0">
                <a:effectLst/>
                <a:latin typeface="+mj-ea"/>
                <a:ea typeface="+mj-ea"/>
              </a:rPr>
              <a:t>北京</a:t>
            </a:r>
            <a:r>
              <a:rPr lang="en-US" altLang="zh-CN" sz="1800" kern="100" dirty="0">
                <a:effectLst/>
                <a:latin typeface="+mj-ea"/>
                <a:ea typeface="+mj-ea"/>
              </a:rPr>
              <a:t>: </a:t>
            </a:r>
            <a:r>
              <a:rPr lang="zh-CN" altLang="en-US" sz="1800" kern="100" dirty="0">
                <a:effectLst/>
                <a:latin typeface="+mj-ea"/>
                <a:ea typeface="+mj-ea"/>
              </a:rPr>
              <a:t>清华大学出版社</a:t>
            </a:r>
            <a:r>
              <a:rPr lang="en-US" altLang="zh-CN" sz="1800" kern="100" dirty="0">
                <a:effectLst/>
                <a:latin typeface="+mj-ea"/>
                <a:ea typeface="+mj-ea"/>
              </a:rPr>
              <a:t>,2019.</a:t>
            </a: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800" kern="100" dirty="0">
                <a:effectLst/>
                <a:latin typeface="+mj-ea"/>
                <a:ea typeface="+mj-ea"/>
              </a:rPr>
              <a:t>[4] Hastie T., </a:t>
            </a:r>
            <a:r>
              <a:rPr lang="en-US" altLang="zh-CN" sz="1800" kern="100" dirty="0" err="1">
                <a:effectLst/>
                <a:latin typeface="+mj-ea"/>
                <a:ea typeface="+mj-ea"/>
              </a:rPr>
              <a:t>Tibshirani</a:t>
            </a:r>
            <a:r>
              <a:rPr lang="en-US" altLang="zh-CN" sz="1800" kern="100" dirty="0">
                <a:effectLst/>
                <a:latin typeface="+mj-ea"/>
                <a:ea typeface="+mj-ea"/>
              </a:rPr>
              <a:t> R., Friedman J. The Elements of Statistical Learning[M]. New York: Springer,2001.</a:t>
            </a: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800" kern="100" dirty="0">
                <a:effectLst/>
                <a:latin typeface="+mj-ea"/>
                <a:ea typeface="+mj-ea"/>
              </a:rPr>
              <a:t>[5] CHRISTOPHER M. BISHOP. Pattern Recognition and Machine Learning[M]. New York: Springer,2006.</a:t>
            </a: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800" kern="100" dirty="0">
                <a:effectLst/>
                <a:latin typeface="+mj-ea"/>
                <a:ea typeface="+mj-ea"/>
              </a:rPr>
              <a:t>[6] Stephen Boyd, Lieven </a:t>
            </a:r>
            <a:r>
              <a:rPr lang="en-US" altLang="zh-CN" sz="1800" kern="100" dirty="0" err="1">
                <a:effectLst/>
                <a:latin typeface="+mj-ea"/>
                <a:ea typeface="+mj-ea"/>
              </a:rPr>
              <a:t>Vandenberghe</a:t>
            </a:r>
            <a:r>
              <a:rPr lang="en-US" altLang="zh-CN" sz="1800" kern="100" dirty="0">
                <a:effectLst/>
                <a:latin typeface="+mj-ea"/>
                <a:ea typeface="+mj-ea"/>
              </a:rPr>
              <a:t>, Convex Optimization[M]. Cambridge: Cambridge University Press, 2004.</a:t>
            </a: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800" kern="100" dirty="0">
                <a:effectLst/>
                <a:latin typeface="+mj-ea"/>
                <a:ea typeface="+mj-ea"/>
              </a:rPr>
              <a:t>[7] PLATT J. Sequential Minimal Optimization: A Fast Algorithm for Training Support Vector Machines[J]. Advances in Kernel Methods-Support Vector Learning, 1998, 208.</a:t>
            </a:r>
          </a:p>
        </p:txBody>
      </p:sp>
    </p:spTree>
    <p:extLst>
      <p:ext uri="{BB962C8B-B14F-4D97-AF65-F5344CB8AC3E}">
        <p14:creationId xmlns:p14="http://schemas.microsoft.com/office/powerpoint/2010/main" val="2075022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12192000" cy="7379970"/>
          </a:xfrm>
          <a:prstGeom prst="rect">
            <a:avLst/>
          </a:prstGeom>
          <a:gradFill>
            <a:gsLst>
              <a:gs pos="11000">
                <a:schemeClr val="bg1"/>
              </a:gs>
              <a:gs pos="77000">
                <a:schemeClr val="bg1">
                  <a:alpha val="54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文本框 62">
            <a:extLst>
              <a:ext uri="{FF2B5EF4-FFF2-40B4-BE49-F238E27FC236}">
                <a16:creationId xmlns:a16="http://schemas.microsoft.com/office/drawing/2014/main" id="{05B38BAA-90AB-43CE-9EE2-AB2A32E85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3216" y="2800765"/>
            <a:ext cx="3195105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6600" b="1" dirty="0">
                <a:solidFill>
                  <a:srgbClr val="4B649F"/>
                </a:solidFill>
              </a:rPr>
              <a:t>谢  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12825</TotalTime>
  <Words>2215</Words>
  <Application>Microsoft Office PowerPoint</Application>
  <PresentationFormat>宽屏</PresentationFormat>
  <Paragraphs>248</Paragraphs>
  <Slides>29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3" baseType="lpstr">
      <vt:lpstr>-apple-system</vt:lpstr>
      <vt:lpstr>PingFang SC</vt:lpstr>
      <vt:lpstr>宋体</vt:lpstr>
      <vt:lpstr>微软雅黑</vt:lpstr>
      <vt:lpstr>Arial</vt:lpstr>
      <vt:lpstr>Arial</vt:lpstr>
      <vt:lpstr>Cambria</vt:lpstr>
      <vt:lpstr>Cambria Math</vt:lpstr>
      <vt:lpstr>Impact</vt:lpstr>
      <vt:lpstr>Symbol</vt:lpstr>
      <vt:lpstr>Tahoma</vt:lpstr>
      <vt:lpstr>Times New Roman</vt:lpstr>
      <vt:lpstr>Verdana</vt:lpstr>
      <vt:lpstr>默认设计模板</vt:lpstr>
      <vt:lpstr>机器学习-支持向量机  刘海斌</vt:lpstr>
      <vt:lpstr>本章目录</vt:lpstr>
      <vt:lpstr>1.支持向量机概述</vt:lpstr>
      <vt:lpstr>1.支持向量机概述</vt:lpstr>
      <vt:lpstr>1.支持向量机概述</vt:lpstr>
      <vt:lpstr>1.支持向量机概述</vt:lpstr>
      <vt:lpstr>1.支持向量机概述</vt:lpstr>
      <vt:lpstr>1.支持向量机概述</vt:lpstr>
      <vt:lpstr>2.线性可分支持向量机</vt:lpstr>
      <vt:lpstr>2.线性可分支持向量机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3.线性支持向量机</vt:lpstr>
      <vt:lpstr>3.线性支持向量机</vt:lpstr>
      <vt:lpstr>3.线性支持向量机</vt:lpstr>
      <vt:lpstr>3.线性支持向量机</vt:lpstr>
      <vt:lpstr>3.线性支持向量机</vt:lpstr>
      <vt:lpstr>4.线性不可分支持向量机</vt:lpstr>
      <vt:lpstr>4.线性不可分支持向量机</vt:lpstr>
      <vt:lpstr>4.线性不可分支持向量机</vt:lpstr>
      <vt:lpstr>4.线性不可分支持向量机</vt:lpstr>
      <vt:lpstr>4.线性不可分支持向量机</vt:lpstr>
      <vt:lpstr>4.线性不可分支持向量机</vt:lpstr>
      <vt:lpstr>总结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机器学习</dc:title>
  <dc:creator>黄海广</dc:creator>
  <cp:lastModifiedBy>HAIBIN LIU</cp:lastModifiedBy>
  <cp:revision>3299</cp:revision>
  <cp:lastPrinted>2018-06-09T17:02:00Z</cp:lastPrinted>
  <dcterms:created xsi:type="dcterms:W3CDTF">2016-05-18T20:32:00Z</dcterms:created>
  <dcterms:modified xsi:type="dcterms:W3CDTF">2024-04-02T01:40:18Z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